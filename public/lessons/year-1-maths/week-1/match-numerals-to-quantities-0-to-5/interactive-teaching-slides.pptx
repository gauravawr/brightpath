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5240000" cy="8572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Match numerals to quantities 0 to 5. Match numerals to quantities 0 to 5. Introduce the mathematical idea using the first worked example. The lesson can be placed anywhere in the teaching sequence.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Match numerals to quantities 0 to 5. I do. Move the matching numeral to the set after counting one object at a time.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Match numerals to quantities 0 to 5. You do. Pause before clicking. Let pupils try independently, then reveal and discuss every step. Move the matching numeral to the set after counting one object at a time.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Match numerals to quantities 0 to 5. I do. Move the matching numeral to the set after counting one object at a time.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Match numerals to quantities 0 to 5. You do. Pause before clicking. Let pupils try independently, then reveal and discuss every step. Move the matching numeral to the set after counting one object at a time.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Match numerals to quantities 0 to 5. You do. Pause before clicking. Let pupils try independently, then reveal and discuss every step. These are the existing expected-level worksheet questions, in their original order. Do not advance to the answer slide until pupils have had time to finish.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Match numerals to quantities 0 to 5. Answers. Answers to the preceding complete activity question set, in matching order. Accept mathematically valid alternatives for open questions.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-1">
            <a:extLst>
              <a:ext uri="{FF2B5EF4-FFF2-40B4-BE49-F238E27FC236}">
                <a16:creationId xmlns:a16="http://schemas.microsoft.com/office/drawing/2014/main" id="{B251D988-FDFA-4CAE-A5B9-E477E5CA348E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15478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Match numerals to quantities 0 to 5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8FE8D10C-CAA4-4E1D-BA7B-628BB798508A}"/>
              </a:ext>
            </a:extLst>
          </p:cNvPr>
          <p:cNvSpPr>
            <a:spLocks noGrp="1"/>
          </p:cNvSpPr>
          <p:nvPr/>
        </p:nvSpPr>
        <p:spPr>
          <a:xfrm>
            <a:off x="654844" y="2024063"/>
            <a:ext cx="13930313" cy="1012031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Watch the model. Try the next question. Explain what changes.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8E7CD084-C3D9-4E42-86CA-9035E377B6DE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2C02AA77-5A89-4DD3-ABDE-9E58466F6AC4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Match numerals to quantities 0 to 5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67CF1833-F8C6-4B42-A4A5-458D868CE4A4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E98F13D8-D1AF-4BF4-8750-193F5090C626}"/>
              </a:ext>
            </a:extLst>
          </p:cNvPr>
          <p:cNvSpPr>
            <a:spLocks noGrp="1"/>
          </p:cNvSpPr>
          <p:nvPr/>
        </p:nvSpPr>
        <p:spPr>
          <a:xfrm>
            <a:off x="1190625" y="3631406"/>
            <a:ext cx="12858750" cy="2143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3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Match each numeral from 0 to 5 to a set with the same quantity.</a:t>
            </a:r>
          </a:p>
        </p:txBody>
      </p:sp>
    </p:spTree>
    <p:extLst>
      <p:ext uri="{BB962C8B-B14F-4D97-AF65-F5344CB8AC3E}">
        <p14:creationId xmlns:p14="http://schemas.microsoft.com/office/powerpoint/2010/main" val="19319883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-1">
            <a:extLst>
              <a:ext uri="{FF2B5EF4-FFF2-40B4-BE49-F238E27FC236}">
                <a16:creationId xmlns:a16="http://schemas.microsoft.com/office/drawing/2014/main" id="{07DBAF1B-9FCE-42DF-BA34-81A13D63ED0F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0240B699-27D4-4865-ADEF-91A81573B6FC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Count the objects. Which numeral matches?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17AAD9C1-0664-447E-BCF4-7E958083810C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9DA9F840-F732-48F1-9227-B0B9E5DC3AFB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Match numerals to quantities 0 to 5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21CB36CF-C279-49BF-AD88-D477C024D5B2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5C11CE2B-4D43-478F-8405-32C4E8CB641A}"/>
              </a:ext>
            </a:extLst>
          </p:cNvPr>
          <p:cNvSpPr>
            <a:spLocks noGrp="1"/>
          </p:cNvSpPr>
          <p:nvPr/>
        </p:nvSpPr>
        <p:spPr>
          <a:xfrm>
            <a:off x="1547813" y="2976563"/>
            <a:ext cx="571500" cy="571500"/>
          </a:xfrm>
          <a:prstGeom prst="ellipse">
            <a:avLst/>
          </a:prstGeom>
          <a:solidFill>
            <a:srgbClr val="1D4ED8"/>
          </a:solidFill>
          <a:ln w="11906">
            <a:solidFill>
              <a:srgbClr val="172B4D"/>
            </a:solidFill>
          </a:ln>
        </p:spPr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98893D30-F899-49A2-8B6D-E65C136AF933}"/>
              </a:ext>
            </a:extLst>
          </p:cNvPr>
          <p:cNvSpPr>
            <a:spLocks noGrp="1"/>
          </p:cNvSpPr>
          <p:nvPr/>
        </p:nvSpPr>
        <p:spPr>
          <a:xfrm>
            <a:off x="3095625" y="2976563"/>
            <a:ext cx="571500" cy="571500"/>
          </a:xfrm>
          <a:prstGeom prst="ellipse">
            <a:avLst/>
          </a:prstGeom>
          <a:solidFill>
            <a:srgbClr val="1D4ED8"/>
          </a:solidFill>
          <a:ln w="11906">
            <a:solidFill>
              <a:srgbClr val="172B4D"/>
            </a:solidFill>
          </a:ln>
        </p:spPr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F37C7F7E-BCC6-436B-8C78-72D42A32E2E0}"/>
              </a:ext>
            </a:extLst>
          </p:cNvPr>
          <p:cNvSpPr>
            <a:spLocks noGrp="1"/>
          </p:cNvSpPr>
          <p:nvPr/>
        </p:nvSpPr>
        <p:spPr>
          <a:xfrm>
            <a:off x="4643438" y="2976563"/>
            <a:ext cx="571500" cy="571500"/>
          </a:xfrm>
          <a:prstGeom prst="ellipse">
            <a:avLst/>
          </a:prstGeom>
          <a:solidFill>
            <a:srgbClr val="1D4ED8"/>
          </a:solidFill>
          <a:ln w="11906">
            <a:solidFill>
              <a:srgbClr val="172B4D"/>
            </a:solidFill>
          </a:ln>
        </p:spPr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67108BF8-A894-4ACF-B607-0E5DA80ADB27}"/>
              </a:ext>
            </a:extLst>
          </p:cNvPr>
          <p:cNvSpPr>
            <a:spLocks noGrp="1"/>
          </p:cNvSpPr>
          <p:nvPr/>
        </p:nvSpPr>
        <p:spPr>
          <a:xfrm>
            <a:off x="6191250" y="2976563"/>
            <a:ext cx="571500" cy="571500"/>
          </a:xfrm>
          <a:prstGeom prst="ellipse">
            <a:avLst/>
          </a:prstGeom>
          <a:solidFill>
            <a:srgbClr val="1D4ED8"/>
          </a:solidFill>
          <a:ln w="11906">
            <a:solidFill>
              <a:srgbClr val="172B4D"/>
            </a:solidFill>
          </a:ln>
        </p:spPr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732A9C55-0780-4479-BB67-B1D98EEB5281}"/>
              </a:ext>
            </a:extLst>
          </p:cNvPr>
          <p:cNvSpPr>
            <a:spLocks noGrp="1"/>
          </p:cNvSpPr>
          <p:nvPr/>
        </p:nvSpPr>
        <p:spPr>
          <a:xfrm>
            <a:off x="9525000" y="2976563"/>
            <a:ext cx="1309688" cy="1012031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5438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5438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608CB177-E0B4-46CF-A5B3-98B15E178D9F}"/>
              </a:ext>
            </a:extLst>
          </p:cNvPr>
          <p:cNvSpPr>
            <a:spLocks noGrp="1"/>
          </p:cNvSpPr>
          <p:nvPr/>
        </p:nvSpPr>
        <p:spPr>
          <a:xfrm>
            <a:off x="10953750" y="2976563"/>
            <a:ext cx="1309688" cy="1012031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5438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5438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6369F4E7-BEDB-4992-BAA8-66D1E6D23DB8}"/>
              </a:ext>
            </a:extLst>
          </p:cNvPr>
          <p:cNvSpPr>
            <a:spLocks noGrp="1"/>
          </p:cNvSpPr>
          <p:nvPr/>
        </p:nvSpPr>
        <p:spPr>
          <a:xfrm>
            <a:off x="12382500" y="2976563"/>
            <a:ext cx="1309688" cy="1012031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5438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5438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F5626445-0B7F-4A24-9A6F-0F4869B74A3A}"/>
              </a:ext>
            </a:extLst>
          </p:cNvPr>
          <p:cNvSpPr>
            <a:spLocks noGrp="1"/>
          </p:cNvSpPr>
          <p:nvPr/>
        </p:nvSpPr>
        <p:spPr>
          <a:xfrm>
            <a:off x="892969" y="6965156"/>
            <a:ext cx="13454063" cy="7381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4 objects match the numeral 4.</a:t>
            </a:r>
          </a:p>
        </p:txBody>
      </p:sp>
    </p:spTree>
    <p:extLst>
      <p:ext uri="{BB962C8B-B14F-4D97-AF65-F5344CB8AC3E}">
        <p14:creationId xmlns:p14="http://schemas.microsoft.com/office/powerpoint/2010/main" val="1343325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1875 0.30555556 E" pathEditMode="relative" ptsTypes="">
                                      <p:cBhvr>
                                        <p:cTn id="6" dur="8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-1">
            <a:extLst>
              <a:ext uri="{FF2B5EF4-FFF2-40B4-BE49-F238E27FC236}">
                <a16:creationId xmlns:a16="http://schemas.microsoft.com/office/drawing/2014/main" id="{7ED9B904-4EE1-486D-88E6-CDF44734AEC1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117A6355-8065-44F4-B892-7EE19EC281D4}"/>
              </a:ext>
            </a:extLst>
          </p:cNvPr>
          <p:cNvSpPr>
            <a:spLocks noGrp="1"/>
          </p:cNvSpPr>
          <p:nvPr/>
        </p:nvSpPr>
        <p:spPr>
          <a:xfrm>
            <a:off x="11430000" y="476250"/>
            <a:ext cx="3155156" cy="5476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26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You try.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14B996A3-DA23-423B-85C9-7F93C3726E20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Count the objects. Which numeral matches?</a:t>
            </a:r>
          </a:p>
        </p:txBody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55F40D8A-67EB-4907-A93E-16D5B71E003E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7BBD2AE0-239F-4CF3-8B73-8A87E2C156C1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Match numerals to quantities 0 to 5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C8C06DC6-4258-46F7-A2ED-37391155F4AE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76D5B5F7-028F-4B4D-B057-7FCFC49529B1}"/>
              </a:ext>
            </a:extLst>
          </p:cNvPr>
          <p:cNvSpPr>
            <a:spLocks noGrp="1"/>
          </p:cNvSpPr>
          <p:nvPr/>
        </p:nvSpPr>
        <p:spPr>
          <a:xfrm>
            <a:off x="1547813" y="2976563"/>
            <a:ext cx="571500" cy="571500"/>
          </a:xfrm>
          <a:prstGeom prst="ellipse">
            <a:avLst/>
          </a:prstGeom>
          <a:solidFill>
            <a:srgbClr val="1D4ED8"/>
          </a:solidFill>
          <a:ln w="11906">
            <a:solidFill>
              <a:srgbClr val="172B4D"/>
            </a:solidFill>
          </a:ln>
        </p:spPr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B2CF1AA8-CED8-4507-969F-537E667F0BD7}"/>
              </a:ext>
            </a:extLst>
          </p:cNvPr>
          <p:cNvSpPr>
            <a:spLocks noGrp="1"/>
          </p:cNvSpPr>
          <p:nvPr/>
        </p:nvSpPr>
        <p:spPr>
          <a:xfrm>
            <a:off x="3095625" y="2976563"/>
            <a:ext cx="571500" cy="571500"/>
          </a:xfrm>
          <a:prstGeom prst="ellipse">
            <a:avLst/>
          </a:prstGeom>
          <a:solidFill>
            <a:srgbClr val="1D4ED8"/>
          </a:solidFill>
          <a:ln w="11906">
            <a:solidFill>
              <a:srgbClr val="172B4D"/>
            </a:solidFill>
          </a:ln>
        </p:spPr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CCAACCC7-C80E-4F52-ACB2-B70196D26146}"/>
              </a:ext>
            </a:extLst>
          </p:cNvPr>
          <p:cNvSpPr>
            <a:spLocks noGrp="1"/>
          </p:cNvSpPr>
          <p:nvPr/>
        </p:nvSpPr>
        <p:spPr>
          <a:xfrm>
            <a:off x="4643438" y="2976563"/>
            <a:ext cx="571500" cy="571500"/>
          </a:xfrm>
          <a:prstGeom prst="ellipse">
            <a:avLst/>
          </a:prstGeom>
          <a:solidFill>
            <a:srgbClr val="1D4ED8"/>
          </a:solidFill>
          <a:ln w="11906">
            <a:solidFill>
              <a:srgbClr val="172B4D"/>
            </a:solidFill>
          </a:ln>
        </p:spPr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8228DF77-3968-4E3C-89CA-74866E217924}"/>
              </a:ext>
            </a:extLst>
          </p:cNvPr>
          <p:cNvSpPr>
            <a:spLocks noGrp="1"/>
          </p:cNvSpPr>
          <p:nvPr/>
        </p:nvSpPr>
        <p:spPr>
          <a:xfrm>
            <a:off x="9525000" y="2976563"/>
            <a:ext cx="1309688" cy="1012031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5438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5438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CA7FB8D4-0049-488C-95F8-8003C264C14C}"/>
              </a:ext>
            </a:extLst>
          </p:cNvPr>
          <p:cNvSpPr>
            <a:spLocks noGrp="1"/>
          </p:cNvSpPr>
          <p:nvPr/>
        </p:nvSpPr>
        <p:spPr>
          <a:xfrm>
            <a:off x="10953750" y="2976563"/>
            <a:ext cx="1309688" cy="1012031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5438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5438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02DA7593-B2A6-4059-8C8E-418D70B9FEC4}"/>
              </a:ext>
            </a:extLst>
          </p:cNvPr>
          <p:cNvSpPr>
            <a:spLocks noGrp="1"/>
          </p:cNvSpPr>
          <p:nvPr/>
        </p:nvSpPr>
        <p:spPr>
          <a:xfrm>
            <a:off x="12382500" y="2976563"/>
            <a:ext cx="1309688" cy="1012031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5438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5438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2468E48C-2A64-421C-9EB7-B46A042EEF76}"/>
              </a:ext>
            </a:extLst>
          </p:cNvPr>
          <p:cNvSpPr>
            <a:spLocks noGrp="1"/>
          </p:cNvSpPr>
          <p:nvPr/>
        </p:nvSpPr>
        <p:spPr>
          <a:xfrm>
            <a:off x="892969" y="6965156"/>
            <a:ext cx="13454063" cy="7381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3 objects match the numeral 3.</a:t>
            </a:r>
          </a:p>
        </p:txBody>
      </p:sp>
    </p:spTree>
    <p:extLst>
      <p:ext uri="{BB962C8B-B14F-4D97-AF65-F5344CB8AC3E}">
        <p14:creationId xmlns:p14="http://schemas.microsoft.com/office/powerpoint/2010/main" val="1739710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1875 0.30555556 E" pathEditMode="relative" ptsTypes="">
                                      <p:cBhvr>
                                        <p:cTn id="6" dur="8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bject-1">
            <a:extLst>
              <a:ext uri="{FF2B5EF4-FFF2-40B4-BE49-F238E27FC236}">
                <a16:creationId xmlns:a16="http://schemas.microsoft.com/office/drawing/2014/main" id="{12B0EA58-CA92-4D8C-9A52-057FEE15770E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F580C6B0-DF9F-4ABF-A71B-B40D0FFA5AD6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Count the objects. Which numeral matches?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4BE9895B-8F23-4770-8FB2-581FBD98B81E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BC232B43-B439-4DBD-A7E2-58A66C6906BC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Match numerals to quantities 0 to 5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9EB2573D-9A75-4A52-9442-37EB4ECDBC0C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07DAC9BC-8729-4F4F-83AD-F11281561230}"/>
              </a:ext>
            </a:extLst>
          </p:cNvPr>
          <p:cNvSpPr>
            <a:spLocks noGrp="1"/>
          </p:cNvSpPr>
          <p:nvPr/>
        </p:nvSpPr>
        <p:spPr>
          <a:xfrm>
            <a:off x="1547813" y="2976563"/>
            <a:ext cx="571500" cy="571500"/>
          </a:xfrm>
          <a:prstGeom prst="ellipse">
            <a:avLst/>
          </a:prstGeom>
          <a:solidFill>
            <a:srgbClr val="1D4ED8"/>
          </a:solidFill>
          <a:ln w="11906">
            <a:solidFill>
              <a:srgbClr val="172B4D"/>
            </a:solidFill>
          </a:ln>
        </p:spPr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5D468DCE-0782-4B01-8610-0753291C92C4}"/>
              </a:ext>
            </a:extLst>
          </p:cNvPr>
          <p:cNvSpPr>
            <a:spLocks noGrp="1"/>
          </p:cNvSpPr>
          <p:nvPr/>
        </p:nvSpPr>
        <p:spPr>
          <a:xfrm>
            <a:off x="3095625" y="2976563"/>
            <a:ext cx="571500" cy="571500"/>
          </a:xfrm>
          <a:prstGeom prst="ellipse">
            <a:avLst/>
          </a:prstGeom>
          <a:solidFill>
            <a:srgbClr val="1D4ED8"/>
          </a:solidFill>
          <a:ln w="11906">
            <a:solidFill>
              <a:srgbClr val="172B4D"/>
            </a:solidFill>
          </a:ln>
        </p:spPr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429938DC-BBF7-43B5-B9B6-4F0972271EBC}"/>
              </a:ext>
            </a:extLst>
          </p:cNvPr>
          <p:cNvSpPr>
            <a:spLocks noGrp="1"/>
          </p:cNvSpPr>
          <p:nvPr/>
        </p:nvSpPr>
        <p:spPr>
          <a:xfrm>
            <a:off x="4643438" y="2976563"/>
            <a:ext cx="571500" cy="571500"/>
          </a:xfrm>
          <a:prstGeom prst="ellipse">
            <a:avLst/>
          </a:prstGeom>
          <a:solidFill>
            <a:srgbClr val="1D4ED8"/>
          </a:solidFill>
          <a:ln w="11906">
            <a:solidFill>
              <a:srgbClr val="172B4D"/>
            </a:solidFill>
          </a:ln>
        </p:spPr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4DA60A94-4A6C-43AE-9A54-10C6A85E168B}"/>
              </a:ext>
            </a:extLst>
          </p:cNvPr>
          <p:cNvSpPr>
            <a:spLocks noGrp="1"/>
          </p:cNvSpPr>
          <p:nvPr/>
        </p:nvSpPr>
        <p:spPr>
          <a:xfrm>
            <a:off x="6191250" y="2976563"/>
            <a:ext cx="571500" cy="571500"/>
          </a:xfrm>
          <a:prstGeom prst="ellipse">
            <a:avLst/>
          </a:prstGeom>
          <a:solidFill>
            <a:srgbClr val="1D4ED8"/>
          </a:solidFill>
          <a:ln w="11906">
            <a:solidFill>
              <a:srgbClr val="172B4D"/>
            </a:solidFill>
          </a:ln>
        </p:spPr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99F3D4FC-94F9-4AA6-BACC-BD8963E67623}"/>
              </a:ext>
            </a:extLst>
          </p:cNvPr>
          <p:cNvSpPr>
            <a:spLocks noGrp="1"/>
          </p:cNvSpPr>
          <p:nvPr/>
        </p:nvSpPr>
        <p:spPr>
          <a:xfrm>
            <a:off x="7739063" y="2976563"/>
            <a:ext cx="571500" cy="571500"/>
          </a:xfrm>
          <a:prstGeom prst="ellipse">
            <a:avLst/>
          </a:prstGeom>
          <a:solidFill>
            <a:srgbClr val="1D4ED8"/>
          </a:solidFill>
          <a:ln w="11906">
            <a:solidFill>
              <a:srgbClr val="172B4D"/>
            </a:solidFill>
          </a:ln>
        </p:spPr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593B8916-F498-41A9-9371-2EB5EF4AA97C}"/>
              </a:ext>
            </a:extLst>
          </p:cNvPr>
          <p:cNvSpPr>
            <a:spLocks noGrp="1"/>
          </p:cNvSpPr>
          <p:nvPr/>
        </p:nvSpPr>
        <p:spPr>
          <a:xfrm>
            <a:off x="9525000" y="2976563"/>
            <a:ext cx="1309688" cy="1012031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5438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5438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6B31E938-CC85-4562-88FC-097A6D56E133}"/>
              </a:ext>
            </a:extLst>
          </p:cNvPr>
          <p:cNvSpPr>
            <a:spLocks noGrp="1"/>
          </p:cNvSpPr>
          <p:nvPr/>
        </p:nvSpPr>
        <p:spPr>
          <a:xfrm>
            <a:off x="10953750" y="2976563"/>
            <a:ext cx="1309688" cy="1012031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5438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5438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4B44F6EA-C8BC-4567-A5A2-1D737CFEEA20}"/>
              </a:ext>
            </a:extLst>
          </p:cNvPr>
          <p:cNvSpPr>
            <a:spLocks noGrp="1"/>
          </p:cNvSpPr>
          <p:nvPr/>
        </p:nvSpPr>
        <p:spPr>
          <a:xfrm>
            <a:off x="12382500" y="2976563"/>
            <a:ext cx="1309688" cy="1012031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5438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5438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E407F81F-A38A-4C10-AC9A-51EA14D135E0}"/>
              </a:ext>
            </a:extLst>
          </p:cNvPr>
          <p:cNvSpPr>
            <a:spLocks noGrp="1"/>
          </p:cNvSpPr>
          <p:nvPr/>
        </p:nvSpPr>
        <p:spPr>
          <a:xfrm>
            <a:off x="892969" y="6965156"/>
            <a:ext cx="13454063" cy="7381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5 objects match the numeral 5.</a:t>
            </a:r>
          </a:p>
        </p:txBody>
      </p:sp>
    </p:spTree>
    <p:extLst>
      <p:ext uri="{BB962C8B-B14F-4D97-AF65-F5344CB8AC3E}">
        <p14:creationId xmlns:p14="http://schemas.microsoft.com/office/powerpoint/2010/main" val="701650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1875 0.30555556 E" pathEditMode="relative" ptsTypes="">
                                      <p:cBhvr>
                                        <p:cTn id="6" dur="8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-1">
            <a:extLst>
              <a:ext uri="{FF2B5EF4-FFF2-40B4-BE49-F238E27FC236}">
                <a16:creationId xmlns:a16="http://schemas.microsoft.com/office/drawing/2014/main" id="{E8EA9019-66A8-47DF-AB86-1B4FA70DCAC2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2E3DE88B-4BDA-4253-A74A-9000B81578CB}"/>
              </a:ext>
            </a:extLst>
          </p:cNvPr>
          <p:cNvSpPr>
            <a:spLocks noGrp="1"/>
          </p:cNvSpPr>
          <p:nvPr/>
        </p:nvSpPr>
        <p:spPr>
          <a:xfrm>
            <a:off x="11430000" y="476250"/>
            <a:ext cx="3155156" cy="5476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26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You try.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676566BD-A7FA-43CF-8BB6-1BE6AA9058EE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Count the objects. Which numeral matches?</a:t>
            </a:r>
          </a:p>
        </p:txBody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6935A3EE-58CB-4FE6-B906-D41335A9432F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4B4210E4-F874-42C7-8009-141C72350F23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Match numerals to quantities 0 to 5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FE624FC6-6D62-4DBB-9241-CAD0F2231757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AA8D44C4-257F-4EFB-9BCE-DC6E4F11C744}"/>
              </a:ext>
            </a:extLst>
          </p:cNvPr>
          <p:cNvSpPr>
            <a:spLocks noGrp="1"/>
          </p:cNvSpPr>
          <p:nvPr/>
        </p:nvSpPr>
        <p:spPr>
          <a:xfrm>
            <a:off x="1547813" y="2976563"/>
            <a:ext cx="571500" cy="571500"/>
          </a:xfrm>
          <a:prstGeom prst="ellipse">
            <a:avLst/>
          </a:prstGeom>
          <a:solidFill>
            <a:srgbClr val="1D4ED8"/>
          </a:solidFill>
          <a:ln w="11906">
            <a:solidFill>
              <a:srgbClr val="172B4D"/>
            </a:solidFill>
          </a:ln>
        </p:spPr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9BDF8A2B-843D-4ED8-A16E-D9219DBBE282}"/>
              </a:ext>
            </a:extLst>
          </p:cNvPr>
          <p:cNvSpPr>
            <a:spLocks noGrp="1"/>
          </p:cNvSpPr>
          <p:nvPr/>
        </p:nvSpPr>
        <p:spPr>
          <a:xfrm>
            <a:off x="3095625" y="2976563"/>
            <a:ext cx="571500" cy="571500"/>
          </a:xfrm>
          <a:prstGeom prst="ellipse">
            <a:avLst/>
          </a:prstGeom>
          <a:solidFill>
            <a:srgbClr val="1D4ED8"/>
          </a:solidFill>
          <a:ln w="11906">
            <a:solidFill>
              <a:srgbClr val="172B4D"/>
            </a:solidFill>
          </a:ln>
        </p:spPr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E0FF7D35-97C5-48F1-9BF8-7EAC7AC98A32}"/>
              </a:ext>
            </a:extLst>
          </p:cNvPr>
          <p:cNvSpPr>
            <a:spLocks noGrp="1"/>
          </p:cNvSpPr>
          <p:nvPr/>
        </p:nvSpPr>
        <p:spPr>
          <a:xfrm>
            <a:off x="9525000" y="2976563"/>
            <a:ext cx="1309688" cy="1012031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5438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5438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D0B78928-9D9E-46F3-9A81-FBE6B5DC3FF1}"/>
              </a:ext>
            </a:extLst>
          </p:cNvPr>
          <p:cNvSpPr>
            <a:spLocks noGrp="1"/>
          </p:cNvSpPr>
          <p:nvPr/>
        </p:nvSpPr>
        <p:spPr>
          <a:xfrm>
            <a:off x="10953750" y="2976563"/>
            <a:ext cx="1309688" cy="1012031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5438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5438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A005E2C0-23EB-462D-9FD3-F218F9B698C0}"/>
              </a:ext>
            </a:extLst>
          </p:cNvPr>
          <p:cNvSpPr>
            <a:spLocks noGrp="1"/>
          </p:cNvSpPr>
          <p:nvPr/>
        </p:nvSpPr>
        <p:spPr>
          <a:xfrm>
            <a:off x="12382500" y="2976563"/>
            <a:ext cx="1309688" cy="1012031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5438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5438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4477B2BC-6611-4EBA-9756-48EF3E8B2B00}"/>
              </a:ext>
            </a:extLst>
          </p:cNvPr>
          <p:cNvSpPr>
            <a:spLocks noGrp="1"/>
          </p:cNvSpPr>
          <p:nvPr/>
        </p:nvSpPr>
        <p:spPr>
          <a:xfrm>
            <a:off x="892969" y="6965156"/>
            <a:ext cx="13454063" cy="7381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2 objects match the numeral 2.</a:t>
            </a:r>
          </a:p>
        </p:txBody>
      </p:sp>
    </p:spTree>
    <p:extLst>
      <p:ext uri="{BB962C8B-B14F-4D97-AF65-F5344CB8AC3E}">
        <p14:creationId xmlns:p14="http://schemas.microsoft.com/office/powerpoint/2010/main" val="901592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1875 0.30555556 E" pathEditMode="relative" ptsTypes="">
                                      <p:cBhvr>
                                        <p:cTn id="6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-1">
            <a:extLst>
              <a:ext uri="{FF2B5EF4-FFF2-40B4-BE49-F238E27FC236}">
                <a16:creationId xmlns:a16="http://schemas.microsoft.com/office/drawing/2014/main" id="{3534164A-F05B-4031-B87B-A0407ABDB61D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06C4C959-5E5B-4353-89B0-2AF007672E97}"/>
              </a:ext>
            </a:extLst>
          </p:cNvPr>
          <p:cNvSpPr>
            <a:spLocks noGrp="1"/>
          </p:cNvSpPr>
          <p:nvPr/>
        </p:nvSpPr>
        <p:spPr>
          <a:xfrm>
            <a:off x="11430000" y="476250"/>
            <a:ext cx="3155156" cy="5476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26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You try.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324895B9-9E2C-468B-84B5-C816EFDBEBA3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Try these questions.</a:t>
            </a:r>
          </a:p>
        </p:txBody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92469270-C770-4E57-AF68-870E6E77F474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73FC6972-854B-4004-9541-1B0E83EE6AFB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Match numerals to quantities 0 to 5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0C7FBF7C-24FD-4ABB-8200-EFA47CAA9323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74D60D1B-DED0-4E64-897A-279939CA3DBC}"/>
              </a:ext>
            </a:extLst>
          </p:cNvPr>
          <p:cNvSpPr>
            <a:spLocks noGrp="1"/>
          </p:cNvSpPr>
          <p:nvPr/>
        </p:nvSpPr>
        <p:spPr>
          <a:xfrm>
            <a:off x="773906" y="2512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95C65AD5-E6BE-4F93-B4B7-265AFE168B8A}"/>
              </a:ext>
            </a:extLst>
          </p:cNvPr>
          <p:cNvSpPr>
            <a:spLocks noGrp="1"/>
          </p:cNvSpPr>
          <p:nvPr/>
        </p:nvSpPr>
        <p:spPr>
          <a:xfrm>
            <a:off x="1464469" y="2512219"/>
            <a:ext cx="12644438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344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344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Match numerals 0 to 5 to six mixed dot patterns.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99D2756C-C7A2-427E-8A2E-745BE36F1E7E}"/>
              </a:ext>
            </a:extLst>
          </p:cNvPr>
          <p:cNvSpPr>
            <a:spLocks noGrp="1"/>
          </p:cNvSpPr>
          <p:nvPr/>
        </p:nvSpPr>
        <p:spPr>
          <a:xfrm>
            <a:off x="773906" y="35599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0716A6F9-A5E0-4ADF-A68F-66B7270A80E9}"/>
              </a:ext>
            </a:extLst>
          </p:cNvPr>
          <p:cNvSpPr>
            <a:spLocks noGrp="1"/>
          </p:cNvSpPr>
          <p:nvPr/>
        </p:nvSpPr>
        <p:spPr>
          <a:xfrm>
            <a:off x="1464469" y="3559969"/>
            <a:ext cx="12644438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344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344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A card shows numeral 2 and three dots. Is it a match?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62B95B17-BDEF-4AAC-80B3-9BCF96A0674E}"/>
              </a:ext>
            </a:extLst>
          </p:cNvPr>
          <p:cNvSpPr>
            <a:spLocks noGrp="1"/>
          </p:cNvSpPr>
          <p:nvPr/>
        </p:nvSpPr>
        <p:spPr>
          <a:xfrm>
            <a:off x="773906" y="46077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49DE32B1-0998-4ABC-943F-DCE87192C90F}"/>
              </a:ext>
            </a:extLst>
          </p:cNvPr>
          <p:cNvSpPr>
            <a:spLocks noGrp="1"/>
          </p:cNvSpPr>
          <p:nvPr/>
        </p:nvSpPr>
        <p:spPr>
          <a:xfrm>
            <a:off x="1464469" y="4607719"/>
            <a:ext cx="12644438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344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344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Draw a quantity to match numeral 5.</a:t>
            </a:r>
          </a:p>
        </p:txBody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8AFB6E85-E6CA-4755-B9A1-514DB8C3349D}"/>
              </a:ext>
            </a:extLst>
          </p:cNvPr>
          <p:cNvSpPr>
            <a:spLocks noGrp="1"/>
          </p:cNvSpPr>
          <p:nvPr/>
        </p:nvSpPr>
        <p:spPr>
          <a:xfrm>
            <a:off x="773906" y="56554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9200E51D-9224-4E45-AD49-2DDE1C1F9681}"/>
              </a:ext>
            </a:extLst>
          </p:cNvPr>
          <p:cNvSpPr>
            <a:spLocks noGrp="1"/>
          </p:cNvSpPr>
          <p:nvPr/>
        </p:nvSpPr>
        <p:spPr>
          <a:xfrm>
            <a:off x="1464469" y="5655469"/>
            <a:ext cx="12644438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344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344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Write the numeral that matches an empty five frame.</a:t>
            </a:r>
          </a:p>
        </p:txBody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8377FF26-AACD-467C-A480-29ECE22C7772}"/>
              </a:ext>
            </a:extLst>
          </p:cNvPr>
          <p:cNvSpPr>
            <a:spLocks noGrp="1"/>
          </p:cNvSpPr>
          <p:nvPr/>
        </p:nvSpPr>
        <p:spPr>
          <a:xfrm>
            <a:off x="773906" y="6703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5.</a:t>
            </a:r>
          </a:p>
        </p:txBody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ABEFCB15-C221-4CCB-8D25-2F6F23477BEE}"/>
              </a:ext>
            </a:extLst>
          </p:cNvPr>
          <p:cNvSpPr>
            <a:spLocks noGrp="1"/>
          </p:cNvSpPr>
          <p:nvPr/>
        </p:nvSpPr>
        <p:spPr>
          <a:xfrm>
            <a:off x="1464469" y="6703219"/>
            <a:ext cx="12644438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344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344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Explain how you checked a match.</a:t>
            </a:r>
          </a:p>
        </p:txBody>
      </p:sp>
    </p:spTree>
    <p:extLst>
      <p:ext uri="{BB962C8B-B14F-4D97-AF65-F5344CB8AC3E}">
        <p14:creationId xmlns:p14="http://schemas.microsoft.com/office/powerpoint/2010/main" val="12413003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-1">
            <a:extLst>
              <a:ext uri="{FF2B5EF4-FFF2-40B4-BE49-F238E27FC236}">
                <a16:creationId xmlns:a16="http://schemas.microsoft.com/office/drawing/2014/main" id="{426D72AD-CBF8-4516-A93A-8F950F32F735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Answers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9E9B71E6-57D1-41E8-B1A8-5AF1F8CAA3A2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Check your answers. Explain any corrections.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46F61D49-F7CB-4499-AFEB-E6BD3457DA43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EA491A79-B57E-4C9C-94B9-2437F659876D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Match numerals to quantities 0 to 5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9F2F9B25-917F-4976-B2F8-06889003047C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9FE7DC12-0D1B-4A2A-9B52-84477237167F}"/>
              </a:ext>
            </a:extLst>
          </p:cNvPr>
          <p:cNvSpPr>
            <a:spLocks noGrp="1"/>
          </p:cNvSpPr>
          <p:nvPr/>
        </p:nvSpPr>
        <p:spPr>
          <a:xfrm>
            <a:off x="773906" y="2512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493461AB-302C-42F6-9F61-13838E1FE149}"/>
              </a:ext>
            </a:extLst>
          </p:cNvPr>
          <p:cNvSpPr>
            <a:spLocks noGrp="1"/>
          </p:cNvSpPr>
          <p:nvPr/>
        </p:nvSpPr>
        <p:spPr>
          <a:xfrm>
            <a:off x="1464469" y="2512219"/>
            <a:ext cx="12644438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344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344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Each numeral matches the pattern with that many dots.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D7E152C8-300E-485E-BCDB-009B7447CE8E}"/>
              </a:ext>
            </a:extLst>
          </p:cNvPr>
          <p:cNvSpPr>
            <a:spLocks noGrp="1"/>
          </p:cNvSpPr>
          <p:nvPr/>
        </p:nvSpPr>
        <p:spPr>
          <a:xfrm>
            <a:off x="773906" y="35599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BCF60152-C547-4845-BF69-0EC35677EE53}"/>
              </a:ext>
            </a:extLst>
          </p:cNvPr>
          <p:cNvSpPr>
            <a:spLocks noGrp="1"/>
          </p:cNvSpPr>
          <p:nvPr/>
        </p:nvSpPr>
        <p:spPr>
          <a:xfrm>
            <a:off x="1464469" y="3559969"/>
            <a:ext cx="12644438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344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344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No. Remove one dot or change the numeral to 3.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3086973B-7662-4885-BF7D-51EE39049CC9}"/>
              </a:ext>
            </a:extLst>
          </p:cNvPr>
          <p:cNvSpPr>
            <a:spLocks noGrp="1"/>
          </p:cNvSpPr>
          <p:nvPr/>
        </p:nvSpPr>
        <p:spPr>
          <a:xfrm>
            <a:off x="773906" y="46077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B524F9FE-7A20-4A2A-A20F-46A998385DAF}"/>
              </a:ext>
            </a:extLst>
          </p:cNvPr>
          <p:cNvSpPr>
            <a:spLocks noGrp="1"/>
          </p:cNvSpPr>
          <p:nvPr/>
        </p:nvSpPr>
        <p:spPr>
          <a:xfrm>
            <a:off x="1464469" y="4607719"/>
            <a:ext cx="12644438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344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344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Five objects.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AFB9DC10-177C-4854-8605-3F6A0C476A7E}"/>
              </a:ext>
            </a:extLst>
          </p:cNvPr>
          <p:cNvSpPr>
            <a:spLocks noGrp="1"/>
          </p:cNvSpPr>
          <p:nvPr/>
        </p:nvSpPr>
        <p:spPr>
          <a:xfrm>
            <a:off x="773906" y="56554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AD01E1B1-1D69-4A49-9933-F4E7116AD421}"/>
              </a:ext>
            </a:extLst>
          </p:cNvPr>
          <p:cNvSpPr>
            <a:spLocks noGrp="1"/>
          </p:cNvSpPr>
          <p:nvPr/>
        </p:nvSpPr>
        <p:spPr>
          <a:xfrm>
            <a:off x="1464469" y="5655469"/>
            <a:ext cx="12644438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344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344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0.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F4F7D7D2-EBEB-4A18-99F4-F3525AC4E280}"/>
              </a:ext>
            </a:extLst>
          </p:cNvPr>
          <p:cNvSpPr>
            <a:spLocks noGrp="1"/>
          </p:cNvSpPr>
          <p:nvPr/>
        </p:nvSpPr>
        <p:spPr>
          <a:xfrm>
            <a:off x="773906" y="6703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5.</a:t>
            </a:r>
          </a:p>
        </p:txBody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2C08DB62-2266-44D9-9943-7588656634E1}"/>
              </a:ext>
            </a:extLst>
          </p:cNvPr>
          <p:cNvSpPr>
            <a:spLocks noGrp="1"/>
          </p:cNvSpPr>
          <p:nvPr/>
        </p:nvSpPr>
        <p:spPr>
          <a:xfrm>
            <a:off x="1464469" y="6703219"/>
            <a:ext cx="12644438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344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344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I counted the set and compared the total to the numeral.</a:t>
            </a:r>
          </a:p>
        </p:txBody>
      </p:sp>
    </p:spTree>
    <p:extLst>
      <p:ext uri="{BB962C8B-B14F-4D97-AF65-F5344CB8AC3E}">
        <p14:creationId xmlns:p14="http://schemas.microsoft.com/office/powerpoint/2010/main" val="120194315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759</Words>
  <Application>Microsoft Office PowerPoint</Application>
  <DocSecurity>0</DocSecurity>
  <PresentationFormat>Custom</PresentationFormat>
  <Paragraphs>82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Garima Sharma</cp:lastModifiedBy>
  <cp:revision>1</cp:revision>
  <dcterms:created xsi:type="dcterms:W3CDTF">2026-09-14T13:14:41Z</dcterms:created>
  <dcterms:modified xsi:type="dcterms:W3CDTF">2026-09-14T13:14:51Z</dcterms:modified>
</cp:coreProperties>
</file>