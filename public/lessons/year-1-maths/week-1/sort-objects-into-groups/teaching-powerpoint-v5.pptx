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5240000" cy="8572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Sort objects into groups. Sort objects into groups. Introduce the mathematical idea using the first worked example. The lesson can be placed anywhere in the teaching sequence.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Sort objects into groups. I do. State one rule. Move each object into its matching group. Check every object against the same rule.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Sort objects into groups. You do. Pause before clicking. Let pupils try independently, then reveal and discuss every step. State one rule. Move each object into its matching group. Check every object against the same rule.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Sort objects into groups. I do. State one rule. Move each object into its matching group. Check every object against the same rule.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Sort objects into groups. You do. Pause before clicking. Let pupils try independently, then reveal and discuss every step. State one rule. Move each object into its matching group. Check every object against the same rule.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Sort objects into groups. You do. Pause before clicking. Let pupils try independently, then reveal and discuss every step. These are the existing expected-level worksheet questions, in their original order. Do not advance to the answer slide until pupils have had time to finish.</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Sort objects into groups. Answers. Answers to the preceding complete activity question set, in matching order. Accept mathematically valid alternatives for open questions.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object-1">
            <a:extLst>
              <a:ext uri="{FF2B5EF4-FFF2-40B4-BE49-F238E27FC236}">
                <a16:creationId xmlns:a16="http://schemas.microsoft.com/office/drawing/2014/main" id="{332EB89E-D306-471F-818C-413E53E9C453}"/>
              </a:ext>
            </a:extLst>
          </p:cNvPr>
          <p:cNvSpPr>
            <a:spLocks noGrp="1"/>
          </p:cNvSpPr>
          <p:nvPr/>
        </p:nvSpPr>
        <p:spPr>
          <a:xfrm>
            <a:off x="654844" y="357188"/>
            <a:ext cx="13930313" cy="1547813"/>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Sort objects into groups</a:t>
            </a:r>
          </a:p>
        </p:txBody>
      </p:sp>
      <p:sp>
        <p:nvSpPr>
          <p:cNvPr id="2" name="object-2">
            <a:extLst>
              <a:ext uri="{FF2B5EF4-FFF2-40B4-BE49-F238E27FC236}">
                <a16:creationId xmlns:a16="http://schemas.microsoft.com/office/drawing/2014/main" id="{3BE59146-BC42-47D3-A736-2232687BD51D}"/>
              </a:ext>
            </a:extLst>
          </p:cNvPr>
          <p:cNvSpPr>
            <a:spLocks noGrp="1"/>
          </p:cNvSpPr>
          <p:nvPr/>
        </p:nvSpPr>
        <p:spPr>
          <a:xfrm>
            <a:off x="654844" y="2024063"/>
            <a:ext cx="13930313" cy="1012031"/>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Watch the model. Try the next question. Explain what changes.</a:t>
            </a:r>
          </a:p>
        </p:txBody>
      </p:sp>
      <p:sp>
        <p:nvSpPr>
          <p:cNvPr id="3" name="object-3">
            <a:extLst>
              <a:ext uri="{FF2B5EF4-FFF2-40B4-BE49-F238E27FC236}">
                <a16:creationId xmlns:a16="http://schemas.microsoft.com/office/drawing/2014/main" id="{247AE13B-F1D1-4692-BB64-D13379FC1CE3}"/>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101EA1D8-2B01-4A82-A3E8-6C3B1E5CF485}"/>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Sort objects into groups</a:t>
            </a:r>
          </a:p>
        </p:txBody>
      </p:sp>
      <p:sp>
        <p:nvSpPr>
          <p:cNvPr id="5" name="object-5">
            <a:extLst>
              <a:ext uri="{FF2B5EF4-FFF2-40B4-BE49-F238E27FC236}">
                <a16:creationId xmlns:a16="http://schemas.microsoft.com/office/drawing/2014/main" id="{D51182BD-1C3D-4241-94DD-B7779B2A5AAE}"/>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1</a:t>
            </a:r>
          </a:p>
        </p:txBody>
      </p:sp>
      <p:sp>
        <p:nvSpPr>
          <p:cNvPr id="6" name="object-6">
            <a:extLst>
              <a:ext uri="{FF2B5EF4-FFF2-40B4-BE49-F238E27FC236}">
                <a16:creationId xmlns:a16="http://schemas.microsoft.com/office/drawing/2014/main" id="{6EC04D6D-A4C1-4FC8-B13F-3692D6DFAD4D}"/>
              </a:ext>
            </a:extLst>
          </p:cNvPr>
          <p:cNvSpPr>
            <a:spLocks noGrp="1"/>
          </p:cNvSpPr>
          <p:nvPr/>
        </p:nvSpPr>
        <p:spPr>
          <a:xfrm>
            <a:off x="1190625" y="3631406"/>
            <a:ext cx="12858750" cy="2143125"/>
          </a:xfrm>
          <a:prstGeom prst="rect">
            <a:avLst/>
          </a:prstGeom>
          <a:noFill/>
          <a:ln w="0">
            <a:noFill/>
          </a:ln>
        </p:spPr>
        <p:txBody>
          <a:bodyPr anchor="ctr">
            <a:noAutofit/>
          </a:bodyPr>
          <a:lstStyle/>
          <a:p>
            <a:pPr algn="ctr">
              <a:defRPr sz="3375" b="1">
                <a:solidFill>
                  <a:srgbClr val="1D4ED8"/>
                </a:solidFill>
                <a:latin typeface="Arial"/>
                <a:ea typeface="Arial"/>
                <a:cs typeface="Arial"/>
              </a:defRPr>
            </a:pPr>
            <a:r>
              <a:rPr sz="3375" b="1">
                <a:solidFill>
                  <a:srgbClr val="1D4ED8"/>
                </a:solidFill>
                <a:latin typeface="Arial"/>
                <a:ea typeface="Arial"/>
                <a:cs typeface="Arial"/>
              </a:rPr>
              <a:t>Sort a mixed collection by one clear property and explain the sorting rule.</a:t>
            </a:r>
          </a:p>
        </p:txBody>
      </p:sp>
    </p:spTree>
    <p:extLst>
      <p:ext uri="{BB962C8B-B14F-4D97-AF65-F5344CB8AC3E}">
        <p14:creationId xmlns:p14="http://schemas.microsoft.com/office/powerpoint/2010/main" val="14086237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object-1">
            <a:extLst>
              <a:ext uri="{FF2B5EF4-FFF2-40B4-BE49-F238E27FC236}">
                <a16:creationId xmlns:a16="http://schemas.microsoft.com/office/drawing/2014/main" id="{5BE01AA6-2184-4FCE-9F94-2894CDD0B1AA}"/>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EA1DB491-78FB-4E3F-8A45-5EB4C1075389}"/>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Sort these objects by colour.</a:t>
            </a:r>
          </a:p>
        </p:txBody>
      </p:sp>
      <p:sp>
        <p:nvSpPr>
          <p:cNvPr id="3" name="object-3">
            <a:extLst>
              <a:ext uri="{FF2B5EF4-FFF2-40B4-BE49-F238E27FC236}">
                <a16:creationId xmlns:a16="http://schemas.microsoft.com/office/drawing/2014/main" id="{09B6B932-86D2-4167-96C0-1C2ED34918BC}"/>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C99B3666-9ACB-4726-A100-94460B25BC8F}"/>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Sort objects into groups</a:t>
            </a:r>
          </a:p>
        </p:txBody>
      </p:sp>
      <p:sp>
        <p:nvSpPr>
          <p:cNvPr id="5" name="object-5">
            <a:extLst>
              <a:ext uri="{FF2B5EF4-FFF2-40B4-BE49-F238E27FC236}">
                <a16:creationId xmlns:a16="http://schemas.microsoft.com/office/drawing/2014/main" id="{95B7AD23-BBCB-4C3C-8926-30D2EC62F58A}"/>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2</a:t>
            </a:r>
          </a:p>
        </p:txBody>
      </p:sp>
      <p:sp>
        <p:nvSpPr>
          <p:cNvPr id="6" name="object-6">
            <a:extLst>
              <a:ext uri="{FF2B5EF4-FFF2-40B4-BE49-F238E27FC236}">
                <a16:creationId xmlns:a16="http://schemas.microsoft.com/office/drawing/2014/main" id="{11501B87-1B9A-48EA-AF64-7728802DE469}"/>
              </a:ext>
            </a:extLst>
          </p:cNvPr>
          <p:cNvSpPr>
            <a:spLocks noGrp="1"/>
          </p:cNvSpPr>
          <p:nvPr/>
        </p:nvSpPr>
        <p:spPr>
          <a:xfrm>
            <a:off x="1250156" y="4762500"/>
            <a:ext cx="5357813" cy="2143125"/>
          </a:xfrm>
          <a:prstGeom prst="rect">
            <a:avLst/>
          </a:prstGeom>
          <a:noFill/>
          <a:ln w="35719">
            <a:solidFill>
              <a:srgbClr val="1D4ED8"/>
            </a:solidFill>
          </a:ln>
        </p:spPr>
      </p:sp>
      <p:sp>
        <p:nvSpPr>
          <p:cNvPr id="7" name="object-7">
            <a:extLst>
              <a:ext uri="{FF2B5EF4-FFF2-40B4-BE49-F238E27FC236}">
                <a16:creationId xmlns:a16="http://schemas.microsoft.com/office/drawing/2014/main" id="{36936D55-AC1E-4B7A-BDB8-14A01D5EE836}"/>
              </a:ext>
            </a:extLst>
          </p:cNvPr>
          <p:cNvSpPr>
            <a:spLocks noGrp="1"/>
          </p:cNvSpPr>
          <p:nvPr/>
        </p:nvSpPr>
        <p:spPr>
          <a:xfrm>
            <a:off x="8632031" y="4762500"/>
            <a:ext cx="5357813" cy="2143125"/>
          </a:xfrm>
          <a:prstGeom prst="rect">
            <a:avLst/>
          </a:prstGeom>
          <a:noFill/>
          <a:ln w="35719">
            <a:solidFill>
              <a:srgbClr val="1D4ED8"/>
            </a:solidFill>
          </a:ln>
        </p:spPr>
      </p:sp>
      <p:sp>
        <p:nvSpPr>
          <p:cNvPr id="8" name="object-8">
            <a:extLst>
              <a:ext uri="{FF2B5EF4-FFF2-40B4-BE49-F238E27FC236}">
                <a16:creationId xmlns:a16="http://schemas.microsoft.com/office/drawing/2014/main" id="{13E826EC-9AA2-48B8-A05F-360F2D9ACDE5}"/>
              </a:ext>
            </a:extLst>
          </p:cNvPr>
          <p:cNvSpPr>
            <a:spLocks noGrp="1"/>
          </p:cNvSpPr>
          <p:nvPr/>
        </p:nvSpPr>
        <p:spPr>
          <a:xfrm>
            <a:off x="1250156" y="7143750"/>
            <a:ext cx="5357813" cy="595313"/>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red</a:t>
            </a:r>
          </a:p>
        </p:txBody>
      </p:sp>
      <p:sp>
        <p:nvSpPr>
          <p:cNvPr id="9" name="object-9">
            <a:extLst>
              <a:ext uri="{FF2B5EF4-FFF2-40B4-BE49-F238E27FC236}">
                <a16:creationId xmlns:a16="http://schemas.microsoft.com/office/drawing/2014/main" id="{BB72B678-E439-43E4-9444-1BB69DDCDC34}"/>
              </a:ext>
            </a:extLst>
          </p:cNvPr>
          <p:cNvSpPr>
            <a:spLocks noGrp="1"/>
          </p:cNvSpPr>
          <p:nvPr/>
        </p:nvSpPr>
        <p:spPr>
          <a:xfrm>
            <a:off x="8632031" y="7143750"/>
            <a:ext cx="5357813" cy="595313"/>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blue</a:t>
            </a:r>
          </a:p>
        </p:txBody>
      </p:sp>
      <p:sp>
        <p:nvSpPr>
          <p:cNvPr id="10" name="object-10">
            <a:extLst>
              <a:ext uri="{FF2B5EF4-FFF2-40B4-BE49-F238E27FC236}">
                <a16:creationId xmlns:a16="http://schemas.microsoft.com/office/drawing/2014/main" id="{8346B77C-B1E4-40F3-A834-8FB1C4D232FE}"/>
              </a:ext>
            </a:extLst>
          </p:cNvPr>
          <p:cNvSpPr>
            <a:spLocks noGrp="1"/>
          </p:cNvSpPr>
          <p:nvPr/>
        </p:nvSpPr>
        <p:spPr>
          <a:xfrm>
            <a:off x="2083594" y="2976563"/>
            <a:ext cx="833438" cy="833438"/>
          </a:xfrm>
          <a:prstGeom prst="ellipse">
            <a:avLst/>
          </a:prstGeom>
          <a:solidFill>
            <a:srgbClr val="B42332"/>
          </a:solidFill>
          <a:ln w="23813">
            <a:solidFill>
              <a:srgbClr val="172B4D"/>
            </a:solidFill>
          </a:ln>
        </p:spPr>
      </p:sp>
      <p:sp>
        <p:nvSpPr>
          <p:cNvPr id="11" name="object-11">
            <a:extLst>
              <a:ext uri="{FF2B5EF4-FFF2-40B4-BE49-F238E27FC236}">
                <a16:creationId xmlns:a16="http://schemas.microsoft.com/office/drawing/2014/main" id="{6C897BAF-81D0-43A8-8CCB-F796AAA19538}"/>
              </a:ext>
            </a:extLst>
          </p:cNvPr>
          <p:cNvSpPr>
            <a:spLocks noGrp="1"/>
          </p:cNvSpPr>
          <p:nvPr/>
        </p:nvSpPr>
        <p:spPr>
          <a:xfrm>
            <a:off x="4107656" y="2976563"/>
            <a:ext cx="833438" cy="833438"/>
          </a:xfrm>
          <a:prstGeom prst="rect">
            <a:avLst/>
          </a:prstGeom>
          <a:solidFill>
            <a:srgbClr val="1D4ED8"/>
          </a:solidFill>
          <a:ln w="23813">
            <a:solidFill>
              <a:srgbClr val="172B4D"/>
            </a:solidFill>
          </a:ln>
        </p:spPr>
      </p:sp>
      <p:sp>
        <p:nvSpPr>
          <p:cNvPr id="12" name="object-12">
            <a:extLst>
              <a:ext uri="{FF2B5EF4-FFF2-40B4-BE49-F238E27FC236}">
                <a16:creationId xmlns:a16="http://schemas.microsoft.com/office/drawing/2014/main" id="{64AF6454-FF6F-49C6-8D3B-3D81B68AE637}"/>
              </a:ext>
            </a:extLst>
          </p:cNvPr>
          <p:cNvSpPr>
            <a:spLocks noGrp="1"/>
          </p:cNvSpPr>
          <p:nvPr/>
        </p:nvSpPr>
        <p:spPr>
          <a:xfrm>
            <a:off x="6131719" y="2976563"/>
            <a:ext cx="833438" cy="833438"/>
          </a:xfrm>
          <a:prstGeom prst="rect">
            <a:avLst/>
          </a:prstGeom>
          <a:solidFill>
            <a:srgbClr val="B42332"/>
          </a:solidFill>
          <a:ln w="23813">
            <a:solidFill>
              <a:srgbClr val="172B4D"/>
            </a:solidFill>
          </a:ln>
        </p:spPr>
      </p:sp>
      <p:sp>
        <p:nvSpPr>
          <p:cNvPr id="13" name="object-13">
            <a:extLst>
              <a:ext uri="{FF2B5EF4-FFF2-40B4-BE49-F238E27FC236}">
                <a16:creationId xmlns:a16="http://schemas.microsoft.com/office/drawing/2014/main" id="{6F780E67-12B2-4A9A-AF4E-47CDCA161453}"/>
              </a:ext>
            </a:extLst>
          </p:cNvPr>
          <p:cNvSpPr>
            <a:spLocks noGrp="1"/>
          </p:cNvSpPr>
          <p:nvPr/>
        </p:nvSpPr>
        <p:spPr>
          <a:xfrm>
            <a:off x="8155781" y="2976563"/>
            <a:ext cx="833438" cy="833438"/>
          </a:xfrm>
          <a:prstGeom prst="ellipse">
            <a:avLst/>
          </a:prstGeom>
          <a:solidFill>
            <a:srgbClr val="1D4ED8"/>
          </a:solidFill>
          <a:ln w="23813">
            <a:solidFill>
              <a:srgbClr val="172B4D"/>
            </a:solidFill>
          </a:ln>
        </p:spPr>
      </p:sp>
      <p:sp>
        <p:nvSpPr>
          <p:cNvPr id="14" name="object-14">
            <a:extLst>
              <a:ext uri="{FF2B5EF4-FFF2-40B4-BE49-F238E27FC236}">
                <a16:creationId xmlns:a16="http://schemas.microsoft.com/office/drawing/2014/main" id="{03DAC3EF-3D1C-45E8-B628-51E52B561C16}"/>
              </a:ext>
            </a:extLst>
          </p:cNvPr>
          <p:cNvSpPr>
            <a:spLocks noGrp="1"/>
          </p:cNvSpPr>
          <p:nvPr/>
        </p:nvSpPr>
        <p:spPr>
          <a:xfrm>
            <a:off x="10179844" y="2976563"/>
            <a:ext cx="833438" cy="833438"/>
          </a:xfrm>
          <a:prstGeom prst="rect">
            <a:avLst/>
          </a:prstGeom>
          <a:solidFill>
            <a:srgbClr val="B42332"/>
          </a:solidFill>
          <a:ln w="23813">
            <a:solidFill>
              <a:srgbClr val="172B4D"/>
            </a:solidFill>
          </a:ln>
        </p:spPr>
      </p:sp>
      <p:sp>
        <p:nvSpPr>
          <p:cNvPr id="15" name="object-15">
            <a:extLst>
              <a:ext uri="{FF2B5EF4-FFF2-40B4-BE49-F238E27FC236}">
                <a16:creationId xmlns:a16="http://schemas.microsoft.com/office/drawing/2014/main" id="{99E05050-16C6-4DD8-A168-B60F266B2702}"/>
              </a:ext>
            </a:extLst>
          </p:cNvPr>
          <p:cNvSpPr>
            <a:spLocks noGrp="1"/>
          </p:cNvSpPr>
          <p:nvPr/>
        </p:nvSpPr>
        <p:spPr>
          <a:xfrm>
            <a:off x="12203906" y="2976563"/>
            <a:ext cx="833438" cy="833438"/>
          </a:xfrm>
          <a:prstGeom prst="rect">
            <a:avLst/>
          </a:prstGeom>
          <a:solidFill>
            <a:srgbClr val="1D4ED8"/>
          </a:solidFill>
          <a:ln w="23813">
            <a:solidFill>
              <a:srgbClr val="172B4D"/>
            </a:solidFill>
          </a:ln>
        </p:spPr>
      </p:sp>
    </p:spTree>
    <p:extLst>
      <p:ext uri="{BB962C8B-B14F-4D97-AF65-F5344CB8AC3E}">
        <p14:creationId xmlns:p14="http://schemas.microsoft.com/office/powerpoint/2010/main" val="1182558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02734375 0.27777778 E" pathEditMode="relative" ptsTypes="">
                                      <p:cBhvr>
                                        <p:cTn id="6" dur="800" fill="hold"/>
                                        <p:tgtEl>
                                          <p:spTgt spid="10"/>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 0 L 0.32421875 0.27777778 E" pathEditMode="relative" ptsTypes="">
                                      <p:cBhvr>
                                        <p:cTn id="10" dur="800" fill="hold"/>
                                        <p:tgtEl>
                                          <p:spTgt spid="11"/>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0 0 L -0.21875 0.27777778 E" pathEditMode="relative" ptsTypes="">
                                      <p:cBhvr>
                                        <p:cTn id="14" dur="800" fill="hold"/>
                                        <p:tgtEl>
                                          <p:spTgt spid="12"/>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nodeType="clickEffect">
                                  <p:stCondLst>
                                    <p:cond delay="0"/>
                                  </p:stCondLst>
                                  <p:childTnLst>
                                    <p:animMotion origin="layout" path="M 0 0 L 0.1328125 0.27777778 E" pathEditMode="relative" ptsTypes="">
                                      <p:cBhvr>
                                        <p:cTn id="18" dur="800" fill="hold"/>
                                        <p:tgtEl>
                                          <p:spTgt spid="13"/>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63" presetClass="path" presetSubtype="0" accel="50000" decel="50000" fill="hold" nodeType="clickEffect">
                                  <p:stCondLst>
                                    <p:cond delay="0"/>
                                  </p:stCondLst>
                                  <p:childTnLst>
                                    <p:animMotion origin="layout" path="M 0 0 L -0.41015625 0.27777778 E" pathEditMode="relative" ptsTypes="">
                                      <p:cBhvr>
                                        <p:cTn id="22" dur="800" fill="hold"/>
                                        <p:tgtEl>
                                          <p:spTgt spid="14"/>
                                        </p:tgtEl>
                                        <p:attrNameLst>
                                          <p:attrName>ppt_x</p:attrName>
                                          <p:attrName>ppt_y</p:attrName>
                                        </p:attrNameLst>
                                      </p:cBhvr>
                                    </p:animMotion>
                                  </p:childTnLst>
                                </p:cTn>
                              </p:par>
                            </p:childTnLst>
                          </p:cTn>
                        </p:par>
                      </p:childTnLst>
                    </p:cTn>
                  </p:par>
                  <p:par>
                    <p:cTn id="23" fill="hold">
                      <p:stCondLst>
                        <p:cond delay="indefinite"/>
                      </p:stCondLst>
                      <p:childTnLst>
                        <p:par>
                          <p:cTn id="24" fill="hold">
                            <p:stCondLst>
                              <p:cond delay="0"/>
                            </p:stCondLst>
                            <p:childTnLst>
                              <p:par>
                                <p:cTn id="25" presetID="63" presetClass="path" presetSubtype="0" accel="50000" decel="50000" fill="hold" nodeType="clickEffect">
                                  <p:stCondLst>
                                    <p:cond delay="0"/>
                                  </p:stCondLst>
                                  <p:childTnLst>
                                    <p:animMotion origin="layout" path="M 0 0 L -0.05859375 0.27777778 E" pathEditMode="relative" ptsTypes="">
                                      <p:cBhvr>
                                        <p:cTn id="26" dur="800" fill="hold"/>
                                        <p:tgtEl>
                                          <p:spTgt spid="1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object-1">
            <a:extLst>
              <a:ext uri="{FF2B5EF4-FFF2-40B4-BE49-F238E27FC236}">
                <a16:creationId xmlns:a16="http://schemas.microsoft.com/office/drawing/2014/main" id="{9AE472A0-D1CC-474A-8C27-7938BB51EE3A}"/>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D88FB02F-25A6-48DE-BD18-F54F977701F5}"/>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9F157C29-0A09-4D75-9971-29EB64888330}"/>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Sort these objects by shape.</a:t>
            </a:r>
          </a:p>
        </p:txBody>
      </p:sp>
      <p:sp>
        <p:nvSpPr>
          <p:cNvPr id="4" name="object-4">
            <a:extLst>
              <a:ext uri="{FF2B5EF4-FFF2-40B4-BE49-F238E27FC236}">
                <a16:creationId xmlns:a16="http://schemas.microsoft.com/office/drawing/2014/main" id="{61756E99-2ECD-4994-81E8-7BBBEAA1FC32}"/>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E55EB903-94BD-4C3C-AB12-72449AE610B5}"/>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Sort objects into groups</a:t>
            </a:r>
          </a:p>
        </p:txBody>
      </p:sp>
      <p:sp>
        <p:nvSpPr>
          <p:cNvPr id="6" name="object-6">
            <a:extLst>
              <a:ext uri="{FF2B5EF4-FFF2-40B4-BE49-F238E27FC236}">
                <a16:creationId xmlns:a16="http://schemas.microsoft.com/office/drawing/2014/main" id="{41EAF63E-CB54-45FB-84B8-82E016D68DF4}"/>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3</a:t>
            </a:r>
          </a:p>
        </p:txBody>
      </p:sp>
      <p:sp>
        <p:nvSpPr>
          <p:cNvPr id="7" name="object-7">
            <a:extLst>
              <a:ext uri="{FF2B5EF4-FFF2-40B4-BE49-F238E27FC236}">
                <a16:creationId xmlns:a16="http://schemas.microsoft.com/office/drawing/2014/main" id="{48260D94-2A6D-462A-A354-C10E00AD9085}"/>
              </a:ext>
            </a:extLst>
          </p:cNvPr>
          <p:cNvSpPr>
            <a:spLocks noGrp="1"/>
          </p:cNvSpPr>
          <p:nvPr/>
        </p:nvSpPr>
        <p:spPr>
          <a:xfrm>
            <a:off x="1250156" y="4762500"/>
            <a:ext cx="5357813" cy="2143125"/>
          </a:xfrm>
          <a:prstGeom prst="rect">
            <a:avLst/>
          </a:prstGeom>
          <a:noFill/>
          <a:ln w="35719">
            <a:solidFill>
              <a:srgbClr val="1D4ED8"/>
            </a:solidFill>
          </a:ln>
        </p:spPr>
      </p:sp>
      <p:sp>
        <p:nvSpPr>
          <p:cNvPr id="8" name="object-8">
            <a:extLst>
              <a:ext uri="{FF2B5EF4-FFF2-40B4-BE49-F238E27FC236}">
                <a16:creationId xmlns:a16="http://schemas.microsoft.com/office/drawing/2014/main" id="{B77B20E3-8963-4483-8FD6-5A64F340CBFA}"/>
              </a:ext>
            </a:extLst>
          </p:cNvPr>
          <p:cNvSpPr>
            <a:spLocks noGrp="1"/>
          </p:cNvSpPr>
          <p:nvPr/>
        </p:nvSpPr>
        <p:spPr>
          <a:xfrm>
            <a:off x="8632031" y="4762500"/>
            <a:ext cx="5357813" cy="2143125"/>
          </a:xfrm>
          <a:prstGeom prst="rect">
            <a:avLst/>
          </a:prstGeom>
          <a:noFill/>
          <a:ln w="35719">
            <a:solidFill>
              <a:srgbClr val="1D4ED8"/>
            </a:solidFill>
          </a:ln>
        </p:spPr>
      </p:sp>
      <p:sp>
        <p:nvSpPr>
          <p:cNvPr id="9" name="object-9">
            <a:extLst>
              <a:ext uri="{FF2B5EF4-FFF2-40B4-BE49-F238E27FC236}">
                <a16:creationId xmlns:a16="http://schemas.microsoft.com/office/drawing/2014/main" id="{49473654-3CDD-42B8-9087-DB56420AFE7E}"/>
              </a:ext>
            </a:extLst>
          </p:cNvPr>
          <p:cNvSpPr>
            <a:spLocks noGrp="1"/>
          </p:cNvSpPr>
          <p:nvPr/>
        </p:nvSpPr>
        <p:spPr>
          <a:xfrm>
            <a:off x="1250156" y="7143750"/>
            <a:ext cx="5357813" cy="595313"/>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circles</a:t>
            </a:r>
          </a:p>
        </p:txBody>
      </p:sp>
      <p:sp>
        <p:nvSpPr>
          <p:cNvPr id="10" name="object-10">
            <a:extLst>
              <a:ext uri="{FF2B5EF4-FFF2-40B4-BE49-F238E27FC236}">
                <a16:creationId xmlns:a16="http://schemas.microsoft.com/office/drawing/2014/main" id="{C598AC7A-6418-4A61-AEF8-0CF094459899}"/>
              </a:ext>
            </a:extLst>
          </p:cNvPr>
          <p:cNvSpPr>
            <a:spLocks noGrp="1"/>
          </p:cNvSpPr>
          <p:nvPr/>
        </p:nvSpPr>
        <p:spPr>
          <a:xfrm>
            <a:off x="8632031" y="7143750"/>
            <a:ext cx="5357813" cy="595313"/>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squares</a:t>
            </a:r>
          </a:p>
        </p:txBody>
      </p:sp>
      <p:sp>
        <p:nvSpPr>
          <p:cNvPr id="11" name="object-11">
            <a:extLst>
              <a:ext uri="{FF2B5EF4-FFF2-40B4-BE49-F238E27FC236}">
                <a16:creationId xmlns:a16="http://schemas.microsoft.com/office/drawing/2014/main" id="{12C47ECF-27FF-481F-9ADC-6A9534B37F4C}"/>
              </a:ext>
            </a:extLst>
          </p:cNvPr>
          <p:cNvSpPr>
            <a:spLocks noGrp="1"/>
          </p:cNvSpPr>
          <p:nvPr/>
        </p:nvSpPr>
        <p:spPr>
          <a:xfrm>
            <a:off x="2083594" y="2976563"/>
            <a:ext cx="833438" cy="833438"/>
          </a:xfrm>
          <a:prstGeom prst="ellipse">
            <a:avLst/>
          </a:prstGeom>
          <a:solidFill>
            <a:srgbClr val="B42332"/>
          </a:solidFill>
          <a:ln w="23813">
            <a:solidFill>
              <a:srgbClr val="172B4D"/>
            </a:solidFill>
          </a:ln>
        </p:spPr>
      </p:sp>
      <p:sp>
        <p:nvSpPr>
          <p:cNvPr id="12" name="object-12">
            <a:extLst>
              <a:ext uri="{FF2B5EF4-FFF2-40B4-BE49-F238E27FC236}">
                <a16:creationId xmlns:a16="http://schemas.microsoft.com/office/drawing/2014/main" id="{4C325375-4766-410A-B28F-865C82447211}"/>
              </a:ext>
            </a:extLst>
          </p:cNvPr>
          <p:cNvSpPr>
            <a:spLocks noGrp="1"/>
          </p:cNvSpPr>
          <p:nvPr/>
        </p:nvSpPr>
        <p:spPr>
          <a:xfrm>
            <a:off x="4107656" y="2976563"/>
            <a:ext cx="833438" cy="833438"/>
          </a:xfrm>
          <a:prstGeom prst="rect">
            <a:avLst/>
          </a:prstGeom>
          <a:solidFill>
            <a:srgbClr val="1D4ED8"/>
          </a:solidFill>
          <a:ln w="23813">
            <a:solidFill>
              <a:srgbClr val="172B4D"/>
            </a:solidFill>
          </a:ln>
        </p:spPr>
      </p:sp>
      <p:sp>
        <p:nvSpPr>
          <p:cNvPr id="13" name="object-13">
            <a:extLst>
              <a:ext uri="{FF2B5EF4-FFF2-40B4-BE49-F238E27FC236}">
                <a16:creationId xmlns:a16="http://schemas.microsoft.com/office/drawing/2014/main" id="{0217D88A-B2AB-4A8E-838E-FCC5C7DA5591}"/>
              </a:ext>
            </a:extLst>
          </p:cNvPr>
          <p:cNvSpPr>
            <a:spLocks noGrp="1"/>
          </p:cNvSpPr>
          <p:nvPr/>
        </p:nvSpPr>
        <p:spPr>
          <a:xfrm>
            <a:off x="6131719" y="2976563"/>
            <a:ext cx="833438" cy="833438"/>
          </a:xfrm>
          <a:prstGeom prst="rect">
            <a:avLst/>
          </a:prstGeom>
          <a:solidFill>
            <a:srgbClr val="B42332"/>
          </a:solidFill>
          <a:ln w="23813">
            <a:solidFill>
              <a:srgbClr val="172B4D"/>
            </a:solidFill>
          </a:ln>
        </p:spPr>
      </p:sp>
      <p:sp>
        <p:nvSpPr>
          <p:cNvPr id="14" name="object-14">
            <a:extLst>
              <a:ext uri="{FF2B5EF4-FFF2-40B4-BE49-F238E27FC236}">
                <a16:creationId xmlns:a16="http://schemas.microsoft.com/office/drawing/2014/main" id="{5BF71AD4-4AD8-4C10-B6EF-B98D286A1DCD}"/>
              </a:ext>
            </a:extLst>
          </p:cNvPr>
          <p:cNvSpPr>
            <a:spLocks noGrp="1"/>
          </p:cNvSpPr>
          <p:nvPr/>
        </p:nvSpPr>
        <p:spPr>
          <a:xfrm>
            <a:off x="8155781" y="2976563"/>
            <a:ext cx="833438" cy="833438"/>
          </a:xfrm>
          <a:prstGeom prst="ellipse">
            <a:avLst/>
          </a:prstGeom>
          <a:solidFill>
            <a:srgbClr val="1D4ED8"/>
          </a:solidFill>
          <a:ln w="23813">
            <a:solidFill>
              <a:srgbClr val="172B4D"/>
            </a:solidFill>
          </a:ln>
        </p:spPr>
      </p:sp>
      <p:sp>
        <p:nvSpPr>
          <p:cNvPr id="15" name="object-15">
            <a:extLst>
              <a:ext uri="{FF2B5EF4-FFF2-40B4-BE49-F238E27FC236}">
                <a16:creationId xmlns:a16="http://schemas.microsoft.com/office/drawing/2014/main" id="{0C0F4190-77D4-4898-88A7-888F46312890}"/>
              </a:ext>
            </a:extLst>
          </p:cNvPr>
          <p:cNvSpPr>
            <a:spLocks noGrp="1"/>
          </p:cNvSpPr>
          <p:nvPr/>
        </p:nvSpPr>
        <p:spPr>
          <a:xfrm>
            <a:off x="10179844" y="2976563"/>
            <a:ext cx="833438" cy="833438"/>
          </a:xfrm>
          <a:prstGeom prst="rect">
            <a:avLst/>
          </a:prstGeom>
          <a:solidFill>
            <a:srgbClr val="B42332"/>
          </a:solidFill>
          <a:ln w="23813">
            <a:solidFill>
              <a:srgbClr val="172B4D"/>
            </a:solidFill>
          </a:ln>
        </p:spPr>
      </p:sp>
      <p:sp>
        <p:nvSpPr>
          <p:cNvPr id="16" name="object-16">
            <a:extLst>
              <a:ext uri="{FF2B5EF4-FFF2-40B4-BE49-F238E27FC236}">
                <a16:creationId xmlns:a16="http://schemas.microsoft.com/office/drawing/2014/main" id="{967B8F53-67C1-49BF-9704-06776AE97DB7}"/>
              </a:ext>
            </a:extLst>
          </p:cNvPr>
          <p:cNvSpPr>
            <a:spLocks noGrp="1"/>
          </p:cNvSpPr>
          <p:nvPr/>
        </p:nvSpPr>
        <p:spPr>
          <a:xfrm>
            <a:off x="12203906" y="2976563"/>
            <a:ext cx="833438" cy="833438"/>
          </a:xfrm>
          <a:prstGeom prst="rect">
            <a:avLst/>
          </a:prstGeom>
          <a:solidFill>
            <a:srgbClr val="1D4ED8"/>
          </a:solidFill>
          <a:ln w="23813">
            <a:solidFill>
              <a:srgbClr val="172B4D"/>
            </a:solidFill>
          </a:ln>
        </p:spPr>
      </p:sp>
    </p:spTree>
    <p:extLst>
      <p:ext uri="{BB962C8B-B14F-4D97-AF65-F5344CB8AC3E}">
        <p14:creationId xmlns:p14="http://schemas.microsoft.com/office/powerpoint/2010/main" val="1930190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02734375 0.27777778 E" pathEditMode="relative" ptsTypes="">
                                      <p:cBhvr>
                                        <p:cTn id="6" dur="800" fill="hold"/>
                                        <p:tgtEl>
                                          <p:spTgt spid="11"/>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 0 L 0.32421875 0.27777778 E" pathEditMode="relative" ptsTypes="">
                                      <p:cBhvr>
                                        <p:cTn id="10" dur="800" fill="hold"/>
                                        <p:tgtEl>
                                          <p:spTgt spid="12"/>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0 0 L 0.265625 0.27777778 E" pathEditMode="relative" ptsTypes="">
                                      <p:cBhvr>
                                        <p:cTn id="14" dur="800" fill="hold"/>
                                        <p:tgtEl>
                                          <p:spTgt spid="1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nodeType="clickEffect">
                                  <p:stCondLst>
                                    <p:cond delay="0"/>
                                  </p:stCondLst>
                                  <p:childTnLst>
                                    <p:animMotion origin="layout" path="M 0 0 L -0.3515625 0.27777778 E" pathEditMode="relative" ptsTypes="">
                                      <p:cBhvr>
                                        <p:cTn id="18" dur="800" fill="hold"/>
                                        <p:tgtEl>
                                          <p:spTgt spid="14"/>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63" presetClass="path" presetSubtype="0" accel="50000" decel="50000" fill="hold" nodeType="clickEffect">
                                  <p:stCondLst>
                                    <p:cond delay="0"/>
                                  </p:stCondLst>
                                  <p:childTnLst>
                                    <p:animMotion origin="layout" path="M 0 0 L 0.07421875 0.27777778 E" pathEditMode="relative" ptsTypes="">
                                      <p:cBhvr>
                                        <p:cTn id="22" dur="800" fill="hold"/>
                                        <p:tgtEl>
                                          <p:spTgt spid="15"/>
                                        </p:tgtEl>
                                        <p:attrNameLst>
                                          <p:attrName>ppt_x</p:attrName>
                                          <p:attrName>ppt_y</p:attrName>
                                        </p:attrNameLst>
                                      </p:cBhvr>
                                    </p:animMotion>
                                  </p:childTnLst>
                                </p:cTn>
                              </p:par>
                            </p:childTnLst>
                          </p:cTn>
                        </p:par>
                      </p:childTnLst>
                    </p:cTn>
                  </p:par>
                  <p:par>
                    <p:cTn id="23" fill="hold">
                      <p:stCondLst>
                        <p:cond delay="indefinite"/>
                      </p:stCondLst>
                      <p:childTnLst>
                        <p:par>
                          <p:cTn id="24" fill="hold">
                            <p:stCondLst>
                              <p:cond delay="0"/>
                            </p:stCondLst>
                            <p:childTnLst>
                              <p:par>
                                <p:cTn id="25" presetID="63" presetClass="path" presetSubtype="0" accel="50000" decel="50000" fill="hold" nodeType="clickEffect">
                                  <p:stCondLst>
                                    <p:cond delay="0"/>
                                  </p:stCondLst>
                                  <p:childTnLst>
                                    <p:animMotion origin="layout" path="M 0 0 L 0.015625 0.27777778 E" pathEditMode="relative" ptsTypes="">
                                      <p:cBhvr>
                                        <p:cTn id="26" dur="800" fill="hold"/>
                                        <p:tgtEl>
                                          <p:spTgt spid="1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object-1">
            <a:extLst>
              <a:ext uri="{FF2B5EF4-FFF2-40B4-BE49-F238E27FC236}">
                <a16:creationId xmlns:a16="http://schemas.microsoft.com/office/drawing/2014/main" id="{FD8207B7-1952-44D1-8911-206FE666B0AF}"/>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876AF388-8254-4E8C-BE03-D245A457D00A}"/>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Sort these objects by colour.</a:t>
            </a:r>
          </a:p>
        </p:txBody>
      </p:sp>
      <p:sp>
        <p:nvSpPr>
          <p:cNvPr id="3" name="object-3">
            <a:extLst>
              <a:ext uri="{FF2B5EF4-FFF2-40B4-BE49-F238E27FC236}">
                <a16:creationId xmlns:a16="http://schemas.microsoft.com/office/drawing/2014/main" id="{35D4FABA-8457-4B66-BBC6-D02657273EBC}"/>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47FFE455-A4C7-4BAE-B273-E64838C8AC3B}"/>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Sort objects into groups</a:t>
            </a:r>
          </a:p>
        </p:txBody>
      </p:sp>
      <p:sp>
        <p:nvSpPr>
          <p:cNvPr id="5" name="object-5">
            <a:extLst>
              <a:ext uri="{FF2B5EF4-FFF2-40B4-BE49-F238E27FC236}">
                <a16:creationId xmlns:a16="http://schemas.microsoft.com/office/drawing/2014/main" id="{CA208A28-B264-44A3-9C13-DBDAD9E78E2F}"/>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4</a:t>
            </a:r>
          </a:p>
        </p:txBody>
      </p:sp>
      <p:sp>
        <p:nvSpPr>
          <p:cNvPr id="6" name="object-6">
            <a:extLst>
              <a:ext uri="{FF2B5EF4-FFF2-40B4-BE49-F238E27FC236}">
                <a16:creationId xmlns:a16="http://schemas.microsoft.com/office/drawing/2014/main" id="{176782A7-B76D-4BBD-B14F-C1EA81F5E71F}"/>
              </a:ext>
            </a:extLst>
          </p:cNvPr>
          <p:cNvSpPr>
            <a:spLocks noGrp="1"/>
          </p:cNvSpPr>
          <p:nvPr/>
        </p:nvSpPr>
        <p:spPr>
          <a:xfrm>
            <a:off x="1250156" y="4762500"/>
            <a:ext cx="5357813" cy="2143125"/>
          </a:xfrm>
          <a:prstGeom prst="rect">
            <a:avLst/>
          </a:prstGeom>
          <a:noFill/>
          <a:ln w="35719">
            <a:solidFill>
              <a:srgbClr val="1D4ED8"/>
            </a:solidFill>
          </a:ln>
        </p:spPr>
      </p:sp>
      <p:sp>
        <p:nvSpPr>
          <p:cNvPr id="7" name="object-7">
            <a:extLst>
              <a:ext uri="{FF2B5EF4-FFF2-40B4-BE49-F238E27FC236}">
                <a16:creationId xmlns:a16="http://schemas.microsoft.com/office/drawing/2014/main" id="{D0330D60-27C3-477A-88F2-1425D4F4067F}"/>
              </a:ext>
            </a:extLst>
          </p:cNvPr>
          <p:cNvSpPr>
            <a:spLocks noGrp="1"/>
          </p:cNvSpPr>
          <p:nvPr/>
        </p:nvSpPr>
        <p:spPr>
          <a:xfrm>
            <a:off x="8632031" y="4762500"/>
            <a:ext cx="5357813" cy="2143125"/>
          </a:xfrm>
          <a:prstGeom prst="rect">
            <a:avLst/>
          </a:prstGeom>
          <a:noFill/>
          <a:ln w="35719">
            <a:solidFill>
              <a:srgbClr val="1D4ED8"/>
            </a:solidFill>
          </a:ln>
        </p:spPr>
      </p:sp>
      <p:sp>
        <p:nvSpPr>
          <p:cNvPr id="8" name="object-8">
            <a:extLst>
              <a:ext uri="{FF2B5EF4-FFF2-40B4-BE49-F238E27FC236}">
                <a16:creationId xmlns:a16="http://schemas.microsoft.com/office/drawing/2014/main" id="{1657E672-83DB-4B97-8F18-B8752FA44898}"/>
              </a:ext>
            </a:extLst>
          </p:cNvPr>
          <p:cNvSpPr>
            <a:spLocks noGrp="1"/>
          </p:cNvSpPr>
          <p:nvPr/>
        </p:nvSpPr>
        <p:spPr>
          <a:xfrm>
            <a:off x="1250156" y="7143750"/>
            <a:ext cx="5357813" cy="595313"/>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red</a:t>
            </a:r>
          </a:p>
        </p:txBody>
      </p:sp>
      <p:sp>
        <p:nvSpPr>
          <p:cNvPr id="9" name="object-9">
            <a:extLst>
              <a:ext uri="{FF2B5EF4-FFF2-40B4-BE49-F238E27FC236}">
                <a16:creationId xmlns:a16="http://schemas.microsoft.com/office/drawing/2014/main" id="{44631D1C-8191-4F5E-98F9-1195E0DC235F}"/>
              </a:ext>
            </a:extLst>
          </p:cNvPr>
          <p:cNvSpPr>
            <a:spLocks noGrp="1"/>
          </p:cNvSpPr>
          <p:nvPr/>
        </p:nvSpPr>
        <p:spPr>
          <a:xfrm>
            <a:off x="8632031" y="7143750"/>
            <a:ext cx="5357813" cy="595313"/>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blue</a:t>
            </a:r>
          </a:p>
        </p:txBody>
      </p:sp>
      <p:sp>
        <p:nvSpPr>
          <p:cNvPr id="10" name="object-10">
            <a:extLst>
              <a:ext uri="{FF2B5EF4-FFF2-40B4-BE49-F238E27FC236}">
                <a16:creationId xmlns:a16="http://schemas.microsoft.com/office/drawing/2014/main" id="{DA39B5C0-B678-41E1-A048-8CD8C2A10CF2}"/>
              </a:ext>
            </a:extLst>
          </p:cNvPr>
          <p:cNvSpPr>
            <a:spLocks noGrp="1"/>
          </p:cNvSpPr>
          <p:nvPr/>
        </p:nvSpPr>
        <p:spPr>
          <a:xfrm>
            <a:off x="2083594" y="2976563"/>
            <a:ext cx="833438" cy="833438"/>
          </a:xfrm>
          <a:prstGeom prst="ellipse">
            <a:avLst/>
          </a:prstGeom>
          <a:solidFill>
            <a:srgbClr val="B42332"/>
          </a:solidFill>
          <a:ln w="23813">
            <a:solidFill>
              <a:srgbClr val="172B4D"/>
            </a:solidFill>
          </a:ln>
        </p:spPr>
      </p:sp>
      <p:sp>
        <p:nvSpPr>
          <p:cNvPr id="11" name="object-11">
            <a:extLst>
              <a:ext uri="{FF2B5EF4-FFF2-40B4-BE49-F238E27FC236}">
                <a16:creationId xmlns:a16="http://schemas.microsoft.com/office/drawing/2014/main" id="{5EFE0766-B9EA-4C5B-8A77-8BFABDCCD4C0}"/>
              </a:ext>
            </a:extLst>
          </p:cNvPr>
          <p:cNvSpPr>
            <a:spLocks noGrp="1"/>
          </p:cNvSpPr>
          <p:nvPr/>
        </p:nvSpPr>
        <p:spPr>
          <a:xfrm>
            <a:off x="4107656" y="2976563"/>
            <a:ext cx="833438" cy="833438"/>
          </a:xfrm>
          <a:prstGeom prst="rect">
            <a:avLst/>
          </a:prstGeom>
          <a:solidFill>
            <a:srgbClr val="1D4ED8"/>
          </a:solidFill>
          <a:ln w="23813">
            <a:solidFill>
              <a:srgbClr val="172B4D"/>
            </a:solidFill>
          </a:ln>
        </p:spPr>
      </p:sp>
      <p:sp>
        <p:nvSpPr>
          <p:cNvPr id="12" name="object-12">
            <a:extLst>
              <a:ext uri="{FF2B5EF4-FFF2-40B4-BE49-F238E27FC236}">
                <a16:creationId xmlns:a16="http://schemas.microsoft.com/office/drawing/2014/main" id="{11EC28C9-4785-46AF-A81A-FF32806A5240}"/>
              </a:ext>
            </a:extLst>
          </p:cNvPr>
          <p:cNvSpPr>
            <a:spLocks noGrp="1"/>
          </p:cNvSpPr>
          <p:nvPr/>
        </p:nvSpPr>
        <p:spPr>
          <a:xfrm>
            <a:off x="6131719" y="2976563"/>
            <a:ext cx="833438" cy="833438"/>
          </a:xfrm>
          <a:prstGeom prst="rect">
            <a:avLst/>
          </a:prstGeom>
          <a:solidFill>
            <a:srgbClr val="B42332"/>
          </a:solidFill>
          <a:ln w="23813">
            <a:solidFill>
              <a:srgbClr val="172B4D"/>
            </a:solidFill>
          </a:ln>
        </p:spPr>
      </p:sp>
      <p:sp>
        <p:nvSpPr>
          <p:cNvPr id="13" name="object-13">
            <a:extLst>
              <a:ext uri="{FF2B5EF4-FFF2-40B4-BE49-F238E27FC236}">
                <a16:creationId xmlns:a16="http://schemas.microsoft.com/office/drawing/2014/main" id="{C4141ABE-764C-419E-AE91-175959A97086}"/>
              </a:ext>
            </a:extLst>
          </p:cNvPr>
          <p:cNvSpPr>
            <a:spLocks noGrp="1"/>
          </p:cNvSpPr>
          <p:nvPr/>
        </p:nvSpPr>
        <p:spPr>
          <a:xfrm>
            <a:off x="8155781" y="2976563"/>
            <a:ext cx="833438" cy="833438"/>
          </a:xfrm>
          <a:prstGeom prst="ellipse">
            <a:avLst/>
          </a:prstGeom>
          <a:solidFill>
            <a:srgbClr val="1D4ED8"/>
          </a:solidFill>
          <a:ln w="23813">
            <a:solidFill>
              <a:srgbClr val="172B4D"/>
            </a:solidFill>
          </a:ln>
        </p:spPr>
      </p:sp>
      <p:sp>
        <p:nvSpPr>
          <p:cNvPr id="14" name="object-14">
            <a:extLst>
              <a:ext uri="{FF2B5EF4-FFF2-40B4-BE49-F238E27FC236}">
                <a16:creationId xmlns:a16="http://schemas.microsoft.com/office/drawing/2014/main" id="{6FE090B3-5AE8-46C1-800F-52B5F11CDA3F}"/>
              </a:ext>
            </a:extLst>
          </p:cNvPr>
          <p:cNvSpPr>
            <a:spLocks noGrp="1"/>
          </p:cNvSpPr>
          <p:nvPr/>
        </p:nvSpPr>
        <p:spPr>
          <a:xfrm>
            <a:off x="10179844" y="2976563"/>
            <a:ext cx="833438" cy="833438"/>
          </a:xfrm>
          <a:prstGeom prst="rect">
            <a:avLst/>
          </a:prstGeom>
          <a:solidFill>
            <a:srgbClr val="B42332"/>
          </a:solidFill>
          <a:ln w="23813">
            <a:solidFill>
              <a:srgbClr val="172B4D"/>
            </a:solidFill>
          </a:ln>
        </p:spPr>
      </p:sp>
      <p:sp>
        <p:nvSpPr>
          <p:cNvPr id="15" name="object-15">
            <a:extLst>
              <a:ext uri="{FF2B5EF4-FFF2-40B4-BE49-F238E27FC236}">
                <a16:creationId xmlns:a16="http://schemas.microsoft.com/office/drawing/2014/main" id="{9044160B-0BD8-4E47-8396-53938C095222}"/>
              </a:ext>
            </a:extLst>
          </p:cNvPr>
          <p:cNvSpPr>
            <a:spLocks noGrp="1"/>
          </p:cNvSpPr>
          <p:nvPr/>
        </p:nvSpPr>
        <p:spPr>
          <a:xfrm>
            <a:off x="12203906" y="2976563"/>
            <a:ext cx="833438" cy="833438"/>
          </a:xfrm>
          <a:prstGeom prst="rect">
            <a:avLst/>
          </a:prstGeom>
          <a:solidFill>
            <a:srgbClr val="1D4ED8"/>
          </a:solidFill>
          <a:ln w="23813">
            <a:solidFill>
              <a:srgbClr val="172B4D"/>
            </a:solidFill>
          </a:ln>
        </p:spPr>
      </p:sp>
    </p:spTree>
    <p:extLst>
      <p:ext uri="{BB962C8B-B14F-4D97-AF65-F5344CB8AC3E}">
        <p14:creationId xmlns:p14="http://schemas.microsoft.com/office/powerpoint/2010/main" val="741031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02734375 0.27777778 E" pathEditMode="relative" ptsTypes="">
                                      <p:cBhvr>
                                        <p:cTn id="6" dur="800" fill="hold"/>
                                        <p:tgtEl>
                                          <p:spTgt spid="10"/>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 0 L 0.32421875 0.27777778 E" pathEditMode="relative" ptsTypes="">
                                      <p:cBhvr>
                                        <p:cTn id="10" dur="800" fill="hold"/>
                                        <p:tgtEl>
                                          <p:spTgt spid="11"/>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0 0 L -0.21875 0.27777778 E" pathEditMode="relative" ptsTypes="">
                                      <p:cBhvr>
                                        <p:cTn id="14" dur="800" fill="hold"/>
                                        <p:tgtEl>
                                          <p:spTgt spid="12"/>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nodeType="clickEffect">
                                  <p:stCondLst>
                                    <p:cond delay="0"/>
                                  </p:stCondLst>
                                  <p:childTnLst>
                                    <p:animMotion origin="layout" path="M 0 0 L 0.1328125 0.27777778 E" pathEditMode="relative" ptsTypes="">
                                      <p:cBhvr>
                                        <p:cTn id="18" dur="800" fill="hold"/>
                                        <p:tgtEl>
                                          <p:spTgt spid="13"/>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63" presetClass="path" presetSubtype="0" accel="50000" decel="50000" fill="hold" nodeType="clickEffect">
                                  <p:stCondLst>
                                    <p:cond delay="0"/>
                                  </p:stCondLst>
                                  <p:childTnLst>
                                    <p:animMotion origin="layout" path="M 0 0 L -0.41015625 0.27777778 E" pathEditMode="relative" ptsTypes="">
                                      <p:cBhvr>
                                        <p:cTn id="22" dur="800" fill="hold"/>
                                        <p:tgtEl>
                                          <p:spTgt spid="14"/>
                                        </p:tgtEl>
                                        <p:attrNameLst>
                                          <p:attrName>ppt_x</p:attrName>
                                          <p:attrName>ppt_y</p:attrName>
                                        </p:attrNameLst>
                                      </p:cBhvr>
                                    </p:animMotion>
                                  </p:childTnLst>
                                </p:cTn>
                              </p:par>
                            </p:childTnLst>
                          </p:cTn>
                        </p:par>
                      </p:childTnLst>
                    </p:cTn>
                  </p:par>
                  <p:par>
                    <p:cTn id="23" fill="hold">
                      <p:stCondLst>
                        <p:cond delay="indefinite"/>
                      </p:stCondLst>
                      <p:childTnLst>
                        <p:par>
                          <p:cTn id="24" fill="hold">
                            <p:stCondLst>
                              <p:cond delay="0"/>
                            </p:stCondLst>
                            <p:childTnLst>
                              <p:par>
                                <p:cTn id="25" presetID="63" presetClass="path" presetSubtype="0" accel="50000" decel="50000" fill="hold" nodeType="clickEffect">
                                  <p:stCondLst>
                                    <p:cond delay="0"/>
                                  </p:stCondLst>
                                  <p:childTnLst>
                                    <p:animMotion origin="layout" path="M 0 0 L -0.05859375 0.27777778 E" pathEditMode="relative" ptsTypes="">
                                      <p:cBhvr>
                                        <p:cTn id="26" dur="800" fill="hold"/>
                                        <p:tgtEl>
                                          <p:spTgt spid="1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object-1">
            <a:extLst>
              <a:ext uri="{FF2B5EF4-FFF2-40B4-BE49-F238E27FC236}">
                <a16:creationId xmlns:a16="http://schemas.microsoft.com/office/drawing/2014/main" id="{24F3C5D5-3787-48AF-B34E-BF5D4C49B9C3}"/>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D8BBA93C-144E-483C-ADDD-804AE6353855}"/>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9FB9D21E-2645-4F84-858A-B459FD3CC998}"/>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Sort these objects by shape.</a:t>
            </a:r>
          </a:p>
        </p:txBody>
      </p:sp>
      <p:sp>
        <p:nvSpPr>
          <p:cNvPr id="4" name="object-4">
            <a:extLst>
              <a:ext uri="{FF2B5EF4-FFF2-40B4-BE49-F238E27FC236}">
                <a16:creationId xmlns:a16="http://schemas.microsoft.com/office/drawing/2014/main" id="{7E49BC7F-1C7A-47FD-B557-7CC56C8C6C12}"/>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A6676539-AED0-4734-95EC-F299B46A76FD}"/>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Sort objects into groups</a:t>
            </a:r>
          </a:p>
        </p:txBody>
      </p:sp>
      <p:sp>
        <p:nvSpPr>
          <p:cNvPr id="6" name="object-6">
            <a:extLst>
              <a:ext uri="{FF2B5EF4-FFF2-40B4-BE49-F238E27FC236}">
                <a16:creationId xmlns:a16="http://schemas.microsoft.com/office/drawing/2014/main" id="{45EF57ED-6142-4AC4-A454-54BA5F500206}"/>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5</a:t>
            </a:r>
          </a:p>
        </p:txBody>
      </p:sp>
      <p:sp>
        <p:nvSpPr>
          <p:cNvPr id="7" name="object-7">
            <a:extLst>
              <a:ext uri="{FF2B5EF4-FFF2-40B4-BE49-F238E27FC236}">
                <a16:creationId xmlns:a16="http://schemas.microsoft.com/office/drawing/2014/main" id="{AE163B12-3194-462E-B513-26FB8C2FB1C7}"/>
              </a:ext>
            </a:extLst>
          </p:cNvPr>
          <p:cNvSpPr>
            <a:spLocks noGrp="1"/>
          </p:cNvSpPr>
          <p:nvPr/>
        </p:nvSpPr>
        <p:spPr>
          <a:xfrm>
            <a:off x="1250156" y="4762500"/>
            <a:ext cx="5357813" cy="2143125"/>
          </a:xfrm>
          <a:prstGeom prst="rect">
            <a:avLst/>
          </a:prstGeom>
          <a:noFill/>
          <a:ln w="35719">
            <a:solidFill>
              <a:srgbClr val="1D4ED8"/>
            </a:solidFill>
          </a:ln>
        </p:spPr>
      </p:sp>
      <p:sp>
        <p:nvSpPr>
          <p:cNvPr id="8" name="object-8">
            <a:extLst>
              <a:ext uri="{FF2B5EF4-FFF2-40B4-BE49-F238E27FC236}">
                <a16:creationId xmlns:a16="http://schemas.microsoft.com/office/drawing/2014/main" id="{0837F635-7058-47F9-BE23-96A152A3B086}"/>
              </a:ext>
            </a:extLst>
          </p:cNvPr>
          <p:cNvSpPr>
            <a:spLocks noGrp="1"/>
          </p:cNvSpPr>
          <p:nvPr/>
        </p:nvSpPr>
        <p:spPr>
          <a:xfrm>
            <a:off x="8632031" y="4762500"/>
            <a:ext cx="5357813" cy="2143125"/>
          </a:xfrm>
          <a:prstGeom prst="rect">
            <a:avLst/>
          </a:prstGeom>
          <a:noFill/>
          <a:ln w="35719">
            <a:solidFill>
              <a:srgbClr val="1D4ED8"/>
            </a:solidFill>
          </a:ln>
        </p:spPr>
      </p:sp>
      <p:sp>
        <p:nvSpPr>
          <p:cNvPr id="9" name="object-9">
            <a:extLst>
              <a:ext uri="{FF2B5EF4-FFF2-40B4-BE49-F238E27FC236}">
                <a16:creationId xmlns:a16="http://schemas.microsoft.com/office/drawing/2014/main" id="{E1540FBD-8984-4118-AD9F-D8B8DD30A1A6}"/>
              </a:ext>
            </a:extLst>
          </p:cNvPr>
          <p:cNvSpPr>
            <a:spLocks noGrp="1"/>
          </p:cNvSpPr>
          <p:nvPr/>
        </p:nvSpPr>
        <p:spPr>
          <a:xfrm>
            <a:off x="1250156" y="7143750"/>
            <a:ext cx="5357813" cy="595313"/>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circles</a:t>
            </a:r>
          </a:p>
        </p:txBody>
      </p:sp>
      <p:sp>
        <p:nvSpPr>
          <p:cNvPr id="10" name="object-10">
            <a:extLst>
              <a:ext uri="{FF2B5EF4-FFF2-40B4-BE49-F238E27FC236}">
                <a16:creationId xmlns:a16="http://schemas.microsoft.com/office/drawing/2014/main" id="{B3412132-145A-4699-93BA-A827406140C4}"/>
              </a:ext>
            </a:extLst>
          </p:cNvPr>
          <p:cNvSpPr>
            <a:spLocks noGrp="1"/>
          </p:cNvSpPr>
          <p:nvPr/>
        </p:nvSpPr>
        <p:spPr>
          <a:xfrm>
            <a:off x="8632031" y="7143750"/>
            <a:ext cx="5357813" cy="595313"/>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squares</a:t>
            </a:r>
          </a:p>
        </p:txBody>
      </p:sp>
      <p:sp>
        <p:nvSpPr>
          <p:cNvPr id="11" name="object-11">
            <a:extLst>
              <a:ext uri="{FF2B5EF4-FFF2-40B4-BE49-F238E27FC236}">
                <a16:creationId xmlns:a16="http://schemas.microsoft.com/office/drawing/2014/main" id="{34878B53-0092-4534-ADB6-F112DB45C40C}"/>
              </a:ext>
            </a:extLst>
          </p:cNvPr>
          <p:cNvSpPr>
            <a:spLocks noGrp="1"/>
          </p:cNvSpPr>
          <p:nvPr/>
        </p:nvSpPr>
        <p:spPr>
          <a:xfrm>
            <a:off x="2083594" y="2976563"/>
            <a:ext cx="833438" cy="833438"/>
          </a:xfrm>
          <a:prstGeom prst="ellipse">
            <a:avLst/>
          </a:prstGeom>
          <a:solidFill>
            <a:srgbClr val="B42332"/>
          </a:solidFill>
          <a:ln w="23813">
            <a:solidFill>
              <a:srgbClr val="172B4D"/>
            </a:solidFill>
          </a:ln>
        </p:spPr>
      </p:sp>
      <p:sp>
        <p:nvSpPr>
          <p:cNvPr id="12" name="object-12">
            <a:extLst>
              <a:ext uri="{FF2B5EF4-FFF2-40B4-BE49-F238E27FC236}">
                <a16:creationId xmlns:a16="http://schemas.microsoft.com/office/drawing/2014/main" id="{52625E75-530E-4EDC-B9D6-2A86A9ED0930}"/>
              </a:ext>
            </a:extLst>
          </p:cNvPr>
          <p:cNvSpPr>
            <a:spLocks noGrp="1"/>
          </p:cNvSpPr>
          <p:nvPr/>
        </p:nvSpPr>
        <p:spPr>
          <a:xfrm>
            <a:off x="4107656" y="2976563"/>
            <a:ext cx="833438" cy="833438"/>
          </a:xfrm>
          <a:prstGeom prst="rect">
            <a:avLst/>
          </a:prstGeom>
          <a:solidFill>
            <a:srgbClr val="1D4ED8"/>
          </a:solidFill>
          <a:ln w="23813">
            <a:solidFill>
              <a:srgbClr val="172B4D"/>
            </a:solidFill>
          </a:ln>
        </p:spPr>
      </p:sp>
      <p:sp>
        <p:nvSpPr>
          <p:cNvPr id="13" name="object-13">
            <a:extLst>
              <a:ext uri="{FF2B5EF4-FFF2-40B4-BE49-F238E27FC236}">
                <a16:creationId xmlns:a16="http://schemas.microsoft.com/office/drawing/2014/main" id="{0E18A4D1-9C77-490E-B0E6-E3D98D445F44}"/>
              </a:ext>
            </a:extLst>
          </p:cNvPr>
          <p:cNvSpPr>
            <a:spLocks noGrp="1"/>
          </p:cNvSpPr>
          <p:nvPr/>
        </p:nvSpPr>
        <p:spPr>
          <a:xfrm>
            <a:off x="6131719" y="2976563"/>
            <a:ext cx="833438" cy="833438"/>
          </a:xfrm>
          <a:prstGeom prst="rect">
            <a:avLst/>
          </a:prstGeom>
          <a:solidFill>
            <a:srgbClr val="B42332"/>
          </a:solidFill>
          <a:ln w="23813">
            <a:solidFill>
              <a:srgbClr val="172B4D"/>
            </a:solidFill>
          </a:ln>
        </p:spPr>
      </p:sp>
      <p:sp>
        <p:nvSpPr>
          <p:cNvPr id="14" name="object-14">
            <a:extLst>
              <a:ext uri="{FF2B5EF4-FFF2-40B4-BE49-F238E27FC236}">
                <a16:creationId xmlns:a16="http://schemas.microsoft.com/office/drawing/2014/main" id="{AF657A76-699B-49C1-B1C2-2C4660DB5CED}"/>
              </a:ext>
            </a:extLst>
          </p:cNvPr>
          <p:cNvSpPr>
            <a:spLocks noGrp="1"/>
          </p:cNvSpPr>
          <p:nvPr/>
        </p:nvSpPr>
        <p:spPr>
          <a:xfrm>
            <a:off x="8155781" y="2976563"/>
            <a:ext cx="833438" cy="833438"/>
          </a:xfrm>
          <a:prstGeom prst="ellipse">
            <a:avLst/>
          </a:prstGeom>
          <a:solidFill>
            <a:srgbClr val="1D4ED8"/>
          </a:solidFill>
          <a:ln w="23813">
            <a:solidFill>
              <a:srgbClr val="172B4D"/>
            </a:solidFill>
          </a:ln>
        </p:spPr>
      </p:sp>
      <p:sp>
        <p:nvSpPr>
          <p:cNvPr id="15" name="object-15">
            <a:extLst>
              <a:ext uri="{FF2B5EF4-FFF2-40B4-BE49-F238E27FC236}">
                <a16:creationId xmlns:a16="http://schemas.microsoft.com/office/drawing/2014/main" id="{54C0B10F-B34B-4099-A01E-93F3AE142BB9}"/>
              </a:ext>
            </a:extLst>
          </p:cNvPr>
          <p:cNvSpPr>
            <a:spLocks noGrp="1"/>
          </p:cNvSpPr>
          <p:nvPr/>
        </p:nvSpPr>
        <p:spPr>
          <a:xfrm>
            <a:off x="10179844" y="2976563"/>
            <a:ext cx="833438" cy="833438"/>
          </a:xfrm>
          <a:prstGeom prst="rect">
            <a:avLst/>
          </a:prstGeom>
          <a:solidFill>
            <a:srgbClr val="B42332"/>
          </a:solidFill>
          <a:ln w="23813">
            <a:solidFill>
              <a:srgbClr val="172B4D"/>
            </a:solidFill>
          </a:ln>
        </p:spPr>
      </p:sp>
      <p:sp>
        <p:nvSpPr>
          <p:cNvPr id="16" name="object-16">
            <a:extLst>
              <a:ext uri="{FF2B5EF4-FFF2-40B4-BE49-F238E27FC236}">
                <a16:creationId xmlns:a16="http://schemas.microsoft.com/office/drawing/2014/main" id="{3FB8E3B4-675C-47FB-A963-4F369525FB08}"/>
              </a:ext>
            </a:extLst>
          </p:cNvPr>
          <p:cNvSpPr>
            <a:spLocks noGrp="1"/>
          </p:cNvSpPr>
          <p:nvPr/>
        </p:nvSpPr>
        <p:spPr>
          <a:xfrm>
            <a:off x="12203906" y="2976563"/>
            <a:ext cx="833438" cy="833438"/>
          </a:xfrm>
          <a:prstGeom prst="rect">
            <a:avLst/>
          </a:prstGeom>
          <a:solidFill>
            <a:srgbClr val="1D4ED8"/>
          </a:solidFill>
          <a:ln w="23813">
            <a:solidFill>
              <a:srgbClr val="172B4D"/>
            </a:solidFill>
          </a:ln>
        </p:spPr>
      </p:sp>
    </p:spTree>
    <p:extLst>
      <p:ext uri="{BB962C8B-B14F-4D97-AF65-F5344CB8AC3E}">
        <p14:creationId xmlns:p14="http://schemas.microsoft.com/office/powerpoint/2010/main" val="120658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02734375 0.27777778 E" pathEditMode="relative" ptsTypes="">
                                      <p:cBhvr>
                                        <p:cTn id="6" dur="800" fill="hold"/>
                                        <p:tgtEl>
                                          <p:spTgt spid="11"/>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 0 L 0.32421875 0.27777778 E" pathEditMode="relative" ptsTypes="">
                                      <p:cBhvr>
                                        <p:cTn id="10" dur="800" fill="hold"/>
                                        <p:tgtEl>
                                          <p:spTgt spid="12"/>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0 0 L 0.265625 0.27777778 E" pathEditMode="relative" ptsTypes="">
                                      <p:cBhvr>
                                        <p:cTn id="14" dur="800" fill="hold"/>
                                        <p:tgtEl>
                                          <p:spTgt spid="1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nodeType="clickEffect">
                                  <p:stCondLst>
                                    <p:cond delay="0"/>
                                  </p:stCondLst>
                                  <p:childTnLst>
                                    <p:animMotion origin="layout" path="M 0 0 L -0.3515625 0.27777778 E" pathEditMode="relative" ptsTypes="">
                                      <p:cBhvr>
                                        <p:cTn id="18" dur="800" fill="hold"/>
                                        <p:tgtEl>
                                          <p:spTgt spid="14"/>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63" presetClass="path" presetSubtype="0" accel="50000" decel="50000" fill="hold" nodeType="clickEffect">
                                  <p:stCondLst>
                                    <p:cond delay="0"/>
                                  </p:stCondLst>
                                  <p:childTnLst>
                                    <p:animMotion origin="layout" path="M 0 0 L 0.07421875 0.27777778 E" pathEditMode="relative" ptsTypes="">
                                      <p:cBhvr>
                                        <p:cTn id="22" dur="800" fill="hold"/>
                                        <p:tgtEl>
                                          <p:spTgt spid="15"/>
                                        </p:tgtEl>
                                        <p:attrNameLst>
                                          <p:attrName>ppt_x</p:attrName>
                                          <p:attrName>ppt_y</p:attrName>
                                        </p:attrNameLst>
                                      </p:cBhvr>
                                    </p:animMotion>
                                  </p:childTnLst>
                                </p:cTn>
                              </p:par>
                            </p:childTnLst>
                          </p:cTn>
                        </p:par>
                      </p:childTnLst>
                    </p:cTn>
                  </p:par>
                  <p:par>
                    <p:cTn id="23" fill="hold">
                      <p:stCondLst>
                        <p:cond delay="indefinite"/>
                      </p:stCondLst>
                      <p:childTnLst>
                        <p:par>
                          <p:cTn id="24" fill="hold">
                            <p:stCondLst>
                              <p:cond delay="0"/>
                            </p:stCondLst>
                            <p:childTnLst>
                              <p:par>
                                <p:cTn id="25" presetID="63" presetClass="path" presetSubtype="0" accel="50000" decel="50000" fill="hold" nodeType="clickEffect">
                                  <p:stCondLst>
                                    <p:cond delay="0"/>
                                  </p:stCondLst>
                                  <p:childTnLst>
                                    <p:animMotion origin="layout" path="M 0 0 L 0.015625 0.27777778 E" pathEditMode="relative" ptsTypes="">
                                      <p:cBhvr>
                                        <p:cTn id="26" dur="800" fill="hold"/>
                                        <p:tgtEl>
                                          <p:spTgt spid="1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object-1">
            <a:extLst>
              <a:ext uri="{FF2B5EF4-FFF2-40B4-BE49-F238E27FC236}">
                <a16:creationId xmlns:a16="http://schemas.microsoft.com/office/drawing/2014/main" id="{94C8E710-2EEC-47C8-8B81-38730175B021}"/>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C39AA0DD-5FDC-4549-8CDB-AE2DCAF7EAC4}"/>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DF00B947-2536-4CC7-BC8B-E3FF829881DE}"/>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Try these questions.</a:t>
            </a:r>
          </a:p>
        </p:txBody>
      </p:sp>
      <p:sp>
        <p:nvSpPr>
          <p:cNvPr id="4" name="object-4">
            <a:extLst>
              <a:ext uri="{FF2B5EF4-FFF2-40B4-BE49-F238E27FC236}">
                <a16:creationId xmlns:a16="http://schemas.microsoft.com/office/drawing/2014/main" id="{32BB5710-9893-4DED-AAAD-7EA9AD98A4A4}"/>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BB1661FD-6224-4055-BA69-33C1049565E3}"/>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Sort objects into groups</a:t>
            </a:r>
          </a:p>
        </p:txBody>
      </p:sp>
      <p:sp>
        <p:nvSpPr>
          <p:cNvPr id="6" name="object-6">
            <a:extLst>
              <a:ext uri="{FF2B5EF4-FFF2-40B4-BE49-F238E27FC236}">
                <a16:creationId xmlns:a16="http://schemas.microsoft.com/office/drawing/2014/main" id="{98144BB5-214B-4E54-B7C1-9C740FA80AC8}"/>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6</a:t>
            </a:r>
          </a:p>
        </p:txBody>
      </p:sp>
      <p:sp>
        <p:nvSpPr>
          <p:cNvPr id="7" name="object-7">
            <a:extLst>
              <a:ext uri="{FF2B5EF4-FFF2-40B4-BE49-F238E27FC236}">
                <a16:creationId xmlns:a16="http://schemas.microsoft.com/office/drawing/2014/main" id="{28E7647C-EEA6-438B-AB14-5BE900BF38A7}"/>
              </a:ext>
            </a:extLst>
          </p:cNvPr>
          <p:cNvSpPr>
            <a:spLocks noGrp="1"/>
          </p:cNvSpPr>
          <p:nvPr/>
        </p:nvSpPr>
        <p:spPr>
          <a:xfrm>
            <a:off x="773906" y="2464594"/>
            <a:ext cx="654844" cy="773906"/>
          </a:xfrm>
          <a:prstGeom prst="rect">
            <a:avLst/>
          </a:prstGeom>
          <a:noFill/>
          <a:ln w="0">
            <a:noFill/>
          </a:ln>
        </p:spPr>
        <p:txBody>
          <a:bodyPr anchor="ctr">
            <a:noAutofit/>
          </a:bodyPr>
          <a:lstStyle/>
          <a:p>
            <a:pPr algn="l">
              <a:defRPr sz="2250" b="1">
                <a:solidFill>
                  <a:srgbClr val="1D4ED8"/>
                </a:solidFill>
                <a:latin typeface="Arial"/>
                <a:ea typeface="Arial"/>
                <a:cs typeface="Arial"/>
              </a:defRPr>
            </a:pPr>
            <a:r>
              <a:rPr sz="2250" b="1">
                <a:solidFill>
                  <a:srgbClr val="1D4ED8"/>
                </a:solidFill>
                <a:latin typeface="Arial"/>
                <a:ea typeface="Arial"/>
                <a:cs typeface="Arial"/>
              </a:rPr>
              <a:t>1.</a:t>
            </a:r>
          </a:p>
        </p:txBody>
      </p:sp>
      <p:sp>
        <p:nvSpPr>
          <p:cNvPr id="8" name="object-8">
            <a:extLst>
              <a:ext uri="{FF2B5EF4-FFF2-40B4-BE49-F238E27FC236}">
                <a16:creationId xmlns:a16="http://schemas.microsoft.com/office/drawing/2014/main" id="{BCA9ACDC-3A42-4214-9AA5-4EDC518522BA}"/>
              </a:ext>
            </a:extLst>
          </p:cNvPr>
          <p:cNvSpPr>
            <a:spLocks noGrp="1"/>
          </p:cNvSpPr>
          <p:nvPr/>
        </p:nvSpPr>
        <p:spPr>
          <a:xfrm>
            <a:off x="1488281" y="2464594"/>
            <a:ext cx="13096875" cy="773906"/>
          </a:xfrm>
          <a:prstGeom prst="rect">
            <a:avLst/>
          </a:prstGeom>
          <a:noFill/>
          <a:ln w="0">
            <a:noFill/>
          </a:ln>
        </p:spPr>
        <p:txBody>
          <a:bodyPr anchor="ctr">
            <a:noAutofit/>
          </a:bodyPr>
          <a:lstStyle/>
          <a:p>
            <a:pPr algn="l">
              <a:defRPr sz="2156" b="0">
                <a:solidFill>
                  <a:srgbClr val="172B4D"/>
                </a:solidFill>
                <a:latin typeface="Arial"/>
                <a:ea typeface="Arial"/>
                <a:cs typeface="Arial"/>
              </a:defRPr>
            </a:pPr>
            <a:r>
              <a:rPr sz="2156" b="0">
                <a:solidFill>
                  <a:srgbClr val="172B4D"/>
                </a:solidFill>
                <a:latin typeface="Arial"/>
                <a:ea typeface="Arial"/>
                <a:cs typeface="Arial"/>
              </a:rPr>
              <a:t>Sort by colour. Write or draw the red objects in one box and the blue objects in the other.</a:t>
            </a:r>
          </a:p>
        </p:txBody>
      </p:sp>
      <p:sp>
        <p:nvSpPr>
          <p:cNvPr id="9" name="object-9">
            <a:extLst>
              <a:ext uri="{FF2B5EF4-FFF2-40B4-BE49-F238E27FC236}">
                <a16:creationId xmlns:a16="http://schemas.microsoft.com/office/drawing/2014/main" id="{8B6A07C5-2862-418A-98F6-8C1F7EDD02A5}"/>
              </a:ext>
            </a:extLst>
          </p:cNvPr>
          <p:cNvSpPr>
            <a:spLocks noGrp="1"/>
          </p:cNvSpPr>
          <p:nvPr/>
        </p:nvSpPr>
        <p:spPr>
          <a:xfrm>
            <a:off x="1726406" y="3250406"/>
            <a:ext cx="714375" cy="619125"/>
          </a:xfrm>
          <a:custGeom>
            <a:avLst/>
            <a:gdLst/>
            <a:ahLst/>
            <a:cxnLst/>
            <a:rect l="0" t="0" r="0" b="0"/>
            <a:pathLst>
              <a:path w="714375" h="619125">
                <a:moveTo>
                  <a:pt x="0" y="619125"/>
                </a:moveTo>
                <a:lnTo>
                  <a:pt x="357188" y="0"/>
                </a:lnTo>
                <a:lnTo>
                  <a:pt x="714375" y="619125"/>
                </a:lnTo>
                <a:close/>
              </a:path>
            </a:pathLst>
          </a:custGeom>
          <a:solidFill>
            <a:srgbClr val="B42332"/>
          </a:solidFill>
          <a:ln w="23813">
            <a:solidFill>
              <a:srgbClr val="1D4ED8"/>
            </a:solidFill>
          </a:ln>
        </p:spPr>
      </p:sp>
      <p:sp>
        <p:nvSpPr>
          <p:cNvPr id="10" name="object-10">
            <a:extLst>
              <a:ext uri="{FF2B5EF4-FFF2-40B4-BE49-F238E27FC236}">
                <a16:creationId xmlns:a16="http://schemas.microsoft.com/office/drawing/2014/main" id="{0E3F7DA7-2E1E-4653-A138-2FBA31F2A1EA}"/>
              </a:ext>
            </a:extLst>
          </p:cNvPr>
          <p:cNvSpPr>
            <a:spLocks noGrp="1"/>
          </p:cNvSpPr>
          <p:nvPr/>
        </p:nvSpPr>
        <p:spPr>
          <a:xfrm>
            <a:off x="4167188" y="3309938"/>
            <a:ext cx="571500" cy="571500"/>
          </a:xfrm>
          <a:prstGeom prst="ellipse">
            <a:avLst/>
          </a:prstGeom>
          <a:solidFill>
            <a:srgbClr val="1D4ED8"/>
          </a:solidFill>
          <a:ln w="11906">
            <a:solidFill>
              <a:srgbClr val="172B4D"/>
            </a:solidFill>
          </a:ln>
        </p:spPr>
      </p:sp>
      <p:sp>
        <p:nvSpPr>
          <p:cNvPr id="11" name="object-11">
            <a:extLst>
              <a:ext uri="{FF2B5EF4-FFF2-40B4-BE49-F238E27FC236}">
                <a16:creationId xmlns:a16="http://schemas.microsoft.com/office/drawing/2014/main" id="{4ED8E7C4-CD34-4A60-8B72-EBAE1C899049}"/>
              </a:ext>
            </a:extLst>
          </p:cNvPr>
          <p:cNvSpPr>
            <a:spLocks noGrp="1"/>
          </p:cNvSpPr>
          <p:nvPr/>
        </p:nvSpPr>
        <p:spPr>
          <a:xfrm>
            <a:off x="6548438" y="3309938"/>
            <a:ext cx="571500" cy="571500"/>
          </a:xfrm>
          <a:prstGeom prst="rect">
            <a:avLst/>
          </a:prstGeom>
          <a:solidFill>
            <a:srgbClr val="B42332"/>
          </a:solidFill>
          <a:ln w="11906">
            <a:solidFill>
              <a:srgbClr val="172B4D"/>
            </a:solidFill>
          </a:ln>
        </p:spPr>
      </p:sp>
      <p:sp>
        <p:nvSpPr>
          <p:cNvPr id="12" name="object-12">
            <a:extLst>
              <a:ext uri="{FF2B5EF4-FFF2-40B4-BE49-F238E27FC236}">
                <a16:creationId xmlns:a16="http://schemas.microsoft.com/office/drawing/2014/main" id="{DADB84B1-28C1-4383-96E4-DC45DB5EC9F4}"/>
              </a:ext>
            </a:extLst>
          </p:cNvPr>
          <p:cNvSpPr>
            <a:spLocks noGrp="1"/>
          </p:cNvSpPr>
          <p:nvPr/>
        </p:nvSpPr>
        <p:spPr>
          <a:xfrm>
            <a:off x="8870156" y="3250406"/>
            <a:ext cx="714375" cy="619125"/>
          </a:xfrm>
          <a:custGeom>
            <a:avLst/>
            <a:gdLst/>
            <a:ahLst/>
            <a:cxnLst/>
            <a:rect l="0" t="0" r="0" b="0"/>
            <a:pathLst>
              <a:path w="714375" h="619125">
                <a:moveTo>
                  <a:pt x="0" y="619125"/>
                </a:moveTo>
                <a:lnTo>
                  <a:pt x="357188" y="0"/>
                </a:lnTo>
                <a:lnTo>
                  <a:pt x="714375" y="619125"/>
                </a:lnTo>
                <a:close/>
              </a:path>
            </a:pathLst>
          </a:custGeom>
          <a:solidFill>
            <a:srgbClr val="1D4ED8"/>
          </a:solidFill>
          <a:ln w="23813">
            <a:solidFill>
              <a:srgbClr val="1D4ED8"/>
            </a:solidFill>
          </a:ln>
        </p:spPr>
      </p:sp>
      <p:sp>
        <p:nvSpPr>
          <p:cNvPr id="13" name="object-13">
            <a:extLst>
              <a:ext uri="{FF2B5EF4-FFF2-40B4-BE49-F238E27FC236}">
                <a16:creationId xmlns:a16="http://schemas.microsoft.com/office/drawing/2014/main" id="{11A5AC27-C761-4334-B90D-2F27E290A84F}"/>
              </a:ext>
            </a:extLst>
          </p:cNvPr>
          <p:cNvSpPr>
            <a:spLocks noGrp="1"/>
          </p:cNvSpPr>
          <p:nvPr/>
        </p:nvSpPr>
        <p:spPr>
          <a:xfrm>
            <a:off x="773906" y="4167188"/>
            <a:ext cx="654844" cy="809625"/>
          </a:xfrm>
          <a:prstGeom prst="rect">
            <a:avLst/>
          </a:prstGeom>
          <a:noFill/>
          <a:ln w="0">
            <a:noFill/>
          </a:ln>
        </p:spPr>
        <p:txBody>
          <a:bodyPr anchor="ctr">
            <a:noAutofit/>
          </a:bodyPr>
          <a:lstStyle/>
          <a:p>
            <a:pPr algn="l">
              <a:defRPr sz="2156" b="1">
                <a:solidFill>
                  <a:srgbClr val="1D4ED8"/>
                </a:solidFill>
                <a:latin typeface="Arial"/>
                <a:ea typeface="Arial"/>
                <a:cs typeface="Arial"/>
              </a:defRPr>
            </a:pPr>
            <a:r>
              <a:rPr sz="2156" b="1">
                <a:solidFill>
                  <a:srgbClr val="1D4ED8"/>
                </a:solidFill>
                <a:latin typeface="Arial"/>
                <a:ea typeface="Arial"/>
                <a:cs typeface="Arial"/>
              </a:rPr>
              <a:t>2.</a:t>
            </a:r>
          </a:p>
        </p:txBody>
      </p:sp>
      <p:sp>
        <p:nvSpPr>
          <p:cNvPr id="14" name="object-14">
            <a:extLst>
              <a:ext uri="{FF2B5EF4-FFF2-40B4-BE49-F238E27FC236}">
                <a16:creationId xmlns:a16="http://schemas.microsoft.com/office/drawing/2014/main" id="{C1FB9FE9-2EE4-4B00-BEFF-478603241B83}"/>
              </a:ext>
            </a:extLst>
          </p:cNvPr>
          <p:cNvSpPr>
            <a:spLocks noGrp="1"/>
          </p:cNvSpPr>
          <p:nvPr/>
        </p:nvSpPr>
        <p:spPr>
          <a:xfrm>
            <a:off x="1488281" y="4167188"/>
            <a:ext cx="13096875" cy="809625"/>
          </a:xfrm>
          <a:prstGeom prst="rect">
            <a:avLst/>
          </a:prstGeom>
          <a:noFill/>
          <a:ln w="0">
            <a:noFill/>
          </a:ln>
        </p:spPr>
        <p:txBody>
          <a:bodyPr anchor="ctr">
            <a:noAutofit/>
          </a:bodyPr>
          <a:lstStyle/>
          <a:p>
            <a:pPr algn="l">
              <a:defRPr sz="2156" b="0">
                <a:solidFill>
                  <a:srgbClr val="172B4D"/>
                </a:solidFill>
                <a:latin typeface="Arial"/>
                <a:ea typeface="Arial"/>
                <a:cs typeface="Arial"/>
              </a:defRPr>
            </a:pPr>
            <a:r>
              <a:rPr sz="2156" b="0">
                <a:solidFill>
                  <a:srgbClr val="172B4D"/>
                </a:solidFill>
                <a:latin typeface="Arial"/>
                <a:ea typeface="Arial"/>
                <a:cs typeface="Arial"/>
              </a:rPr>
              <a:t>A yellow square is in the circle group. Is the sort correct? Explain.</a:t>
            </a:r>
          </a:p>
        </p:txBody>
      </p:sp>
      <p:sp>
        <p:nvSpPr>
          <p:cNvPr id="15" name="object-15">
            <a:extLst>
              <a:ext uri="{FF2B5EF4-FFF2-40B4-BE49-F238E27FC236}">
                <a16:creationId xmlns:a16="http://schemas.microsoft.com/office/drawing/2014/main" id="{81AE74E6-E453-41E4-A50C-C0454BF8F556}"/>
              </a:ext>
            </a:extLst>
          </p:cNvPr>
          <p:cNvSpPr>
            <a:spLocks noGrp="1"/>
          </p:cNvSpPr>
          <p:nvPr/>
        </p:nvSpPr>
        <p:spPr>
          <a:xfrm>
            <a:off x="773906" y="5048250"/>
            <a:ext cx="654844" cy="809625"/>
          </a:xfrm>
          <a:prstGeom prst="rect">
            <a:avLst/>
          </a:prstGeom>
          <a:noFill/>
          <a:ln w="0">
            <a:noFill/>
          </a:ln>
        </p:spPr>
        <p:txBody>
          <a:bodyPr anchor="ctr">
            <a:noAutofit/>
          </a:bodyPr>
          <a:lstStyle/>
          <a:p>
            <a:pPr algn="l">
              <a:defRPr sz="2156" b="1">
                <a:solidFill>
                  <a:srgbClr val="1D4ED8"/>
                </a:solidFill>
                <a:latin typeface="Arial"/>
                <a:ea typeface="Arial"/>
                <a:cs typeface="Arial"/>
              </a:defRPr>
            </a:pPr>
            <a:r>
              <a:rPr sz="2156" b="1">
                <a:solidFill>
                  <a:srgbClr val="1D4ED8"/>
                </a:solidFill>
                <a:latin typeface="Arial"/>
                <a:ea typeface="Arial"/>
                <a:cs typeface="Arial"/>
              </a:rPr>
              <a:t>3.</a:t>
            </a:r>
          </a:p>
        </p:txBody>
      </p:sp>
      <p:sp>
        <p:nvSpPr>
          <p:cNvPr id="16" name="object-16">
            <a:extLst>
              <a:ext uri="{FF2B5EF4-FFF2-40B4-BE49-F238E27FC236}">
                <a16:creationId xmlns:a16="http://schemas.microsoft.com/office/drawing/2014/main" id="{5262E4CE-28AC-4BCB-A019-CF750E38C86C}"/>
              </a:ext>
            </a:extLst>
          </p:cNvPr>
          <p:cNvSpPr>
            <a:spLocks noGrp="1"/>
          </p:cNvSpPr>
          <p:nvPr/>
        </p:nvSpPr>
        <p:spPr>
          <a:xfrm>
            <a:off x="1488281" y="5048250"/>
            <a:ext cx="13096875" cy="809625"/>
          </a:xfrm>
          <a:prstGeom prst="rect">
            <a:avLst/>
          </a:prstGeom>
          <a:noFill/>
          <a:ln w="0">
            <a:noFill/>
          </a:ln>
        </p:spPr>
        <p:txBody>
          <a:bodyPr anchor="ctr">
            <a:noAutofit/>
          </a:bodyPr>
          <a:lstStyle/>
          <a:p>
            <a:pPr algn="l">
              <a:defRPr sz="2156" b="0">
                <a:solidFill>
                  <a:srgbClr val="172B4D"/>
                </a:solidFill>
                <a:latin typeface="Arial"/>
                <a:ea typeface="Arial"/>
                <a:cs typeface="Arial"/>
              </a:defRPr>
            </a:pPr>
            <a:r>
              <a:rPr sz="2156" b="0">
                <a:solidFill>
                  <a:srgbClr val="172B4D"/>
                </a:solidFill>
                <a:latin typeface="Arial"/>
                <a:ea typeface="Arial"/>
                <a:cs typeface="Arial"/>
              </a:rPr>
              <a:t>Draw four objects that can be sorted into two colour groups.</a:t>
            </a:r>
          </a:p>
        </p:txBody>
      </p:sp>
      <p:sp>
        <p:nvSpPr>
          <p:cNvPr id="17" name="object-17">
            <a:extLst>
              <a:ext uri="{FF2B5EF4-FFF2-40B4-BE49-F238E27FC236}">
                <a16:creationId xmlns:a16="http://schemas.microsoft.com/office/drawing/2014/main" id="{3961CC6F-345F-4CBD-B4FF-5E82250F017F}"/>
              </a:ext>
            </a:extLst>
          </p:cNvPr>
          <p:cNvSpPr>
            <a:spLocks noGrp="1"/>
          </p:cNvSpPr>
          <p:nvPr/>
        </p:nvSpPr>
        <p:spPr>
          <a:xfrm>
            <a:off x="773906" y="5929313"/>
            <a:ext cx="654844" cy="809625"/>
          </a:xfrm>
          <a:prstGeom prst="rect">
            <a:avLst/>
          </a:prstGeom>
          <a:noFill/>
          <a:ln w="0">
            <a:noFill/>
          </a:ln>
        </p:spPr>
        <p:txBody>
          <a:bodyPr anchor="ctr">
            <a:noAutofit/>
          </a:bodyPr>
          <a:lstStyle/>
          <a:p>
            <a:pPr algn="l">
              <a:defRPr sz="2156" b="1">
                <a:solidFill>
                  <a:srgbClr val="1D4ED8"/>
                </a:solidFill>
                <a:latin typeface="Arial"/>
                <a:ea typeface="Arial"/>
                <a:cs typeface="Arial"/>
              </a:defRPr>
            </a:pPr>
            <a:r>
              <a:rPr sz="2156" b="1">
                <a:solidFill>
                  <a:srgbClr val="1D4ED8"/>
                </a:solidFill>
                <a:latin typeface="Arial"/>
                <a:ea typeface="Arial"/>
                <a:cs typeface="Arial"/>
              </a:rPr>
              <a:t>4.</a:t>
            </a:r>
          </a:p>
        </p:txBody>
      </p:sp>
      <p:sp>
        <p:nvSpPr>
          <p:cNvPr id="18" name="object-18">
            <a:extLst>
              <a:ext uri="{FF2B5EF4-FFF2-40B4-BE49-F238E27FC236}">
                <a16:creationId xmlns:a16="http://schemas.microsoft.com/office/drawing/2014/main" id="{21AAEC89-D210-412D-A435-7C2C01588820}"/>
              </a:ext>
            </a:extLst>
          </p:cNvPr>
          <p:cNvSpPr>
            <a:spLocks noGrp="1"/>
          </p:cNvSpPr>
          <p:nvPr/>
        </p:nvSpPr>
        <p:spPr>
          <a:xfrm>
            <a:off x="1488281" y="5929313"/>
            <a:ext cx="13096875" cy="809625"/>
          </a:xfrm>
          <a:prstGeom prst="rect">
            <a:avLst/>
          </a:prstGeom>
          <a:noFill/>
          <a:ln w="0">
            <a:noFill/>
          </a:ln>
        </p:spPr>
        <p:txBody>
          <a:bodyPr anchor="ctr">
            <a:noAutofit/>
          </a:bodyPr>
          <a:lstStyle/>
          <a:p>
            <a:pPr algn="l">
              <a:defRPr sz="2156" b="0">
                <a:solidFill>
                  <a:srgbClr val="172B4D"/>
                </a:solidFill>
                <a:latin typeface="Arial"/>
                <a:ea typeface="Arial"/>
                <a:cs typeface="Arial"/>
              </a:defRPr>
            </a:pPr>
            <a:r>
              <a:rPr sz="2156" b="0">
                <a:solidFill>
                  <a:srgbClr val="172B4D"/>
                </a:solidFill>
                <a:latin typeface="Arial"/>
                <a:ea typeface="Arial"/>
                <a:cs typeface="Arial"/>
              </a:rPr>
              <a:t>Write your rule in a full sentence.</a:t>
            </a:r>
          </a:p>
        </p:txBody>
      </p:sp>
      <p:sp>
        <p:nvSpPr>
          <p:cNvPr id="19" name="object-19">
            <a:extLst>
              <a:ext uri="{FF2B5EF4-FFF2-40B4-BE49-F238E27FC236}">
                <a16:creationId xmlns:a16="http://schemas.microsoft.com/office/drawing/2014/main" id="{62A4124B-6207-4BA5-997E-4EEF0DFB0AED}"/>
              </a:ext>
            </a:extLst>
          </p:cNvPr>
          <p:cNvSpPr>
            <a:spLocks noGrp="1"/>
          </p:cNvSpPr>
          <p:nvPr/>
        </p:nvSpPr>
        <p:spPr>
          <a:xfrm>
            <a:off x="773906" y="6810375"/>
            <a:ext cx="654844" cy="809625"/>
          </a:xfrm>
          <a:prstGeom prst="rect">
            <a:avLst/>
          </a:prstGeom>
          <a:noFill/>
          <a:ln w="0">
            <a:noFill/>
          </a:ln>
        </p:spPr>
        <p:txBody>
          <a:bodyPr anchor="ctr">
            <a:noAutofit/>
          </a:bodyPr>
          <a:lstStyle/>
          <a:p>
            <a:pPr algn="l">
              <a:defRPr sz="2156" b="1">
                <a:solidFill>
                  <a:srgbClr val="1D4ED8"/>
                </a:solidFill>
                <a:latin typeface="Arial"/>
                <a:ea typeface="Arial"/>
                <a:cs typeface="Arial"/>
              </a:defRPr>
            </a:pPr>
            <a:r>
              <a:rPr sz="2156" b="1">
                <a:solidFill>
                  <a:srgbClr val="1D4ED8"/>
                </a:solidFill>
                <a:latin typeface="Arial"/>
                <a:ea typeface="Arial"/>
                <a:cs typeface="Arial"/>
              </a:rPr>
              <a:t>5.</a:t>
            </a:r>
          </a:p>
        </p:txBody>
      </p:sp>
      <p:sp>
        <p:nvSpPr>
          <p:cNvPr id="20" name="object-20">
            <a:extLst>
              <a:ext uri="{FF2B5EF4-FFF2-40B4-BE49-F238E27FC236}">
                <a16:creationId xmlns:a16="http://schemas.microsoft.com/office/drawing/2014/main" id="{C216D160-CDA4-4F17-BDC1-F3C6CC57444C}"/>
              </a:ext>
            </a:extLst>
          </p:cNvPr>
          <p:cNvSpPr>
            <a:spLocks noGrp="1"/>
          </p:cNvSpPr>
          <p:nvPr/>
        </p:nvSpPr>
        <p:spPr>
          <a:xfrm>
            <a:off x="1488281" y="6810375"/>
            <a:ext cx="13096875" cy="809625"/>
          </a:xfrm>
          <a:prstGeom prst="rect">
            <a:avLst/>
          </a:prstGeom>
          <a:noFill/>
          <a:ln w="0">
            <a:noFill/>
          </a:ln>
        </p:spPr>
        <p:txBody>
          <a:bodyPr anchor="ctr">
            <a:noAutofit/>
          </a:bodyPr>
          <a:lstStyle/>
          <a:p>
            <a:pPr algn="l">
              <a:defRPr sz="2156" b="0">
                <a:solidFill>
                  <a:srgbClr val="172B4D"/>
                </a:solidFill>
                <a:latin typeface="Arial"/>
                <a:ea typeface="Arial"/>
                <a:cs typeface="Arial"/>
              </a:defRPr>
            </a:pPr>
            <a:r>
              <a:rPr sz="2156" b="0">
                <a:solidFill>
                  <a:srgbClr val="172B4D"/>
                </a:solidFill>
                <a:latin typeface="Arial"/>
                <a:ea typeface="Arial"/>
                <a:cs typeface="Arial"/>
              </a:rPr>
              <a:t>Check every object: Does every object follow the same rule?</a:t>
            </a:r>
          </a:p>
        </p:txBody>
      </p:sp>
    </p:spTree>
    <p:extLst>
      <p:ext uri="{BB962C8B-B14F-4D97-AF65-F5344CB8AC3E}">
        <p14:creationId xmlns:p14="http://schemas.microsoft.com/office/powerpoint/2010/main" val="341538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object-1">
            <a:extLst>
              <a:ext uri="{FF2B5EF4-FFF2-40B4-BE49-F238E27FC236}">
                <a16:creationId xmlns:a16="http://schemas.microsoft.com/office/drawing/2014/main" id="{AFEC40B8-5CB7-4F14-980F-C12B1D857D7F}"/>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Answers</a:t>
            </a:r>
          </a:p>
        </p:txBody>
      </p:sp>
      <p:sp>
        <p:nvSpPr>
          <p:cNvPr id="2" name="object-2">
            <a:extLst>
              <a:ext uri="{FF2B5EF4-FFF2-40B4-BE49-F238E27FC236}">
                <a16:creationId xmlns:a16="http://schemas.microsoft.com/office/drawing/2014/main" id="{D9D4024E-5D01-463C-9606-E9B64623FC2A}"/>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Check your answers. Explain any corrections.</a:t>
            </a:r>
          </a:p>
        </p:txBody>
      </p:sp>
      <p:sp>
        <p:nvSpPr>
          <p:cNvPr id="3" name="object-3">
            <a:extLst>
              <a:ext uri="{FF2B5EF4-FFF2-40B4-BE49-F238E27FC236}">
                <a16:creationId xmlns:a16="http://schemas.microsoft.com/office/drawing/2014/main" id="{E373C451-38DC-47A5-92BE-DD66F6BE54BC}"/>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20E5946C-F39D-4A2D-8FB7-73AFCBFE67F6}"/>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Sort objects into groups</a:t>
            </a:r>
          </a:p>
        </p:txBody>
      </p:sp>
      <p:sp>
        <p:nvSpPr>
          <p:cNvPr id="5" name="object-5">
            <a:extLst>
              <a:ext uri="{FF2B5EF4-FFF2-40B4-BE49-F238E27FC236}">
                <a16:creationId xmlns:a16="http://schemas.microsoft.com/office/drawing/2014/main" id="{B9D67FD5-A63C-4BD1-BFCF-4AE8E556C803}"/>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7</a:t>
            </a:r>
          </a:p>
        </p:txBody>
      </p:sp>
      <p:sp>
        <p:nvSpPr>
          <p:cNvPr id="6" name="object-6">
            <a:extLst>
              <a:ext uri="{FF2B5EF4-FFF2-40B4-BE49-F238E27FC236}">
                <a16:creationId xmlns:a16="http://schemas.microsoft.com/office/drawing/2014/main" id="{F39C5F77-57E1-4D93-8FCB-CF89AEED256D}"/>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7" name="object-7">
            <a:extLst>
              <a:ext uri="{FF2B5EF4-FFF2-40B4-BE49-F238E27FC236}">
                <a16:creationId xmlns:a16="http://schemas.microsoft.com/office/drawing/2014/main" id="{0176741B-FA6A-4C2B-9DA8-CBDE2247B436}"/>
              </a:ext>
            </a:extLst>
          </p:cNvPr>
          <p:cNvSpPr>
            <a:spLocks noGrp="1"/>
          </p:cNvSpPr>
          <p:nvPr/>
        </p:nvSpPr>
        <p:spPr>
          <a:xfrm>
            <a:off x="1464469" y="2512219"/>
            <a:ext cx="12644438" cy="976313"/>
          </a:xfrm>
          <a:prstGeom prst="rect">
            <a:avLst/>
          </a:prstGeom>
          <a:noFill/>
          <a:ln w="0">
            <a:noFill/>
          </a:ln>
        </p:spPr>
        <p:txBody>
          <a:bodyPr anchor="ctr">
            <a:noAutofit/>
          </a:bodyPr>
          <a:lstStyle/>
          <a:p>
            <a:pPr algn="l">
              <a:defRPr sz="2344" b="0">
                <a:solidFill>
                  <a:srgbClr val="11745A"/>
                </a:solidFill>
                <a:latin typeface="Arial"/>
                <a:ea typeface="Arial"/>
                <a:cs typeface="Arial"/>
              </a:defRPr>
            </a:pPr>
            <a:r>
              <a:rPr sz="2344" b="0">
                <a:solidFill>
                  <a:srgbClr val="11745A"/>
                </a:solidFill>
                <a:latin typeface="Arial"/>
                <a:ea typeface="Arial"/>
                <a:cs typeface="Arial"/>
              </a:rPr>
              <a:t>Red: triangle and square. Blue: circle and triangle.</a:t>
            </a:r>
          </a:p>
        </p:txBody>
      </p:sp>
      <p:sp>
        <p:nvSpPr>
          <p:cNvPr id="8" name="object-8">
            <a:extLst>
              <a:ext uri="{FF2B5EF4-FFF2-40B4-BE49-F238E27FC236}">
                <a16:creationId xmlns:a16="http://schemas.microsoft.com/office/drawing/2014/main" id="{28E659E6-54A6-4A2D-832C-F5E7E943A359}"/>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9" name="object-9">
            <a:extLst>
              <a:ext uri="{FF2B5EF4-FFF2-40B4-BE49-F238E27FC236}">
                <a16:creationId xmlns:a16="http://schemas.microsoft.com/office/drawing/2014/main" id="{209E76DC-B943-47F7-AC3D-DAB1C6BEEFFA}"/>
              </a:ext>
            </a:extLst>
          </p:cNvPr>
          <p:cNvSpPr>
            <a:spLocks noGrp="1"/>
          </p:cNvSpPr>
          <p:nvPr/>
        </p:nvSpPr>
        <p:spPr>
          <a:xfrm>
            <a:off x="1464469" y="3559969"/>
            <a:ext cx="12644438" cy="976313"/>
          </a:xfrm>
          <a:prstGeom prst="rect">
            <a:avLst/>
          </a:prstGeom>
          <a:noFill/>
          <a:ln w="0">
            <a:noFill/>
          </a:ln>
        </p:spPr>
        <p:txBody>
          <a:bodyPr anchor="ctr">
            <a:noAutofit/>
          </a:bodyPr>
          <a:lstStyle/>
          <a:p>
            <a:pPr algn="l">
              <a:defRPr sz="2344" b="0">
                <a:solidFill>
                  <a:srgbClr val="11745A"/>
                </a:solidFill>
                <a:latin typeface="Arial"/>
                <a:ea typeface="Arial"/>
                <a:cs typeface="Arial"/>
              </a:defRPr>
            </a:pPr>
            <a:r>
              <a:rPr sz="2344" b="0">
                <a:solidFill>
                  <a:srgbClr val="11745A"/>
                </a:solidFill>
                <a:latin typeface="Arial"/>
                <a:ea typeface="Arial"/>
                <a:cs typeface="Arial"/>
              </a:rPr>
              <a:t>No. A square belongs in the square group when sorting by shape.</a:t>
            </a:r>
          </a:p>
        </p:txBody>
      </p:sp>
      <p:sp>
        <p:nvSpPr>
          <p:cNvPr id="10" name="object-10">
            <a:extLst>
              <a:ext uri="{FF2B5EF4-FFF2-40B4-BE49-F238E27FC236}">
                <a16:creationId xmlns:a16="http://schemas.microsoft.com/office/drawing/2014/main" id="{04CB1EA3-FD87-4759-96D5-2915AA6C117E}"/>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1" name="object-11">
            <a:extLst>
              <a:ext uri="{FF2B5EF4-FFF2-40B4-BE49-F238E27FC236}">
                <a16:creationId xmlns:a16="http://schemas.microsoft.com/office/drawing/2014/main" id="{A3061483-6D7A-4E54-88AD-E4DDD226D937}"/>
              </a:ext>
            </a:extLst>
          </p:cNvPr>
          <p:cNvSpPr>
            <a:spLocks noGrp="1"/>
          </p:cNvSpPr>
          <p:nvPr/>
        </p:nvSpPr>
        <p:spPr>
          <a:xfrm>
            <a:off x="1464469" y="4607719"/>
            <a:ext cx="12644438" cy="976313"/>
          </a:xfrm>
          <a:prstGeom prst="rect">
            <a:avLst/>
          </a:prstGeom>
          <a:noFill/>
          <a:ln w="0">
            <a:noFill/>
          </a:ln>
        </p:spPr>
        <p:txBody>
          <a:bodyPr anchor="ctr">
            <a:noAutofit/>
          </a:bodyPr>
          <a:lstStyle/>
          <a:p>
            <a:pPr algn="l">
              <a:defRPr sz="2344" b="0">
                <a:solidFill>
                  <a:srgbClr val="11745A"/>
                </a:solidFill>
                <a:latin typeface="Arial"/>
                <a:ea typeface="Arial"/>
                <a:cs typeface="Arial"/>
              </a:defRPr>
            </a:pPr>
            <a:r>
              <a:rPr sz="2344" b="0">
                <a:solidFill>
                  <a:srgbClr val="11745A"/>
                </a:solidFill>
                <a:latin typeface="Arial"/>
                <a:ea typeface="Arial"/>
                <a:cs typeface="Arial"/>
              </a:rPr>
              <a:t>Answers vary. Four objects must form two clear colour groups.</a:t>
            </a:r>
          </a:p>
        </p:txBody>
      </p:sp>
      <p:sp>
        <p:nvSpPr>
          <p:cNvPr id="12" name="object-12">
            <a:extLst>
              <a:ext uri="{FF2B5EF4-FFF2-40B4-BE49-F238E27FC236}">
                <a16:creationId xmlns:a16="http://schemas.microsoft.com/office/drawing/2014/main" id="{32CBB17A-FD56-445F-BF35-0576BC8E2A73}"/>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3" name="object-13">
            <a:extLst>
              <a:ext uri="{FF2B5EF4-FFF2-40B4-BE49-F238E27FC236}">
                <a16:creationId xmlns:a16="http://schemas.microsoft.com/office/drawing/2014/main" id="{17EB6949-FD53-4484-9E84-54E42B269CA2}"/>
              </a:ext>
            </a:extLst>
          </p:cNvPr>
          <p:cNvSpPr>
            <a:spLocks noGrp="1"/>
          </p:cNvSpPr>
          <p:nvPr/>
        </p:nvSpPr>
        <p:spPr>
          <a:xfrm>
            <a:off x="1464469" y="5655469"/>
            <a:ext cx="12644438" cy="976313"/>
          </a:xfrm>
          <a:prstGeom prst="rect">
            <a:avLst/>
          </a:prstGeom>
          <a:noFill/>
          <a:ln w="0">
            <a:noFill/>
          </a:ln>
        </p:spPr>
        <p:txBody>
          <a:bodyPr anchor="ctr">
            <a:noAutofit/>
          </a:bodyPr>
          <a:lstStyle/>
          <a:p>
            <a:pPr algn="l">
              <a:defRPr sz="2344" b="0">
                <a:solidFill>
                  <a:srgbClr val="11745A"/>
                </a:solidFill>
                <a:latin typeface="Arial"/>
                <a:ea typeface="Arial"/>
                <a:cs typeface="Arial"/>
              </a:defRPr>
            </a:pPr>
            <a:r>
              <a:rPr sz="2344" b="0">
                <a:solidFill>
                  <a:srgbClr val="11745A"/>
                </a:solidFill>
                <a:latin typeface="Arial"/>
                <a:ea typeface="Arial"/>
                <a:cs typeface="Arial"/>
              </a:rPr>
              <a:t>For example: I sorted the objects by colour.</a:t>
            </a:r>
          </a:p>
        </p:txBody>
      </p:sp>
      <p:sp>
        <p:nvSpPr>
          <p:cNvPr id="14" name="object-14">
            <a:extLst>
              <a:ext uri="{FF2B5EF4-FFF2-40B4-BE49-F238E27FC236}">
                <a16:creationId xmlns:a16="http://schemas.microsoft.com/office/drawing/2014/main" id="{B7A1B9D3-AF08-4F7C-9F17-DF9071CF44BA}"/>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5" name="object-15">
            <a:extLst>
              <a:ext uri="{FF2B5EF4-FFF2-40B4-BE49-F238E27FC236}">
                <a16:creationId xmlns:a16="http://schemas.microsoft.com/office/drawing/2014/main" id="{10297EA6-8D65-441D-B430-7DC85DA42D32}"/>
              </a:ext>
            </a:extLst>
          </p:cNvPr>
          <p:cNvSpPr>
            <a:spLocks noGrp="1"/>
          </p:cNvSpPr>
          <p:nvPr/>
        </p:nvSpPr>
        <p:spPr>
          <a:xfrm>
            <a:off x="1464469" y="6703219"/>
            <a:ext cx="12644438" cy="976313"/>
          </a:xfrm>
          <a:prstGeom prst="rect">
            <a:avLst/>
          </a:prstGeom>
          <a:noFill/>
          <a:ln w="0">
            <a:noFill/>
          </a:ln>
        </p:spPr>
        <p:txBody>
          <a:bodyPr anchor="ctr">
            <a:noAutofit/>
          </a:bodyPr>
          <a:lstStyle/>
          <a:p>
            <a:pPr algn="l">
              <a:defRPr sz="2344" b="0">
                <a:solidFill>
                  <a:srgbClr val="11745A"/>
                </a:solidFill>
                <a:latin typeface="Arial"/>
                <a:ea typeface="Arial"/>
                <a:cs typeface="Arial"/>
              </a:defRPr>
            </a:pPr>
            <a:r>
              <a:rPr sz="2344" b="0">
                <a:solidFill>
                  <a:srgbClr val="11745A"/>
                </a:solidFill>
                <a:latin typeface="Arial"/>
                <a:ea typeface="Arial"/>
                <a:cs typeface="Arial"/>
              </a:rPr>
              <a:t>Check each object against your stated rule. Correct any that do not match.</a:t>
            </a:r>
          </a:p>
        </p:txBody>
      </p:sp>
    </p:spTree>
    <p:extLst>
      <p:ext uri="{BB962C8B-B14F-4D97-AF65-F5344CB8AC3E}">
        <p14:creationId xmlns:p14="http://schemas.microsoft.com/office/powerpoint/2010/main" val="69990155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733</Words>
  <Application>Microsoft Office PowerPoint</Application>
  <DocSecurity>0</DocSecurity>
  <PresentationFormat>Custom</PresentationFormat>
  <Paragraphs>74</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Garima Sharma</cp:lastModifiedBy>
  <cp:revision>1</cp:revision>
  <dcterms:created xsi:type="dcterms:W3CDTF">2026-09-14T13:14:41Z</dcterms:created>
  <dcterms:modified xsi:type="dcterms:W3CDTF">2026-09-14T13:14:45Z</dcterms:modified>
</cp:coreProperties>
</file>