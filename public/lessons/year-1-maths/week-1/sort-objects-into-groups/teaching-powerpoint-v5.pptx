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Editable opening slide. Change the date before teaching. Read the learning intention together. Check pupils have a sharp pencil, mini whiteboard, sorting objects or counters, and a listening partner. Ask: What do you think the two hoops might help us do?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core teaching definition. Read it aloud, then model the contrast. The red and blue groups use one clear property: colour. The mixed box is not automatically wrong, but without a stated rule we cannot check it. Emphasise that a good sort can be explained and checked.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Allow 20 seconds of silent noticing. Then partners use: ‘The ___ and ___ are the same because…’ and ‘They are different because…’. Listen for colour and shape language. This checks prior knowledge before the new lesson.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Click to this slide after pupils have shared. Accept accurate everyday language, then recast it using the word property. If pupils struggle, hold up two real objects and ask one binary question at a time: same colour? same shape?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Pre-teach pupils may already know colour and shape; emphasise sort, group, property and rule. Add gestures: sweep hands apart for sort; make a circle with arms for group; point to an object detail for property; draw an imaginary line for rule.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and rehearse these four steps before the worked model. Use gestures and point to each card. Ask pupils to say the sequence back. Keep this language consistent in future Maths lessons so pupils can become independent.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real objects beside the slide. Think aloud: 1) I choose one property. 2) I say my rule. 3) I place one object at a time. 4) I check every object follows the same rule. Ask pupils to repeat the rule before each placement.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 calling out. Pupils point first, then rehearse with a partner. Cold-call after rehearsal. Expected response: ‘The blue triangle belongs in the blue group because it is blue.’ Ask: Would its shape change our colour rule?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Give silent think time. The blue triangle is in the red group. Probe: What rule did Pip say? Which property matters for this rule? Do not move the shape until pupils explain.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Reveal the correction. Ask for a full explanation. Then deliberately suggest moving the red square because it is not a circle; pupils should reject this by restating the colour rule. This checks that the sorting rule stays consistent.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Mix the same four physical objects and sort again by shape. Emphasise that the objects did not change; the chosen rule changed. Ask pupils to say both valid rules: by colour and by shape.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four real objects per pair. Encourage precise language. Questions pupils can ask: Does every object follow your rule? Could you use a different rule? Is any object difficult to place?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Early-finisher reasoning. A suitable set contains at least two colours and two shapes. Ask pupils to compare which rule creates equal groups, if either. Accept other valid properties such as size or type when consistently applied.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appears only after the teaching sequence. Select the worksheet before the lesson using current learning need, not a fixed pupil label. Keep the detailed lower, expected and higher guidance in the teacher plan. Circulate with: ‘What is your rule? Does every object follow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Expected answers: 1) put objects into groups; 2) colour, shape, size or type; 3) so every object can be checked fairly. Record initials of pupils who need tomorrow’s pre-teach. Do not use confidence alone—combine with explanations and the independent task.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p:cNvPicPr>
            <a:picLocks noChangeAspect="1"/>
          </p:cNvPicPr>
          <p:nvPr/>
        </p:nvPicPr>
        <p:blipFill>
          <a:blip r:embed="rId3"/>
          <a:srcRect t="27" b="27"/>
          <a:stretch>
            <a:fillRect/>
          </a:stretch>
        </p:blipFill>
        <p:spPr>
          <a:xfrm>
            <a:off x="0" y="0"/>
            <a:ext cx="12192000" cy="6858000"/>
          </a:xfrm>
          <a:prstGeom prst="rect">
            <a:avLst/>
          </a:prstGeom>
        </p:spPr>
      </p:pic>
      <p:sp>
        <p:nvSpPr>
          <p:cNvPr id="2" name="Rectangle: Rounded Corners 1">
            <a:extLst>
              <a:ext uri="{FF2B5EF4-FFF2-40B4-BE49-F238E27FC236}">
                <a16:creationId xmlns:a16="http://schemas.microsoft.com/office/drawing/2014/main" id="{81D1B328-F86B-4ED2-85E7-9686A9F1ED41}"/>
              </a:ext>
            </a:extLst>
          </p:cNvPr>
          <p:cNvSpPr>
            <a:spLocks noGrp="1"/>
          </p:cNvSpPr>
          <p:nvPr/>
        </p:nvSpPr>
        <p:spPr>
          <a:xfrm>
            <a:off x="8191500" y="361950"/>
            <a:ext cx="3333750" cy="723900"/>
          </a:xfrm>
          <a:prstGeom prst="roundRect">
            <a:avLst>
              <a:gd name="adj" fmla="val 10526"/>
            </a:avLst>
          </a:prstGeom>
          <a:solidFill>
            <a:srgbClr val="FFFFFF"/>
          </a:solidFill>
          <a:ln w="19050">
            <a:solidFill>
              <a:srgbClr val="17253A"/>
            </a:solidFill>
          </a:ln>
        </p:spPr>
      </p:sp>
      <p:sp>
        <p:nvSpPr>
          <p:cNvPr id="3" name="Rectangle 2">
            <a:extLst>
              <a:ext uri="{FF2B5EF4-FFF2-40B4-BE49-F238E27FC236}">
                <a16:creationId xmlns:a16="http://schemas.microsoft.com/office/drawing/2014/main" id="{AC6F2983-5E09-454B-9051-1586F46DCBF2}"/>
              </a:ext>
            </a:extLst>
          </p:cNvPr>
          <p:cNvSpPr>
            <a:spLocks noGrp="1"/>
          </p:cNvSpPr>
          <p:nvPr/>
        </p:nvSpPr>
        <p:spPr>
          <a:xfrm>
            <a:off x="8382000" y="466725"/>
            <a:ext cx="2952750" cy="514350"/>
          </a:xfrm>
          <a:prstGeom prst="rect">
            <a:avLst/>
          </a:prstGeom>
          <a:noFill/>
          <a:ln w="0">
            <a:noFill/>
          </a:ln>
        </p:spPr>
        <p:txBody>
          <a:bodyPr anchor="ctr">
            <a:normAutofit/>
          </a:bodyPr>
          <a:lstStyle/>
          <a:p>
            <a:pPr algn="ctr">
              <a:defRPr sz="1800" b="0">
                <a:solidFill>
                  <a:srgbClr val="17253A"/>
                </a:solidFill>
                <a:latin typeface="Segoe Print"/>
                <a:ea typeface="Segoe Print"/>
                <a:cs typeface="Segoe Print"/>
              </a:defRPr>
            </a:pPr>
            <a:r>
              <a:rPr sz="1800" b="0">
                <a:solidFill>
                  <a:srgbClr val="17253A"/>
                </a:solidFill>
                <a:latin typeface="Segoe Print"/>
                <a:ea typeface="Segoe Print"/>
                <a:cs typeface="Segoe Print"/>
              </a:rPr>
              <a:t>Date:  __ / __ / ____</a:t>
            </a:r>
          </a:p>
        </p:txBody>
      </p:sp>
      <p:sp>
        <p:nvSpPr>
          <p:cNvPr id="4" name="Rectangle: Rounded Corners 3">
            <a:extLst>
              <a:ext uri="{FF2B5EF4-FFF2-40B4-BE49-F238E27FC236}">
                <a16:creationId xmlns:a16="http://schemas.microsoft.com/office/drawing/2014/main" id="{575FDC86-0FAA-4D3C-A692-4BE1330DDC75}"/>
              </a:ext>
            </a:extLst>
          </p:cNvPr>
          <p:cNvSpPr>
            <a:spLocks noGrp="1"/>
          </p:cNvSpPr>
          <p:nvPr/>
        </p:nvSpPr>
        <p:spPr>
          <a:xfrm>
            <a:off x="457200" y="3028950"/>
            <a:ext cx="7048500" cy="1981200"/>
          </a:xfrm>
          <a:prstGeom prst="roundRect">
            <a:avLst>
              <a:gd name="adj" fmla="val 3846"/>
            </a:avLst>
          </a:prstGeom>
          <a:solidFill>
            <a:srgbClr val="FFFFFF"/>
          </a:solidFill>
          <a:ln w="19050">
            <a:solidFill>
              <a:srgbClr val="17253A"/>
            </a:solidFill>
          </a:ln>
        </p:spPr>
      </p:sp>
      <p:sp>
        <p:nvSpPr>
          <p:cNvPr id="5" name="Rectangle 4">
            <a:extLst>
              <a:ext uri="{FF2B5EF4-FFF2-40B4-BE49-F238E27FC236}">
                <a16:creationId xmlns:a16="http://schemas.microsoft.com/office/drawing/2014/main" id="{3AB441CE-E5A5-4DBD-A721-05CC49943D48}"/>
              </a:ext>
            </a:extLst>
          </p:cNvPr>
          <p:cNvSpPr>
            <a:spLocks noGrp="1"/>
          </p:cNvSpPr>
          <p:nvPr/>
        </p:nvSpPr>
        <p:spPr>
          <a:xfrm>
            <a:off x="800100" y="3238500"/>
            <a:ext cx="1047750" cy="419100"/>
          </a:xfrm>
          <a:prstGeom prst="rect">
            <a:avLst/>
          </a:prstGeom>
          <a:noFill/>
          <a:ln w="0">
            <a:noFill/>
          </a:ln>
        </p:spPr>
        <p:txBody>
          <a:bodyPr anchor="ctr">
            <a:normAutofit/>
          </a:bodyPr>
          <a:lstStyle/>
          <a:p>
            <a:pPr algn="l">
              <a:defRPr sz="1875" b="0">
                <a:solidFill>
                  <a:srgbClr val="B4232B"/>
                </a:solidFill>
                <a:latin typeface="Segoe Print"/>
                <a:ea typeface="Segoe Print"/>
                <a:cs typeface="Segoe Print"/>
              </a:defRPr>
            </a:pPr>
            <a:r>
              <a:rPr sz="1875" b="0">
                <a:solidFill>
                  <a:srgbClr val="B4232B"/>
                </a:solidFill>
                <a:latin typeface="Segoe Print"/>
                <a:ea typeface="Segoe Print"/>
                <a:cs typeface="Segoe Print"/>
              </a:rPr>
              <a:t>L.I.</a:t>
            </a:r>
          </a:p>
        </p:txBody>
      </p:sp>
      <p:sp>
        <p:nvSpPr>
          <p:cNvPr id="6" name="Rectangle 5">
            <a:extLst>
              <a:ext uri="{FF2B5EF4-FFF2-40B4-BE49-F238E27FC236}">
                <a16:creationId xmlns:a16="http://schemas.microsoft.com/office/drawing/2014/main" id="{FCCA962A-A6F5-4B91-A6B4-D7AF151CEFA3}"/>
              </a:ext>
            </a:extLst>
          </p:cNvPr>
          <p:cNvSpPr>
            <a:spLocks noGrp="1"/>
          </p:cNvSpPr>
          <p:nvPr/>
        </p:nvSpPr>
        <p:spPr>
          <a:xfrm>
            <a:off x="800100" y="3714750"/>
            <a:ext cx="6191250" cy="933450"/>
          </a:xfrm>
          <a:prstGeom prst="rect">
            <a:avLst/>
          </a:prstGeom>
          <a:noFill/>
          <a:ln w="0">
            <a:noFill/>
          </a:ln>
        </p:spPr>
        <p:txBody>
          <a:bodyPr anchor="ctr">
            <a:normAutofit/>
          </a:bodyPr>
          <a:lstStyle/>
          <a:p>
            <a:pPr algn="l">
              <a:defRPr sz="2550" b="0">
                <a:solidFill>
                  <a:srgbClr val="17253A"/>
                </a:solidFill>
                <a:latin typeface="Segoe Print"/>
                <a:ea typeface="Segoe Print"/>
                <a:cs typeface="Segoe Print"/>
              </a:defRPr>
            </a:pPr>
            <a:r>
              <a:rPr sz="2550" b="0">
                <a:solidFill>
                  <a:srgbClr val="17253A"/>
                </a:solidFill>
                <a:latin typeface="Segoe Print"/>
                <a:ea typeface="Segoe Print"/>
                <a:cs typeface="Segoe Print"/>
              </a:rPr>
              <a:t>To sort objects into groups</a:t>
            </a:r>
          </a:p>
        </p:txBody>
      </p:sp>
      <p:sp>
        <p:nvSpPr>
          <p:cNvPr id="7" name="Rectangle: Rounded Corners 6">
            <a:extLst>
              <a:ext uri="{FF2B5EF4-FFF2-40B4-BE49-F238E27FC236}">
                <a16:creationId xmlns:a16="http://schemas.microsoft.com/office/drawing/2014/main" id="{76F65C2D-E32B-4607-A983-D8258A6BA217}"/>
              </a:ext>
            </a:extLst>
          </p:cNvPr>
          <p:cNvSpPr>
            <a:spLocks noGrp="1"/>
          </p:cNvSpPr>
          <p:nvPr/>
        </p:nvSpPr>
        <p:spPr>
          <a:xfrm>
            <a:off x="457200" y="5524500"/>
            <a:ext cx="11258550" cy="876300"/>
          </a:xfrm>
          <a:prstGeom prst="roundRect">
            <a:avLst>
              <a:gd name="adj" fmla="val 8696"/>
            </a:avLst>
          </a:prstGeom>
          <a:solidFill>
            <a:srgbClr val="17253A"/>
          </a:solidFill>
          <a:ln w="0">
            <a:noFill/>
          </a:ln>
        </p:spPr>
      </p:sp>
      <p:sp>
        <p:nvSpPr>
          <p:cNvPr id="8" name="Rectangle 7">
            <a:extLst>
              <a:ext uri="{FF2B5EF4-FFF2-40B4-BE49-F238E27FC236}">
                <a16:creationId xmlns:a16="http://schemas.microsoft.com/office/drawing/2014/main" id="{DE1F46FD-5677-484D-B1F5-3F60C32E4CBF}"/>
              </a:ext>
            </a:extLst>
          </p:cNvPr>
          <p:cNvSpPr>
            <a:spLocks noGrp="1"/>
          </p:cNvSpPr>
          <p:nvPr/>
        </p:nvSpPr>
        <p:spPr>
          <a:xfrm>
            <a:off x="742950" y="5686425"/>
            <a:ext cx="10668000" cy="552450"/>
          </a:xfrm>
          <a:prstGeom prst="rect">
            <a:avLst/>
          </a:prstGeom>
          <a:noFill/>
          <a:ln w="0">
            <a:noFill/>
          </a:ln>
        </p:spPr>
        <p:txBody>
          <a:bodyPr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READY?   ✓ sharp pencil   ✓ mini whiteboard   ✓ sorting objects or counters   ✓ listening partner</a:t>
            </a:r>
          </a:p>
        </p:txBody>
      </p:sp>
    </p:spTree>
    <p:extLst>
      <p:ext uri="{BB962C8B-B14F-4D97-AF65-F5344CB8AC3E}">
        <p14:creationId xmlns:p14="http://schemas.microsoft.com/office/powerpoint/2010/main" val="15512768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7EA"/>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C18014AB-DA37-4FE6-B737-A5B53B1F057F}"/>
              </a:ext>
            </a:extLst>
          </p:cNvPr>
          <p:cNvSpPr>
            <a:spLocks noGrp="1"/>
          </p:cNvSpPr>
          <p:nvPr/>
        </p:nvSpPr>
        <p:spPr>
          <a:xfrm>
            <a:off x="0" y="0"/>
            <a:ext cx="12192000" cy="171450"/>
          </a:xfrm>
          <a:prstGeom prst="rect">
            <a:avLst/>
          </a:prstGeom>
          <a:solidFill>
            <a:srgbClr val="B4232B"/>
          </a:solidFill>
          <a:ln w="0">
            <a:noFill/>
          </a:ln>
        </p:spPr>
      </p:sp>
      <p:sp>
        <p:nvSpPr>
          <p:cNvPr id="2" name="Rectangle 1">
            <a:extLst>
              <a:ext uri="{FF2B5EF4-FFF2-40B4-BE49-F238E27FC236}">
                <a16:creationId xmlns:a16="http://schemas.microsoft.com/office/drawing/2014/main" id="{CAFE58D9-ED88-44FE-97B7-33177E8767A8}"/>
              </a:ext>
            </a:extLst>
          </p:cNvPr>
          <p:cNvSpPr>
            <a:spLocks noGrp="1"/>
          </p:cNvSpPr>
          <p:nvPr/>
        </p:nvSpPr>
        <p:spPr>
          <a:xfrm>
            <a:off x="552450" y="285750"/>
            <a:ext cx="6858000" cy="266700"/>
          </a:xfrm>
          <a:prstGeom prst="rect">
            <a:avLst/>
          </a:prstGeom>
          <a:noFill/>
          <a:ln w="0">
            <a:noFill/>
          </a:ln>
        </p:spPr>
        <p:txBody>
          <a:bodyPr anchor="ctr">
            <a:normAutofit/>
          </a:bodyPr>
          <a:lstStyle/>
          <a:p>
            <a:pPr algn="l">
              <a:defRPr sz="1050" b="1">
                <a:solidFill>
                  <a:srgbClr val="B4232B"/>
                </a:solidFill>
                <a:latin typeface="Arial"/>
                <a:ea typeface="Arial"/>
                <a:cs typeface="Arial"/>
              </a:defRPr>
            </a:pPr>
            <a:r>
              <a:rPr sz="1050" b="1">
                <a:solidFill>
                  <a:srgbClr val="B4232B"/>
                </a:solidFill>
                <a:latin typeface="Arial"/>
                <a:ea typeface="Arial"/>
                <a:cs typeface="Arial"/>
              </a:rPr>
              <a:t>YEAR 1 MATHS  •  AUTUMN  •  WEEK 1  •  DAY 1</a:t>
            </a:r>
          </a:p>
        </p:txBody>
      </p:sp>
      <p:sp>
        <p:nvSpPr>
          <p:cNvPr id="3" name="Rectangle: Rounded Corners 2">
            <a:extLst>
              <a:ext uri="{FF2B5EF4-FFF2-40B4-BE49-F238E27FC236}">
                <a16:creationId xmlns:a16="http://schemas.microsoft.com/office/drawing/2014/main" id="{41F652D4-6149-4636-9075-CB3987834DA9}"/>
              </a:ext>
            </a:extLst>
          </p:cNvPr>
          <p:cNvSpPr>
            <a:spLocks noGrp="1"/>
          </p:cNvSpPr>
          <p:nvPr/>
        </p:nvSpPr>
        <p:spPr>
          <a:xfrm>
            <a:off x="552450" y="685800"/>
            <a:ext cx="1238250" cy="323850"/>
          </a:xfrm>
          <a:prstGeom prst="roundRect">
            <a:avLst>
              <a:gd name="adj" fmla="val 23529"/>
            </a:avLst>
          </a:prstGeom>
          <a:solidFill>
            <a:srgbClr val="B4232B"/>
          </a:solidFill>
          <a:ln w="0">
            <a:noFill/>
          </a:ln>
        </p:spPr>
      </p:sp>
      <p:sp>
        <p:nvSpPr>
          <p:cNvPr id="4" name="Rectangle 3">
            <a:extLst>
              <a:ext uri="{FF2B5EF4-FFF2-40B4-BE49-F238E27FC236}">
                <a16:creationId xmlns:a16="http://schemas.microsoft.com/office/drawing/2014/main" id="{45C68FAB-A738-4505-8893-A2E46B86C2AA}"/>
              </a:ext>
            </a:extLst>
          </p:cNvPr>
          <p:cNvSpPr>
            <a:spLocks noGrp="1"/>
          </p:cNvSpPr>
          <p:nvPr/>
        </p:nvSpPr>
        <p:spPr>
          <a:xfrm>
            <a:off x="590550" y="704850"/>
            <a:ext cx="1162050" cy="266700"/>
          </a:xfrm>
          <a:prstGeom prst="rect">
            <a:avLst/>
          </a:prstGeom>
          <a:noFill/>
          <a:ln w="0">
            <a:noFill/>
          </a:ln>
        </p:spPr>
        <p:txBody>
          <a:bodyPr anchor="ctr">
            <a:normAutofit/>
          </a:bodyPr>
          <a:lstStyle/>
          <a:p>
            <a:pPr algn="ctr">
              <a:defRPr sz="750" b="1">
                <a:solidFill>
                  <a:srgbClr val="FFFFFF"/>
                </a:solidFill>
                <a:latin typeface="Arial"/>
                <a:ea typeface="Arial"/>
                <a:cs typeface="Arial"/>
              </a:defRPr>
            </a:pPr>
            <a:r>
              <a:rPr sz="750" b="1">
                <a:solidFill>
                  <a:srgbClr val="FFFFFF"/>
                </a:solidFill>
                <a:latin typeface="Arial"/>
                <a:ea typeface="Arial"/>
                <a:cs typeface="Arial"/>
              </a:rPr>
              <a:t>TEACH</a:t>
            </a:r>
          </a:p>
        </p:txBody>
      </p:sp>
      <p:sp>
        <p:nvSpPr>
          <p:cNvPr id="5" name="Rectangle 4">
            <a:extLst>
              <a:ext uri="{FF2B5EF4-FFF2-40B4-BE49-F238E27FC236}">
                <a16:creationId xmlns:a16="http://schemas.microsoft.com/office/drawing/2014/main" id="{7E0919D2-2E1D-4176-9E1D-FD48C09DA643}"/>
              </a:ext>
            </a:extLst>
          </p:cNvPr>
          <p:cNvSpPr>
            <a:spLocks noGrp="1"/>
          </p:cNvSpPr>
          <p:nvPr/>
        </p:nvSpPr>
        <p:spPr>
          <a:xfrm>
            <a:off x="1962150" y="590550"/>
            <a:ext cx="8496300" cy="552450"/>
          </a:xfrm>
          <a:prstGeom prst="rect">
            <a:avLst/>
          </a:prstGeom>
          <a:noFill/>
          <a:ln w="0">
            <a:noFill/>
          </a:ln>
        </p:spPr>
        <p:txBody>
          <a:bodyPr anchor="ctr">
            <a:normAutofit/>
          </a:bodyPr>
          <a:lstStyle/>
          <a:p>
            <a:pPr algn="l">
              <a:defRPr sz="2625" b="1">
                <a:solidFill>
                  <a:srgbClr val="17253A"/>
                </a:solidFill>
                <a:latin typeface="Arial"/>
                <a:ea typeface="Arial"/>
                <a:cs typeface="Arial"/>
              </a:defRPr>
            </a:pPr>
            <a:r>
              <a:rPr sz="2625" b="1">
                <a:solidFill>
                  <a:srgbClr val="17253A"/>
                </a:solidFill>
                <a:latin typeface="Arial"/>
                <a:ea typeface="Arial"/>
                <a:cs typeface="Arial"/>
              </a:rPr>
              <a:t>What does sorting mean?</a:t>
            </a:r>
          </a:p>
        </p:txBody>
      </p:sp>
      <p:sp>
        <p:nvSpPr>
          <p:cNvPr id="6" name="Rectangle 5">
            <a:extLst>
              <a:ext uri="{FF2B5EF4-FFF2-40B4-BE49-F238E27FC236}">
                <a16:creationId xmlns:a16="http://schemas.microsoft.com/office/drawing/2014/main" id="{BB97C926-66BF-45AA-A250-625D93D16C07}"/>
              </a:ext>
            </a:extLst>
          </p:cNvPr>
          <p:cNvSpPr>
            <a:spLocks noGrp="1"/>
          </p:cNvSpPr>
          <p:nvPr/>
        </p:nvSpPr>
        <p:spPr>
          <a:xfrm>
            <a:off x="10668000" y="400050"/>
            <a:ext cx="952500" cy="228600"/>
          </a:xfrm>
          <a:prstGeom prst="rect">
            <a:avLst/>
          </a:prstGeom>
          <a:noFill/>
          <a:ln w="0">
            <a:noFill/>
          </a:ln>
        </p:spPr>
        <p:txBody>
          <a:bodyPr anchor="ctr">
            <a:normAutofit fontScale="92308"/>
          </a:bodyPr>
          <a:lstStyle/>
          <a:p>
            <a:pPr algn="r">
              <a:defRPr sz="975" b="1">
                <a:solidFill>
                  <a:srgbClr val="6B788A"/>
                </a:solidFill>
                <a:latin typeface="Arial"/>
                <a:ea typeface="Arial"/>
                <a:cs typeface="Arial"/>
              </a:defRPr>
            </a:pPr>
            <a:r>
              <a:rPr sz="975" b="1">
                <a:solidFill>
                  <a:srgbClr val="6B788A"/>
                </a:solidFill>
                <a:latin typeface="Arial"/>
                <a:ea typeface="Arial"/>
                <a:cs typeface="Arial"/>
              </a:rPr>
              <a:t>2 / 15</a:t>
            </a:r>
          </a:p>
        </p:txBody>
      </p:sp>
      <p:sp>
        <p:nvSpPr>
          <p:cNvPr id="7" name="Rectangle 6">
            <a:extLst>
              <a:ext uri="{FF2B5EF4-FFF2-40B4-BE49-F238E27FC236}">
                <a16:creationId xmlns:a16="http://schemas.microsoft.com/office/drawing/2014/main" id="{7446EB7B-3CF1-46B4-9736-FE6FE175F6C4}"/>
              </a:ext>
            </a:extLst>
          </p:cNvPr>
          <p:cNvSpPr>
            <a:spLocks noGrp="1"/>
          </p:cNvSpPr>
          <p:nvPr/>
        </p:nvSpPr>
        <p:spPr>
          <a:xfrm>
            <a:off x="552450" y="6457950"/>
            <a:ext cx="11087100" cy="19050"/>
          </a:xfrm>
          <a:prstGeom prst="rect">
            <a:avLst/>
          </a:prstGeom>
          <a:solidFill>
            <a:srgbClr val="D9DEE7"/>
          </a:solidFill>
          <a:ln w="0">
            <a:noFill/>
          </a:ln>
        </p:spPr>
      </p:sp>
      <p:sp>
        <p:nvSpPr>
          <p:cNvPr id="8" name="Rectangle 7">
            <a:extLst>
              <a:ext uri="{FF2B5EF4-FFF2-40B4-BE49-F238E27FC236}">
                <a16:creationId xmlns:a16="http://schemas.microsoft.com/office/drawing/2014/main" id="{7AC6B18B-A463-4766-A019-0D0123185E9E}"/>
              </a:ext>
            </a:extLst>
          </p:cNvPr>
          <p:cNvSpPr>
            <a:spLocks noGrp="1"/>
          </p:cNvSpPr>
          <p:nvPr/>
        </p:nvSpPr>
        <p:spPr>
          <a:xfrm>
            <a:off x="552450" y="6543675"/>
            <a:ext cx="3429000" cy="190500"/>
          </a:xfrm>
          <a:prstGeom prst="rect">
            <a:avLst/>
          </a:prstGeom>
          <a:noFill/>
          <a:ln w="0">
            <a:noFill/>
          </a:ln>
        </p:spPr>
        <p:txBody>
          <a:bodyPr anchor="ctr">
            <a:normAutofit fontScale="72222"/>
          </a:bodyPr>
          <a:lstStyle/>
          <a:p>
            <a:pPr algn="l">
              <a:defRPr sz="900" b="0">
                <a:solidFill>
                  <a:srgbClr val="6B788A"/>
                </a:solidFill>
                <a:latin typeface="Arial"/>
                <a:ea typeface="Arial"/>
                <a:cs typeface="Arial"/>
              </a:defRPr>
            </a:pPr>
            <a:r>
              <a:rPr sz="900" b="0">
                <a:solidFill>
                  <a:srgbClr val="6B788A"/>
                </a:solidFill>
                <a:latin typeface="Arial"/>
                <a:ea typeface="Arial"/>
                <a:cs typeface="Arial"/>
              </a:rPr>
              <a:t>BrightPath Primary Learning</a:t>
            </a:r>
          </a:p>
        </p:txBody>
      </p:sp>
      <p:sp>
        <p:nvSpPr>
          <p:cNvPr id="9" name="Rectangle 8">
            <a:extLst>
              <a:ext uri="{FF2B5EF4-FFF2-40B4-BE49-F238E27FC236}">
                <a16:creationId xmlns:a16="http://schemas.microsoft.com/office/drawing/2014/main" id="{F76A71F4-91AF-4F76-9C44-1661AD42E53B}"/>
              </a:ext>
            </a:extLst>
          </p:cNvPr>
          <p:cNvSpPr>
            <a:spLocks noGrp="1"/>
          </p:cNvSpPr>
          <p:nvPr/>
        </p:nvSpPr>
        <p:spPr>
          <a:xfrm>
            <a:off x="8477250" y="6543675"/>
            <a:ext cx="3162300" cy="190500"/>
          </a:xfrm>
          <a:prstGeom prst="rect">
            <a:avLst/>
          </a:prstGeom>
          <a:noFill/>
          <a:ln w="0">
            <a:noFill/>
          </a:ln>
        </p:spPr>
        <p:txBody>
          <a:bodyPr anchor="ctr">
            <a:normAutofit fontScale="72222"/>
          </a:bodyPr>
          <a:lstStyle/>
          <a:p>
            <a:pPr algn="r">
              <a:defRPr sz="900" b="0">
                <a:solidFill>
                  <a:srgbClr val="6B788A"/>
                </a:solidFill>
                <a:latin typeface="Arial"/>
                <a:ea typeface="Arial"/>
                <a:cs typeface="Arial"/>
              </a:defRPr>
            </a:pPr>
            <a:r>
              <a:rPr sz="900" b="0">
                <a:solidFill>
                  <a:srgbClr val="6B788A"/>
                </a:solidFill>
                <a:latin typeface="Arial"/>
                <a:ea typeface="Arial"/>
                <a:cs typeface="Arial"/>
              </a:rPr>
              <a:t>Sort objects into groups</a:t>
            </a:r>
          </a:p>
        </p:txBody>
      </p:sp>
      <p:sp>
        <p:nvSpPr>
          <p:cNvPr id="10" name="Rectangle: Rounded Corners 9">
            <a:extLst>
              <a:ext uri="{FF2B5EF4-FFF2-40B4-BE49-F238E27FC236}">
                <a16:creationId xmlns:a16="http://schemas.microsoft.com/office/drawing/2014/main" id="{5DE59F8C-3141-43B0-B6BA-8EB41C8ABDF5}"/>
              </a:ext>
            </a:extLst>
          </p:cNvPr>
          <p:cNvSpPr>
            <a:spLocks noGrp="1"/>
          </p:cNvSpPr>
          <p:nvPr/>
        </p:nvSpPr>
        <p:spPr>
          <a:xfrm>
            <a:off x="1143000" y="1381125"/>
            <a:ext cx="9906000" cy="781050"/>
          </a:xfrm>
          <a:prstGeom prst="roundRect">
            <a:avLst>
              <a:gd name="adj" fmla="val 9756"/>
            </a:avLst>
          </a:prstGeom>
          <a:solidFill>
            <a:srgbClr val="FFFFFF"/>
          </a:solidFill>
          <a:ln w="19050">
            <a:solidFill>
              <a:srgbClr val="D9DEE7"/>
            </a:solidFill>
          </a:ln>
        </p:spPr>
      </p:sp>
      <p:sp>
        <p:nvSpPr>
          <p:cNvPr id="11" name="Rectangle 10">
            <a:extLst>
              <a:ext uri="{FF2B5EF4-FFF2-40B4-BE49-F238E27FC236}">
                <a16:creationId xmlns:a16="http://schemas.microsoft.com/office/drawing/2014/main" id="{10F4394B-8C8E-4E98-8D7A-001AFCC00F1B}"/>
              </a:ext>
            </a:extLst>
          </p:cNvPr>
          <p:cNvSpPr>
            <a:spLocks noGrp="1"/>
          </p:cNvSpPr>
          <p:nvPr/>
        </p:nvSpPr>
        <p:spPr>
          <a:xfrm>
            <a:off x="1352550" y="1495425"/>
            <a:ext cx="9486900" cy="552450"/>
          </a:xfrm>
          <a:prstGeom prst="rect">
            <a:avLst/>
          </a:prstGeom>
          <a:noFill/>
          <a:ln w="0">
            <a:noFill/>
          </a:ln>
        </p:spPr>
        <p:txBody>
          <a:bodyPr anchor="ctr">
            <a:normAutofit/>
          </a:bodyPr>
          <a:lstStyle/>
          <a:p>
            <a:pPr algn="ctr">
              <a:defRPr sz="1650" b="1">
                <a:solidFill>
                  <a:srgbClr val="17253A"/>
                </a:solidFill>
                <a:latin typeface="Arial"/>
                <a:ea typeface="Arial"/>
                <a:cs typeface="Arial"/>
              </a:defRPr>
            </a:pPr>
            <a:r>
              <a:rPr sz="1650" b="1">
                <a:solidFill>
                  <a:srgbClr val="17253A"/>
                </a:solidFill>
                <a:latin typeface="Arial"/>
                <a:ea typeface="Arial"/>
                <a:cs typeface="Arial"/>
              </a:rPr>
              <a:t>Sorting means putting objects into groups using one clear rule.</a:t>
            </a:r>
          </a:p>
        </p:txBody>
      </p:sp>
      <p:sp>
        <p:nvSpPr>
          <p:cNvPr id="12" name="Rectangle: Rounded Corners 11">
            <a:extLst>
              <a:ext uri="{FF2B5EF4-FFF2-40B4-BE49-F238E27FC236}">
                <a16:creationId xmlns:a16="http://schemas.microsoft.com/office/drawing/2014/main" id="{C3D58F5A-AB24-4001-A91D-04ADA034D221}"/>
              </a:ext>
            </a:extLst>
          </p:cNvPr>
          <p:cNvSpPr>
            <a:spLocks noGrp="1"/>
          </p:cNvSpPr>
          <p:nvPr/>
        </p:nvSpPr>
        <p:spPr>
          <a:xfrm>
            <a:off x="904875" y="2667000"/>
            <a:ext cx="3143250" cy="2333625"/>
          </a:xfrm>
          <a:prstGeom prst="roundRect">
            <a:avLst>
              <a:gd name="adj" fmla="val 3265"/>
            </a:avLst>
          </a:prstGeom>
          <a:solidFill>
            <a:srgbClr val="FFFFFF"/>
          </a:solidFill>
          <a:ln w="57150">
            <a:solidFill>
              <a:srgbClr val="B4232B"/>
            </a:solidFill>
          </a:ln>
        </p:spPr>
      </p:sp>
      <p:sp>
        <p:nvSpPr>
          <p:cNvPr id="13" name="Rectangle: Rounded Corners 12">
            <a:extLst>
              <a:ext uri="{FF2B5EF4-FFF2-40B4-BE49-F238E27FC236}">
                <a16:creationId xmlns:a16="http://schemas.microsoft.com/office/drawing/2014/main" id="{1A033AC5-2A01-4435-8B43-FD353B896A24}"/>
              </a:ext>
            </a:extLst>
          </p:cNvPr>
          <p:cNvSpPr>
            <a:spLocks noGrp="1"/>
          </p:cNvSpPr>
          <p:nvPr/>
        </p:nvSpPr>
        <p:spPr>
          <a:xfrm>
            <a:off x="1304925" y="2838450"/>
            <a:ext cx="2343150" cy="361950"/>
          </a:xfrm>
          <a:prstGeom prst="roundRect">
            <a:avLst>
              <a:gd name="adj" fmla="val 21053"/>
            </a:avLst>
          </a:prstGeom>
          <a:solidFill>
            <a:srgbClr val="B4232B"/>
          </a:solidFill>
          <a:ln w="0">
            <a:noFill/>
          </a:ln>
        </p:spPr>
      </p:sp>
      <p:sp>
        <p:nvSpPr>
          <p:cNvPr id="14" name="Rectangle 13">
            <a:extLst>
              <a:ext uri="{FF2B5EF4-FFF2-40B4-BE49-F238E27FC236}">
                <a16:creationId xmlns:a16="http://schemas.microsoft.com/office/drawing/2014/main" id="{6DB09F1D-D5EE-448C-B58F-0546BBC18C5B}"/>
              </a:ext>
            </a:extLst>
          </p:cNvPr>
          <p:cNvSpPr>
            <a:spLocks noGrp="1"/>
          </p:cNvSpPr>
          <p:nvPr/>
        </p:nvSpPr>
        <p:spPr>
          <a:xfrm>
            <a:off x="1400175" y="2867025"/>
            <a:ext cx="2152650" cy="295275"/>
          </a:xfrm>
          <a:prstGeom prst="rect">
            <a:avLst/>
          </a:prstGeom>
          <a:noFill/>
          <a:ln w="0">
            <a:noFill/>
          </a:ln>
        </p:spPr>
        <p:txBody>
          <a:bodyPr anchor="ctr">
            <a:normAutofit/>
          </a:bodyP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RED</a:t>
            </a:r>
          </a:p>
        </p:txBody>
      </p:sp>
      <p:sp>
        <p:nvSpPr>
          <p:cNvPr id="15" name="Rectangle: Rounded Corners 14">
            <a:extLst>
              <a:ext uri="{FF2B5EF4-FFF2-40B4-BE49-F238E27FC236}">
                <a16:creationId xmlns:a16="http://schemas.microsoft.com/office/drawing/2014/main" id="{4679E8F7-D453-4920-90B5-EB1ED0A9B631}"/>
              </a:ext>
            </a:extLst>
          </p:cNvPr>
          <p:cNvSpPr>
            <a:spLocks noGrp="1"/>
          </p:cNvSpPr>
          <p:nvPr/>
        </p:nvSpPr>
        <p:spPr>
          <a:xfrm>
            <a:off x="4524375" y="2667000"/>
            <a:ext cx="3143250" cy="2333625"/>
          </a:xfrm>
          <a:prstGeom prst="roundRect">
            <a:avLst>
              <a:gd name="adj" fmla="val 3265"/>
            </a:avLst>
          </a:prstGeom>
          <a:solidFill>
            <a:srgbClr val="FFFFFF"/>
          </a:solidFill>
          <a:ln w="57150">
            <a:solidFill>
              <a:srgbClr val="3F7DC0"/>
            </a:solidFill>
          </a:ln>
        </p:spPr>
      </p:sp>
      <p:sp>
        <p:nvSpPr>
          <p:cNvPr id="16" name="Rectangle: Rounded Corners 15">
            <a:extLst>
              <a:ext uri="{FF2B5EF4-FFF2-40B4-BE49-F238E27FC236}">
                <a16:creationId xmlns:a16="http://schemas.microsoft.com/office/drawing/2014/main" id="{35C856F7-5790-4876-BB82-E50C04EA62B5}"/>
              </a:ext>
            </a:extLst>
          </p:cNvPr>
          <p:cNvSpPr>
            <a:spLocks noGrp="1"/>
          </p:cNvSpPr>
          <p:nvPr/>
        </p:nvSpPr>
        <p:spPr>
          <a:xfrm>
            <a:off x="4924425" y="2838450"/>
            <a:ext cx="2343150" cy="361950"/>
          </a:xfrm>
          <a:prstGeom prst="roundRect">
            <a:avLst>
              <a:gd name="adj" fmla="val 21053"/>
            </a:avLst>
          </a:prstGeom>
          <a:solidFill>
            <a:srgbClr val="3F7DC0"/>
          </a:solidFill>
          <a:ln w="0">
            <a:noFill/>
          </a:ln>
        </p:spPr>
      </p:sp>
      <p:sp>
        <p:nvSpPr>
          <p:cNvPr id="17" name="Rectangle 16">
            <a:extLst>
              <a:ext uri="{FF2B5EF4-FFF2-40B4-BE49-F238E27FC236}">
                <a16:creationId xmlns:a16="http://schemas.microsoft.com/office/drawing/2014/main" id="{26C8307E-1ED2-4E5E-8805-A23C203DC7EC}"/>
              </a:ext>
            </a:extLst>
          </p:cNvPr>
          <p:cNvSpPr>
            <a:spLocks noGrp="1"/>
          </p:cNvSpPr>
          <p:nvPr/>
        </p:nvSpPr>
        <p:spPr>
          <a:xfrm>
            <a:off x="5019675" y="2867025"/>
            <a:ext cx="2152650" cy="295275"/>
          </a:xfrm>
          <a:prstGeom prst="rect">
            <a:avLst/>
          </a:prstGeom>
          <a:noFill/>
          <a:ln w="0">
            <a:noFill/>
          </a:ln>
        </p:spPr>
        <p:txBody>
          <a:bodyPr anchor="ctr">
            <a:normAutofit/>
          </a:bodyP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BLUE</a:t>
            </a:r>
          </a:p>
        </p:txBody>
      </p:sp>
      <p:sp>
        <p:nvSpPr>
          <p:cNvPr id="18" name="Oval 17">
            <a:extLst>
              <a:ext uri="{FF2B5EF4-FFF2-40B4-BE49-F238E27FC236}">
                <a16:creationId xmlns:a16="http://schemas.microsoft.com/office/drawing/2014/main" id="{BCA708DD-D591-48B1-B6D4-FE9BA206621A}"/>
              </a:ext>
            </a:extLst>
          </p:cNvPr>
          <p:cNvSpPr>
            <a:spLocks noGrp="1"/>
          </p:cNvSpPr>
          <p:nvPr/>
        </p:nvSpPr>
        <p:spPr>
          <a:xfrm>
            <a:off x="1571625" y="3667125"/>
            <a:ext cx="552450" cy="552450"/>
          </a:xfrm>
          <a:prstGeom prst="ellipse">
            <a:avLst/>
          </a:prstGeom>
          <a:solidFill>
            <a:srgbClr val="B4232B"/>
          </a:solidFill>
          <a:ln w="19050">
            <a:solidFill>
              <a:srgbClr val="17253A"/>
            </a:solidFill>
          </a:ln>
        </p:spPr>
      </p:sp>
      <p:sp>
        <p:nvSpPr>
          <p:cNvPr id="19" name="Rectangle 18">
            <a:extLst>
              <a:ext uri="{FF2B5EF4-FFF2-40B4-BE49-F238E27FC236}">
                <a16:creationId xmlns:a16="http://schemas.microsoft.com/office/drawing/2014/main" id="{771013E6-3019-4BD6-8ECE-F80716690C34}"/>
              </a:ext>
            </a:extLst>
          </p:cNvPr>
          <p:cNvSpPr>
            <a:spLocks noGrp="1"/>
          </p:cNvSpPr>
          <p:nvPr/>
        </p:nvSpPr>
        <p:spPr>
          <a:xfrm>
            <a:off x="2667000" y="3667125"/>
            <a:ext cx="552450" cy="552450"/>
          </a:xfrm>
          <a:prstGeom prst="rect">
            <a:avLst/>
          </a:prstGeom>
          <a:solidFill>
            <a:srgbClr val="B4232B"/>
          </a:solidFill>
          <a:ln w="19050">
            <a:solidFill>
              <a:srgbClr val="17253A"/>
            </a:solidFill>
          </a:ln>
        </p:spPr>
      </p:sp>
      <p:sp>
        <p:nvSpPr>
          <p:cNvPr id="20" name="Oval 19">
            <a:extLst>
              <a:ext uri="{FF2B5EF4-FFF2-40B4-BE49-F238E27FC236}">
                <a16:creationId xmlns:a16="http://schemas.microsoft.com/office/drawing/2014/main" id="{7201953E-C848-4CDC-8774-8BA806F8DF37}"/>
              </a:ext>
            </a:extLst>
          </p:cNvPr>
          <p:cNvSpPr>
            <a:spLocks noGrp="1"/>
          </p:cNvSpPr>
          <p:nvPr/>
        </p:nvSpPr>
        <p:spPr>
          <a:xfrm>
            <a:off x="5191125" y="3667125"/>
            <a:ext cx="552450" cy="552450"/>
          </a:xfrm>
          <a:prstGeom prst="ellipse">
            <a:avLst/>
          </a:prstGeom>
          <a:solidFill>
            <a:srgbClr val="3F7DC0"/>
          </a:solidFill>
          <a:ln w="19050">
            <a:solidFill>
              <a:srgbClr val="17253A"/>
            </a:solidFill>
          </a:ln>
        </p:spPr>
      </p:sp>
      <p:sp>
        <p:nvSpPr>
          <p:cNvPr id="21" name="Rectangle 20">
            <a:extLst>
              <a:ext uri="{FF2B5EF4-FFF2-40B4-BE49-F238E27FC236}">
                <a16:creationId xmlns:a16="http://schemas.microsoft.com/office/drawing/2014/main" id="{E954257F-7C04-4CA3-9D25-27E3C2513A25}"/>
              </a:ext>
            </a:extLst>
          </p:cNvPr>
          <p:cNvSpPr>
            <a:spLocks noGrp="1"/>
          </p:cNvSpPr>
          <p:nvPr/>
        </p:nvSpPr>
        <p:spPr>
          <a:xfrm>
            <a:off x="6286500" y="3667125"/>
            <a:ext cx="552450" cy="552450"/>
          </a:xfrm>
          <a:prstGeom prst="rect">
            <a:avLst/>
          </a:prstGeom>
          <a:solidFill>
            <a:srgbClr val="3F7DC0"/>
          </a:solidFill>
          <a:ln w="19050">
            <a:solidFill>
              <a:srgbClr val="17253A"/>
            </a:solidFill>
          </a:ln>
        </p:spPr>
      </p:sp>
      <p:sp>
        <p:nvSpPr>
          <p:cNvPr id="22" name="Rectangle: Rounded Corners 21">
            <a:extLst>
              <a:ext uri="{FF2B5EF4-FFF2-40B4-BE49-F238E27FC236}">
                <a16:creationId xmlns:a16="http://schemas.microsoft.com/office/drawing/2014/main" id="{8E58E197-A977-4A7B-8C39-0146DF8F19FA}"/>
              </a:ext>
            </a:extLst>
          </p:cNvPr>
          <p:cNvSpPr>
            <a:spLocks noGrp="1"/>
          </p:cNvSpPr>
          <p:nvPr/>
        </p:nvSpPr>
        <p:spPr>
          <a:xfrm>
            <a:off x="8143875" y="2667000"/>
            <a:ext cx="3143250" cy="2333625"/>
          </a:xfrm>
          <a:prstGeom prst="roundRect">
            <a:avLst>
              <a:gd name="adj" fmla="val 3265"/>
            </a:avLst>
          </a:prstGeom>
          <a:solidFill>
            <a:srgbClr val="FFF0E7"/>
          </a:solidFill>
          <a:ln w="19050">
            <a:solidFill>
              <a:srgbClr val="B4232B"/>
            </a:solidFill>
          </a:ln>
        </p:spPr>
      </p:sp>
      <p:sp>
        <p:nvSpPr>
          <p:cNvPr id="23" name="Rectangle: Rounded Corners 22">
            <a:extLst>
              <a:ext uri="{FF2B5EF4-FFF2-40B4-BE49-F238E27FC236}">
                <a16:creationId xmlns:a16="http://schemas.microsoft.com/office/drawing/2014/main" id="{014130B0-3E95-4E6F-BE29-8DD863663FC0}"/>
              </a:ext>
            </a:extLst>
          </p:cNvPr>
          <p:cNvSpPr>
            <a:spLocks noGrp="1"/>
          </p:cNvSpPr>
          <p:nvPr/>
        </p:nvSpPr>
        <p:spPr>
          <a:xfrm>
            <a:off x="8572500" y="2876550"/>
            <a:ext cx="2286000" cy="361950"/>
          </a:xfrm>
          <a:prstGeom prst="roundRect">
            <a:avLst>
              <a:gd name="adj" fmla="val 21053"/>
            </a:avLst>
          </a:prstGeom>
          <a:solidFill>
            <a:srgbClr val="B4232B"/>
          </a:solidFill>
          <a:ln w="0">
            <a:noFill/>
          </a:ln>
        </p:spPr>
      </p:sp>
      <p:sp>
        <p:nvSpPr>
          <p:cNvPr id="24" name="Rectangle 23">
            <a:extLst>
              <a:ext uri="{FF2B5EF4-FFF2-40B4-BE49-F238E27FC236}">
                <a16:creationId xmlns:a16="http://schemas.microsoft.com/office/drawing/2014/main" id="{8C703708-E0C0-47E8-9893-C574F04567AC}"/>
              </a:ext>
            </a:extLst>
          </p:cNvPr>
          <p:cNvSpPr>
            <a:spLocks noGrp="1"/>
          </p:cNvSpPr>
          <p:nvPr/>
        </p:nvSpPr>
        <p:spPr>
          <a:xfrm>
            <a:off x="8667750" y="2905125"/>
            <a:ext cx="2095500" cy="295275"/>
          </a:xfrm>
          <a:prstGeom prst="rect">
            <a:avLst/>
          </a:prstGeom>
          <a:noFill/>
          <a:ln w="0">
            <a:noFill/>
          </a:ln>
        </p:spPr>
        <p:txBody>
          <a:bodyPr anchor="ctr">
            <a:normAutofit/>
          </a:bodyP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NOT A CLEAR SORT</a:t>
            </a:r>
          </a:p>
        </p:txBody>
      </p:sp>
      <p:sp>
        <p:nvSpPr>
          <p:cNvPr id="25" name="Oval 24">
            <a:extLst>
              <a:ext uri="{FF2B5EF4-FFF2-40B4-BE49-F238E27FC236}">
                <a16:creationId xmlns:a16="http://schemas.microsoft.com/office/drawing/2014/main" id="{EA6E02FF-C4D5-4673-AA58-20585D348FB8}"/>
              </a:ext>
            </a:extLst>
          </p:cNvPr>
          <p:cNvSpPr>
            <a:spLocks noGrp="1"/>
          </p:cNvSpPr>
          <p:nvPr/>
        </p:nvSpPr>
        <p:spPr>
          <a:xfrm>
            <a:off x="8763000" y="3810000"/>
            <a:ext cx="552450" cy="552450"/>
          </a:xfrm>
          <a:prstGeom prst="ellipse">
            <a:avLst/>
          </a:prstGeom>
          <a:solidFill>
            <a:srgbClr val="B4232B"/>
          </a:solidFill>
          <a:ln w="19050">
            <a:solidFill>
              <a:srgbClr val="17253A"/>
            </a:solidFill>
          </a:ln>
        </p:spPr>
      </p:sp>
      <p:sp>
        <p:nvSpPr>
          <p:cNvPr id="26" name="Rectangle 25">
            <a:extLst>
              <a:ext uri="{FF2B5EF4-FFF2-40B4-BE49-F238E27FC236}">
                <a16:creationId xmlns:a16="http://schemas.microsoft.com/office/drawing/2014/main" id="{8E30F75F-D45C-472E-993C-919607C3B295}"/>
              </a:ext>
            </a:extLst>
          </p:cNvPr>
          <p:cNvSpPr>
            <a:spLocks noGrp="1"/>
          </p:cNvSpPr>
          <p:nvPr/>
        </p:nvSpPr>
        <p:spPr>
          <a:xfrm>
            <a:off x="9620250" y="3810000"/>
            <a:ext cx="552450" cy="552450"/>
          </a:xfrm>
          <a:prstGeom prst="rect">
            <a:avLst/>
          </a:prstGeom>
          <a:solidFill>
            <a:srgbClr val="3F7DC0"/>
          </a:solidFill>
          <a:ln w="19050">
            <a:solidFill>
              <a:srgbClr val="17253A"/>
            </a:solidFill>
          </a:ln>
        </p:spPr>
      </p:sp>
      <p:sp>
        <p:nvSpPr>
          <p:cNvPr id="27" name="Isosceles Triangle 26">
            <a:extLst>
              <a:ext uri="{FF2B5EF4-FFF2-40B4-BE49-F238E27FC236}">
                <a16:creationId xmlns:a16="http://schemas.microsoft.com/office/drawing/2014/main" id="{A83B1386-AAF0-4EF1-B83D-CA32B2F0CA4A}"/>
              </a:ext>
            </a:extLst>
          </p:cNvPr>
          <p:cNvSpPr>
            <a:spLocks noGrp="1"/>
          </p:cNvSpPr>
          <p:nvPr/>
        </p:nvSpPr>
        <p:spPr>
          <a:xfrm>
            <a:off x="10477500" y="3810000"/>
            <a:ext cx="552450" cy="552450"/>
          </a:xfrm>
          <a:prstGeom prst="triangle">
            <a:avLst/>
          </a:prstGeom>
          <a:solidFill>
            <a:srgbClr val="B4232B"/>
          </a:solidFill>
          <a:ln w="19050">
            <a:solidFill>
              <a:srgbClr val="17253A"/>
            </a:solidFill>
          </a:ln>
        </p:spPr>
      </p:sp>
      <p:sp>
        <p:nvSpPr>
          <p:cNvPr id="28" name="Rectangle 27">
            <a:extLst>
              <a:ext uri="{FF2B5EF4-FFF2-40B4-BE49-F238E27FC236}">
                <a16:creationId xmlns:a16="http://schemas.microsoft.com/office/drawing/2014/main" id="{9D8CB363-7621-45EA-A9DE-3FBAF74D4112}"/>
              </a:ext>
            </a:extLst>
          </p:cNvPr>
          <p:cNvSpPr>
            <a:spLocks noGrp="1"/>
          </p:cNvSpPr>
          <p:nvPr/>
        </p:nvSpPr>
        <p:spPr>
          <a:xfrm>
            <a:off x="1619250" y="5429250"/>
            <a:ext cx="8953500" cy="457200"/>
          </a:xfrm>
          <a:prstGeom prst="rect">
            <a:avLst/>
          </a:prstGeom>
          <a:noFill/>
          <a:ln w="0">
            <a:noFill/>
          </a:ln>
        </p:spPr>
        <p:txBody>
          <a:bodyPr anchor="ctr">
            <a:normAutofit/>
          </a:bodyPr>
          <a:lstStyle/>
          <a:p>
            <a:pPr algn="ctr">
              <a:defRPr sz="1650" b="1">
                <a:solidFill>
                  <a:srgbClr val="40516A"/>
                </a:solidFill>
                <a:latin typeface="Arial"/>
                <a:ea typeface="Arial"/>
                <a:cs typeface="Arial"/>
              </a:defRPr>
            </a:pPr>
            <a:r>
              <a:rPr sz="1650" b="1">
                <a:solidFill>
                  <a:srgbClr val="40516A"/>
                </a:solidFill>
                <a:latin typeface="Arial"/>
                <a:ea typeface="Arial"/>
                <a:cs typeface="Arial"/>
              </a:rPr>
              <a:t>The first two groups follow colour. The last box has no stated rule.</a:t>
            </a:r>
          </a:p>
        </p:txBody>
      </p:sp>
    </p:spTree>
    <p:extLst>
      <p:ext uri="{BB962C8B-B14F-4D97-AF65-F5344CB8AC3E}">
        <p14:creationId xmlns:p14="http://schemas.microsoft.com/office/powerpoint/2010/main" val="1861090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P spid="17" grpId="0"/>
      <p:bldP spid="24" grpId="0"/>
      <p:bldP spid="28"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7EA"/>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0DC898BE-22C1-4E8C-B1E4-1D39E4889321}"/>
              </a:ext>
            </a:extLst>
          </p:cNvPr>
          <p:cNvSpPr>
            <a:spLocks noGrp="1"/>
          </p:cNvSpPr>
          <p:nvPr/>
        </p:nvSpPr>
        <p:spPr>
          <a:xfrm>
            <a:off x="0" y="0"/>
            <a:ext cx="12192000" cy="171450"/>
          </a:xfrm>
          <a:prstGeom prst="rect">
            <a:avLst/>
          </a:prstGeom>
          <a:solidFill>
            <a:srgbClr val="B4232B"/>
          </a:solidFill>
          <a:ln w="0">
            <a:noFill/>
          </a:ln>
        </p:spPr>
      </p:sp>
      <p:sp>
        <p:nvSpPr>
          <p:cNvPr id="2" name="Rectangle 1">
            <a:extLst>
              <a:ext uri="{FF2B5EF4-FFF2-40B4-BE49-F238E27FC236}">
                <a16:creationId xmlns:a16="http://schemas.microsoft.com/office/drawing/2014/main" id="{7160861C-7F28-4F0C-8461-9402D0D6D339}"/>
              </a:ext>
            </a:extLst>
          </p:cNvPr>
          <p:cNvSpPr>
            <a:spLocks noGrp="1"/>
          </p:cNvSpPr>
          <p:nvPr/>
        </p:nvSpPr>
        <p:spPr>
          <a:xfrm>
            <a:off x="552450" y="285750"/>
            <a:ext cx="6858000" cy="266700"/>
          </a:xfrm>
          <a:prstGeom prst="rect">
            <a:avLst/>
          </a:prstGeom>
          <a:noFill/>
          <a:ln w="0">
            <a:noFill/>
          </a:ln>
        </p:spPr>
        <p:txBody>
          <a:bodyPr anchor="ctr">
            <a:normAutofit/>
          </a:bodyPr>
          <a:lstStyle/>
          <a:p>
            <a:pPr algn="l">
              <a:defRPr sz="1050" b="1">
                <a:solidFill>
                  <a:srgbClr val="B4232B"/>
                </a:solidFill>
                <a:latin typeface="Arial"/>
                <a:ea typeface="Arial"/>
                <a:cs typeface="Arial"/>
              </a:defRPr>
            </a:pPr>
            <a:r>
              <a:rPr sz="1050" b="1">
                <a:solidFill>
                  <a:srgbClr val="B4232B"/>
                </a:solidFill>
                <a:latin typeface="Arial"/>
                <a:ea typeface="Arial"/>
                <a:cs typeface="Arial"/>
              </a:rPr>
              <a:t>YEAR 1 MATHS  •  AUTUMN  •  WEEK 1  •  DAY 1</a:t>
            </a:r>
          </a:p>
        </p:txBody>
      </p:sp>
      <p:sp>
        <p:nvSpPr>
          <p:cNvPr id="3" name="Rectangle: Rounded Corners 2">
            <a:extLst>
              <a:ext uri="{FF2B5EF4-FFF2-40B4-BE49-F238E27FC236}">
                <a16:creationId xmlns:a16="http://schemas.microsoft.com/office/drawing/2014/main" id="{C48A231D-C8F0-4733-93D6-AA75DD2D1335}"/>
              </a:ext>
            </a:extLst>
          </p:cNvPr>
          <p:cNvSpPr>
            <a:spLocks noGrp="1"/>
          </p:cNvSpPr>
          <p:nvPr/>
        </p:nvSpPr>
        <p:spPr>
          <a:xfrm>
            <a:off x="552450" y="685800"/>
            <a:ext cx="1238250" cy="323850"/>
          </a:xfrm>
          <a:prstGeom prst="roundRect">
            <a:avLst>
              <a:gd name="adj" fmla="val 23529"/>
            </a:avLst>
          </a:prstGeom>
          <a:solidFill>
            <a:srgbClr val="B4232B"/>
          </a:solidFill>
          <a:ln w="0">
            <a:noFill/>
          </a:ln>
        </p:spPr>
      </p:sp>
      <p:sp>
        <p:nvSpPr>
          <p:cNvPr id="4" name="Rectangle 3">
            <a:extLst>
              <a:ext uri="{FF2B5EF4-FFF2-40B4-BE49-F238E27FC236}">
                <a16:creationId xmlns:a16="http://schemas.microsoft.com/office/drawing/2014/main" id="{3E284E79-260F-4BA5-8F45-615FC3D0755A}"/>
              </a:ext>
            </a:extLst>
          </p:cNvPr>
          <p:cNvSpPr>
            <a:spLocks noGrp="1"/>
          </p:cNvSpPr>
          <p:nvPr/>
        </p:nvSpPr>
        <p:spPr>
          <a:xfrm>
            <a:off x="590550" y="704850"/>
            <a:ext cx="1162050" cy="266700"/>
          </a:xfrm>
          <a:prstGeom prst="rect">
            <a:avLst/>
          </a:prstGeom>
          <a:noFill/>
          <a:ln w="0">
            <a:noFill/>
          </a:ln>
        </p:spPr>
        <p:txBody>
          <a:bodyPr anchor="ctr">
            <a:normAutofit/>
          </a:bodyPr>
          <a:lstStyle/>
          <a:p>
            <a:pPr algn="ctr">
              <a:defRPr sz="750" b="1">
                <a:solidFill>
                  <a:srgbClr val="FFFFFF"/>
                </a:solidFill>
                <a:latin typeface="Arial"/>
                <a:ea typeface="Arial"/>
                <a:cs typeface="Arial"/>
              </a:defRPr>
            </a:pPr>
            <a:r>
              <a:rPr sz="750" b="1">
                <a:solidFill>
                  <a:srgbClr val="FFFFFF"/>
                </a:solidFill>
                <a:latin typeface="Arial"/>
                <a:ea typeface="Arial"/>
                <a:cs typeface="Arial"/>
              </a:rPr>
              <a:t>REVISIT</a:t>
            </a:r>
          </a:p>
        </p:txBody>
      </p:sp>
      <p:sp>
        <p:nvSpPr>
          <p:cNvPr id="5" name="Rectangle 4">
            <a:extLst>
              <a:ext uri="{FF2B5EF4-FFF2-40B4-BE49-F238E27FC236}">
                <a16:creationId xmlns:a16="http://schemas.microsoft.com/office/drawing/2014/main" id="{2A8FC201-4DE6-460E-BF80-98DF6F6CE7CE}"/>
              </a:ext>
            </a:extLst>
          </p:cNvPr>
          <p:cNvSpPr>
            <a:spLocks noGrp="1"/>
          </p:cNvSpPr>
          <p:nvPr/>
        </p:nvSpPr>
        <p:spPr>
          <a:xfrm>
            <a:off x="1962150" y="590550"/>
            <a:ext cx="8496300" cy="552450"/>
          </a:xfrm>
          <a:prstGeom prst="rect">
            <a:avLst/>
          </a:prstGeom>
          <a:noFill/>
          <a:ln w="0">
            <a:noFill/>
          </a:ln>
        </p:spPr>
        <p:txBody>
          <a:bodyPr anchor="ctr">
            <a:normAutofit/>
          </a:bodyPr>
          <a:lstStyle/>
          <a:p>
            <a:pPr algn="l">
              <a:defRPr sz="2625" b="1">
                <a:solidFill>
                  <a:srgbClr val="17253A"/>
                </a:solidFill>
                <a:latin typeface="Arial"/>
                <a:ea typeface="Arial"/>
                <a:cs typeface="Arial"/>
              </a:defRPr>
            </a:pPr>
            <a:r>
              <a:rPr sz="2625" b="1">
                <a:solidFill>
                  <a:srgbClr val="17253A"/>
                </a:solidFill>
                <a:latin typeface="Arial"/>
                <a:ea typeface="Arial"/>
                <a:cs typeface="Arial"/>
              </a:rPr>
              <a:t>Previous learning: same and different</a:t>
            </a:r>
          </a:p>
        </p:txBody>
      </p:sp>
      <p:sp>
        <p:nvSpPr>
          <p:cNvPr id="6" name="Rectangle 5">
            <a:extLst>
              <a:ext uri="{FF2B5EF4-FFF2-40B4-BE49-F238E27FC236}">
                <a16:creationId xmlns:a16="http://schemas.microsoft.com/office/drawing/2014/main" id="{C82BD7A0-0E50-4F82-91B6-C18141EF581B}"/>
              </a:ext>
            </a:extLst>
          </p:cNvPr>
          <p:cNvSpPr>
            <a:spLocks noGrp="1"/>
          </p:cNvSpPr>
          <p:nvPr/>
        </p:nvSpPr>
        <p:spPr>
          <a:xfrm>
            <a:off x="10668000" y="400050"/>
            <a:ext cx="952500" cy="228600"/>
          </a:xfrm>
          <a:prstGeom prst="rect">
            <a:avLst/>
          </a:prstGeom>
          <a:noFill/>
          <a:ln w="0">
            <a:noFill/>
          </a:ln>
        </p:spPr>
        <p:txBody>
          <a:bodyPr anchor="ctr">
            <a:normAutofit fontScale="92308"/>
          </a:bodyPr>
          <a:lstStyle/>
          <a:p>
            <a:pPr algn="r">
              <a:defRPr sz="975" b="1">
                <a:solidFill>
                  <a:srgbClr val="6B788A"/>
                </a:solidFill>
                <a:latin typeface="Arial"/>
                <a:ea typeface="Arial"/>
                <a:cs typeface="Arial"/>
              </a:defRPr>
            </a:pPr>
            <a:r>
              <a:rPr sz="975" b="1">
                <a:solidFill>
                  <a:srgbClr val="6B788A"/>
                </a:solidFill>
                <a:latin typeface="Arial"/>
                <a:ea typeface="Arial"/>
                <a:cs typeface="Arial"/>
              </a:rPr>
              <a:t>3 / 15</a:t>
            </a:r>
          </a:p>
        </p:txBody>
      </p:sp>
      <p:sp>
        <p:nvSpPr>
          <p:cNvPr id="7" name="Rectangle 6">
            <a:extLst>
              <a:ext uri="{FF2B5EF4-FFF2-40B4-BE49-F238E27FC236}">
                <a16:creationId xmlns:a16="http://schemas.microsoft.com/office/drawing/2014/main" id="{67737122-D89B-4293-8576-2BC360008BC7}"/>
              </a:ext>
            </a:extLst>
          </p:cNvPr>
          <p:cNvSpPr>
            <a:spLocks noGrp="1"/>
          </p:cNvSpPr>
          <p:nvPr/>
        </p:nvSpPr>
        <p:spPr>
          <a:xfrm>
            <a:off x="552450" y="6457950"/>
            <a:ext cx="11087100" cy="19050"/>
          </a:xfrm>
          <a:prstGeom prst="rect">
            <a:avLst/>
          </a:prstGeom>
          <a:solidFill>
            <a:srgbClr val="D9DEE7"/>
          </a:solidFill>
          <a:ln w="0">
            <a:noFill/>
          </a:ln>
        </p:spPr>
      </p:sp>
      <p:sp>
        <p:nvSpPr>
          <p:cNvPr id="8" name="Rectangle 7">
            <a:extLst>
              <a:ext uri="{FF2B5EF4-FFF2-40B4-BE49-F238E27FC236}">
                <a16:creationId xmlns:a16="http://schemas.microsoft.com/office/drawing/2014/main" id="{3FD6D010-75A0-4F53-A01C-3F281E85EABD}"/>
              </a:ext>
            </a:extLst>
          </p:cNvPr>
          <p:cNvSpPr>
            <a:spLocks noGrp="1"/>
          </p:cNvSpPr>
          <p:nvPr/>
        </p:nvSpPr>
        <p:spPr>
          <a:xfrm>
            <a:off x="552450" y="6543675"/>
            <a:ext cx="3429000" cy="190500"/>
          </a:xfrm>
          <a:prstGeom prst="rect">
            <a:avLst/>
          </a:prstGeom>
          <a:noFill/>
          <a:ln w="0">
            <a:noFill/>
          </a:ln>
        </p:spPr>
        <p:txBody>
          <a:bodyPr anchor="ctr">
            <a:normAutofit fontScale="72222"/>
          </a:bodyPr>
          <a:lstStyle/>
          <a:p>
            <a:pPr algn="l">
              <a:defRPr sz="900" b="0">
                <a:solidFill>
                  <a:srgbClr val="6B788A"/>
                </a:solidFill>
                <a:latin typeface="Arial"/>
                <a:ea typeface="Arial"/>
                <a:cs typeface="Arial"/>
              </a:defRPr>
            </a:pPr>
            <a:r>
              <a:rPr sz="900" b="0">
                <a:solidFill>
                  <a:srgbClr val="6B788A"/>
                </a:solidFill>
                <a:latin typeface="Arial"/>
                <a:ea typeface="Arial"/>
                <a:cs typeface="Arial"/>
              </a:rPr>
              <a:t>BrightPath Primary Learning</a:t>
            </a:r>
          </a:p>
        </p:txBody>
      </p:sp>
      <p:sp>
        <p:nvSpPr>
          <p:cNvPr id="9" name="Rectangle 8">
            <a:extLst>
              <a:ext uri="{FF2B5EF4-FFF2-40B4-BE49-F238E27FC236}">
                <a16:creationId xmlns:a16="http://schemas.microsoft.com/office/drawing/2014/main" id="{F881BF67-58BA-4D0D-9C96-55C22C3BEA9E}"/>
              </a:ext>
            </a:extLst>
          </p:cNvPr>
          <p:cNvSpPr>
            <a:spLocks noGrp="1"/>
          </p:cNvSpPr>
          <p:nvPr/>
        </p:nvSpPr>
        <p:spPr>
          <a:xfrm>
            <a:off x="8477250" y="6543675"/>
            <a:ext cx="3162300" cy="190500"/>
          </a:xfrm>
          <a:prstGeom prst="rect">
            <a:avLst/>
          </a:prstGeom>
          <a:noFill/>
          <a:ln w="0">
            <a:noFill/>
          </a:ln>
        </p:spPr>
        <p:txBody>
          <a:bodyPr anchor="ctr">
            <a:normAutofit fontScale="72222"/>
          </a:bodyPr>
          <a:lstStyle/>
          <a:p>
            <a:pPr algn="r">
              <a:defRPr sz="900" b="0">
                <a:solidFill>
                  <a:srgbClr val="6B788A"/>
                </a:solidFill>
                <a:latin typeface="Arial"/>
                <a:ea typeface="Arial"/>
                <a:cs typeface="Arial"/>
              </a:defRPr>
            </a:pPr>
            <a:r>
              <a:rPr sz="900" b="0">
                <a:solidFill>
                  <a:srgbClr val="6B788A"/>
                </a:solidFill>
                <a:latin typeface="Arial"/>
                <a:ea typeface="Arial"/>
                <a:cs typeface="Arial"/>
              </a:rPr>
              <a:t>Sort objects into groups</a:t>
            </a:r>
          </a:p>
        </p:txBody>
      </p:sp>
      <p:sp>
        <p:nvSpPr>
          <p:cNvPr id="10" name="Rectangle 9">
            <a:extLst>
              <a:ext uri="{FF2B5EF4-FFF2-40B4-BE49-F238E27FC236}">
                <a16:creationId xmlns:a16="http://schemas.microsoft.com/office/drawing/2014/main" id="{8AAFA4A3-5624-4420-97E3-19A10DA063D8}"/>
              </a:ext>
            </a:extLst>
          </p:cNvPr>
          <p:cNvSpPr>
            <a:spLocks noGrp="1"/>
          </p:cNvSpPr>
          <p:nvPr/>
        </p:nvSpPr>
        <p:spPr>
          <a:xfrm>
            <a:off x="876300" y="1333500"/>
            <a:ext cx="10439400" cy="609600"/>
          </a:xfrm>
          <a:prstGeom prst="rect">
            <a:avLst/>
          </a:prstGeom>
          <a:noFill/>
          <a:ln w="0">
            <a:noFill/>
          </a:ln>
        </p:spPr>
        <p:txBody>
          <a:bodyPr anchor="ctr">
            <a:normAutofit/>
          </a:bodyPr>
          <a:lstStyle/>
          <a:p>
            <a:pPr algn="ctr">
              <a:defRPr sz="2250" b="1">
                <a:solidFill>
                  <a:srgbClr val="17253A"/>
                </a:solidFill>
                <a:latin typeface="Arial"/>
                <a:ea typeface="Arial"/>
                <a:cs typeface="Arial"/>
              </a:defRPr>
            </a:pPr>
            <a:r>
              <a:rPr sz="2250" b="1">
                <a:solidFill>
                  <a:srgbClr val="17253A"/>
                </a:solidFill>
                <a:latin typeface="Arial"/>
                <a:ea typeface="Arial"/>
                <a:cs typeface="Arial"/>
              </a:rPr>
              <a:t>Look carefully. What is the same? What is different?</a:t>
            </a:r>
          </a:p>
        </p:txBody>
      </p:sp>
      <p:sp>
        <p:nvSpPr>
          <p:cNvPr id="11" name="Rectangle: Rounded Corners 10">
            <a:extLst>
              <a:ext uri="{FF2B5EF4-FFF2-40B4-BE49-F238E27FC236}">
                <a16:creationId xmlns:a16="http://schemas.microsoft.com/office/drawing/2014/main" id="{5FA0B293-1AA2-4753-BD9E-883AA617FAFF}"/>
              </a:ext>
            </a:extLst>
          </p:cNvPr>
          <p:cNvSpPr>
            <a:spLocks noGrp="1"/>
          </p:cNvSpPr>
          <p:nvPr/>
        </p:nvSpPr>
        <p:spPr>
          <a:xfrm>
            <a:off x="1600200" y="2238375"/>
            <a:ext cx="8991600" cy="2762250"/>
          </a:xfrm>
          <a:prstGeom prst="roundRect">
            <a:avLst>
              <a:gd name="adj" fmla="val 2759"/>
            </a:avLst>
          </a:prstGeom>
          <a:solidFill>
            <a:srgbClr val="FFFFFF"/>
          </a:solidFill>
          <a:ln w="19050">
            <a:solidFill>
              <a:srgbClr val="D9DEE7"/>
            </a:solidFill>
          </a:ln>
        </p:spPr>
      </p:sp>
      <p:sp>
        <p:nvSpPr>
          <p:cNvPr id="12" name="Oval 11">
            <a:extLst>
              <a:ext uri="{FF2B5EF4-FFF2-40B4-BE49-F238E27FC236}">
                <a16:creationId xmlns:a16="http://schemas.microsoft.com/office/drawing/2014/main" id="{58521C2F-CE26-4005-806E-CBBCB30F8B7E}"/>
              </a:ext>
            </a:extLst>
          </p:cNvPr>
          <p:cNvSpPr>
            <a:spLocks noGrp="1"/>
          </p:cNvSpPr>
          <p:nvPr/>
        </p:nvSpPr>
        <p:spPr>
          <a:xfrm>
            <a:off x="2647950" y="3048000"/>
            <a:ext cx="876300" cy="876300"/>
          </a:xfrm>
          <a:prstGeom prst="ellipse">
            <a:avLst/>
          </a:prstGeom>
          <a:solidFill>
            <a:srgbClr val="B4232B"/>
          </a:solidFill>
          <a:ln w="19050">
            <a:solidFill>
              <a:srgbClr val="17253A"/>
            </a:solidFill>
          </a:ln>
        </p:spPr>
      </p:sp>
      <p:sp>
        <p:nvSpPr>
          <p:cNvPr id="13" name="Oval 12">
            <a:extLst>
              <a:ext uri="{FF2B5EF4-FFF2-40B4-BE49-F238E27FC236}">
                <a16:creationId xmlns:a16="http://schemas.microsoft.com/office/drawing/2014/main" id="{291EEEB6-0C1E-4EE9-9E34-1083EC1C1241}"/>
              </a:ext>
            </a:extLst>
          </p:cNvPr>
          <p:cNvSpPr>
            <a:spLocks noGrp="1"/>
          </p:cNvSpPr>
          <p:nvPr/>
        </p:nvSpPr>
        <p:spPr>
          <a:xfrm>
            <a:off x="4514850" y="3048000"/>
            <a:ext cx="876300" cy="876300"/>
          </a:xfrm>
          <a:prstGeom prst="ellipse">
            <a:avLst/>
          </a:prstGeom>
          <a:solidFill>
            <a:srgbClr val="3F7DC0"/>
          </a:solidFill>
          <a:ln w="19050">
            <a:solidFill>
              <a:srgbClr val="17253A"/>
            </a:solidFill>
          </a:ln>
        </p:spPr>
      </p:sp>
      <p:sp>
        <p:nvSpPr>
          <p:cNvPr id="14" name="Rectangle 13">
            <a:extLst>
              <a:ext uri="{FF2B5EF4-FFF2-40B4-BE49-F238E27FC236}">
                <a16:creationId xmlns:a16="http://schemas.microsoft.com/office/drawing/2014/main" id="{CF9E0497-2536-447F-8EE0-35772D9F3AFA}"/>
              </a:ext>
            </a:extLst>
          </p:cNvPr>
          <p:cNvSpPr>
            <a:spLocks noGrp="1"/>
          </p:cNvSpPr>
          <p:nvPr/>
        </p:nvSpPr>
        <p:spPr>
          <a:xfrm>
            <a:off x="6381750" y="3048000"/>
            <a:ext cx="876300" cy="876300"/>
          </a:xfrm>
          <a:prstGeom prst="rect">
            <a:avLst/>
          </a:prstGeom>
          <a:solidFill>
            <a:srgbClr val="B4232B"/>
          </a:solidFill>
          <a:ln w="19050">
            <a:solidFill>
              <a:srgbClr val="17253A"/>
            </a:solidFill>
          </a:ln>
        </p:spPr>
      </p:sp>
      <p:sp>
        <p:nvSpPr>
          <p:cNvPr id="15" name="Isosceles Triangle 14">
            <a:extLst>
              <a:ext uri="{FF2B5EF4-FFF2-40B4-BE49-F238E27FC236}">
                <a16:creationId xmlns:a16="http://schemas.microsoft.com/office/drawing/2014/main" id="{A8CD8BE7-CA38-45D4-8AE8-EB62DEF89592}"/>
              </a:ext>
            </a:extLst>
          </p:cNvPr>
          <p:cNvSpPr>
            <a:spLocks noGrp="1"/>
          </p:cNvSpPr>
          <p:nvPr/>
        </p:nvSpPr>
        <p:spPr>
          <a:xfrm>
            <a:off x="8248650" y="3048000"/>
            <a:ext cx="876300" cy="876300"/>
          </a:xfrm>
          <a:prstGeom prst="triangle">
            <a:avLst/>
          </a:prstGeom>
          <a:solidFill>
            <a:srgbClr val="3F7DC0"/>
          </a:solidFill>
          <a:ln w="19050">
            <a:solidFill>
              <a:srgbClr val="17253A"/>
            </a:solidFill>
          </a:ln>
        </p:spPr>
      </p:sp>
      <p:sp>
        <p:nvSpPr>
          <p:cNvPr id="16" name="Rectangle: Rounded Corners 15">
            <a:extLst>
              <a:ext uri="{FF2B5EF4-FFF2-40B4-BE49-F238E27FC236}">
                <a16:creationId xmlns:a16="http://schemas.microsoft.com/office/drawing/2014/main" id="{1F8BDEF8-EDAB-4914-B925-9F18E1D0DCC1}"/>
              </a:ext>
            </a:extLst>
          </p:cNvPr>
          <p:cNvSpPr>
            <a:spLocks noGrp="1"/>
          </p:cNvSpPr>
          <p:nvPr/>
        </p:nvSpPr>
        <p:spPr>
          <a:xfrm>
            <a:off x="2667000" y="5286375"/>
            <a:ext cx="1524000" cy="361950"/>
          </a:xfrm>
          <a:prstGeom prst="roundRect">
            <a:avLst>
              <a:gd name="adj" fmla="val 21053"/>
            </a:avLst>
          </a:prstGeom>
          <a:solidFill>
            <a:srgbClr val="E9F4FB"/>
          </a:solidFill>
          <a:ln w="0">
            <a:noFill/>
          </a:ln>
        </p:spPr>
      </p:sp>
      <p:sp>
        <p:nvSpPr>
          <p:cNvPr id="17" name="Rectangle 16">
            <a:extLst>
              <a:ext uri="{FF2B5EF4-FFF2-40B4-BE49-F238E27FC236}">
                <a16:creationId xmlns:a16="http://schemas.microsoft.com/office/drawing/2014/main" id="{E8E17967-86D3-4D62-8230-E3A966971E64}"/>
              </a:ext>
            </a:extLst>
          </p:cNvPr>
          <p:cNvSpPr>
            <a:spLocks noGrp="1"/>
          </p:cNvSpPr>
          <p:nvPr/>
        </p:nvSpPr>
        <p:spPr>
          <a:xfrm>
            <a:off x="2762250" y="5314950"/>
            <a:ext cx="1333500" cy="295275"/>
          </a:xfrm>
          <a:prstGeom prst="rect">
            <a:avLst/>
          </a:prstGeom>
          <a:noFill/>
          <a:ln w="0">
            <a:noFill/>
          </a:ln>
        </p:spPr>
        <p:txBody>
          <a:bodyPr anchor="ctr">
            <a:normAutofit/>
          </a:bodyPr>
          <a:lstStyle/>
          <a:p>
            <a:pPr algn="ctr">
              <a:defRPr sz="1125" b="1">
                <a:solidFill>
                  <a:srgbClr val="3F7DC0"/>
                </a:solidFill>
                <a:latin typeface="Arial"/>
                <a:ea typeface="Arial"/>
                <a:cs typeface="Arial"/>
              </a:defRPr>
            </a:pPr>
            <a:r>
              <a:rPr sz="1125" b="1">
                <a:solidFill>
                  <a:srgbClr val="3F7DC0"/>
                </a:solidFill>
                <a:latin typeface="Arial"/>
                <a:ea typeface="Arial"/>
                <a:cs typeface="Arial"/>
              </a:rPr>
              <a:t>THINK</a:t>
            </a:r>
          </a:p>
        </p:txBody>
      </p:sp>
      <p:sp>
        <p:nvSpPr>
          <p:cNvPr id="18" name="Rectangle: Rounded Corners 17">
            <a:extLst>
              <a:ext uri="{FF2B5EF4-FFF2-40B4-BE49-F238E27FC236}">
                <a16:creationId xmlns:a16="http://schemas.microsoft.com/office/drawing/2014/main" id="{B64076A9-0D9D-419B-AFEF-CA1E293B49BA}"/>
              </a:ext>
            </a:extLst>
          </p:cNvPr>
          <p:cNvSpPr>
            <a:spLocks noGrp="1"/>
          </p:cNvSpPr>
          <p:nvPr/>
        </p:nvSpPr>
        <p:spPr>
          <a:xfrm>
            <a:off x="5334000" y="5286375"/>
            <a:ext cx="1524000" cy="361950"/>
          </a:xfrm>
          <a:prstGeom prst="roundRect">
            <a:avLst>
              <a:gd name="adj" fmla="val 21053"/>
            </a:avLst>
          </a:prstGeom>
          <a:solidFill>
            <a:srgbClr val="FFF0E7"/>
          </a:solidFill>
          <a:ln w="0">
            <a:noFill/>
          </a:ln>
        </p:spPr>
      </p:sp>
      <p:sp>
        <p:nvSpPr>
          <p:cNvPr id="19" name="Rectangle 18">
            <a:extLst>
              <a:ext uri="{FF2B5EF4-FFF2-40B4-BE49-F238E27FC236}">
                <a16:creationId xmlns:a16="http://schemas.microsoft.com/office/drawing/2014/main" id="{FA6E96F0-0DC0-4FA5-82DF-B091181BE984}"/>
              </a:ext>
            </a:extLst>
          </p:cNvPr>
          <p:cNvSpPr>
            <a:spLocks noGrp="1"/>
          </p:cNvSpPr>
          <p:nvPr/>
        </p:nvSpPr>
        <p:spPr>
          <a:xfrm>
            <a:off x="5429250" y="5314950"/>
            <a:ext cx="1333500" cy="295275"/>
          </a:xfrm>
          <a:prstGeom prst="rect">
            <a:avLst/>
          </a:prstGeom>
          <a:noFill/>
          <a:ln w="0">
            <a:noFill/>
          </a:ln>
        </p:spPr>
        <p:txBody>
          <a:bodyPr anchor="ctr">
            <a:normAutofit/>
          </a:bodyPr>
          <a:lstStyle/>
          <a:p>
            <a:pPr algn="ctr">
              <a:defRPr sz="1125" b="1">
                <a:solidFill>
                  <a:srgbClr val="B4232B"/>
                </a:solidFill>
                <a:latin typeface="Arial"/>
                <a:ea typeface="Arial"/>
                <a:cs typeface="Arial"/>
              </a:defRPr>
            </a:pPr>
            <a:r>
              <a:rPr sz="1125" b="1">
                <a:solidFill>
                  <a:srgbClr val="B4232B"/>
                </a:solidFill>
                <a:latin typeface="Arial"/>
                <a:ea typeface="Arial"/>
                <a:cs typeface="Arial"/>
              </a:rPr>
              <a:t>PAIR</a:t>
            </a:r>
          </a:p>
        </p:txBody>
      </p:sp>
      <p:sp>
        <p:nvSpPr>
          <p:cNvPr id="20" name="Rectangle: Rounded Corners 19">
            <a:extLst>
              <a:ext uri="{FF2B5EF4-FFF2-40B4-BE49-F238E27FC236}">
                <a16:creationId xmlns:a16="http://schemas.microsoft.com/office/drawing/2014/main" id="{AEE69C28-780B-4411-BF33-E144647D1B05}"/>
              </a:ext>
            </a:extLst>
          </p:cNvPr>
          <p:cNvSpPr>
            <a:spLocks noGrp="1"/>
          </p:cNvSpPr>
          <p:nvPr/>
        </p:nvSpPr>
        <p:spPr>
          <a:xfrm>
            <a:off x="8001000" y="5286375"/>
            <a:ext cx="1524000" cy="361950"/>
          </a:xfrm>
          <a:prstGeom prst="roundRect">
            <a:avLst>
              <a:gd name="adj" fmla="val 21053"/>
            </a:avLst>
          </a:prstGeom>
          <a:solidFill>
            <a:srgbClr val="F3ECFA"/>
          </a:solidFill>
          <a:ln w="0">
            <a:noFill/>
          </a:ln>
        </p:spPr>
      </p:sp>
      <p:sp>
        <p:nvSpPr>
          <p:cNvPr id="21" name="Rectangle 20">
            <a:extLst>
              <a:ext uri="{FF2B5EF4-FFF2-40B4-BE49-F238E27FC236}">
                <a16:creationId xmlns:a16="http://schemas.microsoft.com/office/drawing/2014/main" id="{657172EF-0A2A-402E-A2B7-13BF8C1C4049}"/>
              </a:ext>
            </a:extLst>
          </p:cNvPr>
          <p:cNvSpPr>
            <a:spLocks noGrp="1"/>
          </p:cNvSpPr>
          <p:nvPr/>
        </p:nvSpPr>
        <p:spPr>
          <a:xfrm>
            <a:off x="8096250" y="5314950"/>
            <a:ext cx="1333500" cy="295275"/>
          </a:xfrm>
          <a:prstGeom prst="rect">
            <a:avLst/>
          </a:prstGeom>
          <a:noFill/>
          <a:ln w="0">
            <a:noFill/>
          </a:ln>
        </p:spPr>
        <p:txBody>
          <a:bodyPr anchor="ctr">
            <a:normAutofit/>
          </a:bodyPr>
          <a:lstStyle/>
          <a:p>
            <a:pPr algn="ctr">
              <a:defRPr sz="1125" b="1">
                <a:solidFill>
                  <a:srgbClr val="76469A"/>
                </a:solidFill>
                <a:latin typeface="Arial"/>
                <a:ea typeface="Arial"/>
                <a:cs typeface="Arial"/>
              </a:defRPr>
            </a:pPr>
            <a:r>
              <a:rPr sz="1125" b="1">
                <a:solidFill>
                  <a:srgbClr val="76469A"/>
                </a:solidFill>
                <a:latin typeface="Arial"/>
                <a:ea typeface="Arial"/>
                <a:cs typeface="Arial"/>
              </a:rPr>
              <a:t>SHARE</a:t>
            </a:r>
          </a:p>
        </p:txBody>
      </p:sp>
    </p:spTree>
    <p:extLst>
      <p:ext uri="{BB962C8B-B14F-4D97-AF65-F5344CB8AC3E}">
        <p14:creationId xmlns:p14="http://schemas.microsoft.com/office/powerpoint/2010/main" val="14041988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7EA"/>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C2DA1EAE-F415-47C2-8FF9-3C55CA93FEEE}"/>
              </a:ext>
            </a:extLst>
          </p:cNvPr>
          <p:cNvSpPr>
            <a:spLocks noGrp="1"/>
          </p:cNvSpPr>
          <p:nvPr/>
        </p:nvSpPr>
        <p:spPr>
          <a:xfrm>
            <a:off x="0" y="0"/>
            <a:ext cx="12192000" cy="171450"/>
          </a:xfrm>
          <a:prstGeom prst="rect">
            <a:avLst/>
          </a:prstGeom>
          <a:solidFill>
            <a:srgbClr val="B4232B"/>
          </a:solidFill>
          <a:ln w="0">
            <a:noFill/>
          </a:ln>
        </p:spPr>
      </p:sp>
      <p:sp>
        <p:nvSpPr>
          <p:cNvPr id="2" name="Rectangle 1">
            <a:extLst>
              <a:ext uri="{FF2B5EF4-FFF2-40B4-BE49-F238E27FC236}">
                <a16:creationId xmlns:a16="http://schemas.microsoft.com/office/drawing/2014/main" id="{3B12F089-30BD-4982-8CF9-3096F0083D63}"/>
              </a:ext>
            </a:extLst>
          </p:cNvPr>
          <p:cNvSpPr>
            <a:spLocks noGrp="1"/>
          </p:cNvSpPr>
          <p:nvPr/>
        </p:nvSpPr>
        <p:spPr>
          <a:xfrm>
            <a:off x="552450" y="285750"/>
            <a:ext cx="6858000" cy="266700"/>
          </a:xfrm>
          <a:prstGeom prst="rect">
            <a:avLst/>
          </a:prstGeom>
          <a:noFill/>
          <a:ln w="0">
            <a:noFill/>
          </a:ln>
        </p:spPr>
        <p:txBody>
          <a:bodyPr anchor="ctr">
            <a:normAutofit/>
          </a:bodyPr>
          <a:lstStyle/>
          <a:p>
            <a:pPr algn="l">
              <a:defRPr sz="1050" b="1">
                <a:solidFill>
                  <a:srgbClr val="B4232B"/>
                </a:solidFill>
                <a:latin typeface="Arial"/>
                <a:ea typeface="Arial"/>
                <a:cs typeface="Arial"/>
              </a:defRPr>
            </a:pPr>
            <a:r>
              <a:rPr sz="1050" b="1">
                <a:solidFill>
                  <a:srgbClr val="B4232B"/>
                </a:solidFill>
                <a:latin typeface="Arial"/>
                <a:ea typeface="Arial"/>
                <a:cs typeface="Arial"/>
              </a:rPr>
              <a:t>YEAR 1 MATHS  •  AUTUMN  •  WEEK 1  •  DAY 1</a:t>
            </a:r>
          </a:p>
        </p:txBody>
      </p:sp>
      <p:sp>
        <p:nvSpPr>
          <p:cNvPr id="3" name="Rectangle: Rounded Corners 2">
            <a:extLst>
              <a:ext uri="{FF2B5EF4-FFF2-40B4-BE49-F238E27FC236}">
                <a16:creationId xmlns:a16="http://schemas.microsoft.com/office/drawing/2014/main" id="{D9D31610-235C-4E07-8679-91BF661090FD}"/>
              </a:ext>
            </a:extLst>
          </p:cNvPr>
          <p:cNvSpPr>
            <a:spLocks noGrp="1"/>
          </p:cNvSpPr>
          <p:nvPr/>
        </p:nvSpPr>
        <p:spPr>
          <a:xfrm>
            <a:off x="552450" y="685800"/>
            <a:ext cx="1238250" cy="323850"/>
          </a:xfrm>
          <a:prstGeom prst="roundRect">
            <a:avLst>
              <a:gd name="adj" fmla="val 23529"/>
            </a:avLst>
          </a:prstGeom>
          <a:solidFill>
            <a:srgbClr val="B4232B"/>
          </a:solidFill>
          <a:ln w="0">
            <a:noFill/>
          </a:ln>
        </p:spPr>
      </p:sp>
      <p:sp>
        <p:nvSpPr>
          <p:cNvPr id="4" name="Rectangle 3">
            <a:extLst>
              <a:ext uri="{FF2B5EF4-FFF2-40B4-BE49-F238E27FC236}">
                <a16:creationId xmlns:a16="http://schemas.microsoft.com/office/drawing/2014/main" id="{FD0A83C3-75DE-417B-903C-741BCA41CB64}"/>
              </a:ext>
            </a:extLst>
          </p:cNvPr>
          <p:cNvSpPr>
            <a:spLocks noGrp="1"/>
          </p:cNvSpPr>
          <p:nvPr/>
        </p:nvSpPr>
        <p:spPr>
          <a:xfrm>
            <a:off x="590550" y="704850"/>
            <a:ext cx="1162050" cy="266700"/>
          </a:xfrm>
          <a:prstGeom prst="rect">
            <a:avLst/>
          </a:prstGeom>
          <a:noFill/>
          <a:ln w="0">
            <a:noFill/>
          </a:ln>
        </p:spPr>
        <p:txBody>
          <a:bodyPr anchor="ctr">
            <a:normAutofit/>
          </a:bodyPr>
          <a:lstStyle/>
          <a:p>
            <a:pPr algn="ctr">
              <a:defRPr sz="750" b="1">
                <a:solidFill>
                  <a:srgbClr val="FFFFFF"/>
                </a:solidFill>
                <a:latin typeface="Arial"/>
                <a:ea typeface="Arial"/>
                <a:cs typeface="Arial"/>
              </a:defRPr>
            </a:pPr>
            <a:r>
              <a:rPr sz="750" b="1">
                <a:solidFill>
                  <a:srgbClr val="FFFFFF"/>
                </a:solidFill>
                <a:latin typeface="Arial"/>
                <a:ea typeface="Arial"/>
                <a:cs typeface="Arial"/>
              </a:rPr>
              <a:t>REVEAL</a:t>
            </a:r>
          </a:p>
        </p:txBody>
      </p:sp>
      <p:sp>
        <p:nvSpPr>
          <p:cNvPr id="5" name="Rectangle 4">
            <a:extLst>
              <a:ext uri="{FF2B5EF4-FFF2-40B4-BE49-F238E27FC236}">
                <a16:creationId xmlns:a16="http://schemas.microsoft.com/office/drawing/2014/main" id="{B9CFC1A0-64C9-4CD0-8E68-1A7AC96A6D4D}"/>
              </a:ext>
            </a:extLst>
          </p:cNvPr>
          <p:cNvSpPr>
            <a:spLocks noGrp="1"/>
          </p:cNvSpPr>
          <p:nvPr/>
        </p:nvSpPr>
        <p:spPr>
          <a:xfrm>
            <a:off x="1962150" y="590550"/>
            <a:ext cx="8496300" cy="552450"/>
          </a:xfrm>
          <a:prstGeom prst="rect">
            <a:avLst/>
          </a:prstGeom>
          <a:noFill/>
          <a:ln w="0">
            <a:noFill/>
          </a:ln>
        </p:spPr>
        <p:txBody>
          <a:bodyPr anchor="ctr">
            <a:normAutofit/>
          </a:bodyPr>
          <a:lstStyle/>
          <a:p>
            <a:pPr algn="l">
              <a:defRPr sz="2625" b="1">
                <a:solidFill>
                  <a:srgbClr val="17253A"/>
                </a:solidFill>
                <a:latin typeface="Arial"/>
                <a:ea typeface="Arial"/>
                <a:cs typeface="Arial"/>
              </a:defRPr>
            </a:pPr>
            <a:r>
              <a:rPr sz="2625" b="1">
                <a:solidFill>
                  <a:srgbClr val="17253A"/>
                </a:solidFill>
                <a:latin typeface="Arial"/>
                <a:ea typeface="Arial"/>
                <a:cs typeface="Arial"/>
              </a:rPr>
              <a:t>Check our noticing</a:t>
            </a:r>
          </a:p>
        </p:txBody>
      </p:sp>
      <p:sp>
        <p:nvSpPr>
          <p:cNvPr id="6" name="Rectangle 5">
            <a:extLst>
              <a:ext uri="{FF2B5EF4-FFF2-40B4-BE49-F238E27FC236}">
                <a16:creationId xmlns:a16="http://schemas.microsoft.com/office/drawing/2014/main" id="{B9D43DBC-B886-48AA-B6A1-E9D03FBD4C47}"/>
              </a:ext>
            </a:extLst>
          </p:cNvPr>
          <p:cNvSpPr>
            <a:spLocks noGrp="1"/>
          </p:cNvSpPr>
          <p:nvPr/>
        </p:nvSpPr>
        <p:spPr>
          <a:xfrm>
            <a:off x="10668000" y="400050"/>
            <a:ext cx="952500" cy="228600"/>
          </a:xfrm>
          <a:prstGeom prst="rect">
            <a:avLst/>
          </a:prstGeom>
          <a:noFill/>
          <a:ln w="0">
            <a:noFill/>
          </a:ln>
        </p:spPr>
        <p:txBody>
          <a:bodyPr anchor="ctr">
            <a:normAutofit fontScale="92308"/>
          </a:bodyPr>
          <a:lstStyle/>
          <a:p>
            <a:pPr algn="r">
              <a:defRPr sz="975" b="1">
                <a:solidFill>
                  <a:srgbClr val="6B788A"/>
                </a:solidFill>
                <a:latin typeface="Arial"/>
                <a:ea typeface="Arial"/>
                <a:cs typeface="Arial"/>
              </a:defRPr>
            </a:pPr>
            <a:r>
              <a:rPr sz="975" b="1">
                <a:solidFill>
                  <a:srgbClr val="6B788A"/>
                </a:solidFill>
                <a:latin typeface="Arial"/>
                <a:ea typeface="Arial"/>
                <a:cs typeface="Arial"/>
              </a:rPr>
              <a:t>4 / 15</a:t>
            </a:r>
          </a:p>
        </p:txBody>
      </p:sp>
      <p:sp>
        <p:nvSpPr>
          <p:cNvPr id="7" name="Rectangle 6">
            <a:extLst>
              <a:ext uri="{FF2B5EF4-FFF2-40B4-BE49-F238E27FC236}">
                <a16:creationId xmlns:a16="http://schemas.microsoft.com/office/drawing/2014/main" id="{C6B9708E-83B2-4075-AAF3-95F3E7054A77}"/>
              </a:ext>
            </a:extLst>
          </p:cNvPr>
          <p:cNvSpPr>
            <a:spLocks noGrp="1"/>
          </p:cNvSpPr>
          <p:nvPr/>
        </p:nvSpPr>
        <p:spPr>
          <a:xfrm>
            <a:off x="552450" y="6457950"/>
            <a:ext cx="11087100" cy="19050"/>
          </a:xfrm>
          <a:prstGeom prst="rect">
            <a:avLst/>
          </a:prstGeom>
          <a:solidFill>
            <a:srgbClr val="D9DEE7"/>
          </a:solidFill>
          <a:ln w="0">
            <a:noFill/>
          </a:ln>
        </p:spPr>
      </p:sp>
      <p:sp>
        <p:nvSpPr>
          <p:cNvPr id="8" name="Rectangle 7">
            <a:extLst>
              <a:ext uri="{FF2B5EF4-FFF2-40B4-BE49-F238E27FC236}">
                <a16:creationId xmlns:a16="http://schemas.microsoft.com/office/drawing/2014/main" id="{A91013A9-2DAB-4EEF-A535-873E96FCBE76}"/>
              </a:ext>
            </a:extLst>
          </p:cNvPr>
          <p:cNvSpPr>
            <a:spLocks noGrp="1"/>
          </p:cNvSpPr>
          <p:nvPr/>
        </p:nvSpPr>
        <p:spPr>
          <a:xfrm>
            <a:off x="552450" y="6543675"/>
            <a:ext cx="3429000" cy="190500"/>
          </a:xfrm>
          <a:prstGeom prst="rect">
            <a:avLst/>
          </a:prstGeom>
          <a:noFill/>
          <a:ln w="0">
            <a:noFill/>
          </a:ln>
        </p:spPr>
        <p:txBody>
          <a:bodyPr anchor="ctr">
            <a:normAutofit fontScale="72222"/>
          </a:bodyPr>
          <a:lstStyle/>
          <a:p>
            <a:pPr algn="l">
              <a:defRPr sz="900" b="0">
                <a:solidFill>
                  <a:srgbClr val="6B788A"/>
                </a:solidFill>
                <a:latin typeface="Arial"/>
                <a:ea typeface="Arial"/>
                <a:cs typeface="Arial"/>
              </a:defRPr>
            </a:pPr>
            <a:r>
              <a:rPr sz="900" b="0">
                <a:solidFill>
                  <a:srgbClr val="6B788A"/>
                </a:solidFill>
                <a:latin typeface="Arial"/>
                <a:ea typeface="Arial"/>
                <a:cs typeface="Arial"/>
              </a:rPr>
              <a:t>BrightPath Primary Learning</a:t>
            </a:r>
          </a:p>
        </p:txBody>
      </p:sp>
      <p:sp>
        <p:nvSpPr>
          <p:cNvPr id="9" name="Rectangle 8">
            <a:extLst>
              <a:ext uri="{FF2B5EF4-FFF2-40B4-BE49-F238E27FC236}">
                <a16:creationId xmlns:a16="http://schemas.microsoft.com/office/drawing/2014/main" id="{B6AC83EF-AE12-4F1E-A37C-8B797D8E92DC}"/>
              </a:ext>
            </a:extLst>
          </p:cNvPr>
          <p:cNvSpPr>
            <a:spLocks noGrp="1"/>
          </p:cNvSpPr>
          <p:nvPr/>
        </p:nvSpPr>
        <p:spPr>
          <a:xfrm>
            <a:off x="8477250" y="6543675"/>
            <a:ext cx="3162300" cy="190500"/>
          </a:xfrm>
          <a:prstGeom prst="rect">
            <a:avLst/>
          </a:prstGeom>
          <a:noFill/>
          <a:ln w="0">
            <a:noFill/>
          </a:ln>
        </p:spPr>
        <p:txBody>
          <a:bodyPr anchor="ctr">
            <a:normAutofit fontScale="72222"/>
          </a:bodyPr>
          <a:lstStyle/>
          <a:p>
            <a:pPr algn="r">
              <a:defRPr sz="900" b="0">
                <a:solidFill>
                  <a:srgbClr val="6B788A"/>
                </a:solidFill>
                <a:latin typeface="Arial"/>
                <a:ea typeface="Arial"/>
                <a:cs typeface="Arial"/>
              </a:defRPr>
            </a:pPr>
            <a:r>
              <a:rPr sz="900" b="0">
                <a:solidFill>
                  <a:srgbClr val="6B788A"/>
                </a:solidFill>
                <a:latin typeface="Arial"/>
                <a:ea typeface="Arial"/>
                <a:cs typeface="Arial"/>
              </a:rPr>
              <a:t>Sort objects into groups</a:t>
            </a:r>
          </a:p>
        </p:txBody>
      </p:sp>
      <p:sp>
        <p:nvSpPr>
          <p:cNvPr id="10" name="Rectangle: Rounded Corners 9">
            <a:extLst>
              <a:ext uri="{FF2B5EF4-FFF2-40B4-BE49-F238E27FC236}">
                <a16:creationId xmlns:a16="http://schemas.microsoft.com/office/drawing/2014/main" id="{F137C4A2-40A0-42FF-8611-7D3DFBF2D33F}"/>
              </a:ext>
            </a:extLst>
          </p:cNvPr>
          <p:cNvSpPr>
            <a:spLocks noGrp="1"/>
          </p:cNvSpPr>
          <p:nvPr/>
        </p:nvSpPr>
        <p:spPr>
          <a:xfrm>
            <a:off x="952500" y="1524000"/>
            <a:ext cx="2762250" cy="819150"/>
          </a:xfrm>
          <a:prstGeom prst="roundRect">
            <a:avLst>
              <a:gd name="adj" fmla="val 9302"/>
            </a:avLst>
          </a:prstGeom>
          <a:solidFill>
            <a:srgbClr val="FFF0E7"/>
          </a:solidFill>
          <a:ln w="19050">
            <a:solidFill>
              <a:srgbClr val="D9DEE7"/>
            </a:solidFill>
          </a:ln>
        </p:spPr>
      </p:sp>
      <p:sp>
        <p:nvSpPr>
          <p:cNvPr id="11" name="Rectangle 10">
            <a:extLst>
              <a:ext uri="{FF2B5EF4-FFF2-40B4-BE49-F238E27FC236}">
                <a16:creationId xmlns:a16="http://schemas.microsoft.com/office/drawing/2014/main" id="{69CFE5B1-BE1F-49D2-A489-C9C70EA1252A}"/>
              </a:ext>
            </a:extLst>
          </p:cNvPr>
          <p:cNvSpPr>
            <a:spLocks noGrp="1"/>
          </p:cNvSpPr>
          <p:nvPr/>
        </p:nvSpPr>
        <p:spPr>
          <a:xfrm>
            <a:off x="1162050" y="1638300"/>
            <a:ext cx="2343150" cy="590550"/>
          </a:xfrm>
          <a:prstGeom prst="rect">
            <a:avLst/>
          </a:prstGeom>
          <a:noFill/>
          <a:ln w="0">
            <a:noFill/>
          </a:ln>
        </p:spPr>
        <p:txBody>
          <a:bodyPr anchor="ctr">
            <a:normAutofit/>
          </a:bodyPr>
          <a:lstStyle/>
          <a:p>
            <a:pPr algn="ctr">
              <a:defRPr sz="1650" b="1">
                <a:solidFill>
                  <a:srgbClr val="17253A"/>
                </a:solidFill>
                <a:latin typeface="Arial"/>
                <a:ea typeface="Arial"/>
                <a:cs typeface="Arial"/>
              </a:defRPr>
            </a:pPr>
            <a:r>
              <a:rPr sz="1650" b="1">
                <a:solidFill>
                  <a:srgbClr val="17253A"/>
                </a:solidFill>
                <a:latin typeface="Arial"/>
                <a:ea typeface="Arial"/>
                <a:cs typeface="Arial"/>
              </a:rPr>
              <a:t>Same colour</a:t>
            </a:r>
          </a:p>
        </p:txBody>
      </p:sp>
      <p:sp>
        <p:nvSpPr>
          <p:cNvPr id="12" name="Rectangle: Rounded Corners 11">
            <a:extLst>
              <a:ext uri="{FF2B5EF4-FFF2-40B4-BE49-F238E27FC236}">
                <a16:creationId xmlns:a16="http://schemas.microsoft.com/office/drawing/2014/main" id="{C7D4CBFD-3939-49CE-8115-6C9454C35914}"/>
              </a:ext>
            </a:extLst>
          </p:cNvPr>
          <p:cNvSpPr>
            <a:spLocks noGrp="1"/>
          </p:cNvSpPr>
          <p:nvPr/>
        </p:nvSpPr>
        <p:spPr>
          <a:xfrm>
            <a:off x="4714875" y="1524000"/>
            <a:ext cx="2762250" cy="819150"/>
          </a:xfrm>
          <a:prstGeom prst="roundRect">
            <a:avLst>
              <a:gd name="adj" fmla="val 9302"/>
            </a:avLst>
          </a:prstGeom>
          <a:solidFill>
            <a:srgbClr val="E9F4FB"/>
          </a:solidFill>
          <a:ln w="19050">
            <a:solidFill>
              <a:srgbClr val="D9DEE7"/>
            </a:solidFill>
          </a:ln>
        </p:spPr>
      </p:sp>
      <p:sp>
        <p:nvSpPr>
          <p:cNvPr id="13" name="Rectangle 12">
            <a:extLst>
              <a:ext uri="{FF2B5EF4-FFF2-40B4-BE49-F238E27FC236}">
                <a16:creationId xmlns:a16="http://schemas.microsoft.com/office/drawing/2014/main" id="{81A1A3BD-6474-4C65-AA9A-E769EF33A36E}"/>
              </a:ext>
            </a:extLst>
          </p:cNvPr>
          <p:cNvSpPr>
            <a:spLocks noGrp="1"/>
          </p:cNvSpPr>
          <p:nvPr/>
        </p:nvSpPr>
        <p:spPr>
          <a:xfrm>
            <a:off x="4924425" y="1638300"/>
            <a:ext cx="2343150" cy="590550"/>
          </a:xfrm>
          <a:prstGeom prst="rect">
            <a:avLst/>
          </a:prstGeom>
          <a:noFill/>
          <a:ln w="0">
            <a:noFill/>
          </a:ln>
        </p:spPr>
        <p:txBody>
          <a:bodyPr anchor="ctr">
            <a:normAutofit/>
          </a:bodyPr>
          <a:lstStyle/>
          <a:p>
            <a:pPr algn="ctr">
              <a:defRPr sz="1650" b="1">
                <a:solidFill>
                  <a:srgbClr val="17253A"/>
                </a:solidFill>
                <a:latin typeface="Arial"/>
                <a:ea typeface="Arial"/>
                <a:cs typeface="Arial"/>
              </a:defRPr>
            </a:pPr>
            <a:r>
              <a:rPr sz="1650" b="1">
                <a:solidFill>
                  <a:srgbClr val="17253A"/>
                </a:solidFill>
                <a:latin typeface="Arial"/>
                <a:ea typeface="Arial"/>
                <a:cs typeface="Arial"/>
              </a:rPr>
              <a:t>Same shape</a:t>
            </a:r>
          </a:p>
        </p:txBody>
      </p:sp>
      <p:sp>
        <p:nvSpPr>
          <p:cNvPr id="14" name="Rectangle: Rounded Corners 13">
            <a:extLst>
              <a:ext uri="{FF2B5EF4-FFF2-40B4-BE49-F238E27FC236}">
                <a16:creationId xmlns:a16="http://schemas.microsoft.com/office/drawing/2014/main" id="{A8EEE375-E9A5-45C3-A2DF-2EC6FB8795BF}"/>
              </a:ext>
            </a:extLst>
          </p:cNvPr>
          <p:cNvSpPr>
            <a:spLocks noGrp="1"/>
          </p:cNvSpPr>
          <p:nvPr/>
        </p:nvSpPr>
        <p:spPr>
          <a:xfrm>
            <a:off x="8477250" y="1524000"/>
            <a:ext cx="2762250" cy="819150"/>
          </a:xfrm>
          <a:prstGeom prst="roundRect">
            <a:avLst>
              <a:gd name="adj" fmla="val 9302"/>
            </a:avLst>
          </a:prstGeom>
          <a:solidFill>
            <a:srgbClr val="F3ECFA"/>
          </a:solidFill>
          <a:ln w="19050">
            <a:solidFill>
              <a:srgbClr val="D9DEE7"/>
            </a:solidFill>
          </a:ln>
        </p:spPr>
      </p:sp>
      <p:sp>
        <p:nvSpPr>
          <p:cNvPr id="15" name="Rectangle 14">
            <a:extLst>
              <a:ext uri="{FF2B5EF4-FFF2-40B4-BE49-F238E27FC236}">
                <a16:creationId xmlns:a16="http://schemas.microsoft.com/office/drawing/2014/main" id="{ED82A192-EBB9-4E80-AF61-6DFB0757DAF8}"/>
              </a:ext>
            </a:extLst>
          </p:cNvPr>
          <p:cNvSpPr>
            <a:spLocks noGrp="1"/>
          </p:cNvSpPr>
          <p:nvPr/>
        </p:nvSpPr>
        <p:spPr>
          <a:xfrm>
            <a:off x="8686800" y="1638300"/>
            <a:ext cx="2343150" cy="590550"/>
          </a:xfrm>
          <a:prstGeom prst="rect">
            <a:avLst/>
          </a:prstGeom>
          <a:noFill/>
          <a:ln w="0">
            <a:noFill/>
          </a:ln>
        </p:spPr>
        <p:txBody>
          <a:bodyPr anchor="ctr">
            <a:normAutofit/>
          </a:bodyPr>
          <a:lstStyle/>
          <a:p>
            <a:pPr algn="ctr">
              <a:defRPr sz="1650" b="1">
                <a:solidFill>
                  <a:srgbClr val="17253A"/>
                </a:solidFill>
                <a:latin typeface="Arial"/>
                <a:ea typeface="Arial"/>
                <a:cs typeface="Arial"/>
              </a:defRPr>
            </a:pPr>
            <a:r>
              <a:rPr sz="1650" b="1">
                <a:solidFill>
                  <a:srgbClr val="17253A"/>
                </a:solidFill>
                <a:latin typeface="Arial"/>
                <a:ea typeface="Arial"/>
                <a:cs typeface="Arial"/>
              </a:rPr>
              <a:t>Different size or type</a:t>
            </a:r>
          </a:p>
        </p:txBody>
      </p:sp>
      <p:sp>
        <p:nvSpPr>
          <p:cNvPr id="16" name="Rectangle 15">
            <a:extLst>
              <a:ext uri="{FF2B5EF4-FFF2-40B4-BE49-F238E27FC236}">
                <a16:creationId xmlns:a16="http://schemas.microsoft.com/office/drawing/2014/main" id="{6C6E48F1-A856-4B23-AC31-C46F79C98AB1}"/>
              </a:ext>
            </a:extLst>
          </p:cNvPr>
          <p:cNvSpPr>
            <a:spLocks noGrp="1"/>
          </p:cNvSpPr>
          <p:nvPr/>
        </p:nvSpPr>
        <p:spPr>
          <a:xfrm>
            <a:off x="952500" y="2857500"/>
            <a:ext cx="10287000" cy="533400"/>
          </a:xfrm>
          <a:prstGeom prst="rect">
            <a:avLst/>
          </a:prstGeom>
          <a:noFill/>
          <a:ln w="0">
            <a:noFill/>
          </a:ln>
        </p:spPr>
        <p:txBody>
          <a:bodyPr anchor="ctr">
            <a:normAutofit/>
          </a:bodyPr>
          <a:lstStyle/>
          <a:p>
            <a:pPr algn="ctr">
              <a:defRPr sz="2325" b="1">
                <a:solidFill>
                  <a:srgbClr val="17253A"/>
                </a:solidFill>
                <a:latin typeface="Arial"/>
                <a:ea typeface="Arial"/>
                <a:cs typeface="Arial"/>
              </a:defRPr>
            </a:pPr>
            <a:r>
              <a:rPr sz="2325" b="1">
                <a:solidFill>
                  <a:srgbClr val="17253A"/>
                </a:solidFill>
                <a:latin typeface="Arial"/>
                <a:ea typeface="Arial"/>
                <a:cs typeface="Arial"/>
              </a:rPr>
              <a:t>An object can have more than one property.</a:t>
            </a:r>
          </a:p>
        </p:txBody>
      </p:sp>
      <p:sp>
        <p:nvSpPr>
          <p:cNvPr id="17" name="Rectangle: Rounded Corners 16">
            <a:extLst>
              <a:ext uri="{FF2B5EF4-FFF2-40B4-BE49-F238E27FC236}">
                <a16:creationId xmlns:a16="http://schemas.microsoft.com/office/drawing/2014/main" id="{AED15E59-5F5F-4A2E-A8B0-CAD250EFFF57}"/>
              </a:ext>
            </a:extLst>
          </p:cNvPr>
          <p:cNvSpPr>
            <a:spLocks noGrp="1"/>
          </p:cNvSpPr>
          <p:nvPr/>
        </p:nvSpPr>
        <p:spPr>
          <a:xfrm>
            <a:off x="1733550" y="3790950"/>
            <a:ext cx="8724900" cy="1257300"/>
          </a:xfrm>
          <a:prstGeom prst="roundRect">
            <a:avLst>
              <a:gd name="adj" fmla="val 6061"/>
            </a:avLst>
          </a:prstGeom>
          <a:solidFill>
            <a:srgbClr val="FFFFFF"/>
          </a:solidFill>
          <a:ln w="19050">
            <a:solidFill>
              <a:srgbClr val="D9DEE7"/>
            </a:solidFill>
          </a:ln>
        </p:spPr>
      </p:sp>
      <p:sp>
        <p:nvSpPr>
          <p:cNvPr id="18" name="Rectangle 17">
            <a:extLst>
              <a:ext uri="{FF2B5EF4-FFF2-40B4-BE49-F238E27FC236}">
                <a16:creationId xmlns:a16="http://schemas.microsoft.com/office/drawing/2014/main" id="{F974E7C9-FEC6-40FA-8CCB-E78DED5E8124}"/>
              </a:ext>
            </a:extLst>
          </p:cNvPr>
          <p:cNvSpPr>
            <a:spLocks noGrp="1"/>
          </p:cNvSpPr>
          <p:nvPr/>
        </p:nvSpPr>
        <p:spPr>
          <a:xfrm>
            <a:off x="2095500" y="4000500"/>
            <a:ext cx="8001000" cy="838200"/>
          </a:xfrm>
          <a:prstGeom prst="rect">
            <a:avLst/>
          </a:prstGeom>
          <a:noFill/>
          <a:ln w="0">
            <a:noFill/>
          </a:ln>
        </p:spPr>
        <p:txBody>
          <a:bodyPr anchor="ctr">
            <a:normAutofit/>
          </a:bodyPr>
          <a:lstStyle/>
          <a:p>
            <a:pPr algn="ctr">
              <a:defRPr sz="1950" b="0">
                <a:solidFill>
                  <a:srgbClr val="40516A"/>
                </a:solidFill>
                <a:latin typeface="Arial"/>
                <a:ea typeface="Arial"/>
                <a:cs typeface="Arial"/>
              </a:defRPr>
            </a:pPr>
            <a:r>
              <a:rPr sz="1950" b="0">
                <a:solidFill>
                  <a:srgbClr val="40516A"/>
                </a:solidFill>
                <a:latin typeface="Arial"/>
                <a:ea typeface="Arial"/>
                <a:cs typeface="Arial"/>
              </a:rPr>
              <a:t>A property is something we can notice about an object — for example its colour, shape, size or type.</a:t>
            </a:r>
          </a:p>
        </p:txBody>
      </p:sp>
      <p:sp>
        <p:nvSpPr>
          <p:cNvPr id="19" name="Rectangle 18">
            <a:extLst>
              <a:ext uri="{FF2B5EF4-FFF2-40B4-BE49-F238E27FC236}">
                <a16:creationId xmlns:a16="http://schemas.microsoft.com/office/drawing/2014/main" id="{341DCF7A-59AA-46F0-B649-0D598A035C0E}"/>
              </a:ext>
            </a:extLst>
          </p:cNvPr>
          <p:cNvSpPr>
            <a:spLocks noGrp="1"/>
          </p:cNvSpPr>
          <p:nvPr/>
        </p:nvSpPr>
        <p:spPr>
          <a:xfrm>
            <a:off x="2476500" y="5524500"/>
            <a:ext cx="7239000" cy="323850"/>
          </a:xfrm>
          <a:prstGeom prst="rect">
            <a:avLst/>
          </a:prstGeom>
          <a:noFill/>
          <a:ln w="0">
            <a:noFill/>
          </a:ln>
        </p:spPr>
        <p:txBody>
          <a:bodyPr anchor="ctr">
            <a:normAutofit/>
          </a:bodyPr>
          <a:lstStyle/>
          <a:p>
            <a:pPr algn="ctr">
              <a:defRPr sz="1350" b="1">
                <a:solidFill>
                  <a:srgbClr val="B4232B"/>
                </a:solidFill>
                <a:latin typeface="Arial"/>
                <a:ea typeface="Arial"/>
                <a:cs typeface="Arial"/>
              </a:defRPr>
            </a:pPr>
            <a:r>
              <a:rPr sz="1350" b="1">
                <a:solidFill>
                  <a:srgbClr val="B4232B"/>
                </a:solidFill>
                <a:latin typeface="Arial"/>
                <a:ea typeface="Arial"/>
                <a:cs typeface="Arial"/>
              </a:rPr>
              <a:t>Teacher check: ask three pupils to give one property each.</a:t>
            </a:r>
          </a:p>
        </p:txBody>
      </p:sp>
    </p:spTree>
    <p:extLst>
      <p:ext uri="{BB962C8B-B14F-4D97-AF65-F5344CB8AC3E}">
        <p14:creationId xmlns:p14="http://schemas.microsoft.com/office/powerpoint/2010/main" val="19019175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7EA"/>
        </a:solidFill>
        <a:effectLst/>
      </p:bgPr>
    </p:bg>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ABE00E57-7A06-4A4F-BC8A-93009FDB5769}"/>
              </a:ext>
            </a:extLst>
          </p:cNvPr>
          <p:cNvSpPr>
            <a:spLocks noGrp="1"/>
          </p:cNvSpPr>
          <p:nvPr/>
        </p:nvSpPr>
        <p:spPr>
          <a:xfrm>
            <a:off x="0" y="0"/>
            <a:ext cx="12192000" cy="171450"/>
          </a:xfrm>
          <a:prstGeom prst="rect">
            <a:avLst/>
          </a:prstGeom>
          <a:solidFill>
            <a:srgbClr val="B4232B"/>
          </a:solidFill>
          <a:ln w="0">
            <a:noFill/>
          </a:ln>
        </p:spPr>
      </p:sp>
      <p:sp>
        <p:nvSpPr>
          <p:cNvPr id="2" name="Rectangle 1">
            <a:extLst>
              <a:ext uri="{FF2B5EF4-FFF2-40B4-BE49-F238E27FC236}">
                <a16:creationId xmlns:a16="http://schemas.microsoft.com/office/drawing/2014/main" id="{FB173CC0-3E45-465A-9B06-DA32E57B409E}"/>
              </a:ext>
            </a:extLst>
          </p:cNvPr>
          <p:cNvSpPr>
            <a:spLocks noGrp="1"/>
          </p:cNvSpPr>
          <p:nvPr/>
        </p:nvSpPr>
        <p:spPr>
          <a:xfrm>
            <a:off x="552450" y="285750"/>
            <a:ext cx="6858000" cy="266700"/>
          </a:xfrm>
          <a:prstGeom prst="rect">
            <a:avLst/>
          </a:prstGeom>
          <a:noFill/>
          <a:ln w="0">
            <a:noFill/>
          </a:ln>
        </p:spPr>
        <p:txBody>
          <a:bodyPr anchor="ctr">
            <a:normAutofit/>
          </a:bodyPr>
          <a:lstStyle/>
          <a:p>
            <a:pPr algn="l">
              <a:defRPr sz="1050" b="1">
                <a:solidFill>
                  <a:srgbClr val="B4232B"/>
                </a:solidFill>
                <a:latin typeface="Arial"/>
                <a:ea typeface="Arial"/>
                <a:cs typeface="Arial"/>
              </a:defRPr>
            </a:pPr>
            <a:r>
              <a:rPr sz="1050" b="1">
                <a:solidFill>
                  <a:srgbClr val="B4232B"/>
                </a:solidFill>
                <a:latin typeface="Arial"/>
                <a:ea typeface="Arial"/>
                <a:cs typeface="Arial"/>
              </a:rPr>
              <a:t>YEAR 1 MATHS  •  AUTUMN  •  WEEK 1  •  DAY 1</a:t>
            </a:r>
          </a:p>
        </p:txBody>
      </p:sp>
      <p:sp>
        <p:nvSpPr>
          <p:cNvPr id="3" name="Rectangle: Rounded Corners 2">
            <a:extLst>
              <a:ext uri="{FF2B5EF4-FFF2-40B4-BE49-F238E27FC236}">
                <a16:creationId xmlns:a16="http://schemas.microsoft.com/office/drawing/2014/main" id="{D311BA02-0E1C-4475-9322-5ECBB0C2D82A}"/>
              </a:ext>
            </a:extLst>
          </p:cNvPr>
          <p:cNvSpPr>
            <a:spLocks noGrp="1"/>
          </p:cNvSpPr>
          <p:nvPr/>
        </p:nvSpPr>
        <p:spPr>
          <a:xfrm>
            <a:off x="552450" y="685800"/>
            <a:ext cx="1238250" cy="323850"/>
          </a:xfrm>
          <a:prstGeom prst="roundRect">
            <a:avLst>
              <a:gd name="adj" fmla="val 23529"/>
            </a:avLst>
          </a:prstGeom>
          <a:solidFill>
            <a:srgbClr val="B4232B"/>
          </a:solidFill>
          <a:ln w="0">
            <a:noFill/>
          </a:ln>
        </p:spPr>
      </p:sp>
      <p:sp>
        <p:nvSpPr>
          <p:cNvPr id="4" name="Rectangle 3">
            <a:extLst>
              <a:ext uri="{FF2B5EF4-FFF2-40B4-BE49-F238E27FC236}">
                <a16:creationId xmlns:a16="http://schemas.microsoft.com/office/drawing/2014/main" id="{AB012F23-4E42-4DA9-901F-2050184D9AAE}"/>
              </a:ext>
            </a:extLst>
          </p:cNvPr>
          <p:cNvSpPr>
            <a:spLocks noGrp="1"/>
          </p:cNvSpPr>
          <p:nvPr/>
        </p:nvSpPr>
        <p:spPr>
          <a:xfrm>
            <a:off x="590550" y="704850"/>
            <a:ext cx="1162050" cy="266700"/>
          </a:xfrm>
          <a:prstGeom prst="rect">
            <a:avLst/>
          </a:prstGeom>
          <a:noFill/>
          <a:ln w="0">
            <a:noFill/>
          </a:ln>
        </p:spPr>
        <p:txBody>
          <a:bodyPr anchor="ctr">
            <a:normAutofit/>
          </a:bodyPr>
          <a:lstStyle/>
          <a:p>
            <a:pPr algn="ctr">
              <a:defRPr sz="750" b="1">
                <a:solidFill>
                  <a:srgbClr val="FFFFFF"/>
                </a:solidFill>
                <a:latin typeface="Arial"/>
                <a:ea typeface="Arial"/>
                <a:cs typeface="Arial"/>
              </a:defRPr>
            </a:pPr>
            <a:r>
              <a:rPr sz="750" b="1">
                <a:solidFill>
                  <a:srgbClr val="FFFFFF"/>
                </a:solidFill>
                <a:latin typeface="Arial"/>
                <a:ea typeface="Arial"/>
                <a:cs typeface="Arial"/>
              </a:rPr>
              <a:t>VOCABULARY</a:t>
            </a:r>
          </a:p>
        </p:txBody>
      </p:sp>
      <p:sp>
        <p:nvSpPr>
          <p:cNvPr id="5" name="Rectangle 4">
            <a:extLst>
              <a:ext uri="{FF2B5EF4-FFF2-40B4-BE49-F238E27FC236}">
                <a16:creationId xmlns:a16="http://schemas.microsoft.com/office/drawing/2014/main" id="{DEE18004-13E5-4FEA-943B-0C7CD94904AF}"/>
              </a:ext>
            </a:extLst>
          </p:cNvPr>
          <p:cNvSpPr>
            <a:spLocks noGrp="1"/>
          </p:cNvSpPr>
          <p:nvPr/>
        </p:nvSpPr>
        <p:spPr>
          <a:xfrm>
            <a:off x="1962150" y="590550"/>
            <a:ext cx="8496300" cy="552450"/>
          </a:xfrm>
          <a:prstGeom prst="rect">
            <a:avLst/>
          </a:prstGeom>
          <a:noFill/>
          <a:ln w="0">
            <a:noFill/>
          </a:ln>
        </p:spPr>
        <p:txBody>
          <a:bodyPr anchor="ctr">
            <a:normAutofit/>
          </a:bodyPr>
          <a:lstStyle/>
          <a:p>
            <a:pPr algn="l">
              <a:defRPr sz="2625" b="1">
                <a:solidFill>
                  <a:srgbClr val="17253A"/>
                </a:solidFill>
                <a:latin typeface="Arial"/>
                <a:ea typeface="Arial"/>
                <a:cs typeface="Arial"/>
              </a:defRPr>
            </a:pPr>
            <a:r>
              <a:rPr sz="2625" b="1">
                <a:solidFill>
                  <a:srgbClr val="17253A"/>
                </a:solidFill>
                <a:latin typeface="Arial"/>
                <a:ea typeface="Arial"/>
                <a:cs typeface="Arial"/>
              </a:rPr>
              <a:t>Words we will use</a:t>
            </a:r>
          </a:p>
        </p:txBody>
      </p:sp>
      <p:sp>
        <p:nvSpPr>
          <p:cNvPr id="6" name="Rectangle 5">
            <a:extLst>
              <a:ext uri="{FF2B5EF4-FFF2-40B4-BE49-F238E27FC236}">
                <a16:creationId xmlns:a16="http://schemas.microsoft.com/office/drawing/2014/main" id="{376E62FB-61F0-469D-8029-0E2477FF6CB3}"/>
              </a:ext>
            </a:extLst>
          </p:cNvPr>
          <p:cNvSpPr>
            <a:spLocks noGrp="1"/>
          </p:cNvSpPr>
          <p:nvPr/>
        </p:nvSpPr>
        <p:spPr>
          <a:xfrm>
            <a:off x="10668000" y="400050"/>
            <a:ext cx="952500" cy="228600"/>
          </a:xfrm>
          <a:prstGeom prst="rect">
            <a:avLst/>
          </a:prstGeom>
          <a:noFill/>
          <a:ln w="0">
            <a:noFill/>
          </a:ln>
        </p:spPr>
        <p:txBody>
          <a:bodyPr anchor="ctr">
            <a:normAutofit fontScale="92308"/>
          </a:bodyPr>
          <a:lstStyle/>
          <a:p>
            <a:pPr algn="r">
              <a:defRPr sz="975" b="1">
                <a:solidFill>
                  <a:srgbClr val="6B788A"/>
                </a:solidFill>
                <a:latin typeface="Arial"/>
                <a:ea typeface="Arial"/>
                <a:cs typeface="Arial"/>
              </a:defRPr>
            </a:pPr>
            <a:r>
              <a:rPr sz="975" b="1">
                <a:solidFill>
                  <a:srgbClr val="6B788A"/>
                </a:solidFill>
                <a:latin typeface="Arial"/>
                <a:ea typeface="Arial"/>
                <a:cs typeface="Arial"/>
              </a:rPr>
              <a:t>5 / 15</a:t>
            </a:r>
          </a:p>
        </p:txBody>
      </p:sp>
      <p:sp>
        <p:nvSpPr>
          <p:cNvPr id="7" name="Rectangle 6">
            <a:extLst>
              <a:ext uri="{FF2B5EF4-FFF2-40B4-BE49-F238E27FC236}">
                <a16:creationId xmlns:a16="http://schemas.microsoft.com/office/drawing/2014/main" id="{24949374-AE59-41E6-9162-7CAF8E7102FC}"/>
              </a:ext>
            </a:extLst>
          </p:cNvPr>
          <p:cNvSpPr>
            <a:spLocks noGrp="1"/>
          </p:cNvSpPr>
          <p:nvPr/>
        </p:nvSpPr>
        <p:spPr>
          <a:xfrm>
            <a:off x="552450" y="6457950"/>
            <a:ext cx="11087100" cy="19050"/>
          </a:xfrm>
          <a:prstGeom prst="rect">
            <a:avLst/>
          </a:prstGeom>
          <a:solidFill>
            <a:srgbClr val="D9DEE7"/>
          </a:solidFill>
          <a:ln w="0">
            <a:noFill/>
          </a:ln>
        </p:spPr>
      </p:sp>
      <p:sp>
        <p:nvSpPr>
          <p:cNvPr id="8" name="Rectangle 7">
            <a:extLst>
              <a:ext uri="{FF2B5EF4-FFF2-40B4-BE49-F238E27FC236}">
                <a16:creationId xmlns:a16="http://schemas.microsoft.com/office/drawing/2014/main" id="{1DD84806-163B-4A8A-A61B-4B2B93BEC3C1}"/>
              </a:ext>
            </a:extLst>
          </p:cNvPr>
          <p:cNvSpPr>
            <a:spLocks noGrp="1"/>
          </p:cNvSpPr>
          <p:nvPr/>
        </p:nvSpPr>
        <p:spPr>
          <a:xfrm>
            <a:off x="552450" y="6543675"/>
            <a:ext cx="3429000" cy="190500"/>
          </a:xfrm>
          <a:prstGeom prst="rect">
            <a:avLst/>
          </a:prstGeom>
          <a:noFill/>
          <a:ln w="0">
            <a:noFill/>
          </a:ln>
        </p:spPr>
        <p:txBody>
          <a:bodyPr anchor="ctr">
            <a:normAutofit fontScale="72222"/>
          </a:bodyPr>
          <a:lstStyle/>
          <a:p>
            <a:pPr algn="l">
              <a:defRPr sz="900" b="0">
                <a:solidFill>
                  <a:srgbClr val="6B788A"/>
                </a:solidFill>
                <a:latin typeface="Arial"/>
                <a:ea typeface="Arial"/>
                <a:cs typeface="Arial"/>
              </a:defRPr>
            </a:pPr>
            <a:r>
              <a:rPr sz="900" b="0">
                <a:solidFill>
                  <a:srgbClr val="6B788A"/>
                </a:solidFill>
                <a:latin typeface="Arial"/>
                <a:ea typeface="Arial"/>
                <a:cs typeface="Arial"/>
              </a:rPr>
              <a:t>BrightPath Primary Learning</a:t>
            </a:r>
          </a:p>
        </p:txBody>
      </p:sp>
      <p:sp>
        <p:nvSpPr>
          <p:cNvPr id="9" name="Rectangle 8">
            <a:extLst>
              <a:ext uri="{FF2B5EF4-FFF2-40B4-BE49-F238E27FC236}">
                <a16:creationId xmlns:a16="http://schemas.microsoft.com/office/drawing/2014/main" id="{3B7AC3DD-F49B-4112-B50C-82FD32B10F67}"/>
              </a:ext>
            </a:extLst>
          </p:cNvPr>
          <p:cNvSpPr>
            <a:spLocks noGrp="1"/>
          </p:cNvSpPr>
          <p:nvPr/>
        </p:nvSpPr>
        <p:spPr>
          <a:xfrm>
            <a:off x="8477250" y="6543675"/>
            <a:ext cx="3162300" cy="190500"/>
          </a:xfrm>
          <a:prstGeom prst="rect">
            <a:avLst/>
          </a:prstGeom>
          <a:noFill/>
          <a:ln w="0">
            <a:noFill/>
          </a:ln>
        </p:spPr>
        <p:txBody>
          <a:bodyPr anchor="ctr">
            <a:normAutofit fontScale="72222"/>
          </a:bodyPr>
          <a:lstStyle/>
          <a:p>
            <a:pPr algn="r">
              <a:defRPr sz="900" b="0">
                <a:solidFill>
                  <a:srgbClr val="6B788A"/>
                </a:solidFill>
                <a:latin typeface="Arial"/>
                <a:ea typeface="Arial"/>
                <a:cs typeface="Arial"/>
              </a:defRPr>
            </a:pPr>
            <a:r>
              <a:rPr sz="900" b="0">
                <a:solidFill>
                  <a:srgbClr val="6B788A"/>
                </a:solidFill>
                <a:latin typeface="Arial"/>
                <a:ea typeface="Arial"/>
                <a:cs typeface="Arial"/>
              </a:rPr>
              <a:t>Sort objects into groups</a:t>
            </a:r>
          </a:p>
        </p:txBody>
      </p:sp>
      <p:pic>
        <p:nvPicPr>
          <p:cNvPr id="40" name="Picture 39"/>
          <p:cNvPicPr>
            <a:picLocks noChangeAspect="1"/>
          </p:cNvPicPr>
          <p:nvPr/>
        </p:nvPicPr>
        <p:blipFill>
          <a:blip r:embed="rId3"/>
          <a:stretch/>
        </p:blipFill>
        <p:spPr>
          <a:xfrm>
            <a:off x="571500" y="1885950"/>
            <a:ext cx="3048000" cy="3657600"/>
          </a:xfrm>
          <a:prstGeom prst="rect">
            <a:avLst/>
          </a:prstGeom>
        </p:spPr>
      </p:pic>
      <p:sp>
        <p:nvSpPr>
          <p:cNvPr id="11" name="Rectangle: Rounded Corners 10">
            <a:extLst>
              <a:ext uri="{FF2B5EF4-FFF2-40B4-BE49-F238E27FC236}">
                <a16:creationId xmlns:a16="http://schemas.microsoft.com/office/drawing/2014/main" id="{E5FA1DF7-3A58-4F49-80CF-4C4F8C8BE603}"/>
              </a:ext>
            </a:extLst>
          </p:cNvPr>
          <p:cNvSpPr>
            <a:spLocks noGrp="1"/>
          </p:cNvSpPr>
          <p:nvPr/>
        </p:nvSpPr>
        <p:spPr>
          <a:xfrm>
            <a:off x="3333750" y="1476375"/>
            <a:ext cx="7810500" cy="895350"/>
          </a:xfrm>
          <a:prstGeom prst="roundRect">
            <a:avLst>
              <a:gd name="adj" fmla="val 8511"/>
            </a:avLst>
          </a:prstGeom>
          <a:solidFill>
            <a:srgbClr val="FFFFFF"/>
          </a:solidFill>
          <a:ln w="19050">
            <a:solidFill>
              <a:srgbClr val="D9DEE7"/>
            </a:solidFill>
          </a:ln>
        </p:spPr>
      </p:sp>
      <p:sp>
        <p:nvSpPr>
          <p:cNvPr id="12" name="Rectangle 11">
            <a:extLst>
              <a:ext uri="{FF2B5EF4-FFF2-40B4-BE49-F238E27FC236}">
                <a16:creationId xmlns:a16="http://schemas.microsoft.com/office/drawing/2014/main" id="{645B4CA9-F939-46F3-B414-869195D7653F}"/>
              </a:ext>
            </a:extLst>
          </p:cNvPr>
          <p:cNvSpPr>
            <a:spLocks noGrp="1"/>
          </p:cNvSpPr>
          <p:nvPr/>
        </p:nvSpPr>
        <p:spPr>
          <a:xfrm>
            <a:off x="3543300" y="1590675"/>
            <a:ext cx="7391400" cy="666750"/>
          </a:xfrm>
          <a:prstGeom prst="rect">
            <a:avLst/>
          </a:prstGeom>
          <a:noFill/>
          <a:ln w="0">
            <a:noFill/>
          </a:ln>
        </p:spPr>
        <p:txBody>
          <a:bodyPr anchor="ctr">
            <a:normAutofit/>
          </a:bodyPr>
          <a:lstStyle/>
          <a:p>
            <a:pPr algn="ctr">
              <a:defRPr sz="1650" b="1">
                <a:solidFill>
                  <a:srgbClr val="17253A"/>
                </a:solidFill>
                <a:latin typeface="Arial"/>
                <a:ea typeface="Arial"/>
                <a:cs typeface="Arial"/>
              </a:defRPr>
            </a:pPr>
            <a:r>
              <a:rPr sz="1650" b="1">
                <a:solidFill>
                  <a:srgbClr val="17253A"/>
                </a:solidFill>
                <a:latin typeface="Arial"/>
                <a:ea typeface="Arial"/>
                <a:cs typeface="Arial"/>
              </a:rPr>
              <a:t>I’m Pip. Sometimes I sort things wrongly. Can you spot my mistakes?</a:t>
            </a:r>
          </a:p>
        </p:txBody>
      </p:sp>
      <p:sp>
        <p:nvSpPr>
          <p:cNvPr id="13" name="Rectangle: Rounded Corners 12">
            <a:extLst>
              <a:ext uri="{FF2B5EF4-FFF2-40B4-BE49-F238E27FC236}">
                <a16:creationId xmlns:a16="http://schemas.microsoft.com/office/drawing/2014/main" id="{0B8BBAA6-A79D-4172-9E2C-36151FB5FB05}"/>
              </a:ext>
            </a:extLst>
          </p:cNvPr>
          <p:cNvSpPr>
            <a:spLocks noGrp="1"/>
          </p:cNvSpPr>
          <p:nvPr/>
        </p:nvSpPr>
        <p:spPr>
          <a:xfrm>
            <a:off x="3714750" y="2762250"/>
            <a:ext cx="1428750" cy="361950"/>
          </a:xfrm>
          <a:prstGeom prst="roundRect">
            <a:avLst>
              <a:gd name="adj" fmla="val 21053"/>
            </a:avLst>
          </a:prstGeom>
          <a:solidFill>
            <a:srgbClr val="FFF0E7"/>
          </a:solidFill>
          <a:ln w="0">
            <a:noFill/>
          </a:ln>
        </p:spPr>
      </p:sp>
      <p:sp>
        <p:nvSpPr>
          <p:cNvPr id="14" name="Rectangle 13">
            <a:extLst>
              <a:ext uri="{FF2B5EF4-FFF2-40B4-BE49-F238E27FC236}">
                <a16:creationId xmlns:a16="http://schemas.microsoft.com/office/drawing/2014/main" id="{9C6A359F-03A3-4B3C-BB99-AFAAD4E78C11}"/>
              </a:ext>
            </a:extLst>
          </p:cNvPr>
          <p:cNvSpPr>
            <a:spLocks noGrp="1"/>
          </p:cNvSpPr>
          <p:nvPr/>
        </p:nvSpPr>
        <p:spPr>
          <a:xfrm>
            <a:off x="3810000" y="2790825"/>
            <a:ext cx="1238250" cy="295275"/>
          </a:xfrm>
          <a:prstGeom prst="rect">
            <a:avLst/>
          </a:prstGeom>
          <a:noFill/>
          <a:ln w="0">
            <a:noFill/>
          </a:ln>
        </p:spPr>
        <p:txBody>
          <a:bodyPr anchor="ctr">
            <a:normAutofit/>
          </a:bodyPr>
          <a:lstStyle/>
          <a:p>
            <a:pPr algn="ctr">
              <a:defRPr sz="1125" b="1">
                <a:solidFill>
                  <a:srgbClr val="B4232B"/>
                </a:solidFill>
                <a:latin typeface="Arial"/>
                <a:ea typeface="Arial"/>
                <a:cs typeface="Arial"/>
              </a:defRPr>
            </a:pPr>
            <a:r>
              <a:rPr sz="1125" b="1">
                <a:solidFill>
                  <a:srgbClr val="B4232B"/>
                </a:solidFill>
                <a:latin typeface="Arial"/>
                <a:ea typeface="Arial"/>
                <a:cs typeface="Arial"/>
              </a:rPr>
              <a:t>SORT</a:t>
            </a:r>
          </a:p>
        </p:txBody>
      </p:sp>
      <p:sp>
        <p:nvSpPr>
          <p:cNvPr id="15" name="Rectangle 14">
            <a:extLst>
              <a:ext uri="{FF2B5EF4-FFF2-40B4-BE49-F238E27FC236}">
                <a16:creationId xmlns:a16="http://schemas.microsoft.com/office/drawing/2014/main" id="{19C6BBA6-F225-470E-99E1-E477661B2AD7}"/>
              </a:ext>
            </a:extLst>
          </p:cNvPr>
          <p:cNvSpPr>
            <a:spLocks noGrp="1"/>
          </p:cNvSpPr>
          <p:nvPr/>
        </p:nvSpPr>
        <p:spPr>
          <a:xfrm>
            <a:off x="5286375" y="2762250"/>
            <a:ext cx="2095500" cy="361950"/>
          </a:xfrm>
          <a:prstGeom prst="rect">
            <a:avLst/>
          </a:prstGeom>
          <a:noFill/>
          <a:ln w="0">
            <a:noFill/>
          </a:ln>
        </p:spPr>
        <p:txBody>
          <a:bodyPr anchor="ctr">
            <a:normAutofit/>
          </a:bodyPr>
          <a:lstStyle/>
          <a:p>
            <a:pPr algn="l">
              <a:defRPr sz="1350" b="0">
                <a:solidFill>
                  <a:srgbClr val="40516A"/>
                </a:solidFill>
                <a:latin typeface="Arial"/>
                <a:ea typeface="Arial"/>
                <a:cs typeface="Arial"/>
              </a:defRPr>
            </a:pPr>
            <a:r>
              <a:rPr sz="1350" b="0">
                <a:solidFill>
                  <a:srgbClr val="40516A"/>
                </a:solidFill>
                <a:latin typeface="Arial"/>
                <a:ea typeface="Arial"/>
                <a:cs typeface="Arial"/>
              </a:rPr>
              <a:t>put things into groups</a:t>
            </a:r>
          </a:p>
        </p:txBody>
      </p:sp>
      <p:sp>
        <p:nvSpPr>
          <p:cNvPr id="16" name="Rectangle: Rounded Corners 15">
            <a:extLst>
              <a:ext uri="{FF2B5EF4-FFF2-40B4-BE49-F238E27FC236}">
                <a16:creationId xmlns:a16="http://schemas.microsoft.com/office/drawing/2014/main" id="{C7025410-EFDC-4869-A4FC-C2BD932D227D}"/>
              </a:ext>
            </a:extLst>
          </p:cNvPr>
          <p:cNvSpPr>
            <a:spLocks noGrp="1"/>
          </p:cNvSpPr>
          <p:nvPr/>
        </p:nvSpPr>
        <p:spPr>
          <a:xfrm>
            <a:off x="7524750" y="2762250"/>
            <a:ext cx="1428750" cy="361950"/>
          </a:xfrm>
          <a:prstGeom prst="roundRect">
            <a:avLst>
              <a:gd name="adj" fmla="val 21053"/>
            </a:avLst>
          </a:prstGeom>
          <a:solidFill>
            <a:srgbClr val="E9F4FB"/>
          </a:solidFill>
          <a:ln w="0">
            <a:noFill/>
          </a:ln>
        </p:spPr>
      </p:sp>
      <p:sp>
        <p:nvSpPr>
          <p:cNvPr id="17" name="Rectangle 16">
            <a:extLst>
              <a:ext uri="{FF2B5EF4-FFF2-40B4-BE49-F238E27FC236}">
                <a16:creationId xmlns:a16="http://schemas.microsoft.com/office/drawing/2014/main" id="{76AA9853-1CD4-41B9-9C57-6AC716FB816A}"/>
              </a:ext>
            </a:extLst>
          </p:cNvPr>
          <p:cNvSpPr>
            <a:spLocks noGrp="1"/>
          </p:cNvSpPr>
          <p:nvPr/>
        </p:nvSpPr>
        <p:spPr>
          <a:xfrm>
            <a:off x="7620000" y="2790825"/>
            <a:ext cx="1238250" cy="295275"/>
          </a:xfrm>
          <a:prstGeom prst="rect">
            <a:avLst/>
          </a:prstGeom>
          <a:noFill/>
          <a:ln w="0">
            <a:noFill/>
          </a:ln>
        </p:spPr>
        <p:txBody>
          <a:bodyPr anchor="ctr">
            <a:normAutofit/>
          </a:bodyPr>
          <a:lstStyle/>
          <a:p>
            <a:pPr algn="ctr">
              <a:defRPr sz="1125" b="1">
                <a:solidFill>
                  <a:srgbClr val="3F7DC0"/>
                </a:solidFill>
                <a:latin typeface="Arial"/>
                <a:ea typeface="Arial"/>
                <a:cs typeface="Arial"/>
              </a:defRPr>
            </a:pPr>
            <a:r>
              <a:rPr sz="1125" b="1">
                <a:solidFill>
                  <a:srgbClr val="3F7DC0"/>
                </a:solidFill>
                <a:latin typeface="Arial"/>
                <a:ea typeface="Arial"/>
                <a:cs typeface="Arial"/>
              </a:rPr>
              <a:t>GROUP</a:t>
            </a:r>
          </a:p>
        </p:txBody>
      </p:sp>
      <p:sp>
        <p:nvSpPr>
          <p:cNvPr id="18" name="Rectangle 17">
            <a:extLst>
              <a:ext uri="{FF2B5EF4-FFF2-40B4-BE49-F238E27FC236}">
                <a16:creationId xmlns:a16="http://schemas.microsoft.com/office/drawing/2014/main" id="{F557CE10-8FB4-49F8-BBEF-F81598CEBF0B}"/>
              </a:ext>
            </a:extLst>
          </p:cNvPr>
          <p:cNvSpPr>
            <a:spLocks noGrp="1"/>
          </p:cNvSpPr>
          <p:nvPr/>
        </p:nvSpPr>
        <p:spPr>
          <a:xfrm>
            <a:off x="9096375" y="2762250"/>
            <a:ext cx="2095500" cy="361950"/>
          </a:xfrm>
          <a:prstGeom prst="rect">
            <a:avLst/>
          </a:prstGeom>
          <a:noFill/>
          <a:ln w="0">
            <a:noFill/>
          </a:ln>
        </p:spPr>
        <p:txBody>
          <a:bodyPr anchor="ctr">
            <a:normAutofit fontScale="94075"/>
          </a:bodyPr>
          <a:lstStyle/>
          <a:p>
            <a:pPr algn="l">
              <a:defRPr sz="1350" b="0">
                <a:solidFill>
                  <a:srgbClr val="40516A"/>
                </a:solidFill>
                <a:latin typeface="Arial"/>
                <a:ea typeface="Arial"/>
                <a:cs typeface="Arial"/>
              </a:defRPr>
            </a:pPr>
            <a:r>
              <a:rPr sz="1350" b="0">
                <a:solidFill>
                  <a:srgbClr val="40516A"/>
                </a:solidFill>
                <a:latin typeface="Arial"/>
                <a:ea typeface="Arial"/>
                <a:cs typeface="Arial"/>
              </a:rPr>
              <a:t>things that belong together</a:t>
            </a:r>
          </a:p>
        </p:txBody>
      </p:sp>
      <p:sp>
        <p:nvSpPr>
          <p:cNvPr id="19" name="Rectangle: Rounded Corners 18">
            <a:extLst>
              <a:ext uri="{FF2B5EF4-FFF2-40B4-BE49-F238E27FC236}">
                <a16:creationId xmlns:a16="http://schemas.microsoft.com/office/drawing/2014/main" id="{A2318A89-1830-4C41-A38E-6BEBA791E510}"/>
              </a:ext>
            </a:extLst>
          </p:cNvPr>
          <p:cNvSpPr>
            <a:spLocks noGrp="1"/>
          </p:cNvSpPr>
          <p:nvPr/>
        </p:nvSpPr>
        <p:spPr>
          <a:xfrm>
            <a:off x="3714750" y="3657600"/>
            <a:ext cx="1428750" cy="361950"/>
          </a:xfrm>
          <a:prstGeom prst="roundRect">
            <a:avLst>
              <a:gd name="adj" fmla="val 21053"/>
            </a:avLst>
          </a:prstGeom>
          <a:solidFill>
            <a:srgbClr val="FFF0E7"/>
          </a:solidFill>
          <a:ln w="0">
            <a:noFill/>
          </a:ln>
        </p:spPr>
      </p:sp>
      <p:sp>
        <p:nvSpPr>
          <p:cNvPr id="20" name="Rectangle 19">
            <a:extLst>
              <a:ext uri="{FF2B5EF4-FFF2-40B4-BE49-F238E27FC236}">
                <a16:creationId xmlns:a16="http://schemas.microsoft.com/office/drawing/2014/main" id="{E174E7B2-4B8E-466B-86B1-B19A555ECA40}"/>
              </a:ext>
            </a:extLst>
          </p:cNvPr>
          <p:cNvSpPr>
            <a:spLocks noGrp="1"/>
          </p:cNvSpPr>
          <p:nvPr/>
        </p:nvSpPr>
        <p:spPr>
          <a:xfrm>
            <a:off x="3810000" y="3686175"/>
            <a:ext cx="1238250" cy="295275"/>
          </a:xfrm>
          <a:prstGeom prst="rect">
            <a:avLst/>
          </a:prstGeom>
          <a:noFill/>
          <a:ln w="0">
            <a:noFill/>
          </a:ln>
        </p:spPr>
        <p:txBody>
          <a:bodyPr anchor="ctr">
            <a:normAutofit/>
          </a:bodyPr>
          <a:lstStyle/>
          <a:p>
            <a:pPr algn="ctr">
              <a:defRPr sz="1125" b="1">
                <a:solidFill>
                  <a:srgbClr val="B4232B"/>
                </a:solidFill>
                <a:latin typeface="Arial"/>
                <a:ea typeface="Arial"/>
                <a:cs typeface="Arial"/>
              </a:defRPr>
            </a:pPr>
            <a:r>
              <a:rPr sz="1125" b="1">
                <a:solidFill>
                  <a:srgbClr val="B4232B"/>
                </a:solidFill>
                <a:latin typeface="Arial"/>
                <a:ea typeface="Arial"/>
                <a:cs typeface="Arial"/>
              </a:rPr>
              <a:t>PROPERTY</a:t>
            </a:r>
          </a:p>
        </p:txBody>
      </p:sp>
      <p:sp>
        <p:nvSpPr>
          <p:cNvPr id="21" name="Rectangle 20">
            <a:extLst>
              <a:ext uri="{FF2B5EF4-FFF2-40B4-BE49-F238E27FC236}">
                <a16:creationId xmlns:a16="http://schemas.microsoft.com/office/drawing/2014/main" id="{6FC9C28D-C6BF-42EC-A9A0-B28C96CA61D6}"/>
              </a:ext>
            </a:extLst>
          </p:cNvPr>
          <p:cNvSpPr>
            <a:spLocks noGrp="1"/>
          </p:cNvSpPr>
          <p:nvPr/>
        </p:nvSpPr>
        <p:spPr>
          <a:xfrm>
            <a:off x="5286375" y="3657600"/>
            <a:ext cx="2095500" cy="361950"/>
          </a:xfrm>
          <a:prstGeom prst="rect">
            <a:avLst/>
          </a:prstGeom>
          <a:noFill/>
          <a:ln w="0">
            <a:noFill/>
          </a:ln>
        </p:spPr>
        <p:txBody>
          <a:bodyPr anchor="ctr">
            <a:normAutofit/>
          </a:bodyPr>
          <a:lstStyle/>
          <a:p>
            <a:pPr algn="l">
              <a:defRPr sz="1350" b="0">
                <a:solidFill>
                  <a:srgbClr val="40516A"/>
                </a:solidFill>
                <a:latin typeface="Arial"/>
                <a:ea typeface="Arial"/>
                <a:cs typeface="Arial"/>
              </a:defRPr>
            </a:pPr>
            <a:r>
              <a:rPr sz="1350" b="0">
                <a:solidFill>
                  <a:srgbClr val="40516A"/>
                </a:solidFill>
                <a:latin typeface="Arial"/>
                <a:ea typeface="Arial"/>
                <a:cs typeface="Arial"/>
              </a:rPr>
              <a:t>something we notice</a:t>
            </a:r>
          </a:p>
        </p:txBody>
      </p:sp>
      <p:sp>
        <p:nvSpPr>
          <p:cNvPr id="22" name="Rectangle: Rounded Corners 21">
            <a:extLst>
              <a:ext uri="{FF2B5EF4-FFF2-40B4-BE49-F238E27FC236}">
                <a16:creationId xmlns:a16="http://schemas.microsoft.com/office/drawing/2014/main" id="{7857BCEC-C72B-4A46-A6A0-173BDD38C9C6}"/>
              </a:ext>
            </a:extLst>
          </p:cNvPr>
          <p:cNvSpPr>
            <a:spLocks noGrp="1"/>
          </p:cNvSpPr>
          <p:nvPr/>
        </p:nvSpPr>
        <p:spPr>
          <a:xfrm>
            <a:off x="7524750" y="3657600"/>
            <a:ext cx="1428750" cy="361950"/>
          </a:xfrm>
          <a:prstGeom prst="roundRect">
            <a:avLst>
              <a:gd name="adj" fmla="val 21053"/>
            </a:avLst>
          </a:prstGeom>
          <a:solidFill>
            <a:srgbClr val="E9F4FB"/>
          </a:solidFill>
          <a:ln w="0">
            <a:noFill/>
          </a:ln>
        </p:spPr>
      </p:sp>
      <p:sp>
        <p:nvSpPr>
          <p:cNvPr id="23" name="Rectangle 22">
            <a:extLst>
              <a:ext uri="{FF2B5EF4-FFF2-40B4-BE49-F238E27FC236}">
                <a16:creationId xmlns:a16="http://schemas.microsoft.com/office/drawing/2014/main" id="{C067C1B9-6346-45F5-90BC-930AA39B275F}"/>
              </a:ext>
            </a:extLst>
          </p:cNvPr>
          <p:cNvSpPr>
            <a:spLocks noGrp="1"/>
          </p:cNvSpPr>
          <p:nvPr/>
        </p:nvSpPr>
        <p:spPr>
          <a:xfrm>
            <a:off x="7620000" y="3686175"/>
            <a:ext cx="1238250" cy="295275"/>
          </a:xfrm>
          <a:prstGeom prst="rect">
            <a:avLst/>
          </a:prstGeom>
          <a:noFill/>
          <a:ln w="0">
            <a:noFill/>
          </a:ln>
        </p:spPr>
        <p:txBody>
          <a:bodyPr anchor="ctr">
            <a:normAutofit/>
          </a:bodyPr>
          <a:lstStyle/>
          <a:p>
            <a:pPr algn="ctr">
              <a:defRPr sz="1125" b="1">
                <a:solidFill>
                  <a:srgbClr val="3F7DC0"/>
                </a:solidFill>
                <a:latin typeface="Arial"/>
                <a:ea typeface="Arial"/>
                <a:cs typeface="Arial"/>
              </a:defRPr>
            </a:pPr>
            <a:r>
              <a:rPr sz="1125" b="1">
                <a:solidFill>
                  <a:srgbClr val="3F7DC0"/>
                </a:solidFill>
                <a:latin typeface="Arial"/>
                <a:ea typeface="Arial"/>
                <a:cs typeface="Arial"/>
              </a:rPr>
              <a:t>RULE</a:t>
            </a:r>
          </a:p>
        </p:txBody>
      </p:sp>
      <p:sp>
        <p:nvSpPr>
          <p:cNvPr id="24" name="Rectangle 23">
            <a:extLst>
              <a:ext uri="{FF2B5EF4-FFF2-40B4-BE49-F238E27FC236}">
                <a16:creationId xmlns:a16="http://schemas.microsoft.com/office/drawing/2014/main" id="{A6F5DE09-536E-4A05-9DD5-F0392B663C2C}"/>
              </a:ext>
            </a:extLst>
          </p:cNvPr>
          <p:cNvSpPr>
            <a:spLocks noGrp="1"/>
          </p:cNvSpPr>
          <p:nvPr/>
        </p:nvSpPr>
        <p:spPr>
          <a:xfrm>
            <a:off x="9096375" y="3657600"/>
            <a:ext cx="2095500" cy="361950"/>
          </a:xfrm>
          <a:prstGeom prst="rect">
            <a:avLst/>
          </a:prstGeom>
          <a:noFill/>
          <a:ln w="0">
            <a:noFill/>
          </a:ln>
        </p:spPr>
        <p:txBody>
          <a:bodyPr anchor="ctr">
            <a:normAutofit fontScale="80119"/>
          </a:bodyPr>
          <a:lstStyle/>
          <a:p>
            <a:pPr algn="l">
              <a:defRPr sz="1350" b="0">
                <a:solidFill>
                  <a:srgbClr val="40516A"/>
                </a:solidFill>
                <a:latin typeface="Arial"/>
                <a:ea typeface="Arial"/>
                <a:cs typeface="Arial"/>
              </a:defRPr>
            </a:pPr>
            <a:r>
              <a:rPr sz="1350" b="0">
                <a:solidFill>
                  <a:srgbClr val="40516A"/>
                </a:solidFill>
                <a:latin typeface="Arial"/>
                <a:ea typeface="Arial"/>
                <a:cs typeface="Arial"/>
              </a:rPr>
              <a:t>how we decide where things go</a:t>
            </a:r>
          </a:p>
        </p:txBody>
      </p:sp>
      <p:sp>
        <p:nvSpPr>
          <p:cNvPr id="25" name="Rectangle: Rounded Corners 24">
            <a:extLst>
              <a:ext uri="{FF2B5EF4-FFF2-40B4-BE49-F238E27FC236}">
                <a16:creationId xmlns:a16="http://schemas.microsoft.com/office/drawing/2014/main" id="{6B90AFD7-A1D7-4645-81BF-302942F48D51}"/>
              </a:ext>
            </a:extLst>
          </p:cNvPr>
          <p:cNvSpPr>
            <a:spLocks noGrp="1"/>
          </p:cNvSpPr>
          <p:nvPr/>
        </p:nvSpPr>
        <p:spPr>
          <a:xfrm>
            <a:off x="3714750" y="4552950"/>
            <a:ext cx="1428750" cy="361950"/>
          </a:xfrm>
          <a:prstGeom prst="roundRect">
            <a:avLst>
              <a:gd name="adj" fmla="val 21053"/>
            </a:avLst>
          </a:prstGeom>
          <a:solidFill>
            <a:srgbClr val="FFF0E7"/>
          </a:solidFill>
          <a:ln w="0">
            <a:noFill/>
          </a:ln>
        </p:spPr>
      </p:sp>
      <p:sp>
        <p:nvSpPr>
          <p:cNvPr id="26" name="Rectangle 25">
            <a:extLst>
              <a:ext uri="{FF2B5EF4-FFF2-40B4-BE49-F238E27FC236}">
                <a16:creationId xmlns:a16="http://schemas.microsoft.com/office/drawing/2014/main" id="{52FE48C4-016D-497A-B0B8-55166DCD7DC8}"/>
              </a:ext>
            </a:extLst>
          </p:cNvPr>
          <p:cNvSpPr>
            <a:spLocks noGrp="1"/>
          </p:cNvSpPr>
          <p:nvPr/>
        </p:nvSpPr>
        <p:spPr>
          <a:xfrm>
            <a:off x="3810000" y="4581525"/>
            <a:ext cx="1238250" cy="295275"/>
          </a:xfrm>
          <a:prstGeom prst="rect">
            <a:avLst/>
          </a:prstGeom>
          <a:noFill/>
          <a:ln w="0">
            <a:noFill/>
          </a:ln>
        </p:spPr>
        <p:txBody>
          <a:bodyPr anchor="ctr">
            <a:normAutofit/>
          </a:bodyPr>
          <a:lstStyle/>
          <a:p>
            <a:pPr algn="ctr">
              <a:defRPr sz="1125" b="1">
                <a:solidFill>
                  <a:srgbClr val="B4232B"/>
                </a:solidFill>
                <a:latin typeface="Arial"/>
                <a:ea typeface="Arial"/>
                <a:cs typeface="Arial"/>
              </a:defRPr>
            </a:pPr>
            <a:r>
              <a:rPr sz="1125" b="1">
                <a:solidFill>
                  <a:srgbClr val="B4232B"/>
                </a:solidFill>
                <a:latin typeface="Arial"/>
                <a:ea typeface="Arial"/>
                <a:cs typeface="Arial"/>
              </a:rPr>
              <a:t>SAME</a:t>
            </a:r>
          </a:p>
        </p:txBody>
      </p:sp>
      <p:sp>
        <p:nvSpPr>
          <p:cNvPr id="27" name="Rectangle 26">
            <a:extLst>
              <a:ext uri="{FF2B5EF4-FFF2-40B4-BE49-F238E27FC236}">
                <a16:creationId xmlns:a16="http://schemas.microsoft.com/office/drawing/2014/main" id="{80D4475F-9919-4B3F-B204-6AF3C4D17844}"/>
              </a:ext>
            </a:extLst>
          </p:cNvPr>
          <p:cNvSpPr>
            <a:spLocks noGrp="1"/>
          </p:cNvSpPr>
          <p:nvPr/>
        </p:nvSpPr>
        <p:spPr>
          <a:xfrm>
            <a:off x="5286375" y="4552950"/>
            <a:ext cx="2095500" cy="361950"/>
          </a:xfrm>
          <a:prstGeom prst="rect">
            <a:avLst/>
          </a:prstGeom>
          <a:noFill/>
          <a:ln w="0">
            <a:noFill/>
          </a:ln>
        </p:spPr>
        <p:txBody>
          <a:bodyPr anchor="ctr">
            <a:normAutofit/>
          </a:bodyPr>
          <a:lstStyle/>
          <a:p>
            <a:pPr algn="l">
              <a:defRPr sz="1350" b="0">
                <a:solidFill>
                  <a:srgbClr val="40516A"/>
                </a:solidFill>
                <a:latin typeface="Arial"/>
                <a:ea typeface="Arial"/>
                <a:cs typeface="Arial"/>
              </a:defRPr>
            </a:pPr>
            <a:r>
              <a:rPr sz="1350" b="0">
                <a:solidFill>
                  <a:srgbClr val="40516A"/>
                </a:solidFill>
                <a:latin typeface="Arial"/>
                <a:ea typeface="Arial"/>
                <a:cs typeface="Arial"/>
              </a:rPr>
              <a:t>matching in one way</a:t>
            </a:r>
          </a:p>
        </p:txBody>
      </p:sp>
      <p:sp>
        <p:nvSpPr>
          <p:cNvPr id="28" name="Rectangle: Rounded Corners 27">
            <a:extLst>
              <a:ext uri="{FF2B5EF4-FFF2-40B4-BE49-F238E27FC236}">
                <a16:creationId xmlns:a16="http://schemas.microsoft.com/office/drawing/2014/main" id="{90837826-2883-4A61-9023-526591AAEE9C}"/>
              </a:ext>
            </a:extLst>
          </p:cNvPr>
          <p:cNvSpPr>
            <a:spLocks noGrp="1"/>
          </p:cNvSpPr>
          <p:nvPr/>
        </p:nvSpPr>
        <p:spPr>
          <a:xfrm>
            <a:off x="7524750" y="4552950"/>
            <a:ext cx="1428750" cy="361950"/>
          </a:xfrm>
          <a:prstGeom prst="roundRect">
            <a:avLst>
              <a:gd name="adj" fmla="val 21053"/>
            </a:avLst>
          </a:prstGeom>
          <a:solidFill>
            <a:srgbClr val="E9F4FB"/>
          </a:solidFill>
          <a:ln w="0">
            <a:noFill/>
          </a:ln>
        </p:spPr>
      </p:sp>
      <p:sp>
        <p:nvSpPr>
          <p:cNvPr id="29" name="Rectangle 28">
            <a:extLst>
              <a:ext uri="{FF2B5EF4-FFF2-40B4-BE49-F238E27FC236}">
                <a16:creationId xmlns:a16="http://schemas.microsoft.com/office/drawing/2014/main" id="{7420CDB1-B8A8-40C9-AE2C-41FD812FA260}"/>
              </a:ext>
            </a:extLst>
          </p:cNvPr>
          <p:cNvSpPr>
            <a:spLocks noGrp="1"/>
          </p:cNvSpPr>
          <p:nvPr/>
        </p:nvSpPr>
        <p:spPr>
          <a:xfrm>
            <a:off x="7620000" y="4581525"/>
            <a:ext cx="1238250" cy="295275"/>
          </a:xfrm>
          <a:prstGeom prst="rect">
            <a:avLst/>
          </a:prstGeom>
          <a:noFill/>
          <a:ln w="0">
            <a:noFill/>
          </a:ln>
        </p:spPr>
        <p:txBody>
          <a:bodyPr anchor="ctr">
            <a:normAutofit/>
          </a:bodyPr>
          <a:lstStyle/>
          <a:p>
            <a:pPr algn="ctr">
              <a:defRPr sz="1125" b="1">
                <a:solidFill>
                  <a:srgbClr val="3F7DC0"/>
                </a:solidFill>
                <a:latin typeface="Arial"/>
                <a:ea typeface="Arial"/>
                <a:cs typeface="Arial"/>
              </a:defRPr>
            </a:pPr>
            <a:r>
              <a:rPr sz="1125" b="1">
                <a:solidFill>
                  <a:srgbClr val="3F7DC0"/>
                </a:solidFill>
                <a:latin typeface="Arial"/>
                <a:ea typeface="Arial"/>
                <a:cs typeface="Arial"/>
              </a:rPr>
              <a:t>DIFFERENT</a:t>
            </a:r>
          </a:p>
        </p:txBody>
      </p:sp>
      <p:sp>
        <p:nvSpPr>
          <p:cNvPr id="30" name="Rectangle 29">
            <a:extLst>
              <a:ext uri="{FF2B5EF4-FFF2-40B4-BE49-F238E27FC236}">
                <a16:creationId xmlns:a16="http://schemas.microsoft.com/office/drawing/2014/main" id="{17D117A5-5C25-4D16-98DD-84E3257EA943}"/>
              </a:ext>
            </a:extLst>
          </p:cNvPr>
          <p:cNvSpPr>
            <a:spLocks noGrp="1"/>
          </p:cNvSpPr>
          <p:nvPr/>
        </p:nvSpPr>
        <p:spPr>
          <a:xfrm>
            <a:off x="9096375" y="4552950"/>
            <a:ext cx="2095500" cy="361950"/>
          </a:xfrm>
          <a:prstGeom prst="rect">
            <a:avLst/>
          </a:prstGeom>
          <a:noFill/>
          <a:ln w="0">
            <a:noFill/>
          </a:ln>
        </p:spPr>
        <p:txBody>
          <a:bodyPr anchor="ctr">
            <a:normAutofit/>
          </a:bodyPr>
          <a:lstStyle/>
          <a:p>
            <a:pPr algn="l">
              <a:defRPr sz="1350" b="0">
                <a:solidFill>
                  <a:srgbClr val="40516A"/>
                </a:solidFill>
                <a:latin typeface="Arial"/>
                <a:ea typeface="Arial"/>
                <a:cs typeface="Arial"/>
              </a:defRPr>
            </a:pPr>
            <a:r>
              <a:rPr sz="1350" b="0">
                <a:solidFill>
                  <a:srgbClr val="40516A"/>
                </a:solidFill>
                <a:latin typeface="Arial"/>
                <a:ea typeface="Arial"/>
                <a:cs typeface="Arial"/>
              </a:rPr>
              <a:t>not matching in that way</a:t>
            </a:r>
          </a:p>
        </p:txBody>
      </p:sp>
    </p:spTree>
    <p:extLst>
      <p:ext uri="{BB962C8B-B14F-4D97-AF65-F5344CB8AC3E}">
        <p14:creationId xmlns:p14="http://schemas.microsoft.com/office/powerpoint/2010/main" val="21383415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7EA"/>
        </a:solidFill>
        <a:effectLst/>
      </p:bgPr>
    </p:bg>
    <p:spTree>
      <p:nvGrpSpPr>
        <p:cNvPr id="1" name=""/>
        <p:cNvGrpSpPr/>
        <p:nvPr/>
      </p:nvGrpSpPr>
      <p:grpSpPr>
        <a:xfrm>
          <a:off x="0" y="0"/>
          <a:ext cx="0" cy="0"/>
          <a:chOff x="0" y="0"/>
          <a:chExt cx="0" cy="0"/>
        </a:xfrm>
      </p:grpSpPr>
      <p:sp>
        <p:nvSpPr>
          <p:cNvPr id="32" name="Rectangle 31">
            <a:extLst>
              <a:ext uri="{FF2B5EF4-FFF2-40B4-BE49-F238E27FC236}">
                <a16:creationId xmlns:a16="http://schemas.microsoft.com/office/drawing/2014/main" id="{EA7A025C-0887-47A9-916B-1E6466D5812A}"/>
              </a:ext>
            </a:extLst>
          </p:cNvPr>
          <p:cNvSpPr>
            <a:spLocks noGrp="1"/>
          </p:cNvSpPr>
          <p:nvPr/>
        </p:nvSpPr>
        <p:spPr>
          <a:xfrm>
            <a:off x="0" y="0"/>
            <a:ext cx="12192000" cy="171450"/>
          </a:xfrm>
          <a:prstGeom prst="rect">
            <a:avLst/>
          </a:prstGeom>
          <a:solidFill>
            <a:srgbClr val="B4232B"/>
          </a:solidFill>
          <a:ln w="0">
            <a:noFill/>
          </a:ln>
        </p:spPr>
      </p:sp>
      <p:sp>
        <p:nvSpPr>
          <p:cNvPr id="2" name="Rectangle 1">
            <a:extLst>
              <a:ext uri="{FF2B5EF4-FFF2-40B4-BE49-F238E27FC236}">
                <a16:creationId xmlns:a16="http://schemas.microsoft.com/office/drawing/2014/main" id="{B0671D51-EAEC-4A4C-ABB0-D605C00A0D7B}"/>
              </a:ext>
            </a:extLst>
          </p:cNvPr>
          <p:cNvSpPr>
            <a:spLocks noGrp="1"/>
          </p:cNvSpPr>
          <p:nvPr/>
        </p:nvSpPr>
        <p:spPr>
          <a:xfrm>
            <a:off x="552450" y="285750"/>
            <a:ext cx="6858000" cy="266700"/>
          </a:xfrm>
          <a:prstGeom prst="rect">
            <a:avLst/>
          </a:prstGeom>
          <a:noFill/>
          <a:ln w="0">
            <a:noFill/>
          </a:ln>
        </p:spPr>
        <p:txBody>
          <a:bodyPr anchor="ctr">
            <a:normAutofit/>
          </a:bodyPr>
          <a:lstStyle/>
          <a:p>
            <a:pPr algn="l">
              <a:defRPr sz="1050" b="1">
                <a:solidFill>
                  <a:srgbClr val="B4232B"/>
                </a:solidFill>
                <a:latin typeface="Arial"/>
                <a:ea typeface="Arial"/>
                <a:cs typeface="Arial"/>
              </a:defRPr>
            </a:pPr>
            <a:r>
              <a:rPr sz="1050" b="1">
                <a:solidFill>
                  <a:srgbClr val="B4232B"/>
                </a:solidFill>
                <a:latin typeface="Arial"/>
                <a:ea typeface="Arial"/>
                <a:cs typeface="Arial"/>
              </a:rPr>
              <a:t>YEAR 1 MATHS  •  AUTUMN  •  WEEK 1  •  DAY 1</a:t>
            </a:r>
          </a:p>
        </p:txBody>
      </p:sp>
      <p:sp>
        <p:nvSpPr>
          <p:cNvPr id="3" name="Rectangle: Rounded Corners 2">
            <a:extLst>
              <a:ext uri="{FF2B5EF4-FFF2-40B4-BE49-F238E27FC236}">
                <a16:creationId xmlns:a16="http://schemas.microsoft.com/office/drawing/2014/main" id="{0E6001AF-D35D-4886-A0B5-3FAFA1F41654}"/>
              </a:ext>
            </a:extLst>
          </p:cNvPr>
          <p:cNvSpPr>
            <a:spLocks noGrp="1"/>
          </p:cNvSpPr>
          <p:nvPr/>
        </p:nvSpPr>
        <p:spPr>
          <a:xfrm>
            <a:off x="552450" y="685800"/>
            <a:ext cx="1238250" cy="323850"/>
          </a:xfrm>
          <a:prstGeom prst="roundRect">
            <a:avLst>
              <a:gd name="adj" fmla="val 23529"/>
            </a:avLst>
          </a:prstGeom>
          <a:solidFill>
            <a:srgbClr val="B4232B"/>
          </a:solidFill>
          <a:ln w="0">
            <a:noFill/>
          </a:ln>
        </p:spPr>
      </p:sp>
      <p:sp>
        <p:nvSpPr>
          <p:cNvPr id="4" name="Rectangle 3">
            <a:extLst>
              <a:ext uri="{FF2B5EF4-FFF2-40B4-BE49-F238E27FC236}">
                <a16:creationId xmlns:a16="http://schemas.microsoft.com/office/drawing/2014/main" id="{5012B545-0C60-4C0D-AAD9-F1137A212CD9}"/>
              </a:ext>
            </a:extLst>
          </p:cNvPr>
          <p:cNvSpPr>
            <a:spLocks noGrp="1"/>
          </p:cNvSpPr>
          <p:nvPr/>
        </p:nvSpPr>
        <p:spPr>
          <a:xfrm>
            <a:off x="590550" y="704850"/>
            <a:ext cx="1162050" cy="266700"/>
          </a:xfrm>
          <a:prstGeom prst="rect">
            <a:avLst/>
          </a:prstGeom>
          <a:noFill/>
          <a:ln w="0">
            <a:noFill/>
          </a:ln>
        </p:spPr>
        <p:txBody>
          <a:bodyPr anchor="ctr">
            <a:normAutofit/>
          </a:bodyPr>
          <a:lstStyle/>
          <a:p>
            <a:pPr algn="ctr">
              <a:defRPr sz="750" b="1">
                <a:solidFill>
                  <a:srgbClr val="FFFFFF"/>
                </a:solidFill>
                <a:latin typeface="Arial"/>
                <a:ea typeface="Arial"/>
                <a:cs typeface="Arial"/>
              </a:defRPr>
            </a:pPr>
            <a:r>
              <a:rPr sz="750" b="1">
                <a:solidFill>
                  <a:srgbClr val="FFFFFF"/>
                </a:solidFill>
                <a:latin typeface="Arial"/>
                <a:ea typeface="Arial"/>
                <a:cs typeface="Arial"/>
              </a:rPr>
              <a:t>TEACH</a:t>
            </a:r>
          </a:p>
        </p:txBody>
      </p:sp>
      <p:sp>
        <p:nvSpPr>
          <p:cNvPr id="5" name="Rectangle 4">
            <a:extLst>
              <a:ext uri="{FF2B5EF4-FFF2-40B4-BE49-F238E27FC236}">
                <a16:creationId xmlns:a16="http://schemas.microsoft.com/office/drawing/2014/main" id="{DB167392-615B-4106-BAD4-247506D0D8B1}"/>
              </a:ext>
            </a:extLst>
          </p:cNvPr>
          <p:cNvSpPr>
            <a:spLocks noGrp="1"/>
          </p:cNvSpPr>
          <p:nvPr/>
        </p:nvSpPr>
        <p:spPr>
          <a:xfrm>
            <a:off x="1962150" y="590550"/>
            <a:ext cx="8496300" cy="552450"/>
          </a:xfrm>
          <a:prstGeom prst="rect">
            <a:avLst/>
          </a:prstGeom>
          <a:noFill/>
          <a:ln w="0">
            <a:noFill/>
          </a:ln>
        </p:spPr>
        <p:txBody>
          <a:bodyPr anchor="ctr">
            <a:normAutofit/>
          </a:bodyPr>
          <a:lstStyle/>
          <a:p>
            <a:pPr algn="l">
              <a:defRPr sz="2625" b="1">
                <a:solidFill>
                  <a:srgbClr val="17253A"/>
                </a:solidFill>
                <a:latin typeface="Arial"/>
                <a:ea typeface="Arial"/>
                <a:cs typeface="Arial"/>
              </a:defRPr>
            </a:pPr>
            <a:r>
              <a:rPr sz="2625" b="1">
                <a:solidFill>
                  <a:srgbClr val="17253A"/>
                </a:solidFill>
                <a:latin typeface="Arial"/>
                <a:ea typeface="Arial"/>
                <a:cs typeface="Arial"/>
              </a:rPr>
              <a:t>Four steps for a careful sort</a:t>
            </a:r>
          </a:p>
        </p:txBody>
      </p:sp>
      <p:sp>
        <p:nvSpPr>
          <p:cNvPr id="6" name="Rectangle 5">
            <a:extLst>
              <a:ext uri="{FF2B5EF4-FFF2-40B4-BE49-F238E27FC236}">
                <a16:creationId xmlns:a16="http://schemas.microsoft.com/office/drawing/2014/main" id="{F9B5BDE4-5CBC-4C1C-9693-528E1E741A93}"/>
              </a:ext>
            </a:extLst>
          </p:cNvPr>
          <p:cNvSpPr>
            <a:spLocks noGrp="1"/>
          </p:cNvSpPr>
          <p:nvPr/>
        </p:nvSpPr>
        <p:spPr>
          <a:xfrm>
            <a:off x="10668000" y="400050"/>
            <a:ext cx="952500" cy="228600"/>
          </a:xfrm>
          <a:prstGeom prst="rect">
            <a:avLst/>
          </a:prstGeom>
          <a:noFill/>
          <a:ln w="0">
            <a:noFill/>
          </a:ln>
        </p:spPr>
        <p:txBody>
          <a:bodyPr anchor="ctr">
            <a:normAutofit fontScale="92308"/>
          </a:bodyPr>
          <a:lstStyle/>
          <a:p>
            <a:pPr algn="r">
              <a:defRPr sz="975" b="1">
                <a:solidFill>
                  <a:srgbClr val="6B788A"/>
                </a:solidFill>
                <a:latin typeface="Arial"/>
                <a:ea typeface="Arial"/>
                <a:cs typeface="Arial"/>
              </a:defRPr>
            </a:pPr>
            <a:r>
              <a:rPr sz="975" b="1">
                <a:solidFill>
                  <a:srgbClr val="6B788A"/>
                </a:solidFill>
                <a:latin typeface="Arial"/>
                <a:ea typeface="Arial"/>
                <a:cs typeface="Arial"/>
              </a:rPr>
              <a:t>6 / 15</a:t>
            </a:r>
          </a:p>
        </p:txBody>
      </p:sp>
      <p:sp>
        <p:nvSpPr>
          <p:cNvPr id="7" name="Rectangle 6">
            <a:extLst>
              <a:ext uri="{FF2B5EF4-FFF2-40B4-BE49-F238E27FC236}">
                <a16:creationId xmlns:a16="http://schemas.microsoft.com/office/drawing/2014/main" id="{F52E2ADB-7CD5-4C36-B3E9-611AA1CFA53F}"/>
              </a:ext>
            </a:extLst>
          </p:cNvPr>
          <p:cNvSpPr>
            <a:spLocks noGrp="1"/>
          </p:cNvSpPr>
          <p:nvPr/>
        </p:nvSpPr>
        <p:spPr>
          <a:xfrm>
            <a:off x="552450" y="6457950"/>
            <a:ext cx="11087100" cy="19050"/>
          </a:xfrm>
          <a:prstGeom prst="rect">
            <a:avLst/>
          </a:prstGeom>
          <a:solidFill>
            <a:srgbClr val="D9DEE7"/>
          </a:solidFill>
          <a:ln w="0">
            <a:noFill/>
          </a:ln>
        </p:spPr>
      </p:sp>
      <p:sp>
        <p:nvSpPr>
          <p:cNvPr id="8" name="Rectangle 7">
            <a:extLst>
              <a:ext uri="{FF2B5EF4-FFF2-40B4-BE49-F238E27FC236}">
                <a16:creationId xmlns:a16="http://schemas.microsoft.com/office/drawing/2014/main" id="{19518DD1-3D39-43C4-9FEB-BF10044148A8}"/>
              </a:ext>
            </a:extLst>
          </p:cNvPr>
          <p:cNvSpPr>
            <a:spLocks noGrp="1"/>
          </p:cNvSpPr>
          <p:nvPr/>
        </p:nvSpPr>
        <p:spPr>
          <a:xfrm>
            <a:off x="552450" y="6543675"/>
            <a:ext cx="3429000" cy="190500"/>
          </a:xfrm>
          <a:prstGeom prst="rect">
            <a:avLst/>
          </a:prstGeom>
          <a:noFill/>
          <a:ln w="0">
            <a:noFill/>
          </a:ln>
        </p:spPr>
        <p:txBody>
          <a:bodyPr anchor="ctr">
            <a:normAutofit fontScale="72222"/>
          </a:bodyPr>
          <a:lstStyle/>
          <a:p>
            <a:pPr algn="l">
              <a:defRPr sz="900" b="0">
                <a:solidFill>
                  <a:srgbClr val="6B788A"/>
                </a:solidFill>
                <a:latin typeface="Arial"/>
                <a:ea typeface="Arial"/>
                <a:cs typeface="Arial"/>
              </a:defRPr>
            </a:pPr>
            <a:r>
              <a:rPr sz="900" b="0">
                <a:solidFill>
                  <a:srgbClr val="6B788A"/>
                </a:solidFill>
                <a:latin typeface="Arial"/>
                <a:ea typeface="Arial"/>
                <a:cs typeface="Arial"/>
              </a:rPr>
              <a:t>BrightPath Primary Learning</a:t>
            </a:r>
          </a:p>
        </p:txBody>
      </p:sp>
      <p:sp>
        <p:nvSpPr>
          <p:cNvPr id="9" name="Rectangle 8">
            <a:extLst>
              <a:ext uri="{FF2B5EF4-FFF2-40B4-BE49-F238E27FC236}">
                <a16:creationId xmlns:a16="http://schemas.microsoft.com/office/drawing/2014/main" id="{48E2EBE6-C8D0-4E2B-B291-4F99A1A89443}"/>
              </a:ext>
            </a:extLst>
          </p:cNvPr>
          <p:cNvSpPr>
            <a:spLocks noGrp="1"/>
          </p:cNvSpPr>
          <p:nvPr/>
        </p:nvSpPr>
        <p:spPr>
          <a:xfrm>
            <a:off x="8477250" y="6543675"/>
            <a:ext cx="3162300" cy="190500"/>
          </a:xfrm>
          <a:prstGeom prst="rect">
            <a:avLst/>
          </a:prstGeom>
          <a:noFill/>
          <a:ln w="0">
            <a:noFill/>
          </a:ln>
        </p:spPr>
        <p:txBody>
          <a:bodyPr anchor="ctr">
            <a:normAutofit fontScale="72222"/>
          </a:bodyPr>
          <a:lstStyle/>
          <a:p>
            <a:pPr algn="r">
              <a:defRPr sz="900" b="0">
                <a:solidFill>
                  <a:srgbClr val="6B788A"/>
                </a:solidFill>
                <a:latin typeface="Arial"/>
                <a:ea typeface="Arial"/>
                <a:cs typeface="Arial"/>
              </a:defRPr>
            </a:pPr>
            <a:r>
              <a:rPr sz="900" b="0">
                <a:solidFill>
                  <a:srgbClr val="6B788A"/>
                </a:solidFill>
                <a:latin typeface="Arial"/>
                <a:ea typeface="Arial"/>
                <a:cs typeface="Arial"/>
              </a:rPr>
              <a:t>Sort objects into groups</a:t>
            </a:r>
          </a:p>
        </p:txBody>
      </p:sp>
      <p:sp>
        <p:nvSpPr>
          <p:cNvPr id="10" name="Rectangle: Rounded Corners 9">
            <a:extLst>
              <a:ext uri="{FF2B5EF4-FFF2-40B4-BE49-F238E27FC236}">
                <a16:creationId xmlns:a16="http://schemas.microsoft.com/office/drawing/2014/main" id="{1A67A45F-1E7F-4B14-9D69-8FA41BFE70C3}"/>
              </a:ext>
            </a:extLst>
          </p:cNvPr>
          <p:cNvSpPr>
            <a:spLocks noGrp="1"/>
          </p:cNvSpPr>
          <p:nvPr/>
        </p:nvSpPr>
        <p:spPr>
          <a:xfrm>
            <a:off x="666750" y="1571625"/>
            <a:ext cx="2571750" cy="3810000"/>
          </a:xfrm>
          <a:prstGeom prst="roundRect">
            <a:avLst>
              <a:gd name="adj" fmla="val 2963"/>
            </a:avLst>
          </a:prstGeom>
          <a:solidFill>
            <a:srgbClr val="FFF0E7"/>
          </a:solidFill>
          <a:ln w="19050">
            <a:solidFill>
              <a:srgbClr val="B4232B"/>
            </a:solidFill>
          </a:ln>
        </p:spPr>
      </p:sp>
      <p:sp>
        <p:nvSpPr>
          <p:cNvPr id="11" name="Oval 10">
            <a:extLst>
              <a:ext uri="{FF2B5EF4-FFF2-40B4-BE49-F238E27FC236}">
                <a16:creationId xmlns:a16="http://schemas.microsoft.com/office/drawing/2014/main" id="{9A47C318-B661-4E93-A324-2FCA56F02FBF}"/>
              </a:ext>
            </a:extLst>
          </p:cNvPr>
          <p:cNvSpPr>
            <a:spLocks noGrp="1"/>
          </p:cNvSpPr>
          <p:nvPr/>
        </p:nvSpPr>
        <p:spPr>
          <a:xfrm>
            <a:off x="1571625" y="1857375"/>
            <a:ext cx="762000" cy="762000"/>
          </a:xfrm>
          <a:prstGeom prst="ellipse">
            <a:avLst/>
          </a:prstGeom>
          <a:solidFill>
            <a:srgbClr val="B4232B"/>
          </a:solidFill>
          <a:ln w="0">
            <a:noFill/>
          </a:ln>
        </p:spPr>
      </p:sp>
      <p:sp>
        <p:nvSpPr>
          <p:cNvPr id="12" name="Rectangle 11">
            <a:extLst>
              <a:ext uri="{FF2B5EF4-FFF2-40B4-BE49-F238E27FC236}">
                <a16:creationId xmlns:a16="http://schemas.microsoft.com/office/drawing/2014/main" id="{780DA40D-F7F0-4E08-AE97-82F6B1513D71}"/>
              </a:ext>
            </a:extLst>
          </p:cNvPr>
          <p:cNvSpPr>
            <a:spLocks noGrp="1"/>
          </p:cNvSpPr>
          <p:nvPr/>
        </p:nvSpPr>
        <p:spPr>
          <a:xfrm>
            <a:off x="1571625" y="1952625"/>
            <a:ext cx="762000" cy="552450"/>
          </a:xfrm>
          <a:prstGeom prst="rect">
            <a:avLst/>
          </a:prstGeom>
          <a:noFill/>
          <a:ln w="0">
            <a:noFill/>
          </a:ln>
        </p:spPr>
        <p:txBody>
          <a:bodyPr anchor="ctr">
            <a:normAutofit/>
          </a:bodyPr>
          <a:lstStyle/>
          <a:p>
            <a:pPr algn="ctr">
              <a:defRPr sz="2250" b="1">
                <a:solidFill>
                  <a:srgbClr val="FFFFFF"/>
                </a:solidFill>
                <a:latin typeface="Arial"/>
                <a:ea typeface="Arial"/>
                <a:cs typeface="Arial"/>
              </a:defRPr>
            </a:pPr>
            <a:r>
              <a:rPr sz="2250" b="1">
                <a:solidFill>
                  <a:srgbClr val="FFFFFF"/>
                </a:solidFill>
                <a:latin typeface="Arial"/>
                <a:ea typeface="Arial"/>
                <a:cs typeface="Arial"/>
              </a:rPr>
              <a:t>1</a:t>
            </a:r>
          </a:p>
        </p:txBody>
      </p:sp>
      <p:sp>
        <p:nvSpPr>
          <p:cNvPr id="13" name="Rectangle 12">
            <a:extLst>
              <a:ext uri="{FF2B5EF4-FFF2-40B4-BE49-F238E27FC236}">
                <a16:creationId xmlns:a16="http://schemas.microsoft.com/office/drawing/2014/main" id="{8A3C224C-61B2-40D3-8FD4-F43FBB744F88}"/>
              </a:ext>
            </a:extLst>
          </p:cNvPr>
          <p:cNvSpPr>
            <a:spLocks noGrp="1"/>
          </p:cNvSpPr>
          <p:nvPr/>
        </p:nvSpPr>
        <p:spPr>
          <a:xfrm>
            <a:off x="952500" y="2905125"/>
            <a:ext cx="2000250" cy="438150"/>
          </a:xfrm>
          <a:prstGeom prst="rect">
            <a:avLst/>
          </a:prstGeom>
          <a:noFill/>
          <a:ln w="0">
            <a:noFill/>
          </a:ln>
        </p:spPr>
        <p:txBody>
          <a:bodyPr anchor="ctr">
            <a:normAutofit/>
          </a:bodyPr>
          <a:lstStyle/>
          <a:p>
            <a:pPr algn="ctr">
              <a:defRPr sz="1650" b="1">
                <a:solidFill>
                  <a:srgbClr val="17253A"/>
                </a:solidFill>
                <a:latin typeface="Arial"/>
                <a:ea typeface="Arial"/>
                <a:cs typeface="Arial"/>
              </a:defRPr>
            </a:pPr>
            <a:r>
              <a:rPr sz="1650" b="1">
                <a:solidFill>
                  <a:srgbClr val="17253A"/>
                </a:solidFill>
                <a:latin typeface="Arial"/>
                <a:ea typeface="Arial"/>
                <a:cs typeface="Arial"/>
              </a:rPr>
              <a:t>NOTICE</a:t>
            </a:r>
          </a:p>
        </p:txBody>
      </p:sp>
      <p:sp>
        <p:nvSpPr>
          <p:cNvPr id="14" name="Rectangle 13">
            <a:extLst>
              <a:ext uri="{FF2B5EF4-FFF2-40B4-BE49-F238E27FC236}">
                <a16:creationId xmlns:a16="http://schemas.microsoft.com/office/drawing/2014/main" id="{2F56A7A2-39AD-47EB-A279-84153B13617B}"/>
              </a:ext>
            </a:extLst>
          </p:cNvPr>
          <p:cNvSpPr>
            <a:spLocks noGrp="1"/>
          </p:cNvSpPr>
          <p:nvPr/>
        </p:nvSpPr>
        <p:spPr>
          <a:xfrm>
            <a:off x="952500" y="3524250"/>
            <a:ext cx="2000250" cy="1190625"/>
          </a:xfrm>
          <a:prstGeom prst="rect">
            <a:avLst/>
          </a:prstGeom>
          <a:noFill/>
          <a:ln w="0">
            <a:noFill/>
          </a:ln>
        </p:spPr>
        <p:txBody>
          <a:bodyPr anchor="ctr">
            <a:normAutofit/>
          </a:bodyPr>
          <a:lstStyle/>
          <a:p>
            <a:pPr algn="ctr">
              <a:defRPr sz="1500" b="0">
                <a:solidFill>
                  <a:srgbClr val="40516A"/>
                </a:solidFill>
                <a:latin typeface="Arial"/>
                <a:ea typeface="Arial"/>
                <a:cs typeface="Arial"/>
              </a:defRPr>
            </a:pPr>
            <a:r>
              <a:rPr sz="1500" b="0">
                <a:solidFill>
                  <a:srgbClr val="40516A"/>
                </a:solidFill>
                <a:latin typeface="Arial"/>
                <a:ea typeface="Arial"/>
                <a:cs typeface="Arial"/>
              </a:rPr>
              <a:t>Look at the objects and name their properties.</a:t>
            </a:r>
          </a:p>
        </p:txBody>
      </p:sp>
      <p:sp>
        <p:nvSpPr>
          <p:cNvPr id="15" name="Rectangle: Rounded Corners 14">
            <a:extLst>
              <a:ext uri="{FF2B5EF4-FFF2-40B4-BE49-F238E27FC236}">
                <a16:creationId xmlns:a16="http://schemas.microsoft.com/office/drawing/2014/main" id="{B3F47739-FE93-43FD-958E-C0F01A8CFD61}"/>
              </a:ext>
            </a:extLst>
          </p:cNvPr>
          <p:cNvSpPr>
            <a:spLocks noGrp="1"/>
          </p:cNvSpPr>
          <p:nvPr/>
        </p:nvSpPr>
        <p:spPr>
          <a:xfrm>
            <a:off x="3524250" y="1571625"/>
            <a:ext cx="2571750" cy="3810000"/>
          </a:xfrm>
          <a:prstGeom prst="roundRect">
            <a:avLst>
              <a:gd name="adj" fmla="val 2963"/>
            </a:avLst>
          </a:prstGeom>
          <a:solidFill>
            <a:srgbClr val="E9F4FB"/>
          </a:solidFill>
          <a:ln w="19050">
            <a:solidFill>
              <a:srgbClr val="3F7DC0"/>
            </a:solidFill>
          </a:ln>
        </p:spPr>
      </p:sp>
      <p:sp>
        <p:nvSpPr>
          <p:cNvPr id="16" name="Oval 15">
            <a:extLst>
              <a:ext uri="{FF2B5EF4-FFF2-40B4-BE49-F238E27FC236}">
                <a16:creationId xmlns:a16="http://schemas.microsoft.com/office/drawing/2014/main" id="{D13F1574-3259-475A-A6F2-57FD0AF77C10}"/>
              </a:ext>
            </a:extLst>
          </p:cNvPr>
          <p:cNvSpPr>
            <a:spLocks noGrp="1"/>
          </p:cNvSpPr>
          <p:nvPr/>
        </p:nvSpPr>
        <p:spPr>
          <a:xfrm>
            <a:off x="4429125" y="1857375"/>
            <a:ext cx="762000" cy="762000"/>
          </a:xfrm>
          <a:prstGeom prst="ellipse">
            <a:avLst/>
          </a:prstGeom>
          <a:solidFill>
            <a:srgbClr val="3F7DC0"/>
          </a:solidFill>
          <a:ln w="0">
            <a:noFill/>
          </a:ln>
        </p:spPr>
      </p:sp>
      <p:sp>
        <p:nvSpPr>
          <p:cNvPr id="17" name="Rectangle 16">
            <a:extLst>
              <a:ext uri="{FF2B5EF4-FFF2-40B4-BE49-F238E27FC236}">
                <a16:creationId xmlns:a16="http://schemas.microsoft.com/office/drawing/2014/main" id="{E4758F5E-5161-4F98-9583-6EB85E1E529C}"/>
              </a:ext>
            </a:extLst>
          </p:cNvPr>
          <p:cNvSpPr>
            <a:spLocks noGrp="1"/>
          </p:cNvSpPr>
          <p:nvPr/>
        </p:nvSpPr>
        <p:spPr>
          <a:xfrm>
            <a:off x="4429125" y="1952625"/>
            <a:ext cx="762000" cy="552450"/>
          </a:xfrm>
          <a:prstGeom prst="rect">
            <a:avLst/>
          </a:prstGeom>
          <a:noFill/>
          <a:ln w="0">
            <a:noFill/>
          </a:ln>
        </p:spPr>
        <p:txBody>
          <a:bodyPr anchor="ctr">
            <a:normAutofit/>
          </a:bodyPr>
          <a:lstStyle/>
          <a:p>
            <a:pPr algn="ctr">
              <a:defRPr sz="2250" b="1">
                <a:solidFill>
                  <a:srgbClr val="FFFFFF"/>
                </a:solidFill>
                <a:latin typeface="Arial"/>
                <a:ea typeface="Arial"/>
                <a:cs typeface="Arial"/>
              </a:defRPr>
            </a:pPr>
            <a:r>
              <a:rPr sz="2250" b="1">
                <a:solidFill>
                  <a:srgbClr val="FFFFFF"/>
                </a:solidFill>
                <a:latin typeface="Arial"/>
                <a:ea typeface="Arial"/>
                <a:cs typeface="Arial"/>
              </a:rPr>
              <a:t>2</a:t>
            </a:r>
          </a:p>
        </p:txBody>
      </p:sp>
      <p:sp>
        <p:nvSpPr>
          <p:cNvPr id="18" name="Rectangle 17">
            <a:extLst>
              <a:ext uri="{FF2B5EF4-FFF2-40B4-BE49-F238E27FC236}">
                <a16:creationId xmlns:a16="http://schemas.microsoft.com/office/drawing/2014/main" id="{E9B723CD-63D6-4D3A-BD5C-9708D26C75F6}"/>
              </a:ext>
            </a:extLst>
          </p:cNvPr>
          <p:cNvSpPr>
            <a:spLocks noGrp="1"/>
          </p:cNvSpPr>
          <p:nvPr/>
        </p:nvSpPr>
        <p:spPr>
          <a:xfrm>
            <a:off x="3810000" y="2905125"/>
            <a:ext cx="2000250" cy="438150"/>
          </a:xfrm>
          <a:prstGeom prst="rect">
            <a:avLst/>
          </a:prstGeom>
          <a:noFill/>
          <a:ln w="0">
            <a:noFill/>
          </a:ln>
        </p:spPr>
        <p:txBody>
          <a:bodyPr anchor="ctr">
            <a:normAutofit/>
          </a:bodyPr>
          <a:lstStyle/>
          <a:p>
            <a:pPr algn="ctr">
              <a:defRPr sz="1650" b="1">
                <a:solidFill>
                  <a:srgbClr val="17253A"/>
                </a:solidFill>
                <a:latin typeface="Arial"/>
                <a:ea typeface="Arial"/>
                <a:cs typeface="Arial"/>
              </a:defRPr>
            </a:pPr>
            <a:r>
              <a:rPr sz="1650" b="1">
                <a:solidFill>
                  <a:srgbClr val="17253A"/>
                </a:solidFill>
                <a:latin typeface="Arial"/>
                <a:ea typeface="Arial"/>
                <a:cs typeface="Arial"/>
              </a:rPr>
              <a:t>CHOOSE</a:t>
            </a:r>
          </a:p>
        </p:txBody>
      </p:sp>
      <p:sp>
        <p:nvSpPr>
          <p:cNvPr id="19" name="Rectangle 18">
            <a:extLst>
              <a:ext uri="{FF2B5EF4-FFF2-40B4-BE49-F238E27FC236}">
                <a16:creationId xmlns:a16="http://schemas.microsoft.com/office/drawing/2014/main" id="{E1CB1710-39DF-427C-9F35-08058D8B092D}"/>
              </a:ext>
            </a:extLst>
          </p:cNvPr>
          <p:cNvSpPr>
            <a:spLocks noGrp="1"/>
          </p:cNvSpPr>
          <p:nvPr/>
        </p:nvSpPr>
        <p:spPr>
          <a:xfrm>
            <a:off x="3810000" y="3524250"/>
            <a:ext cx="2000250" cy="1190625"/>
          </a:xfrm>
          <a:prstGeom prst="rect">
            <a:avLst/>
          </a:prstGeom>
          <a:noFill/>
          <a:ln w="0">
            <a:noFill/>
          </a:ln>
        </p:spPr>
        <p:txBody>
          <a:bodyPr anchor="ctr">
            <a:normAutofit/>
          </a:bodyPr>
          <a:lstStyle/>
          <a:p>
            <a:pPr algn="ctr">
              <a:defRPr sz="1500" b="0">
                <a:solidFill>
                  <a:srgbClr val="40516A"/>
                </a:solidFill>
                <a:latin typeface="Arial"/>
                <a:ea typeface="Arial"/>
                <a:cs typeface="Arial"/>
              </a:defRPr>
            </a:pPr>
            <a:r>
              <a:rPr sz="1500" b="0">
                <a:solidFill>
                  <a:srgbClr val="40516A"/>
                </a:solidFill>
                <a:latin typeface="Arial"/>
                <a:ea typeface="Arial"/>
                <a:cs typeface="Arial"/>
              </a:rPr>
              <a:t>Choose one property, such as colour.</a:t>
            </a:r>
          </a:p>
        </p:txBody>
      </p:sp>
      <p:sp>
        <p:nvSpPr>
          <p:cNvPr id="20" name="Rectangle: Rounded Corners 19">
            <a:extLst>
              <a:ext uri="{FF2B5EF4-FFF2-40B4-BE49-F238E27FC236}">
                <a16:creationId xmlns:a16="http://schemas.microsoft.com/office/drawing/2014/main" id="{47F91168-38C9-4BBF-AF41-9424BDD90CFC}"/>
              </a:ext>
            </a:extLst>
          </p:cNvPr>
          <p:cNvSpPr>
            <a:spLocks noGrp="1"/>
          </p:cNvSpPr>
          <p:nvPr/>
        </p:nvSpPr>
        <p:spPr>
          <a:xfrm>
            <a:off x="6381750" y="1571625"/>
            <a:ext cx="2571750" cy="3810000"/>
          </a:xfrm>
          <a:prstGeom prst="roundRect">
            <a:avLst>
              <a:gd name="adj" fmla="val 2963"/>
            </a:avLst>
          </a:prstGeom>
          <a:solidFill>
            <a:srgbClr val="FFF0E7"/>
          </a:solidFill>
          <a:ln w="19050">
            <a:solidFill>
              <a:srgbClr val="B4232B"/>
            </a:solidFill>
          </a:ln>
        </p:spPr>
      </p:sp>
      <p:sp>
        <p:nvSpPr>
          <p:cNvPr id="21" name="Oval 20">
            <a:extLst>
              <a:ext uri="{FF2B5EF4-FFF2-40B4-BE49-F238E27FC236}">
                <a16:creationId xmlns:a16="http://schemas.microsoft.com/office/drawing/2014/main" id="{C39CDF15-930A-428F-B0D4-F5CC27E6A3C9}"/>
              </a:ext>
            </a:extLst>
          </p:cNvPr>
          <p:cNvSpPr>
            <a:spLocks noGrp="1"/>
          </p:cNvSpPr>
          <p:nvPr/>
        </p:nvSpPr>
        <p:spPr>
          <a:xfrm>
            <a:off x="7286625" y="1857375"/>
            <a:ext cx="762000" cy="762000"/>
          </a:xfrm>
          <a:prstGeom prst="ellipse">
            <a:avLst/>
          </a:prstGeom>
          <a:solidFill>
            <a:srgbClr val="B4232B"/>
          </a:solidFill>
          <a:ln w="0">
            <a:noFill/>
          </a:ln>
        </p:spPr>
      </p:sp>
      <p:sp>
        <p:nvSpPr>
          <p:cNvPr id="22" name="Rectangle 21">
            <a:extLst>
              <a:ext uri="{FF2B5EF4-FFF2-40B4-BE49-F238E27FC236}">
                <a16:creationId xmlns:a16="http://schemas.microsoft.com/office/drawing/2014/main" id="{87467CB6-430D-4F4A-A0D9-8DD379D5BCAC}"/>
              </a:ext>
            </a:extLst>
          </p:cNvPr>
          <p:cNvSpPr>
            <a:spLocks noGrp="1"/>
          </p:cNvSpPr>
          <p:nvPr/>
        </p:nvSpPr>
        <p:spPr>
          <a:xfrm>
            <a:off x="7286625" y="1952625"/>
            <a:ext cx="762000" cy="552450"/>
          </a:xfrm>
          <a:prstGeom prst="rect">
            <a:avLst/>
          </a:prstGeom>
          <a:noFill/>
          <a:ln w="0">
            <a:noFill/>
          </a:ln>
        </p:spPr>
        <p:txBody>
          <a:bodyPr anchor="ctr">
            <a:normAutofit/>
          </a:bodyPr>
          <a:lstStyle/>
          <a:p>
            <a:pPr algn="ctr">
              <a:defRPr sz="2250" b="1">
                <a:solidFill>
                  <a:srgbClr val="FFFFFF"/>
                </a:solidFill>
                <a:latin typeface="Arial"/>
                <a:ea typeface="Arial"/>
                <a:cs typeface="Arial"/>
              </a:defRPr>
            </a:pPr>
            <a:r>
              <a:rPr sz="2250" b="1">
                <a:solidFill>
                  <a:srgbClr val="FFFFFF"/>
                </a:solidFill>
                <a:latin typeface="Arial"/>
                <a:ea typeface="Arial"/>
                <a:cs typeface="Arial"/>
              </a:rPr>
              <a:t>3</a:t>
            </a:r>
          </a:p>
        </p:txBody>
      </p:sp>
      <p:sp>
        <p:nvSpPr>
          <p:cNvPr id="23" name="Rectangle 22">
            <a:extLst>
              <a:ext uri="{FF2B5EF4-FFF2-40B4-BE49-F238E27FC236}">
                <a16:creationId xmlns:a16="http://schemas.microsoft.com/office/drawing/2014/main" id="{9D243408-71DF-4050-8D75-6793A324B328}"/>
              </a:ext>
            </a:extLst>
          </p:cNvPr>
          <p:cNvSpPr>
            <a:spLocks noGrp="1"/>
          </p:cNvSpPr>
          <p:nvPr/>
        </p:nvSpPr>
        <p:spPr>
          <a:xfrm>
            <a:off x="6667500" y="2905125"/>
            <a:ext cx="2000250" cy="438150"/>
          </a:xfrm>
          <a:prstGeom prst="rect">
            <a:avLst/>
          </a:prstGeom>
          <a:noFill/>
          <a:ln w="0">
            <a:noFill/>
          </a:ln>
        </p:spPr>
        <p:txBody>
          <a:bodyPr anchor="ctr">
            <a:normAutofit/>
          </a:bodyPr>
          <a:lstStyle/>
          <a:p>
            <a:pPr algn="ctr">
              <a:defRPr sz="1650" b="1">
                <a:solidFill>
                  <a:srgbClr val="17253A"/>
                </a:solidFill>
                <a:latin typeface="Arial"/>
                <a:ea typeface="Arial"/>
                <a:cs typeface="Arial"/>
              </a:defRPr>
            </a:pPr>
            <a:r>
              <a:rPr sz="1650" b="1">
                <a:solidFill>
                  <a:srgbClr val="17253A"/>
                </a:solidFill>
                <a:latin typeface="Arial"/>
                <a:ea typeface="Arial"/>
                <a:cs typeface="Arial"/>
              </a:rPr>
              <a:t>SAY + PLACE</a:t>
            </a:r>
          </a:p>
        </p:txBody>
      </p:sp>
      <p:sp>
        <p:nvSpPr>
          <p:cNvPr id="24" name="Rectangle 23">
            <a:extLst>
              <a:ext uri="{FF2B5EF4-FFF2-40B4-BE49-F238E27FC236}">
                <a16:creationId xmlns:a16="http://schemas.microsoft.com/office/drawing/2014/main" id="{0B3DF817-4425-4E01-95B4-969DEC82AA61}"/>
              </a:ext>
            </a:extLst>
          </p:cNvPr>
          <p:cNvSpPr>
            <a:spLocks noGrp="1"/>
          </p:cNvSpPr>
          <p:nvPr/>
        </p:nvSpPr>
        <p:spPr>
          <a:xfrm>
            <a:off x="6667500" y="3524250"/>
            <a:ext cx="2000250" cy="1190625"/>
          </a:xfrm>
          <a:prstGeom prst="rect">
            <a:avLst/>
          </a:prstGeom>
          <a:noFill/>
          <a:ln w="0">
            <a:noFill/>
          </a:ln>
        </p:spPr>
        <p:txBody>
          <a:bodyPr anchor="ctr">
            <a:normAutofit/>
          </a:bodyPr>
          <a:lstStyle/>
          <a:p>
            <a:pPr algn="ctr">
              <a:defRPr sz="1500" b="0">
                <a:solidFill>
                  <a:srgbClr val="40516A"/>
                </a:solidFill>
                <a:latin typeface="Arial"/>
                <a:ea typeface="Arial"/>
                <a:cs typeface="Arial"/>
              </a:defRPr>
            </a:pPr>
            <a:r>
              <a:rPr sz="1500" b="0">
                <a:solidFill>
                  <a:srgbClr val="40516A"/>
                </a:solidFill>
                <a:latin typeface="Arial"/>
                <a:ea typeface="Arial"/>
                <a:cs typeface="Arial"/>
              </a:rPr>
              <a:t>Say the rule, then place one object at a time.</a:t>
            </a:r>
          </a:p>
        </p:txBody>
      </p:sp>
      <p:sp>
        <p:nvSpPr>
          <p:cNvPr id="25" name="Rectangle: Rounded Corners 24">
            <a:extLst>
              <a:ext uri="{FF2B5EF4-FFF2-40B4-BE49-F238E27FC236}">
                <a16:creationId xmlns:a16="http://schemas.microsoft.com/office/drawing/2014/main" id="{1CE3B0ED-6C14-49F1-97D8-788448AE87AC}"/>
              </a:ext>
            </a:extLst>
          </p:cNvPr>
          <p:cNvSpPr>
            <a:spLocks noGrp="1"/>
          </p:cNvSpPr>
          <p:nvPr/>
        </p:nvSpPr>
        <p:spPr>
          <a:xfrm>
            <a:off x="9239250" y="1571625"/>
            <a:ext cx="2571750" cy="3810000"/>
          </a:xfrm>
          <a:prstGeom prst="roundRect">
            <a:avLst>
              <a:gd name="adj" fmla="val 2963"/>
            </a:avLst>
          </a:prstGeom>
          <a:solidFill>
            <a:srgbClr val="E9F4FB"/>
          </a:solidFill>
          <a:ln w="19050">
            <a:solidFill>
              <a:srgbClr val="3F7DC0"/>
            </a:solidFill>
          </a:ln>
        </p:spPr>
      </p:sp>
      <p:sp>
        <p:nvSpPr>
          <p:cNvPr id="26" name="Oval 25">
            <a:extLst>
              <a:ext uri="{FF2B5EF4-FFF2-40B4-BE49-F238E27FC236}">
                <a16:creationId xmlns:a16="http://schemas.microsoft.com/office/drawing/2014/main" id="{A4E74028-73F7-439C-B933-CB98789AA469}"/>
              </a:ext>
            </a:extLst>
          </p:cNvPr>
          <p:cNvSpPr>
            <a:spLocks noGrp="1"/>
          </p:cNvSpPr>
          <p:nvPr/>
        </p:nvSpPr>
        <p:spPr>
          <a:xfrm>
            <a:off x="10144125" y="1857375"/>
            <a:ext cx="762000" cy="762000"/>
          </a:xfrm>
          <a:prstGeom prst="ellipse">
            <a:avLst/>
          </a:prstGeom>
          <a:solidFill>
            <a:srgbClr val="3F7DC0"/>
          </a:solidFill>
          <a:ln w="0">
            <a:noFill/>
          </a:ln>
        </p:spPr>
      </p:sp>
      <p:sp>
        <p:nvSpPr>
          <p:cNvPr id="27" name="Rectangle 26">
            <a:extLst>
              <a:ext uri="{FF2B5EF4-FFF2-40B4-BE49-F238E27FC236}">
                <a16:creationId xmlns:a16="http://schemas.microsoft.com/office/drawing/2014/main" id="{6ACAC861-5F06-4C4B-AF18-56DAF6EF75C8}"/>
              </a:ext>
            </a:extLst>
          </p:cNvPr>
          <p:cNvSpPr>
            <a:spLocks noGrp="1"/>
          </p:cNvSpPr>
          <p:nvPr/>
        </p:nvSpPr>
        <p:spPr>
          <a:xfrm>
            <a:off x="10144125" y="1952625"/>
            <a:ext cx="762000" cy="552450"/>
          </a:xfrm>
          <a:prstGeom prst="rect">
            <a:avLst/>
          </a:prstGeom>
          <a:noFill/>
          <a:ln w="0">
            <a:noFill/>
          </a:ln>
        </p:spPr>
        <p:txBody>
          <a:bodyPr anchor="ctr">
            <a:normAutofit/>
          </a:bodyPr>
          <a:lstStyle/>
          <a:p>
            <a:pPr algn="ctr">
              <a:defRPr sz="2250" b="1">
                <a:solidFill>
                  <a:srgbClr val="FFFFFF"/>
                </a:solidFill>
                <a:latin typeface="Arial"/>
                <a:ea typeface="Arial"/>
                <a:cs typeface="Arial"/>
              </a:defRPr>
            </a:pPr>
            <a:r>
              <a:rPr sz="2250" b="1">
                <a:solidFill>
                  <a:srgbClr val="FFFFFF"/>
                </a:solidFill>
                <a:latin typeface="Arial"/>
                <a:ea typeface="Arial"/>
                <a:cs typeface="Arial"/>
              </a:rPr>
              <a:t>4</a:t>
            </a:r>
          </a:p>
        </p:txBody>
      </p:sp>
      <p:sp>
        <p:nvSpPr>
          <p:cNvPr id="28" name="Rectangle 27">
            <a:extLst>
              <a:ext uri="{FF2B5EF4-FFF2-40B4-BE49-F238E27FC236}">
                <a16:creationId xmlns:a16="http://schemas.microsoft.com/office/drawing/2014/main" id="{A6DD6A73-BF06-44B4-A924-374A3510A861}"/>
              </a:ext>
            </a:extLst>
          </p:cNvPr>
          <p:cNvSpPr>
            <a:spLocks noGrp="1"/>
          </p:cNvSpPr>
          <p:nvPr/>
        </p:nvSpPr>
        <p:spPr>
          <a:xfrm>
            <a:off x="9525000" y="2905125"/>
            <a:ext cx="2000250" cy="438150"/>
          </a:xfrm>
          <a:prstGeom prst="rect">
            <a:avLst/>
          </a:prstGeom>
          <a:noFill/>
          <a:ln w="0">
            <a:noFill/>
          </a:ln>
        </p:spPr>
        <p:txBody>
          <a:bodyPr anchor="ctr">
            <a:normAutofit/>
          </a:bodyPr>
          <a:lstStyle/>
          <a:p>
            <a:pPr algn="ctr">
              <a:defRPr sz="1650" b="1">
                <a:solidFill>
                  <a:srgbClr val="17253A"/>
                </a:solidFill>
                <a:latin typeface="Arial"/>
                <a:ea typeface="Arial"/>
                <a:cs typeface="Arial"/>
              </a:defRPr>
            </a:pPr>
            <a:r>
              <a:rPr sz="1650" b="1">
                <a:solidFill>
                  <a:srgbClr val="17253A"/>
                </a:solidFill>
                <a:latin typeface="Arial"/>
                <a:ea typeface="Arial"/>
                <a:cs typeface="Arial"/>
              </a:rPr>
              <a:t>CHECK</a:t>
            </a:r>
          </a:p>
        </p:txBody>
      </p:sp>
      <p:sp>
        <p:nvSpPr>
          <p:cNvPr id="29" name="Rectangle 28">
            <a:extLst>
              <a:ext uri="{FF2B5EF4-FFF2-40B4-BE49-F238E27FC236}">
                <a16:creationId xmlns:a16="http://schemas.microsoft.com/office/drawing/2014/main" id="{0966B8DB-3893-4D65-92FC-93AF6EA85335}"/>
              </a:ext>
            </a:extLst>
          </p:cNvPr>
          <p:cNvSpPr>
            <a:spLocks noGrp="1"/>
          </p:cNvSpPr>
          <p:nvPr/>
        </p:nvSpPr>
        <p:spPr>
          <a:xfrm>
            <a:off x="9525000" y="3524250"/>
            <a:ext cx="2000250" cy="1190625"/>
          </a:xfrm>
          <a:prstGeom prst="rect">
            <a:avLst/>
          </a:prstGeom>
          <a:noFill/>
          <a:ln w="0">
            <a:noFill/>
          </a:ln>
        </p:spPr>
        <p:txBody>
          <a:bodyPr anchor="ctr">
            <a:normAutofit/>
          </a:bodyPr>
          <a:lstStyle/>
          <a:p>
            <a:pPr algn="ctr">
              <a:defRPr sz="1500" b="0">
                <a:solidFill>
                  <a:srgbClr val="40516A"/>
                </a:solidFill>
                <a:latin typeface="Arial"/>
                <a:ea typeface="Arial"/>
                <a:cs typeface="Arial"/>
              </a:defRPr>
            </a:pPr>
            <a:r>
              <a:rPr sz="1500" b="0">
                <a:solidFill>
                  <a:srgbClr val="40516A"/>
                </a:solidFill>
                <a:latin typeface="Arial"/>
                <a:ea typeface="Arial"/>
                <a:cs typeface="Arial"/>
              </a:rPr>
              <a:t>Check every object against the same rule.</a:t>
            </a:r>
          </a:p>
        </p:txBody>
      </p:sp>
      <p:sp>
        <p:nvSpPr>
          <p:cNvPr id="30" name="Rectangle: Rounded Corners 29">
            <a:extLst>
              <a:ext uri="{FF2B5EF4-FFF2-40B4-BE49-F238E27FC236}">
                <a16:creationId xmlns:a16="http://schemas.microsoft.com/office/drawing/2014/main" id="{02859FB7-AE34-473E-A6BB-0002FC93CAFF}"/>
              </a:ext>
            </a:extLst>
          </p:cNvPr>
          <p:cNvSpPr>
            <a:spLocks noGrp="1"/>
          </p:cNvSpPr>
          <p:nvPr/>
        </p:nvSpPr>
        <p:spPr>
          <a:xfrm>
            <a:off x="1809750" y="5619750"/>
            <a:ext cx="8572500" cy="571500"/>
          </a:xfrm>
          <a:prstGeom prst="roundRect">
            <a:avLst>
              <a:gd name="adj" fmla="val 13333"/>
            </a:avLst>
          </a:prstGeom>
          <a:solidFill>
            <a:srgbClr val="FFFFFF"/>
          </a:solidFill>
          <a:ln w="19050">
            <a:solidFill>
              <a:srgbClr val="D9DEE7"/>
            </a:solidFill>
          </a:ln>
        </p:spPr>
      </p:sp>
      <p:sp>
        <p:nvSpPr>
          <p:cNvPr id="31" name="Rectangle 30">
            <a:extLst>
              <a:ext uri="{FF2B5EF4-FFF2-40B4-BE49-F238E27FC236}">
                <a16:creationId xmlns:a16="http://schemas.microsoft.com/office/drawing/2014/main" id="{040AD2F7-E445-4934-9821-E50F1297777D}"/>
              </a:ext>
            </a:extLst>
          </p:cNvPr>
          <p:cNvSpPr>
            <a:spLocks noGrp="1"/>
          </p:cNvSpPr>
          <p:nvPr/>
        </p:nvSpPr>
        <p:spPr>
          <a:xfrm>
            <a:off x="2019300" y="5734050"/>
            <a:ext cx="8153400" cy="342900"/>
          </a:xfrm>
          <a:prstGeom prst="rect">
            <a:avLst/>
          </a:prstGeom>
          <a:noFill/>
          <a:ln w="0">
            <a:noFill/>
          </a:ln>
        </p:spPr>
        <p:txBody>
          <a:bodyPr anchor="ctr">
            <a:normAutofit fontScale="88166"/>
          </a:bodyPr>
          <a:lstStyle/>
          <a:p>
            <a:pPr algn="ctr">
              <a:defRPr sz="1650" b="1">
                <a:solidFill>
                  <a:srgbClr val="17253A"/>
                </a:solidFill>
                <a:latin typeface="Arial"/>
                <a:ea typeface="Arial"/>
                <a:cs typeface="Arial"/>
              </a:defRPr>
            </a:pPr>
            <a:r>
              <a:rPr sz="1650" b="1">
                <a:solidFill>
                  <a:srgbClr val="17253A"/>
                </a:solidFill>
                <a:latin typeface="Arial"/>
                <a:ea typeface="Arial"/>
                <a:cs typeface="Arial"/>
              </a:rPr>
              <a:t>Remember: one object can have many properties. The rule tells us which one matters now.</a:t>
            </a:r>
          </a:p>
        </p:txBody>
      </p:sp>
    </p:spTree>
    <p:extLst>
      <p:ext uri="{BB962C8B-B14F-4D97-AF65-F5344CB8AC3E}">
        <p14:creationId xmlns:p14="http://schemas.microsoft.com/office/powerpoint/2010/main" val="649067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4" grpId="0"/>
      <p:bldP spid="17" grpId="0"/>
      <p:bldP spid="19" grpId="0"/>
      <p:bldP spid="22" grpId="0"/>
      <p:bldP spid="24" grpId="0"/>
      <p:bldP spid="27" grpId="0"/>
      <p:bldP spid="29" grpId="0"/>
      <p:bldP spid="31"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7EA"/>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711391C2-DA31-4156-A1FF-D8172E8713E8}"/>
              </a:ext>
            </a:extLst>
          </p:cNvPr>
          <p:cNvSpPr>
            <a:spLocks noGrp="1"/>
          </p:cNvSpPr>
          <p:nvPr/>
        </p:nvSpPr>
        <p:spPr>
          <a:xfrm>
            <a:off x="0" y="0"/>
            <a:ext cx="12192000" cy="171450"/>
          </a:xfrm>
          <a:prstGeom prst="rect">
            <a:avLst/>
          </a:prstGeom>
          <a:solidFill>
            <a:srgbClr val="B4232B"/>
          </a:solidFill>
          <a:ln w="0">
            <a:noFill/>
          </a:ln>
        </p:spPr>
      </p:sp>
      <p:sp>
        <p:nvSpPr>
          <p:cNvPr id="2" name="Rectangle 1">
            <a:extLst>
              <a:ext uri="{FF2B5EF4-FFF2-40B4-BE49-F238E27FC236}">
                <a16:creationId xmlns:a16="http://schemas.microsoft.com/office/drawing/2014/main" id="{C9D4916D-8B1E-46E4-ACDB-2F2C5B779F65}"/>
              </a:ext>
            </a:extLst>
          </p:cNvPr>
          <p:cNvSpPr>
            <a:spLocks noGrp="1"/>
          </p:cNvSpPr>
          <p:nvPr/>
        </p:nvSpPr>
        <p:spPr>
          <a:xfrm>
            <a:off x="552450" y="285750"/>
            <a:ext cx="6858000" cy="266700"/>
          </a:xfrm>
          <a:prstGeom prst="rect">
            <a:avLst/>
          </a:prstGeom>
          <a:noFill/>
          <a:ln w="0">
            <a:noFill/>
          </a:ln>
        </p:spPr>
        <p:txBody>
          <a:bodyPr anchor="ctr">
            <a:normAutofit/>
          </a:bodyPr>
          <a:lstStyle/>
          <a:p>
            <a:pPr algn="l">
              <a:defRPr sz="1050" b="1">
                <a:solidFill>
                  <a:srgbClr val="B4232B"/>
                </a:solidFill>
                <a:latin typeface="Arial"/>
                <a:ea typeface="Arial"/>
                <a:cs typeface="Arial"/>
              </a:defRPr>
            </a:pPr>
            <a:r>
              <a:rPr sz="1050" b="1">
                <a:solidFill>
                  <a:srgbClr val="B4232B"/>
                </a:solidFill>
                <a:latin typeface="Arial"/>
                <a:ea typeface="Arial"/>
                <a:cs typeface="Arial"/>
              </a:rPr>
              <a:t>YEAR 1 MATHS  •  AUTUMN  •  WEEK 1  •  DAY 1</a:t>
            </a:r>
          </a:p>
        </p:txBody>
      </p:sp>
      <p:sp>
        <p:nvSpPr>
          <p:cNvPr id="3" name="Rectangle: Rounded Corners 2">
            <a:extLst>
              <a:ext uri="{FF2B5EF4-FFF2-40B4-BE49-F238E27FC236}">
                <a16:creationId xmlns:a16="http://schemas.microsoft.com/office/drawing/2014/main" id="{9F4ECE4F-80DD-4536-BD54-5A051850B9FC}"/>
              </a:ext>
            </a:extLst>
          </p:cNvPr>
          <p:cNvSpPr>
            <a:spLocks noGrp="1"/>
          </p:cNvSpPr>
          <p:nvPr/>
        </p:nvSpPr>
        <p:spPr>
          <a:xfrm>
            <a:off x="552450" y="685800"/>
            <a:ext cx="1238250" cy="323850"/>
          </a:xfrm>
          <a:prstGeom prst="roundRect">
            <a:avLst>
              <a:gd name="adj" fmla="val 23529"/>
            </a:avLst>
          </a:prstGeom>
          <a:solidFill>
            <a:srgbClr val="B4232B"/>
          </a:solidFill>
          <a:ln w="0">
            <a:noFill/>
          </a:ln>
        </p:spPr>
      </p:sp>
      <p:sp>
        <p:nvSpPr>
          <p:cNvPr id="4" name="Rectangle 3">
            <a:extLst>
              <a:ext uri="{FF2B5EF4-FFF2-40B4-BE49-F238E27FC236}">
                <a16:creationId xmlns:a16="http://schemas.microsoft.com/office/drawing/2014/main" id="{3E0F2A11-7B61-403B-81FB-971EF2808A38}"/>
              </a:ext>
            </a:extLst>
          </p:cNvPr>
          <p:cNvSpPr>
            <a:spLocks noGrp="1"/>
          </p:cNvSpPr>
          <p:nvPr/>
        </p:nvSpPr>
        <p:spPr>
          <a:xfrm>
            <a:off x="590550" y="704850"/>
            <a:ext cx="1162050" cy="266700"/>
          </a:xfrm>
          <a:prstGeom prst="rect">
            <a:avLst/>
          </a:prstGeom>
          <a:noFill/>
          <a:ln w="0">
            <a:noFill/>
          </a:ln>
        </p:spPr>
        <p:txBody>
          <a:bodyPr anchor="ctr">
            <a:normAutofit/>
          </a:bodyPr>
          <a:lstStyle/>
          <a:p>
            <a:pPr algn="ctr">
              <a:defRPr sz="750" b="1">
                <a:solidFill>
                  <a:srgbClr val="FFFFFF"/>
                </a:solidFill>
                <a:latin typeface="Arial"/>
                <a:ea typeface="Arial"/>
                <a:cs typeface="Arial"/>
              </a:defRPr>
            </a:pPr>
            <a:r>
              <a:rPr sz="750" b="1">
                <a:solidFill>
                  <a:srgbClr val="FFFFFF"/>
                </a:solidFill>
                <a:latin typeface="Arial"/>
                <a:ea typeface="Arial"/>
                <a:cs typeface="Arial"/>
              </a:rPr>
              <a:t>MODEL</a:t>
            </a:r>
          </a:p>
        </p:txBody>
      </p:sp>
      <p:sp>
        <p:nvSpPr>
          <p:cNvPr id="5" name="Rectangle 4">
            <a:extLst>
              <a:ext uri="{FF2B5EF4-FFF2-40B4-BE49-F238E27FC236}">
                <a16:creationId xmlns:a16="http://schemas.microsoft.com/office/drawing/2014/main" id="{F9CAE741-4726-4DFD-891F-53E5C3F66566}"/>
              </a:ext>
            </a:extLst>
          </p:cNvPr>
          <p:cNvSpPr>
            <a:spLocks noGrp="1"/>
          </p:cNvSpPr>
          <p:nvPr/>
        </p:nvSpPr>
        <p:spPr>
          <a:xfrm>
            <a:off x="1962150" y="590550"/>
            <a:ext cx="8496300" cy="552450"/>
          </a:xfrm>
          <a:prstGeom prst="rect">
            <a:avLst/>
          </a:prstGeom>
          <a:noFill/>
          <a:ln w="0">
            <a:noFill/>
          </a:ln>
        </p:spPr>
        <p:txBody>
          <a:bodyPr anchor="ctr">
            <a:normAutofit/>
          </a:bodyPr>
          <a:lstStyle/>
          <a:p>
            <a:pPr algn="l">
              <a:defRPr sz="2625" b="1">
                <a:solidFill>
                  <a:srgbClr val="17253A"/>
                </a:solidFill>
                <a:latin typeface="Arial"/>
                <a:ea typeface="Arial"/>
                <a:cs typeface="Arial"/>
              </a:defRPr>
            </a:pPr>
            <a:r>
              <a:rPr sz="2625" b="1">
                <a:solidFill>
                  <a:srgbClr val="17253A"/>
                </a:solidFill>
                <a:latin typeface="Arial"/>
                <a:ea typeface="Arial"/>
                <a:cs typeface="Arial"/>
              </a:rPr>
              <a:t>Teacher model: sort by colour</a:t>
            </a:r>
          </a:p>
        </p:txBody>
      </p:sp>
      <p:sp>
        <p:nvSpPr>
          <p:cNvPr id="6" name="Rectangle 5">
            <a:extLst>
              <a:ext uri="{FF2B5EF4-FFF2-40B4-BE49-F238E27FC236}">
                <a16:creationId xmlns:a16="http://schemas.microsoft.com/office/drawing/2014/main" id="{7E75FFC8-BEF0-4BEF-B298-2319FBFC694F}"/>
              </a:ext>
            </a:extLst>
          </p:cNvPr>
          <p:cNvSpPr>
            <a:spLocks noGrp="1"/>
          </p:cNvSpPr>
          <p:nvPr/>
        </p:nvSpPr>
        <p:spPr>
          <a:xfrm>
            <a:off x="10668000" y="400050"/>
            <a:ext cx="952500" cy="228600"/>
          </a:xfrm>
          <a:prstGeom prst="rect">
            <a:avLst/>
          </a:prstGeom>
          <a:noFill/>
          <a:ln w="0">
            <a:noFill/>
          </a:ln>
        </p:spPr>
        <p:txBody>
          <a:bodyPr anchor="ctr">
            <a:normAutofit fontScale="92308"/>
          </a:bodyPr>
          <a:lstStyle/>
          <a:p>
            <a:pPr algn="r">
              <a:defRPr sz="975" b="1">
                <a:solidFill>
                  <a:srgbClr val="6B788A"/>
                </a:solidFill>
                <a:latin typeface="Arial"/>
                <a:ea typeface="Arial"/>
                <a:cs typeface="Arial"/>
              </a:defRPr>
            </a:pPr>
            <a:r>
              <a:rPr sz="975" b="1">
                <a:solidFill>
                  <a:srgbClr val="6B788A"/>
                </a:solidFill>
                <a:latin typeface="Arial"/>
                <a:ea typeface="Arial"/>
                <a:cs typeface="Arial"/>
              </a:rPr>
              <a:t>7 / 15</a:t>
            </a:r>
          </a:p>
        </p:txBody>
      </p:sp>
      <p:sp>
        <p:nvSpPr>
          <p:cNvPr id="7" name="Rectangle 6">
            <a:extLst>
              <a:ext uri="{FF2B5EF4-FFF2-40B4-BE49-F238E27FC236}">
                <a16:creationId xmlns:a16="http://schemas.microsoft.com/office/drawing/2014/main" id="{D2B638D1-8C51-4C3D-A0B3-3C12E21CCE29}"/>
              </a:ext>
            </a:extLst>
          </p:cNvPr>
          <p:cNvSpPr>
            <a:spLocks noGrp="1"/>
          </p:cNvSpPr>
          <p:nvPr/>
        </p:nvSpPr>
        <p:spPr>
          <a:xfrm>
            <a:off x="552450" y="6457950"/>
            <a:ext cx="11087100" cy="19050"/>
          </a:xfrm>
          <a:prstGeom prst="rect">
            <a:avLst/>
          </a:prstGeom>
          <a:solidFill>
            <a:srgbClr val="D9DEE7"/>
          </a:solidFill>
          <a:ln w="0">
            <a:noFill/>
          </a:ln>
        </p:spPr>
      </p:sp>
      <p:sp>
        <p:nvSpPr>
          <p:cNvPr id="8" name="Rectangle 7">
            <a:extLst>
              <a:ext uri="{FF2B5EF4-FFF2-40B4-BE49-F238E27FC236}">
                <a16:creationId xmlns:a16="http://schemas.microsoft.com/office/drawing/2014/main" id="{2786068B-D150-4B6E-85A4-1EC60F66C1AC}"/>
              </a:ext>
            </a:extLst>
          </p:cNvPr>
          <p:cNvSpPr>
            <a:spLocks noGrp="1"/>
          </p:cNvSpPr>
          <p:nvPr/>
        </p:nvSpPr>
        <p:spPr>
          <a:xfrm>
            <a:off x="552450" y="6543675"/>
            <a:ext cx="3429000" cy="190500"/>
          </a:xfrm>
          <a:prstGeom prst="rect">
            <a:avLst/>
          </a:prstGeom>
          <a:noFill/>
          <a:ln w="0">
            <a:noFill/>
          </a:ln>
        </p:spPr>
        <p:txBody>
          <a:bodyPr anchor="ctr">
            <a:normAutofit fontScale="72222"/>
          </a:bodyPr>
          <a:lstStyle/>
          <a:p>
            <a:pPr algn="l">
              <a:defRPr sz="900" b="0">
                <a:solidFill>
                  <a:srgbClr val="6B788A"/>
                </a:solidFill>
                <a:latin typeface="Arial"/>
                <a:ea typeface="Arial"/>
                <a:cs typeface="Arial"/>
              </a:defRPr>
            </a:pPr>
            <a:r>
              <a:rPr sz="900" b="0">
                <a:solidFill>
                  <a:srgbClr val="6B788A"/>
                </a:solidFill>
                <a:latin typeface="Arial"/>
                <a:ea typeface="Arial"/>
                <a:cs typeface="Arial"/>
              </a:rPr>
              <a:t>BrightPath Primary Learning</a:t>
            </a:r>
          </a:p>
        </p:txBody>
      </p:sp>
      <p:sp>
        <p:nvSpPr>
          <p:cNvPr id="9" name="Rectangle 8">
            <a:extLst>
              <a:ext uri="{FF2B5EF4-FFF2-40B4-BE49-F238E27FC236}">
                <a16:creationId xmlns:a16="http://schemas.microsoft.com/office/drawing/2014/main" id="{744A0F08-D16A-4D19-9268-846A2F7B38FB}"/>
              </a:ext>
            </a:extLst>
          </p:cNvPr>
          <p:cNvSpPr>
            <a:spLocks noGrp="1"/>
          </p:cNvSpPr>
          <p:nvPr/>
        </p:nvSpPr>
        <p:spPr>
          <a:xfrm>
            <a:off x="8477250" y="6543675"/>
            <a:ext cx="3162300" cy="190500"/>
          </a:xfrm>
          <a:prstGeom prst="rect">
            <a:avLst/>
          </a:prstGeom>
          <a:noFill/>
          <a:ln w="0">
            <a:noFill/>
          </a:ln>
        </p:spPr>
        <p:txBody>
          <a:bodyPr anchor="ctr">
            <a:normAutofit fontScale="72222"/>
          </a:bodyPr>
          <a:lstStyle/>
          <a:p>
            <a:pPr algn="r">
              <a:defRPr sz="900" b="0">
                <a:solidFill>
                  <a:srgbClr val="6B788A"/>
                </a:solidFill>
                <a:latin typeface="Arial"/>
                <a:ea typeface="Arial"/>
                <a:cs typeface="Arial"/>
              </a:defRPr>
            </a:pPr>
            <a:r>
              <a:rPr sz="900" b="0">
                <a:solidFill>
                  <a:srgbClr val="6B788A"/>
                </a:solidFill>
                <a:latin typeface="Arial"/>
                <a:ea typeface="Arial"/>
                <a:cs typeface="Arial"/>
              </a:rPr>
              <a:t>Sort objects into groups</a:t>
            </a:r>
          </a:p>
        </p:txBody>
      </p:sp>
      <p:sp>
        <p:nvSpPr>
          <p:cNvPr id="10" name="Rectangle: Rounded Corners 9">
            <a:extLst>
              <a:ext uri="{FF2B5EF4-FFF2-40B4-BE49-F238E27FC236}">
                <a16:creationId xmlns:a16="http://schemas.microsoft.com/office/drawing/2014/main" id="{08126BD5-D4C7-4D20-BA4B-EC9937D59F11}"/>
              </a:ext>
            </a:extLst>
          </p:cNvPr>
          <p:cNvSpPr>
            <a:spLocks noGrp="1"/>
          </p:cNvSpPr>
          <p:nvPr/>
        </p:nvSpPr>
        <p:spPr>
          <a:xfrm>
            <a:off x="666750" y="1524000"/>
            <a:ext cx="5095875" cy="4000500"/>
          </a:xfrm>
          <a:prstGeom prst="roundRect">
            <a:avLst>
              <a:gd name="adj" fmla="val 1905"/>
            </a:avLst>
          </a:prstGeom>
          <a:solidFill>
            <a:srgbClr val="FFFFFF"/>
          </a:solidFill>
          <a:ln w="57150">
            <a:solidFill>
              <a:srgbClr val="B4232B"/>
            </a:solidFill>
          </a:ln>
        </p:spPr>
      </p:sp>
      <p:sp>
        <p:nvSpPr>
          <p:cNvPr id="11" name="Rectangle: Rounded Corners 10">
            <a:extLst>
              <a:ext uri="{FF2B5EF4-FFF2-40B4-BE49-F238E27FC236}">
                <a16:creationId xmlns:a16="http://schemas.microsoft.com/office/drawing/2014/main" id="{26CBA436-D991-4F3E-89EE-4FD6D934173C}"/>
              </a:ext>
            </a:extLst>
          </p:cNvPr>
          <p:cNvSpPr>
            <a:spLocks noGrp="1"/>
          </p:cNvSpPr>
          <p:nvPr/>
        </p:nvSpPr>
        <p:spPr>
          <a:xfrm>
            <a:off x="1066800" y="1695450"/>
            <a:ext cx="4295775" cy="361950"/>
          </a:xfrm>
          <a:prstGeom prst="roundRect">
            <a:avLst>
              <a:gd name="adj" fmla="val 21053"/>
            </a:avLst>
          </a:prstGeom>
          <a:solidFill>
            <a:srgbClr val="B4232B"/>
          </a:solidFill>
          <a:ln w="0">
            <a:noFill/>
          </a:ln>
        </p:spPr>
      </p:sp>
      <p:sp>
        <p:nvSpPr>
          <p:cNvPr id="12" name="Rectangle 11">
            <a:extLst>
              <a:ext uri="{FF2B5EF4-FFF2-40B4-BE49-F238E27FC236}">
                <a16:creationId xmlns:a16="http://schemas.microsoft.com/office/drawing/2014/main" id="{E14B9A7D-AE68-4C28-9F27-823C3EDA6504}"/>
              </a:ext>
            </a:extLst>
          </p:cNvPr>
          <p:cNvSpPr>
            <a:spLocks noGrp="1"/>
          </p:cNvSpPr>
          <p:nvPr/>
        </p:nvSpPr>
        <p:spPr>
          <a:xfrm>
            <a:off x="1162050" y="1724025"/>
            <a:ext cx="4105275" cy="295275"/>
          </a:xfrm>
          <a:prstGeom prst="rect">
            <a:avLst/>
          </a:prstGeom>
          <a:noFill/>
          <a:ln w="0">
            <a:noFill/>
          </a:ln>
        </p:spPr>
        <p:txBody>
          <a:bodyPr anchor="ctr">
            <a:normAutofit/>
          </a:bodyP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RED GROUP</a:t>
            </a:r>
          </a:p>
        </p:txBody>
      </p:sp>
      <p:sp>
        <p:nvSpPr>
          <p:cNvPr id="13" name="Rectangle: Rounded Corners 12">
            <a:extLst>
              <a:ext uri="{FF2B5EF4-FFF2-40B4-BE49-F238E27FC236}">
                <a16:creationId xmlns:a16="http://schemas.microsoft.com/office/drawing/2014/main" id="{1F12E9C1-9FF1-4F2F-9D24-DE0D07EC8478}"/>
              </a:ext>
            </a:extLst>
          </p:cNvPr>
          <p:cNvSpPr>
            <a:spLocks noGrp="1"/>
          </p:cNvSpPr>
          <p:nvPr/>
        </p:nvSpPr>
        <p:spPr>
          <a:xfrm>
            <a:off x="6429375" y="1524000"/>
            <a:ext cx="5095875" cy="4000500"/>
          </a:xfrm>
          <a:prstGeom prst="roundRect">
            <a:avLst>
              <a:gd name="adj" fmla="val 1905"/>
            </a:avLst>
          </a:prstGeom>
          <a:solidFill>
            <a:srgbClr val="FFFFFF"/>
          </a:solidFill>
          <a:ln w="57150">
            <a:solidFill>
              <a:srgbClr val="3F7DC0"/>
            </a:solidFill>
          </a:ln>
        </p:spPr>
      </p:sp>
      <p:sp>
        <p:nvSpPr>
          <p:cNvPr id="14" name="Rectangle: Rounded Corners 13">
            <a:extLst>
              <a:ext uri="{FF2B5EF4-FFF2-40B4-BE49-F238E27FC236}">
                <a16:creationId xmlns:a16="http://schemas.microsoft.com/office/drawing/2014/main" id="{2AE352AA-B446-4FF7-AFB8-9A138CAC6F6E}"/>
              </a:ext>
            </a:extLst>
          </p:cNvPr>
          <p:cNvSpPr>
            <a:spLocks noGrp="1"/>
          </p:cNvSpPr>
          <p:nvPr/>
        </p:nvSpPr>
        <p:spPr>
          <a:xfrm>
            <a:off x="6829425" y="1695450"/>
            <a:ext cx="4295775" cy="361950"/>
          </a:xfrm>
          <a:prstGeom prst="roundRect">
            <a:avLst>
              <a:gd name="adj" fmla="val 21053"/>
            </a:avLst>
          </a:prstGeom>
          <a:solidFill>
            <a:srgbClr val="3F7DC0"/>
          </a:solidFill>
          <a:ln w="0">
            <a:noFill/>
          </a:ln>
        </p:spPr>
      </p:sp>
      <p:sp>
        <p:nvSpPr>
          <p:cNvPr id="15" name="Rectangle 14">
            <a:extLst>
              <a:ext uri="{FF2B5EF4-FFF2-40B4-BE49-F238E27FC236}">
                <a16:creationId xmlns:a16="http://schemas.microsoft.com/office/drawing/2014/main" id="{D7A92074-461A-4AA5-A1D2-08B45410387B}"/>
              </a:ext>
            </a:extLst>
          </p:cNvPr>
          <p:cNvSpPr>
            <a:spLocks noGrp="1"/>
          </p:cNvSpPr>
          <p:nvPr/>
        </p:nvSpPr>
        <p:spPr>
          <a:xfrm>
            <a:off x="6924675" y="1724025"/>
            <a:ext cx="4105275" cy="295275"/>
          </a:xfrm>
          <a:prstGeom prst="rect">
            <a:avLst/>
          </a:prstGeom>
          <a:noFill/>
          <a:ln w="0">
            <a:noFill/>
          </a:ln>
        </p:spPr>
        <p:txBody>
          <a:bodyPr anchor="ctr">
            <a:normAutofit/>
          </a:bodyP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BLUE GROUP</a:t>
            </a:r>
          </a:p>
        </p:txBody>
      </p:sp>
      <p:sp>
        <p:nvSpPr>
          <p:cNvPr id="16" name="Oval 15">
            <a:extLst>
              <a:ext uri="{FF2B5EF4-FFF2-40B4-BE49-F238E27FC236}">
                <a16:creationId xmlns:a16="http://schemas.microsoft.com/office/drawing/2014/main" id="{6D812CEB-0FB8-4F70-B8FD-3B60580D26AD}"/>
              </a:ext>
            </a:extLst>
          </p:cNvPr>
          <p:cNvSpPr>
            <a:spLocks noGrp="1"/>
          </p:cNvSpPr>
          <p:nvPr/>
        </p:nvSpPr>
        <p:spPr>
          <a:xfrm>
            <a:off x="1666875" y="2952750"/>
            <a:ext cx="762000" cy="762000"/>
          </a:xfrm>
          <a:prstGeom prst="ellipse">
            <a:avLst/>
          </a:prstGeom>
          <a:solidFill>
            <a:srgbClr val="B4232B"/>
          </a:solidFill>
          <a:ln w="19050">
            <a:solidFill>
              <a:srgbClr val="17253A"/>
            </a:solidFill>
          </a:ln>
        </p:spPr>
      </p:sp>
      <p:sp>
        <p:nvSpPr>
          <p:cNvPr id="17" name="Rectangle 16">
            <a:extLst>
              <a:ext uri="{FF2B5EF4-FFF2-40B4-BE49-F238E27FC236}">
                <a16:creationId xmlns:a16="http://schemas.microsoft.com/office/drawing/2014/main" id="{70106033-F8DA-4B64-8A78-51CA570E9621}"/>
              </a:ext>
            </a:extLst>
          </p:cNvPr>
          <p:cNvSpPr>
            <a:spLocks noGrp="1"/>
          </p:cNvSpPr>
          <p:nvPr/>
        </p:nvSpPr>
        <p:spPr>
          <a:xfrm>
            <a:off x="3143250" y="2952750"/>
            <a:ext cx="762000" cy="762000"/>
          </a:xfrm>
          <a:prstGeom prst="rect">
            <a:avLst/>
          </a:prstGeom>
          <a:solidFill>
            <a:srgbClr val="B4232B"/>
          </a:solidFill>
          <a:ln w="19050">
            <a:solidFill>
              <a:srgbClr val="17253A"/>
            </a:solidFill>
          </a:ln>
        </p:spPr>
      </p:sp>
      <p:sp>
        <p:nvSpPr>
          <p:cNvPr id="18" name="Isosceles Triangle 17">
            <a:extLst>
              <a:ext uri="{FF2B5EF4-FFF2-40B4-BE49-F238E27FC236}">
                <a16:creationId xmlns:a16="http://schemas.microsoft.com/office/drawing/2014/main" id="{6C94AAB0-A364-4875-A750-FCE5D36269F1}"/>
              </a:ext>
            </a:extLst>
          </p:cNvPr>
          <p:cNvSpPr>
            <a:spLocks noGrp="1"/>
          </p:cNvSpPr>
          <p:nvPr/>
        </p:nvSpPr>
        <p:spPr>
          <a:xfrm>
            <a:off x="4429125" y="2952750"/>
            <a:ext cx="762000" cy="762000"/>
          </a:xfrm>
          <a:prstGeom prst="triangle">
            <a:avLst/>
          </a:prstGeom>
          <a:solidFill>
            <a:srgbClr val="B4232B"/>
          </a:solidFill>
          <a:ln w="19050">
            <a:solidFill>
              <a:srgbClr val="17253A"/>
            </a:solidFill>
          </a:ln>
        </p:spPr>
      </p:sp>
      <p:sp>
        <p:nvSpPr>
          <p:cNvPr id="19" name="Oval 18">
            <a:extLst>
              <a:ext uri="{FF2B5EF4-FFF2-40B4-BE49-F238E27FC236}">
                <a16:creationId xmlns:a16="http://schemas.microsoft.com/office/drawing/2014/main" id="{8E2A434E-F7F5-4943-AF61-F78F8818993E}"/>
              </a:ext>
            </a:extLst>
          </p:cNvPr>
          <p:cNvSpPr>
            <a:spLocks noGrp="1"/>
          </p:cNvSpPr>
          <p:nvPr/>
        </p:nvSpPr>
        <p:spPr>
          <a:xfrm>
            <a:off x="7429500" y="2952750"/>
            <a:ext cx="762000" cy="762000"/>
          </a:xfrm>
          <a:prstGeom prst="ellipse">
            <a:avLst/>
          </a:prstGeom>
          <a:solidFill>
            <a:srgbClr val="3F7DC0"/>
          </a:solidFill>
          <a:ln w="19050">
            <a:solidFill>
              <a:srgbClr val="17253A"/>
            </a:solidFill>
          </a:ln>
        </p:spPr>
      </p:sp>
      <p:sp>
        <p:nvSpPr>
          <p:cNvPr id="20" name="Rectangle 19">
            <a:extLst>
              <a:ext uri="{FF2B5EF4-FFF2-40B4-BE49-F238E27FC236}">
                <a16:creationId xmlns:a16="http://schemas.microsoft.com/office/drawing/2014/main" id="{F0BDC50B-BE43-42B1-9307-11C67E141389}"/>
              </a:ext>
            </a:extLst>
          </p:cNvPr>
          <p:cNvSpPr>
            <a:spLocks noGrp="1"/>
          </p:cNvSpPr>
          <p:nvPr/>
        </p:nvSpPr>
        <p:spPr>
          <a:xfrm>
            <a:off x="8905875" y="2952750"/>
            <a:ext cx="762000" cy="762000"/>
          </a:xfrm>
          <a:prstGeom prst="rect">
            <a:avLst/>
          </a:prstGeom>
          <a:solidFill>
            <a:srgbClr val="3F7DC0"/>
          </a:solidFill>
          <a:ln w="19050">
            <a:solidFill>
              <a:srgbClr val="17253A"/>
            </a:solidFill>
          </a:ln>
        </p:spPr>
      </p:sp>
      <p:sp>
        <p:nvSpPr>
          <p:cNvPr id="21" name="Isosceles Triangle 20">
            <a:extLst>
              <a:ext uri="{FF2B5EF4-FFF2-40B4-BE49-F238E27FC236}">
                <a16:creationId xmlns:a16="http://schemas.microsoft.com/office/drawing/2014/main" id="{81781D68-6DE8-456B-B9F1-874A0FC4CF3D}"/>
              </a:ext>
            </a:extLst>
          </p:cNvPr>
          <p:cNvSpPr>
            <a:spLocks noGrp="1"/>
          </p:cNvSpPr>
          <p:nvPr/>
        </p:nvSpPr>
        <p:spPr>
          <a:xfrm>
            <a:off x="10191750" y="2952750"/>
            <a:ext cx="762000" cy="762000"/>
          </a:xfrm>
          <a:prstGeom prst="triangle">
            <a:avLst/>
          </a:prstGeom>
          <a:solidFill>
            <a:srgbClr val="3F7DC0"/>
          </a:solidFill>
          <a:ln w="19050">
            <a:solidFill>
              <a:srgbClr val="17253A"/>
            </a:solidFill>
          </a:ln>
        </p:spPr>
      </p:sp>
      <p:sp>
        <p:nvSpPr>
          <p:cNvPr id="22" name="Rectangle 21">
            <a:extLst>
              <a:ext uri="{FF2B5EF4-FFF2-40B4-BE49-F238E27FC236}">
                <a16:creationId xmlns:a16="http://schemas.microsoft.com/office/drawing/2014/main" id="{55CC6C9B-1C1C-492A-865A-2C68471DCFBA}"/>
              </a:ext>
            </a:extLst>
          </p:cNvPr>
          <p:cNvSpPr>
            <a:spLocks noGrp="1"/>
          </p:cNvSpPr>
          <p:nvPr/>
        </p:nvSpPr>
        <p:spPr>
          <a:xfrm>
            <a:off x="2381250" y="5772150"/>
            <a:ext cx="7429500" cy="381000"/>
          </a:xfrm>
          <a:prstGeom prst="rect">
            <a:avLst/>
          </a:prstGeom>
          <a:noFill/>
          <a:ln w="0">
            <a:noFill/>
          </a:ln>
        </p:spPr>
        <p:txBody>
          <a:bodyPr anchor="ctr">
            <a:normAutofit/>
          </a:bodyPr>
          <a:lstStyle/>
          <a:p>
            <a:pPr algn="ctr">
              <a:defRPr sz="1800" b="1">
                <a:solidFill>
                  <a:srgbClr val="B4232B"/>
                </a:solidFill>
                <a:latin typeface="Arial"/>
                <a:ea typeface="Arial"/>
                <a:cs typeface="Arial"/>
              </a:defRPr>
            </a:pPr>
            <a:r>
              <a:rPr sz="1800" b="1">
                <a:solidFill>
                  <a:srgbClr val="B4232B"/>
                </a:solidFill>
                <a:latin typeface="Arial"/>
                <a:ea typeface="Arial"/>
                <a:cs typeface="Arial"/>
              </a:rPr>
              <a:t>My rule: I am sorting by colour.</a:t>
            </a:r>
          </a:p>
        </p:txBody>
      </p:sp>
    </p:spTree>
    <p:extLst>
      <p:ext uri="{BB962C8B-B14F-4D97-AF65-F5344CB8AC3E}">
        <p14:creationId xmlns:p14="http://schemas.microsoft.com/office/powerpoint/2010/main" val="1165777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7EA"/>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5A1509B6-3766-4EA7-8163-84B7F77430A4}"/>
              </a:ext>
            </a:extLst>
          </p:cNvPr>
          <p:cNvSpPr>
            <a:spLocks noGrp="1"/>
          </p:cNvSpPr>
          <p:nvPr/>
        </p:nvSpPr>
        <p:spPr>
          <a:xfrm>
            <a:off x="0" y="0"/>
            <a:ext cx="12192000" cy="171450"/>
          </a:xfrm>
          <a:prstGeom prst="rect">
            <a:avLst/>
          </a:prstGeom>
          <a:solidFill>
            <a:srgbClr val="B4232B"/>
          </a:solidFill>
          <a:ln w="0">
            <a:noFill/>
          </a:ln>
        </p:spPr>
      </p:sp>
      <p:sp>
        <p:nvSpPr>
          <p:cNvPr id="2" name="Rectangle 1">
            <a:extLst>
              <a:ext uri="{FF2B5EF4-FFF2-40B4-BE49-F238E27FC236}">
                <a16:creationId xmlns:a16="http://schemas.microsoft.com/office/drawing/2014/main" id="{88C75724-37D2-4048-B504-C215CF198AF1}"/>
              </a:ext>
            </a:extLst>
          </p:cNvPr>
          <p:cNvSpPr>
            <a:spLocks noGrp="1"/>
          </p:cNvSpPr>
          <p:nvPr/>
        </p:nvSpPr>
        <p:spPr>
          <a:xfrm>
            <a:off x="552450" y="285750"/>
            <a:ext cx="6858000" cy="266700"/>
          </a:xfrm>
          <a:prstGeom prst="rect">
            <a:avLst/>
          </a:prstGeom>
          <a:noFill/>
          <a:ln w="0">
            <a:noFill/>
          </a:ln>
        </p:spPr>
        <p:txBody>
          <a:bodyPr anchor="ctr">
            <a:normAutofit/>
          </a:bodyPr>
          <a:lstStyle/>
          <a:p>
            <a:pPr algn="l">
              <a:defRPr sz="1050" b="1">
                <a:solidFill>
                  <a:srgbClr val="B4232B"/>
                </a:solidFill>
                <a:latin typeface="Arial"/>
                <a:ea typeface="Arial"/>
                <a:cs typeface="Arial"/>
              </a:defRPr>
            </a:pPr>
            <a:r>
              <a:rPr sz="1050" b="1">
                <a:solidFill>
                  <a:srgbClr val="B4232B"/>
                </a:solidFill>
                <a:latin typeface="Arial"/>
                <a:ea typeface="Arial"/>
                <a:cs typeface="Arial"/>
              </a:rPr>
              <a:t>YEAR 1 MATHS  •  AUTUMN  •  WEEK 1  •  DAY 1</a:t>
            </a:r>
          </a:p>
        </p:txBody>
      </p:sp>
      <p:sp>
        <p:nvSpPr>
          <p:cNvPr id="3" name="Rectangle: Rounded Corners 2">
            <a:extLst>
              <a:ext uri="{FF2B5EF4-FFF2-40B4-BE49-F238E27FC236}">
                <a16:creationId xmlns:a16="http://schemas.microsoft.com/office/drawing/2014/main" id="{10919827-5D2B-4BBE-829D-54A0FE1C5F73}"/>
              </a:ext>
            </a:extLst>
          </p:cNvPr>
          <p:cNvSpPr>
            <a:spLocks noGrp="1"/>
          </p:cNvSpPr>
          <p:nvPr/>
        </p:nvSpPr>
        <p:spPr>
          <a:xfrm>
            <a:off x="552450" y="685800"/>
            <a:ext cx="1238250" cy="323850"/>
          </a:xfrm>
          <a:prstGeom prst="roundRect">
            <a:avLst>
              <a:gd name="adj" fmla="val 23529"/>
            </a:avLst>
          </a:prstGeom>
          <a:solidFill>
            <a:srgbClr val="B4232B"/>
          </a:solidFill>
          <a:ln w="0">
            <a:noFill/>
          </a:ln>
        </p:spPr>
      </p:sp>
      <p:sp>
        <p:nvSpPr>
          <p:cNvPr id="4" name="Rectangle 3">
            <a:extLst>
              <a:ext uri="{FF2B5EF4-FFF2-40B4-BE49-F238E27FC236}">
                <a16:creationId xmlns:a16="http://schemas.microsoft.com/office/drawing/2014/main" id="{65EA9AC9-A8C5-406A-AD4D-6423A7A4BE69}"/>
              </a:ext>
            </a:extLst>
          </p:cNvPr>
          <p:cNvSpPr>
            <a:spLocks noGrp="1"/>
          </p:cNvSpPr>
          <p:nvPr/>
        </p:nvSpPr>
        <p:spPr>
          <a:xfrm>
            <a:off x="590550" y="704850"/>
            <a:ext cx="1162050" cy="266700"/>
          </a:xfrm>
          <a:prstGeom prst="rect">
            <a:avLst/>
          </a:prstGeom>
          <a:noFill/>
          <a:ln w="0">
            <a:noFill/>
          </a:ln>
        </p:spPr>
        <p:txBody>
          <a:bodyPr anchor="ctr">
            <a:normAutofit/>
          </a:bodyPr>
          <a:lstStyle/>
          <a:p>
            <a:pPr algn="ctr">
              <a:defRPr sz="750" b="1">
                <a:solidFill>
                  <a:srgbClr val="FFFFFF"/>
                </a:solidFill>
                <a:latin typeface="Arial"/>
                <a:ea typeface="Arial"/>
                <a:cs typeface="Arial"/>
              </a:defRPr>
            </a:pPr>
            <a:r>
              <a:rPr sz="750" b="1">
                <a:solidFill>
                  <a:srgbClr val="FFFFFF"/>
                </a:solidFill>
                <a:latin typeface="Arial"/>
                <a:ea typeface="Arial"/>
                <a:cs typeface="Arial"/>
              </a:rPr>
              <a:t>GUIDED</a:t>
            </a:r>
          </a:p>
        </p:txBody>
      </p:sp>
      <p:sp>
        <p:nvSpPr>
          <p:cNvPr id="5" name="Rectangle 4">
            <a:extLst>
              <a:ext uri="{FF2B5EF4-FFF2-40B4-BE49-F238E27FC236}">
                <a16:creationId xmlns:a16="http://schemas.microsoft.com/office/drawing/2014/main" id="{5E2415D7-58FE-4347-9F7A-458FD596BE24}"/>
              </a:ext>
            </a:extLst>
          </p:cNvPr>
          <p:cNvSpPr>
            <a:spLocks noGrp="1"/>
          </p:cNvSpPr>
          <p:nvPr/>
        </p:nvSpPr>
        <p:spPr>
          <a:xfrm>
            <a:off x="1962150" y="590550"/>
            <a:ext cx="8496300" cy="552450"/>
          </a:xfrm>
          <a:prstGeom prst="rect">
            <a:avLst/>
          </a:prstGeom>
          <a:noFill/>
          <a:ln w="0">
            <a:noFill/>
          </a:ln>
        </p:spPr>
        <p:txBody>
          <a:bodyPr anchor="ctr">
            <a:normAutofit/>
          </a:bodyPr>
          <a:lstStyle/>
          <a:p>
            <a:pPr algn="l">
              <a:defRPr sz="2625" b="1">
                <a:solidFill>
                  <a:srgbClr val="17253A"/>
                </a:solidFill>
                <a:latin typeface="Arial"/>
                <a:ea typeface="Arial"/>
                <a:cs typeface="Arial"/>
              </a:defRPr>
            </a:pPr>
            <a:r>
              <a:rPr sz="2625" b="1">
                <a:solidFill>
                  <a:srgbClr val="17253A"/>
                </a:solidFill>
                <a:latin typeface="Arial"/>
                <a:ea typeface="Arial"/>
                <a:cs typeface="Arial"/>
              </a:rPr>
              <a:t>Your turn: where should it go?</a:t>
            </a:r>
          </a:p>
        </p:txBody>
      </p:sp>
      <p:sp>
        <p:nvSpPr>
          <p:cNvPr id="6" name="Rectangle 5">
            <a:extLst>
              <a:ext uri="{FF2B5EF4-FFF2-40B4-BE49-F238E27FC236}">
                <a16:creationId xmlns:a16="http://schemas.microsoft.com/office/drawing/2014/main" id="{3CDFDD9B-6171-4D22-83F8-7CB04873B3DF}"/>
              </a:ext>
            </a:extLst>
          </p:cNvPr>
          <p:cNvSpPr>
            <a:spLocks noGrp="1"/>
          </p:cNvSpPr>
          <p:nvPr/>
        </p:nvSpPr>
        <p:spPr>
          <a:xfrm>
            <a:off x="10668000" y="400050"/>
            <a:ext cx="952500" cy="228600"/>
          </a:xfrm>
          <a:prstGeom prst="rect">
            <a:avLst/>
          </a:prstGeom>
          <a:noFill/>
          <a:ln w="0">
            <a:noFill/>
          </a:ln>
        </p:spPr>
        <p:txBody>
          <a:bodyPr anchor="ctr">
            <a:normAutofit fontScale="92308"/>
          </a:bodyPr>
          <a:lstStyle/>
          <a:p>
            <a:pPr algn="r">
              <a:defRPr sz="975" b="1">
                <a:solidFill>
                  <a:srgbClr val="6B788A"/>
                </a:solidFill>
                <a:latin typeface="Arial"/>
                <a:ea typeface="Arial"/>
                <a:cs typeface="Arial"/>
              </a:defRPr>
            </a:pPr>
            <a:r>
              <a:rPr sz="975" b="1">
                <a:solidFill>
                  <a:srgbClr val="6B788A"/>
                </a:solidFill>
                <a:latin typeface="Arial"/>
                <a:ea typeface="Arial"/>
                <a:cs typeface="Arial"/>
              </a:rPr>
              <a:t>8 / 15</a:t>
            </a:r>
          </a:p>
        </p:txBody>
      </p:sp>
      <p:sp>
        <p:nvSpPr>
          <p:cNvPr id="7" name="Rectangle 6">
            <a:extLst>
              <a:ext uri="{FF2B5EF4-FFF2-40B4-BE49-F238E27FC236}">
                <a16:creationId xmlns:a16="http://schemas.microsoft.com/office/drawing/2014/main" id="{D1B2F264-77D5-4750-8C95-45AC9879323C}"/>
              </a:ext>
            </a:extLst>
          </p:cNvPr>
          <p:cNvSpPr>
            <a:spLocks noGrp="1"/>
          </p:cNvSpPr>
          <p:nvPr/>
        </p:nvSpPr>
        <p:spPr>
          <a:xfrm>
            <a:off x="552450" y="6457950"/>
            <a:ext cx="11087100" cy="19050"/>
          </a:xfrm>
          <a:prstGeom prst="rect">
            <a:avLst/>
          </a:prstGeom>
          <a:solidFill>
            <a:srgbClr val="D9DEE7"/>
          </a:solidFill>
          <a:ln w="0">
            <a:noFill/>
          </a:ln>
        </p:spPr>
      </p:sp>
      <p:sp>
        <p:nvSpPr>
          <p:cNvPr id="8" name="Rectangle 7">
            <a:extLst>
              <a:ext uri="{FF2B5EF4-FFF2-40B4-BE49-F238E27FC236}">
                <a16:creationId xmlns:a16="http://schemas.microsoft.com/office/drawing/2014/main" id="{E8C0CA37-5A38-4919-A905-5CE6F454EB4F}"/>
              </a:ext>
            </a:extLst>
          </p:cNvPr>
          <p:cNvSpPr>
            <a:spLocks noGrp="1"/>
          </p:cNvSpPr>
          <p:nvPr/>
        </p:nvSpPr>
        <p:spPr>
          <a:xfrm>
            <a:off x="552450" y="6543675"/>
            <a:ext cx="3429000" cy="190500"/>
          </a:xfrm>
          <a:prstGeom prst="rect">
            <a:avLst/>
          </a:prstGeom>
          <a:noFill/>
          <a:ln w="0">
            <a:noFill/>
          </a:ln>
        </p:spPr>
        <p:txBody>
          <a:bodyPr anchor="ctr">
            <a:normAutofit fontScale="72222"/>
          </a:bodyPr>
          <a:lstStyle/>
          <a:p>
            <a:pPr algn="l">
              <a:defRPr sz="900" b="0">
                <a:solidFill>
                  <a:srgbClr val="6B788A"/>
                </a:solidFill>
                <a:latin typeface="Arial"/>
                <a:ea typeface="Arial"/>
                <a:cs typeface="Arial"/>
              </a:defRPr>
            </a:pPr>
            <a:r>
              <a:rPr sz="900" b="0">
                <a:solidFill>
                  <a:srgbClr val="6B788A"/>
                </a:solidFill>
                <a:latin typeface="Arial"/>
                <a:ea typeface="Arial"/>
                <a:cs typeface="Arial"/>
              </a:rPr>
              <a:t>BrightPath Primary Learning</a:t>
            </a:r>
          </a:p>
        </p:txBody>
      </p:sp>
      <p:sp>
        <p:nvSpPr>
          <p:cNvPr id="9" name="Rectangle 8">
            <a:extLst>
              <a:ext uri="{FF2B5EF4-FFF2-40B4-BE49-F238E27FC236}">
                <a16:creationId xmlns:a16="http://schemas.microsoft.com/office/drawing/2014/main" id="{6F5675EC-B2E7-4AD3-97CC-5F5C972468CE}"/>
              </a:ext>
            </a:extLst>
          </p:cNvPr>
          <p:cNvSpPr>
            <a:spLocks noGrp="1"/>
          </p:cNvSpPr>
          <p:nvPr/>
        </p:nvSpPr>
        <p:spPr>
          <a:xfrm>
            <a:off x="8477250" y="6543675"/>
            <a:ext cx="3162300" cy="190500"/>
          </a:xfrm>
          <a:prstGeom prst="rect">
            <a:avLst/>
          </a:prstGeom>
          <a:noFill/>
          <a:ln w="0">
            <a:noFill/>
          </a:ln>
        </p:spPr>
        <p:txBody>
          <a:bodyPr anchor="ctr">
            <a:normAutofit fontScale="72222"/>
          </a:bodyPr>
          <a:lstStyle/>
          <a:p>
            <a:pPr algn="r">
              <a:defRPr sz="900" b="0">
                <a:solidFill>
                  <a:srgbClr val="6B788A"/>
                </a:solidFill>
                <a:latin typeface="Arial"/>
                <a:ea typeface="Arial"/>
                <a:cs typeface="Arial"/>
              </a:defRPr>
            </a:pPr>
            <a:r>
              <a:rPr sz="900" b="0">
                <a:solidFill>
                  <a:srgbClr val="6B788A"/>
                </a:solidFill>
                <a:latin typeface="Arial"/>
                <a:ea typeface="Arial"/>
                <a:cs typeface="Arial"/>
              </a:rPr>
              <a:t>Sort objects into groups</a:t>
            </a:r>
          </a:p>
        </p:txBody>
      </p:sp>
      <p:sp>
        <p:nvSpPr>
          <p:cNvPr id="10" name="Rectangle: Rounded Corners 9">
            <a:extLst>
              <a:ext uri="{FF2B5EF4-FFF2-40B4-BE49-F238E27FC236}">
                <a16:creationId xmlns:a16="http://schemas.microsoft.com/office/drawing/2014/main" id="{3CB98579-6422-4CF0-8B9A-8154E6721205}"/>
              </a:ext>
            </a:extLst>
          </p:cNvPr>
          <p:cNvSpPr>
            <a:spLocks noGrp="1"/>
          </p:cNvSpPr>
          <p:nvPr/>
        </p:nvSpPr>
        <p:spPr>
          <a:xfrm>
            <a:off x="1143000" y="2000250"/>
            <a:ext cx="3714750" cy="2857500"/>
          </a:xfrm>
          <a:prstGeom prst="roundRect">
            <a:avLst>
              <a:gd name="adj" fmla="val 2667"/>
            </a:avLst>
          </a:prstGeom>
          <a:solidFill>
            <a:srgbClr val="FFFFFF"/>
          </a:solidFill>
          <a:ln w="57150">
            <a:solidFill>
              <a:srgbClr val="B4232B"/>
            </a:solidFill>
          </a:ln>
        </p:spPr>
      </p:sp>
      <p:sp>
        <p:nvSpPr>
          <p:cNvPr id="11" name="Rectangle: Rounded Corners 10">
            <a:extLst>
              <a:ext uri="{FF2B5EF4-FFF2-40B4-BE49-F238E27FC236}">
                <a16:creationId xmlns:a16="http://schemas.microsoft.com/office/drawing/2014/main" id="{0F0A78DA-8DDD-4BC1-868E-4F83374E4DA3}"/>
              </a:ext>
            </a:extLst>
          </p:cNvPr>
          <p:cNvSpPr>
            <a:spLocks noGrp="1"/>
          </p:cNvSpPr>
          <p:nvPr/>
        </p:nvSpPr>
        <p:spPr>
          <a:xfrm>
            <a:off x="1543050" y="2171700"/>
            <a:ext cx="2914650" cy="361950"/>
          </a:xfrm>
          <a:prstGeom prst="roundRect">
            <a:avLst>
              <a:gd name="adj" fmla="val 21053"/>
            </a:avLst>
          </a:prstGeom>
          <a:solidFill>
            <a:srgbClr val="B4232B"/>
          </a:solidFill>
          <a:ln w="0">
            <a:noFill/>
          </a:ln>
        </p:spPr>
      </p:sp>
      <p:sp>
        <p:nvSpPr>
          <p:cNvPr id="12" name="Rectangle 11">
            <a:extLst>
              <a:ext uri="{FF2B5EF4-FFF2-40B4-BE49-F238E27FC236}">
                <a16:creationId xmlns:a16="http://schemas.microsoft.com/office/drawing/2014/main" id="{D5A628AE-D728-416A-8F55-3197796FEF7F}"/>
              </a:ext>
            </a:extLst>
          </p:cNvPr>
          <p:cNvSpPr>
            <a:spLocks noGrp="1"/>
          </p:cNvSpPr>
          <p:nvPr/>
        </p:nvSpPr>
        <p:spPr>
          <a:xfrm>
            <a:off x="1638300" y="2200275"/>
            <a:ext cx="2724150" cy="295275"/>
          </a:xfrm>
          <a:prstGeom prst="rect">
            <a:avLst/>
          </a:prstGeom>
          <a:noFill/>
          <a:ln w="0">
            <a:noFill/>
          </a:ln>
        </p:spPr>
        <p:txBody>
          <a:bodyPr anchor="ctr">
            <a:normAutofit/>
          </a:bodyP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RED</a:t>
            </a:r>
          </a:p>
        </p:txBody>
      </p:sp>
      <p:sp>
        <p:nvSpPr>
          <p:cNvPr id="13" name="Rectangle: Rounded Corners 12">
            <a:extLst>
              <a:ext uri="{FF2B5EF4-FFF2-40B4-BE49-F238E27FC236}">
                <a16:creationId xmlns:a16="http://schemas.microsoft.com/office/drawing/2014/main" id="{794344A2-80C3-4F3C-889B-6B358CEF7245}"/>
              </a:ext>
            </a:extLst>
          </p:cNvPr>
          <p:cNvSpPr>
            <a:spLocks noGrp="1"/>
          </p:cNvSpPr>
          <p:nvPr/>
        </p:nvSpPr>
        <p:spPr>
          <a:xfrm>
            <a:off x="7334250" y="2000250"/>
            <a:ext cx="3714750" cy="2857500"/>
          </a:xfrm>
          <a:prstGeom prst="roundRect">
            <a:avLst>
              <a:gd name="adj" fmla="val 2667"/>
            </a:avLst>
          </a:prstGeom>
          <a:solidFill>
            <a:srgbClr val="FFFFFF"/>
          </a:solidFill>
          <a:ln w="57150">
            <a:solidFill>
              <a:srgbClr val="3F7DC0"/>
            </a:solidFill>
          </a:ln>
        </p:spPr>
      </p:sp>
      <p:sp>
        <p:nvSpPr>
          <p:cNvPr id="14" name="Rectangle: Rounded Corners 13">
            <a:extLst>
              <a:ext uri="{FF2B5EF4-FFF2-40B4-BE49-F238E27FC236}">
                <a16:creationId xmlns:a16="http://schemas.microsoft.com/office/drawing/2014/main" id="{B9161BD4-6C83-46F6-90D8-5CA87DF7437D}"/>
              </a:ext>
            </a:extLst>
          </p:cNvPr>
          <p:cNvSpPr>
            <a:spLocks noGrp="1"/>
          </p:cNvSpPr>
          <p:nvPr/>
        </p:nvSpPr>
        <p:spPr>
          <a:xfrm>
            <a:off x="7734300" y="2171700"/>
            <a:ext cx="2914650" cy="361950"/>
          </a:xfrm>
          <a:prstGeom prst="roundRect">
            <a:avLst>
              <a:gd name="adj" fmla="val 21053"/>
            </a:avLst>
          </a:prstGeom>
          <a:solidFill>
            <a:srgbClr val="3F7DC0"/>
          </a:solidFill>
          <a:ln w="0">
            <a:noFill/>
          </a:ln>
        </p:spPr>
      </p:sp>
      <p:sp>
        <p:nvSpPr>
          <p:cNvPr id="15" name="Rectangle 14">
            <a:extLst>
              <a:ext uri="{FF2B5EF4-FFF2-40B4-BE49-F238E27FC236}">
                <a16:creationId xmlns:a16="http://schemas.microsoft.com/office/drawing/2014/main" id="{CDF97C3D-34DA-479B-9E4D-7150933AF625}"/>
              </a:ext>
            </a:extLst>
          </p:cNvPr>
          <p:cNvSpPr>
            <a:spLocks noGrp="1"/>
          </p:cNvSpPr>
          <p:nvPr/>
        </p:nvSpPr>
        <p:spPr>
          <a:xfrm>
            <a:off x="7829550" y="2200275"/>
            <a:ext cx="2724150" cy="295275"/>
          </a:xfrm>
          <a:prstGeom prst="rect">
            <a:avLst/>
          </a:prstGeom>
          <a:noFill/>
          <a:ln w="0">
            <a:noFill/>
          </a:ln>
        </p:spPr>
        <p:txBody>
          <a:bodyPr anchor="ctr">
            <a:normAutofit/>
          </a:bodyP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BLUE</a:t>
            </a:r>
          </a:p>
        </p:txBody>
      </p:sp>
      <p:sp>
        <p:nvSpPr>
          <p:cNvPr id="16" name="Isosceles Triangle 15">
            <a:extLst>
              <a:ext uri="{FF2B5EF4-FFF2-40B4-BE49-F238E27FC236}">
                <a16:creationId xmlns:a16="http://schemas.microsoft.com/office/drawing/2014/main" id="{77C6CEBF-C21C-4BBD-A985-FECAE050C690}"/>
              </a:ext>
            </a:extLst>
          </p:cNvPr>
          <p:cNvSpPr>
            <a:spLocks noGrp="1"/>
          </p:cNvSpPr>
          <p:nvPr/>
        </p:nvSpPr>
        <p:spPr>
          <a:xfrm>
            <a:off x="5619750" y="2857500"/>
            <a:ext cx="952500" cy="952500"/>
          </a:xfrm>
          <a:prstGeom prst="triangle">
            <a:avLst/>
          </a:prstGeom>
          <a:solidFill>
            <a:srgbClr val="3F7DC0"/>
          </a:solidFill>
          <a:ln w="19050">
            <a:solidFill>
              <a:srgbClr val="17253A"/>
            </a:solidFill>
          </a:ln>
        </p:spPr>
      </p:sp>
      <p:sp>
        <p:nvSpPr>
          <p:cNvPr id="17" name="Rectangle 16">
            <a:extLst>
              <a:ext uri="{FF2B5EF4-FFF2-40B4-BE49-F238E27FC236}">
                <a16:creationId xmlns:a16="http://schemas.microsoft.com/office/drawing/2014/main" id="{D26DE65D-D67F-4534-BA4E-F464E80743E9}"/>
              </a:ext>
            </a:extLst>
          </p:cNvPr>
          <p:cNvSpPr>
            <a:spLocks noGrp="1"/>
          </p:cNvSpPr>
          <p:nvPr/>
        </p:nvSpPr>
        <p:spPr>
          <a:xfrm>
            <a:off x="1905000" y="1285875"/>
            <a:ext cx="8382000" cy="476250"/>
          </a:xfrm>
          <a:prstGeom prst="rect">
            <a:avLst/>
          </a:prstGeom>
          <a:noFill/>
          <a:ln w="0">
            <a:noFill/>
          </a:ln>
        </p:spPr>
        <p:txBody>
          <a:bodyPr anchor="ctr">
            <a:normAutofit/>
          </a:bodyPr>
          <a:lstStyle/>
          <a:p>
            <a:pPr algn="ctr">
              <a:defRPr sz="2100" b="1">
                <a:solidFill>
                  <a:srgbClr val="17253A"/>
                </a:solidFill>
                <a:latin typeface="Arial"/>
                <a:ea typeface="Arial"/>
                <a:cs typeface="Arial"/>
              </a:defRPr>
            </a:pPr>
            <a:r>
              <a:rPr sz="2100" b="1">
                <a:solidFill>
                  <a:srgbClr val="17253A"/>
                </a:solidFill>
                <a:latin typeface="Arial"/>
                <a:ea typeface="Arial"/>
                <a:cs typeface="Arial"/>
              </a:rPr>
              <a:t>Point, then explain using the sentence stem.</a:t>
            </a:r>
          </a:p>
        </p:txBody>
      </p:sp>
      <p:sp>
        <p:nvSpPr>
          <p:cNvPr id="18" name="Rectangle: Rounded Corners 17">
            <a:extLst>
              <a:ext uri="{FF2B5EF4-FFF2-40B4-BE49-F238E27FC236}">
                <a16:creationId xmlns:a16="http://schemas.microsoft.com/office/drawing/2014/main" id="{2C161D41-A8FA-4C6D-B042-BEFE72D9CC20}"/>
              </a:ext>
            </a:extLst>
          </p:cNvPr>
          <p:cNvSpPr>
            <a:spLocks noGrp="1"/>
          </p:cNvSpPr>
          <p:nvPr/>
        </p:nvSpPr>
        <p:spPr>
          <a:xfrm>
            <a:off x="2095500" y="5286375"/>
            <a:ext cx="8001000" cy="685800"/>
          </a:xfrm>
          <a:prstGeom prst="roundRect">
            <a:avLst>
              <a:gd name="adj" fmla="val 11111"/>
            </a:avLst>
          </a:prstGeom>
          <a:solidFill>
            <a:srgbClr val="FFFFFF"/>
          </a:solidFill>
          <a:ln w="19050">
            <a:solidFill>
              <a:srgbClr val="D9DEE7"/>
            </a:solidFill>
          </a:ln>
        </p:spPr>
      </p:sp>
      <p:sp>
        <p:nvSpPr>
          <p:cNvPr id="19" name="Rectangle 18">
            <a:extLst>
              <a:ext uri="{FF2B5EF4-FFF2-40B4-BE49-F238E27FC236}">
                <a16:creationId xmlns:a16="http://schemas.microsoft.com/office/drawing/2014/main" id="{B9D0FE76-D61B-4C56-90CB-93831793C989}"/>
              </a:ext>
            </a:extLst>
          </p:cNvPr>
          <p:cNvSpPr>
            <a:spLocks noGrp="1"/>
          </p:cNvSpPr>
          <p:nvPr/>
        </p:nvSpPr>
        <p:spPr>
          <a:xfrm>
            <a:off x="2305050" y="5400675"/>
            <a:ext cx="7581900" cy="457200"/>
          </a:xfrm>
          <a:prstGeom prst="rect">
            <a:avLst/>
          </a:prstGeom>
          <a:noFill/>
          <a:ln w="0">
            <a:noFill/>
          </a:ln>
        </p:spPr>
        <p:txBody>
          <a:bodyPr anchor="ctr">
            <a:normAutofit/>
          </a:bodyPr>
          <a:lstStyle/>
          <a:p>
            <a:pPr algn="ctr">
              <a:defRPr sz="1650" b="1">
                <a:solidFill>
                  <a:srgbClr val="17253A"/>
                </a:solidFill>
                <a:latin typeface="Arial"/>
                <a:ea typeface="Arial"/>
                <a:cs typeface="Arial"/>
              </a:defRPr>
            </a:pPr>
            <a:r>
              <a:rPr sz="1650" b="1">
                <a:solidFill>
                  <a:srgbClr val="17253A"/>
                </a:solidFill>
                <a:latin typeface="Arial"/>
                <a:ea typeface="Arial"/>
                <a:cs typeface="Arial"/>
              </a:rPr>
              <a:t>The blue triangle belongs in the ______ group because ______.</a:t>
            </a:r>
          </a:p>
        </p:txBody>
      </p:sp>
    </p:spTree>
    <p:extLst>
      <p:ext uri="{BB962C8B-B14F-4D97-AF65-F5344CB8AC3E}">
        <p14:creationId xmlns:p14="http://schemas.microsoft.com/office/powerpoint/2010/main" val="93387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7EA"/>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665CB0E7-63D9-42E1-A184-187132D4406B}"/>
              </a:ext>
            </a:extLst>
          </p:cNvPr>
          <p:cNvSpPr>
            <a:spLocks noGrp="1"/>
          </p:cNvSpPr>
          <p:nvPr/>
        </p:nvSpPr>
        <p:spPr>
          <a:xfrm>
            <a:off x="0" y="0"/>
            <a:ext cx="12192000" cy="171450"/>
          </a:xfrm>
          <a:prstGeom prst="rect">
            <a:avLst/>
          </a:prstGeom>
          <a:solidFill>
            <a:srgbClr val="B4232B"/>
          </a:solidFill>
          <a:ln w="0">
            <a:noFill/>
          </a:ln>
        </p:spPr>
      </p:sp>
      <p:sp>
        <p:nvSpPr>
          <p:cNvPr id="2" name="Rectangle 1">
            <a:extLst>
              <a:ext uri="{FF2B5EF4-FFF2-40B4-BE49-F238E27FC236}">
                <a16:creationId xmlns:a16="http://schemas.microsoft.com/office/drawing/2014/main" id="{00BAD241-4102-4677-B3D8-11F70002AB10}"/>
              </a:ext>
            </a:extLst>
          </p:cNvPr>
          <p:cNvSpPr>
            <a:spLocks noGrp="1"/>
          </p:cNvSpPr>
          <p:nvPr/>
        </p:nvSpPr>
        <p:spPr>
          <a:xfrm>
            <a:off x="552450" y="285750"/>
            <a:ext cx="6858000" cy="266700"/>
          </a:xfrm>
          <a:prstGeom prst="rect">
            <a:avLst/>
          </a:prstGeom>
          <a:noFill/>
          <a:ln w="0">
            <a:noFill/>
          </a:ln>
        </p:spPr>
        <p:txBody>
          <a:bodyPr anchor="ctr">
            <a:normAutofit/>
          </a:bodyPr>
          <a:lstStyle/>
          <a:p>
            <a:pPr algn="l">
              <a:defRPr sz="1050" b="1">
                <a:solidFill>
                  <a:srgbClr val="B4232B"/>
                </a:solidFill>
                <a:latin typeface="Arial"/>
                <a:ea typeface="Arial"/>
                <a:cs typeface="Arial"/>
              </a:defRPr>
            </a:pPr>
            <a:r>
              <a:rPr sz="1050" b="1">
                <a:solidFill>
                  <a:srgbClr val="B4232B"/>
                </a:solidFill>
                <a:latin typeface="Arial"/>
                <a:ea typeface="Arial"/>
                <a:cs typeface="Arial"/>
              </a:rPr>
              <a:t>YEAR 1 MATHS  •  AUTUMN  •  WEEK 1  •  DAY 1</a:t>
            </a:r>
          </a:p>
        </p:txBody>
      </p:sp>
      <p:sp>
        <p:nvSpPr>
          <p:cNvPr id="3" name="Rectangle: Rounded Corners 2">
            <a:extLst>
              <a:ext uri="{FF2B5EF4-FFF2-40B4-BE49-F238E27FC236}">
                <a16:creationId xmlns:a16="http://schemas.microsoft.com/office/drawing/2014/main" id="{F331133A-E315-480F-97F4-491CB03956FC}"/>
              </a:ext>
            </a:extLst>
          </p:cNvPr>
          <p:cNvSpPr>
            <a:spLocks noGrp="1"/>
          </p:cNvSpPr>
          <p:nvPr/>
        </p:nvSpPr>
        <p:spPr>
          <a:xfrm>
            <a:off x="552450" y="685800"/>
            <a:ext cx="1238250" cy="323850"/>
          </a:xfrm>
          <a:prstGeom prst="roundRect">
            <a:avLst>
              <a:gd name="adj" fmla="val 23529"/>
            </a:avLst>
          </a:prstGeom>
          <a:solidFill>
            <a:srgbClr val="B4232B"/>
          </a:solidFill>
          <a:ln w="0">
            <a:noFill/>
          </a:ln>
        </p:spPr>
      </p:sp>
      <p:sp>
        <p:nvSpPr>
          <p:cNvPr id="4" name="Rectangle 3">
            <a:extLst>
              <a:ext uri="{FF2B5EF4-FFF2-40B4-BE49-F238E27FC236}">
                <a16:creationId xmlns:a16="http://schemas.microsoft.com/office/drawing/2014/main" id="{9B3AE3DC-F111-48C5-9541-63CA18D4B412}"/>
              </a:ext>
            </a:extLst>
          </p:cNvPr>
          <p:cNvSpPr>
            <a:spLocks noGrp="1"/>
          </p:cNvSpPr>
          <p:nvPr/>
        </p:nvSpPr>
        <p:spPr>
          <a:xfrm>
            <a:off x="590550" y="704850"/>
            <a:ext cx="1162050" cy="266700"/>
          </a:xfrm>
          <a:prstGeom prst="rect">
            <a:avLst/>
          </a:prstGeom>
          <a:noFill/>
          <a:ln w="0">
            <a:noFill/>
          </a:ln>
        </p:spPr>
        <p:txBody>
          <a:bodyPr anchor="ctr">
            <a:normAutofit/>
          </a:bodyPr>
          <a:lstStyle/>
          <a:p>
            <a:pPr algn="ctr">
              <a:defRPr sz="750" b="1">
                <a:solidFill>
                  <a:srgbClr val="FFFFFF"/>
                </a:solidFill>
                <a:latin typeface="Arial"/>
                <a:ea typeface="Arial"/>
                <a:cs typeface="Arial"/>
              </a:defRPr>
            </a:pPr>
            <a:r>
              <a:rPr sz="750" b="1">
                <a:solidFill>
                  <a:srgbClr val="FFFFFF"/>
                </a:solidFill>
                <a:latin typeface="Arial"/>
                <a:ea typeface="Arial"/>
                <a:cs typeface="Arial"/>
              </a:rPr>
              <a:t>MISCONCEPTION</a:t>
            </a:r>
          </a:p>
        </p:txBody>
      </p:sp>
      <p:sp>
        <p:nvSpPr>
          <p:cNvPr id="5" name="Rectangle 4">
            <a:extLst>
              <a:ext uri="{FF2B5EF4-FFF2-40B4-BE49-F238E27FC236}">
                <a16:creationId xmlns:a16="http://schemas.microsoft.com/office/drawing/2014/main" id="{A48E2965-3590-4020-B54F-6A887B16614B}"/>
              </a:ext>
            </a:extLst>
          </p:cNvPr>
          <p:cNvSpPr>
            <a:spLocks noGrp="1"/>
          </p:cNvSpPr>
          <p:nvPr/>
        </p:nvSpPr>
        <p:spPr>
          <a:xfrm>
            <a:off x="1962150" y="590550"/>
            <a:ext cx="8496300" cy="552450"/>
          </a:xfrm>
          <a:prstGeom prst="rect">
            <a:avLst/>
          </a:prstGeom>
          <a:noFill/>
          <a:ln w="0">
            <a:noFill/>
          </a:ln>
        </p:spPr>
        <p:txBody>
          <a:bodyPr anchor="ctr">
            <a:normAutofit/>
          </a:bodyPr>
          <a:lstStyle/>
          <a:p>
            <a:pPr algn="l">
              <a:defRPr sz="2625" b="1">
                <a:solidFill>
                  <a:srgbClr val="17253A"/>
                </a:solidFill>
                <a:latin typeface="Arial"/>
                <a:ea typeface="Arial"/>
                <a:cs typeface="Arial"/>
              </a:defRPr>
            </a:pPr>
            <a:r>
              <a:rPr sz="2625" b="1">
                <a:solidFill>
                  <a:srgbClr val="17253A"/>
                </a:solidFill>
                <a:latin typeface="Arial"/>
                <a:ea typeface="Arial"/>
                <a:cs typeface="Arial"/>
              </a:rPr>
              <a:t>Pip’s mistake: spot it and explain</a:t>
            </a:r>
          </a:p>
        </p:txBody>
      </p:sp>
      <p:sp>
        <p:nvSpPr>
          <p:cNvPr id="6" name="Rectangle 5">
            <a:extLst>
              <a:ext uri="{FF2B5EF4-FFF2-40B4-BE49-F238E27FC236}">
                <a16:creationId xmlns:a16="http://schemas.microsoft.com/office/drawing/2014/main" id="{D7A651DD-1233-4A39-94EC-9690D1A513F6}"/>
              </a:ext>
            </a:extLst>
          </p:cNvPr>
          <p:cNvSpPr>
            <a:spLocks noGrp="1"/>
          </p:cNvSpPr>
          <p:nvPr/>
        </p:nvSpPr>
        <p:spPr>
          <a:xfrm>
            <a:off x="10668000" y="400050"/>
            <a:ext cx="952500" cy="228600"/>
          </a:xfrm>
          <a:prstGeom prst="rect">
            <a:avLst/>
          </a:prstGeom>
          <a:noFill/>
          <a:ln w="0">
            <a:noFill/>
          </a:ln>
        </p:spPr>
        <p:txBody>
          <a:bodyPr anchor="ctr">
            <a:normAutofit fontScale="92308"/>
          </a:bodyPr>
          <a:lstStyle/>
          <a:p>
            <a:pPr algn="r">
              <a:defRPr sz="975" b="1">
                <a:solidFill>
                  <a:srgbClr val="6B788A"/>
                </a:solidFill>
                <a:latin typeface="Arial"/>
                <a:ea typeface="Arial"/>
                <a:cs typeface="Arial"/>
              </a:defRPr>
            </a:pPr>
            <a:r>
              <a:rPr sz="975" b="1">
                <a:solidFill>
                  <a:srgbClr val="6B788A"/>
                </a:solidFill>
                <a:latin typeface="Arial"/>
                <a:ea typeface="Arial"/>
                <a:cs typeface="Arial"/>
              </a:rPr>
              <a:t>9 / 15</a:t>
            </a:r>
          </a:p>
        </p:txBody>
      </p:sp>
      <p:sp>
        <p:nvSpPr>
          <p:cNvPr id="7" name="Rectangle 6">
            <a:extLst>
              <a:ext uri="{FF2B5EF4-FFF2-40B4-BE49-F238E27FC236}">
                <a16:creationId xmlns:a16="http://schemas.microsoft.com/office/drawing/2014/main" id="{7E784716-14F0-4AF2-8349-626DB402CF23}"/>
              </a:ext>
            </a:extLst>
          </p:cNvPr>
          <p:cNvSpPr>
            <a:spLocks noGrp="1"/>
          </p:cNvSpPr>
          <p:nvPr/>
        </p:nvSpPr>
        <p:spPr>
          <a:xfrm>
            <a:off x="552450" y="6457950"/>
            <a:ext cx="11087100" cy="19050"/>
          </a:xfrm>
          <a:prstGeom prst="rect">
            <a:avLst/>
          </a:prstGeom>
          <a:solidFill>
            <a:srgbClr val="D9DEE7"/>
          </a:solidFill>
          <a:ln w="0">
            <a:noFill/>
          </a:ln>
        </p:spPr>
      </p:sp>
      <p:sp>
        <p:nvSpPr>
          <p:cNvPr id="8" name="Rectangle 7">
            <a:extLst>
              <a:ext uri="{FF2B5EF4-FFF2-40B4-BE49-F238E27FC236}">
                <a16:creationId xmlns:a16="http://schemas.microsoft.com/office/drawing/2014/main" id="{19736FC8-4AA2-420A-AE92-F02006E7E4E4}"/>
              </a:ext>
            </a:extLst>
          </p:cNvPr>
          <p:cNvSpPr>
            <a:spLocks noGrp="1"/>
          </p:cNvSpPr>
          <p:nvPr/>
        </p:nvSpPr>
        <p:spPr>
          <a:xfrm>
            <a:off x="552450" y="6543675"/>
            <a:ext cx="3429000" cy="190500"/>
          </a:xfrm>
          <a:prstGeom prst="rect">
            <a:avLst/>
          </a:prstGeom>
          <a:noFill/>
          <a:ln w="0">
            <a:noFill/>
          </a:ln>
        </p:spPr>
        <p:txBody>
          <a:bodyPr anchor="ctr">
            <a:normAutofit fontScale="72222"/>
          </a:bodyPr>
          <a:lstStyle/>
          <a:p>
            <a:pPr algn="l">
              <a:defRPr sz="900" b="0">
                <a:solidFill>
                  <a:srgbClr val="6B788A"/>
                </a:solidFill>
                <a:latin typeface="Arial"/>
                <a:ea typeface="Arial"/>
                <a:cs typeface="Arial"/>
              </a:defRPr>
            </a:pPr>
            <a:r>
              <a:rPr sz="900" b="0">
                <a:solidFill>
                  <a:srgbClr val="6B788A"/>
                </a:solidFill>
                <a:latin typeface="Arial"/>
                <a:ea typeface="Arial"/>
                <a:cs typeface="Arial"/>
              </a:rPr>
              <a:t>BrightPath Primary Learning</a:t>
            </a:r>
          </a:p>
        </p:txBody>
      </p:sp>
      <p:sp>
        <p:nvSpPr>
          <p:cNvPr id="9" name="Rectangle 8">
            <a:extLst>
              <a:ext uri="{FF2B5EF4-FFF2-40B4-BE49-F238E27FC236}">
                <a16:creationId xmlns:a16="http://schemas.microsoft.com/office/drawing/2014/main" id="{E41247D5-B7C1-4720-A06D-779DE6D1F98F}"/>
              </a:ext>
            </a:extLst>
          </p:cNvPr>
          <p:cNvSpPr>
            <a:spLocks noGrp="1"/>
          </p:cNvSpPr>
          <p:nvPr/>
        </p:nvSpPr>
        <p:spPr>
          <a:xfrm>
            <a:off x="8477250" y="6543675"/>
            <a:ext cx="3162300" cy="190500"/>
          </a:xfrm>
          <a:prstGeom prst="rect">
            <a:avLst/>
          </a:prstGeom>
          <a:noFill/>
          <a:ln w="0">
            <a:noFill/>
          </a:ln>
        </p:spPr>
        <p:txBody>
          <a:bodyPr anchor="ctr">
            <a:normAutofit fontScale="72222"/>
          </a:bodyPr>
          <a:lstStyle/>
          <a:p>
            <a:pPr algn="r">
              <a:defRPr sz="900" b="0">
                <a:solidFill>
                  <a:srgbClr val="6B788A"/>
                </a:solidFill>
                <a:latin typeface="Arial"/>
                <a:ea typeface="Arial"/>
                <a:cs typeface="Arial"/>
              </a:defRPr>
            </a:pPr>
            <a:r>
              <a:rPr sz="900" b="0">
                <a:solidFill>
                  <a:srgbClr val="6B788A"/>
                </a:solidFill>
                <a:latin typeface="Arial"/>
                <a:ea typeface="Arial"/>
                <a:cs typeface="Arial"/>
              </a:rPr>
              <a:t>Sort objects into groups</a:t>
            </a:r>
          </a:p>
        </p:txBody>
      </p:sp>
      <p:pic>
        <p:nvPicPr>
          <p:cNvPr id="34" name="Picture 33"/>
          <p:cNvPicPr>
            <a:picLocks noChangeAspect="1"/>
          </p:cNvPicPr>
          <p:nvPr/>
        </p:nvPicPr>
        <p:blipFill>
          <a:blip r:embed="rId3"/>
          <a:stretch/>
        </p:blipFill>
        <p:spPr>
          <a:xfrm>
            <a:off x="523875" y="2247900"/>
            <a:ext cx="2571750" cy="3086100"/>
          </a:xfrm>
          <a:prstGeom prst="rect">
            <a:avLst/>
          </a:prstGeom>
        </p:spPr>
      </p:pic>
      <p:sp>
        <p:nvSpPr>
          <p:cNvPr id="11" name="Rectangle: Rounded Corners 10">
            <a:extLst>
              <a:ext uri="{FF2B5EF4-FFF2-40B4-BE49-F238E27FC236}">
                <a16:creationId xmlns:a16="http://schemas.microsoft.com/office/drawing/2014/main" id="{7F13E655-607B-4E2B-8331-6D31F5C932FD}"/>
              </a:ext>
            </a:extLst>
          </p:cNvPr>
          <p:cNvSpPr>
            <a:spLocks noGrp="1"/>
          </p:cNvSpPr>
          <p:nvPr/>
        </p:nvSpPr>
        <p:spPr>
          <a:xfrm>
            <a:off x="2571750" y="1333500"/>
            <a:ext cx="7905750" cy="723900"/>
          </a:xfrm>
          <a:prstGeom prst="roundRect">
            <a:avLst>
              <a:gd name="adj" fmla="val 10526"/>
            </a:avLst>
          </a:prstGeom>
          <a:solidFill>
            <a:srgbClr val="FFFFFF"/>
          </a:solidFill>
          <a:ln w="19050">
            <a:solidFill>
              <a:srgbClr val="D9DEE7"/>
            </a:solidFill>
          </a:ln>
        </p:spPr>
      </p:sp>
      <p:sp>
        <p:nvSpPr>
          <p:cNvPr id="12" name="Rectangle 11">
            <a:extLst>
              <a:ext uri="{FF2B5EF4-FFF2-40B4-BE49-F238E27FC236}">
                <a16:creationId xmlns:a16="http://schemas.microsoft.com/office/drawing/2014/main" id="{880C9E8C-C97A-45E8-B09F-866F3BA1029C}"/>
              </a:ext>
            </a:extLst>
          </p:cNvPr>
          <p:cNvSpPr>
            <a:spLocks noGrp="1"/>
          </p:cNvSpPr>
          <p:nvPr/>
        </p:nvSpPr>
        <p:spPr>
          <a:xfrm>
            <a:off x="2781300" y="1447800"/>
            <a:ext cx="7486650" cy="495300"/>
          </a:xfrm>
          <a:prstGeom prst="rect">
            <a:avLst/>
          </a:prstGeom>
          <a:noFill/>
          <a:ln w="0">
            <a:noFill/>
          </a:ln>
        </p:spPr>
        <p:txBody>
          <a:bodyPr anchor="ctr">
            <a:normAutofit/>
          </a:bodyPr>
          <a:lstStyle/>
          <a:p>
            <a:pPr algn="ctr">
              <a:defRPr sz="1650" b="1">
                <a:solidFill>
                  <a:srgbClr val="17253A"/>
                </a:solidFill>
                <a:latin typeface="Arial"/>
                <a:ea typeface="Arial"/>
                <a:cs typeface="Arial"/>
              </a:defRPr>
            </a:pPr>
            <a:r>
              <a:rPr sz="1650" b="1">
                <a:solidFill>
                  <a:srgbClr val="17253A"/>
                </a:solidFill>
                <a:latin typeface="Arial"/>
                <a:ea typeface="Arial"/>
                <a:cs typeface="Arial"/>
              </a:rPr>
              <a:t>I sorted by colour. I think every object is correct!</a:t>
            </a:r>
          </a:p>
        </p:txBody>
      </p:sp>
      <p:sp>
        <p:nvSpPr>
          <p:cNvPr id="13" name="Rectangle: Rounded Corners 12">
            <a:extLst>
              <a:ext uri="{FF2B5EF4-FFF2-40B4-BE49-F238E27FC236}">
                <a16:creationId xmlns:a16="http://schemas.microsoft.com/office/drawing/2014/main" id="{9A37CE8C-D2F2-42C2-BD9D-5682272D7C9D}"/>
              </a:ext>
            </a:extLst>
          </p:cNvPr>
          <p:cNvSpPr>
            <a:spLocks noGrp="1"/>
          </p:cNvSpPr>
          <p:nvPr/>
        </p:nvSpPr>
        <p:spPr>
          <a:xfrm>
            <a:off x="3429000" y="2381250"/>
            <a:ext cx="3333750" cy="2571750"/>
          </a:xfrm>
          <a:prstGeom prst="roundRect">
            <a:avLst>
              <a:gd name="adj" fmla="val 2963"/>
            </a:avLst>
          </a:prstGeom>
          <a:solidFill>
            <a:srgbClr val="FFFFFF"/>
          </a:solidFill>
          <a:ln w="57150">
            <a:solidFill>
              <a:srgbClr val="B4232B"/>
            </a:solidFill>
          </a:ln>
        </p:spPr>
      </p:sp>
      <p:sp>
        <p:nvSpPr>
          <p:cNvPr id="14" name="Rectangle: Rounded Corners 13">
            <a:extLst>
              <a:ext uri="{FF2B5EF4-FFF2-40B4-BE49-F238E27FC236}">
                <a16:creationId xmlns:a16="http://schemas.microsoft.com/office/drawing/2014/main" id="{58D83363-C51E-43A6-A6AB-7FCDC68C2625}"/>
              </a:ext>
            </a:extLst>
          </p:cNvPr>
          <p:cNvSpPr>
            <a:spLocks noGrp="1"/>
          </p:cNvSpPr>
          <p:nvPr/>
        </p:nvSpPr>
        <p:spPr>
          <a:xfrm>
            <a:off x="3829050" y="2552700"/>
            <a:ext cx="2533650" cy="361950"/>
          </a:xfrm>
          <a:prstGeom prst="roundRect">
            <a:avLst>
              <a:gd name="adj" fmla="val 21053"/>
            </a:avLst>
          </a:prstGeom>
          <a:solidFill>
            <a:srgbClr val="B4232B"/>
          </a:solidFill>
          <a:ln w="0">
            <a:noFill/>
          </a:ln>
        </p:spPr>
      </p:sp>
      <p:sp>
        <p:nvSpPr>
          <p:cNvPr id="15" name="Rectangle 14">
            <a:extLst>
              <a:ext uri="{FF2B5EF4-FFF2-40B4-BE49-F238E27FC236}">
                <a16:creationId xmlns:a16="http://schemas.microsoft.com/office/drawing/2014/main" id="{EA0A059C-B252-4FAF-A1C5-52BD281D44B8}"/>
              </a:ext>
            </a:extLst>
          </p:cNvPr>
          <p:cNvSpPr>
            <a:spLocks noGrp="1"/>
          </p:cNvSpPr>
          <p:nvPr/>
        </p:nvSpPr>
        <p:spPr>
          <a:xfrm>
            <a:off x="3924300" y="2581275"/>
            <a:ext cx="2343150" cy="295275"/>
          </a:xfrm>
          <a:prstGeom prst="rect">
            <a:avLst/>
          </a:prstGeom>
          <a:noFill/>
          <a:ln w="0">
            <a:noFill/>
          </a:ln>
        </p:spPr>
        <p:txBody>
          <a:bodyPr anchor="ctr">
            <a:normAutofit/>
          </a:bodyP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RED</a:t>
            </a:r>
          </a:p>
        </p:txBody>
      </p:sp>
      <p:sp>
        <p:nvSpPr>
          <p:cNvPr id="16" name="Rectangle: Rounded Corners 15">
            <a:extLst>
              <a:ext uri="{FF2B5EF4-FFF2-40B4-BE49-F238E27FC236}">
                <a16:creationId xmlns:a16="http://schemas.microsoft.com/office/drawing/2014/main" id="{F44E0509-9BF5-47D6-9550-F438FD267060}"/>
              </a:ext>
            </a:extLst>
          </p:cNvPr>
          <p:cNvSpPr>
            <a:spLocks noGrp="1"/>
          </p:cNvSpPr>
          <p:nvPr/>
        </p:nvSpPr>
        <p:spPr>
          <a:xfrm>
            <a:off x="7620000" y="2381250"/>
            <a:ext cx="3333750" cy="2571750"/>
          </a:xfrm>
          <a:prstGeom prst="roundRect">
            <a:avLst>
              <a:gd name="adj" fmla="val 2963"/>
            </a:avLst>
          </a:prstGeom>
          <a:solidFill>
            <a:srgbClr val="FFFFFF"/>
          </a:solidFill>
          <a:ln w="57150">
            <a:solidFill>
              <a:srgbClr val="3F7DC0"/>
            </a:solidFill>
          </a:ln>
        </p:spPr>
      </p:sp>
      <p:sp>
        <p:nvSpPr>
          <p:cNvPr id="17" name="Rectangle: Rounded Corners 16">
            <a:extLst>
              <a:ext uri="{FF2B5EF4-FFF2-40B4-BE49-F238E27FC236}">
                <a16:creationId xmlns:a16="http://schemas.microsoft.com/office/drawing/2014/main" id="{9674C7A1-52DF-4E81-A1C9-D50CF5F6B7C6}"/>
              </a:ext>
            </a:extLst>
          </p:cNvPr>
          <p:cNvSpPr>
            <a:spLocks noGrp="1"/>
          </p:cNvSpPr>
          <p:nvPr/>
        </p:nvSpPr>
        <p:spPr>
          <a:xfrm>
            <a:off x="8020050" y="2552700"/>
            <a:ext cx="2533650" cy="361950"/>
          </a:xfrm>
          <a:prstGeom prst="roundRect">
            <a:avLst>
              <a:gd name="adj" fmla="val 21053"/>
            </a:avLst>
          </a:prstGeom>
          <a:solidFill>
            <a:srgbClr val="3F7DC0"/>
          </a:solidFill>
          <a:ln w="0">
            <a:noFill/>
          </a:ln>
        </p:spPr>
      </p:sp>
      <p:sp>
        <p:nvSpPr>
          <p:cNvPr id="18" name="Rectangle 17">
            <a:extLst>
              <a:ext uri="{FF2B5EF4-FFF2-40B4-BE49-F238E27FC236}">
                <a16:creationId xmlns:a16="http://schemas.microsoft.com/office/drawing/2014/main" id="{EF707FD2-A793-4367-A9D7-228C1106BD0F}"/>
              </a:ext>
            </a:extLst>
          </p:cNvPr>
          <p:cNvSpPr>
            <a:spLocks noGrp="1"/>
          </p:cNvSpPr>
          <p:nvPr/>
        </p:nvSpPr>
        <p:spPr>
          <a:xfrm>
            <a:off x="8115300" y="2581275"/>
            <a:ext cx="2343150" cy="295275"/>
          </a:xfrm>
          <a:prstGeom prst="rect">
            <a:avLst/>
          </a:prstGeom>
          <a:noFill/>
          <a:ln w="0">
            <a:noFill/>
          </a:ln>
        </p:spPr>
        <p:txBody>
          <a:bodyPr anchor="ctr">
            <a:normAutofit/>
          </a:bodyP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BLUE</a:t>
            </a:r>
          </a:p>
        </p:txBody>
      </p:sp>
      <p:sp>
        <p:nvSpPr>
          <p:cNvPr id="19" name="Oval 18">
            <a:extLst>
              <a:ext uri="{FF2B5EF4-FFF2-40B4-BE49-F238E27FC236}">
                <a16:creationId xmlns:a16="http://schemas.microsoft.com/office/drawing/2014/main" id="{EABD5594-43CE-4DB6-894D-16BBD3FEF936}"/>
              </a:ext>
            </a:extLst>
          </p:cNvPr>
          <p:cNvSpPr>
            <a:spLocks noGrp="1"/>
          </p:cNvSpPr>
          <p:nvPr/>
        </p:nvSpPr>
        <p:spPr>
          <a:xfrm>
            <a:off x="4000500" y="3429000"/>
            <a:ext cx="628650" cy="628650"/>
          </a:xfrm>
          <a:prstGeom prst="ellipse">
            <a:avLst/>
          </a:prstGeom>
          <a:solidFill>
            <a:srgbClr val="B4232B"/>
          </a:solidFill>
          <a:ln w="19050">
            <a:solidFill>
              <a:srgbClr val="17253A"/>
            </a:solidFill>
          </a:ln>
        </p:spPr>
      </p:sp>
      <p:sp>
        <p:nvSpPr>
          <p:cNvPr id="20" name="Rectangle 19">
            <a:extLst>
              <a:ext uri="{FF2B5EF4-FFF2-40B4-BE49-F238E27FC236}">
                <a16:creationId xmlns:a16="http://schemas.microsoft.com/office/drawing/2014/main" id="{56F83F95-BAFC-4924-B024-5A2DB35AB786}"/>
              </a:ext>
            </a:extLst>
          </p:cNvPr>
          <p:cNvSpPr>
            <a:spLocks noGrp="1"/>
          </p:cNvSpPr>
          <p:nvPr/>
        </p:nvSpPr>
        <p:spPr>
          <a:xfrm>
            <a:off x="4905375" y="3429000"/>
            <a:ext cx="628650" cy="628650"/>
          </a:xfrm>
          <a:prstGeom prst="rect">
            <a:avLst/>
          </a:prstGeom>
          <a:solidFill>
            <a:srgbClr val="B4232B"/>
          </a:solidFill>
          <a:ln w="19050">
            <a:solidFill>
              <a:srgbClr val="17253A"/>
            </a:solidFill>
          </a:ln>
        </p:spPr>
      </p:sp>
      <p:sp>
        <p:nvSpPr>
          <p:cNvPr id="21" name="Isosceles Triangle 20">
            <a:extLst>
              <a:ext uri="{FF2B5EF4-FFF2-40B4-BE49-F238E27FC236}">
                <a16:creationId xmlns:a16="http://schemas.microsoft.com/office/drawing/2014/main" id="{71F634D4-AFFB-4135-9E19-5A03AAC93DC5}"/>
              </a:ext>
            </a:extLst>
          </p:cNvPr>
          <p:cNvSpPr>
            <a:spLocks noGrp="1"/>
          </p:cNvSpPr>
          <p:nvPr/>
        </p:nvSpPr>
        <p:spPr>
          <a:xfrm>
            <a:off x="5829300" y="3429000"/>
            <a:ext cx="628650" cy="628650"/>
          </a:xfrm>
          <a:prstGeom prst="triangle">
            <a:avLst/>
          </a:prstGeom>
          <a:solidFill>
            <a:srgbClr val="3F7DC0"/>
          </a:solidFill>
          <a:ln w="19050">
            <a:solidFill>
              <a:srgbClr val="17253A"/>
            </a:solidFill>
          </a:ln>
        </p:spPr>
      </p:sp>
      <p:sp>
        <p:nvSpPr>
          <p:cNvPr id="22" name="Oval 21">
            <a:extLst>
              <a:ext uri="{FF2B5EF4-FFF2-40B4-BE49-F238E27FC236}">
                <a16:creationId xmlns:a16="http://schemas.microsoft.com/office/drawing/2014/main" id="{5496D07B-75C6-4926-8DB8-F2B99A46D564}"/>
              </a:ext>
            </a:extLst>
          </p:cNvPr>
          <p:cNvSpPr>
            <a:spLocks noGrp="1"/>
          </p:cNvSpPr>
          <p:nvPr/>
        </p:nvSpPr>
        <p:spPr>
          <a:xfrm>
            <a:off x="8143875" y="3429000"/>
            <a:ext cx="628650" cy="628650"/>
          </a:xfrm>
          <a:prstGeom prst="ellipse">
            <a:avLst/>
          </a:prstGeom>
          <a:solidFill>
            <a:srgbClr val="3F7DC0"/>
          </a:solidFill>
          <a:ln w="19050">
            <a:solidFill>
              <a:srgbClr val="17253A"/>
            </a:solidFill>
          </a:ln>
        </p:spPr>
      </p:sp>
      <p:sp>
        <p:nvSpPr>
          <p:cNvPr id="23" name="Rectangle 22">
            <a:extLst>
              <a:ext uri="{FF2B5EF4-FFF2-40B4-BE49-F238E27FC236}">
                <a16:creationId xmlns:a16="http://schemas.microsoft.com/office/drawing/2014/main" id="{A491CDD0-15AB-41A2-AC5F-5F153C860014}"/>
              </a:ext>
            </a:extLst>
          </p:cNvPr>
          <p:cNvSpPr>
            <a:spLocks noGrp="1"/>
          </p:cNvSpPr>
          <p:nvPr/>
        </p:nvSpPr>
        <p:spPr>
          <a:xfrm>
            <a:off x="9048750" y="3429000"/>
            <a:ext cx="628650" cy="628650"/>
          </a:xfrm>
          <a:prstGeom prst="rect">
            <a:avLst/>
          </a:prstGeom>
          <a:solidFill>
            <a:srgbClr val="3F7DC0"/>
          </a:solidFill>
          <a:ln w="19050">
            <a:solidFill>
              <a:srgbClr val="17253A"/>
            </a:solidFill>
          </a:ln>
        </p:spPr>
      </p:sp>
      <p:sp>
        <p:nvSpPr>
          <p:cNvPr id="24" name="Rectangle 23">
            <a:extLst>
              <a:ext uri="{FF2B5EF4-FFF2-40B4-BE49-F238E27FC236}">
                <a16:creationId xmlns:a16="http://schemas.microsoft.com/office/drawing/2014/main" id="{3D4E40DC-410A-4875-AF4C-F7A17E4A4C2C}"/>
              </a:ext>
            </a:extLst>
          </p:cNvPr>
          <p:cNvSpPr>
            <a:spLocks noGrp="1"/>
          </p:cNvSpPr>
          <p:nvPr/>
        </p:nvSpPr>
        <p:spPr>
          <a:xfrm>
            <a:off x="3333750" y="5381625"/>
            <a:ext cx="7620000" cy="438150"/>
          </a:xfrm>
          <a:prstGeom prst="rect">
            <a:avLst/>
          </a:prstGeom>
          <a:noFill/>
          <a:ln w="0">
            <a:noFill/>
          </a:ln>
        </p:spPr>
        <p:txBody>
          <a:bodyPr anchor="ctr">
            <a:normAutofit/>
          </a:bodyPr>
          <a:lstStyle/>
          <a:p>
            <a:pPr algn="ctr">
              <a:defRPr sz="1725" b="1">
                <a:solidFill>
                  <a:srgbClr val="B4232B"/>
                </a:solidFill>
                <a:latin typeface="Arial"/>
                <a:ea typeface="Arial"/>
                <a:cs typeface="Arial"/>
              </a:defRPr>
            </a:pPr>
            <a:r>
              <a:rPr sz="1725" b="1">
                <a:solidFill>
                  <a:srgbClr val="B4232B"/>
                </a:solidFill>
                <a:latin typeface="Arial"/>
                <a:ea typeface="Arial"/>
                <a:cs typeface="Arial"/>
              </a:rPr>
              <a:t>Think → point to the mistake → tell your partner why</a:t>
            </a:r>
          </a:p>
        </p:txBody>
      </p:sp>
    </p:spTree>
    <p:extLst>
      <p:ext uri="{BB962C8B-B14F-4D97-AF65-F5344CB8AC3E}">
        <p14:creationId xmlns:p14="http://schemas.microsoft.com/office/powerpoint/2010/main" val="11643358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7EA"/>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285C9095-A605-4973-A799-5852F954C1B1}"/>
              </a:ext>
            </a:extLst>
          </p:cNvPr>
          <p:cNvSpPr>
            <a:spLocks noGrp="1"/>
          </p:cNvSpPr>
          <p:nvPr/>
        </p:nvSpPr>
        <p:spPr>
          <a:xfrm>
            <a:off x="0" y="0"/>
            <a:ext cx="12192000" cy="171450"/>
          </a:xfrm>
          <a:prstGeom prst="rect">
            <a:avLst/>
          </a:prstGeom>
          <a:solidFill>
            <a:srgbClr val="B4232B"/>
          </a:solidFill>
          <a:ln w="0">
            <a:noFill/>
          </a:ln>
        </p:spPr>
      </p:sp>
      <p:sp>
        <p:nvSpPr>
          <p:cNvPr id="2" name="Rectangle 1">
            <a:extLst>
              <a:ext uri="{FF2B5EF4-FFF2-40B4-BE49-F238E27FC236}">
                <a16:creationId xmlns:a16="http://schemas.microsoft.com/office/drawing/2014/main" id="{2E5364DF-0763-45D1-8C59-6C76C637FCFE}"/>
              </a:ext>
            </a:extLst>
          </p:cNvPr>
          <p:cNvSpPr>
            <a:spLocks noGrp="1"/>
          </p:cNvSpPr>
          <p:nvPr/>
        </p:nvSpPr>
        <p:spPr>
          <a:xfrm>
            <a:off x="552450" y="285750"/>
            <a:ext cx="6858000" cy="266700"/>
          </a:xfrm>
          <a:prstGeom prst="rect">
            <a:avLst/>
          </a:prstGeom>
          <a:noFill/>
          <a:ln w="0">
            <a:noFill/>
          </a:ln>
        </p:spPr>
        <p:txBody>
          <a:bodyPr anchor="ctr">
            <a:normAutofit/>
          </a:bodyPr>
          <a:lstStyle/>
          <a:p>
            <a:pPr algn="l">
              <a:defRPr sz="1050" b="1">
                <a:solidFill>
                  <a:srgbClr val="B4232B"/>
                </a:solidFill>
                <a:latin typeface="Arial"/>
                <a:ea typeface="Arial"/>
                <a:cs typeface="Arial"/>
              </a:defRPr>
            </a:pPr>
            <a:r>
              <a:rPr sz="1050" b="1">
                <a:solidFill>
                  <a:srgbClr val="B4232B"/>
                </a:solidFill>
                <a:latin typeface="Arial"/>
                <a:ea typeface="Arial"/>
                <a:cs typeface="Arial"/>
              </a:rPr>
              <a:t>YEAR 1 MATHS  •  AUTUMN  •  WEEK 1  •  DAY 1</a:t>
            </a:r>
          </a:p>
        </p:txBody>
      </p:sp>
      <p:sp>
        <p:nvSpPr>
          <p:cNvPr id="3" name="Rectangle: Rounded Corners 2">
            <a:extLst>
              <a:ext uri="{FF2B5EF4-FFF2-40B4-BE49-F238E27FC236}">
                <a16:creationId xmlns:a16="http://schemas.microsoft.com/office/drawing/2014/main" id="{4560F918-F992-4E6C-B721-3F13D773421D}"/>
              </a:ext>
            </a:extLst>
          </p:cNvPr>
          <p:cNvSpPr>
            <a:spLocks noGrp="1"/>
          </p:cNvSpPr>
          <p:nvPr/>
        </p:nvSpPr>
        <p:spPr>
          <a:xfrm>
            <a:off x="552450" y="685800"/>
            <a:ext cx="1238250" cy="323850"/>
          </a:xfrm>
          <a:prstGeom prst="roundRect">
            <a:avLst>
              <a:gd name="adj" fmla="val 23529"/>
            </a:avLst>
          </a:prstGeom>
          <a:solidFill>
            <a:srgbClr val="B4232B"/>
          </a:solidFill>
          <a:ln w="0">
            <a:noFill/>
          </a:ln>
        </p:spPr>
      </p:sp>
      <p:sp>
        <p:nvSpPr>
          <p:cNvPr id="4" name="Rectangle 3">
            <a:extLst>
              <a:ext uri="{FF2B5EF4-FFF2-40B4-BE49-F238E27FC236}">
                <a16:creationId xmlns:a16="http://schemas.microsoft.com/office/drawing/2014/main" id="{207BB967-D71D-4BA5-97FC-E427FF35E18C}"/>
              </a:ext>
            </a:extLst>
          </p:cNvPr>
          <p:cNvSpPr>
            <a:spLocks noGrp="1"/>
          </p:cNvSpPr>
          <p:nvPr/>
        </p:nvSpPr>
        <p:spPr>
          <a:xfrm>
            <a:off x="590550" y="704850"/>
            <a:ext cx="1162050" cy="266700"/>
          </a:xfrm>
          <a:prstGeom prst="rect">
            <a:avLst/>
          </a:prstGeom>
          <a:noFill/>
          <a:ln w="0">
            <a:noFill/>
          </a:ln>
        </p:spPr>
        <p:txBody>
          <a:bodyPr anchor="ctr">
            <a:normAutofit/>
          </a:bodyPr>
          <a:lstStyle/>
          <a:p>
            <a:pPr algn="ctr">
              <a:defRPr sz="750" b="1">
                <a:solidFill>
                  <a:srgbClr val="FFFFFF"/>
                </a:solidFill>
                <a:latin typeface="Arial"/>
                <a:ea typeface="Arial"/>
                <a:cs typeface="Arial"/>
              </a:defRPr>
            </a:pPr>
            <a:r>
              <a:rPr sz="750" b="1">
                <a:solidFill>
                  <a:srgbClr val="FFFFFF"/>
                </a:solidFill>
                <a:latin typeface="Arial"/>
                <a:ea typeface="Arial"/>
                <a:cs typeface="Arial"/>
              </a:rPr>
              <a:t>REVEAL</a:t>
            </a:r>
          </a:p>
        </p:txBody>
      </p:sp>
      <p:sp>
        <p:nvSpPr>
          <p:cNvPr id="5" name="Rectangle 4">
            <a:extLst>
              <a:ext uri="{FF2B5EF4-FFF2-40B4-BE49-F238E27FC236}">
                <a16:creationId xmlns:a16="http://schemas.microsoft.com/office/drawing/2014/main" id="{57E44F6E-08D3-4CC7-9831-2BE48AE223F5}"/>
              </a:ext>
            </a:extLst>
          </p:cNvPr>
          <p:cNvSpPr>
            <a:spLocks noGrp="1"/>
          </p:cNvSpPr>
          <p:nvPr/>
        </p:nvSpPr>
        <p:spPr>
          <a:xfrm>
            <a:off x="1962150" y="590550"/>
            <a:ext cx="8496300" cy="552450"/>
          </a:xfrm>
          <a:prstGeom prst="rect">
            <a:avLst/>
          </a:prstGeom>
          <a:noFill/>
          <a:ln w="0">
            <a:noFill/>
          </a:ln>
        </p:spPr>
        <p:txBody>
          <a:bodyPr anchor="ctr">
            <a:normAutofit/>
          </a:bodyPr>
          <a:lstStyle/>
          <a:p>
            <a:pPr algn="l">
              <a:defRPr sz="2625" b="1">
                <a:solidFill>
                  <a:srgbClr val="17253A"/>
                </a:solidFill>
                <a:latin typeface="Arial"/>
                <a:ea typeface="Arial"/>
                <a:cs typeface="Arial"/>
              </a:defRPr>
            </a:pPr>
            <a:r>
              <a:rPr sz="2625" b="1">
                <a:solidFill>
                  <a:srgbClr val="17253A"/>
                </a:solidFill>
                <a:latin typeface="Arial"/>
                <a:ea typeface="Arial"/>
                <a:cs typeface="Arial"/>
              </a:rPr>
              <a:t>Correct Pip’s sort</a:t>
            </a:r>
          </a:p>
        </p:txBody>
      </p:sp>
      <p:sp>
        <p:nvSpPr>
          <p:cNvPr id="6" name="Rectangle 5">
            <a:extLst>
              <a:ext uri="{FF2B5EF4-FFF2-40B4-BE49-F238E27FC236}">
                <a16:creationId xmlns:a16="http://schemas.microsoft.com/office/drawing/2014/main" id="{ECAC7E3A-304F-4A99-B1E9-D4F3B937B1C8}"/>
              </a:ext>
            </a:extLst>
          </p:cNvPr>
          <p:cNvSpPr>
            <a:spLocks noGrp="1"/>
          </p:cNvSpPr>
          <p:nvPr/>
        </p:nvSpPr>
        <p:spPr>
          <a:xfrm>
            <a:off x="10668000" y="400050"/>
            <a:ext cx="952500" cy="228600"/>
          </a:xfrm>
          <a:prstGeom prst="rect">
            <a:avLst/>
          </a:prstGeom>
          <a:noFill/>
          <a:ln w="0">
            <a:noFill/>
          </a:ln>
        </p:spPr>
        <p:txBody>
          <a:bodyPr anchor="ctr">
            <a:normAutofit fontScale="92308"/>
          </a:bodyPr>
          <a:lstStyle/>
          <a:p>
            <a:pPr algn="r">
              <a:defRPr sz="975" b="1">
                <a:solidFill>
                  <a:srgbClr val="6B788A"/>
                </a:solidFill>
                <a:latin typeface="Arial"/>
                <a:ea typeface="Arial"/>
                <a:cs typeface="Arial"/>
              </a:defRPr>
            </a:pPr>
            <a:r>
              <a:rPr sz="975" b="1">
                <a:solidFill>
                  <a:srgbClr val="6B788A"/>
                </a:solidFill>
                <a:latin typeface="Arial"/>
                <a:ea typeface="Arial"/>
                <a:cs typeface="Arial"/>
              </a:rPr>
              <a:t>10 / 15</a:t>
            </a:r>
          </a:p>
        </p:txBody>
      </p:sp>
      <p:sp>
        <p:nvSpPr>
          <p:cNvPr id="7" name="Rectangle 6">
            <a:extLst>
              <a:ext uri="{FF2B5EF4-FFF2-40B4-BE49-F238E27FC236}">
                <a16:creationId xmlns:a16="http://schemas.microsoft.com/office/drawing/2014/main" id="{3654D36E-9533-4484-9300-B0DB1D2E1D11}"/>
              </a:ext>
            </a:extLst>
          </p:cNvPr>
          <p:cNvSpPr>
            <a:spLocks noGrp="1"/>
          </p:cNvSpPr>
          <p:nvPr/>
        </p:nvSpPr>
        <p:spPr>
          <a:xfrm>
            <a:off x="552450" y="6457950"/>
            <a:ext cx="11087100" cy="19050"/>
          </a:xfrm>
          <a:prstGeom prst="rect">
            <a:avLst/>
          </a:prstGeom>
          <a:solidFill>
            <a:srgbClr val="D9DEE7"/>
          </a:solidFill>
          <a:ln w="0">
            <a:noFill/>
          </a:ln>
        </p:spPr>
      </p:sp>
      <p:sp>
        <p:nvSpPr>
          <p:cNvPr id="8" name="Rectangle 7">
            <a:extLst>
              <a:ext uri="{FF2B5EF4-FFF2-40B4-BE49-F238E27FC236}">
                <a16:creationId xmlns:a16="http://schemas.microsoft.com/office/drawing/2014/main" id="{82EF9358-F779-41DD-876E-18B37830B596}"/>
              </a:ext>
            </a:extLst>
          </p:cNvPr>
          <p:cNvSpPr>
            <a:spLocks noGrp="1"/>
          </p:cNvSpPr>
          <p:nvPr/>
        </p:nvSpPr>
        <p:spPr>
          <a:xfrm>
            <a:off x="552450" y="6543675"/>
            <a:ext cx="3429000" cy="190500"/>
          </a:xfrm>
          <a:prstGeom prst="rect">
            <a:avLst/>
          </a:prstGeom>
          <a:noFill/>
          <a:ln w="0">
            <a:noFill/>
          </a:ln>
        </p:spPr>
        <p:txBody>
          <a:bodyPr anchor="ctr">
            <a:normAutofit fontScale="72222"/>
          </a:bodyPr>
          <a:lstStyle/>
          <a:p>
            <a:pPr algn="l">
              <a:defRPr sz="900" b="0">
                <a:solidFill>
                  <a:srgbClr val="6B788A"/>
                </a:solidFill>
                <a:latin typeface="Arial"/>
                <a:ea typeface="Arial"/>
                <a:cs typeface="Arial"/>
              </a:defRPr>
            </a:pPr>
            <a:r>
              <a:rPr sz="900" b="0">
                <a:solidFill>
                  <a:srgbClr val="6B788A"/>
                </a:solidFill>
                <a:latin typeface="Arial"/>
                <a:ea typeface="Arial"/>
                <a:cs typeface="Arial"/>
              </a:rPr>
              <a:t>BrightPath Primary Learning</a:t>
            </a:r>
          </a:p>
        </p:txBody>
      </p:sp>
      <p:sp>
        <p:nvSpPr>
          <p:cNvPr id="9" name="Rectangle 8">
            <a:extLst>
              <a:ext uri="{FF2B5EF4-FFF2-40B4-BE49-F238E27FC236}">
                <a16:creationId xmlns:a16="http://schemas.microsoft.com/office/drawing/2014/main" id="{DC334BE1-D128-4F79-A495-C0501C8A694D}"/>
              </a:ext>
            </a:extLst>
          </p:cNvPr>
          <p:cNvSpPr>
            <a:spLocks noGrp="1"/>
          </p:cNvSpPr>
          <p:nvPr/>
        </p:nvSpPr>
        <p:spPr>
          <a:xfrm>
            <a:off x="8477250" y="6543675"/>
            <a:ext cx="3162300" cy="190500"/>
          </a:xfrm>
          <a:prstGeom prst="rect">
            <a:avLst/>
          </a:prstGeom>
          <a:noFill/>
          <a:ln w="0">
            <a:noFill/>
          </a:ln>
        </p:spPr>
        <p:txBody>
          <a:bodyPr anchor="ctr">
            <a:normAutofit fontScale="72222"/>
          </a:bodyPr>
          <a:lstStyle/>
          <a:p>
            <a:pPr algn="r">
              <a:defRPr sz="900" b="0">
                <a:solidFill>
                  <a:srgbClr val="6B788A"/>
                </a:solidFill>
                <a:latin typeface="Arial"/>
                <a:ea typeface="Arial"/>
                <a:cs typeface="Arial"/>
              </a:defRPr>
            </a:pPr>
            <a:r>
              <a:rPr sz="900" b="0">
                <a:solidFill>
                  <a:srgbClr val="6B788A"/>
                </a:solidFill>
                <a:latin typeface="Arial"/>
                <a:ea typeface="Arial"/>
                <a:cs typeface="Arial"/>
              </a:rPr>
              <a:t>Sort objects into groups</a:t>
            </a:r>
          </a:p>
        </p:txBody>
      </p:sp>
      <p:sp>
        <p:nvSpPr>
          <p:cNvPr id="10" name="Rectangle: Rounded Corners 9">
            <a:extLst>
              <a:ext uri="{FF2B5EF4-FFF2-40B4-BE49-F238E27FC236}">
                <a16:creationId xmlns:a16="http://schemas.microsoft.com/office/drawing/2014/main" id="{0B6E3A77-0FEA-4AE0-85AB-E69526C7371F}"/>
              </a:ext>
            </a:extLst>
          </p:cNvPr>
          <p:cNvSpPr>
            <a:spLocks noGrp="1"/>
          </p:cNvSpPr>
          <p:nvPr/>
        </p:nvSpPr>
        <p:spPr>
          <a:xfrm>
            <a:off x="952500" y="1714500"/>
            <a:ext cx="4476750" cy="3429000"/>
          </a:xfrm>
          <a:prstGeom prst="roundRect">
            <a:avLst>
              <a:gd name="adj" fmla="val 2222"/>
            </a:avLst>
          </a:prstGeom>
          <a:solidFill>
            <a:srgbClr val="FFFFFF"/>
          </a:solidFill>
          <a:ln w="57150">
            <a:solidFill>
              <a:srgbClr val="B4232B"/>
            </a:solidFill>
          </a:ln>
        </p:spPr>
      </p:sp>
      <p:sp>
        <p:nvSpPr>
          <p:cNvPr id="11" name="Rectangle: Rounded Corners 10">
            <a:extLst>
              <a:ext uri="{FF2B5EF4-FFF2-40B4-BE49-F238E27FC236}">
                <a16:creationId xmlns:a16="http://schemas.microsoft.com/office/drawing/2014/main" id="{F5CCDBA6-A479-4AA6-878D-2A04C52EBB89}"/>
              </a:ext>
            </a:extLst>
          </p:cNvPr>
          <p:cNvSpPr>
            <a:spLocks noGrp="1"/>
          </p:cNvSpPr>
          <p:nvPr/>
        </p:nvSpPr>
        <p:spPr>
          <a:xfrm>
            <a:off x="1352550" y="1885950"/>
            <a:ext cx="3676650" cy="361950"/>
          </a:xfrm>
          <a:prstGeom prst="roundRect">
            <a:avLst>
              <a:gd name="adj" fmla="val 21053"/>
            </a:avLst>
          </a:prstGeom>
          <a:solidFill>
            <a:srgbClr val="B4232B"/>
          </a:solidFill>
          <a:ln w="0">
            <a:noFill/>
          </a:ln>
        </p:spPr>
      </p:sp>
      <p:sp>
        <p:nvSpPr>
          <p:cNvPr id="12" name="Rectangle 11">
            <a:extLst>
              <a:ext uri="{FF2B5EF4-FFF2-40B4-BE49-F238E27FC236}">
                <a16:creationId xmlns:a16="http://schemas.microsoft.com/office/drawing/2014/main" id="{802952D1-C453-4CB0-9C99-96928CF8D443}"/>
              </a:ext>
            </a:extLst>
          </p:cNvPr>
          <p:cNvSpPr>
            <a:spLocks noGrp="1"/>
          </p:cNvSpPr>
          <p:nvPr/>
        </p:nvSpPr>
        <p:spPr>
          <a:xfrm>
            <a:off x="1447800" y="1914525"/>
            <a:ext cx="3486150" cy="295275"/>
          </a:xfrm>
          <a:prstGeom prst="rect">
            <a:avLst/>
          </a:prstGeom>
          <a:noFill/>
          <a:ln w="0">
            <a:noFill/>
          </a:ln>
        </p:spPr>
        <p:txBody>
          <a:bodyPr anchor="ctr">
            <a:normAutofit/>
          </a:bodyP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RED</a:t>
            </a:r>
          </a:p>
        </p:txBody>
      </p:sp>
      <p:sp>
        <p:nvSpPr>
          <p:cNvPr id="13" name="Rectangle: Rounded Corners 12">
            <a:extLst>
              <a:ext uri="{FF2B5EF4-FFF2-40B4-BE49-F238E27FC236}">
                <a16:creationId xmlns:a16="http://schemas.microsoft.com/office/drawing/2014/main" id="{CE1CFE2D-6625-49F2-A3B0-88E783C6AA82}"/>
              </a:ext>
            </a:extLst>
          </p:cNvPr>
          <p:cNvSpPr>
            <a:spLocks noGrp="1"/>
          </p:cNvSpPr>
          <p:nvPr/>
        </p:nvSpPr>
        <p:spPr>
          <a:xfrm>
            <a:off x="6762750" y="1714500"/>
            <a:ext cx="4476750" cy="3429000"/>
          </a:xfrm>
          <a:prstGeom prst="roundRect">
            <a:avLst>
              <a:gd name="adj" fmla="val 2222"/>
            </a:avLst>
          </a:prstGeom>
          <a:solidFill>
            <a:srgbClr val="FFFFFF"/>
          </a:solidFill>
          <a:ln w="57150">
            <a:solidFill>
              <a:srgbClr val="3F7DC0"/>
            </a:solidFill>
          </a:ln>
        </p:spPr>
      </p:sp>
      <p:sp>
        <p:nvSpPr>
          <p:cNvPr id="14" name="Rectangle: Rounded Corners 13">
            <a:extLst>
              <a:ext uri="{FF2B5EF4-FFF2-40B4-BE49-F238E27FC236}">
                <a16:creationId xmlns:a16="http://schemas.microsoft.com/office/drawing/2014/main" id="{287D785E-8B05-4F19-98D0-2523C2626AD1}"/>
              </a:ext>
            </a:extLst>
          </p:cNvPr>
          <p:cNvSpPr>
            <a:spLocks noGrp="1"/>
          </p:cNvSpPr>
          <p:nvPr/>
        </p:nvSpPr>
        <p:spPr>
          <a:xfrm>
            <a:off x="7162800" y="1885950"/>
            <a:ext cx="3676650" cy="361950"/>
          </a:xfrm>
          <a:prstGeom prst="roundRect">
            <a:avLst>
              <a:gd name="adj" fmla="val 21053"/>
            </a:avLst>
          </a:prstGeom>
          <a:solidFill>
            <a:srgbClr val="3F7DC0"/>
          </a:solidFill>
          <a:ln w="0">
            <a:noFill/>
          </a:ln>
        </p:spPr>
      </p:sp>
      <p:sp>
        <p:nvSpPr>
          <p:cNvPr id="15" name="Rectangle 14">
            <a:extLst>
              <a:ext uri="{FF2B5EF4-FFF2-40B4-BE49-F238E27FC236}">
                <a16:creationId xmlns:a16="http://schemas.microsoft.com/office/drawing/2014/main" id="{BABB1589-B104-4776-83A0-E2C425C5E39D}"/>
              </a:ext>
            </a:extLst>
          </p:cNvPr>
          <p:cNvSpPr>
            <a:spLocks noGrp="1"/>
          </p:cNvSpPr>
          <p:nvPr/>
        </p:nvSpPr>
        <p:spPr>
          <a:xfrm>
            <a:off x="7258050" y="1914525"/>
            <a:ext cx="3486150" cy="295275"/>
          </a:xfrm>
          <a:prstGeom prst="rect">
            <a:avLst/>
          </a:prstGeom>
          <a:noFill/>
          <a:ln w="0">
            <a:noFill/>
          </a:ln>
        </p:spPr>
        <p:txBody>
          <a:bodyPr anchor="ctr">
            <a:normAutofit/>
          </a:bodyP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BLUE</a:t>
            </a:r>
          </a:p>
        </p:txBody>
      </p:sp>
      <p:sp>
        <p:nvSpPr>
          <p:cNvPr id="16" name="Oval 15">
            <a:extLst>
              <a:ext uri="{FF2B5EF4-FFF2-40B4-BE49-F238E27FC236}">
                <a16:creationId xmlns:a16="http://schemas.microsoft.com/office/drawing/2014/main" id="{71424FA8-0D4A-4369-9F2B-705A069858F8}"/>
              </a:ext>
            </a:extLst>
          </p:cNvPr>
          <p:cNvSpPr>
            <a:spLocks noGrp="1"/>
          </p:cNvSpPr>
          <p:nvPr/>
        </p:nvSpPr>
        <p:spPr>
          <a:xfrm>
            <a:off x="2000250" y="3048000"/>
            <a:ext cx="704850" cy="704850"/>
          </a:xfrm>
          <a:prstGeom prst="ellipse">
            <a:avLst/>
          </a:prstGeom>
          <a:solidFill>
            <a:srgbClr val="B4232B"/>
          </a:solidFill>
          <a:ln w="19050">
            <a:solidFill>
              <a:srgbClr val="17253A"/>
            </a:solidFill>
          </a:ln>
        </p:spPr>
      </p:sp>
      <p:sp>
        <p:nvSpPr>
          <p:cNvPr id="17" name="Rectangle 16">
            <a:extLst>
              <a:ext uri="{FF2B5EF4-FFF2-40B4-BE49-F238E27FC236}">
                <a16:creationId xmlns:a16="http://schemas.microsoft.com/office/drawing/2014/main" id="{0658CBEF-541B-4CDA-A14B-D969E8CE7EDA}"/>
              </a:ext>
            </a:extLst>
          </p:cNvPr>
          <p:cNvSpPr>
            <a:spLocks noGrp="1"/>
          </p:cNvSpPr>
          <p:nvPr/>
        </p:nvSpPr>
        <p:spPr>
          <a:xfrm>
            <a:off x="3524250" y="3048000"/>
            <a:ext cx="704850" cy="704850"/>
          </a:xfrm>
          <a:prstGeom prst="rect">
            <a:avLst/>
          </a:prstGeom>
          <a:solidFill>
            <a:srgbClr val="B4232B"/>
          </a:solidFill>
          <a:ln w="19050">
            <a:solidFill>
              <a:srgbClr val="17253A"/>
            </a:solidFill>
          </a:ln>
        </p:spPr>
      </p:sp>
      <p:sp>
        <p:nvSpPr>
          <p:cNvPr id="18" name="Oval 17">
            <a:extLst>
              <a:ext uri="{FF2B5EF4-FFF2-40B4-BE49-F238E27FC236}">
                <a16:creationId xmlns:a16="http://schemas.microsoft.com/office/drawing/2014/main" id="{5A16FBDB-C016-4088-9C0C-9B1528BCCF34}"/>
              </a:ext>
            </a:extLst>
          </p:cNvPr>
          <p:cNvSpPr>
            <a:spLocks noGrp="1"/>
          </p:cNvSpPr>
          <p:nvPr/>
        </p:nvSpPr>
        <p:spPr>
          <a:xfrm>
            <a:off x="7620000" y="3048000"/>
            <a:ext cx="704850" cy="704850"/>
          </a:xfrm>
          <a:prstGeom prst="ellipse">
            <a:avLst/>
          </a:prstGeom>
          <a:solidFill>
            <a:srgbClr val="3F7DC0"/>
          </a:solidFill>
          <a:ln w="19050">
            <a:solidFill>
              <a:srgbClr val="17253A"/>
            </a:solidFill>
          </a:ln>
        </p:spPr>
      </p:sp>
      <p:sp>
        <p:nvSpPr>
          <p:cNvPr id="19" name="Rectangle 18">
            <a:extLst>
              <a:ext uri="{FF2B5EF4-FFF2-40B4-BE49-F238E27FC236}">
                <a16:creationId xmlns:a16="http://schemas.microsoft.com/office/drawing/2014/main" id="{ADD594C3-8A4D-4949-B89D-D3FA3F92DF1E}"/>
              </a:ext>
            </a:extLst>
          </p:cNvPr>
          <p:cNvSpPr>
            <a:spLocks noGrp="1"/>
          </p:cNvSpPr>
          <p:nvPr/>
        </p:nvSpPr>
        <p:spPr>
          <a:xfrm>
            <a:off x="8858250" y="3048000"/>
            <a:ext cx="704850" cy="704850"/>
          </a:xfrm>
          <a:prstGeom prst="rect">
            <a:avLst/>
          </a:prstGeom>
          <a:solidFill>
            <a:srgbClr val="3F7DC0"/>
          </a:solidFill>
          <a:ln w="19050">
            <a:solidFill>
              <a:srgbClr val="17253A"/>
            </a:solidFill>
          </a:ln>
        </p:spPr>
      </p:sp>
      <p:sp>
        <p:nvSpPr>
          <p:cNvPr id="20" name="Isosceles Triangle 19">
            <a:extLst>
              <a:ext uri="{FF2B5EF4-FFF2-40B4-BE49-F238E27FC236}">
                <a16:creationId xmlns:a16="http://schemas.microsoft.com/office/drawing/2014/main" id="{D88EC26B-4EAA-4F79-A13E-AF6EC8002F3A}"/>
              </a:ext>
            </a:extLst>
          </p:cNvPr>
          <p:cNvSpPr>
            <a:spLocks noGrp="1"/>
          </p:cNvSpPr>
          <p:nvPr/>
        </p:nvSpPr>
        <p:spPr>
          <a:xfrm>
            <a:off x="10096500" y="3048000"/>
            <a:ext cx="704850" cy="704850"/>
          </a:xfrm>
          <a:prstGeom prst="triangle">
            <a:avLst/>
          </a:prstGeom>
          <a:solidFill>
            <a:srgbClr val="3F7DC0"/>
          </a:solidFill>
          <a:ln w="19050">
            <a:solidFill>
              <a:srgbClr val="17253A"/>
            </a:solidFill>
          </a:ln>
        </p:spPr>
      </p:sp>
      <p:sp>
        <p:nvSpPr>
          <p:cNvPr id="21" name="Rectangle: Rounded Corners 20">
            <a:extLst>
              <a:ext uri="{FF2B5EF4-FFF2-40B4-BE49-F238E27FC236}">
                <a16:creationId xmlns:a16="http://schemas.microsoft.com/office/drawing/2014/main" id="{D6B59E09-4451-4125-A171-65E6905F7F9E}"/>
              </a:ext>
            </a:extLst>
          </p:cNvPr>
          <p:cNvSpPr>
            <a:spLocks noGrp="1"/>
          </p:cNvSpPr>
          <p:nvPr/>
        </p:nvSpPr>
        <p:spPr>
          <a:xfrm>
            <a:off x="2190750" y="5476875"/>
            <a:ext cx="7810500" cy="590550"/>
          </a:xfrm>
          <a:prstGeom prst="roundRect">
            <a:avLst>
              <a:gd name="adj" fmla="val 12903"/>
            </a:avLst>
          </a:prstGeom>
          <a:solidFill>
            <a:srgbClr val="FFFFFF"/>
          </a:solidFill>
          <a:ln w="19050">
            <a:solidFill>
              <a:srgbClr val="D9DEE7"/>
            </a:solidFill>
          </a:ln>
        </p:spPr>
      </p:sp>
      <p:sp>
        <p:nvSpPr>
          <p:cNvPr id="22" name="Rectangle 21">
            <a:extLst>
              <a:ext uri="{FF2B5EF4-FFF2-40B4-BE49-F238E27FC236}">
                <a16:creationId xmlns:a16="http://schemas.microsoft.com/office/drawing/2014/main" id="{369EA6C1-F431-4E06-93E5-99B80A360110}"/>
              </a:ext>
            </a:extLst>
          </p:cNvPr>
          <p:cNvSpPr>
            <a:spLocks noGrp="1"/>
          </p:cNvSpPr>
          <p:nvPr/>
        </p:nvSpPr>
        <p:spPr>
          <a:xfrm>
            <a:off x="2400300" y="5591175"/>
            <a:ext cx="7391400" cy="361950"/>
          </a:xfrm>
          <a:prstGeom prst="rect">
            <a:avLst/>
          </a:prstGeom>
          <a:noFill/>
          <a:ln w="0">
            <a:noFill/>
          </a:ln>
        </p:spPr>
        <p:txBody>
          <a:bodyPr anchor="ctr">
            <a:normAutofit/>
          </a:bodyPr>
          <a:lstStyle/>
          <a:p>
            <a:pPr algn="ctr">
              <a:defRPr sz="1650" b="1">
                <a:solidFill>
                  <a:srgbClr val="17253A"/>
                </a:solidFill>
                <a:latin typeface="Arial"/>
                <a:ea typeface="Arial"/>
                <a:cs typeface="Arial"/>
              </a:defRPr>
            </a:pPr>
            <a:r>
              <a:rPr sz="1650" b="1">
                <a:solidFill>
                  <a:srgbClr val="17253A"/>
                </a:solidFill>
                <a:latin typeface="Arial"/>
                <a:ea typeface="Arial"/>
                <a:cs typeface="Arial"/>
              </a:rPr>
              <a:t>We moved the blue triangle because the rule was colour, not shape.</a:t>
            </a:r>
          </a:p>
        </p:txBody>
      </p:sp>
    </p:spTree>
    <p:extLst>
      <p:ext uri="{BB962C8B-B14F-4D97-AF65-F5344CB8AC3E}">
        <p14:creationId xmlns:p14="http://schemas.microsoft.com/office/powerpoint/2010/main" val="20983606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7EA"/>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D3C88F2-5FC0-48E6-99D5-CD304D7F4DF3}"/>
              </a:ext>
            </a:extLst>
          </p:cNvPr>
          <p:cNvSpPr>
            <a:spLocks noGrp="1"/>
          </p:cNvSpPr>
          <p:nvPr/>
        </p:nvSpPr>
        <p:spPr>
          <a:xfrm>
            <a:off x="0" y="0"/>
            <a:ext cx="12192000" cy="171450"/>
          </a:xfrm>
          <a:prstGeom prst="rect">
            <a:avLst/>
          </a:prstGeom>
          <a:solidFill>
            <a:srgbClr val="B4232B"/>
          </a:solidFill>
          <a:ln w="0">
            <a:noFill/>
          </a:ln>
        </p:spPr>
      </p:sp>
      <p:sp>
        <p:nvSpPr>
          <p:cNvPr id="2" name="Rectangle 1">
            <a:extLst>
              <a:ext uri="{FF2B5EF4-FFF2-40B4-BE49-F238E27FC236}">
                <a16:creationId xmlns:a16="http://schemas.microsoft.com/office/drawing/2014/main" id="{EEEA62CE-C65F-40CC-A6E4-474BFB7644DA}"/>
              </a:ext>
            </a:extLst>
          </p:cNvPr>
          <p:cNvSpPr>
            <a:spLocks noGrp="1"/>
          </p:cNvSpPr>
          <p:nvPr/>
        </p:nvSpPr>
        <p:spPr>
          <a:xfrm>
            <a:off x="552450" y="285750"/>
            <a:ext cx="6858000" cy="266700"/>
          </a:xfrm>
          <a:prstGeom prst="rect">
            <a:avLst/>
          </a:prstGeom>
          <a:noFill/>
          <a:ln w="0">
            <a:noFill/>
          </a:ln>
        </p:spPr>
        <p:txBody>
          <a:bodyPr anchor="ctr">
            <a:normAutofit/>
          </a:bodyPr>
          <a:lstStyle/>
          <a:p>
            <a:pPr algn="l">
              <a:defRPr sz="1050" b="1">
                <a:solidFill>
                  <a:srgbClr val="B4232B"/>
                </a:solidFill>
                <a:latin typeface="Arial"/>
                <a:ea typeface="Arial"/>
                <a:cs typeface="Arial"/>
              </a:defRPr>
            </a:pPr>
            <a:r>
              <a:rPr sz="1050" b="1">
                <a:solidFill>
                  <a:srgbClr val="B4232B"/>
                </a:solidFill>
                <a:latin typeface="Arial"/>
                <a:ea typeface="Arial"/>
                <a:cs typeface="Arial"/>
              </a:rPr>
              <a:t>YEAR 1 MATHS  •  AUTUMN  •  WEEK 1  •  DAY 1</a:t>
            </a:r>
          </a:p>
        </p:txBody>
      </p:sp>
      <p:sp>
        <p:nvSpPr>
          <p:cNvPr id="3" name="Rectangle: Rounded Corners 2">
            <a:extLst>
              <a:ext uri="{FF2B5EF4-FFF2-40B4-BE49-F238E27FC236}">
                <a16:creationId xmlns:a16="http://schemas.microsoft.com/office/drawing/2014/main" id="{887BFC8E-2771-4614-89C2-D36E7E4BB7B4}"/>
              </a:ext>
            </a:extLst>
          </p:cNvPr>
          <p:cNvSpPr>
            <a:spLocks noGrp="1"/>
          </p:cNvSpPr>
          <p:nvPr/>
        </p:nvSpPr>
        <p:spPr>
          <a:xfrm>
            <a:off x="552450" y="685800"/>
            <a:ext cx="1238250" cy="323850"/>
          </a:xfrm>
          <a:prstGeom prst="roundRect">
            <a:avLst>
              <a:gd name="adj" fmla="val 23529"/>
            </a:avLst>
          </a:prstGeom>
          <a:solidFill>
            <a:srgbClr val="B4232B"/>
          </a:solidFill>
          <a:ln w="0">
            <a:noFill/>
          </a:ln>
        </p:spPr>
      </p:sp>
      <p:sp>
        <p:nvSpPr>
          <p:cNvPr id="4" name="Rectangle 3">
            <a:extLst>
              <a:ext uri="{FF2B5EF4-FFF2-40B4-BE49-F238E27FC236}">
                <a16:creationId xmlns:a16="http://schemas.microsoft.com/office/drawing/2014/main" id="{37305243-5C6C-4C54-9566-EBB9BBE0713A}"/>
              </a:ext>
            </a:extLst>
          </p:cNvPr>
          <p:cNvSpPr>
            <a:spLocks noGrp="1"/>
          </p:cNvSpPr>
          <p:nvPr/>
        </p:nvSpPr>
        <p:spPr>
          <a:xfrm>
            <a:off x="590550" y="704850"/>
            <a:ext cx="1162050" cy="266700"/>
          </a:xfrm>
          <a:prstGeom prst="rect">
            <a:avLst/>
          </a:prstGeom>
          <a:noFill/>
          <a:ln w="0">
            <a:noFill/>
          </a:ln>
        </p:spPr>
        <p:txBody>
          <a:bodyPr anchor="ctr">
            <a:normAutofit/>
          </a:bodyPr>
          <a:lstStyle/>
          <a:p>
            <a:pPr algn="ctr">
              <a:defRPr sz="750" b="1">
                <a:solidFill>
                  <a:srgbClr val="FFFFFF"/>
                </a:solidFill>
                <a:latin typeface="Arial"/>
                <a:ea typeface="Arial"/>
                <a:cs typeface="Arial"/>
              </a:defRPr>
            </a:pPr>
            <a:r>
              <a:rPr sz="750" b="1">
                <a:solidFill>
                  <a:srgbClr val="FFFFFF"/>
                </a:solidFill>
                <a:latin typeface="Arial"/>
                <a:ea typeface="Arial"/>
                <a:cs typeface="Arial"/>
              </a:rPr>
              <a:t>TEACH + TRY</a:t>
            </a:r>
          </a:p>
        </p:txBody>
      </p:sp>
      <p:sp>
        <p:nvSpPr>
          <p:cNvPr id="5" name="Rectangle 4">
            <a:extLst>
              <a:ext uri="{FF2B5EF4-FFF2-40B4-BE49-F238E27FC236}">
                <a16:creationId xmlns:a16="http://schemas.microsoft.com/office/drawing/2014/main" id="{0E532FC1-1F6F-4EE1-99CF-4A97F4C81C22}"/>
              </a:ext>
            </a:extLst>
          </p:cNvPr>
          <p:cNvSpPr>
            <a:spLocks noGrp="1"/>
          </p:cNvSpPr>
          <p:nvPr/>
        </p:nvSpPr>
        <p:spPr>
          <a:xfrm>
            <a:off x="1962150" y="590550"/>
            <a:ext cx="8496300" cy="552450"/>
          </a:xfrm>
          <a:prstGeom prst="rect">
            <a:avLst/>
          </a:prstGeom>
          <a:noFill/>
          <a:ln w="0">
            <a:noFill/>
          </a:ln>
        </p:spPr>
        <p:txBody>
          <a:bodyPr anchor="ctr">
            <a:normAutofit/>
          </a:bodyPr>
          <a:lstStyle/>
          <a:p>
            <a:pPr algn="l">
              <a:defRPr sz="2625" b="1">
                <a:solidFill>
                  <a:srgbClr val="17253A"/>
                </a:solidFill>
                <a:latin typeface="Arial"/>
                <a:ea typeface="Arial"/>
                <a:cs typeface="Arial"/>
              </a:defRPr>
            </a:pPr>
            <a:r>
              <a:rPr sz="2625" b="1">
                <a:solidFill>
                  <a:srgbClr val="17253A"/>
                </a:solidFill>
                <a:latin typeface="Arial"/>
                <a:ea typeface="Arial"/>
                <a:cs typeface="Arial"/>
              </a:rPr>
              <a:t>Same objects, new rule: sort by shape</a:t>
            </a:r>
          </a:p>
        </p:txBody>
      </p:sp>
      <p:sp>
        <p:nvSpPr>
          <p:cNvPr id="6" name="Rectangle 5">
            <a:extLst>
              <a:ext uri="{FF2B5EF4-FFF2-40B4-BE49-F238E27FC236}">
                <a16:creationId xmlns:a16="http://schemas.microsoft.com/office/drawing/2014/main" id="{1AEE1B60-29B5-40BD-847B-24A23219D12F}"/>
              </a:ext>
            </a:extLst>
          </p:cNvPr>
          <p:cNvSpPr>
            <a:spLocks noGrp="1"/>
          </p:cNvSpPr>
          <p:nvPr/>
        </p:nvSpPr>
        <p:spPr>
          <a:xfrm>
            <a:off x="10668000" y="400050"/>
            <a:ext cx="952500" cy="228600"/>
          </a:xfrm>
          <a:prstGeom prst="rect">
            <a:avLst/>
          </a:prstGeom>
          <a:noFill/>
          <a:ln w="0">
            <a:noFill/>
          </a:ln>
        </p:spPr>
        <p:txBody>
          <a:bodyPr anchor="ctr">
            <a:normAutofit fontScale="92308"/>
          </a:bodyPr>
          <a:lstStyle/>
          <a:p>
            <a:pPr algn="r">
              <a:defRPr sz="975" b="1">
                <a:solidFill>
                  <a:srgbClr val="6B788A"/>
                </a:solidFill>
                <a:latin typeface="Arial"/>
                <a:ea typeface="Arial"/>
                <a:cs typeface="Arial"/>
              </a:defRPr>
            </a:pPr>
            <a:r>
              <a:rPr sz="975" b="1">
                <a:solidFill>
                  <a:srgbClr val="6B788A"/>
                </a:solidFill>
                <a:latin typeface="Arial"/>
                <a:ea typeface="Arial"/>
                <a:cs typeface="Arial"/>
              </a:rPr>
              <a:t>11 / 15</a:t>
            </a:r>
          </a:p>
        </p:txBody>
      </p:sp>
      <p:sp>
        <p:nvSpPr>
          <p:cNvPr id="7" name="Rectangle 6">
            <a:extLst>
              <a:ext uri="{FF2B5EF4-FFF2-40B4-BE49-F238E27FC236}">
                <a16:creationId xmlns:a16="http://schemas.microsoft.com/office/drawing/2014/main" id="{8EB25AC9-7979-47F4-A70D-0148D9C6BE23}"/>
              </a:ext>
            </a:extLst>
          </p:cNvPr>
          <p:cNvSpPr>
            <a:spLocks noGrp="1"/>
          </p:cNvSpPr>
          <p:nvPr/>
        </p:nvSpPr>
        <p:spPr>
          <a:xfrm>
            <a:off x="552450" y="6457950"/>
            <a:ext cx="11087100" cy="19050"/>
          </a:xfrm>
          <a:prstGeom prst="rect">
            <a:avLst/>
          </a:prstGeom>
          <a:solidFill>
            <a:srgbClr val="D9DEE7"/>
          </a:solidFill>
          <a:ln w="0">
            <a:noFill/>
          </a:ln>
        </p:spPr>
      </p:sp>
      <p:sp>
        <p:nvSpPr>
          <p:cNvPr id="8" name="Rectangle 7">
            <a:extLst>
              <a:ext uri="{FF2B5EF4-FFF2-40B4-BE49-F238E27FC236}">
                <a16:creationId xmlns:a16="http://schemas.microsoft.com/office/drawing/2014/main" id="{02F36EBE-EBC2-4111-AA95-F103A6697DA9}"/>
              </a:ext>
            </a:extLst>
          </p:cNvPr>
          <p:cNvSpPr>
            <a:spLocks noGrp="1"/>
          </p:cNvSpPr>
          <p:nvPr/>
        </p:nvSpPr>
        <p:spPr>
          <a:xfrm>
            <a:off x="552450" y="6543675"/>
            <a:ext cx="3429000" cy="190500"/>
          </a:xfrm>
          <a:prstGeom prst="rect">
            <a:avLst/>
          </a:prstGeom>
          <a:noFill/>
          <a:ln w="0">
            <a:noFill/>
          </a:ln>
        </p:spPr>
        <p:txBody>
          <a:bodyPr anchor="ctr">
            <a:normAutofit fontScale="72222"/>
          </a:bodyPr>
          <a:lstStyle/>
          <a:p>
            <a:pPr algn="l">
              <a:defRPr sz="900" b="0">
                <a:solidFill>
                  <a:srgbClr val="6B788A"/>
                </a:solidFill>
                <a:latin typeface="Arial"/>
                <a:ea typeface="Arial"/>
                <a:cs typeface="Arial"/>
              </a:defRPr>
            </a:pPr>
            <a:r>
              <a:rPr sz="900" b="0">
                <a:solidFill>
                  <a:srgbClr val="6B788A"/>
                </a:solidFill>
                <a:latin typeface="Arial"/>
                <a:ea typeface="Arial"/>
                <a:cs typeface="Arial"/>
              </a:rPr>
              <a:t>BrightPath Primary Learning</a:t>
            </a:r>
          </a:p>
        </p:txBody>
      </p:sp>
      <p:sp>
        <p:nvSpPr>
          <p:cNvPr id="9" name="Rectangle 8">
            <a:extLst>
              <a:ext uri="{FF2B5EF4-FFF2-40B4-BE49-F238E27FC236}">
                <a16:creationId xmlns:a16="http://schemas.microsoft.com/office/drawing/2014/main" id="{9D4434FE-D166-435E-98C0-2447BEE871D5}"/>
              </a:ext>
            </a:extLst>
          </p:cNvPr>
          <p:cNvSpPr>
            <a:spLocks noGrp="1"/>
          </p:cNvSpPr>
          <p:nvPr/>
        </p:nvSpPr>
        <p:spPr>
          <a:xfrm>
            <a:off x="8477250" y="6543675"/>
            <a:ext cx="3162300" cy="190500"/>
          </a:xfrm>
          <a:prstGeom prst="rect">
            <a:avLst/>
          </a:prstGeom>
          <a:noFill/>
          <a:ln w="0">
            <a:noFill/>
          </a:ln>
        </p:spPr>
        <p:txBody>
          <a:bodyPr anchor="ctr">
            <a:normAutofit fontScale="72222"/>
          </a:bodyPr>
          <a:lstStyle/>
          <a:p>
            <a:pPr algn="r">
              <a:defRPr sz="900" b="0">
                <a:solidFill>
                  <a:srgbClr val="6B788A"/>
                </a:solidFill>
                <a:latin typeface="Arial"/>
                <a:ea typeface="Arial"/>
                <a:cs typeface="Arial"/>
              </a:defRPr>
            </a:pPr>
            <a:r>
              <a:rPr sz="900" b="0">
                <a:solidFill>
                  <a:srgbClr val="6B788A"/>
                </a:solidFill>
                <a:latin typeface="Arial"/>
                <a:ea typeface="Arial"/>
                <a:cs typeface="Arial"/>
              </a:rPr>
              <a:t>Sort objects into groups</a:t>
            </a:r>
          </a:p>
        </p:txBody>
      </p:sp>
      <p:sp>
        <p:nvSpPr>
          <p:cNvPr id="10" name="Rectangle: Rounded Corners 9">
            <a:extLst>
              <a:ext uri="{FF2B5EF4-FFF2-40B4-BE49-F238E27FC236}">
                <a16:creationId xmlns:a16="http://schemas.microsoft.com/office/drawing/2014/main" id="{2FFA6DA1-2A28-47F1-8B05-8290BA31404B}"/>
              </a:ext>
            </a:extLst>
          </p:cNvPr>
          <p:cNvSpPr>
            <a:spLocks noGrp="1"/>
          </p:cNvSpPr>
          <p:nvPr/>
        </p:nvSpPr>
        <p:spPr>
          <a:xfrm>
            <a:off x="952500" y="1762125"/>
            <a:ext cx="4476750" cy="3571875"/>
          </a:xfrm>
          <a:prstGeom prst="roundRect">
            <a:avLst>
              <a:gd name="adj" fmla="val 2133"/>
            </a:avLst>
          </a:prstGeom>
          <a:solidFill>
            <a:srgbClr val="FFFFFF"/>
          </a:solidFill>
          <a:ln w="57150">
            <a:solidFill>
              <a:srgbClr val="4D9A72"/>
            </a:solidFill>
          </a:ln>
        </p:spPr>
      </p:sp>
      <p:sp>
        <p:nvSpPr>
          <p:cNvPr id="11" name="Rectangle: Rounded Corners 10">
            <a:extLst>
              <a:ext uri="{FF2B5EF4-FFF2-40B4-BE49-F238E27FC236}">
                <a16:creationId xmlns:a16="http://schemas.microsoft.com/office/drawing/2014/main" id="{362A5476-545E-48D8-84B5-BC36BC7E52CC}"/>
              </a:ext>
            </a:extLst>
          </p:cNvPr>
          <p:cNvSpPr>
            <a:spLocks noGrp="1"/>
          </p:cNvSpPr>
          <p:nvPr/>
        </p:nvSpPr>
        <p:spPr>
          <a:xfrm>
            <a:off x="1352550" y="1933575"/>
            <a:ext cx="3676650" cy="361950"/>
          </a:xfrm>
          <a:prstGeom prst="roundRect">
            <a:avLst>
              <a:gd name="adj" fmla="val 21053"/>
            </a:avLst>
          </a:prstGeom>
          <a:solidFill>
            <a:srgbClr val="4D9A72"/>
          </a:solidFill>
          <a:ln w="0">
            <a:noFill/>
          </a:ln>
        </p:spPr>
      </p:sp>
      <p:sp>
        <p:nvSpPr>
          <p:cNvPr id="12" name="Rectangle 11">
            <a:extLst>
              <a:ext uri="{FF2B5EF4-FFF2-40B4-BE49-F238E27FC236}">
                <a16:creationId xmlns:a16="http://schemas.microsoft.com/office/drawing/2014/main" id="{92788607-391D-4575-8029-2D9B2D238F2A}"/>
              </a:ext>
            </a:extLst>
          </p:cNvPr>
          <p:cNvSpPr>
            <a:spLocks noGrp="1"/>
          </p:cNvSpPr>
          <p:nvPr/>
        </p:nvSpPr>
        <p:spPr>
          <a:xfrm>
            <a:off x="1447800" y="1962150"/>
            <a:ext cx="3486150" cy="295275"/>
          </a:xfrm>
          <a:prstGeom prst="rect">
            <a:avLst/>
          </a:prstGeom>
          <a:noFill/>
          <a:ln w="0">
            <a:noFill/>
          </a:ln>
        </p:spPr>
        <p:txBody>
          <a:bodyPr anchor="ctr">
            <a:normAutofit/>
          </a:bodyP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CIRCLES</a:t>
            </a:r>
          </a:p>
        </p:txBody>
      </p:sp>
      <p:sp>
        <p:nvSpPr>
          <p:cNvPr id="13" name="Rectangle: Rounded Corners 12">
            <a:extLst>
              <a:ext uri="{FF2B5EF4-FFF2-40B4-BE49-F238E27FC236}">
                <a16:creationId xmlns:a16="http://schemas.microsoft.com/office/drawing/2014/main" id="{A38A33A4-7A1D-4A20-A82A-B541E69E186A}"/>
              </a:ext>
            </a:extLst>
          </p:cNvPr>
          <p:cNvSpPr>
            <a:spLocks noGrp="1"/>
          </p:cNvSpPr>
          <p:nvPr/>
        </p:nvSpPr>
        <p:spPr>
          <a:xfrm>
            <a:off x="6762750" y="1762125"/>
            <a:ext cx="4476750" cy="3571875"/>
          </a:xfrm>
          <a:prstGeom prst="roundRect">
            <a:avLst>
              <a:gd name="adj" fmla="val 2133"/>
            </a:avLst>
          </a:prstGeom>
          <a:solidFill>
            <a:srgbClr val="FFFFFF"/>
          </a:solidFill>
          <a:ln w="57150">
            <a:solidFill>
              <a:srgbClr val="76469A"/>
            </a:solidFill>
          </a:ln>
        </p:spPr>
      </p:sp>
      <p:sp>
        <p:nvSpPr>
          <p:cNvPr id="14" name="Rectangle: Rounded Corners 13">
            <a:extLst>
              <a:ext uri="{FF2B5EF4-FFF2-40B4-BE49-F238E27FC236}">
                <a16:creationId xmlns:a16="http://schemas.microsoft.com/office/drawing/2014/main" id="{2976BC0C-5EC2-4BBB-B4D8-E5D2827E24C1}"/>
              </a:ext>
            </a:extLst>
          </p:cNvPr>
          <p:cNvSpPr>
            <a:spLocks noGrp="1"/>
          </p:cNvSpPr>
          <p:nvPr/>
        </p:nvSpPr>
        <p:spPr>
          <a:xfrm>
            <a:off x="7162800" y="1933575"/>
            <a:ext cx="3676650" cy="361950"/>
          </a:xfrm>
          <a:prstGeom prst="roundRect">
            <a:avLst>
              <a:gd name="adj" fmla="val 21053"/>
            </a:avLst>
          </a:prstGeom>
          <a:solidFill>
            <a:srgbClr val="76469A"/>
          </a:solidFill>
          <a:ln w="0">
            <a:noFill/>
          </a:ln>
        </p:spPr>
      </p:sp>
      <p:sp>
        <p:nvSpPr>
          <p:cNvPr id="15" name="Rectangle 14">
            <a:extLst>
              <a:ext uri="{FF2B5EF4-FFF2-40B4-BE49-F238E27FC236}">
                <a16:creationId xmlns:a16="http://schemas.microsoft.com/office/drawing/2014/main" id="{EDC18BFC-C83E-458E-A5F0-B9EF6706BC84}"/>
              </a:ext>
            </a:extLst>
          </p:cNvPr>
          <p:cNvSpPr>
            <a:spLocks noGrp="1"/>
          </p:cNvSpPr>
          <p:nvPr/>
        </p:nvSpPr>
        <p:spPr>
          <a:xfrm>
            <a:off x="7258050" y="1962150"/>
            <a:ext cx="3486150" cy="295275"/>
          </a:xfrm>
          <a:prstGeom prst="rect">
            <a:avLst/>
          </a:prstGeom>
          <a:noFill/>
          <a:ln w="0">
            <a:noFill/>
          </a:ln>
        </p:spPr>
        <p:txBody>
          <a:bodyPr anchor="ctr">
            <a:normAutofit/>
          </a:bodyP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SQUARES</a:t>
            </a:r>
          </a:p>
        </p:txBody>
      </p:sp>
      <p:sp>
        <p:nvSpPr>
          <p:cNvPr id="16" name="Oval 15">
            <a:extLst>
              <a:ext uri="{FF2B5EF4-FFF2-40B4-BE49-F238E27FC236}">
                <a16:creationId xmlns:a16="http://schemas.microsoft.com/office/drawing/2014/main" id="{59C5584F-95E0-4669-87D6-D19CD2BC6433}"/>
              </a:ext>
            </a:extLst>
          </p:cNvPr>
          <p:cNvSpPr>
            <a:spLocks noGrp="1"/>
          </p:cNvSpPr>
          <p:nvPr/>
        </p:nvSpPr>
        <p:spPr>
          <a:xfrm>
            <a:off x="2000250" y="3143250"/>
            <a:ext cx="742950" cy="742950"/>
          </a:xfrm>
          <a:prstGeom prst="ellipse">
            <a:avLst/>
          </a:prstGeom>
          <a:solidFill>
            <a:srgbClr val="B4232B"/>
          </a:solidFill>
          <a:ln w="19050">
            <a:solidFill>
              <a:srgbClr val="17253A"/>
            </a:solidFill>
          </a:ln>
        </p:spPr>
      </p:sp>
      <p:sp>
        <p:nvSpPr>
          <p:cNvPr id="17" name="Oval 16">
            <a:extLst>
              <a:ext uri="{FF2B5EF4-FFF2-40B4-BE49-F238E27FC236}">
                <a16:creationId xmlns:a16="http://schemas.microsoft.com/office/drawing/2014/main" id="{A3D8DE29-54BB-4D40-8582-BD496A0354E1}"/>
              </a:ext>
            </a:extLst>
          </p:cNvPr>
          <p:cNvSpPr>
            <a:spLocks noGrp="1"/>
          </p:cNvSpPr>
          <p:nvPr/>
        </p:nvSpPr>
        <p:spPr>
          <a:xfrm>
            <a:off x="3524250" y="3143250"/>
            <a:ext cx="742950" cy="742950"/>
          </a:xfrm>
          <a:prstGeom prst="ellipse">
            <a:avLst/>
          </a:prstGeom>
          <a:solidFill>
            <a:srgbClr val="3F7DC0"/>
          </a:solidFill>
          <a:ln w="19050">
            <a:solidFill>
              <a:srgbClr val="17253A"/>
            </a:solidFill>
          </a:ln>
        </p:spPr>
      </p:sp>
      <p:sp>
        <p:nvSpPr>
          <p:cNvPr id="18" name="Rectangle 17">
            <a:extLst>
              <a:ext uri="{FF2B5EF4-FFF2-40B4-BE49-F238E27FC236}">
                <a16:creationId xmlns:a16="http://schemas.microsoft.com/office/drawing/2014/main" id="{77F2E083-B04E-4996-99E8-BFC0DED6D079}"/>
              </a:ext>
            </a:extLst>
          </p:cNvPr>
          <p:cNvSpPr>
            <a:spLocks noGrp="1"/>
          </p:cNvSpPr>
          <p:nvPr/>
        </p:nvSpPr>
        <p:spPr>
          <a:xfrm>
            <a:off x="7810500" y="3143250"/>
            <a:ext cx="742950" cy="742950"/>
          </a:xfrm>
          <a:prstGeom prst="rect">
            <a:avLst/>
          </a:prstGeom>
          <a:solidFill>
            <a:srgbClr val="B4232B"/>
          </a:solidFill>
          <a:ln w="19050">
            <a:solidFill>
              <a:srgbClr val="17253A"/>
            </a:solidFill>
          </a:ln>
        </p:spPr>
      </p:sp>
      <p:sp>
        <p:nvSpPr>
          <p:cNvPr id="19" name="Rectangle 18">
            <a:extLst>
              <a:ext uri="{FF2B5EF4-FFF2-40B4-BE49-F238E27FC236}">
                <a16:creationId xmlns:a16="http://schemas.microsoft.com/office/drawing/2014/main" id="{796C76DD-C8FC-42EF-8BE6-432AE7F32DCE}"/>
              </a:ext>
            </a:extLst>
          </p:cNvPr>
          <p:cNvSpPr>
            <a:spLocks noGrp="1"/>
          </p:cNvSpPr>
          <p:nvPr/>
        </p:nvSpPr>
        <p:spPr>
          <a:xfrm>
            <a:off x="9334500" y="3143250"/>
            <a:ext cx="742950" cy="742950"/>
          </a:xfrm>
          <a:prstGeom prst="rect">
            <a:avLst/>
          </a:prstGeom>
          <a:solidFill>
            <a:srgbClr val="3F7DC0"/>
          </a:solidFill>
          <a:ln w="19050">
            <a:solidFill>
              <a:srgbClr val="17253A"/>
            </a:solidFill>
          </a:ln>
        </p:spPr>
      </p:sp>
      <p:sp>
        <p:nvSpPr>
          <p:cNvPr id="20" name="Rectangle 19">
            <a:extLst>
              <a:ext uri="{FF2B5EF4-FFF2-40B4-BE49-F238E27FC236}">
                <a16:creationId xmlns:a16="http://schemas.microsoft.com/office/drawing/2014/main" id="{E8DBED0B-F153-40EA-9130-2E789321A27D}"/>
              </a:ext>
            </a:extLst>
          </p:cNvPr>
          <p:cNvSpPr>
            <a:spLocks noGrp="1"/>
          </p:cNvSpPr>
          <p:nvPr/>
        </p:nvSpPr>
        <p:spPr>
          <a:xfrm>
            <a:off x="2571750" y="5572125"/>
            <a:ext cx="7048500" cy="419100"/>
          </a:xfrm>
          <a:prstGeom prst="rect">
            <a:avLst/>
          </a:prstGeom>
          <a:noFill/>
          <a:ln w="0">
            <a:noFill/>
          </a:ln>
        </p:spPr>
        <p:txBody>
          <a:bodyPr anchor="ctr">
            <a:normAutofit/>
          </a:bodyPr>
          <a:lstStyle/>
          <a:p>
            <a:pPr algn="ctr">
              <a:defRPr sz="1950" b="1">
                <a:solidFill>
                  <a:srgbClr val="17253A"/>
                </a:solidFill>
                <a:latin typeface="Arial"/>
                <a:ea typeface="Arial"/>
                <a:cs typeface="Arial"/>
              </a:defRPr>
            </a:pPr>
            <a:r>
              <a:rPr sz="1950" b="1">
                <a:solidFill>
                  <a:srgbClr val="17253A"/>
                </a:solidFill>
                <a:latin typeface="Arial"/>
                <a:ea typeface="Arial"/>
                <a:cs typeface="Arial"/>
              </a:rPr>
              <a:t>What changed? What stayed the same?</a:t>
            </a:r>
          </a:p>
        </p:txBody>
      </p:sp>
    </p:spTree>
    <p:extLst>
      <p:ext uri="{BB962C8B-B14F-4D97-AF65-F5344CB8AC3E}">
        <p14:creationId xmlns:p14="http://schemas.microsoft.com/office/powerpoint/2010/main" val="447227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7EA"/>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FAD432F7-5E68-4F93-85BC-ACF45187BC13}"/>
              </a:ext>
            </a:extLst>
          </p:cNvPr>
          <p:cNvSpPr>
            <a:spLocks noGrp="1"/>
          </p:cNvSpPr>
          <p:nvPr/>
        </p:nvSpPr>
        <p:spPr>
          <a:xfrm>
            <a:off x="0" y="0"/>
            <a:ext cx="12192000" cy="171450"/>
          </a:xfrm>
          <a:prstGeom prst="rect">
            <a:avLst/>
          </a:prstGeom>
          <a:solidFill>
            <a:srgbClr val="B4232B"/>
          </a:solidFill>
          <a:ln w="0">
            <a:noFill/>
          </a:ln>
        </p:spPr>
      </p:sp>
      <p:sp>
        <p:nvSpPr>
          <p:cNvPr id="2" name="Rectangle 1">
            <a:extLst>
              <a:ext uri="{FF2B5EF4-FFF2-40B4-BE49-F238E27FC236}">
                <a16:creationId xmlns:a16="http://schemas.microsoft.com/office/drawing/2014/main" id="{065CB8B8-AC43-4C0F-A9E1-EBEA3C31831E}"/>
              </a:ext>
            </a:extLst>
          </p:cNvPr>
          <p:cNvSpPr>
            <a:spLocks noGrp="1"/>
          </p:cNvSpPr>
          <p:nvPr/>
        </p:nvSpPr>
        <p:spPr>
          <a:xfrm>
            <a:off x="552450" y="285750"/>
            <a:ext cx="6858000" cy="266700"/>
          </a:xfrm>
          <a:prstGeom prst="rect">
            <a:avLst/>
          </a:prstGeom>
          <a:noFill/>
          <a:ln w="0">
            <a:noFill/>
          </a:ln>
        </p:spPr>
        <p:txBody>
          <a:bodyPr anchor="ctr">
            <a:normAutofit/>
          </a:bodyPr>
          <a:lstStyle/>
          <a:p>
            <a:pPr algn="l">
              <a:defRPr sz="1050" b="1">
                <a:solidFill>
                  <a:srgbClr val="B4232B"/>
                </a:solidFill>
                <a:latin typeface="Arial"/>
                <a:ea typeface="Arial"/>
                <a:cs typeface="Arial"/>
              </a:defRPr>
            </a:pPr>
            <a:r>
              <a:rPr sz="1050" b="1">
                <a:solidFill>
                  <a:srgbClr val="B4232B"/>
                </a:solidFill>
                <a:latin typeface="Arial"/>
                <a:ea typeface="Arial"/>
                <a:cs typeface="Arial"/>
              </a:rPr>
              <a:t>YEAR 1 MATHS  •  AUTUMN  •  WEEK 1  •  DAY 1</a:t>
            </a:r>
          </a:p>
        </p:txBody>
      </p:sp>
      <p:sp>
        <p:nvSpPr>
          <p:cNvPr id="3" name="Rectangle: Rounded Corners 2">
            <a:extLst>
              <a:ext uri="{FF2B5EF4-FFF2-40B4-BE49-F238E27FC236}">
                <a16:creationId xmlns:a16="http://schemas.microsoft.com/office/drawing/2014/main" id="{B4544C67-6F68-410B-B684-EC5EF63AEE7E}"/>
              </a:ext>
            </a:extLst>
          </p:cNvPr>
          <p:cNvSpPr>
            <a:spLocks noGrp="1"/>
          </p:cNvSpPr>
          <p:nvPr/>
        </p:nvSpPr>
        <p:spPr>
          <a:xfrm>
            <a:off x="552450" y="685800"/>
            <a:ext cx="1238250" cy="323850"/>
          </a:xfrm>
          <a:prstGeom prst="roundRect">
            <a:avLst>
              <a:gd name="adj" fmla="val 23529"/>
            </a:avLst>
          </a:prstGeom>
          <a:solidFill>
            <a:srgbClr val="B4232B"/>
          </a:solidFill>
          <a:ln w="0">
            <a:noFill/>
          </a:ln>
        </p:spPr>
      </p:sp>
      <p:sp>
        <p:nvSpPr>
          <p:cNvPr id="4" name="Rectangle 3">
            <a:extLst>
              <a:ext uri="{FF2B5EF4-FFF2-40B4-BE49-F238E27FC236}">
                <a16:creationId xmlns:a16="http://schemas.microsoft.com/office/drawing/2014/main" id="{7C15A5A8-7512-4F7F-AAFF-13D2560B3281}"/>
              </a:ext>
            </a:extLst>
          </p:cNvPr>
          <p:cNvSpPr>
            <a:spLocks noGrp="1"/>
          </p:cNvSpPr>
          <p:nvPr/>
        </p:nvSpPr>
        <p:spPr>
          <a:xfrm>
            <a:off x="590550" y="704850"/>
            <a:ext cx="1162050" cy="266700"/>
          </a:xfrm>
          <a:prstGeom prst="rect">
            <a:avLst/>
          </a:prstGeom>
          <a:noFill/>
          <a:ln w="0">
            <a:noFill/>
          </a:ln>
        </p:spPr>
        <p:txBody>
          <a:bodyPr anchor="ctr">
            <a:normAutofit/>
          </a:bodyPr>
          <a:lstStyle/>
          <a:p>
            <a:pPr algn="ctr">
              <a:defRPr sz="750" b="1">
                <a:solidFill>
                  <a:srgbClr val="FFFFFF"/>
                </a:solidFill>
                <a:latin typeface="Arial"/>
                <a:ea typeface="Arial"/>
                <a:cs typeface="Arial"/>
              </a:defRPr>
            </a:pPr>
            <a:r>
              <a:rPr sz="750" b="1">
                <a:solidFill>
                  <a:srgbClr val="FFFFFF"/>
                </a:solidFill>
                <a:latin typeface="Arial"/>
                <a:ea typeface="Arial"/>
                <a:cs typeface="Arial"/>
              </a:rPr>
              <a:t>EXPLAIN</a:t>
            </a:r>
          </a:p>
        </p:txBody>
      </p:sp>
      <p:sp>
        <p:nvSpPr>
          <p:cNvPr id="5" name="Rectangle 4">
            <a:extLst>
              <a:ext uri="{FF2B5EF4-FFF2-40B4-BE49-F238E27FC236}">
                <a16:creationId xmlns:a16="http://schemas.microsoft.com/office/drawing/2014/main" id="{D10F64B8-7995-4ACD-840A-4109808CD3C9}"/>
              </a:ext>
            </a:extLst>
          </p:cNvPr>
          <p:cNvSpPr>
            <a:spLocks noGrp="1"/>
          </p:cNvSpPr>
          <p:nvPr/>
        </p:nvSpPr>
        <p:spPr>
          <a:xfrm>
            <a:off x="1962150" y="590550"/>
            <a:ext cx="8496300" cy="552450"/>
          </a:xfrm>
          <a:prstGeom prst="rect">
            <a:avLst/>
          </a:prstGeom>
          <a:noFill/>
          <a:ln w="0">
            <a:noFill/>
          </a:ln>
        </p:spPr>
        <p:txBody>
          <a:bodyPr anchor="ctr">
            <a:normAutofit/>
          </a:bodyPr>
          <a:lstStyle/>
          <a:p>
            <a:pPr algn="l">
              <a:defRPr sz="2625" b="1">
                <a:solidFill>
                  <a:srgbClr val="17253A"/>
                </a:solidFill>
                <a:latin typeface="Arial"/>
                <a:ea typeface="Arial"/>
                <a:cs typeface="Arial"/>
              </a:defRPr>
            </a:pPr>
            <a:r>
              <a:rPr sz="2625" b="1">
                <a:solidFill>
                  <a:srgbClr val="17253A"/>
                </a:solidFill>
                <a:latin typeface="Arial"/>
                <a:ea typeface="Arial"/>
                <a:cs typeface="Arial"/>
              </a:rPr>
              <a:t>Talk partner challenge</a:t>
            </a:r>
          </a:p>
        </p:txBody>
      </p:sp>
      <p:sp>
        <p:nvSpPr>
          <p:cNvPr id="6" name="Rectangle 5">
            <a:extLst>
              <a:ext uri="{FF2B5EF4-FFF2-40B4-BE49-F238E27FC236}">
                <a16:creationId xmlns:a16="http://schemas.microsoft.com/office/drawing/2014/main" id="{E5280333-FC65-4072-908C-BABE9EAE22B6}"/>
              </a:ext>
            </a:extLst>
          </p:cNvPr>
          <p:cNvSpPr>
            <a:spLocks noGrp="1"/>
          </p:cNvSpPr>
          <p:nvPr/>
        </p:nvSpPr>
        <p:spPr>
          <a:xfrm>
            <a:off x="10668000" y="400050"/>
            <a:ext cx="952500" cy="228600"/>
          </a:xfrm>
          <a:prstGeom prst="rect">
            <a:avLst/>
          </a:prstGeom>
          <a:noFill/>
          <a:ln w="0">
            <a:noFill/>
          </a:ln>
        </p:spPr>
        <p:txBody>
          <a:bodyPr anchor="ctr">
            <a:normAutofit fontScale="92308"/>
          </a:bodyPr>
          <a:lstStyle/>
          <a:p>
            <a:pPr algn="r">
              <a:defRPr sz="975" b="1">
                <a:solidFill>
                  <a:srgbClr val="6B788A"/>
                </a:solidFill>
                <a:latin typeface="Arial"/>
                <a:ea typeface="Arial"/>
                <a:cs typeface="Arial"/>
              </a:defRPr>
            </a:pPr>
            <a:r>
              <a:rPr sz="975" b="1">
                <a:solidFill>
                  <a:srgbClr val="6B788A"/>
                </a:solidFill>
                <a:latin typeface="Arial"/>
                <a:ea typeface="Arial"/>
                <a:cs typeface="Arial"/>
              </a:rPr>
              <a:t>12 / 15</a:t>
            </a:r>
          </a:p>
        </p:txBody>
      </p:sp>
      <p:sp>
        <p:nvSpPr>
          <p:cNvPr id="7" name="Rectangle 6">
            <a:extLst>
              <a:ext uri="{FF2B5EF4-FFF2-40B4-BE49-F238E27FC236}">
                <a16:creationId xmlns:a16="http://schemas.microsoft.com/office/drawing/2014/main" id="{90FB0D93-64FD-4A82-A447-F3203B094F68}"/>
              </a:ext>
            </a:extLst>
          </p:cNvPr>
          <p:cNvSpPr>
            <a:spLocks noGrp="1"/>
          </p:cNvSpPr>
          <p:nvPr/>
        </p:nvSpPr>
        <p:spPr>
          <a:xfrm>
            <a:off x="552450" y="6457950"/>
            <a:ext cx="11087100" cy="19050"/>
          </a:xfrm>
          <a:prstGeom prst="rect">
            <a:avLst/>
          </a:prstGeom>
          <a:solidFill>
            <a:srgbClr val="D9DEE7"/>
          </a:solidFill>
          <a:ln w="0">
            <a:noFill/>
          </a:ln>
        </p:spPr>
      </p:sp>
      <p:sp>
        <p:nvSpPr>
          <p:cNvPr id="8" name="Rectangle 7">
            <a:extLst>
              <a:ext uri="{FF2B5EF4-FFF2-40B4-BE49-F238E27FC236}">
                <a16:creationId xmlns:a16="http://schemas.microsoft.com/office/drawing/2014/main" id="{D471986E-3E37-413A-8AB3-E28206B2A628}"/>
              </a:ext>
            </a:extLst>
          </p:cNvPr>
          <p:cNvSpPr>
            <a:spLocks noGrp="1"/>
          </p:cNvSpPr>
          <p:nvPr/>
        </p:nvSpPr>
        <p:spPr>
          <a:xfrm>
            <a:off x="552450" y="6543675"/>
            <a:ext cx="3429000" cy="190500"/>
          </a:xfrm>
          <a:prstGeom prst="rect">
            <a:avLst/>
          </a:prstGeom>
          <a:noFill/>
          <a:ln w="0">
            <a:noFill/>
          </a:ln>
        </p:spPr>
        <p:txBody>
          <a:bodyPr anchor="ctr">
            <a:normAutofit fontScale="72222"/>
          </a:bodyPr>
          <a:lstStyle/>
          <a:p>
            <a:pPr algn="l">
              <a:defRPr sz="900" b="0">
                <a:solidFill>
                  <a:srgbClr val="6B788A"/>
                </a:solidFill>
                <a:latin typeface="Arial"/>
                <a:ea typeface="Arial"/>
                <a:cs typeface="Arial"/>
              </a:defRPr>
            </a:pPr>
            <a:r>
              <a:rPr sz="900" b="0">
                <a:solidFill>
                  <a:srgbClr val="6B788A"/>
                </a:solidFill>
                <a:latin typeface="Arial"/>
                <a:ea typeface="Arial"/>
                <a:cs typeface="Arial"/>
              </a:rPr>
              <a:t>BrightPath Primary Learning</a:t>
            </a:r>
          </a:p>
        </p:txBody>
      </p:sp>
      <p:sp>
        <p:nvSpPr>
          <p:cNvPr id="9" name="Rectangle 8">
            <a:extLst>
              <a:ext uri="{FF2B5EF4-FFF2-40B4-BE49-F238E27FC236}">
                <a16:creationId xmlns:a16="http://schemas.microsoft.com/office/drawing/2014/main" id="{F09028BC-D026-4940-8E93-03888A6D0C6E}"/>
              </a:ext>
            </a:extLst>
          </p:cNvPr>
          <p:cNvSpPr>
            <a:spLocks noGrp="1"/>
          </p:cNvSpPr>
          <p:nvPr/>
        </p:nvSpPr>
        <p:spPr>
          <a:xfrm>
            <a:off x="8477250" y="6543675"/>
            <a:ext cx="3162300" cy="190500"/>
          </a:xfrm>
          <a:prstGeom prst="rect">
            <a:avLst/>
          </a:prstGeom>
          <a:noFill/>
          <a:ln w="0">
            <a:noFill/>
          </a:ln>
        </p:spPr>
        <p:txBody>
          <a:bodyPr anchor="ctr">
            <a:normAutofit fontScale="72222"/>
          </a:bodyPr>
          <a:lstStyle/>
          <a:p>
            <a:pPr algn="r">
              <a:defRPr sz="900" b="0">
                <a:solidFill>
                  <a:srgbClr val="6B788A"/>
                </a:solidFill>
                <a:latin typeface="Arial"/>
                <a:ea typeface="Arial"/>
                <a:cs typeface="Arial"/>
              </a:defRPr>
            </a:pPr>
            <a:r>
              <a:rPr sz="900" b="0">
                <a:solidFill>
                  <a:srgbClr val="6B788A"/>
                </a:solidFill>
                <a:latin typeface="Arial"/>
                <a:ea typeface="Arial"/>
                <a:cs typeface="Arial"/>
              </a:rPr>
              <a:t>Sort objects into groups</a:t>
            </a:r>
          </a:p>
        </p:txBody>
      </p:sp>
      <p:sp>
        <p:nvSpPr>
          <p:cNvPr id="10" name="Rectangle: Rounded Corners 9">
            <a:extLst>
              <a:ext uri="{FF2B5EF4-FFF2-40B4-BE49-F238E27FC236}">
                <a16:creationId xmlns:a16="http://schemas.microsoft.com/office/drawing/2014/main" id="{2FA5EF74-E1F6-4E6D-A600-05EAD0EFA3C5}"/>
              </a:ext>
            </a:extLst>
          </p:cNvPr>
          <p:cNvSpPr>
            <a:spLocks noGrp="1"/>
          </p:cNvSpPr>
          <p:nvPr/>
        </p:nvSpPr>
        <p:spPr>
          <a:xfrm>
            <a:off x="762000" y="1476375"/>
            <a:ext cx="5048250" cy="4000500"/>
          </a:xfrm>
          <a:prstGeom prst="roundRect">
            <a:avLst>
              <a:gd name="adj" fmla="val 1905"/>
            </a:avLst>
          </a:prstGeom>
          <a:solidFill>
            <a:srgbClr val="E9F4FB"/>
          </a:solidFill>
          <a:ln w="19050">
            <a:solidFill>
              <a:srgbClr val="3F7DC0"/>
            </a:solidFill>
          </a:ln>
        </p:spPr>
      </p:sp>
      <p:sp>
        <p:nvSpPr>
          <p:cNvPr id="11" name="Rectangle: Rounded Corners 10">
            <a:extLst>
              <a:ext uri="{FF2B5EF4-FFF2-40B4-BE49-F238E27FC236}">
                <a16:creationId xmlns:a16="http://schemas.microsoft.com/office/drawing/2014/main" id="{6780B1AC-2768-4959-B3E3-7176C87CFAE8}"/>
              </a:ext>
            </a:extLst>
          </p:cNvPr>
          <p:cNvSpPr>
            <a:spLocks noGrp="1"/>
          </p:cNvSpPr>
          <p:nvPr/>
        </p:nvSpPr>
        <p:spPr>
          <a:xfrm>
            <a:off x="6381750" y="1476375"/>
            <a:ext cx="5048250" cy="4000500"/>
          </a:xfrm>
          <a:prstGeom prst="roundRect">
            <a:avLst>
              <a:gd name="adj" fmla="val 1905"/>
            </a:avLst>
          </a:prstGeom>
          <a:solidFill>
            <a:srgbClr val="FFF0E7"/>
          </a:solidFill>
          <a:ln w="19050">
            <a:solidFill>
              <a:srgbClr val="B4232B"/>
            </a:solidFill>
          </a:ln>
        </p:spPr>
      </p:sp>
      <p:sp>
        <p:nvSpPr>
          <p:cNvPr id="12" name="Rectangle: Rounded Corners 11">
            <a:extLst>
              <a:ext uri="{FF2B5EF4-FFF2-40B4-BE49-F238E27FC236}">
                <a16:creationId xmlns:a16="http://schemas.microsoft.com/office/drawing/2014/main" id="{0B15853A-EECE-4F1D-AFD4-4C6EFFAB7E86}"/>
              </a:ext>
            </a:extLst>
          </p:cNvPr>
          <p:cNvSpPr>
            <a:spLocks noGrp="1"/>
          </p:cNvSpPr>
          <p:nvPr/>
        </p:nvSpPr>
        <p:spPr>
          <a:xfrm>
            <a:off x="2047875" y="1762125"/>
            <a:ext cx="2476500" cy="361950"/>
          </a:xfrm>
          <a:prstGeom prst="roundRect">
            <a:avLst>
              <a:gd name="adj" fmla="val 21053"/>
            </a:avLst>
          </a:prstGeom>
          <a:solidFill>
            <a:srgbClr val="3F7DC0"/>
          </a:solidFill>
          <a:ln w="0">
            <a:noFill/>
          </a:ln>
        </p:spPr>
      </p:sp>
      <p:sp>
        <p:nvSpPr>
          <p:cNvPr id="13" name="Rectangle 12">
            <a:extLst>
              <a:ext uri="{FF2B5EF4-FFF2-40B4-BE49-F238E27FC236}">
                <a16:creationId xmlns:a16="http://schemas.microsoft.com/office/drawing/2014/main" id="{177C3248-B36E-421D-9AE5-C1CC4F8A3E95}"/>
              </a:ext>
            </a:extLst>
          </p:cNvPr>
          <p:cNvSpPr>
            <a:spLocks noGrp="1"/>
          </p:cNvSpPr>
          <p:nvPr/>
        </p:nvSpPr>
        <p:spPr>
          <a:xfrm>
            <a:off x="2143125" y="1790700"/>
            <a:ext cx="2286000" cy="295275"/>
          </a:xfrm>
          <a:prstGeom prst="rect">
            <a:avLst/>
          </a:prstGeom>
          <a:noFill/>
          <a:ln w="0">
            <a:noFill/>
          </a:ln>
        </p:spPr>
        <p:txBody>
          <a:bodyPr anchor="ctr">
            <a:normAutofit/>
          </a:bodyP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PARTNER A</a:t>
            </a:r>
          </a:p>
        </p:txBody>
      </p:sp>
      <p:sp>
        <p:nvSpPr>
          <p:cNvPr id="14" name="Rectangle: Rounded Corners 13">
            <a:extLst>
              <a:ext uri="{FF2B5EF4-FFF2-40B4-BE49-F238E27FC236}">
                <a16:creationId xmlns:a16="http://schemas.microsoft.com/office/drawing/2014/main" id="{B05BD056-21E5-4CB5-81F7-3A3294FD1816}"/>
              </a:ext>
            </a:extLst>
          </p:cNvPr>
          <p:cNvSpPr>
            <a:spLocks noGrp="1"/>
          </p:cNvSpPr>
          <p:nvPr/>
        </p:nvSpPr>
        <p:spPr>
          <a:xfrm>
            <a:off x="7667625" y="1762125"/>
            <a:ext cx="2476500" cy="361950"/>
          </a:xfrm>
          <a:prstGeom prst="roundRect">
            <a:avLst>
              <a:gd name="adj" fmla="val 21053"/>
            </a:avLst>
          </a:prstGeom>
          <a:solidFill>
            <a:srgbClr val="B4232B"/>
          </a:solidFill>
          <a:ln w="0">
            <a:noFill/>
          </a:ln>
        </p:spPr>
      </p:sp>
      <p:sp>
        <p:nvSpPr>
          <p:cNvPr id="15" name="Rectangle 14">
            <a:extLst>
              <a:ext uri="{FF2B5EF4-FFF2-40B4-BE49-F238E27FC236}">
                <a16:creationId xmlns:a16="http://schemas.microsoft.com/office/drawing/2014/main" id="{59FC16BC-2ADF-42B7-A5AC-761E32401F78}"/>
              </a:ext>
            </a:extLst>
          </p:cNvPr>
          <p:cNvSpPr>
            <a:spLocks noGrp="1"/>
          </p:cNvSpPr>
          <p:nvPr/>
        </p:nvSpPr>
        <p:spPr>
          <a:xfrm>
            <a:off x="7762875" y="1790700"/>
            <a:ext cx="2286000" cy="295275"/>
          </a:xfrm>
          <a:prstGeom prst="rect">
            <a:avLst/>
          </a:prstGeom>
          <a:noFill/>
          <a:ln w="0">
            <a:noFill/>
          </a:ln>
        </p:spPr>
        <p:txBody>
          <a:bodyPr anchor="ctr">
            <a:normAutofit/>
          </a:bodyPr>
          <a:lstStyle/>
          <a:p>
            <a:pPr algn="ctr">
              <a:defRPr sz="1125" b="1">
                <a:solidFill>
                  <a:srgbClr val="FFFFFF"/>
                </a:solidFill>
                <a:latin typeface="Arial"/>
                <a:ea typeface="Arial"/>
                <a:cs typeface="Arial"/>
              </a:defRPr>
            </a:pPr>
            <a:r>
              <a:rPr sz="1125" b="1">
                <a:solidFill>
                  <a:srgbClr val="FFFFFF"/>
                </a:solidFill>
                <a:latin typeface="Arial"/>
                <a:ea typeface="Arial"/>
                <a:cs typeface="Arial"/>
              </a:rPr>
              <a:t>PARTNER B</a:t>
            </a:r>
          </a:p>
        </p:txBody>
      </p:sp>
      <p:sp>
        <p:nvSpPr>
          <p:cNvPr id="16" name="Rectangle 15">
            <a:extLst>
              <a:ext uri="{FF2B5EF4-FFF2-40B4-BE49-F238E27FC236}">
                <a16:creationId xmlns:a16="http://schemas.microsoft.com/office/drawing/2014/main" id="{94DC8D3D-7DDB-4550-AB99-FC5F949FA322}"/>
              </a:ext>
            </a:extLst>
          </p:cNvPr>
          <p:cNvSpPr>
            <a:spLocks noGrp="1"/>
          </p:cNvSpPr>
          <p:nvPr/>
        </p:nvSpPr>
        <p:spPr>
          <a:xfrm>
            <a:off x="1190625" y="2571750"/>
            <a:ext cx="4191000" cy="1285875"/>
          </a:xfrm>
          <a:prstGeom prst="rect">
            <a:avLst/>
          </a:prstGeom>
          <a:noFill/>
          <a:ln w="0">
            <a:noFill/>
          </a:ln>
        </p:spPr>
        <p:txBody>
          <a:bodyPr anchor="ctr">
            <a:normAutofit/>
          </a:bodyPr>
          <a:lstStyle/>
          <a:p>
            <a:pPr algn="ctr">
              <a:defRPr sz="2025" b="1">
                <a:solidFill>
                  <a:srgbClr val="17253A"/>
                </a:solidFill>
                <a:latin typeface="Arial"/>
                <a:ea typeface="Arial"/>
                <a:cs typeface="Arial"/>
              </a:defRPr>
            </a:pPr>
            <a:r>
              <a:rPr sz="2025" b="1">
                <a:solidFill>
                  <a:srgbClr val="17253A"/>
                </a:solidFill>
                <a:latin typeface="Arial"/>
                <a:ea typeface="Arial"/>
                <a:cs typeface="Arial"/>
              </a:rPr>
              <a:t>Choose a rule and explain how you would sort four objects.</a:t>
            </a:r>
          </a:p>
        </p:txBody>
      </p:sp>
      <p:sp>
        <p:nvSpPr>
          <p:cNvPr id="17" name="Rectangle 16">
            <a:extLst>
              <a:ext uri="{FF2B5EF4-FFF2-40B4-BE49-F238E27FC236}">
                <a16:creationId xmlns:a16="http://schemas.microsoft.com/office/drawing/2014/main" id="{134CD3C5-27F1-450E-A75D-BC7A514B85BC}"/>
              </a:ext>
            </a:extLst>
          </p:cNvPr>
          <p:cNvSpPr>
            <a:spLocks noGrp="1"/>
          </p:cNvSpPr>
          <p:nvPr/>
        </p:nvSpPr>
        <p:spPr>
          <a:xfrm>
            <a:off x="6810375" y="2571750"/>
            <a:ext cx="4191000" cy="1285875"/>
          </a:xfrm>
          <a:prstGeom prst="rect">
            <a:avLst/>
          </a:prstGeom>
          <a:noFill/>
          <a:ln w="0">
            <a:noFill/>
          </a:ln>
        </p:spPr>
        <p:txBody>
          <a:bodyPr anchor="ctr">
            <a:normAutofit/>
          </a:bodyPr>
          <a:lstStyle/>
          <a:p>
            <a:pPr algn="ctr">
              <a:defRPr sz="2025" b="1">
                <a:solidFill>
                  <a:srgbClr val="17253A"/>
                </a:solidFill>
                <a:latin typeface="Arial"/>
                <a:ea typeface="Arial"/>
                <a:cs typeface="Arial"/>
              </a:defRPr>
            </a:pPr>
            <a:r>
              <a:rPr sz="2025" b="1">
                <a:solidFill>
                  <a:srgbClr val="17253A"/>
                </a:solidFill>
                <a:latin typeface="Arial"/>
                <a:ea typeface="Arial"/>
                <a:cs typeface="Arial"/>
              </a:rPr>
              <a:t>Listen. Repeat your partner’s rule, then ask one helpful question.</a:t>
            </a:r>
          </a:p>
        </p:txBody>
      </p:sp>
      <p:sp>
        <p:nvSpPr>
          <p:cNvPr id="18" name="Rectangle: Rounded Corners 17">
            <a:extLst>
              <a:ext uri="{FF2B5EF4-FFF2-40B4-BE49-F238E27FC236}">
                <a16:creationId xmlns:a16="http://schemas.microsoft.com/office/drawing/2014/main" id="{64612C25-28CA-4107-915E-586AEFE7287A}"/>
              </a:ext>
            </a:extLst>
          </p:cNvPr>
          <p:cNvSpPr>
            <a:spLocks noGrp="1"/>
          </p:cNvSpPr>
          <p:nvPr/>
        </p:nvSpPr>
        <p:spPr>
          <a:xfrm>
            <a:off x="1809750" y="4429125"/>
            <a:ext cx="8572500" cy="704850"/>
          </a:xfrm>
          <a:prstGeom prst="roundRect">
            <a:avLst>
              <a:gd name="adj" fmla="val 10811"/>
            </a:avLst>
          </a:prstGeom>
          <a:solidFill>
            <a:srgbClr val="FFFFFF"/>
          </a:solidFill>
          <a:ln w="19050">
            <a:solidFill>
              <a:srgbClr val="D9DEE7"/>
            </a:solidFill>
          </a:ln>
        </p:spPr>
      </p:sp>
      <p:sp>
        <p:nvSpPr>
          <p:cNvPr id="19" name="Rectangle 18">
            <a:extLst>
              <a:ext uri="{FF2B5EF4-FFF2-40B4-BE49-F238E27FC236}">
                <a16:creationId xmlns:a16="http://schemas.microsoft.com/office/drawing/2014/main" id="{E0E4D720-FA8F-4BD1-B44B-0FDD56896CD9}"/>
              </a:ext>
            </a:extLst>
          </p:cNvPr>
          <p:cNvSpPr>
            <a:spLocks noGrp="1"/>
          </p:cNvSpPr>
          <p:nvPr/>
        </p:nvSpPr>
        <p:spPr>
          <a:xfrm>
            <a:off x="2019300" y="4543425"/>
            <a:ext cx="8153400" cy="476250"/>
          </a:xfrm>
          <a:prstGeom prst="rect">
            <a:avLst/>
          </a:prstGeom>
          <a:noFill/>
          <a:ln w="0">
            <a:noFill/>
          </a:ln>
        </p:spPr>
        <p:txBody>
          <a:bodyPr anchor="ctr">
            <a:normAutofit/>
          </a:bodyPr>
          <a:lstStyle/>
          <a:p>
            <a:pPr algn="ctr">
              <a:defRPr sz="1650" b="1">
                <a:solidFill>
                  <a:srgbClr val="17253A"/>
                </a:solidFill>
                <a:latin typeface="Arial"/>
                <a:ea typeface="Arial"/>
                <a:cs typeface="Arial"/>
              </a:defRPr>
            </a:pPr>
            <a:r>
              <a:rPr sz="1650" b="1">
                <a:solidFill>
                  <a:srgbClr val="17253A"/>
                </a:solidFill>
                <a:latin typeface="Arial"/>
                <a:ea typeface="Arial"/>
                <a:cs typeface="Arial"/>
              </a:rPr>
              <a:t>I sorted by ______. I know ______ belongs here because ______.</a:t>
            </a:r>
          </a:p>
        </p:txBody>
      </p:sp>
    </p:spTree>
    <p:extLst>
      <p:ext uri="{BB962C8B-B14F-4D97-AF65-F5344CB8AC3E}">
        <p14:creationId xmlns:p14="http://schemas.microsoft.com/office/powerpoint/2010/main" val="5231395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7EA"/>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E30F99C6-687A-4C74-9C3E-C75FC39A1B70}"/>
              </a:ext>
            </a:extLst>
          </p:cNvPr>
          <p:cNvSpPr>
            <a:spLocks noGrp="1"/>
          </p:cNvSpPr>
          <p:nvPr/>
        </p:nvSpPr>
        <p:spPr>
          <a:xfrm>
            <a:off x="0" y="0"/>
            <a:ext cx="12192000" cy="171450"/>
          </a:xfrm>
          <a:prstGeom prst="rect">
            <a:avLst/>
          </a:prstGeom>
          <a:solidFill>
            <a:srgbClr val="B4232B"/>
          </a:solidFill>
          <a:ln w="0">
            <a:noFill/>
          </a:ln>
        </p:spPr>
      </p:sp>
      <p:sp>
        <p:nvSpPr>
          <p:cNvPr id="2" name="Rectangle 1">
            <a:extLst>
              <a:ext uri="{FF2B5EF4-FFF2-40B4-BE49-F238E27FC236}">
                <a16:creationId xmlns:a16="http://schemas.microsoft.com/office/drawing/2014/main" id="{7684B3F8-BBEA-4EA8-AFBD-3A601F301FDE}"/>
              </a:ext>
            </a:extLst>
          </p:cNvPr>
          <p:cNvSpPr>
            <a:spLocks noGrp="1"/>
          </p:cNvSpPr>
          <p:nvPr/>
        </p:nvSpPr>
        <p:spPr>
          <a:xfrm>
            <a:off x="552450" y="285750"/>
            <a:ext cx="6858000" cy="266700"/>
          </a:xfrm>
          <a:prstGeom prst="rect">
            <a:avLst/>
          </a:prstGeom>
          <a:noFill/>
          <a:ln w="0">
            <a:noFill/>
          </a:ln>
        </p:spPr>
        <p:txBody>
          <a:bodyPr anchor="ctr">
            <a:normAutofit/>
          </a:bodyPr>
          <a:lstStyle/>
          <a:p>
            <a:pPr algn="l">
              <a:defRPr sz="1050" b="1">
                <a:solidFill>
                  <a:srgbClr val="B4232B"/>
                </a:solidFill>
                <a:latin typeface="Arial"/>
                <a:ea typeface="Arial"/>
                <a:cs typeface="Arial"/>
              </a:defRPr>
            </a:pPr>
            <a:r>
              <a:rPr sz="1050" b="1">
                <a:solidFill>
                  <a:srgbClr val="B4232B"/>
                </a:solidFill>
                <a:latin typeface="Arial"/>
                <a:ea typeface="Arial"/>
                <a:cs typeface="Arial"/>
              </a:rPr>
              <a:t>YEAR 1 MATHS  •  AUTUMN  •  WEEK 1  •  DAY 1</a:t>
            </a:r>
          </a:p>
        </p:txBody>
      </p:sp>
      <p:sp>
        <p:nvSpPr>
          <p:cNvPr id="3" name="Rectangle: Rounded Corners 2">
            <a:extLst>
              <a:ext uri="{FF2B5EF4-FFF2-40B4-BE49-F238E27FC236}">
                <a16:creationId xmlns:a16="http://schemas.microsoft.com/office/drawing/2014/main" id="{5B409981-1FD2-4FF1-A26B-DF5B0C7DECA9}"/>
              </a:ext>
            </a:extLst>
          </p:cNvPr>
          <p:cNvSpPr>
            <a:spLocks noGrp="1"/>
          </p:cNvSpPr>
          <p:nvPr/>
        </p:nvSpPr>
        <p:spPr>
          <a:xfrm>
            <a:off x="552450" y="685800"/>
            <a:ext cx="1238250" cy="323850"/>
          </a:xfrm>
          <a:prstGeom prst="roundRect">
            <a:avLst>
              <a:gd name="adj" fmla="val 23529"/>
            </a:avLst>
          </a:prstGeom>
          <a:solidFill>
            <a:srgbClr val="B4232B"/>
          </a:solidFill>
          <a:ln w="0">
            <a:noFill/>
          </a:ln>
        </p:spPr>
      </p:sp>
      <p:sp>
        <p:nvSpPr>
          <p:cNvPr id="4" name="Rectangle 3">
            <a:extLst>
              <a:ext uri="{FF2B5EF4-FFF2-40B4-BE49-F238E27FC236}">
                <a16:creationId xmlns:a16="http://schemas.microsoft.com/office/drawing/2014/main" id="{BAFC2609-BEAB-4502-B231-C6CDE2627B13}"/>
              </a:ext>
            </a:extLst>
          </p:cNvPr>
          <p:cNvSpPr>
            <a:spLocks noGrp="1"/>
          </p:cNvSpPr>
          <p:nvPr/>
        </p:nvSpPr>
        <p:spPr>
          <a:xfrm>
            <a:off x="590550" y="704850"/>
            <a:ext cx="1162050" cy="266700"/>
          </a:xfrm>
          <a:prstGeom prst="rect">
            <a:avLst/>
          </a:prstGeom>
          <a:noFill/>
          <a:ln w="0">
            <a:noFill/>
          </a:ln>
        </p:spPr>
        <p:txBody>
          <a:bodyPr anchor="ctr">
            <a:normAutofit/>
          </a:bodyPr>
          <a:lstStyle/>
          <a:p>
            <a:pPr algn="ctr">
              <a:defRPr sz="750" b="1">
                <a:solidFill>
                  <a:srgbClr val="FFFFFF"/>
                </a:solidFill>
                <a:latin typeface="Arial"/>
                <a:ea typeface="Arial"/>
                <a:cs typeface="Arial"/>
              </a:defRPr>
            </a:pPr>
            <a:r>
              <a:rPr sz="750" b="1">
                <a:solidFill>
                  <a:srgbClr val="FFFFFF"/>
                </a:solidFill>
                <a:latin typeface="Arial"/>
                <a:ea typeface="Arial"/>
                <a:cs typeface="Arial"/>
              </a:rPr>
              <a:t>DEEPEN</a:t>
            </a:r>
          </a:p>
        </p:txBody>
      </p:sp>
      <p:sp>
        <p:nvSpPr>
          <p:cNvPr id="5" name="Rectangle 4">
            <a:extLst>
              <a:ext uri="{FF2B5EF4-FFF2-40B4-BE49-F238E27FC236}">
                <a16:creationId xmlns:a16="http://schemas.microsoft.com/office/drawing/2014/main" id="{A73D84E2-2AC9-4434-970C-A51FC20E8E37}"/>
              </a:ext>
            </a:extLst>
          </p:cNvPr>
          <p:cNvSpPr>
            <a:spLocks noGrp="1"/>
          </p:cNvSpPr>
          <p:nvPr/>
        </p:nvSpPr>
        <p:spPr>
          <a:xfrm>
            <a:off x="1962150" y="590550"/>
            <a:ext cx="8496300" cy="552450"/>
          </a:xfrm>
          <a:prstGeom prst="rect">
            <a:avLst/>
          </a:prstGeom>
          <a:noFill/>
          <a:ln w="0">
            <a:noFill/>
          </a:ln>
        </p:spPr>
        <p:txBody>
          <a:bodyPr anchor="ctr">
            <a:normAutofit/>
          </a:bodyPr>
          <a:lstStyle/>
          <a:p>
            <a:pPr algn="l">
              <a:defRPr sz="2625" b="1">
                <a:solidFill>
                  <a:srgbClr val="17253A"/>
                </a:solidFill>
                <a:latin typeface="Arial"/>
                <a:ea typeface="Arial"/>
                <a:cs typeface="Arial"/>
              </a:defRPr>
            </a:pPr>
            <a:r>
              <a:rPr sz="2625" b="1">
                <a:solidFill>
                  <a:srgbClr val="17253A"/>
                </a:solidFill>
                <a:latin typeface="Arial"/>
                <a:ea typeface="Arial"/>
                <a:cs typeface="Arial"/>
              </a:rPr>
              <a:t>Challenge: one set, two correct sorts</a:t>
            </a:r>
          </a:p>
        </p:txBody>
      </p:sp>
      <p:sp>
        <p:nvSpPr>
          <p:cNvPr id="6" name="Rectangle 5">
            <a:extLst>
              <a:ext uri="{FF2B5EF4-FFF2-40B4-BE49-F238E27FC236}">
                <a16:creationId xmlns:a16="http://schemas.microsoft.com/office/drawing/2014/main" id="{0C627656-9257-440E-8FC6-47C628885507}"/>
              </a:ext>
            </a:extLst>
          </p:cNvPr>
          <p:cNvSpPr>
            <a:spLocks noGrp="1"/>
          </p:cNvSpPr>
          <p:nvPr/>
        </p:nvSpPr>
        <p:spPr>
          <a:xfrm>
            <a:off x="10668000" y="400050"/>
            <a:ext cx="952500" cy="228600"/>
          </a:xfrm>
          <a:prstGeom prst="rect">
            <a:avLst/>
          </a:prstGeom>
          <a:noFill/>
          <a:ln w="0">
            <a:noFill/>
          </a:ln>
        </p:spPr>
        <p:txBody>
          <a:bodyPr anchor="ctr">
            <a:normAutofit fontScale="92308"/>
          </a:bodyPr>
          <a:lstStyle/>
          <a:p>
            <a:pPr algn="r">
              <a:defRPr sz="975" b="1">
                <a:solidFill>
                  <a:srgbClr val="6B788A"/>
                </a:solidFill>
                <a:latin typeface="Arial"/>
                <a:ea typeface="Arial"/>
                <a:cs typeface="Arial"/>
              </a:defRPr>
            </a:pPr>
            <a:r>
              <a:rPr sz="975" b="1">
                <a:solidFill>
                  <a:srgbClr val="6B788A"/>
                </a:solidFill>
                <a:latin typeface="Arial"/>
                <a:ea typeface="Arial"/>
                <a:cs typeface="Arial"/>
              </a:rPr>
              <a:t>13 / 15</a:t>
            </a:r>
          </a:p>
        </p:txBody>
      </p:sp>
      <p:sp>
        <p:nvSpPr>
          <p:cNvPr id="7" name="Rectangle 6">
            <a:extLst>
              <a:ext uri="{FF2B5EF4-FFF2-40B4-BE49-F238E27FC236}">
                <a16:creationId xmlns:a16="http://schemas.microsoft.com/office/drawing/2014/main" id="{5A68B113-7305-49FF-860E-3030326BDF5B}"/>
              </a:ext>
            </a:extLst>
          </p:cNvPr>
          <p:cNvSpPr>
            <a:spLocks noGrp="1"/>
          </p:cNvSpPr>
          <p:nvPr/>
        </p:nvSpPr>
        <p:spPr>
          <a:xfrm>
            <a:off x="552450" y="6457950"/>
            <a:ext cx="11087100" cy="19050"/>
          </a:xfrm>
          <a:prstGeom prst="rect">
            <a:avLst/>
          </a:prstGeom>
          <a:solidFill>
            <a:srgbClr val="D9DEE7"/>
          </a:solidFill>
          <a:ln w="0">
            <a:noFill/>
          </a:ln>
        </p:spPr>
      </p:sp>
      <p:sp>
        <p:nvSpPr>
          <p:cNvPr id="8" name="Rectangle 7">
            <a:extLst>
              <a:ext uri="{FF2B5EF4-FFF2-40B4-BE49-F238E27FC236}">
                <a16:creationId xmlns:a16="http://schemas.microsoft.com/office/drawing/2014/main" id="{ADD8C733-240D-40AB-ABDF-4AA4CD1EAC68}"/>
              </a:ext>
            </a:extLst>
          </p:cNvPr>
          <p:cNvSpPr>
            <a:spLocks noGrp="1"/>
          </p:cNvSpPr>
          <p:nvPr/>
        </p:nvSpPr>
        <p:spPr>
          <a:xfrm>
            <a:off x="552450" y="6543675"/>
            <a:ext cx="3429000" cy="190500"/>
          </a:xfrm>
          <a:prstGeom prst="rect">
            <a:avLst/>
          </a:prstGeom>
          <a:noFill/>
          <a:ln w="0">
            <a:noFill/>
          </a:ln>
        </p:spPr>
        <p:txBody>
          <a:bodyPr anchor="ctr">
            <a:normAutofit fontScale="72222"/>
          </a:bodyPr>
          <a:lstStyle/>
          <a:p>
            <a:pPr algn="l">
              <a:defRPr sz="900" b="0">
                <a:solidFill>
                  <a:srgbClr val="6B788A"/>
                </a:solidFill>
                <a:latin typeface="Arial"/>
                <a:ea typeface="Arial"/>
                <a:cs typeface="Arial"/>
              </a:defRPr>
            </a:pPr>
            <a:r>
              <a:rPr sz="900" b="0">
                <a:solidFill>
                  <a:srgbClr val="6B788A"/>
                </a:solidFill>
                <a:latin typeface="Arial"/>
                <a:ea typeface="Arial"/>
                <a:cs typeface="Arial"/>
              </a:rPr>
              <a:t>BrightPath Primary Learning</a:t>
            </a:r>
          </a:p>
        </p:txBody>
      </p:sp>
      <p:sp>
        <p:nvSpPr>
          <p:cNvPr id="9" name="Rectangle 8">
            <a:extLst>
              <a:ext uri="{FF2B5EF4-FFF2-40B4-BE49-F238E27FC236}">
                <a16:creationId xmlns:a16="http://schemas.microsoft.com/office/drawing/2014/main" id="{A81C30FC-DF1E-4F23-A7F1-5AE267D30A95}"/>
              </a:ext>
            </a:extLst>
          </p:cNvPr>
          <p:cNvSpPr>
            <a:spLocks noGrp="1"/>
          </p:cNvSpPr>
          <p:nvPr/>
        </p:nvSpPr>
        <p:spPr>
          <a:xfrm>
            <a:off x="8477250" y="6543675"/>
            <a:ext cx="3162300" cy="190500"/>
          </a:xfrm>
          <a:prstGeom prst="rect">
            <a:avLst/>
          </a:prstGeom>
          <a:noFill/>
          <a:ln w="0">
            <a:noFill/>
          </a:ln>
        </p:spPr>
        <p:txBody>
          <a:bodyPr anchor="ctr">
            <a:normAutofit fontScale="72222"/>
          </a:bodyPr>
          <a:lstStyle/>
          <a:p>
            <a:pPr algn="r">
              <a:defRPr sz="900" b="0">
                <a:solidFill>
                  <a:srgbClr val="6B788A"/>
                </a:solidFill>
                <a:latin typeface="Arial"/>
                <a:ea typeface="Arial"/>
                <a:cs typeface="Arial"/>
              </a:defRPr>
            </a:pPr>
            <a:r>
              <a:rPr sz="900" b="0">
                <a:solidFill>
                  <a:srgbClr val="6B788A"/>
                </a:solidFill>
                <a:latin typeface="Arial"/>
                <a:ea typeface="Arial"/>
                <a:cs typeface="Arial"/>
              </a:rPr>
              <a:t>Sort objects into groups</a:t>
            </a:r>
          </a:p>
        </p:txBody>
      </p:sp>
      <p:sp>
        <p:nvSpPr>
          <p:cNvPr id="10" name="Rectangle 9">
            <a:extLst>
              <a:ext uri="{FF2B5EF4-FFF2-40B4-BE49-F238E27FC236}">
                <a16:creationId xmlns:a16="http://schemas.microsoft.com/office/drawing/2014/main" id="{BB3A0AA0-1758-4F45-ACCA-9843B1A70F8F}"/>
              </a:ext>
            </a:extLst>
          </p:cNvPr>
          <p:cNvSpPr>
            <a:spLocks noGrp="1"/>
          </p:cNvSpPr>
          <p:nvPr/>
        </p:nvSpPr>
        <p:spPr>
          <a:xfrm>
            <a:off x="1047750" y="1381125"/>
            <a:ext cx="10096500" cy="762000"/>
          </a:xfrm>
          <a:prstGeom prst="rect">
            <a:avLst/>
          </a:prstGeom>
          <a:noFill/>
          <a:ln w="0">
            <a:noFill/>
          </a:ln>
        </p:spPr>
        <p:txBody>
          <a:bodyPr anchor="ctr">
            <a:normAutofit fontScale="96050"/>
          </a:bodyPr>
          <a:lstStyle/>
          <a:p>
            <a:pPr algn="ctr">
              <a:defRPr sz="2325" b="1">
                <a:solidFill>
                  <a:srgbClr val="17253A"/>
                </a:solidFill>
                <a:latin typeface="Arial"/>
                <a:ea typeface="Arial"/>
                <a:cs typeface="Arial"/>
              </a:defRPr>
            </a:pPr>
            <a:r>
              <a:rPr sz="2325" b="1">
                <a:solidFill>
                  <a:srgbClr val="17253A"/>
                </a:solidFill>
                <a:latin typeface="Arial"/>
                <a:ea typeface="Arial"/>
                <a:cs typeface="Arial"/>
              </a:rPr>
              <a:t>Make or draw a set of six objects that can be sorted in two different ways.</a:t>
            </a:r>
          </a:p>
        </p:txBody>
      </p:sp>
      <p:sp>
        <p:nvSpPr>
          <p:cNvPr id="11" name="Rectangle: Rounded Corners 10">
            <a:extLst>
              <a:ext uri="{FF2B5EF4-FFF2-40B4-BE49-F238E27FC236}">
                <a16:creationId xmlns:a16="http://schemas.microsoft.com/office/drawing/2014/main" id="{B8E605B9-C296-41C2-9F5D-6612278E8A6A}"/>
              </a:ext>
            </a:extLst>
          </p:cNvPr>
          <p:cNvSpPr>
            <a:spLocks noGrp="1"/>
          </p:cNvSpPr>
          <p:nvPr/>
        </p:nvSpPr>
        <p:spPr>
          <a:xfrm>
            <a:off x="1095375" y="2428875"/>
            <a:ext cx="4572000" cy="2667000"/>
          </a:xfrm>
          <a:prstGeom prst="roundRect">
            <a:avLst>
              <a:gd name="adj" fmla="val 2857"/>
            </a:avLst>
          </a:prstGeom>
          <a:solidFill>
            <a:srgbClr val="FFFFFF"/>
          </a:solidFill>
          <a:ln w="19050">
            <a:solidFill>
              <a:srgbClr val="D9DEE7"/>
            </a:solidFill>
          </a:ln>
        </p:spPr>
      </p:sp>
      <p:sp>
        <p:nvSpPr>
          <p:cNvPr id="12" name="Rectangle: Rounded Corners 11">
            <a:extLst>
              <a:ext uri="{FF2B5EF4-FFF2-40B4-BE49-F238E27FC236}">
                <a16:creationId xmlns:a16="http://schemas.microsoft.com/office/drawing/2014/main" id="{72C7BAB4-BEA1-4305-9C78-37333A7E69FD}"/>
              </a:ext>
            </a:extLst>
          </p:cNvPr>
          <p:cNvSpPr>
            <a:spLocks noGrp="1"/>
          </p:cNvSpPr>
          <p:nvPr/>
        </p:nvSpPr>
        <p:spPr>
          <a:xfrm>
            <a:off x="6524625" y="2428875"/>
            <a:ext cx="4572000" cy="2667000"/>
          </a:xfrm>
          <a:prstGeom prst="roundRect">
            <a:avLst>
              <a:gd name="adj" fmla="val 2857"/>
            </a:avLst>
          </a:prstGeom>
          <a:solidFill>
            <a:srgbClr val="FFFFFF"/>
          </a:solidFill>
          <a:ln w="19050">
            <a:solidFill>
              <a:srgbClr val="D9DEE7"/>
            </a:solidFill>
          </a:ln>
        </p:spPr>
      </p:sp>
      <p:sp>
        <p:nvSpPr>
          <p:cNvPr id="13" name="Rectangle: Rounded Corners 12">
            <a:extLst>
              <a:ext uri="{FF2B5EF4-FFF2-40B4-BE49-F238E27FC236}">
                <a16:creationId xmlns:a16="http://schemas.microsoft.com/office/drawing/2014/main" id="{174E162E-5FAA-4DD2-928F-FE75C1A1DD48}"/>
              </a:ext>
            </a:extLst>
          </p:cNvPr>
          <p:cNvSpPr>
            <a:spLocks noGrp="1"/>
          </p:cNvSpPr>
          <p:nvPr/>
        </p:nvSpPr>
        <p:spPr>
          <a:xfrm>
            <a:off x="2381250" y="2667000"/>
            <a:ext cx="2000250" cy="361950"/>
          </a:xfrm>
          <a:prstGeom prst="roundRect">
            <a:avLst>
              <a:gd name="adj" fmla="val 21053"/>
            </a:avLst>
          </a:prstGeom>
          <a:solidFill>
            <a:srgbClr val="FFF0E7"/>
          </a:solidFill>
          <a:ln w="0">
            <a:noFill/>
          </a:ln>
        </p:spPr>
      </p:sp>
      <p:sp>
        <p:nvSpPr>
          <p:cNvPr id="14" name="Rectangle 13">
            <a:extLst>
              <a:ext uri="{FF2B5EF4-FFF2-40B4-BE49-F238E27FC236}">
                <a16:creationId xmlns:a16="http://schemas.microsoft.com/office/drawing/2014/main" id="{0C601893-8C51-4B64-9A5C-91207794BD55}"/>
              </a:ext>
            </a:extLst>
          </p:cNvPr>
          <p:cNvSpPr>
            <a:spLocks noGrp="1"/>
          </p:cNvSpPr>
          <p:nvPr/>
        </p:nvSpPr>
        <p:spPr>
          <a:xfrm>
            <a:off x="2476500" y="2695575"/>
            <a:ext cx="1809750" cy="295275"/>
          </a:xfrm>
          <a:prstGeom prst="rect">
            <a:avLst/>
          </a:prstGeom>
          <a:noFill/>
          <a:ln w="0">
            <a:noFill/>
          </a:ln>
        </p:spPr>
        <p:txBody>
          <a:bodyPr anchor="ctr">
            <a:normAutofit/>
          </a:bodyPr>
          <a:lstStyle/>
          <a:p>
            <a:pPr algn="ctr">
              <a:defRPr sz="1125" b="1">
                <a:solidFill>
                  <a:srgbClr val="B4232B"/>
                </a:solidFill>
                <a:latin typeface="Arial"/>
                <a:ea typeface="Arial"/>
                <a:cs typeface="Arial"/>
              </a:defRPr>
            </a:pPr>
            <a:r>
              <a:rPr sz="1125" b="1">
                <a:solidFill>
                  <a:srgbClr val="B4232B"/>
                </a:solidFill>
                <a:latin typeface="Arial"/>
                <a:ea typeface="Arial"/>
                <a:cs typeface="Arial"/>
              </a:rPr>
              <a:t>RULE 1</a:t>
            </a:r>
          </a:p>
        </p:txBody>
      </p:sp>
      <p:sp>
        <p:nvSpPr>
          <p:cNvPr id="15" name="Rectangle: Rounded Corners 14">
            <a:extLst>
              <a:ext uri="{FF2B5EF4-FFF2-40B4-BE49-F238E27FC236}">
                <a16:creationId xmlns:a16="http://schemas.microsoft.com/office/drawing/2014/main" id="{1324E26E-1D13-4E20-9D9B-27C5B67E3DA1}"/>
              </a:ext>
            </a:extLst>
          </p:cNvPr>
          <p:cNvSpPr>
            <a:spLocks noGrp="1"/>
          </p:cNvSpPr>
          <p:nvPr/>
        </p:nvSpPr>
        <p:spPr>
          <a:xfrm>
            <a:off x="7810500" y="2667000"/>
            <a:ext cx="2000250" cy="361950"/>
          </a:xfrm>
          <a:prstGeom prst="roundRect">
            <a:avLst>
              <a:gd name="adj" fmla="val 21053"/>
            </a:avLst>
          </a:prstGeom>
          <a:solidFill>
            <a:srgbClr val="E9F4FB"/>
          </a:solidFill>
          <a:ln w="0">
            <a:noFill/>
          </a:ln>
        </p:spPr>
      </p:sp>
      <p:sp>
        <p:nvSpPr>
          <p:cNvPr id="16" name="Rectangle 15">
            <a:extLst>
              <a:ext uri="{FF2B5EF4-FFF2-40B4-BE49-F238E27FC236}">
                <a16:creationId xmlns:a16="http://schemas.microsoft.com/office/drawing/2014/main" id="{8E96B654-B8EF-48AD-B525-B8B7575A9023}"/>
              </a:ext>
            </a:extLst>
          </p:cNvPr>
          <p:cNvSpPr>
            <a:spLocks noGrp="1"/>
          </p:cNvSpPr>
          <p:nvPr/>
        </p:nvSpPr>
        <p:spPr>
          <a:xfrm>
            <a:off x="7905750" y="2695575"/>
            <a:ext cx="1809750" cy="295275"/>
          </a:xfrm>
          <a:prstGeom prst="rect">
            <a:avLst/>
          </a:prstGeom>
          <a:noFill/>
          <a:ln w="0">
            <a:noFill/>
          </a:ln>
        </p:spPr>
        <p:txBody>
          <a:bodyPr anchor="ctr">
            <a:normAutofit/>
          </a:bodyPr>
          <a:lstStyle/>
          <a:p>
            <a:pPr algn="ctr">
              <a:defRPr sz="1125" b="1">
                <a:solidFill>
                  <a:srgbClr val="3F7DC0"/>
                </a:solidFill>
                <a:latin typeface="Arial"/>
                <a:ea typeface="Arial"/>
                <a:cs typeface="Arial"/>
              </a:defRPr>
            </a:pPr>
            <a:r>
              <a:rPr sz="1125" b="1">
                <a:solidFill>
                  <a:srgbClr val="3F7DC0"/>
                </a:solidFill>
                <a:latin typeface="Arial"/>
                <a:ea typeface="Arial"/>
                <a:cs typeface="Arial"/>
              </a:rPr>
              <a:t>RULE 2</a:t>
            </a:r>
          </a:p>
        </p:txBody>
      </p:sp>
      <p:sp>
        <p:nvSpPr>
          <p:cNvPr id="17" name="Rectangle 16">
            <a:extLst>
              <a:ext uri="{FF2B5EF4-FFF2-40B4-BE49-F238E27FC236}">
                <a16:creationId xmlns:a16="http://schemas.microsoft.com/office/drawing/2014/main" id="{5DC5D702-2BA7-447A-8F9B-BC93226B3594}"/>
              </a:ext>
            </a:extLst>
          </p:cNvPr>
          <p:cNvSpPr>
            <a:spLocks noGrp="1"/>
          </p:cNvSpPr>
          <p:nvPr/>
        </p:nvSpPr>
        <p:spPr>
          <a:xfrm>
            <a:off x="1619250" y="3381375"/>
            <a:ext cx="3524250" cy="1047750"/>
          </a:xfrm>
          <a:prstGeom prst="rect">
            <a:avLst/>
          </a:prstGeom>
          <a:noFill/>
          <a:ln w="0">
            <a:noFill/>
          </a:ln>
        </p:spPr>
        <p:txBody>
          <a:bodyPr anchor="ctr">
            <a:normAutofit/>
          </a:bodyPr>
          <a:lstStyle/>
          <a:p>
            <a:pPr algn="ctr">
              <a:defRPr sz="1800" b="1">
                <a:solidFill>
                  <a:srgbClr val="40516A"/>
                </a:solidFill>
                <a:latin typeface="Arial"/>
                <a:ea typeface="Arial"/>
                <a:cs typeface="Arial"/>
              </a:defRPr>
            </a:pPr>
            <a:r>
              <a:rPr sz="1800" b="1">
                <a:solidFill>
                  <a:srgbClr val="40516A"/>
                </a:solidFill>
                <a:latin typeface="Arial"/>
                <a:ea typeface="Arial"/>
                <a:cs typeface="Arial"/>
              </a:rPr>
              <a:t>Draw the two groups.</a:t>
            </a:r>
          </a:p>
          <a:p>
            <a:pPr algn="ctr">
              <a:defRPr sz="1800" b="1">
                <a:solidFill>
                  <a:srgbClr val="40516A"/>
                </a:solidFill>
                <a:latin typeface="Arial"/>
                <a:ea typeface="Arial"/>
                <a:cs typeface="Arial"/>
              </a:defRPr>
            </a:pPr>
            <a:r>
              <a:rPr sz="1800" b="1">
                <a:solidFill>
                  <a:srgbClr val="40516A"/>
                </a:solidFill>
                <a:latin typeface="Arial"/>
                <a:ea typeface="Arial"/>
                <a:cs typeface="Arial"/>
              </a:rPr>
              <a:t>Write: I sorted by…</a:t>
            </a:r>
          </a:p>
        </p:txBody>
      </p:sp>
      <p:sp>
        <p:nvSpPr>
          <p:cNvPr id="18" name="Rectangle 17">
            <a:extLst>
              <a:ext uri="{FF2B5EF4-FFF2-40B4-BE49-F238E27FC236}">
                <a16:creationId xmlns:a16="http://schemas.microsoft.com/office/drawing/2014/main" id="{F70245CD-5F1D-4CB0-B491-83B5CB6997CB}"/>
              </a:ext>
            </a:extLst>
          </p:cNvPr>
          <p:cNvSpPr>
            <a:spLocks noGrp="1"/>
          </p:cNvSpPr>
          <p:nvPr/>
        </p:nvSpPr>
        <p:spPr>
          <a:xfrm>
            <a:off x="7048500" y="3381375"/>
            <a:ext cx="3524250" cy="1047750"/>
          </a:xfrm>
          <a:prstGeom prst="rect">
            <a:avLst/>
          </a:prstGeom>
          <a:noFill/>
          <a:ln w="0">
            <a:noFill/>
          </a:ln>
        </p:spPr>
        <p:txBody>
          <a:bodyPr anchor="ctr">
            <a:normAutofit/>
          </a:bodyPr>
          <a:lstStyle/>
          <a:p>
            <a:pPr algn="ctr">
              <a:defRPr sz="1800" b="1">
                <a:solidFill>
                  <a:srgbClr val="40516A"/>
                </a:solidFill>
                <a:latin typeface="Arial"/>
                <a:ea typeface="Arial"/>
                <a:cs typeface="Arial"/>
              </a:defRPr>
            </a:pPr>
            <a:r>
              <a:rPr sz="1800" b="1">
                <a:solidFill>
                  <a:srgbClr val="40516A"/>
                </a:solidFill>
                <a:latin typeface="Arial"/>
                <a:ea typeface="Arial"/>
                <a:cs typeface="Arial"/>
              </a:rPr>
              <a:t>Use the same objects.</a:t>
            </a:r>
          </a:p>
          <a:p>
            <a:pPr algn="ctr">
              <a:defRPr sz="1800" b="1">
                <a:solidFill>
                  <a:srgbClr val="40516A"/>
                </a:solidFill>
                <a:latin typeface="Arial"/>
                <a:ea typeface="Arial"/>
                <a:cs typeface="Arial"/>
              </a:defRPr>
            </a:pPr>
            <a:r>
              <a:rPr sz="1800" b="1">
                <a:solidFill>
                  <a:srgbClr val="40516A"/>
                </a:solidFill>
                <a:latin typeface="Arial"/>
                <a:ea typeface="Arial"/>
                <a:cs typeface="Arial"/>
              </a:rPr>
              <a:t>What changes?</a:t>
            </a:r>
          </a:p>
        </p:txBody>
      </p:sp>
      <p:sp>
        <p:nvSpPr>
          <p:cNvPr id="19" name="Rectangle: Rounded Corners 18">
            <a:extLst>
              <a:ext uri="{FF2B5EF4-FFF2-40B4-BE49-F238E27FC236}">
                <a16:creationId xmlns:a16="http://schemas.microsoft.com/office/drawing/2014/main" id="{003063E3-6BCD-4329-91D8-DB00A15640A7}"/>
              </a:ext>
            </a:extLst>
          </p:cNvPr>
          <p:cNvSpPr>
            <a:spLocks noGrp="1"/>
          </p:cNvSpPr>
          <p:nvPr/>
        </p:nvSpPr>
        <p:spPr>
          <a:xfrm>
            <a:off x="3048000" y="5476875"/>
            <a:ext cx="6096000" cy="590550"/>
          </a:xfrm>
          <a:prstGeom prst="roundRect">
            <a:avLst>
              <a:gd name="adj" fmla="val 12903"/>
            </a:avLst>
          </a:prstGeom>
          <a:solidFill>
            <a:srgbClr val="FFF7EA"/>
          </a:solidFill>
          <a:ln w="19050">
            <a:solidFill>
              <a:srgbClr val="D9DEE7"/>
            </a:solidFill>
          </a:ln>
        </p:spPr>
      </p:sp>
      <p:sp>
        <p:nvSpPr>
          <p:cNvPr id="20" name="Rectangle 19">
            <a:extLst>
              <a:ext uri="{FF2B5EF4-FFF2-40B4-BE49-F238E27FC236}">
                <a16:creationId xmlns:a16="http://schemas.microsoft.com/office/drawing/2014/main" id="{0EA8CF13-E7F7-4620-8B79-EB7C1FC60C12}"/>
              </a:ext>
            </a:extLst>
          </p:cNvPr>
          <p:cNvSpPr>
            <a:spLocks noGrp="1"/>
          </p:cNvSpPr>
          <p:nvPr/>
        </p:nvSpPr>
        <p:spPr>
          <a:xfrm>
            <a:off x="3257550" y="5591175"/>
            <a:ext cx="5676900" cy="361950"/>
          </a:xfrm>
          <a:prstGeom prst="rect">
            <a:avLst/>
          </a:prstGeom>
          <a:noFill/>
          <a:ln w="0">
            <a:noFill/>
          </a:ln>
        </p:spPr>
        <p:txBody>
          <a:bodyPr anchor="ctr">
            <a:normAutofit/>
          </a:bodyPr>
          <a:lstStyle/>
          <a:p>
            <a:pPr algn="ctr">
              <a:defRPr sz="1650" b="1">
                <a:solidFill>
                  <a:srgbClr val="17253A"/>
                </a:solidFill>
                <a:latin typeface="Arial"/>
                <a:ea typeface="Arial"/>
                <a:cs typeface="Arial"/>
              </a:defRPr>
            </a:pPr>
            <a:r>
              <a:rPr sz="1650" b="1">
                <a:solidFill>
                  <a:srgbClr val="17253A"/>
                </a:solidFill>
                <a:latin typeface="Arial"/>
                <a:ea typeface="Arial"/>
                <a:cs typeface="Arial"/>
              </a:rPr>
              <a:t>Prove both rules work for every object.</a:t>
            </a:r>
          </a:p>
        </p:txBody>
      </p:sp>
    </p:spTree>
    <p:extLst>
      <p:ext uri="{BB962C8B-B14F-4D97-AF65-F5344CB8AC3E}">
        <p14:creationId xmlns:p14="http://schemas.microsoft.com/office/powerpoint/2010/main" val="7762658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7EA"/>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AABCB5DE-9EED-4EF5-8641-04A949189A0D}"/>
              </a:ext>
            </a:extLst>
          </p:cNvPr>
          <p:cNvSpPr>
            <a:spLocks noGrp="1"/>
          </p:cNvSpPr>
          <p:nvPr/>
        </p:nvSpPr>
        <p:spPr>
          <a:xfrm>
            <a:off x="0" y="0"/>
            <a:ext cx="12192000" cy="171450"/>
          </a:xfrm>
          <a:prstGeom prst="rect">
            <a:avLst/>
          </a:prstGeom>
          <a:solidFill>
            <a:srgbClr val="B4232B"/>
          </a:solidFill>
          <a:ln w="0">
            <a:noFill/>
          </a:ln>
        </p:spPr>
      </p:sp>
      <p:sp>
        <p:nvSpPr>
          <p:cNvPr id="2" name="Rectangle 1">
            <a:extLst>
              <a:ext uri="{FF2B5EF4-FFF2-40B4-BE49-F238E27FC236}">
                <a16:creationId xmlns:a16="http://schemas.microsoft.com/office/drawing/2014/main" id="{7CEE2D2C-C2C4-4DAA-8727-8959119D97C9}"/>
              </a:ext>
            </a:extLst>
          </p:cNvPr>
          <p:cNvSpPr>
            <a:spLocks noGrp="1"/>
          </p:cNvSpPr>
          <p:nvPr/>
        </p:nvSpPr>
        <p:spPr>
          <a:xfrm>
            <a:off x="552450" y="285750"/>
            <a:ext cx="6858000" cy="266700"/>
          </a:xfrm>
          <a:prstGeom prst="rect">
            <a:avLst/>
          </a:prstGeom>
          <a:noFill/>
          <a:ln w="0">
            <a:noFill/>
          </a:ln>
        </p:spPr>
        <p:txBody>
          <a:bodyPr anchor="ctr">
            <a:normAutofit/>
          </a:bodyPr>
          <a:lstStyle/>
          <a:p>
            <a:pPr algn="l">
              <a:defRPr sz="1050" b="1">
                <a:solidFill>
                  <a:srgbClr val="B4232B"/>
                </a:solidFill>
                <a:latin typeface="Arial"/>
                <a:ea typeface="Arial"/>
                <a:cs typeface="Arial"/>
              </a:defRPr>
            </a:pPr>
            <a:r>
              <a:rPr sz="1050" b="1">
                <a:solidFill>
                  <a:srgbClr val="B4232B"/>
                </a:solidFill>
                <a:latin typeface="Arial"/>
                <a:ea typeface="Arial"/>
                <a:cs typeface="Arial"/>
              </a:rPr>
              <a:t>YEAR 1 MATHS  •  AUTUMN  •  WEEK 1  •  DAY 1</a:t>
            </a:r>
          </a:p>
        </p:txBody>
      </p:sp>
      <p:sp>
        <p:nvSpPr>
          <p:cNvPr id="3" name="Rectangle: Rounded Corners 2">
            <a:extLst>
              <a:ext uri="{FF2B5EF4-FFF2-40B4-BE49-F238E27FC236}">
                <a16:creationId xmlns:a16="http://schemas.microsoft.com/office/drawing/2014/main" id="{A45E91B4-830F-443C-B463-7903BB4D5765}"/>
              </a:ext>
            </a:extLst>
          </p:cNvPr>
          <p:cNvSpPr>
            <a:spLocks noGrp="1"/>
          </p:cNvSpPr>
          <p:nvPr/>
        </p:nvSpPr>
        <p:spPr>
          <a:xfrm>
            <a:off x="552450" y="685800"/>
            <a:ext cx="1238250" cy="323850"/>
          </a:xfrm>
          <a:prstGeom prst="roundRect">
            <a:avLst>
              <a:gd name="adj" fmla="val 23529"/>
            </a:avLst>
          </a:prstGeom>
          <a:solidFill>
            <a:srgbClr val="B4232B"/>
          </a:solidFill>
          <a:ln w="0">
            <a:noFill/>
          </a:ln>
        </p:spPr>
      </p:sp>
      <p:sp>
        <p:nvSpPr>
          <p:cNvPr id="4" name="Rectangle 3">
            <a:extLst>
              <a:ext uri="{FF2B5EF4-FFF2-40B4-BE49-F238E27FC236}">
                <a16:creationId xmlns:a16="http://schemas.microsoft.com/office/drawing/2014/main" id="{C241B948-7C98-4CEE-83C0-79927B1E1320}"/>
              </a:ext>
            </a:extLst>
          </p:cNvPr>
          <p:cNvSpPr>
            <a:spLocks noGrp="1"/>
          </p:cNvSpPr>
          <p:nvPr/>
        </p:nvSpPr>
        <p:spPr>
          <a:xfrm>
            <a:off x="590550" y="704850"/>
            <a:ext cx="1162050" cy="266700"/>
          </a:xfrm>
          <a:prstGeom prst="rect">
            <a:avLst/>
          </a:prstGeom>
          <a:noFill/>
          <a:ln w="0">
            <a:noFill/>
          </a:ln>
        </p:spPr>
        <p:txBody>
          <a:bodyPr anchor="ctr">
            <a:normAutofit/>
          </a:bodyPr>
          <a:lstStyle/>
          <a:p>
            <a:pPr algn="ctr">
              <a:defRPr sz="750" b="1">
                <a:solidFill>
                  <a:srgbClr val="FFFFFF"/>
                </a:solidFill>
                <a:latin typeface="Arial"/>
                <a:ea typeface="Arial"/>
                <a:cs typeface="Arial"/>
              </a:defRPr>
            </a:pPr>
            <a:r>
              <a:rPr sz="750" b="1">
                <a:solidFill>
                  <a:srgbClr val="FFFFFF"/>
                </a:solidFill>
                <a:latin typeface="Arial"/>
                <a:ea typeface="Arial"/>
                <a:cs typeface="Arial"/>
              </a:rPr>
              <a:t>PRACTISE</a:t>
            </a:r>
          </a:p>
        </p:txBody>
      </p:sp>
      <p:sp>
        <p:nvSpPr>
          <p:cNvPr id="5" name="Rectangle 4">
            <a:extLst>
              <a:ext uri="{FF2B5EF4-FFF2-40B4-BE49-F238E27FC236}">
                <a16:creationId xmlns:a16="http://schemas.microsoft.com/office/drawing/2014/main" id="{98D2E74B-7504-4457-8B30-9AE67EE49E34}"/>
              </a:ext>
            </a:extLst>
          </p:cNvPr>
          <p:cNvSpPr>
            <a:spLocks noGrp="1"/>
          </p:cNvSpPr>
          <p:nvPr/>
        </p:nvSpPr>
        <p:spPr>
          <a:xfrm>
            <a:off x="1962150" y="590550"/>
            <a:ext cx="8496300" cy="552450"/>
          </a:xfrm>
          <a:prstGeom prst="rect">
            <a:avLst/>
          </a:prstGeom>
          <a:noFill/>
          <a:ln w="0">
            <a:noFill/>
          </a:ln>
        </p:spPr>
        <p:txBody>
          <a:bodyPr anchor="ctr">
            <a:normAutofit/>
          </a:bodyPr>
          <a:lstStyle/>
          <a:p>
            <a:pPr algn="l">
              <a:defRPr sz="2625" b="1">
                <a:solidFill>
                  <a:srgbClr val="17253A"/>
                </a:solidFill>
                <a:latin typeface="Arial"/>
                <a:ea typeface="Arial"/>
                <a:cs typeface="Arial"/>
              </a:defRPr>
            </a:pPr>
            <a:r>
              <a:rPr sz="2625" b="1">
                <a:solidFill>
                  <a:srgbClr val="17253A"/>
                </a:solidFill>
                <a:latin typeface="Arial"/>
                <a:ea typeface="Arial"/>
                <a:cs typeface="Arial"/>
              </a:rPr>
              <a:t>Independent practice</a:t>
            </a:r>
          </a:p>
        </p:txBody>
      </p:sp>
      <p:sp>
        <p:nvSpPr>
          <p:cNvPr id="6" name="Rectangle 5">
            <a:extLst>
              <a:ext uri="{FF2B5EF4-FFF2-40B4-BE49-F238E27FC236}">
                <a16:creationId xmlns:a16="http://schemas.microsoft.com/office/drawing/2014/main" id="{A23BDD2C-8780-4E0D-8E93-1F4CDB610B2A}"/>
              </a:ext>
            </a:extLst>
          </p:cNvPr>
          <p:cNvSpPr>
            <a:spLocks noGrp="1"/>
          </p:cNvSpPr>
          <p:nvPr/>
        </p:nvSpPr>
        <p:spPr>
          <a:xfrm>
            <a:off x="10668000" y="400050"/>
            <a:ext cx="952500" cy="228600"/>
          </a:xfrm>
          <a:prstGeom prst="rect">
            <a:avLst/>
          </a:prstGeom>
          <a:noFill/>
          <a:ln w="0">
            <a:noFill/>
          </a:ln>
        </p:spPr>
        <p:txBody>
          <a:bodyPr anchor="ctr">
            <a:normAutofit fontScale="92308"/>
          </a:bodyPr>
          <a:lstStyle/>
          <a:p>
            <a:pPr algn="r">
              <a:defRPr sz="975" b="1">
                <a:solidFill>
                  <a:srgbClr val="6B788A"/>
                </a:solidFill>
                <a:latin typeface="Arial"/>
                <a:ea typeface="Arial"/>
                <a:cs typeface="Arial"/>
              </a:defRPr>
            </a:pPr>
            <a:r>
              <a:rPr sz="975" b="1">
                <a:solidFill>
                  <a:srgbClr val="6B788A"/>
                </a:solidFill>
                <a:latin typeface="Arial"/>
                <a:ea typeface="Arial"/>
                <a:cs typeface="Arial"/>
              </a:rPr>
              <a:t>14 / 15</a:t>
            </a:r>
          </a:p>
        </p:txBody>
      </p:sp>
      <p:sp>
        <p:nvSpPr>
          <p:cNvPr id="7" name="Rectangle 6">
            <a:extLst>
              <a:ext uri="{FF2B5EF4-FFF2-40B4-BE49-F238E27FC236}">
                <a16:creationId xmlns:a16="http://schemas.microsoft.com/office/drawing/2014/main" id="{958AFB87-0EAA-4557-872E-7B13987B23D5}"/>
              </a:ext>
            </a:extLst>
          </p:cNvPr>
          <p:cNvSpPr>
            <a:spLocks noGrp="1"/>
          </p:cNvSpPr>
          <p:nvPr/>
        </p:nvSpPr>
        <p:spPr>
          <a:xfrm>
            <a:off x="552450" y="6457950"/>
            <a:ext cx="11087100" cy="19050"/>
          </a:xfrm>
          <a:prstGeom prst="rect">
            <a:avLst/>
          </a:prstGeom>
          <a:solidFill>
            <a:srgbClr val="D9DEE7"/>
          </a:solidFill>
          <a:ln w="0">
            <a:noFill/>
          </a:ln>
        </p:spPr>
      </p:sp>
      <p:sp>
        <p:nvSpPr>
          <p:cNvPr id="8" name="Rectangle 7">
            <a:extLst>
              <a:ext uri="{FF2B5EF4-FFF2-40B4-BE49-F238E27FC236}">
                <a16:creationId xmlns:a16="http://schemas.microsoft.com/office/drawing/2014/main" id="{FB164119-7AE7-4A8E-A069-18B7DDB79A76}"/>
              </a:ext>
            </a:extLst>
          </p:cNvPr>
          <p:cNvSpPr>
            <a:spLocks noGrp="1"/>
          </p:cNvSpPr>
          <p:nvPr/>
        </p:nvSpPr>
        <p:spPr>
          <a:xfrm>
            <a:off x="552450" y="6543675"/>
            <a:ext cx="3429000" cy="190500"/>
          </a:xfrm>
          <a:prstGeom prst="rect">
            <a:avLst/>
          </a:prstGeom>
          <a:noFill/>
          <a:ln w="0">
            <a:noFill/>
          </a:ln>
        </p:spPr>
        <p:txBody>
          <a:bodyPr anchor="ctr">
            <a:normAutofit fontScale="72222"/>
          </a:bodyPr>
          <a:lstStyle/>
          <a:p>
            <a:pPr algn="l">
              <a:defRPr sz="900" b="0">
                <a:solidFill>
                  <a:srgbClr val="6B788A"/>
                </a:solidFill>
                <a:latin typeface="Arial"/>
                <a:ea typeface="Arial"/>
                <a:cs typeface="Arial"/>
              </a:defRPr>
            </a:pPr>
            <a:r>
              <a:rPr sz="900" b="0">
                <a:solidFill>
                  <a:srgbClr val="6B788A"/>
                </a:solidFill>
                <a:latin typeface="Arial"/>
                <a:ea typeface="Arial"/>
                <a:cs typeface="Arial"/>
              </a:rPr>
              <a:t>BrightPath Primary Learning</a:t>
            </a:r>
          </a:p>
        </p:txBody>
      </p:sp>
      <p:sp>
        <p:nvSpPr>
          <p:cNvPr id="9" name="Rectangle 8">
            <a:extLst>
              <a:ext uri="{FF2B5EF4-FFF2-40B4-BE49-F238E27FC236}">
                <a16:creationId xmlns:a16="http://schemas.microsoft.com/office/drawing/2014/main" id="{5796A51F-DC4C-400D-9DF0-9FF9BA25B38A}"/>
              </a:ext>
            </a:extLst>
          </p:cNvPr>
          <p:cNvSpPr>
            <a:spLocks noGrp="1"/>
          </p:cNvSpPr>
          <p:nvPr/>
        </p:nvSpPr>
        <p:spPr>
          <a:xfrm>
            <a:off x="8477250" y="6543675"/>
            <a:ext cx="3162300" cy="190500"/>
          </a:xfrm>
          <a:prstGeom prst="rect">
            <a:avLst/>
          </a:prstGeom>
          <a:noFill/>
          <a:ln w="0">
            <a:noFill/>
          </a:ln>
        </p:spPr>
        <p:txBody>
          <a:bodyPr anchor="ctr">
            <a:normAutofit fontScale="72222"/>
          </a:bodyPr>
          <a:lstStyle/>
          <a:p>
            <a:pPr algn="r">
              <a:defRPr sz="900" b="0">
                <a:solidFill>
                  <a:srgbClr val="6B788A"/>
                </a:solidFill>
                <a:latin typeface="Arial"/>
                <a:ea typeface="Arial"/>
                <a:cs typeface="Arial"/>
              </a:defRPr>
            </a:pPr>
            <a:r>
              <a:rPr sz="900" b="0">
                <a:solidFill>
                  <a:srgbClr val="6B788A"/>
                </a:solidFill>
                <a:latin typeface="Arial"/>
                <a:ea typeface="Arial"/>
                <a:cs typeface="Arial"/>
              </a:rPr>
              <a:t>Sort objects into groups</a:t>
            </a:r>
          </a:p>
        </p:txBody>
      </p:sp>
      <p:sp>
        <p:nvSpPr>
          <p:cNvPr id="10" name="Rectangle 9">
            <a:extLst>
              <a:ext uri="{FF2B5EF4-FFF2-40B4-BE49-F238E27FC236}">
                <a16:creationId xmlns:a16="http://schemas.microsoft.com/office/drawing/2014/main" id="{88C5CD77-8F85-4E44-BC83-A5CA07BF4D47}"/>
              </a:ext>
            </a:extLst>
          </p:cNvPr>
          <p:cNvSpPr>
            <a:spLocks noGrp="1"/>
          </p:cNvSpPr>
          <p:nvPr/>
        </p:nvSpPr>
        <p:spPr>
          <a:xfrm>
            <a:off x="1524000" y="1381125"/>
            <a:ext cx="9144000" cy="628650"/>
          </a:xfrm>
          <a:prstGeom prst="rect">
            <a:avLst/>
          </a:prstGeom>
          <a:noFill/>
          <a:ln w="0">
            <a:noFill/>
          </a:ln>
        </p:spPr>
        <p:txBody>
          <a:bodyPr anchor="ctr">
            <a:normAutofit fontScale="94140"/>
          </a:bodyPr>
          <a:lstStyle/>
          <a:p>
            <a:pPr algn="ctr">
              <a:defRPr sz="2175" b="1">
                <a:solidFill>
                  <a:srgbClr val="17253A"/>
                </a:solidFill>
                <a:latin typeface="Arial"/>
                <a:ea typeface="Arial"/>
                <a:cs typeface="Arial"/>
              </a:defRPr>
            </a:pPr>
            <a:r>
              <a:rPr sz="2175" b="1">
                <a:solidFill>
                  <a:srgbClr val="17253A"/>
                </a:solidFill>
                <a:latin typeface="Arial"/>
                <a:ea typeface="Arial"/>
                <a:cs typeface="Arial"/>
              </a:rPr>
              <a:t>Your teacher will give you the worksheet that helps you learn best today.</a:t>
            </a:r>
          </a:p>
        </p:txBody>
      </p:sp>
      <p:sp>
        <p:nvSpPr>
          <p:cNvPr id="11" name="Rectangle: Rounded Corners 10">
            <a:extLst>
              <a:ext uri="{FF2B5EF4-FFF2-40B4-BE49-F238E27FC236}">
                <a16:creationId xmlns:a16="http://schemas.microsoft.com/office/drawing/2014/main" id="{F048DCB9-94CE-46BC-8A3D-3ADE6FDCE09A}"/>
              </a:ext>
            </a:extLst>
          </p:cNvPr>
          <p:cNvSpPr>
            <a:spLocks noGrp="1"/>
          </p:cNvSpPr>
          <p:nvPr/>
        </p:nvSpPr>
        <p:spPr>
          <a:xfrm>
            <a:off x="523875" y="2333625"/>
            <a:ext cx="3524250" cy="2857500"/>
          </a:xfrm>
          <a:prstGeom prst="roundRect">
            <a:avLst>
              <a:gd name="adj" fmla="val 2667"/>
            </a:avLst>
          </a:prstGeom>
          <a:solidFill>
            <a:srgbClr val="FFF0E7"/>
          </a:solidFill>
          <a:ln w="19050">
            <a:solidFill>
              <a:srgbClr val="B4232B"/>
            </a:solidFill>
          </a:ln>
        </p:spPr>
      </p:sp>
      <p:sp>
        <p:nvSpPr>
          <p:cNvPr id="12" name="Rectangle 11">
            <a:extLst>
              <a:ext uri="{FF2B5EF4-FFF2-40B4-BE49-F238E27FC236}">
                <a16:creationId xmlns:a16="http://schemas.microsoft.com/office/drawing/2014/main" id="{A37193F2-859D-4FCF-B356-2260ED9D1EB2}"/>
              </a:ext>
            </a:extLst>
          </p:cNvPr>
          <p:cNvSpPr>
            <a:spLocks noGrp="1"/>
          </p:cNvSpPr>
          <p:nvPr/>
        </p:nvSpPr>
        <p:spPr>
          <a:xfrm>
            <a:off x="1047750" y="2524125"/>
            <a:ext cx="2476500" cy="361950"/>
          </a:xfrm>
          <a:prstGeom prst="rect">
            <a:avLst/>
          </a:prstGeom>
          <a:noFill/>
          <a:ln w="0">
            <a:noFill/>
          </a:ln>
        </p:spPr>
        <p:txBody>
          <a:bodyPr anchor="ctr">
            <a:normAutofit/>
          </a:bodyPr>
          <a:lstStyle/>
          <a:p>
            <a:pPr algn="ctr">
              <a:defRPr sz="1650" b="1">
                <a:solidFill>
                  <a:srgbClr val="B4232B"/>
                </a:solidFill>
                <a:latin typeface="Arial"/>
                <a:ea typeface="Arial"/>
                <a:cs typeface="Arial"/>
              </a:defRPr>
            </a:pPr>
            <a:r>
              <a:rPr sz="1650" b="1">
                <a:solidFill>
                  <a:srgbClr val="B4232B"/>
                </a:solidFill>
                <a:latin typeface="Arial"/>
                <a:ea typeface="Arial"/>
                <a:cs typeface="Arial"/>
              </a:rPr>
              <a:t>●</a:t>
            </a:r>
          </a:p>
        </p:txBody>
      </p:sp>
      <p:sp>
        <p:nvSpPr>
          <p:cNvPr id="13" name="Rectangle 12">
            <a:extLst>
              <a:ext uri="{FF2B5EF4-FFF2-40B4-BE49-F238E27FC236}">
                <a16:creationId xmlns:a16="http://schemas.microsoft.com/office/drawing/2014/main" id="{C6FB337D-1423-4748-818A-B919D4BD3267}"/>
              </a:ext>
            </a:extLst>
          </p:cNvPr>
          <p:cNvSpPr>
            <a:spLocks noGrp="1"/>
          </p:cNvSpPr>
          <p:nvPr/>
        </p:nvSpPr>
        <p:spPr>
          <a:xfrm>
            <a:off x="809625" y="3048000"/>
            <a:ext cx="2952750" cy="457200"/>
          </a:xfrm>
          <a:prstGeom prst="rect">
            <a:avLst/>
          </a:prstGeom>
          <a:noFill/>
          <a:ln w="0">
            <a:noFill/>
          </a:ln>
        </p:spPr>
        <p:txBody>
          <a:bodyPr anchor="ctr">
            <a:normAutofit/>
          </a:bodyPr>
          <a:lstStyle/>
          <a:p>
            <a:pPr algn="ctr">
              <a:defRPr sz="1500" b="1">
                <a:solidFill>
                  <a:srgbClr val="17253A"/>
                </a:solidFill>
                <a:latin typeface="Arial"/>
                <a:ea typeface="Arial"/>
                <a:cs typeface="Arial"/>
              </a:defRPr>
            </a:pPr>
            <a:r>
              <a:rPr sz="1500" b="1">
                <a:solidFill>
                  <a:srgbClr val="17253A"/>
                </a:solidFill>
                <a:latin typeface="Arial"/>
                <a:ea typeface="Arial"/>
                <a:cs typeface="Arial"/>
              </a:rPr>
              <a:t>PRACTISE WITH OBJECTS</a:t>
            </a:r>
          </a:p>
        </p:txBody>
      </p:sp>
      <p:sp>
        <p:nvSpPr>
          <p:cNvPr id="14" name="Rectangle 13">
            <a:extLst>
              <a:ext uri="{FF2B5EF4-FFF2-40B4-BE49-F238E27FC236}">
                <a16:creationId xmlns:a16="http://schemas.microsoft.com/office/drawing/2014/main" id="{5ECA0004-FA3D-4E97-AE4E-2D3AB133F6CF}"/>
              </a:ext>
            </a:extLst>
          </p:cNvPr>
          <p:cNvSpPr>
            <a:spLocks noGrp="1"/>
          </p:cNvSpPr>
          <p:nvPr/>
        </p:nvSpPr>
        <p:spPr>
          <a:xfrm>
            <a:off x="923925" y="3638550"/>
            <a:ext cx="2724150" cy="1000125"/>
          </a:xfrm>
          <a:prstGeom prst="rect">
            <a:avLst/>
          </a:prstGeom>
          <a:noFill/>
          <a:ln w="0">
            <a:noFill/>
          </a:ln>
        </p:spPr>
        <p:txBody>
          <a:bodyPr anchor="ctr">
            <a:normAutofit/>
          </a:bodyPr>
          <a:lstStyle/>
          <a:p>
            <a:pPr algn="ctr">
              <a:defRPr sz="1500" b="0">
                <a:solidFill>
                  <a:srgbClr val="40516A"/>
                </a:solidFill>
                <a:latin typeface="Arial"/>
                <a:ea typeface="Arial"/>
                <a:cs typeface="Arial"/>
              </a:defRPr>
            </a:pPr>
            <a:r>
              <a:rPr sz="1500" b="0">
                <a:solidFill>
                  <a:srgbClr val="40516A"/>
                </a:solidFill>
                <a:latin typeface="Arial"/>
                <a:ea typeface="Arial"/>
                <a:cs typeface="Arial"/>
              </a:rPr>
              <a:t>Sort one set using the shown rule. Say the rule aloud.</a:t>
            </a:r>
          </a:p>
        </p:txBody>
      </p:sp>
      <p:sp>
        <p:nvSpPr>
          <p:cNvPr id="15" name="Rectangle: Rounded Corners 14">
            <a:extLst>
              <a:ext uri="{FF2B5EF4-FFF2-40B4-BE49-F238E27FC236}">
                <a16:creationId xmlns:a16="http://schemas.microsoft.com/office/drawing/2014/main" id="{0EE7780F-6D7E-430D-A4BC-024AFC5A90AE}"/>
              </a:ext>
            </a:extLst>
          </p:cNvPr>
          <p:cNvSpPr>
            <a:spLocks noGrp="1"/>
          </p:cNvSpPr>
          <p:nvPr/>
        </p:nvSpPr>
        <p:spPr>
          <a:xfrm>
            <a:off x="4400550" y="2333625"/>
            <a:ext cx="3524250" cy="2857500"/>
          </a:xfrm>
          <a:prstGeom prst="roundRect">
            <a:avLst>
              <a:gd name="adj" fmla="val 2667"/>
            </a:avLst>
          </a:prstGeom>
          <a:solidFill>
            <a:srgbClr val="E9F4FB"/>
          </a:solidFill>
          <a:ln w="19050">
            <a:solidFill>
              <a:srgbClr val="3F7DC0"/>
            </a:solidFill>
          </a:ln>
        </p:spPr>
      </p:sp>
      <p:sp>
        <p:nvSpPr>
          <p:cNvPr id="16" name="Rectangle 15">
            <a:extLst>
              <a:ext uri="{FF2B5EF4-FFF2-40B4-BE49-F238E27FC236}">
                <a16:creationId xmlns:a16="http://schemas.microsoft.com/office/drawing/2014/main" id="{0B155321-4924-454B-8595-33A360AFCAA8}"/>
              </a:ext>
            </a:extLst>
          </p:cNvPr>
          <p:cNvSpPr>
            <a:spLocks noGrp="1"/>
          </p:cNvSpPr>
          <p:nvPr/>
        </p:nvSpPr>
        <p:spPr>
          <a:xfrm>
            <a:off x="4924425" y="2524125"/>
            <a:ext cx="2476500" cy="361950"/>
          </a:xfrm>
          <a:prstGeom prst="rect">
            <a:avLst/>
          </a:prstGeom>
          <a:noFill/>
          <a:ln w="0">
            <a:noFill/>
          </a:ln>
        </p:spPr>
        <p:txBody>
          <a:bodyPr anchor="ctr">
            <a:normAutofit/>
          </a:bodyPr>
          <a:lstStyle/>
          <a:p>
            <a:pPr algn="ctr">
              <a:defRPr sz="1650" b="1">
                <a:solidFill>
                  <a:srgbClr val="3F7DC0"/>
                </a:solidFill>
                <a:latin typeface="Arial"/>
                <a:ea typeface="Arial"/>
                <a:cs typeface="Arial"/>
              </a:defRPr>
            </a:pPr>
            <a:r>
              <a:rPr sz="1650" b="1">
                <a:solidFill>
                  <a:srgbClr val="3F7DC0"/>
                </a:solidFill>
                <a:latin typeface="Arial"/>
                <a:ea typeface="Arial"/>
                <a:cs typeface="Arial"/>
              </a:rPr>
              <a:t>● ●</a:t>
            </a:r>
          </a:p>
        </p:txBody>
      </p:sp>
      <p:sp>
        <p:nvSpPr>
          <p:cNvPr id="17" name="Rectangle 16">
            <a:extLst>
              <a:ext uri="{FF2B5EF4-FFF2-40B4-BE49-F238E27FC236}">
                <a16:creationId xmlns:a16="http://schemas.microsoft.com/office/drawing/2014/main" id="{E1908346-C7B0-4DBE-A0EE-5824EB153204}"/>
              </a:ext>
            </a:extLst>
          </p:cNvPr>
          <p:cNvSpPr>
            <a:spLocks noGrp="1"/>
          </p:cNvSpPr>
          <p:nvPr/>
        </p:nvSpPr>
        <p:spPr>
          <a:xfrm>
            <a:off x="4686300" y="3048000"/>
            <a:ext cx="2952750" cy="457200"/>
          </a:xfrm>
          <a:prstGeom prst="rect">
            <a:avLst/>
          </a:prstGeom>
          <a:noFill/>
          <a:ln w="0">
            <a:noFill/>
          </a:ln>
        </p:spPr>
        <p:txBody>
          <a:bodyPr anchor="ctr">
            <a:normAutofit/>
          </a:bodyPr>
          <a:lstStyle/>
          <a:p>
            <a:pPr algn="ctr">
              <a:defRPr sz="1500" b="1">
                <a:solidFill>
                  <a:srgbClr val="17253A"/>
                </a:solidFill>
                <a:latin typeface="Arial"/>
                <a:ea typeface="Arial"/>
                <a:cs typeface="Arial"/>
              </a:defRPr>
            </a:pPr>
            <a:r>
              <a:rPr sz="1500" b="1">
                <a:solidFill>
                  <a:srgbClr val="17253A"/>
                </a:solidFill>
                <a:latin typeface="Arial"/>
                <a:ea typeface="Arial"/>
                <a:cs typeface="Arial"/>
              </a:rPr>
              <a:t>WORK INDEPENDENTLY</a:t>
            </a:r>
          </a:p>
        </p:txBody>
      </p:sp>
      <p:sp>
        <p:nvSpPr>
          <p:cNvPr id="18" name="Rectangle 17">
            <a:extLst>
              <a:ext uri="{FF2B5EF4-FFF2-40B4-BE49-F238E27FC236}">
                <a16:creationId xmlns:a16="http://schemas.microsoft.com/office/drawing/2014/main" id="{04053239-378C-4457-9740-8319318598B1}"/>
              </a:ext>
            </a:extLst>
          </p:cNvPr>
          <p:cNvSpPr>
            <a:spLocks noGrp="1"/>
          </p:cNvSpPr>
          <p:nvPr/>
        </p:nvSpPr>
        <p:spPr>
          <a:xfrm>
            <a:off x="4800600" y="3638550"/>
            <a:ext cx="2724150" cy="1000125"/>
          </a:xfrm>
          <a:prstGeom prst="rect">
            <a:avLst/>
          </a:prstGeom>
          <a:noFill/>
          <a:ln w="0">
            <a:noFill/>
          </a:ln>
        </p:spPr>
        <p:txBody>
          <a:bodyPr anchor="ctr">
            <a:normAutofit/>
          </a:bodyPr>
          <a:lstStyle/>
          <a:p>
            <a:pPr algn="ctr">
              <a:defRPr sz="1500" b="0">
                <a:solidFill>
                  <a:srgbClr val="40516A"/>
                </a:solidFill>
                <a:latin typeface="Arial"/>
                <a:ea typeface="Arial"/>
                <a:cs typeface="Arial"/>
              </a:defRPr>
            </a:pPr>
            <a:r>
              <a:rPr sz="1500" b="0">
                <a:solidFill>
                  <a:srgbClr val="40516A"/>
                </a:solidFill>
                <a:latin typeface="Arial"/>
                <a:ea typeface="Arial"/>
                <a:cs typeface="Arial"/>
              </a:rPr>
              <a:t>Sort the picture sets and explain the rule you used.</a:t>
            </a:r>
          </a:p>
        </p:txBody>
      </p:sp>
      <p:sp>
        <p:nvSpPr>
          <p:cNvPr id="19" name="Rectangle: Rounded Corners 18">
            <a:extLst>
              <a:ext uri="{FF2B5EF4-FFF2-40B4-BE49-F238E27FC236}">
                <a16:creationId xmlns:a16="http://schemas.microsoft.com/office/drawing/2014/main" id="{56468EFF-9A0C-43B5-893A-9C161EC78501}"/>
              </a:ext>
            </a:extLst>
          </p:cNvPr>
          <p:cNvSpPr>
            <a:spLocks noGrp="1"/>
          </p:cNvSpPr>
          <p:nvPr/>
        </p:nvSpPr>
        <p:spPr>
          <a:xfrm>
            <a:off x="8277225" y="2333625"/>
            <a:ext cx="3524250" cy="2857500"/>
          </a:xfrm>
          <a:prstGeom prst="roundRect">
            <a:avLst>
              <a:gd name="adj" fmla="val 2667"/>
            </a:avLst>
          </a:prstGeom>
          <a:solidFill>
            <a:srgbClr val="F3ECFA"/>
          </a:solidFill>
          <a:ln w="19050">
            <a:solidFill>
              <a:srgbClr val="76469A"/>
            </a:solidFill>
          </a:ln>
        </p:spPr>
      </p:sp>
      <p:sp>
        <p:nvSpPr>
          <p:cNvPr id="20" name="Rectangle 19">
            <a:extLst>
              <a:ext uri="{FF2B5EF4-FFF2-40B4-BE49-F238E27FC236}">
                <a16:creationId xmlns:a16="http://schemas.microsoft.com/office/drawing/2014/main" id="{E3CAA9A0-8AA7-4F0B-B136-5258BDD10B23}"/>
              </a:ext>
            </a:extLst>
          </p:cNvPr>
          <p:cNvSpPr>
            <a:spLocks noGrp="1"/>
          </p:cNvSpPr>
          <p:nvPr/>
        </p:nvSpPr>
        <p:spPr>
          <a:xfrm>
            <a:off x="8801100" y="2524125"/>
            <a:ext cx="2476500" cy="361950"/>
          </a:xfrm>
          <a:prstGeom prst="rect">
            <a:avLst/>
          </a:prstGeom>
          <a:noFill/>
          <a:ln w="0">
            <a:noFill/>
          </a:ln>
        </p:spPr>
        <p:txBody>
          <a:bodyPr anchor="ctr">
            <a:normAutofit/>
          </a:bodyPr>
          <a:lstStyle/>
          <a:p>
            <a:pPr algn="ctr">
              <a:defRPr sz="1650" b="1">
                <a:solidFill>
                  <a:srgbClr val="76469A"/>
                </a:solidFill>
                <a:latin typeface="Arial"/>
                <a:ea typeface="Arial"/>
                <a:cs typeface="Arial"/>
              </a:defRPr>
            </a:pPr>
            <a:r>
              <a:rPr sz="1650" b="1">
                <a:solidFill>
                  <a:srgbClr val="76469A"/>
                </a:solidFill>
                <a:latin typeface="Arial"/>
                <a:ea typeface="Arial"/>
                <a:cs typeface="Arial"/>
              </a:rPr>
              <a:t>● ● ●</a:t>
            </a:r>
          </a:p>
        </p:txBody>
      </p:sp>
      <p:sp>
        <p:nvSpPr>
          <p:cNvPr id="21" name="Rectangle 20">
            <a:extLst>
              <a:ext uri="{FF2B5EF4-FFF2-40B4-BE49-F238E27FC236}">
                <a16:creationId xmlns:a16="http://schemas.microsoft.com/office/drawing/2014/main" id="{D44D9265-D330-42EF-93B4-6141F1EA56B3}"/>
              </a:ext>
            </a:extLst>
          </p:cNvPr>
          <p:cNvSpPr>
            <a:spLocks noGrp="1"/>
          </p:cNvSpPr>
          <p:nvPr/>
        </p:nvSpPr>
        <p:spPr>
          <a:xfrm>
            <a:off x="8562975" y="3048000"/>
            <a:ext cx="2952750" cy="457200"/>
          </a:xfrm>
          <a:prstGeom prst="rect">
            <a:avLst/>
          </a:prstGeom>
          <a:noFill/>
          <a:ln w="0">
            <a:noFill/>
          </a:ln>
        </p:spPr>
        <p:txBody>
          <a:bodyPr anchor="ctr">
            <a:normAutofit/>
          </a:bodyPr>
          <a:lstStyle/>
          <a:p>
            <a:pPr algn="ctr">
              <a:defRPr sz="1500" b="1">
                <a:solidFill>
                  <a:srgbClr val="17253A"/>
                </a:solidFill>
                <a:latin typeface="Arial"/>
                <a:ea typeface="Arial"/>
                <a:cs typeface="Arial"/>
              </a:defRPr>
            </a:pPr>
            <a:r>
              <a:rPr sz="1500" b="1">
                <a:solidFill>
                  <a:srgbClr val="17253A"/>
                </a:solidFill>
                <a:latin typeface="Arial"/>
                <a:ea typeface="Arial"/>
                <a:cs typeface="Arial"/>
              </a:rPr>
              <a:t>DEEPER THINKING</a:t>
            </a:r>
          </a:p>
        </p:txBody>
      </p:sp>
      <p:sp>
        <p:nvSpPr>
          <p:cNvPr id="22" name="Rectangle 21">
            <a:extLst>
              <a:ext uri="{FF2B5EF4-FFF2-40B4-BE49-F238E27FC236}">
                <a16:creationId xmlns:a16="http://schemas.microsoft.com/office/drawing/2014/main" id="{BAAAF045-FB0B-4064-AA2C-EE65656BD565}"/>
              </a:ext>
            </a:extLst>
          </p:cNvPr>
          <p:cNvSpPr>
            <a:spLocks noGrp="1"/>
          </p:cNvSpPr>
          <p:nvPr/>
        </p:nvSpPr>
        <p:spPr>
          <a:xfrm>
            <a:off x="8677275" y="3638550"/>
            <a:ext cx="2724150" cy="1000125"/>
          </a:xfrm>
          <a:prstGeom prst="rect">
            <a:avLst/>
          </a:prstGeom>
          <a:noFill/>
          <a:ln w="0">
            <a:noFill/>
          </a:ln>
        </p:spPr>
        <p:txBody>
          <a:bodyPr anchor="ctr">
            <a:normAutofit/>
          </a:bodyPr>
          <a:lstStyle/>
          <a:p>
            <a:pPr algn="ctr">
              <a:defRPr sz="1500" b="0">
                <a:solidFill>
                  <a:srgbClr val="40516A"/>
                </a:solidFill>
                <a:latin typeface="Arial"/>
                <a:ea typeface="Arial"/>
                <a:cs typeface="Arial"/>
              </a:defRPr>
            </a:pPr>
            <a:r>
              <a:rPr sz="1500" b="0">
                <a:solidFill>
                  <a:srgbClr val="40516A"/>
                </a:solidFill>
                <a:latin typeface="Arial"/>
                <a:ea typeface="Arial"/>
                <a:cs typeface="Arial"/>
              </a:rPr>
              <a:t>Find two possible rules and explain how the groups change.</a:t>
            </a:r>
          </a:p>
        </p:txBody>
      </p:sp>
      <p:sp>
        <p:nvSpPr>
          <p:cNvPr id="23" name="Rectangle 22">
            <a:extLst>
              <a:ext uri="{FF2B5EF4-FFF2-40B4-BE49-F238E27FC236}">
                <a16:creationId xmlns:a16="http://schemas.microsoft.com/office/drawing/2014/main" id="{866BA321-437D-42EF-9442-569D635B174B}"/>
              </a:ext>
            </a:extLst>
          </p:cNvPr>
          <p:cNvSpPr>
            <a:spLocks noGrp="1"/>
          </p:cNvSpPr>
          <p:nvPr/>
        </p:nvSpPr>
        <p:spPr>
          <a:xfrm>
            <a:off x="2095500" y="5715000"/>
            <a:ext cx="8001000" cy="342900"/>
          </a:xfrm>
          <a:prstGeom prst="rect">
            <a:avLst/>
          </a:prstGeom>
          <a:noFill/>
          <a:ln w="0">
            <a:noFill/>
          </a:ln>
        </p:spPr>
        <p:txBody>
          <a:bodyPr anchor="ctr">
            <a:normAutofit/>
          </a:bodyPr>
          <a:lstStyle/>
          <a:p>
            <a:pPr algn="ctr">
              <a:defRPr sz="1350" b="1">
                <a:solidFill>
                  <a:srgbClr val="6B788A"/>
                </a:solidFill>
                <a:latin typeface="Arial"/>
                <a:ea typeface="Arial"/>
                <a:cs typeface="Arial"/>
              </a:defRPr>
            </a:pPr>
            <a:r>
              <a:rPr sz="1350" b="1">
                <a:solidFill>
                  <a:srgbClr val="6B788A"/>
                </a:solidFill>
                <a:latin typeface="Arial"/>
                <a:ea typeface="Arial"/>
                <a:cs typeface="Arial"/>
              </a:rPr>
              <a:t>The detailed group choices and adaptations are in the teacher plan.</a:t>
            </a:r>
          </a:p>
        </p:txBody>
      </p:sp>
    </p:spTree>
    <p:extLst>
      <p:ext uri="{BB962C8B-B14F-4D97-AF65-F5344CB8AC3E}">
        <p14:creationId xmlns:p14="http://schemas.microsoft.com/office/powerpoint/2010/main" val="7745605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7EA"/>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B1F4D080-8C87-42E0-99EE-81DEEFF27D3A}"/>
              </a:ext>
            </a:extLst>
          </p:cNvPr>
          <p:cNvSpPr>
            <a:spLocks noGrp="1"/>
          </p:cNvSpPr>
          <p:nvPr/>
        </p:nvSpPr>
        <p:spPr>
          <a:xfrm>
            <a:off x="0" y="0"/>
            <a:ext cx="12192000" cy="171450"/>
          </a:xfrm>
          <a:prstGeom prst="rect">
            <a:avLst/>
          </a:prstGeom>
          <a:solidFill>
            <a:srgbClr val="B4232B"/>
          </a:solidFill>
          <a:ln w="0">
            <a:noFill/>
          </a:ln>
        </p:spPr>
      </p:sp>
      <p:sp>
        <p:nvSpPr>
          <p:cNvPr id="2" name="Rectangle 1">
            <a:extLst>
              <a:ext uri="{FF2B5EF4-FFF2-40B4-BE49-F238E27FC236}">
                <a16:creationId xmlns:a16="http://schemas.microsoft.com/office/drawing/2014/main" id="{D0C6514B-8641-406D-9BCA-A8211CB5E0E9}"/>
              </a:ext>
            </a:extLst>
          </p:cNvPr>
          <p:cNvSpPr>
            <a:spLocks noGrp="1"/>
          </p:cNvSpPr>
          <p:nvPr/>
        </p:nvSpPr>
        <p:spPr>
          <a:xfrm>
            <a:off x="552450" y="285750"/>
            <a:ext cx="6858000" cy="266700"/>
          </a:xfrm>
          <a:prstGeom prst="rect">
            <a:avLst/>
          </a:prstGeom>
          <a:noFill/>
          <a:ln w="0">
            <a:noFill/>
          </a:ln>
        </p:spPr>
        <p:txBody>
          <a:bodyPr anchor="ctr">
            <a:normAutofit/>
          </a:bodyPr>
          <a:lstStyle/>
          <a:p>
            <a:pPr algn="l">
              <a:defRPr sz="1050" b="1">
                <a:solidFill>
                  <a:srgbClr val="B4232B"/>
                </a:solidFill>
                <a:latin typeface="Arial"/>
                <a:ea typeface="Arial"/>
                <a:cs typeface="Arial"/>
              </a:defRPr>
            </a:pPr>
            <a:r>
              <a:rPr sz="1050" b="1">
                <a:solidFill>
                  <a:srgbClr val="B4232B"/>
                </a:solidFill>
                <a:latin typeface="Arial"/>
                <a:ea typeface="Arial"/>
                <a:cs typeface="Arial"/>
              </a:rPr>
              <a:t>YEAR 1 MATHS  •  AUTUMN  •  WEEK 1  •  DAY 1</a:t>
            </a:r>
          </a:p>
        </p:txBody>
      </p:sp>
      <p:sp>
        <p:nvSpPr>
          <p:cNvPr id="3" name="Rectangle: Rounded Corners 2">
            <a:extLst>
              <a:ext uri="{FF2B5EF4-FFF2-40B4-BE49-F238E27FC236}">
                <a16:creationId xmlns:a16="http://schemas.microsoft.com/office/drawing/2014/main" id="{700789C0-110A-43A5-A42A-AB2108F97C1F}"/>
              </a:ext>
            </a:extLst>
          </p:cNvPr>
          <p:cNvSpPr>
            <a:spLocks noGrp="1"/>
          </p:cNvSpPr>
          <p:nvPr/>
        </p:nvSpPr>
        <p:spPr>
          <a:xfrm>
            <a:off x="552450" y="685800"/>
            <a:ext cx="1238250" cy="323850"/>
          </a:xfrm>
          <a:prstGeom prst="roundRect">
            <a:avLst>
              <a:gd name="adj" fmla="val 23529"/>
            </a:avLst>
          </a:prstGeom>
          <a:solidFill>
            <a:srgbClr val="B4232B"/>
          </a:solidFill>
          <a:ln w="0">
            <a:noFill/>
          </a:ln>
        </p:spPr>
      </p:sp>
      <p:sp>
        <p:nvSpPr>
          <p:cNvPr id="4" name="Rectangle 3">
            <a:extLst>
              <a:ext uri="{FF2B5EF4-FFF2-40B4-BE49-F238E27FC236}">
                <a16:creationId xmlns:a16="http://schemas.microsoft.com/office/drawing/2014/main" id="{A9227A9C-033B-4645-9C9C-E3C5F7F0DB26}"/>
              </a:ext>
            </a:extLst>
          </p:cNvPr>
          <p:cNvSpPr>
            <a:spLocks noGrp="1"/>
          </p:cNvSpPr>
          <p:nvPr/>
        </p:nvSpPr>
        <p:spPr>
          <a:xfrm>
            <a:off x="590550" y="704850"/>
            <a:ext cx="1162050" cy="266700"/>
          </a:xfrm>
          <a:prstGeom prst="rect">
            <a:avLst/>
          </a:prstGeom>
          <a:noFill/>
          <a:ln w="0">
            <a:noFill/>
          </a:ln>
        </p:spPr>
        <p:txBody>
          <a:bodyPr anchor="ctr">
            <a:normAutofit/>
          </a:bodyPr>
          <a:lstStyle/>
          <a:p>
            <a:pPr algn="ctr">
              <a:defRPr sz="750" b="1">
                <a:solidFill>
                  <a:srgbClr val="FFFFFF"/>
                </a:solidFill>
                <a:latin typeface="Arial"/>
                <a:ea typeface="Arial"/>
                <a:cs typeface="Arial"/>
              </a:defRPr>
            </a:pPr>
            <a:r>
              <a:rPr sz="750" b="1">
                <a:solidFill>
                  <a:srgbClr val="FFFFFF"/>
                </a:solidFill>
                <a:latin typeface="Arial"/>
                <a:ea typeface="Arial"/>
                <a:cs typeface="Arial"/>
              </a:rPr>
              <a:t>ASSESS</a:t>
            </a:r>
          </a:p>
        </p:txBody>
      </p:sp>
      <p:sp>
        <p:nvSpPr>
          <p:cNvPr id="5" name="Rectangle 4">
            <a:extLst>
              <a:ext uri="{FF2B5EF4-FFF2-40B4-BE49-F238E27FC236}">
                <a16:creationId xmlns:a16="http://schemas.microsoft.com/office/drawing/2014/main" id="{1DD3B0AB-E975-4470-9625-879C9F78AF79}"/>
              </a:ext>
            </a:extLst>
          </p:cNvPr>
          <p:cNvSpPr>
            <a:spLocks noGrp="1"/>
          </p:cNvSpPr>
          <p:nvPr/>
        </p:nvSpPr>
        <p:spPr>
          <a:xfrm>
            <a:off x="1962150" y="590550"/>
            <a:ext cx="8496300" cy="552450"/>
          </a:xfrm>
          <a:prstGeom prst="rect">
            <a:avLst/>
          </a:prstGeom>
          <a:noFill/>
          <a:ln w="0">
            <a:noFill/>
          </a:ln>
        </p:spPr>
        <p:txBody>
          <a:bodyPr anchor="ctr">
            <a:normAutofit/>
          </a:bodyPr>
          <a:lstStyle/>
          <a:p>
            <a:pPr algn="l">
              <a:defRPr sz="2625" b="1">
                <a:solidFill>
                  <a:srgbClr val="17253A"/>
                </a:solidFill>
                <a:latin typeface="Arial"/>
                <a:ea typeface="Arial"/>
                <a:cs typeface="Arial"/>
              </a:defRPr>
            </a:pPr>
            <a:r>
              <a:rPr sz="2625" b="1">
                <a:solidFill>
                  <a:srgbClr val="17253A"/>
                </a:solidFill>
                <a:latin typeface="Arial"/>
                <a:ea typeface="Arial"/>
                <a:cs typeface="Arial"/>
              </a:rPr>
              <a:t>Exit check: ready for tomorrow?</a:t>
            </a:r>
          </a:p>
        </p:txBody>
      </p:sp>
      <p:sp>
        <p:nvSpPr>
          <p:cNvPr id="6" name="Rectangle 5">
            <a:extLst>
              <a:ext uri="{FF2B5EF4-FFF2-40B4-BE49-F238E27FC236}">
                <a16:creationId xmlns:a16="http://schemas.microsoft.com/office/drawing/2014/main" id="{D64AD952-FBDB-4503-A0C2-A113CC833769}"/>
              </a:ext>
            </a:extLst>
          </p:cNvPr>
          <p:cNvSpPr>
            <a:spLocks noGrp="1"/>
          </p:cNvSpPr>
          <p:nvPr/>
        </p:nvSpPr>
        <p:spPr>
          <a:xfrm>
            <a:off x="10668000" y="400050"/>
            <a:ext cx="952500" cy="228600"/>
          </a:xfrm>
          <a:prstGeom prst="rect">
            <a:avLst/>
          </a:prstGeom>
          <a:noFill/>
          <a:ln w="0">
            <a:noFill/>
          </a:ln>
        </p:spPr>
        <p:txBody>
          <a:bodyPr anchor="ctr">
            <a:normAutofit fontScale="92308"/>
          </a:bodyPr>
          <a:lstStyle/>
          <a:p>
            <a:pPr algn="r">
              <a:defRPr sz="975" b="1">
                <a:solidFill>
                  <a:srgbClr val="6B788A"/>
                </a:solidFill>
                <a:latin typeface="Arial"/>
                <a:ea typeface="Arial"/>
                <a:cs typeface="Arial"/>
              </a:defRPr>
            </a:pPr>
            <a:r>
              <a:rPr sz="975" b="1">
                <a:solidFill>
                  <a:srgbClr val="6B788A"/>
                </a:solidFill>
                <a:latin typeface="Arial"/>
                <a:ea typeface="Arial"/>
                <a:cs typeface="Arial"/>
              </a:rPr>
              <a:t>15 / 15</a:t>
            </a:r>
          </a:p>
        </p:txBody>
      </p:sp>
      <p:sp>
        <p:nvSpPr>
          <p:cNvPr id="7" name="Rectangle 6">
            <a:extLst>
              <a:ext uri="{FF2B5EF4-FFF2-40B4-BE49-F238E27FC236}">
                <a16:creationId xmlns:a16="http://schemas.microsoft.com/office/drawing/2014/main" id="{F56C7AD6-42C7-4CD2-A8EE-D24D29A05916}"/>
              </a:ext>
            </a:extLst>
          </p:cNvPr>
          <p:cNvSpPr>
            <a:spLocks noGrp="1"/>
          </p:cNvSpPr>
          <p:nvPr/>
        </p:nvSpPr>
        <p:spPr>
          <a:xfrm>
            <a:off x="552450" y="6457950"/>
            <a:ext cx="11087100" cy="19050"/>
          </a:xfrm>
          <a:prstGeom prst="rect">
            <a:avLst/>
          </a:prstGeom>
          <a:solidFill>
            <a:srgbClr val="D9DEE7"/>
          </a:solidFill>
          <a:ln w="0">
            <a:noFill/>
          </a:ln>
        </p:spPr>
      </p:sp>
      <p:sp>
        <p:nvSpPr>
          <p:cNvPr id="8" name="Rectangle 7">
            <a:extLst>
              <a:ext uri="{FF2B5EF4-FFF2-40B4-BE49-F238E27FC236}">
                <a16:creationId xmlns:a16="http://schemas.microsoft.com/office/drawing/2014/main" id="{F5EC9E55-7955-4F17-81F6-BAC2CDA530CA}"/>
              </a:ext>
            </a:extLst>
          </p:cNvPr>
          <p:cNvSpPr>
            <a:spLocks noGrp="1"/>
          </p:cNvSpPr>
          <p:nvPr/>
        </p:nvSpPr>
        <p:spPr>
          <a:xfrm>
            <a:off x="552450" y="6543675"/>
            <a:ext cx="3429000" cy="190500"/>
          </a:xfrm>
          <a:prstGeom prst="rect">
            <a:avLst/>
          </a:prstGeom>
          <a:noFill/>
          <a:ln w="0">
            <a:noFill/>
          </a:ln>
        </p:spPr>
        <p:txBody>
          <a:bodyPr anchor="ctr">
            <a:normAutofit fontScale="72222"/>
          </a:bodyPr>
          <a:lstStyle/>
          <a:p>
            <a:pPr algn="l">
              <a:defRPr sz="900" b="0">
                <a:solidFill>
                  <a:srgbClr val="6B788A"/>
                </a:solidFill>
                <a:latin typeface="Arial"/>
                <a:ea typeface="Arial"/>
                <a:cs typeface="Arial"/>
              </a:defRPr>
            </a:pPr>
            <a:r>
              <a:rPr sz="900" b="0">
                <a:solidFill>
                  <a:srgbClr val="6B788A"/>
                </a:solidFill>
                <a:latin typeface="Arial"/>
                <a:ea typeface="Arial"/>
                <a:cs typeface="Arial"/>
              </a:rPr>
              <a:t>BrightPath Primary Learning</a:t>
            </a:r>
          </a:p>
        </p:txBody>
      </p:sp>
      <p:sp>
        <p:nvSpPr>
          <p:cNvPr id="9" name="Rectangle 8">
            <a:extLst>
              <a:ext uri="{FF2B5EF4-FFF2-40B4-BE49-F238E27FC236}">
                <a16:creationId xmlns:a16="http://schemas.microsoft.com/office/drawing/2014/main" id="{D810EA03-DE07-4F69-B793-A64D0CC1FC04}"/>
              </a:ext>
            </a:extLst>
          </p:cNvPr>
          <p:cNvSpPr>
            <a:spLocks noGrp="1"/>
          </p:cNvSpPr>
          <p:nvPr/>
        </p:nvSpPr>
        <p:spPr>
          <a:xfrm>
            <a:off x="8477250" y="6543675"/>
            <a:ext cx="3162300" cy="190500"/>
          </a:xfrm>
          <a:prstGeom prst="rect">
            <a:avLst/>
          </a:prstGeom>
          <a:noFill/>
          <a:ln w="0">
            <a:noFill/>
          </a:ln>
        </p:spPr>
        <p:txBody>
          <a:bodyPr anchor="ctr">
            <a:normAutofit fontScale="72222"/>
          </a:bodyPr>
          <a:lstStyle/>
          <a:p>
            <a:pPr algn="r">
              <a:defRPr sz="900" b="0">
                <a:solidFill>
                  <a:srgbClr val="6B788A"/>
                </a:solidFill>
                <a:latin typeface="Arial"/>
                <a:ea typeface="Arial"/>
                <a:cs typeface="Arial"/>
              </a:defRPr>
            </a:pPr>
            <a:r>
              <a:rPr sz="900" b="0">
                <a:solidFill>
                  <a:srgbClr val="6B788A"/>
                </a:solidFill>
                <a:latin typeface="Arial"/>
                <a:ea typeface="Arial"/>
                <a:cs typeface="Arial"/>
              </a:rPr>
              <a:t>Sort objects into groups</a:t>
            </a:r>
          </a:p>
        </p:txBody>
      </p:sp>
      <p:pic>
        <p:nvPicPr>
          <p:cNvPr id="28" name="Picture 27"/>
          <p:cNvPicPr>
            <a:picLocks noChangeAspect="1"/>
          </p:cNvPicPr>
          <p:nvPr/>
        </p:nvPicPr>
        <p:blipFill>
          <a:blip r:embed="rId3"/>
          <a:stretch/>
        </p:blipFill>
        <p:spPr>
          <a:xfrm>
            <a:off x="8572500" y="2314575"/>
            <a:ext cx="2571750" cy="3086100"/>
          </a:xfrm>
          <a:prstGeom prst="rect">
            <a:avLst/>
          </a:prstGeom>
        </p:spPr>
      </p:pic>
      <p:sp>
        <p:nvSpPr>
          <p:cNvPr id="11" name="Rectangle: Rounded Corners 10">
            <a:extLst>
              <a:ext uri="{FF2B5EF4-FFF2-40B4-BE49-F238E27FC236}">
                <a16:creationId xmlns:a16="http://schemas.microsoft.com/office/drawing/2014/main" id="{EFD09F62-AA41-4276-BA55-DC5D56ACB6DD}"/>
              </a:ext>
            </a:extLst>
          </p:cNvPr>
          <p:cNvSpPr>
            <a:spLocks noGrp="1"/>
          </p:cNvSpPr>
          <p:nvPr/>
        </p:nvSpPr>
        <p:spPr>
          <a:xfrm>
            <a:off x="762000" y="1476375"/>
            <a:ext cx="6858000" cy="914400"/>
          </a:xfrm>
          <a:prstGeom prst="roundRect">
            <a:avLst>
              <a:gd name="adj" fmla="val 8333"/>
            </a:avLst>
          </a:prstGeom>
          <a:solidFill>
            <a:srgbClr val="FFFFFF"/>
          </a:solidFill>
          <a:ln w="19050">
            <a:solidFill>
              <a:srgbClr val="D9DEE7"/>
            </a:solidFill>
          </a:ln>
        </p:spPr>
      </p:sp>
      <p:sp>
        <p:nvSpPr>
          <p:cNvPr id="12" name="Rectangle 11">
            <a:extLst>
              <a:ext uri="{FF2B5EF4-FFF2-40B4-BE49-F238E27FC236}">
                <a16:creationId xmlns:a16="http://schemas.microsoft.com/office/drawing/2014/main" id="{3323ED95-0C6A-4103-AFA9-34A5B72AB0D2}"/>
              </a:ext>
            </a:extLst>
          </p:cNvPr>
          <p:cNvSpPr>
            <a:spLocks noGrp="1"/>
          </p:cNvSpPr>
          <p:nvPr/>
        </p:nvSpPr>
        <p:spPr>
          <a:xfrm>
            <a:off x="1066800" y="1619250"/>
            <a:ext cx="6238875" cy="628650"/>
          </a:xfrm>
          <a:prstGeom prst="rect">
            <a:avLst/>
          </a:prstGeom>
          <a:noFill/>
          <a:ln w="0">
            <a:noFill/>
          </a:ln>
        </p:spPr>
        <p:txBody>
          <a:bodyPr anchor="ctr">
            <a:normAutofit/>
          </a:bodyPr>
          <a:lstStyle/>
          <a:p>
            <a:pPr algn="l">
              <a:defRPr sz="1875" b="1">
                <a:solidFill>
                  <a:srgbClr val="17253A"/>
                </a:solidFill>
                <a:latin typeface="Arial"/>
                <a:ea typeface="Arial"/>
                <a:cs typeface="Arial"/>
              </a:defRPr>
            </a:pPr>
            <a:r>
              <a:rPr sz="1875" b="1">
                <a:solidFill>
                  <a:srgbClr val="17253A"/>
                </a:solidFill>
                <a:latin typeface="Arial"/>
                <a:ea typeface="Arial"/>
                <a:cs typeface="Arial"/>
              </a:rPr>
              <a:t>1. What does sort mean?</a:t>
            </a:r>
          </a:p>
        </p:txBody>
      </p:sp>
      <p:sp>
        <p:nvSpPr>
          <p:cNvPr id="13" name="Rectangle: Rounded Corners 12">
            <a:extLst>
              <a:ext uri="{FF2B5EF4-FFF2-40B4-BE49-F238E27FC236}">
                <a16:creationId xmlns:a16="http://schemas.microsoft.com/office/drawing/2014/main" id="{D1002946-52EF-44FC-A180-546A63DA3724}"/>
              </a:ext>
            </a:extLst>
          </p:cNvPr>
          <p:cNvSpPr>
            <a:spLocks noGrp="1"/>
          </p:cNvSpPr>
          <p:nvPr/>
        </p:nvSpPr>
        <p:spPr>
          <a:xfrm>
            <a:off x="762000" y="2714625"/>
            <a:ext cx="6858000" cy="914400"/>
          </a:xfrm>
          <a:prstGeom prst="roundRect">
            <a:avLst>
              <a:gd name="adj" fmla="val 8333"/>
            </a:avLst>
          </a:prstGeom>
          <a:solidFill>
            <a:srgbClr val="E9F4FB"/>
          </a:solidFill>
          <a:ln w="19050">
            <a:solidFill>
              <a:srgbClr val="3F7DC0"/>
            </a:solidFill>
          </a:ln>
        </p:spPr>
      </p:sp>
      <p:sp>
        <p:nvSpPr>
          <p:cNvPr id="14" name="Rectangle 13">
            <a:extLst>
              <a:ext uri="{FF2B5EF4-FFF2-40B4-BE49-F238E27FC236}">
                <a16:creationId xmlns:a16="http://schemas.microsoft.com/office/drawing/2014/main" id="{86D5F226-5815-46C0-9FC9-EB84C3A979AD}"/>
              </a:ext>
            </a:extLst>
          </p:cNvPr>
          <p:cNvSpPr>
            <a:spLocks noGrp="1"/>
          </p:cNvSpPr>
          <p:nvPr/>
        </p:nvSpPr>
        <p:spPr>
          <a:xfrm>
            <a:off x="1066800" y="2857500"/>
            <a:ext cx="6238875" cy="628650"/>
          </a:xfrm>
          <a:prstGeom prst="rect">
            <a:avLst/>
          </a:prstGeom>
          <a:noFill/>
          <a:ln w="0">
            <a:noFill/>
          </a:ln>
        </p:spPr>
        <p:txBody>
          <a:bodyPr anchor="ctr">
            <a:normAutofit/>
          </a:bodyPr>
          <a:lstStyle/>
          <a:p>
            <a:pPr algn="l">
              <a:defRPr sz="1875" b="1">
                <a:solidFill>
                  <a:srgbClr val="17253A"/>
                </a:solidFill>
                <a:latin typeface="Arial"/>
                <a:ea typeface="Arial"/>
                <a:cs typeface="Arial"/>
              </a:defRPr>
            </a:pPr>
            <a:r>
              <a:rPr sz="1875" b="1">
                <a:solidFill>
                  <a:srgbClr val="17253A"/>
                </a:solidFill>
                <a:latin typeface="Arial"/>
                <a:ea typeface="Arial"/>
                <a:cs typeface="Arial"/>
              </a:rPr>
              <a:t>2. Name one property we could use.</a:t>
            </a:r>
          </a:p>
        </p:txBody>
      </p:sp>
      <p:sp>
        <p:nvSpPr>
          <p:cNvPr id="15" name="Rectangle: Rounded Corners 14">
            <a:extLst>
              <a:ext uri="{FF2B5EF4-FFF2-40B4-BE49-F238E27FC236}">
                <a16:creationId xmlns:a16="http://schemas.microsoft.com/office/drawing/2014/main" id="{C1F92FA7-1C21-4BA2-958F-649DAB8D0620}"/>
              </a:ext>
            </a:extLst>
          </p:cNvPr>
          <p:cNvSpPr>
            <a:spLocks noGrp="1"/>
          </p:cNvSpPr>
          <p:nvPr/>
        </p:nvSpPr>
        <p:spPr>
          <a:xfrm>
            <a:off x="762000" y="3952875"/>
            <a:ext cx="6858000" cy="914400"/>
          </a:xfrm>
          <a:prstGeom prst="roundRect">
            <a:avLst>
              <a:gd name="adj" fmla="val 8333"/>
            </a:avLst>
          </a:prstGeom>
          <a:solidFill>
            <a:srgbClr val="FFFFFF"/>
          </a:solidFill>
          <a:ln w="19050">
            <a:solidFill>
              <a:srgbClr val="D9DEE7"/>
            </a:solidFill>
          </a:ln>
        </p:spPr>
      </p:sp>
      <p:sp>
        <p:nvSpPr>
          <p:cNvPr id="16" name="Rectangle 15">
            <a:extLst>
              <a:ext uri="{FF2B5EF4-FFF2-40B4-BE49-F238E27FC236}">
                <a16:creationId xmlns:a16="http://schemas.microsoft.com/office/drawing/2014/main" id="{C90F6AA2-EE61-44AE-A267-5FB70856FA92}"/>
              </a:ext>
            </a:extLst>
          </p:cNvPr>
          <p:cNvSpPr>
            <a:spLocks noGrp="1"/>
          </p:cNvSpPr>
          <p:nvPr/>
        </p:nvSpPr>
        <p:spPr>
          <a:xfrm>
            <a:off x="1066800" y="4095750"/>
            <a:ext cx="6238875" cy="628650"/>
          </a:xfrm>
          <a:prstGeom prst="rect">
            <a:avLst/>
          </a:prstGeom>
          <a:noFill/>
          <a:ln w="0">
            <a:noFill/>
          </a:ln>
        </p:spPr>
        <p:txBody>
          <a:bodyPr anchor="ctr">
            <a:normAutofit/>
          </a:bodyPr>
          <a:lstStyle/>
          <a:p>
            <a:pPr algn="l">
              <a:defRPr sz="1875" b="1">
                <a:solidFill>
                  <a:srgbClr val="17253A"/>
                </a:solidFill>
                <a:latin typeface="Arial"/>
                <a:ea typeface="Arial"/>
                <a:cs typeface="Arial"/>
              </a:defRPr>
            </a:pPr>
            <a:r>
              <a:rPr sz="1875" b="1">
                <a:solidFill>
                  <a:srgbClr val="17253A"/>
                </a:solidFill>
                <a:latin typeface="Arial"/>
                <a:ea typeface="Arial"/>
                <a:cs typeface="Arial"/>
              </a:rPr>
              <a:t>3. Why must the rule stay the same?</a:t>
            </a:r>
          </a:p>
        </p:txBody>
      </p:sp>
      <p:sp>
        <p:nvSpPr>
          <p:cNvPr id="17" name="Rectangle: Rounded Corners 16">
            <a:extLst>
              <a:ext uri="{FF2B5EF4-FFF2-40B4-BE49-F238E27FC236}">
                <a16:creationId xmlns:a16="http://schemas.microsoft.com/office/drawing/2014/main" id="{2A57BFA7-5797-4807-8657-8319E9148194}"/>
              </a:ext>
            </a:extLst>
          </p:cNvPr>
          <p:cNvSpPr>
            <a:spLocks noGrp="1"/>
          </p:cNvSpPr>
          <p:nvPr/>
        </p:nvSpPr>
        <p:spPr>
          <a:xfrm>
            <a:off x="1762125" y="5381625"/>
            <a:ext cx="7620000" cy="590550"/>
          </a:xfrm>
          <a:prstGeom prst="roundRect">
            <a:avLst>
              <a:gd name="adj" fmla="val 12903"/>
            </a:avLst>
          </a:prstGeom>
          <a:solidFill>
            <a:srgbClr val="FFF0E7"/>
          </a:solidFill>
          <a:ln w="19050">
            <a:solidFill>
              <a:srgbClr val="D9DEE7"/>
            </a:solidFill>
          </a:ln>
        </p:spPr>
      </p:sp>
      <p:sp>
        <p:nvSpPr>
          <p:cNvPr id="18" name="Rectangle 17">
            <a:extLst>
              <a:ext uri="{FF2B5EF4-FFF2-40B4-BE49-F238E27FC236}">
                <a16:creationId xmlns:a16="http://schemas.microsoft.com/office/drawing/2014/main" id="{6E9FCE62-D743-45BC-98EE-3F2ECF680199}"/>
              </a:ext>
            </a:extLst>
          </p:cNvPr>
          <p:cNvSpPr>
            <a:spLocks noGrp="1"/>
          </p:cNvSpPr>
          <p:nvPr/>
        </p:nvSpPr>
        <p:spPr>
          <a:xfrm>
            <a:off x="1971675" y="5495925"/>
            <a:ext cx="7200900" cy="361950"/>
          </a:xfrm>
          <a:prstGeom prst="rect">
            <a:avLst/>
          </a:prstGeom>
          <a:noFill/>
          <a:ln w="0">
            <a:noFill/>
          </a:ln>
        </p:spPr>
        <p:txBody>
          <a:bodyPr anchor="ctr">
            <a:normAutofit/>
          </a:bodyPr>
          <a:lstStyle/>
          <a:p>
            <a:pPr algn="ctr">
              <a:defRPr sz="1650" b="1">
                <a:solidFill>
                  <a:srgbClr val="17253A"/>
                </a:solidFill>
                <a:latin typeface="Arial"/>
                <a:ea typeface="Arial"/>
                <a:cs typeface="Arial"/>
              </a:defRPr>
            </a:pPr>
            <a:r>
              <a:rPr sz="1650" b="1">
                <a:solidFill>
                  <a:srgbClr val="17253A"/>
                </a:solidFill>
                <a:latin typeface="Arial"/>
                <a:ea typeface="Arial"/>
                <a:cs typeface="Arial"/>
              </a:rPr>
              <a:t>Show me: SECURE   |   NEARLY THERE   |   NEED MORE PRACTICE</a:t>
            </a:r>
          </a:p>
        </p:txBody>
      </p:sp>
    </p:spTree>
    <p:extLst>
      <p:ext uri="{BB962C8B-B14F-4D97-AF65-F5344CB8AC3E}">
        <p14:creationId xmlns:p14="http://schemas.microsoft.com/office/powerpoint/2010/main" val="731058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4" grpId="0"/>
      <p:bldP spid="16" grpId="0"/>
      <p:bldP spid="18" grpId="0"/>
    </p:bld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1607</Words>
  <Application>Microsoft Office PowerPoint</Application>
  <DocSecurity>0</DocSecurity>
  <PresentationFormat>Widescreen</PresentationFormat>
  <Paragraphs>189</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Segoe Print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2026-09-08T16:58:51Z</dcterms:created>
  <dcterms:modified xsi:type="dcterms:W3CDTF">2026-09-08T17:12:52Z</dcterms:modified>
</cp:coreProperties>
</file>