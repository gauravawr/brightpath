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f0798ce677f4b6a" /><Relationship Type="http://schemas.openxmlformats.org/officeDocument/2006/relationships/extended-properties" Target="/docProps/app.xml" Id="R5703148ef0ea4cc7" /><Relationship Type="http://schemas.openxmlformats.org/officeDocument/2006/relationships/officeDocument" Target="/ppt/presentation.xml" Id="Rdcaadeac95ba437e" /></Relationships>
</file>

<file path=ppt/presentation.xml><?xml version="1.0" encoding="utf-8"?>
<p:presentation xmlns:p="http://schemas.openxmlformats.org/presentationml/2006/main">
  <p:sldMasterIdLst>
    <p:sldMasterId xmlns:r="http://schemas.openxmlformats.org/officeDocument/2006/relationships" id="2147483648" r:id="R3a55ae1af81b4ab3"/>
  </p:sldMasterIdLst>
  <p:notesMasterIdLst>
    <p:notesMasterId xmlns:r="http://schemas.openxmlformats.org/officeDocument/2006/relationships" r:id="R7888e667f1184084"/>
  </p:notesMasterIdLst>
  <p:sldIdLst>
    <p:sldId xmlns:r="http://schemas.openxmlformats.org/officeDocument/2006/relationships" id="256" r:id="Re65a12c417184f59"/>
    <p:sldId xmlns:r="http://schemas.openxmlformats.org/officeDocument/2006/relationships" id="257" r:id="R3231a9859431441f"/>
    <p:sldId xmlns:r="http://schemas.openxmlformats.org/officeDocument/2006/relationships" id="258" r:id="Rf4b6bb395ca54a62"/>
    <p:sldId xmlns:r="http://schemas.openxmlformats.org/officeDocument/2006/relationships" id="259" r:id="R691cb6cbcd124c1d"/>
    <p:sldId xmlns:r="http://schemas.openxmlformats.org/officeDocument/2006/relationships" id="260" r:id="Re8cf4990f8c94b08"/>
    <p:sldId xmlns:r="http://schemas.openxmlformats.org/officeDocument/2006/relationships" id="261" r:id="R61df23c2ccd6422b"/>
    <p:sldId xmlns:r="http://schemas.openxmlformats.org/officeDocument/2006/relationships" id="262" r:id="R6d139a2e63e241f1"/>
    <p:sldId xmlns:r="http://schemas.openxmlformats.org/officeDocument/2006/relationships" id="263" r:id="R51e0a844faea4a55"/>
    <p:sldId xmlns:r="http://schemas.openxmlformats.org/officeDocument/2006/relationships" id="264" r:id="Rceb91c7d29d4432d"/>
    <p:sldId xmlns:r="http://schemas.openxmlformats.org/officeDocument/2006/relationships" id="265" r:id="R752cf6affc264af2"/>
    <p:sldId xmlns:r="http://schemas.openxmlformats.org/officeDocument/2006/relationships" id="266" r:id="Rbb0de07dc2dd449f"/>
    <p:sldId xmlns:r="http://schemas.openxmlformats.org/officeDocument/2006/relationships" id="267" r:id="Ra3ecb30901674311"/>
    <p:sldId xmlns:r="http://schemas.openxmlformats.org/officeDocument/2006/relationships" id="268" r:id="R891d9b9c046a45ee"/>
    <p:sldId xmlns:r="http://schemas.openxmlformats.org/officeDocument/2006/relationships" id="269" r:id="R6d01b37aee7241c8"/>
    <p:sldId xmlns:r="http://schemas.openxmlformats.org/officeDocument/2006/relationships" id="270" r:id="Rd96e06be4c0f444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ec81daa72b417e" /><Relationship Type="http://schemas.openxmlformats.org/officeDocument/2006/relationships/slideMaster" Target="/ppt/slideMasters/slideMaster1.xml" Id="R3a55ae1af81b4ab3" /><Relationship Type="http://schemas.openxmlformats.org/officeDocument/2006/relationships/notesMaster" Target="/ppt/notesMasters/notesMaster1.xml" Id="R7888e667f1184084" /><Relationship Type="http://schemas.openxmlformats.org/officeDocument/2006/relationships/presProps" Target="/ppt/presProps.xml" Id="R9b63333c099f4492" /><Relationship Type="http://schemas.openxmlformats.org/officeDocument/2006/relationships/tableStyles" Target="/ppt/tableStyles.xml" Id="Ref7cea7293bd4a41" /><Relationship Type="http://schemas.openxmlformats.org/officeDocument/2006/relationships/slide" Target="/ppt/slides/slide1.xml" Id="Re65a12c417184f59" /><Relationship Type="http://schemas.openxmlformats.org/officeDocument/2006/relationships/slide" Target="/ppt/slides/slide2.xml" Id="R3231a9859431441f" /><Relationship Type="http://schemas.openxmlformats.org/officeDocument/2006/relationships/slide" Target="/ppt/slides/slide3.xml" Id="Rf4b6bb395ca54a62" /><Relationship Type="http://schemas.openxmlformats.org/officeDocument/2006/relationships/slide" Target="/ppt/slides/slide4.xml" Id="R691cb6cbcd124c1d" /><Relationship Type="http://schemas.openxmlformats.org/officeDocument/2006/relationships/slide" Target="/ppt/slides/slide5.xml" Id="Re8cf4990f8c94b08" /><Relationship Type="http://schemas.openxmlformats.org/officeDocument/2006/relationships/slide" Target="/ppt/slides/slide6.xml" Id="R61df23c2ccd6422b" /><Relationship Type="http://schemas.openxmlformats.org/officeDocument/2006/relationships/slide" Target="/ppt/slides/slide7.xml" Id="R6d139a2e63e241f1" /><Relationship Type="http://schemas.openxmlformats.org/officeDocument/2006/relationships/slide" Target="/ppt/slides/slide8.xml" Id="R51e0a844faea4a55" /><Relationship Type="http://schemas.openxmlformats.org/officeDocument/2006/relationships/slide" Target="/ppt/slides/slide9.xml" Id="Rceb91c7d29d4432d" /><Relationship Type="http://schemas.openxmlformats.org/officeDocument/2006/relationships/slide" Target="/ppt/slides/slide10.xml" Id="R752cf6affc264af2" /><Relationship Type="http://schemas.openxmlformats.org/officeDocument/2006/relationships/slide" Target="/ppt/slides/slide11.xml" Id="Rbb0de07dc2dd449f" /><Relationship Type="http://schemas.openxmlformats.org/officeDocument/2006/relationships/slide" Target="/ppt/slides/slide12.xml" Id="Ra3ecb30901674311" /><Relationship Type="http://schemas.openxmlformats.org/officeDocument/2006/relationships/slide" Target="/ppt/slides/slide13.xml" Id="R891d9b9c046a45ee" /><Relationship Type="http://schemas.openxmlformats.org/officeDocument/2006/relationships/slide" Target="/ppt/slides/slide14.xml" Id="R6d01b37aee7241c8" /><Relationship Type="http://schemas.openxmlformats.org/officeDocument/2006/relationships/slide" Target="/ppt/slides/slide15.xml" Id="Rd96e06be4c0f444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eaa93153bca409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5811662f22a443f" /><Relationship Type="http://schemas.openxmlformats.org/officeDocument/2006/relationships/notesMaster" Target="/ppt/notesMasters/notesMaster1.xml" Id="R0d7401b96f784f6b" /></Relationships>
</file>

<file path=ppt/notesSlides/_rels/notesSlide2.xml.rels>&#65279;<?xml version="1.0" encoding="utf-8"?><Relationships xmlns="http://schemas.openxmlformats.org/package/2006/relationships"><Relationship Type="http://schemas.openxmlformats.org/officeDocument/2006/relationships/slide" Target="/ppt/slides/slide2.xml" Id="Re42598c976de4486" /><Relationship Type="http://schemas.openxmlformats.org/officeDocument/2006/relationships/notesMaster" Target="/ppt/notesMasters/notesMaster1.xml" Id="Rece6edfe4e9145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4e917da65dbd4da0" /><Relationship Type="http://schemas.openxmlformats.org/officeDocument/2006/relationships/notesMaster" Target="/ppt/notesMasters/notesMaster1.xml" Id="R0aab443d50944d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717e233889a34398" /><Relationship Type="http://schemas.openxmlformats.org/officeDocument/2006/relationships/notesMaster" Target="/ppt/notesMasters/notesMaster1.xml" Id="Rc8511419f00a48ab" /></Relationships>
</file>

<file path=ppt/notesSlides/_rels/notesSlide5.xml.rels>&#65279;<?xml version="1.0" encoding="utf-8"?><Relationships xmlns="http://schemas.openxmlformats.org/package/2006/relationships"><Relationship Type="http://schemas.openxmlformats.org/officeDocument/2006/relationships/slide" Target="/ppt/slides/slide5.xml" Id="R270e25772633454d" /><Relationship Type="http://schemas.openxmlformats.org/officeDocument/2006/relationships/notesMaster" Target="/ppt/notesMasters/notesMaster1.xml" Id="R03e1e2c9633749e3" /></Relationships>
</file>

<file path=ppt/notesSlides/_rels/notesSlide6.xml.rels>&#65279;<?xml version="1.0" encoding="utf-8"?><Relationships xmlns="http://schemas.openxmlformats.org/package/2006/relationships"><Relationship Type="http://schemas.openxmlformats.org/officeDocument/2006/relationships/slide" Target="/ppt/slides/slide6.xml" Id="R54b38de4f2844115" /><Relationship Type="http://schemas.openxmlformats.org/officeDocument/2006/relationships/notesMaster" Target="/ppt/notesMasters/notesMaster1.xml" Id="Ra963abd11f924c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6187df0fa19d4ba5" /><Relationship Type="http://schemas.openxmlformats.org/officeDocument/2006/relationships/notesMaster" Target="/ppt/notesMasters/notesMaster1.xml" Id="Ra3862d775ab14838" /></Relationships>
</file>

<file path=ppt/notesSlides/_rels/notesSlide8.xml.rels>&#65279;<?xml version="1.0" encoding="utf-8"?><Relationships xmlns="http://schemas.openxmlformats.org/package/2006/relationships"><Relationship Type="http://schemas.openxmlformats.org/officeDocument/2006/relationships/slide" Target="/ppt/slides/slide8.xml" Id="R11cf0bfa3ebc4e71" /><Relationship Type="http://schemas.openxmlformats.org/officeDocument/2006/relationships/notesMaster" Target="/ppt/notesMasters/notesMaster1.xml" Id="Rd664ce783b6945ec" /></Relationships>
</file>

<file path=ppt/notesSlides/_rels/notesSlide9.xml.rels>&#65279;<?xml version="1.0" encoding="utf-8"?><Relationships xmlns="http://schemas.openxmlformats.org/package/2006/relationships"><Relationship Type="http://schemas.openxmlformats.org/officeDocument/2006/relationships/slide" Target="/ppt/slides/slide9.xml" Id="Rdfcb391b05344bbc" /><Relationship Type="http://schemas.openxmlformats.org/officeDocument/2006/relationships/notesMaster" Target="/ppt/notesMasters/notesMaster1.xml" Id="Rd7566cc082c847b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52877a09e5a4917" /><Relationship Type="http://schemas.openxmlformats.org/officeDocument/2006/relationships/notesMaster" Target="/ppt/notesMasters/notesMaster1.xml" Id="Re88c0ff18841463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1529463839141b2" /><Relationship Type="http://schemas.openxmlformats.org/officeDocument/2006/relationships/notesMaster" Target="/ppt/notesMasters/notesMaster1.xml" Id="R405e1fc7e5d24d4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e5ff6fd3f9343d8" /><Relationship Type="http://schemas.openxmlformats.org/officeDocument/2006/relationships/notesMaster" Target="/ppt/notesMasters/notesMaster1.xml" Id="Rca13ae63853d4ff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1e4cb7baa13426e" /><Relationship Type="http://schemas.openxmlformats.org/officeDocument/2006/relationships/notesMaster" Target="/ppt/notesMasters/notesMaster1.xml" Id="R472801ba65984d6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4251366121a48c0" /><Relationship Type="http://schemas.openxmlformats.org/officeDocument/2006/relationships/notesMaster" Target="/ppt/notesMasters/notesMaster1.xml" Id="Rdbb8404d540640f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9c6358ea577498a" /><Relationship Type="http://schemas.openxmlformats.org/officeDocument/2006/relationships/notesMaster" Target="/ppt/notesMasters/notesMaster1.xml" Id="R4f62eb4ad0ba45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Editable opening slide. Change the date before teaching. Read the learning intention together. Check pupils have a sharp pencil, mini whiteboard, sorting objects or counters, and a listening partner. Ask: What do you think the two hoops might help us 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core teaching definition. Read it aloud, then model the contrast. The red and blue groups use one clear property: colour. The mixed box is not automatically wrong, but without a stated rule we cannot check it. Emphasise that a good sort can be explained and checked.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20 seconds of silent noticing. Then partners use: ‘The ___ and ___ are the same because…’ and ‘They are different because…’. Listen for colour and shape language. This checks prior knowledge before the new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Click to this slide after pupils have shared. Accept accurate everyday language, then recast it using the word property. If pupils struggle, hold up two real objects and ask one binary question at a time: same colour? same shape?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Pre-teach pupils may already know colour and shape; emphasise sort, group, property and rule. Add gestures: sweep hands apart for sort; make a circle with arms for group; point to an object detail for property; draw an imaginary line for rule.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and rehearse these four steps before the worked model. Use gestures and point to each card. Ask pupils to say the sequence back. Keep this language consistent in future Maths lessons so pupils can become independent.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real objects beside the slide. Think aloud: 1) I choose one property. 2) I say my rule. 3) I place one object at a time. 4) I check every object follows the same rule. Ask pupils to repeat the rule before each placement.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calling out. Pupils point first, then rehearse with a partner. Cold-call after rehearsal. Expected response: ‘The blue triangle belongs in the blue group because it is blue.’ Ask: Would its shape change our colour rule?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silent think time. The blue triangle is in the red group. Probe: What rule did Pip say? Which property matters for this rule? Do not move the shape until pupils explain.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correction. Ask for a full explanation. Then deliberately suggest moving the red square because it is not a circle; pupils should reject this by restating the colour rule. This checks that the sorting rule stays consistent.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Mix the same four physical objects and sort again by shape. Emphasise that the objects did not change; the chosen rule changed. Ask pupils to say both valid rules: by colour and by shape.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four real objects per pair. Encourage precise language. Questions pupils can ask: Does every object follow your rule? Could you use a different rule? Is any object difficult to 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by current learning need, not a fixed pupil label. Lower: concrete objects and reduced item count. Expected: pictures and written rule. Higher: two rules plus explanation. Circulate with the same check: ‘What is your rule? Does every object follow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Early-finisher reasoning. A suitable set contains at least two colours and two shapes. Ask pupils to compare which rule creates equal groups, if either. Accept other valid properties such as size or type when consistently applied.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Expected answers: 1) put objects into groups; 2) colour, shape, size or type; 3) so every object can be checked fairly. Record initials of pupils who need tomorrow’s pre-teach. Do not use confidence alone—combine with explanations and the independent task.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3e3136368941f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2096dc72a6d4790" /><Relationship Type="http://schemas.openxmlformats.org/officeDocument/2006/relationships/slideLayout" Target="/ppt/slideLayouts/slideLayout1.xml" Id="R864f7481ad6744a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64f7481ad6744a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0622031fc30493c" /><Relationship Type="http://schemas.openxmlformats.org/officeDocument/2006/relationships/image" Target="/ppt/media/image.png" Id="Rc32b23fb978f413c" /><Relationship Type="http://schemas.openxmlformats.org/officeDocument/2006/relationships/notesSlide" Target="/ppt/notesSlides/notesSlide1.xml" Id="R3ca61cf065794d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3ef37979c1746cc" /><Relationship Type="http://schemas.openxmlformats.org/officeDocument/2006/relationships/notesSlide" Target="/ppt/notesSlides/notesSlide2.xml" Id="R5f2f103c35e54cd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ebb2855c1fe427c" /><Relationship Type="http://schemas.openxmlformats.org/officeDocument/2006/relationships/notesSlide" Target="/ppt/notesSlides/notesSlide3.xml" Id="Rc9bc386e99f94db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1516c0c96fd4075" /><Relationship Type="http://schemas.openxmlformats.org/officeDocument/2006/relationships/notesSlide" Target="/ppt/notesSlides/notesSlide4.xml" Id="R2aaefa5ab26648c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2429a49227b4025" /><Relationship Type="http://schemas.openxmlformats.org/officeDocument/2006/relationships/image" Target="/ppt/media/image2.png" Id="Rf9344cf19f7a4a61" /><Relationship Type="http://schemas.openxmlformats.org/officeDocument/2006/relationships/notesSlide" Target="/ppt/notesSlides/notesSlide5.xml" Id="Rf7fead68504347f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dfe4a530849452c" /><Relationship Type="http://schemas.openxmlformats.org/officeDocument/2006/relationships/notesSlide" Target="/ppt/notesSlides/notesSlide6.xml" Id="Rd1ab2e32c05a46a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5a0117c25144080" /><Relationship Type="http://schemas.openxmlformats.org/officeDocument/2006/relationships/notesSlide" Target="/ppt/notesSlides/notesSlide7.xml" Id="Rac971e603e53479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a9f74299a724e90" /><Relationship Type="http://schemas.openxmlformats.org/officeDocument/2006/relationships/notesSlide" Target="/ppt/notesSlides/notesSlide8.xml" Id="R1b7638ff4c2c4bd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1c9de902b6443b4" /><Relationship Type="http://schemas.openxmlformats.org/officeDocument/2006/relationships/image" Target="/ppt/media/image3.png" Id="Ra2576776f484485d" /><Relationship Type="http://schemas.openxmlformats.org/officeDocument/2006/relationships/notesSlide" Target="/ppt/notesSlides/notesSlide9.xml" Id="R13e66c1d832d418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326efd87e51456c" /><Relationship Type="http://schemas.openxmlformats.org/officeDocument/2006/relationships/notesSlide" Target="/ppt/notesSlides/notesSlide10.xml" Id="R15abbe90afd649e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9bfa051ca67451e" /><Relationship Type="http://schemas.openxmlformats.org/officeDocument/2006/relationships/notesSlide" Target="/ppt/notesSlides/notesSlide11.xml" Id="R8c11612c5011416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db19df6e82c4baf" /><Relationship Type="http://schemas.openxmlformats.org/officeDocument/2006/relationships/notesSlide" Target="/ppt/notesSlides/notesSlide12.xml" Id="R92f896c3f0bf4ae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aefa34807ef44cf" /><Relationship Type="http://schemas.openxmlformats.org/officeDocument/2006/relationships/notesSlide" Target="/ppt/notesSlides/notesSlide13.xml" Id="R5e75ddaeb8204c5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083bf56c582474b" /><Relationship Type="http://schemas.openxmlformats.org/officeDocument/2006/relationships/notesSlide" Target="/ppt/notesSlides/notesSlide14.xml" Id="R7f0e4f10b639435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62fc635fa814505" /><Relationship Type="http://schemas.openxmlformats.org/officeDocument/2006/relationships/image" Target="/ppt/media/image4.png" Id="Rb222dadeab064dac" /><Relationship Type="http://schemas.openxmlformats.org/officeDocument/2006/relationships/notesSlide" Target="/ppt/notesSlides/notesSlide15.xml" Id="R214197bfbc23440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32b23fb978f413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1BADAFE-854B-4824-AB75-4C6DA869C863}"/>
              </a:ext>
            </a:extLst>
          </p:cNvPr>
          <p:cNvSpPr>
            <a:spLocks xmlns:a="http://schemas.openxmlformats.org/drawingml/2006/main" noGrp="1"/>
          </p:cNvSpPr>
          <p:nvPr/>
        </p:nvSpPr>
        <p:spPr>
          <a:xfrm xmlns:a="http://schemas.openxmlformats.org/drawingml/2006/main">
            <a:off x="8191500" y="361950"/>
            <a:ext cx="3333750" cy="7239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19050">
            <a:solidFill>
              <a:srgbClr val="17253A"/>
            </a:solidFill>
          </a:ln>
        </p:spPr>
      </p:sp>
      <p:sp>
        <p:nvSpPr>
          <p:cNvPr id="3" name="">
            <a:extLst xmlns:a="http://schemas.openxmlformats.org/drawingml/2006/main">
              <a:ext uri="{FF2B5EF4-FFF2-40B4-BE49-F238E27FC236}">
                <a16:creationId xmlns:a16="http://schemas.microsoft.com/office/drawing/2014/main" id="{B1D323C5-F7B3-471F-BE04-D564723A21F1}"/>
              </a:ext>
            </a:extLst>
          </p:cNvPr>
          <p:cNvSpPr>
            <a:spLocks xmlns:a="http://schemas.openxmlformats.org/drawingml/2006/main" noGrp="1"/>
          </p:cNvSpPr>
          <p:nvPr/>
        </p:nvSpPr>
        <p:spPr>
          <a:xfrm xmlns:a="http://schemas.openxmlformats.org/drawingml/2006/main">
            <a:off x="8382000" y="466725"/>
            <a:ext cx="295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0">
                <a:solidFill>
                  <a:srgbClr val="17253A"/>
                </a:solidFill>
                <a:latin typeface="Segoe Print"/>
                <a:ea typeface="Segoe Print"/>
                <a:cs typeface="Segoe Print"/>
              </a:defRPr>
            </a:pPr>
            <a:r>
              <a:rPr sz="1800" b="0">
                <a:solidFill>
                  <a:srgbClr val="17253A"/>
                </a:solidFill>
                <a:latin typeface="Segoe Print"/>
                <a:ea typeface="Segoe Print"/>
                <a:cs typeface="Segoe Print"/>
              </a:rPr>
              <a:t>Date:  __ / __ / ____</a:t>
            </a:r>
          </a:p>
        </p:txBody>
      </p:sp>
      <p:sp>
        <p:nvSpPr>
          <p:cNvPr id="4" name="">
            <a:extLst xmlns:a="http://schemas.openxmlformats.org/drawingml/2006/main">
              <a:ext uri="{FF2B5EF4-FFF2-40B4-BE49-F238E27FC236}">
                <a16:creationId xmlns:a16="http://schemas.microsoft.com/office/drawing/2014/main" id="{80356C06-410B-409C-8090-10F49A57F9F8}"/>
              </a:ext>
            </a:extLst>
          </p:cNvPr>
          <p:cNvSpPr>
            <a:spLocks xmlns:a="http://schemas.openxmlformats.org/drawingml/2006/main" noGrp="1"/>
          </p:cNvSpPr>
          <p:nvPr/>
        </p:nvSpPr>
        <p:spPr>
          <a:xfrm xmlns:a="http://schemas.openxmlformats.org/drawingml/2006/main">
            <a:off x="457200" y="3028950"/>
            <a:ext cx="7048500" cy="19812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19050">
            <a:solidFill>
              <a:srgbClr val="17253A"/>
            </a:solidFill>
          </a:ln>
        </p:spPr>
      </p:sp>
      <p:sp>
        <p:nvSpPr>
          <p:cNvPr id="5" name="">
            <a:extLst xmlns:a="http://schemas.openxmlformats.org/drawingml/2006/main">
              <a:ext uri="{FF2B5EF4-FFF2-40B4-BE49-F238E27FC236}">
                <a16:creationId xmlns:a16="http://schemas.microsoft.com/office/drawing/2014/main" id="{7C08B8D4-D712-49B9-A79C-18D04C811C14}"/>
              </a:ext>
            </a:extLst>
          </p:cNvPr>
          <p:cNvSpPr>
            <a:spLocks xmlns:a="http://schemas.openxmlformats.org/drawingml/2006/main" noGrp="1"/>
          </p:cNvSpPr>
          <p:nvPr/>
        </p:nvSpPr>
        <p:spPr>
          <a:xfrm xmlns:a="http://schemas.openxmlformats.org/drawingml/2006/main">
            <a:off x="800100" y="3238500"/>
            <a:ext cx="104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0">
                <a:solidFill>
                  <a:srgbClr val="B4232B"/>
                </a:solidFill>
                <a:latin typeface="Segoe Print"/>
                <a:ea typeface="Segoe Print"/>
                <a:cs typeface="Segoe Print"/>
              </a:defRPr>
            </a:pPr>
            <a:r>
              <a:rPr sz="1875" b="0">
                <a:solidFill>
                  <a:srgbClr val="B4232B"/>
                </a:solidFill>
                <a:latin typeface="Segoe Print"/>
                <a:ea typeface="Segoe Print"/>
                <a:cs typeface="Segoe Print"/>
              </a:rPr>
              <a:t>L.I.</a:t>
            </a:r>
          </a:p>
        </p:txBody>
      </p:sp>
      <p:sp>
        <p:nvSpPr>
          <p:cNvPr id="6" name="">
            <a:extLst xmlns:a="http://schemas.openxmlformats.org/drawingml/2006/main">
              <a:ext uri="{FF2B5EF4-FFF2-40B4-BE49-F238E27FC236}">
                <a16:creationId xmlns:a16="http://schemas.microsoft.com/office/drawing/2014/main" id="{63AD24D5-B40B-4F47-86E8-3F0D1CD4C830}"/>
              </a:ext>
            </a:extLst>
          </p:cNvPr>
          <p:cNvSpPr>
            <a:spLocks xmlns:a="http://schemas.openxmlformats.org/drawingml/2006/main" noGrp="1"/>
          </p:cNvSpPr>
          <p:nvPr/>
        </p:nvSpPr>
        <p:spPr>
          <a:xfrm xmlns:a="http://schemas.openxmlformats.org/drawingml/2006/main">
            <a:off x="800100" y="3714750"/>
            <a:ext cx="6191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0">
                <a:solidFill>
                  <a:srgbClr val="17253A"/>
                </a:solidFill>
                <a:latin typeface="Segoe Print"/>
                <a:ea typeface="Segoe Print"/>
                <a:cs typeface="Segoe Print"/>
              </a:defRPr>
            </a:pPr>
            <a:r>
              <a:rPr sz="2550" b="0">
                <a:solidFill>
                  <a:srgbClr val="17253A"/>
                </a:solidFill>
                <a:latin typeface="Segoe Print"/>
                <a:ea typeface="Segoe Print"/>
                <a:cs typeface="Segoe Print"/>
              </a:rPr>
              <a:t>To sort objects into groups</a:t>
            </a:r>
          </a:p>
        </p:txBody>
      </p:sp>
      <p:sp>
        <p:nvSpPr>
          <p:cNvPr id="7" name="">
            <a:extLst xmlns:a="http://schemas.openxmlformats.org/drawingml/2006/main">
              <a:ext uri="{FF2B5EF4-FFF2-40B4-BE49-F238E27FC236}">
                <a16:creationId xmlns:a16="http://schemas.microsoft.com/office/drawing/2014/main" id="{FB9617F7-0DDD-4404-B27D-41CC20BC243C}"/>
              </a:ext>
            </a:extLst>
          </p:cNvPr>
          <p:cNvSpPr>
            <a:spLocks xmlns:a="http://schemas.openxmlformats.org/drawingml/2006/main" noGrp="1"/>
          </p:cNvSpPr>
          <p:nvPr/>
        </p:nvSpPr>
        <p:spPr>
          <a:xfrm xmlns:a="http://schemas.openxmlformats.org/drawingml/2006/main">
            <a:off x="457200" y="5524500"/>
            <a:ext cx="11258550" cy="876300"/>
          </a:xfrm>
          <a:prstGeom xmlns:a="http://schemas.openxmlformats.org/drawingml/2006/main" prst="roundRect">
            <a:avLst>
              <a:gd name="adj" fmla="val 8696"/>
            </a:avLst>
          </a:prstGeom>
          <a:solidFill xmlns:a="http://schemas.openxmlformats.org/drawingml/2006/main">
            <a:srgbClr val="17253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8129E55-2B45-424B-996E-957EA3BB3641}"/>
              </a:ext>
            </a:extLst>
          </p:cNvPr>
          <p:cNvSpPr>
            <a:spLocks xmlns:a="http://schemas.openxmlformats.org/drawingml/2006/main" noGrp="1"/>
          </p:cNvSpPr>
          <p:nvPr/>
        </p:nvSpPr>
        <p:spPr>
          <a:xfrm xmlns:a="http://schemas.openxmlformats.org/drawingml/2006/main">
            <a:off x="742950" y="568642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READY?   ✓ sharp pencil   ✓ mini whiteboard   ✓ sorting objects or counters   ✓ listening partner</a:t>
            </a:r>
          </a:p>
        </p:txBody>
      </p:sp>
    </p:spTree>
    <p:extLst>
      <p:ext uri="{BB962C8B-B14F-4D97-AF65-F5344CB8AC3E}">
        <p14:creationId xmlns:p14="http://schemas.microsoft.com/office/powerpoint/2010/main" val="1295047144"/>
      </p:ext>
    </p:extLst>
  </p:cSld>
</p:sld>
</file>

<file path=ppt/slides/slide2.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3F97B77-1922-429E-B061-FB706622F53D}"/>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B4232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73FA616-9743-4EBB-8437-70A5DA52129A}"/>
              </a:ext>
            </a:extLst>
          </p:cNvPr>
          <p:cNvSpPr>
            <a:spLocks xmlns:a="http://schemas.openxmlformats.org/drawingml/2006/main" noGrp="1"/>
          </p:cNvSpPr>
          <p:nvPr/>
        </p:nvSpPr>
        <p:spPr>
          <a:xfrm xmlns:a="http://schemas.openxmlformats.org/drawingml/2006/main">
            <a:off x="552450" y="285750"/>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B4232B"/>
                </a:solidFill>
                <a:latin typeface="Arial"/>
                <a:ea typeface="Arial"/>
                <a:cs typeface="Arial"/>
              </a:defRPr>
            </a:pPr>
            <a:r>
              <a:rPr sz="1050" b="1">
                <a:solidFill>
                  <a:srgbClr val="B4232B"/>
                </a:solidFill>
                <a:latin typeface="Arial"/>
                <a:ea typeface="Arial"/>
                <a:cs typeface="Arial"/>
              </a:rPr>
              <a:t>YEAR 1 MATHS  •  AUTUMN  •  WEEK 1  •  DAY 1</a:t>
            </a:r>
          </a:p>
        </p:txBody>
      </p:sp>
      <p:sp>
        <p:nvSpPr>
          <p:cNvPr id="3" name="">
            <a:extLst xmlns:a="http://schemas.openxmlformats.org/drawingml/2006/main">
              <a:ext uri="{FF2B5EF4-FFF2-40B4-BE49-F238E27FC236}">
                <a16:creationId xmlns:a16="http://schemas.microsoft.com/office/drawing/2014/main" id="{4EB98172-7CB2-4D5F-81FC-0C47F59D4CAA}"/>
              </a:ext>
            </a:extLst>
          </p:cNvPr>
          <p:cNvSpPr>
            <a:spLocks xmlns:a="http://schemas.openxmlformats.org/drawingml/2006/main" noGrp="1"/>
          </p:cNvSpPr>
          <p:nvPr/>
        </p:nvSpPr>
        <p:spPr>
          <a:xfrm xmlns:a="http://schemas.openxmlformats.org/drawingml/2006/main">
            <a:off x="552450" y="685800"/>
            <a:ext cx="1238250" cy="323850"/>
          </a:xfrm>
          <a:prstGeom xmlns:a="http://schemas.openxmlformats.org/drawingml/2006/main" prst="roundRect">
            <a:avLst>
              <a:gd name="adj" fmla="val 23529"/>
            </a:avLst>
          </a:prstGeom>
          <a:solidFill xmlns:a="http://schemas.openxmlformats.org/drawingml/2006/main">
            <a:srgbClr val="B4232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97206F8-F168-48D3-A1BE-FC42C356A032}"/>
              </a:ext>
            </a:extLst>
          </p:cNvPr>
          <p:cNvSpPr>
            <a:spLocks xmlns:a="http://schemas.openxmlformats.org/drawingml/2006/main" noGrp="1"/>
          </p:cNvSpPr>
          <p:nvPr/>
        </p:nvSpPr>
        <p:spPr>
          <a:xfrm xmlns:a="http://schemas.openxmlformats.org/drawingml/2006/main">
            <a:off x="590550" y="704850"/>
            <a:ext cx="1162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FFFFFF"/>
                </a:solidFill>
                <a:latin typeface="Arial"/>
                <a:ea typeface="Arial"/>
                <a:cs typeface="Arial"/>
              </a:defRPr>
            </a:pPr>
            <a:r>
              <a:rPr sz="750" b="1">
                <a:solidFill>
                  <a:srgbClr val="FFFFFF"/>
                </a:solidFill>
                <a:latin typeface="Arial"/>
                <a:ea typeface="Arial"/>
                <a:cs typeface="Arial"/>
              </a:rPr>
              <a:t>TEACH</a:t>
            </a:r>
          </a:p>
        </p:txBody>
      </p:sp>
      <p:sp>
        <p:nvSpPr>
          <p:cNvPr id="5" name="">
            <a:extLst xmlns:a="http://schemas.openxmlformats.org/drawingml/2006/main">
              <a:ext uri="{FF2B5EF4-FFF2-40B4-BE49-F238E27FC236}">
                <a16:creationId xmlns:a16="http://schemas.microsoft.com/office/drawing/2014/main" id="{E9B68C19-EE5B-4D71-BDF2-2FC532843E8F}"/>
              </a:ext>
            </a:extLst>
          </p:cNvPr>
          <p:cNvSpPr>
            <a:spLocks xmlns:a="http://schemas.openxmlformats.org/drawingml/2006/main" noGrp="1"/>
          </p:cNvSpPr>
          <p:nvPr/>
        </p:nvSpPr>
        <p:spPr>
          <a:xfrm xmlns:a="http://schemas.openxmlformats.org/drawingml/2006/main">
            <a:off x="1962150" y="590550"/>
            <a:ext cx="8496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625" b="1">
                <a:solidFill>
                  <a:srgbClr val="17253A"/>
                </a:solidFill>
                <a:latin typeface="Arial"/>
                <a:ea typeface="Arial"/>
                <a:cs typeface="Arial"/>
              </a:defRPr>
            </a:pPr>
            <a:r>
              <a:rPr sz="2625" b="1">
                <a:solidFill>
                  <a:srgbClr val="17253A"/>
                </a:solidFill>
                <a:latin typeface="Arial"/>
                <a:ea typeface="Arial"/>
                <a:cs typeface="Arial"/>
              </a:rPr>
              <a:t>What does sorting mean?</a:t>
            </a:r>
          </a:p>
        </p:txBody>
      </p:sp>
      <p:sp>
        <p:nvSpPr>
          <p:cNvPr id="6" name="">
            <a:extLst xmlns:a="http://schemas.openxmlformats.org/drawingml/2006/main">
              <a:ext uri="{FF2B5EF4-FFF2-40B4-BE49-F238E27FC236}">
                <a16:creationId xmlns:a16="http://schemas.microsoft.com/office/drawing/2014/main" id="{B207F478-BBA4-4A1F-80A8-668D4C54F037}"/>
              </a:ext>
            </a:extLst>
          </p:cNvPr>
          <p:cNvSpPr>
            <a:spLocks xmlns:a="http://schemas.openxmlformats.org/drawingml/2006/main" noGrp="1"/>
          </p:cNvSpPr>
          <p:nvPr/>
        </p:nvSpPr>
        <p:spPr>
          <a:xfrm xmlns:a="http://schemas.openxmlformats.org/drawingml/2006/main">
            <a:off x="10668000" y="4000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r">
              <a:defRPr sz="975" b="1">
                <a:solidFill>
                  <a:srgbClr val="6B788A"/>
                </a:solidFill>
                <a:latin typeface="Arial"/>
                <a:ea typeface="Arial"/>
                <a:cs typeface="Arial"/>
              </a:defRPr>
            </a:pPr>
            <a:r>
              <a:rPr sz="975" b="1">
                <a:solidFill>
                  <a:srgbClr val="6B788A"/>
                </a:solidFill>
                <a:latin typeface="Arial"/>
                <a:ea typeface="Arial"/>
                <a:cs typeface="Arial"/>
              </a:rPr>
              <a:t>2 / 15</a:t>
            </a:r>
          </a:p>
        </p:txBody>
      </p:sp>
      <p:sp>
        <p:nvSpPr>
          <p:cNvPr id="7" name="">
            <a:extLst xmlns:a="http://schemas.openxmlformats.org/drawingml/2006/main">
              <a:ext uri="{FF2B5EF4-FFF2-40B4-BE49-F238E27FC236}">
                <a16:creationId xmlns:a16="http://schemas.microsoft.com/office/drawing/2014/main" id="{5709C1EB-1C66-4A3D-AA4C-2898862BBE7C}"/>
              </a:ext>
            </a:extLst>
          </p:cNvPr>
          <p:cNvSpPr>
            <a:spLocks xmlns:a="http://schemas.openxmlformats.org/drawingml/2006/main" noGrp="1"/>
          </p:cNvSpPr>
          <p:nvPr/>
        </p:nvSpPr>
        <p:spPr>
          <a:xfrm xmlns:a="http://schemas.openxmlformats.org/drawingml/2006/main">
            <a:off x="552450" y="6457950"/>
            <a:ext cx="11087100" cy="19050"/>
          </a:xfrm>
          <a:prstGeom xmlns:a="http://schemas.openxmlformats.org/drawingml/2006/main" prst="rect">
            <a:avLst/>
          </a:prstGeom>
          <a:solidFill xmlns:a="http://schemas.openxmlformats.org/drawingml/2006/main">
            <a:srgbClr val="D9DEE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9744F93-5BB8-4A73-BAA0-9C247B08D269}"/>
              </a:ext>
            </a:extLst>
          </p:cNvPr>
          <p:cNvSpPr>
            <a:spLocks xmlns:a="http://schemas.openxmlformats.org/drawingml/2006/main" noGrp="1"/>
          </p:cNvSpPr>
          <p:nvPr/>
        </p:nvSpPr>
        <p:spPr>
          <a:xfrm xmlns:a="http://schemas.openxmlformats.org/drawingml/2006/main">
            <a:off x="552450" y="6543675"/>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l">
              <a:defRPr sz="900" b="0">
                <a:solidFill>
                  <a:srgbClr val="6B788A"/>
                </a:solidFill>
                <a:latin typeface="Arial"/>
                <a:ea typeface="Arial"/>
                <a:cs typeface="Arial"/>
              </a:defRPr>
            </a:pPr>
            <a:r>
              <a:rPr sz="900" b="0">
                <a:solidFill>
                  <a:srgbClr val="6B788A"/>
                </a:solidFill>
                <a:latin typeface="Arial"/>
                <a:ea typeface="Arial"/>
                <a:cs typeface="Arial"/>
              </a:rPr>
              <a:t>BrightPath Primary Learning</a:t>
            </a:r>
          </a:p>
        </p:txBody>
      </p:sp>
      <p:sp>
        <p:nvSpPr>
          <p:cNvPr id="9" name="">
            <a:extLst xmlns:a="http://schemas.openxmlformats.org/drawingml/2006/main">
              <a:ext uri="{FF2B5EF4-FFF2-40B4-BE49-F238E27FC236}">
                <a16:creationId xmlns:a16="http://schemas.microsoft.com/office/drawing/2014/main" id="{80B409FD-C6BF-45CF-BC3B-CC746B2030B3}"/>
              </a:ext>
            </a:extLst>
          </p:cNvPr>
          <p:cNvSpPr>
            <a:spLocks xmlns:a="http://schemas.openxmlformats.org/drawingml/2006/main" noGrp="1"/>
          </p:cNvSpPr>
          <p:nvPr/>
        </p:nvSpPr>
        <p:spPr>
          <a:xfrm xmlns:a="http://schemas.openxmlformats.org/drawingml/2006/main">
            <a:off x="8477250" y="6543675"/>
            <a:ext cx="3162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0">
                <a:solidFill>
                  <a:srgbClr val="6B788A"/>
                </a:solidFill>
                <a:latin typeface="Arial"/>
                <a:ea typeface="Arial"/>
                <a:cs typeface="Arial"/>
              </a:defRPr>
            </a:pPr>
            <a:r>
              <a:rPr sz="900" b="0">
                <a:solidFill>
                  <a:srgbClr val="6B788A"/>
                </a:solidFill>
                <a:latin typeface="Arial"/>
                <a:ea typeface="Arial"/>
                <a:cs typeface="Arial"/>
              </a:rPr>
              <a:t>Sort objects into groups</a:t>
            </a:r>
          </a:p>
        </p:txBody>
      </p:sp>
      <p:sp>
        <p:nvSpPr>
          <p:cNvPr id="10" name="">
            <a:extLst xmlns:a="http://schemas.openxmlformats.org/drawingml/2006/main">
              <a:ext uri="{FF2B5EF4-FFF2-40B4-BE49-F238E27FC236}">
                <a16:creationId xmlns:a16="http://schemas.microsoft.com/office/drawing/2014/main" id="{1A4756CB-B52A-458D-9DC4-3B049EB46A34}"/>
              </a:ext>
            </a:extLst>
          </p:cNvPr>
          <p:cNvSpPr>
            <a:spLocks xmlns:a="http://schemas.openxmlformats.org/drawingml/2006/main" noGrp="1"/>
          </p:cNvSpPr>
          <p:nvPr/>
        </p:nvSpPr>
        <p:spPr>
          <a:xfrm xmlns:a="http://schemas.openxmlformats.org/drawingml/2006/main">
            <a:off x="1143000" y="1381125"/>
            <a:ext cx="9906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9050">
            <a:solidFill>
              <a:srgbClr val="D9DEE7"/>
            </a:solidFill>
          </a:ln>
        </p:spPr>
      </p:sp>
      <p:sp>
        <p:nvSpPr>
          <p:cNvPr id="11" name="">
            <a:extLst xmlns:a="http://schemas.openxmlformats.org/drawingml/2006/main">
              <a:ext uri="{FF2B5EF4-FFF2-40B4-BE49-F238E27FC236}">
                <a16:creationId xmlns:a16="http://schemas.microsoft.com/office/drawing/2014/main" id="{AA26D9AC-75C9-4CE3-BE5B-21D255DCBCCC}"/>
              </a:ext>
            </a:extLst>
          </p:cNvPr>
          <p:cNvSpPr>
            <a:spLocks xmlns:a="http://schemas.openxmlformats.org/drawingml/2006/main" noGrp="1"/>
          </p:cNvSpPr>
          <p:nvPr/>
        </p:nvSpPr>
        <p:spPr>
          <a:xfrm xmlns:a="http://schemas.openxmlformats.org/drawingml/2006/main">
            <a:off x="1352550" y="1495425"/>
            <a:ext cx="9486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253A"/>
                </a:solidFill>
                <a:latin typeface="Arial"/>
                <a:ea typeface="Arial"/>
                <a:cs typeface="Arial"/>
              </a:defRPr>
            </a:pPr>
            <a:r>
              <a:rPr sz="1650" b="1">
                <a:solidFill>
                  <a:srgbClr val="17253A"/>
                </a:solidFill>
                <a:latin typeface="Arial"/>
                <a:ea typeface="Arial"/>
                <a:cs typeface="Arial"/>
              </a:rPr>
              <a:t>Sorting means putting objects into groups using one clear rule.</a:t>
            </a:r>
          </a:p>
        </p:txBody>
      </p:sp>
      <p:sp>
        <p:nvSpPr>
          <p:cNvPr id="12" name="">
            <a:extLst xmlns:a="http://schemas.openxmlformats.org/drawingml/2006/main">
              <a:ext uri="{FF2B5EF4-FFF2-40B4-BE49-F238E27FC236}">
                <a16:creationId xmlns:a16="http://schemas.microsoft.com/office/drawing/2014/main" id="{59CF4E03-4A3C-4AF6-B96B-D9101845CF2A}"/>
              </a:ext>
            </a:extLst>
          </p:cNvPr>
          <p:cNvSpPr>
            <a:spLocks xmlns:a="http://schemas.openxmlformats.org/drawingml/2006/main" noGrp="1"/>
          </p:cNvSpPr>
          <p:nvPr/>
        </p:nvSpPr>
        <p:spPr>
          <a:xfrm xmlns:a="http://schemas.openxmlformats.org/drawingml/2006/main">
            <a:off x="904875" y="2667000"/>
            <a:ext cx="3143250" cy="2333625"/>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57150">
            <a:solidFill>
              <a:srgbClr val="B4232B"/>
            </a:solidFill>
          </a:ln>
        </p:spPr>
      </p:sp>
      <p:sp>
        <p:nvSpPr>
          <p:cNvPr id="13" name="">
            <a:extLst xmlns:a="http://schemas.openxmlformats.org/drawingml/2006/main">
              <a:ext uri="{FF2B5EF4-FFF2-40B4-BE49-F238E27FC236}">
                <a16:creationId xmlns:a16="http://schemas.microsoft.com/office/drawing/2014/main" id="{774A1B0A-11AE-4330-8ABA-BEC61B8D7FE8}"/>
              </a:ext>
            </a:extLst>
          </p:cNvPr>
          <p:cNvSpPr>
            <a:spLocks xmlns:a="http://schemas.openxmlformats.org/drawingml/2006/main" noGrp="1"/>
          </p:cNvSpPr>
          <p:nvPr/>
        </p:nvSpPr>
        <p:spPr>
          <a:xfrm xmlns:a="http://schemas.openxmlformats.org/drawingml/2006/main">
            <a:off x="1304925" y="2838450"/>
            <a:ext cx="2343150" cy="361950"/>
          </a:xfrm>
          <a:prstGeom xmlns:a="http://schemas.openxmlformats.org/drawingml/2006/main" prst="roundRect">
            <a:avLst>
              <a:gd name="adj" fmla="val 21053"/>
            </a:avLst>
          </a:prstGeom>
          <a:solidFill xmlns:a="http://schemas.openxmlformats.org/drawingml/2006/main">
            <a:srgbClr val="B4232B"/>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5B2CF5C-F439-4DF1-8C12-D2C844455D1E}"/>
              </a:ext>
            </a:extLst>
          </p:cNvPr>
          <p:cNvSpPr>
            <a:spLocks xmlns:a="http://schemas.openxmlformats.org/drawingml/2006/main" noGrp="1"/>
          </p:cNvSpPr>
          <p:nvPr/>
        </p:nvSpPr>
        <p:spPr>
          <a:xfrm xmlns:a="http://schemas.openxmlformats.org/drawingml/2006/main">
            <a:off x="1400175" y="2867025"/>
            <a:ext cx="2152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RED</a:t>
            </a:r>
          </a:p>
        </p:txBody>
      </p:sp>
      <p:sp>
        <p:nvSpPr>
          <p:cNvPr id="15" name="">
            <a:extLst xmlns:a="http://schemas.openxmlformats.org/drawingml/2006/main">
              <a:ext uri="{FF2B5EF4-FFF2-40B4-BE49-F238E27FC236}">
                <a16:creationId xmlns:a16="http://schemas.microsoft.com/office/drawing/2014/main" id="{D19A4681-ACC8-4EB5-916A-0926CFE81836}"/>
              </a:ext>
            </a:extLst>
          </p:cNvPr>
          <p:cNvSpPr>
            <a:spLocks xmlns:a="http://schemas.openxmlformats.org/drawingml/2006/main" noGrp="1"/>
          </p:cNvSpPr>
          <p:nvPr/>
        </p:nvSpPr>
        <p:spPr>
          <a:xfrm xmlns:a="http://schemas.openxmlformats.org/drawingml/2006/main">
            <a:off x="4524375" y="2667000"/>
            <a:ext cx="3143250" cy="2333625"/>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57150">
            <a:solidFill>
              <a:srgbClr val="3F7DC0"/>
            </a:solidFill>
          </a:ln>
        </p:spPr>
      </p:sp>
      <p:sp>
        <p:nvSpPr>
          <p:cNvPr id="16" name="">
            <a:extLst xmlns:a="http://schemas.openxmlformats.org/drawingml/2006/main">
              <a:ext uri="{FF2B5EF4-FFF2-40B4-BE49-F238E27FC236}">
                <a16:creationId xmlns:a16="http://schemas.microsoft.com/office/drawing/2014/main" id="{31166BD5-861E-423D-B9E7-0E5CF7A29756}"/>
              </a:ext>
            </a:extLst>
          </p:cNvPr>
          <p:cNvSpPr>
            <a:spLocks xmlns:a="http://schemas.openxmlformats.org/drawingml/2006/main" noGrp="1"/>
          </p:cNvSpPr>
          <p:nvPr/>
        </p:nvSpPr>
        <p:spPr>
          <a:xfrm xmlns:a="http://schemas.openxmlformats.org/drawingml/2006/main">
            <a:off x="4924425" y="2838450"/>
            <a:ext cx="2343150" cy="361950"/>
          </a:xfrm>
          <a:prstGeom xmlns:a="http://schemas.openxmlformats.org/drawingml/2006/main" prst="roundRect">
            <a:avLst>
              <a:gd name="adj" fmla="val 21053"/>
            </a:avLst>
          </a:prstGeom>
          <a:solidFill xmlns:a="http://schemas.openxmlformats.org/drawingml/2006/main">
            <a:srgbClr val="3F7DC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999E321-057F-48B3-9B01-5D0DFD53839E}"/>
              </a:ext>
            </a:extLst>
          </p:cNvPr>
          <p:cNvSpPr>
            <a:spLocks xmlns:a="http://schemas.openxmlformats.org/drawingml/2006/main" noGrp="1"/>
          </p:cNvSpPr>
          <p:nvPr/>
        </p:nvSpPr>
        <p:spPr>
          <a:xfrm xmlns:a="http://schemas.openxmlformats.org/drawingml/2006/main">
            <a:off x="5019675" y="2867025"/>
            <a:ext cx="2152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BLUE</a:t>
            </a:r>
          </a:p>
        </p:txBody>
      </p:sp>
      <p:sp>
        <p:nvSpPr>
          <p:cNvPr id="18" name="">
            <a:extLst xmlns:a="http://schemas.openxmlformats.org/drawingml/2006/main">
              <a:ext uri="{FF2B5EF4-FFF2-40B4-BE49-F238E27FC236}">
                <a16:creationId xmlns:a16="http://schemas.microsoft.com/office/drawing/2014/main" id="{7D12496F-F9F8-4FCD-A197-461E2D89C0E7}"/>
              </a:ext>
            </a:extLst>
          </p:cNvPr>
          <p:cNvSpPr>
            <a:spLocks xmlns:a="http://schemas.openxmlformats.org/drawingml/2006/main" noGrp="1"/>
          </p:cNvSpPr>
          <p:nvPr/>
        </p:nvSpPr>
        <p:spPr>
          <a:xfrm xmlns:a="http://schemas.openxmlformats.org/drawingml/2006/main">
            <a:off x="1571625" y="3667125"/>
            <a:ext cx="552450" cy="552450"/>
          </a:xfrm>
          <a:prstGeom xmlns:a="http://schemas.openxmlformats.org/drawingml/2006/main" prst="ellipse">
            <a:avLst/>
          </a:prstGeom>
          <a:solidFill xmlns:a="http://schemas.openxmlformats.org/drawingml/2006/main">
            <a:srgbClr val="B4232B"/>
          </a:solidFill>
          <a:ln xmlns:a="http://schemas.openxmlformats.org/drawingml/2006/main" w="19050">
            <a:solidFill>
              <a:srgbClr val="17253A"/>
            </a:solidFill>
          </a:ln>
        </p:spPr>
      </p:sp>
      <p:sp>
        <p:nvSpPr>
          <p:cNvPr id="19" name="">
            <a:extLst xmlns:a="http://schemas.openxmlformats.org/drawingml/2006/main">
              <a:ext uri="{FF2B5EF4-FFF2-40B4-BE49-F238E27FC236}">
                <a16:creationId xmlns:a16="http://schemas.microsoft.com/office/drawing/2014/main" id="{70BA5691-6136-4F56-BC36-9D3D64915C8C}"/>
              </a:ext>
            </a:extLst>
          </p:cNvPr>
          <p:cNvSpPr>
            <a:spLocks xmlns:a="http://schemas.openxmlformats.org/drawingml/2006/main" noGrp="1"/>
          </p:cNvSpPr>
          <p:nvPr/>
        </p:nvSpPr>
        <p:spPr>
          <a:xfrm xmlns:a="http://schemas.openxmlformats.org/drawingml/2006/main">
            <a:off x="2667000" y="3667125"/>
            <a:ext cx="552450" cy="552450"/>
          </a:xfrm>
          <a:prstGeom xmlns:a="http://schemas.openxmlformats.org/drawingml/2006/main" prst="rect">
            <a:avLst/>
          </a:prstGeom>
          <a:solidFill xmlns:a="http://schemas.openxmlformats.org/drawingml/2006/main">
            <a:srgbClr val="B4232B"/>
          </a:solidFill>
          <a:ln xmlns:a="http://schemas.openxmlformats.org/drawingml/2006/main" w="19050">
            <a:solidFill>
              <a:srgbClr val="17253A"/>
            </a:solidFill>
          </a:ln>
        </p:spPr>
      </p:sp>
      <p:sp>
        <p:nvSpPr>
          <p:cNvPr id="20" name="">
            <a:extLst xmlns:a="http://schemas.openxmlformats.org/drawingml/2006/main">
              <a:ext uri="{FF2B5EF4-FFF2-40B4-BE49-F238E27FC236}">
                <a16:creationId xmlns:a16="http://schemas.microsoft.com/office/drawing/2014/main" id="{5B199138-D2A1-49F0-A091-A95EB4B60112}"/>
              </a:ext>
            </a:extLst>
          </p:cNvPr>
          <p:cNvSpPr>
            <a:spLocks xmlns:a="http://schemas.openxmlformats.org/drawingml/2006/main" noGrp="1"/>
          </p:cNvSpPr>
          <p:nvPr/>
        </p:nvSpPr>
        <p:spPr>
          <a:xfrm xmlns:a="http://schemas.openxmlformats.org/drawingml/2006/main">
            <a:off x="5191125" y="3667125"/>
            <a:ext cx="552450" cy="552450"/>
          </a:xfrm>
          <a:prstGeom xmlns:a="http://schemas.openxmlformats.org/drawingml/2006/main" prst="ellipse">
            <a:avLst/>
          </a:prstGeom>
          <a:solidFill xmlns:a="http://schemas.openxmlformats.org/drawingml/2006/main">
            <a:srgbClr val="3F7DC0"/>
          </a:solidFill>
          <a:ln xmlns:a="http://schemas.openxmlformats.org/drawingml/2006/main" w="19050">
            <a:solidFill>
              <a:srgbClr val="17253A"/>
            </a:solidFill>
          </a:ln>
        </p:spPr>
      </p:sp>
      <p:sp>
        <p:nvSpPr>
          <p:cNvPr id="21" name="">
            <a:extLst xmlns:a="http://schemas.openxmlformats.org/drawingml/2006/main">
              <a:ext uri="{FF2B5EF4-FFF2-40B4-BE49-F238E27FC236}">
                <a16:creationId xmlns:a16="http://schemas.microsoft.com/office/drawing/2014/main" id="{E5AC3700-02FE-4DED-91FA-9A33469C9084}"/>
              </a:ext>
            </a:extLst>
          </p:cNvPr>
          <p:cNvSpPr>
            <a:spLocks xmlns:a="http://schemas.openxmlformats.org/drawingml/2006/main" noGrp="1"/>
          </p:cNvSpPr>
          <p:nvPr/>
        </p:nvSpPr>
        <p:spPr>
          <a:xfrm xmlns:a="http://schemas.openxmlformats.org/drawingml/2006/main">
            <a:off x="6286500" y="3667125"/>
            <a:ext cx="552450" cy="552450"/>
          </a:xfrm>
          <a:prstGeom xmlns:a="http://schemas.openxmlformats.org/drawingml/2006/main" prst="rect">
            <a:avLst/>
          </a:prstGeom>
          <a:solidFill xmlns:a="http://schemas.openxmlformats.org/drawingml/2006/main">
            <a:srgbClr val="3F7DC0"/>
          </a:solidFill>
          <a:ln xmlns:a="http://schemas.openxmlformats.org/drawingml/2006/main" w="19050">
            <a:solidFill>
              <a:srgbClr val="17253A"/>
            </a:solidFill>
          </a:ln>
        </p:spPr>
      </p:sp>
      <p:sp>
        <p:nvSpPr>
          <p:cNvPr id="22" name="">
            <a:extLst xmlns:a="http://schemas.openxmlformats.org/drawingml/2006/main">
              <a:ext uri="{FF2B5EF4-FFF2-40B4-BE49-F238E27FC236}">
                <a16:creationId xmlns:a16="http://schemas.microsoft.com/office/drawing/2014/main" id="{9678A049-BE4A-4540-A4B0-3ABEEF34137B}"/>
              </a:ext>
            </a:extLst>
          </p:cNvPr>
          <p:cNvSpPr>
            <a:spLocks xmlns:a="http://schemas.openxmlformats.org/drawingml/2006/main" noGrp="1"/>
          </p:cNvSpPr>
          <p:nvPr/>
        </p:nvSpPr>
        <p:spPr>
          <a:xfrm xmlns:a="http://schemas.openxmlformats.org/drawingml/2006/main">
            <a:off x="8143875" y="2667000"/>
            <a:ext cx="3143250" cy="2333625"/>
          </a:xfrm>
          <a:prstGeom xmlns:a="http://schemas.openxmlformats.org/drawingml/2006/main" prst="roundRect">
            <a:avLst>
              <a:gd name="adj" fmla="val 3265"/>
            </a:avLst>
          </a:prstGeom>
          <a:solidFill xmlns:a="http://schemas.openxmlformats.org/drawingml/2006/main">
            <a:srgbClr val="FFF0E7"/>
          </a:solidFill>
          <a:ln xmlns:a="http://schemas.openxmlformats.org/drawingml/2006/main" w="19050">
            <a:solidFill>
              <a:srgbClr val="B4232B"/>
            </a:solidFill>
          </a:ln>
        </p:spPr>
      </p:sp>
      <p:sp>
        <p:nvSpPr>
          <p:cNvPr id="23" name="">
            <a:extLst xmlns:a="http://schemas.openxmlformats.org/drawingml/2006/main">
              <a:ext uri="{FF2B5EF4-FFF2-40B4-BE49-F238E27FC236}">
                <a16:creationId xmlns:a16="http://schemas.microsoft.com/office/drawing/2014/main" id="{854963B7-5FDE-4105-85AD-B80D055C68D7}"/>
              </a:ext>
            </a:extLst>
          </p:cNvPr>
          <p:cNvSpPr>
            <a:spLocks xmlns:a="http://schemas.openxmlformats.org/drawingml/2006/main" noGrp="1"/>
          </p:cNvSpPr>
          <p:nvPr/>
        </p:nvSpPr>
        <p:spPr>
          <a:xfrm xmlns:a="http://schemas.openxmlformats.org/drawingml/2006/main">
            <a:off x="8572500" y="2876550"/>
            <a:ext cx="2286000" cy="361950"/>
          </a:xfrm>
          <a:prstGeom xmlns:a="http://schemas.openxmlformats.org/drawingml/2006/main" prst="roundRect">
            <a:avLst>
              <a:gd name="adj" fmla="val 21053"/>
            </a:avLst>
          </a:prstGeom>
          <a:solidFill xmlns:a="http://schemas.openxmlformats.org/drawingml/2006/main">
            <a:srgbClr val="B4232B"/>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A046D924-6216-4860-94C3-46FADB85649B}"/>
              </a:ext>
            </a:extLst>
          </p:cNvPr>
          <p:cNvSpPr>
            <a:spLocks xmlns:a="http://schemas.openxmlformats.org/drawingml/2006/main" noGrp="1"/>
          </p:cNvSpPr>
          <p:nvPr/>
        </p:nvSpPr>
        <p:spPr>
          <a:xfrm xmlns:a="http://schemas.openxmlformats.org/drawingml/2006/main">
            <a:off x="8667750" y="2905125"/>
            <a:ext cx="2095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NOT A CLEAR SORT</a:t>
            </a:r>
          </a:p>
        </p:txBody>
      </p:sp>
      <p:sp>
        <p:nvSpPr>
          <p:cNvPr id="25" name="">
            <a:extLst xmlns:a="http://schemas.openxmlformats.org/drawingml/2006/main">
              <a:ext uri="{FF2B5EF4-FFF2-40B4-BE49-F238E27FC236}">
                <a16:creationId xmlns:a16="http://schemas.microsoft.com/office/drawing/2014/main" id="{88B7F809-7559-4E04-B43A-44BB0715C2CD}"/>
              </a:ext>
            </a:extLst>
          </p:cNvPr>
          <p:cNvSpPr>
            <a:spLocks xmlns:a="http://schemas.openxmlformats.org/drawingml/2006/main" noGrp="1"/>
          </p:cNvSpPr>
          <p:nvPr/>
        </p:nvSpPr>
        <p:spPr>
          <a:xfrm xmlns:a="http://schemas.openxmlformats.org/drawingml/2006/main">
            <a:off x="8763000" y="3810000"/>
            <a:ext cx="552450" cy="552450"/>
          </a:xfrm>
          <a:prstGeom xmlns:a="http://schemas.openxmlformats.org/drawingml/2006/main" prst="ellipse">
            <a:avLst/>
          </a:prstGeom>
          <a:solidFill xmlns:a="http://schemas.openxmlformats.org/drawingml/2006/main">
            <a:srgbClr val="B4232B"/>
          </a:solidFill>
          <a:ln xmlns:a="http://schemas.openxmlformats.org/drawingml/2006/main" w="19050">
            <a:solidFill>
              <a:srgbClr val="17253A"/>
            </a:solidFill>
          </a:ln>
        </p:spPr>
      </p:sp>
      <p:sp>
        <p:nvSpPr>
          <p:cNvPr id="26" name="">
            <a:extLst xmlns:a="http://schemas.openxmlformats.org/drawingml/2006/main">
              <a:ext uri="{FF2B5EF4-FFF2-40B4-BE49-F238E27FC236}">
                <a16:creationId xmlns:a16="http://schemas.microsoft.com/office/drawing/2014/main" id="{5F63DA7E-2AF2-403E-913E-F38C88669C43}"/>
              </a:ext>
            </a:extLst>
          </p:cNvPr>
          <p:cNvSpPr>
            <a:spLocks xmlns:a="http://schemas.openxmlformats.org/drawingml/2006/main" noGrp="1"/>
          </p:cNvSpPr>
          <p:nvPr/>
        </p:nvSpPr>
        <p:spPr>
          <a:xfrm xmlns:a="http://schemas.openxmlformats.org/drawingml/2006/main">
            <a:off x="9620250" y="3810000"/>
            <a:ext cx="552450" cy="552450"/>
          </a:xfrm>
          <a:prstGeom xmlns:a="http://schemas.openxmlformats.org/drawingml/2006/main" prst="rect">
            <a:avLst/>
          </a:prstGeom>
          <a:solidFill xmlns:a="http://schemas.openxmlformats.org/drawingml/2006/main">
            <a:srgbClr val="3F7DC0"/>
          </a:solidFill>
          <a:ln xmlns:a="http://schemas.openxmlformats.org/drawingml/2006/main" w="19050">
            <a:solidFill>
              <a:srgbClr val="17253A"/>
            </a:solidFill>
          </a:ln>
        </p:spPr>
      </p:sp>
      <p:sp>
        <p:nvSpPr>
          <p:cNvPr id="27" name="">
            <a:extLst xmlns:a="http://schemas.openxmlformats.org/drawingml/2006/main">
              <a:ext uri="{FF2B5EF4-FFF2-40B4-BE49-F238E27FC236}">
                <a16:creationId xmlns:a16="http://schemas.microsoft.com/office/drawing/2014/main" id="{8F9CC952-C357-406B-9EE8-933F5D90D344}"/>
              </a:ext>
            </a:extLst>
          </p:cNvPr>
          <p:cNvSpPr>
            <a:spLocks xmlns:a="http://schemas.openxmlformats.org/drawingml/2006/main" noGrp="1"/>
          </p:cNvSpPr>
          <p:nvPr/>
        </p:nvSpPr>
        <p:spPr>
          <a:xfrm xmlns:a="http://schemas.openxmlformats.org/drawingml/2006/main">
            <a:off x="10477500" y="3810000"/>
            <a:ext cx="552450" cy="552450"/>
          </a:xfrm>
          <a:prstGeom xmlns:a="http://schemas.openxmlformats.org/drawingml/2006/main" prst="triangle">
            <a:avLst/>
          </a:prstGeom>
          <a:solidFill xmlns:a="http://schemas.openxmlformats.org/drawingml/2006/main">
            <a:srgbClr val="B4232B"/>
          </a:solidFill>
          <a:ln xmlns:a="http://schemas.openxmlformats.org/drawingml/2006/main" w="19050">
            <a:solidFill>
              <a:srgbClr val="17253A"/>
            </a:solidFill>
          </a:ln>
        </p:spPr>
      </p:sp>
      <p:sp>
        <p:nvSpPr>
          <p:cNvPr id="28" name="">
            <a:extLst xmlns:a="http://schemas.openxmlformats.org/drawingml/2006/main">
              <a:ext uri="{FF2B5EF4-FFF2-40B4-BE49-F238E27FC236}">
                <a16:creationId xmlns:a16="http://schemas.microsoft.com/office/drawing/2014/main" id="{AF38AC61-1620-476C-B22A-8EF2C4A5642A}"/>
              </a:ext>
            </a:extLst>
          </p:cNvPr>
          <p:cNvSpPr>
            <a:spLocks xmlns:a="http://schemas.openxmlformats.org/drawingml/2006/main" noGrp="1"/>
          </p:cNvSpPr>
          <p:nvPr/>
        </p:nvSpPr>
        <p:spPr>
          <a:xfrm xmlns:a="http://schemas.openxmlformats.org/drawingml/2006/main">
            <a:off x="1619250" y="5429250"/>
            <a:ext cx="895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40516A"/>
                </a:solidFill>
                <a:latin typeface="Arial"/>
                <a:ea typeface="Arial"/>
                <a:cs typeface="Arial"/>
              </a:defRPr>
            </a:pPr>
            <a:r>
              <a:rPr sz="1650" b="1">
                <a:solidFill>
                  <a:srgbClr val="40516A"/>
                </a:solidFill>
                <a:latin typeface="Arial"/>
                <a:ea typeface="Arial"/>
                <a:cs typeface="Arial"/>
              </a:rPr>
              <a:t>The first two groups follow colour. The last box has no stated rule.</a:t>
            </a:r>
          </a:p>
        </p:txBody>
      </p:sp>
    </p:spTree>
    <p:extLst>
      <p:ext uri="{BB962C8B-B14F-4D97-AF65-F5344CB8AC3E}">
        <p14:creationId xmlns:p14="http://schemas.microsoft.com/office/powerpoint/2010/main" val="912849297"/>
      </p:ext>
    </p:extLst>
  </p:cSld>
</p:sld>
</file>

<file path=ppt/slides/slide3.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A0D1D51-02E8-4673-ADBF-50701CA5B87F}"/>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B4232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ADECC17-3B48-4D32-AACD-FF2129A2C9C1}"/>
              </a:ext>
            </a:extLst>
          </p:cNvPr>
          <p:cNvSpPr>
            <a:spLocks xmlns:a="http://schemas.openxmlformats.org/drawingml/2006/main" noGrp="1"/>
          </p:cNvSpPr>
          <p:nvPr/>
        </p:nvSpPr>
        <p:spPr>
          <a:xfrm xmlns:a="http://schemas.openxmlformats.org/drawingml/2006/main">
            <a:off x="552450" y="285750"/>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B4232B"/>
                </a:solidFill>
                <a:latin typeface="Arial"/>
                <a:ea typeface="Arial"/>
                <a:cs typeface="Arial"/>
              </a:defRPr>
            </a:pPr>
            <a:r>
              <a:rPr sz="1050" b="1">
                <a:solidFill>
                  <a:srgbClr val="B4232B"/>
                </a:solidFill>
                <a:latin typeface="Arial"/>
                <a:ea typeface="Arial"/>
                <a:cs typeface="Arial"/>
              </a:rPr>
              <a:t>YEAR 1 MATHS  •  AUTUMN  •  WEEK 1  •  DAY 1</a:t>
            </a:r>
          </a:p>
        </p:txBody>
      </p:sp>
      <p:sp>
        <p:nvSpPr>
          <p:cNvPr id="3" name="">
            <a:extLst xmlns:a="http://schemas.openxmlformats.org/drawingml/2006/main">
              <a:ext uri="{FF2B5EF4-FFF2-40B4-BE49-F238E27FC236}">
                <a16:creationId xmlns:a16="http://schemas.microsoft.com/office/drawing/2014/main" id="{94D0D288-5C0C-4267-8CD4-725FB975A6CE}"/>
              </a:ext>
            </a:extLst>
          </p:cNvPr>
          <p:cNvSpPr>
            <a:spLocks xmlns:a="http://schemas.openxmlformats.org/drawingml/2006/main" noGrp="1"/>
          </p:cNvSpPr>
          <p:nvPr/>
        </p:nvSpPr>
        <p:spPr>
          <a:xfrm xmlns:a="http://schemas.openxmlformats.org/drawingml/2006/main">
            <a:off x="552450" y="685800"/>
            <a:ext cx="1238250" cy="323850"/>
          </a:xfrm>
          <a:prstGeom xmlns:a="http://schemas.openxmlformats.org/drawingml/2006/main" prst="roundRect">
            <a:avLst>
              <a:gd name="adj" fmla="val 23529"/>
            </a:avLst>
          </a:prstGeom>
          <a:solidFill xmlns:a="http://schemas.openxmlformats.org/drawingml/2006/main">
            <a:srgbClr val="B4232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12315BF-D00D-4FE2-91E3-4E63BF366B56}"/>
              </a:ext>
            </a:extLst>
          </p:cNvPr>
          <p:cNvSpPr>
            <a:spLocks xmlns:a="http://schemas.openxmlformats.org/drawingml/2006/main" noGrp="1"/>
          </p:cNvSpPr>
          <p:nvPr/>
        </p:nvSpPr>
        <p:spPr>
          <a:xfrm xmlns:a="http://schemas.openxmlformats.org/drawingml/2006/main">
            <a:off x="590550" y="704850"/>
            <a:ext cx="1162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FFFFFF"/>
                </a:solidFill>
                <a:latin typeface="Arial"/>
                <a:ea typeface="Arial"/>
                <a:cs typeface="Arial"/>
              </a:defRPr>
            </a:pPr>
            <a:r>
              <a:rPr sz="750" b="1">
                <a:solidFill>
                  <a:srgbClr val="FFFFFF"/>
                </a:solidFill>
                <a:latin typeface="Arial"/>
                <a:ea typeface="Arial"/>
                <a:cs typeface="Arial"/>
              </a:rPr>
              <a:t>REVISIT</a:t>
            </a:r>
          </a:p>
        </p:txBody>
      </p:sp>
      <p:sp>
        <p:nvSpPr>
          <p:cNvPr id="5" name="">
            <a:extLst xmlns:a="http://schemas.openxmlformats.org/drawingml/2006/main">
              <a:ext uri="{FF2B5EF4-FFF2-40B4-BE49-F238E27FC236}">
                <a16:creationId xmlns:a16="http://schemas.microsoft.com/office/drawing/2014/main" id="{6EC62A7B-5331-473C-9447-5F32360F7D4F}"/>
              </a:ext>
            </a:extLst>
          </p:cNvPr>
          <p:cNvSpPr>
            <a:spLocks xmlns:a="http://schemas.openxmlformats.org/drawingml/2006/main" noGrp="1"/>
          </p:cNvSpPr>
          <p:nvPr/>
        </p:nvSpPr>
        <p:spPr>
          <a:xfrm xmlns:a="http://schemas.openxmlformats.org/drawingml/2006/main">
            <a:off x="1962150" y="590550"/>
            <a:ext cx="8496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625" b="1">
                <a:solidFill>
                  <a:srgbClr val="17253A"/>
                </a:solidFill>
                <a:latin typeface="Arial"/>
                <a:ea typeface="Arial"/>
                <a:cs typeface="Arial"/>
              </a:defRPr>
            </a:pPr>
            <a:r>
              <a:rPr sz="2625" b="1">
                <a:solidFill>
                  <a:srgbClr val="17253A"/>
                </a:solidFill>
                <a:latin typeface="Arial"/>
                <a:ea typeface="Arial"/>
                <a:cs typeface="Arial"/>
              </a:rPr>
              <a:t>Previous learning: same and different</a:t>
            </a:r>
          </a:p>
        </p:txBody>
      </p:sp>
      <p:sp>
        <p:nvSpPr>
          <p:cNvPr id="6" name="">
            <a:extLst xmlns:a="http://schemas.openxmlformats.org/drawingml/2006/main">
              <a:ext uri="{FF2B5EF4-FFF2-40B4-BE49-F238E27FC236}">
                <a16:creationId xmlns:a16="http://schemas.microsoft.com/office/drawing/2014/main" id="{C48AC834-3CBC-4781-87F4-00F3D8090261}"/>
              </a:ext>
            </a:extLst>
          </p:cNvPr>
          <p:cNvSpPr>
            <a:spLocks xmlns:a="http://schemas.openxmlformats.org/drawingml/2006/main" noGrp="1"/>
          </p:cNvSpPr>
          <p:nvPr/>
        </p:nvSpPr>
        <p:spPr>
          <a:xfrm xmlns:a="http://schemas.openxmlformats.org/drawingml/2006/main">
            <a:off x="10668000" y="4000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r">
              <a:defRPr sz="975" b="1">
                <a:solidFill>
                  <a:srgbClr val="6B788A"/>
                </a:solidFill>
                <a:latin typeface="Arial"/>
                <a:ea typeface="Arial"/>
                <a:cs typeface="Arial"/>
              </a:defRPr>
            </a:pPr>
            <a:r>
              <a:rPr sz="975" b="1">
                <a:solidFill>
                  <a:srgbClr val="6B788A"/>
                </a:solidFill>
                <a:latin typeface="Arial"/>
                <a:ea typeface="Arial"/>
                <a:cs typeface="Arial"/>
              </a:rPr>
              <a:t>3 / 15</a:t>
            </a:r>
          </a:p>
        </p:txBody>
      </p:sp>
      <p:sp>
        <p:nvSpPr>
          <p:cNvPr id="7" name="">
            <a:extLst xmlns:a="http://schemas.openxmlformats.org/drawingml/2006/main">
              <a:ext uri="{FF2B5EF4-FFF2-40B4-BE49-F238E27FC236}">
                <a16:creationId xmlns:a16="http://schemas.microsoft.com/office/drawing/2014/main" id="{F2DF113D-1076-4967-A718-587698022868}"/>
              </a:ext>
            </a:extLst>
          </p:cNvPr>
          <p:cNvSpPr>
            <a:spLocks xmlns:a="http://schemas.openxmlformats.org/drawingml/2006/main" noGrp="1"/>
          </p:cNvSpPr>
          <p:nvPr/>
        </p:nvSpPr>
        <p:spPr>
          <a:xfrm xmlns:a="http://schemas.openxmlformats.org/drawingml/2006/main">
            <a:off x="552450" y="6457950"/>
            <a:ext cx="11087100" cy="19050"/>
          </a:xfrm>
          <a:prstGeom xmlns:a="http://schemas.openxmlformats.org/drawingml/2006/main" prst="rect">
            <a:avLst/>
          </a:prstGeom>
          <a:solidFill xmlns:a="http://schemas.openxmlformats.org/drawingml/2006/main">
            <a:srgbClr val="D9DEE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88CE3CD-9EBD-47AC-8D3A-2CE806F4DA12}"/>
              </a:ext>
            </a:extLst>
          </p:cNvPr>
          <p:cNvSpPr>
            <a:spLocks xmlns:a="http://schemas.openxmlformats.org/drawingml/2006/main" noGrp="1"/>
          </p:cNvSpPr>
          <p:nvPr/>
        </p:nvSpPr>
        <p:spPr>
          <a:xfrm xmlns:a="http://schemas.openxmlformats.org/drawingml/2006/main">
            <a:off x="552450" y="6543675"/>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l">
              <a:defRPr sz="900" b="0">
                <a:solidFill>
                  <a:srgbClr val="6B788A"/>
                </a:solidFill>
                <a:latin typeface="Arial"/>
                <a:ea typeface="Arial"/>
                <a:cs typeface="Arial"/>
              </a:defRPr>
            </a:pPr>
            <a:r>
              <a:rPr sz="900" b="0">
                <a:solidFill>
                  <a:srgbClr val="6B788A"/>
                </a:solidFill>
                <a:latin typeface="Arial"/>
                <a:ea typeface="Arial"/>
                <a:cs typeface="Arial"/>
              </a:rPr>
              <a:t>BrightPath Primary Learning</a:t>
            </a:r>
          </a:p>
        </p:txBody>
      </p:sp>
      <p:sp>
        <p:nvSpPr>
          <p:cNvPr id="9" name="">
            <a:extLst xmlns:a="http://schemas.openxmlformats.org/drawingml/2006/main">
              <a:ext uri="{FF2B5EF4-FFF2-40B4-BE49-F238E27FC236}">
                <a16:creationId xmlns:a16="http://schemas.microsoft.com/office/drawing/2014/main" id="{F05F7FAD-6EDA-437A-A328-A6975C51E540}"/>
              </a:ext>
            </a:extLst>
          </p:cNvPr>
          <p:cNvSpPr>
            <a:spLocks xmlns:a="http://schemas.openxmlformats.org/drawingml/2006/main" noGrp="1"/>
          </p:cNvSpPr>
          <p:nvPr/>
        </p:nvSpPr>
        <p:spPr>
          <a:xfrm xmlns:a="http://schemas.openxmlformats.org/drawingml/2006/main">
            <a:off x="8477250" y="6543675"/>
            <a:ext cx="3162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0">
                <a:solidFill>
                  <a:srgbClr val="6B788A"/>
                </a:solidFill>
                <a:latin typeface="Arial"/>
                <a:ea typeface="Arial"/>
                <a:cs typeface="Arial"/>
              </a:defRPr>
            </a:pPr>
            <a:r>
              <a:rPr sz="900" b="0">
                <a:solidFill>
                  <a:srgbClr val="6B788A"/>
                </a:solidFill>
                <a:latin typeface="Arial"/>
                <a:ea typeface="Arial"/>
                <a:cs typeface="Arial"/>
              </a:rPr>
              <a:t>Sort objects into groups</a:t>
            </a:r>
          </a:p>
        </p:txBody>
      </p:sp>
      <p:sp>
        <p:nvSpPr>
          <p:cNvPr id="10" name="">
            <a:extLst xmlns:a="http://schemas.openxmlformats.org/drawingml/2006/main">
              <a:ext uri="{FF2B5EF4-FFF2-40B4-BE49-F238E27FC236}">
                <a16:creationId xmlns:a16="http://schemas.microsoft.com/office/drawing/2014/main" id="{4CBA1C8F-4F75-43FE-ACD6-8DF57AD7F80E}"/>
              </a:ext>
            </a:extLst>
          </p:cNvPr>
          <p:cNvSpPr>
            <a:spLocks xmlns:a="http://schemas.openxmlformats.org/drawingml/2006/main" noGrp="1"/>
          </p:cNvSpPr>
          <p:nvPr/>
        </p:nvSpPr>
        <p:spPr>
          <a:xfrm xmlns:a="http://schemas.openxmlformats.org/drawingml/2006/main">
            <a:off x="876300" y="1333500"/>
            <a:ext cx="10439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250" b="1">
                <a:solidFill>
                  <a:srgbClr val="17253A"/>
                </a:solidFill>
                <a:latin typeface="Arial"/>
                <a:ea typeface="Arial"/>
                <a:cs typeface="Arial"/>
              </a:defRPr>
            </a:pPr>
            <a:r>
              <a:rPr sz="2250" b="1">
                <a:solidFill>
                  <a:srgbClr val="17253A"/>
                </a:solidFill>
                <a:latin typeface="Arial"/>
                <a:ea typeface="Arial"/>
                <a:cs typeface="Arial"/>
              </a:rPr>
              <a:t>Look carefully. What is the same? What is different?</a:t>
            </a:r>
          </a:p>
        </p:txBody>
      </p:sp>
      <p:sp>
        <p:nvSpPr>
          <p:cNvPr id="11" name="">
            <a:extLst xmlns:a="http://schemas.openxmlformats.org/drawingml/2006/main">
              <a:ext uri="{FF2B5EF4-FFF2-40B4-BE49-F238E27FC236}">
                <a16:creationId xmlns:a16="http://schemas.microsoft.com/office/drawing/2014/main" id="{372075C1-5642-4F54-98EF-15EE114A66D0}"/>
              </a:ext>
            </a:extLst>
          </p:cNvPr>
          <p:cNvSpPr>
            <a:spLocks xmlns:a="http://schemas.openxmlformats.org/drawingml/2006/main" noGrp="1"/>
          </p:cNvSpPr>
          <p:nvPr/>
        </p:nvSpPr>
        <p:spPr>
          <a:xfrm xmlns:a="http://schemas.openxmlformats.org/drawingml/2006/main">
            <a:off x="1600200" y="2238375"/>
            <a:ext cx="8991600" cy="2762250"/>
          </a:xfrm>
          <a:prstGeom xmlns:a="http://schemas.openxmlformats.org/drawingml/2006/main" prst="roundRect">
            <a:avLst>
              <a:gd name="adj" fmla="val 2759"/>
            </a:avLst>
          </a:prstGeom>
          <a:solidFill xmlns:a="http://schemas.openxmlformats.org/drawingml/2006/main">
            <a:srgbClr val="FFFFFF"/>
          </a:solidFill>
          <a:ln xmlns:a="http://schemas.openxmlformats.org/drawingml/2006/main" w="19050">
            <a:solidFill>
              <a:srgbClr val="D9DEE7"/>
            </a:solidFill>
          </a:ln>
        </p:spPr>
      </p:sp>
      <p:sp>
        <p:nvSpPr>
          <p:cNvPr id="12" name="">
            <a:extLst xmlns:a="http://schemas.openxmlformats.org/drawingml/2006/main">
              <a:ext uri="{FF2B5EF4-FFF2-40B4-BE49-F238E27FC236}">
                <a16:creationId xmlns:a16="http://schemas.microsoft.com/office/drawing/2014/main" id="{71D3AC29-A2F6-4AC4-B7E1-AC31DBD57797}"/>
              </a:ext>
            </a:extLst>
          </p:cNvPr>
          <p:cNvSpPr>
            <a:spLocks xmlns:a="http://schemas.openxmlformats.org/drawingml/2006/main" noGrp="1"/>
          </p:cNvSpPr>
          <p:nvPr/>
        </p:nvSpPr>
        <p:spPr>
          <a:xfrm xmlns:a="http://schemas.openxmlformats.org/drawingml/2006/main">
            <a:off x="2647950" y="3048000"/>
            <a:ext cx="876300" cy="876300"/>
          </a:xfrm>
          <a:prstGeom xmlns:a="http://schemas.openxmlformats.org/drawingml/2006/main" prst="ellipse">
            <a:avLst/>
          </a:prstGeom>
          <a:solidFill xmlns:a="http://schemas.openxmlformats.org/drawingml/2006/main">
            <a:srgbClr val="B4232B"/>
          </a:solidFill>
          <a:ln xmlns:a="http://schemas.openxmlformats.org/drawingml/2006/main" w="19050">
            <a:solidFill>
              <a:srgbClr val="17253A"/>
            </a:solidFill>
          </a:ln>
        </p:spPr>
      </p:sp>
      <p:sp>
        <p:nvSpPr>
          <p:cNvPr id="13" name="">
            <a:extLst xmlns:a="http://schemas.openxmlformats.org/drawingml/2006/main">
              <a:ext uri="{FF2B5EF4-FFF2-40B4-BE49-F238E27FC236}">
                <a16:creationId xmlns:a16="http://schemas.microsoft.com/office/drawing/2014/main" id="{2167A190-9F63-4247-8DED-392EC7B2F59F}"/>
              </a:ext>
            </a:extLst>
          </p:cNvPr>
          <p:cNvSpPr>
            <a:spLocks xmlns:a="http://schemas.openxmlformats.org/drawingml/2006/main" noGrp="1"/>
          </p:cNvSpPr>
          <p:nvPr/>
        </p:nvSpPr>
        <p:spPr>
          <a:xfrm xmlns:a="http://schemas.openxmlformats.org/drawingml/2006/main">
            <a:off x="4514850" y="3048000"/>
            <a:ext cx="876300" cy="876300"/>
          </a:xfrm>
          <a:prstGeom xmlns:a="http://schemas.openxmlformats.org/drawingml/2006/main" prst="ellipse">
            <a:avLst/>
          </a:prstGeom>
          <a:solidFill xmlns:a="http://schemas.openxmlformats.org/drawingml/2006/main">
            <a:srgbClr val="3F7DC0"/>
          </a:solidFill>
          <a:ln xmlns:a="http://schemas.openxmlformats.org/drawingml/2006/main" w="19050">
            <a:solidFill>
              <a:srgbClr val="17253A"/>
            </a:solidFill>
          </a:ln>
        </p:spPr>
      </p:sp>
      <p:sp>
        <p:nvSpPr>
          <p:cNvPr id="14" name="">
            <a:extLst xmlns:a="http://schemas.openxmlformats.org/drawingml/2006/main">
              <a:ext uri="{FF2B5EF4-FFF2-40B4-BE49-F238E27FC236}">
                <a16:creationId xmlns:a16="http://schemas.microsoft.com/office/drawing/2014/main" id="{1A506A89-F53B-4E2C-BB3E-E2D2B76F1BEC}"/>
              </a:ext>
            </a:extLst>
          </p:cNvPr>
          <p:cNvSpPr>
            <a:spLocks xmlns:a="http://schemas.openxmlformats.org/drawingml/2006/main" noGrp="1"/>
          </p:cNvSpPr>
          <p:nvPr/>
        </p:nvSpPr>
        <p:spPr>
          <a:xfrm xmlns:a="http://schemas.openxmlformats.org/drawingml/2006/main">
            <a:off x="6381750" y="3048000"/>
            <a:ext cx="876300" cy="876300"/>
          </a:xfrm>
          <a:prstGeom xmlns:a="http://schemas.openxmlformats.org/drawingml/2006/main" prst="rect">
            <a:avLst/>
          </a:prstGeom>
          <a:solidFill xmlns:a="http://schemas.openxmlformats.org/drawingml/2006/main">
            <a:srgbClr val="B4232B"/>
          </a:solidFill>
          <a:ln xmlns:a="http://schemas.openxmlformats.org/drawingml/2006/main" w="19050">
            <a:solidFill>
              <a:srgbClr val="17253A"/>
            </a:solidFill>
          </a:ln>
        </p:spPr>
      </p:sp>
      <p:sp>
        <p:nvSpPr>
          <p:cNvPr id="15" name="">
            <a:extLst xmlns:a="http://schemas.openxmlformats.org/drawingml/2006/main">
              <a:ext uri="{FF2B5EF4-FFF2-40B4-BE49-F238E27FC236}">
                <a16:creationId xmlns:a16="http://schemas.microsoft.com/office/drawing/2014/main" id="{E1576BF4-FC30-48B7-9B6E-2E0491FAD440}"/>
              </a:ext>
            </a:extLst>
          </p:cNvPr>
          <p:cNvSpPr>
            <a:spLocks xmlns:a="http://schemas.openxmlformats.org/drawingml/2006/main" noGrp="1"/>
          </p:cNvSpPr>
          <p:nvPr/>
        </p:nvSpPr>
        <p:spPr>
          <a:xfrm xmlns:a="http://schemas.openxmlformats.org/drawingml/2006/main">
            <a:off x="8248650" y="3048000"/>
            <a:ext cx="876300" cy="876300"/>
          </a:xfrm>
          <a:prstGeom xmlns:a="http://schemas.openxmlformats.org/drawingml/2006/main" prst="triangle">
            <a:avLst/>
          </a:prstGeom>
          <a:solidFill xmlns:a="http://schemas.openxmlformats.org/drawingml/2006/main">
            <a:srgbClr val="3F7DC0"/>
          </a:solidFill>
          <a:ln xmlns:a="http://schemas.openxmlformats.org/drawingml/2006/main" w="19050">
            <a:solidFill>
              <a:srgbClr val="17253A"/>
            </a:solidFill>
          </a:ln>
        </p:spPr>
      </p:sp>
      <p:sp>
        <p:nvSpPr>
          <p:cNvPr id="16" name="">
            <a:extLst xmlns:a="http://schemas.openxmlformats.org/drawingml/2006/main">
              <a:ext uri="{FF2B5EF4-FFF2-40B4-BE49-F238E27FC236}">
                <a16:creationId xmlns:a16="http://schemas.microsoft.com/office/drawing/2014/main" id="{23DC0F13-5CA4-47E0-8918-E46D2BDD50B4}"/>
              </a:ext>
            </a:extLst>
          </p:cNvPr>
          <p:cNvSpPr>
            <a:spLocks xmlns:a="http://schemas.openxmlformats.org/drawingml/2006/main" noGrp="1"/>
          </p:cNvSpPr>
          <p:nvPr/>
        </p:nvSpPr>
        <p:spPr>
          <a:xfrm xmlns:a="http://schemas.openxmlformats.org/drawingml/2006/main">
            <a:off x="2667000" y="5286375"/>
            <a:ext cx="1524000" cy="361950"/>
          </a:xfrm>
          <a:prstGeom xmlns:a="http://schemas.openxmlformats.org/drawingml/2006/main" prst="roundRect">
            <a:avLst>
              <a:gd name="adj" fmla="val 21053"/>
            </a:avLst>
          </a:prstGeom>
          <a:solidFill xmlns:a="http://schemas.openxmlformats.org/drawingml/2006/main">
            <a:srgbClr val="E9F4FB"/>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69FE2F8-3B4A-4F2A-AB9F-E8E6679EA64F}"/>
              </a:ext>
            </a:extLst>
          </p:cNvPr>
          <p:cNvSpPr>
            <a:spLocks xmlns:a="http://schemas.openxmlformats.org/drawingml/2006/main" noGrp="1"/>
          </p:cNvSpPr>
          <p:nvPr/>
        </p:nvSpPr>
        <p:spPr>
          <a:xfrm xmlns:a="http://schemas.openxmlformats.org/drawingml/2006/main">
            <a:off x="2762250" y="5314950"/>
            <a:ext cx="1333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3F7DC0"/>
                </a:solidFill>
                <a:latin typeface="Arial"/>
                <a:ea typeface="Arial"/>
                <a:cs typeface="Arial"/>
              </a:defRPr>
            </a:pPr>
            <a:r>
              <a:rPr sz="1125" b="1">
                <a:solidFill>
                  <a:srgbClr val="3F7DC0"/>
                </a:solidFill>
                <a:latin typeface="Arial"/>
                <a:ea typeface="Arial"/>
                <a:cs typeface="Arial"/>
              </a:rPr>
              <a:t>THINK</a:t>
            </a:r>
          </a:p>
        </p:txBody>
      </p:sp>
      <p:sp>
        <p:nvSpPr>
          <p:cNvPr id="18" name="">
            <a:extLst xmlns:a="http://schemas.openxmlformats.org/drawingml/2006/main">
              <a:ext uri="{FF2B5EF4-FFF2-40B4-BE49-F238E27FC236}">
                <a16:creationId xmlns:a16="http://schemas.microsoft.com/office/drawing/2014/main" id="{10CD1FE8-7578-4E61-BD15-F15835135C63}"/>
              </a:ext>
            </a:extLst>
          </p:cNvPr>
          <p:cNvSpPr>
            <a:spLocks xmlns:a="http://schemas.openxmlformats.org/drawingml/2006/main" noGrp="1"/>
          </p:cNvSpPr>
          <p:nvPr/>
        </p:nvSpPr>
        <p:spPr>
          <a:xfrm xmlns:a="http://schemas.openxmlformats.org/drawingml/2006/main">
            <a:off x="5334000" y="5286375"/>
            <a:ext cx="1524000" cy="361950"/>
          </a:xfrm>
          <a:prstGeom xmlns:a="http://schemas.openxmlformats.org/drawingml/2006/main" prst="roundRect">
            <a:avLst>
              <a:gd name="adj" fmla="val 21053"/>
            </a:avLst>
          </a:prstGeom>
          <a:solidFill xmlns:a="http://schemas.openxmlformats.org/drawingml/2006/main">
            <a:srgbClr val="FFF0E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120C621-5009-4D10-8700-D7B6D6211EFA}"/>
              </a:ext>
            </a:extLst>
          </p:cNvPr>
          <p:cNvSpPr>
            <a:spLocks xmlns:a="http://schemas.openxmlformats.org/drawingml/2006/main" noGrp="1"/>
          </p:cNvSpPr>
          <p:nvPr/>
        </p:nvSpPr>
        <p:spPr>
          <a:xfrm xmlns:a="http://schemas.openxmlformats.org/drawingml/2006/main">
            <a:off x="5429250" y="5314950"/>
            <a:ext cx="1333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B4232B"/>
                </a:solidFill>
                <a:latin typeface="Arial"/>
                <a:ea typeface="Arial"/>
                <a:cs typeface="Arial"/>
              </a:defRPr>
            </a:pPr>
            <a:r>
              <a:rPr sz="1125" b="1">
                <a:solidFill>
                  <a:srgbClr val="B4232B"/>
                </a:solidFill>
                <a:latin typeface="Arial"/>
                <a:ea typeface="Arial"/>
                <a:cs typeface="Arial"/>
              </a:rPr>
              <a:t>PAIR</a:t>
            </a:r>
          </a:p>
        </p:txBody>
      </p:sp>
      <p:sp>
        <p:nvSpPr>
          <p:cNvPr id="20" name="">
            <a:extLst xmlns:a="http://schemas.openxmlformats.org/drawingml/2006/main">
              <a:ext uri="{FF2B5EF4-FFF2-40B4-BE49-F238E27FC236}">
                <a16:creationId xmlns:a16="http://schemas.microsoft.com/office/drawing/2014/main" id="{95B1D8E0-8E54-4B9F-AE84-65B583B6ADF8}"/>
              </a:ext>
            </a:extLst>
          </p:cNvPr>
          <p:cNvSpPr>
            <a:spLocks xmlns:a="http://schemas.openxmlformats.org/drawingml/2006/main" noGrp="1"/>
          </p:cNvSpPr>
          <p:nvPr/>
        </p:nvSpPr>
        <p:spPr>
          <a:xfrm xmlns:a="http://schemas.openxmlformats.org/drawingml/2006/main">
            <a:off x="8001000" y="5286375"/>
            <a:ext cx="1524000" cy="361950"/>
          </a:xfrm>
          <a:prstGeom xmlns:a="http://schemas.openxmlformats.org/drawingml/2006/main" prst="roundRect">
            <a:avLst>
              <a:gd name="adj" fmla="val 21053"/>
            </a:avLst>
          </a:prstGeom>
          <a:solidFill xmlns:a="http://schemas.openxmlformats.org/drawingml/2006/main">
            <a:srgbClr val="F3ECFA"/>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638A520-4147-4065-B63E-CA6EE276E54A}"/>
              </a:ext>
            </a:extLst>
          </p:cNvPr>
          <p:cNvSpPr>
            <a:spLocks xmlns:a="http://schemas.openxmlformats.org/drawingml/2006/main" noGrp="1"/>
          </p:cNvSpPr>
          <p:nvPr/>
        </p:nvSpPr>
        <p:spPr>
          <a:xfrm xmlns:a="http://schemas.openxmlformats.org/drawingml/2006/main">
            <a:off x="8096250" y="5314950"/>
            <a:ext cx="1333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76469A"/>
                </a:solidFill>
                <a:latin typeface="Arial"/>
                <a:ea typeface="Arial"/>
                <a:cs typeface="Arial"/>
              </a:defRPr>
            </a:pPr>
            <a:r>
              <a:rPr sz="1125" b="1">
                <a:solidFill>
                  <a:srgbClr val="76469A"/>
                </a:solidFill>
                <a:latin typeface="Arial"/>
                <a:ea typeface="Arial"/>
                <a:cs typeface="Arial"/>
              </a:rPr>
              <a:t>SHARE</a:t>
            </a:r>
          </a:p>
        </p:txBody>
      </p:sp>
    </p:spTree>
    <p:extLst>
      <p:ext uri="{BB962C8B-B14F-4D97-AF65-F5344CB8AC3E}">
        <p14:creationId xmlns:p14="http://schemas.microsoft.com/office/powerpoint/2010/main" val="279854039"/>
      </p:ext>
    </p:extLst>
  </p:cSld>
</p:sld>
</file>

<file path=ppt/slides/slide4.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7DFF424-42EF-4820-B53C-BB2B1055951F}"/>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B4232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7FBE3C2-4AC6-4159-AD53-57D66187C2F8}"/>
              </a:ext>
            </a:extLst>
          </p:cNvPr>
          <p:cNvSpPr>
            <a:spLocks xmlns:a="http://schemas.openxmlformats.org/drawingml/2006/main" noGrp="1"/>
          </p:cNvSpPr>
          <p:nvPr/>
        </p:nvSpPr>
        <p:spPr>
          <a:xfrm xmlns:a="http://schemas.openxmlformats.org/drawingml/2006/main">
            <a:off x="552450" y="285750"/>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B4232B"/>
                </a:solidFill>
                <a:latin typeface="Arial"/>
                <a:ea typeface="Arial"/>
                <a:cs typeface="Arial"/>
              </a:defRPr>
            </a:pPr>
            <a:r>
              <a:rPr sz="1050" b="1">
                <a:solidFill>
                  <a:srgbClr val="B4232B"/>
                </a:solidFill>
                <a:latin typeface="Arial"/>
                <a:ea typeface="Arial"/>
                <a:cs typeface="Arial"/>
              </a:rPr>
              <a:t>YEAR 1 MATHS  •  AUTUMN  •  WEEK 1  •  DAY 1</a:t>
            </a:r>
          </a:p>
        </p:txBody>
      </p:sp>
      <p:sp>
        <p:nvSpPr>
          <p:cNvPr id="3" name="">
            <a:extLst xmlns:a="http://schemas.openxmlformats.org/drawingml/2006/main">
              <a:ext uri="{FF2B5EF4-FFF2-40B4-BE49-F238E27FC236}">
                <a16:creationId xmlns:a16="http://schemas.microsoft.com/office/drawing/2014/main" id="{089D2675-3EDD-4031-8EE0-C761F7030DCB}"/>
              </a:ext>
            </a:extLst>
          </p:cNvPr>
          <p:cNvSpPr>
            <a:spLocks xmlns:a="http://schemas.openxmlformats.org/drawingml/2006/main" noGrp="1"/>
          </p:cNvSpPr>
          <p:nvPr/>
        </p:nvSpPr>
        <p:spPr>
          <a:xfrm xmlns:a="http://schemas.openxmlformats.org/drawingml/2006/main">
            <a:off x="552450" y="685800"/>
            <a:ext cx="1238250" cy="323850"/>
          </a:xfrm>
          <a:prstGeom xmlns:a="http://schemas.openxmlformats.org/drawingml/2006/main" prst="roundRect">
            <a:avLst>
              <a:gd name="adj" fmla="val 23529"/>
            </a:avLst>
          </a:prstGeom>
          <a:solidFill xmlns:a="http://schemas.openxmlformats.org/drawingml/2006/main">
            <a:srgbClr val="B4232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EEFA69F-3BF5-4B3E-A80B-F87E2500E600}"/>
              </a:ext>
            </a:extLst>
          </p:cNvPr>
          <p:cNvSpPr>
            <a:spLocks xmlns:a="http://schemas.openxmlformats.org/drawingml/2006/main" noGrp="1"/>
          </p:cNvSpPr>
          <p:nvPr/>
        </p:nvSpPr>
        <p:spPr>
          <a:xfrm xmlns:a="http://schemas.openxmlformats.org/drawingml/2006/main">
            <a:off x="590550" y="704850"/>
            <a:ext cx="1162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FFFFFF"/>
                </a:solidFill>
                <a:latin typeface="Arial"/>
                <a:ea typeface="Arial"/>
                <a:cs typeface="Arial"/>
              </a:defRPr>
            </a:pPr>
            <a:r>
              <a:rPr sz="750" b="1">
                <a:solidFill>
                  <a:srgbClr val="FFFFFF"/>
                </a:solidFill>
                <a:latin typeface="Arial"/>
                <a:ea typeface="Arial"/>
                <a:cs typeface="Arial"/>
              </a:rPr>
              <a:t>REVEAL</a:t>
            </a:r>
          </a:p>
        </p:txBody>
      </p:sp>
      <p:sp>
        <p:nvSpPr>
          <p:cNvPr id="5" name="">
            <a:extLst xmlns:a="http://schemas.openxmlformats.org/drawingml/2006/main">
              <a:ext uri="{FF2B5EF4-FFF2-40B4-BE49-F238E27FC236}">
                <a16:creationId xmlns:a16="http://schemas.microsoft.com/office/drawing/2014/main" id="{0FE580BD-DC18-4739-A87F-D34F0804A50D}"/>
              </a:ext>
            </a:extLst>
          </p:cNvPr>
          <p:cNvSpPr>
            <a:spLocks xmlns:a="http://schemas.openxmlformats.org/drawingml/2006/main" noGrp="1"/>
          </p:cNvSpPr>
          <p:nvPr/>
        </p:nvSpPr>
        <p:spPr>
          <a:xfrm xmlns:a="http://schemas.openxmlformats.org/drawingml/2006/main">
            <a:off x="1962150" y="590550"/>
            <a:ext cx="8496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625" b="1">
                <a:solidFill>
                  <a:srgbClr val="17253A"/>
                </a:solidFill>
                <a:latin typeface="Arial"/>
                <a:ea typeface="Arial"/>
                <a:cs typeface="Arial"/>
              </a:defRPr>
            </a:pPr>
            <a:r>
              <a:rPr sz="2625" b="1">
                <a:solidFill>
                  <a:srgbClr val="17253A"/>
                </a:solidFill>
                <a:latin typeface="Arial"/>
                <a:ea typeface="Arial"/>
                <a:cs typeface="Arial"/>
              </a:rPr>
              <a:t>Check our noticing</a:t>
            </a:r>
          </a:p>
        </p:txBody>
      </p:sp>
      <p:sp>
        <p:nvSpPr>
          <p:cNvPr id="6" name="">
            <a:extLst xmlns:a="http://schemas.openxmlformats.org/drawingml/2006/main">
              <a:ext uri="{FF2B5EF4-FFF2-40B4-BE49-F238E27FC236}">
                <a16:creationId xmlns:a16="http://schemas.microsoft.com/office/drawing/2014/main" id="{B72D632D-BC65-4E6F-8F9E-1A22A4BFE182}"/>
              </a:ext>
            </a:extLst>
          </p:cNvPr>
          <p:cNvSpPr>
            <a:spLocks xmlns:a="http://schemas.openxmlformats.org/drawingml/2006/main" noGrp="1"/>
          </p:cNvSpPr>
          <p:nvPr/>
        </p:nvSpPr>
        <p:spPr>
          <a:xfrm xmlns:a="http://schemas.openxmlformats.org/drawingml/2006/main">
            <a:off x="10668000" y="4000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r">
              <a:defRPr sz="975" b="1">
                <a:solidFill>
                  <a:srgbClr val="6B788A"/>
                </a:solidFill>
                <a:latin typeface="Arial"/>
                <a:ea typeface="Arial"/>
                <a:cs typeface="Arial"/>
              </a:defRPr>
            </a:pPr>
            <a:r>
              <a:rPr sz="975" b="1">
                <a:solidFill>
                  <a:srgbClr val="6B788A"/>
                </a:solidFill>
                <a:latin typeface="Arial"/>
                <a:ea typeface="Arial"/>
                <a:cs typeface="Arial"/>
              </a:rPr>
              <a:t>4 / 15</a:t>
            </a:r>
          </a:p>
        </p:txBody>
      </p:sp>
      <p:sp>
        <p:nvSpPr>
          <p:cNvPr id="7" name="">
            <a:extLst xmlns:a="http://schemas.openxmlformats.org/drawingml/2006/main">
              <a:ext uri="{FF2B5EF4-FFF2-40B4-BE49-F238E27FC236}">
                <a16:creationId xmlns:a16="http://schemas.microsoft.com/office/drawing/2014/main" id="{4CE3FDB8-438B-4A85-BBBC-2025CB3C0B0C}"/>
              </a:ext>
            </a:extLst>
          </p:cNvPr>
          <p:cNvSpPr>
            <a:spLocks xmlns:a="http://schemas.openxmlformats.org/drawingml/2006/main" noGrp="1"/>
          </p:cNvSpPr>
          <p:nvPr/>
        </p:nvSpPr>
        <p:spPr>
          <a:xfrm xmlns:a="http://schemas.openxmlformats.org/drawingml/2006/main">
            <a:off x="552450" y="6457950"/>
            <a:ext cx="11087100" cy="19050"/>
          </a:xfrm>
          <a:prstGeom xmlns:a="http://schemas.openxmlformats.org/drawingml/2006/main" prst="rect">
            <a:avLst/>
          </a:prstGeom>
          <a:solidFill xmlns:a="http://schemas.openxmlformats.org/drawingml/2006/main">
            <a:srgbClr val="D9DEE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F15C65C-4D05-4F4C-B853-51359CF4D9E5}"/>
              </a:ext>
            </a:extLst>
          </p:cNvPr>
          <p:cNvSpPr>
            <a:spLocks xmlns:a="http://schemas.openxmlformats.org/drawingml/2006/main" noGrp="1"/>
          </p:cNvSpPr>
          <p:nvPr/>
        </p:nvSpPr>
        <p:spPr>
          <a:xfrm xmlns:a="http://schemas.openxmlformats.org/drawingml/2006/main">
            <a:off x="552450" y="6543675"/>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l">
              <a:defRPr sz="900" b="0">
                <a:solidFill>
                  <a:srgbClr val="6B788A"/>
                </a:solidFill>
                <a:latin typeface="Arial"/>
                <a:ea typeface="Arial"/>
                <a:cs typeface="Arial"/>
              </a:defRPr>
            </a:pPr>
            <a:r>
              <a:rPr sz="900" b="0">
                <a:solidFill>
                  <a:srgbClr val="6B788A"/>
                </a:solidFill>
                <a:latin typeface="Arial"/>
                <a:ea typeface="Arial"/>
                <a:cs typeface="Arial"/>
              </a:rPr>
              <a:t>BrightPath Primary Learning</a:t>
            </a:r>
          </a:p>
        </p:txBody>
      </p:sp>
      <p:sp>
        <p:nvSpPr>
          <p:cNvPr id="9" name="">
            <a:extLst xmlns:a="http://schemas.openxmlformats.org/drawingml/2006/main">
              <a:ext uri="{FF2B5EF4-FFF2-40B4-BE49-F238E27FC236}">
                <a16:creationId xmlns:a16="http://schemas.microsoft.com/office/drawing/2014/main" id="{C4C23D26-DE2D-439E-9712-17252D41D4A5}"/>
              </a:ext>
            </a:extLst>
          </p:cNvPr>
          <p:cNvSpPr>
            <a:spLocks xmlns:a="http://schemas.openxmlformats.org/drawingml/2006/main" noGrp="1"/>
          </p:cNvSpPr>
          <p:nvPr/>
        </p:nvSpPr>
        <p:spPr>
          <a:xfrm xmlns:a="http://schemas.openxmlformats.org/drawingml/2006/main">
            <a:off x="8477250" y="6543675"/>
            <a:ext cx="3162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0">
                <a:solidFill>
                  <a:srgbClr val="6B788A"/>
                </a:solidFill>
                <a:latin typeface="Arial"/>
                <a:ea typeface="Arial"/>
                <a:cs typeface="Arial"/>
              </a:defRPr>
            </a:pPr>
            <a:r>
              <a:rPr sz="900" b="0">
                <a:solidFill>
                  <a:srgbClr val="6B788A"/>
                </a:solidFill>
                <a:latin typeface="Arial"/>
                <a:ea typeface="Arial"/>
                <a:cs typeface="Arial"/>
              </a:rPr>
              <a:t>Sort objects into groups</a:t>
            </a:r>
          </a:p>
        </p:txBody>
      </p:sp>
      <p:sp>
        <p:nvSpPr>
          <p:cNvPr id="10" name="">
            <a:extLst xmlns:a="http://schemas.openxmlformats.org/drawingml/2006/main">
              <a:ext uri="{FF2B5EF4-FFF2-40B4-BE49-F238E27FC236}">
                <a16:creationId xmlns:a16="http://schemas.microsoft.com/office/drawing/2014/main" id="{7293E75E-FD4A-4E3F-BB1C-99653359AB18}"/>
              </a:ext>
            </a:extLst>
          </p:cNvPr>
          <p:cNvSpPr>
            <a:spLocks xmlns:a="http://schemas.openxmlformats.org/drawingml/2006/main" noGrp="1"/>
          </p:cNvSpPr>
          <p:nvPr/>
        </p:nvSpPr>
        <p:spPr>
          <a:xfrm xmlns:a="http://schemas.openxmlformats.org/drawingml/2006/main">
            <a:off x="952500" y="1524000"/>
            <a:ext cx="2762250" cy="819150"/>
          </a:xfrm>
          <a:prstGeom xmlns:a="http://schemas.openxmlformats.org/drawingml/2006/main" prst="roundRect">
            <a:avLst>
              <a:gd name="adj" fmla="val 9302"/>
            </a:avLst>
          </a:prstGeom>
          <a:solidFill xmlns:a="http://schemas.openxmlformats.org/drawingml/2006/main">
            <a:srgbClr val="FFF0E7"/>
          </a:solidFill>
          <a:ln xmlns:a="http://schemas.openxmlformats.org/drawingml/2006/main" w="19050">
            <a:solidFill>
              <a:srgbClr val="D9DEE7"/>
            </a:solidFill>
          </a:ln>
        </p:spPr>
      </p:sp>
      <p:sp>
        <p:nvSpPr>
          <p:cNvPr id="11" name="">
            <a:extLst xmlns:a="http://schemas.openxmlformats.org/drawingml/2006/main">
              <a:ext uri="{FF2B5EF4-FFF2-40B4-BE49-F238E27FC236}">
                <a16:creationId xmlns:a16="http://schemas.microsoft.com/office/drawing/2014/main" id="{03FAA10E-4788-4E87-9FED-418E8C9E624E}"/>
              </a:ext>
            </a:extLst>
          </p:cNvPr>
          <p:cNvSpPr>
            <a:spLocks xmlns:a="http://schemas.openxmlformats.org/drawingml/2006/main" noGrp="1"/>
          </p:cNvSpPr>
          <p:nvPr/>
        </p:nvSpPr>
        <p:spPr>
          <a:xfrm xmlns:a="http://schemas.openxmlformats.org/drawingml/2006/main">
            <a:off x="1162050" y="1638300"/>
            <a:ext cx="2343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253A"/>
                </a:solidFill>
                <a:latin typeface="Arial"/>
                <a:ea typeface="Arial"/>
                <a:cs typeface="Arial"/>
              </a:defRPr>
            </a:pPr>
            <a:r>
              <a:rPr sz="1650" b="1">
                <a:solidFill>
                  <a:srgbClr val="17253A"/>
                </a:solidFill>
                <a:latin typeface="Arial"/>
                <a:ea typeface="Arial"/>
                <a:cs typeface="Arial"/>
              </a:rPr>
              <a:t>Same colour</a:t>
            </a:r>
          </a:p>
        </p:txBody>
      </p:sp>
      <p:sp>
        <p:nvSpPr>
          <p:cNvPr id="12" name="">
            <a:extLst xmlns:a="http://schemas.openxmlformats.org/drawingml/2006/main">
              <a:ext uri="{FF2B5EF4-FFF2-40B4-BE49-F238E27FC236}">
                <a16:creationId xmlns:a16="http://schemas.microsoft.com/office/drawing/2014/main" id="{68825644-881D-486E-89F8-E5295A41522C}"/>
              </a:ext>
            </a:extLst>
          </p:cNvPr>
          <p:cNvSpPr>
            <a:spLocks xmlns:a="http://schemas.openxmlformats.org/drawingml/2006/main" noGrp="1"/>
          </p:cNvSpPr>
          <p:nvPr/>
        </p:nvSpPr>
        <p:spPr>
          <a:xfrm xmlns:a="http://schemas.openxmlformats.org/drawingml/2006/main">
            <a:off x="4714875" y="1524000"/>
            <a:ext cx="2762250" cy="819150"/>
          </a:xfrm>
          <a:prstGeom xmlns:a="http://schemas.openxmlformats.org/drawingml/2006/main" prst="roundRect">
            <a:avLst>
              <a:gd name="adj" fmla="val 9302"/>
            </a:avLst>
          </a:prstGeom>
          <a:solidFill xmlns:a="http://schemas.openxmlformats.org/drawingml/2006/main">
            <a:srgbClr val="E9F4FB"/>
          </a:solidFill>
          <a:ln xmlns:a="http://schemas.openxmlformats.org/drawingml/2006/main" w="19050">
            <a:solidFill>
              <a:srgbClr val="D9DEE7"/>
            </a:solidFill>
          </a:ln>
        </p:spPr>
      </p:sp>
      <p:sp>
        <p:nvSpPr>
          <p:cNvPr id="13" name="">
            <a:extLst xmlns:a="http://schemas.openxmlformats.org/drawingml/2006/main">
              <a:ext uri="{FF2B5EF4-FFF2-40B4-BE49-F238E27FC236}">
                <a16:creationId xmlns:a16="http://schemas.microsoft.com/office/drawing/2014/main" id="{71F7C058-0E2A-459F-911E-E01369F85839}"/>
              </a:ext>
            </a:extLst>
          </p:cNvPr>
          <p:cNvSpPr>
            <a:spLocks xmlns:a="http://schemas.openxmlformats.org/drawingml/2006/main" noGrp="1"/>
          </p:cNvSpPr>
          <p:nvPr/>
        </p:nvSpPr>
        <p:spPr>
          <a:xfrm xmlns:a="http://schemas.openxmlformats.org/drawingml/2006/main">
            <a:off x="4924425" y="1638300"/>
            <a:ext cx="2343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253A"/>
                </a:solidFill>
                <a:latin typeface="Arial"/>
                <a:ea typeface="Arial"/>
                <a:cs typeface="Arial"/>
              </a:defRPr>
            </a:pPr>
            <a:r>
              <a:rPr sz="1650" b="1">
                <a:solidFill>
                  <a:srgbClr val="17253A"/>
                </a:solidFill>
                <a:latin typeface="Arial"/>
                <a:ea typeface="Arial"/>
                <a:cs typeface="Arial"/>
              </a:rPr>
              <a:t>Same shape</a:t>
            </a:r>
          </a:p>
        </p:txBody>
      </p:sp>
      <p:sp>
        <p:nvSpPr>
          <p:cNvPr id="14" name="">
            <a:extLst xmlns:a="http://schemas.openxmlformats.org/drawingml/2006/main">
              <a:ext uri="{FF2B5EF4-FFF2-40B4-BE49-F238E27FC236}">
                <a16:creationId xmlns:a16="http://schemas.microsoft.com/office/drawing/2014/main" id="{7F68D18A-4D15-4C65-8836-5168017A277A}"/>
              </a:ext>
            </a:extLst>
          </p:cNvPr>
          <p:cNvSpPr>
            <a:spLocks xmlns:a="http://schemas.openxmlformats.org/drawingml/2006/main" noGrp="1"/>
          </p:cNvSpPr>
          <p:nvPr/>
        </p:nvSpPr>
        <p:spPr>
          <a:xfrm xmlns:a="http://schemas.openxmlformats.org/drawingml/2006/main">
            <a:off x="8477250" y="1524000"/>
            <a:ext cx="2762250" cy="819150"/>
          </a:xfrm>
          <a:prstGeom xmlns:a="http://schemas.openxmlformats.org/drawingml/2006/main" prst="roundRect">
            <a:avLst>
              <a:gd name="adj" fmla="val 9302"/>
            </a:avLst>
          </a:prstGeom>
          <a:solidFill xmlns:a="http://schemas.openxmlformats.org/drawingml/2006/main">
            <a:srgbClr val="F3ECFA"/>
          </a:solidFill>
          <a:ln xmlns:a="http://schemas.openxmlformats.org/drawingml/2006/main" w="19050">
            <a:solidFill>
              <a:srgbClr val="D9DEE7"/>
            </a:solidFill>
          </a:ln>
        </p:spPr>
      </p:sp>
      <p:sp>
        <p:nvSpPr>
          <p:cNvPr id="15" name="">
            <a:extLst xmlns:a="http://schemas.openxmlformats.org/drawingml/2006/main">
              <a:ext uri="{FF2B5EF4-FFF2-40B4-BE49-F238E27FC236}">
                <a16:creationId xmlns:a16="http://schemas.microsoft.com/office/drawing/2014/main" id="{ECC18E0A-D0B0-4FDD-86D2-8012CA0912D9}"/>
              </a:ext>
            </a:extLst>
          </p:cNvPr>
          <p:cNvSpPr>
            <a:spLocks xmlns:a="http://schemas.openxmlformats.org/drawingml/2006/main" noGrp="1"/>
          </p:cNvSpPr>
          <p:nvPr/>
        </p:nvSpPr>
        <p:spPr>
          <a:xfrm xmlns:a="http://schemas.openxmlformats.org/drawingml/2006/main">
            <a:off x="8686800" y="1638300"/>
            <a:ext cx="2343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253A"/>
                </a:solidFill>
                <a:latin typeface="Arial"/>
                <a:ea typeface="Arial"/>
                <a:cs typeface="Arial"/>
              </a:defRPr>
            </a:pPr>
            <a:r>
              <a:rPr sz="1650" b="1">
                <a:solidFill>
                  <a:srgbClr val="17253A"/>
                </a:solidFill>
                <a:latin typeface="Arial"/>
                <a:ea typeface="Arial"/>
                <a:cs typeface="Arial"/>
              </a:rPr>
              <a:t>Different size or type</a:t>
            </a:r>
          </a:p>
        </p:txBody>
      </p:sp>
      <p:sp>
        <p:nvSpPr>
          <p:cNvPr id="16" name="">
            <a:extLst xmlns:a="http://schemas.openxmlformats.org/drawingml/2006/main">
              <a:ext uri="{FF2B5EF4-FFF2-40B4-BE49-F238E27FC236}">
                <a16:creationId xmlns:a16="http://schemas.microsoft.com/office/drawing/2014/main" id="{78733110-4B7C-4825-9716-FCDA6CD8C07D}"/>
              </a:ext>
            </a:extLst>
          </p:cNvPr>
          <p:cNvSpPr>
            <a:spLocks xmlns:a="http://schemas.openxmlformats.org/drawingml/2006/main" noGrp="1"/>
          </p:cNvSpPr>
          <p:nvPr/>
        </p:nvSpPr>
        <p:spPr>
          <a:xfrm xmlns:a="http://schemas.openxmlformats.org/drawingml/2006/main">
            <a:off x="952500" y="285750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325" b="1">
                <a:solidFill>
                  <a:srgbClr val="17253A"/>
                </a:solidFill>
                <a:latin typeface="Arial"/>
                <a:ea typeface="Arial"/>
                <a:cs typeface="Arial"/>
              </a:defRPr>
            </a:pPr>
            <a:r>
              <a:rPr sz="2325" b="1">
                <a:solidFill>
                  <a:srgbClr val="17253A"/>
                </a:solidFill>
                <a:latin typeface="Arial"/>
                <a:ea typeface="Arial"/>
                <a:cs typeface="Arial"/>
              </a:rPr>
              <a:t>An object can have more than one property.</a:t>
            </a:r>
          </a:p>
        </p:txBody>
      </p:sp>
      <p:sp>
        <p:nvSpPr>
          <p:cNvPr id="17" name="">
            <a:extLst xmlns:a="http://schemas.openxmlformats.org/drawingml/2006/main">
              <a:ext uri="{FF2B5EF4-FFF2-40B4-BE49-F238E27FC236}">
                <a16:creationId xmlns:a16="http://schemas.microsoft.com/office/drawing/2014/main" id="{97550448-296F-4E7F-9CC3-2D0BC4B80AFD}"/>
              </a:ext>
            </a:extLst>
          </p:cNvPr>
          <p:cNvSpPr>
            <a:spLocks xmlns:a="http://schemas.openxmlformats.org/drawingml/2006/main" noGrp="1"/>
          </p:cNvSpPr>
          <p:nvPr/>
        </p:nvSpPr>
        <p:spPr>
          <a:xfrm xmlns:a="http://schemas.openxmlformats.org/drawingml/2006/main">
            <a:off x="1733550" y="3790950"/>
            <a:ext cx="87249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19050">
            <a:solidFill>
              <a:srgbClr val="D9DEE7"/>
            </a:solidFill>
          </a:ln>
        </p:spPr>
      </p:sp>
      <p:sp>
        <p:nvSpPr>
          <p:cNvPr id="18" name="">
            <a:extLst xmlns:a="http://schemas.openxmlformats.org/drawingml/2006/main">
              <a:ext uri="{FF2B5EF4-FFF2-40B4-BE49-F238E27FC236}">
                <a16:creationId xmlns:a16="http://schemas.microsoft.com/office/drawing/2014/main" id="{883CAE19-3B05-4990-9F5E-BEA9EDEABB36}"/>
              </a:ext>
            </a:extLst>
          </p:cNvPr>
          <p:cNvSpPr>
            <a:spLocks xmlns:a="http://schemas.openxmlformats.org/drawingml/2006/main" noGrp="1"/>
          </p:cNvSpPr>
          <p:nvPr/>
        </p:nvSpPr>
        <p:spPr>
          <a:xfrm xmlns:a="http://schemas.openxmlformats.org/drawingml/2006/main">
            <a:off x="2095500" y="4000500"/>
            <a:ext cx="8001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0">
                <a:solidFill>
                  <a:srgbClr val="40516A"/>
                </a:solidFill>
                <a:latin typeface="Arial"/>
                <a:ea typeface="Arial"/>
                <a:cs typeface="Arial"/>
              </a:defRPr>
            </a:pPr>
            <a:r>
              <a:rPr sz="1950" b="0">
                <a:solidFill>
                  <a:srgbClr val="40516A"/>
                </a:solidFill>
                <a:latin typeface="Arial"/>
                <a:ea typeface="Arial"/>
                <a:cs typeface="Arial"/>
              </a:rPr>
              <a:t>A property is something we can notice about an object — for example its colour, shape, size or type.</a:t>
            </a:r>
          </a:p>
        </p:txBody>
      </p:sp>
      <p:sp>
        <p:nvSpPr>
          <p:cNvPr id="19" name="">
            <a:extLst xmlns:a="http://schemas.openxmlformats.org/drawingml/2006/main">
              <a:ext uri="{FF2B5EF4-FFF2-40B4-BE49-F238E27FC236}">
                <a16:creationId xmlns:a16="http://schemas.microsoft.com/office/drawing/2014/main" id="{5FA781DE-C6F3-4F3E-A396-92CDC383A1BF}"/>
              </a:ext>
            </a:extLst>
          </p:cNvPr>
          <p:cNvSpPr>
            <a:spLocks xmlns:a="http://schemas.openxmlformats.org/drawingml/2006/main" noGrp="1"/>
          </p:cNvSpPr>
          <p:nvPr/>
        </p:nvSpPr>
        <p:spPr>
          <a:xfrm xmlns:a="http://schemas.openxmlformats.org/drawingml/2006/main">
            <a:off x="2476500" y="5524500"/>
            <a:ext cx="723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B4232B"/>
                </a:solidFill>
                <a:latin typeface="Arial"/>
                <a:ea typeface="Arial"/>
                <a:cs typeface="Arial"/>
              </a:defRPr>
            </a:pPr>
            <a:r>
              <a:rPr sz="1350" b="1">
                <a:solidFill>
                  <a:srgbClr val="B4232B"/>
                </a:solidFill>
                <a:latin typeface="Arial"/>
                <a:ea typeface="Arial"/>
                <a:cs typeface="Arial"/>
              </a:rPr>
              <a:t>Teacher check: ask three pupils to give one property each.</a:t>
            </a:r>
          </a:p>
        </p:txBody>
      </p:sp>
    </p:spTree>
    <p:extLst>
      <p:ext uri="{BB962C8B-B14F-4D97-AF65-F5344CB8AC3E}">
        <p14:creationId xmlns:p14="http://schemas.microsoft.com/office/powerpoint/2010/main" val="1913433000"/>
      </p:ext>
    </p:extLst>
  </p:cSld>
</p:sld>
</file>

<file path=ppt/slides/slide5.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C148FCC7-9CE4-4E92-A561-93C0B510B609}"/>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B4232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1E3012-5DA2-4F91-9774-13AAD2060FBF}"/>
              </a:ext>
            </a:extLst>
          </p:cNvPr>
          <p:cNvSpPr>
            <a:spLocks xmlns:a="http://schemas.openxmlformats.org/drawingml/2006/main" noGrp="1"/>
          </p:cNvSpPr>
          <p:nvPr/>
        </p:nvSpPr>
        <p:spPr>
          <a:xfrm xmlns:a="http://schemas.openxmlformats.org/drawingml/2006/main">
            <a:off x="552450" y="285750"/>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B4232B"/>
                </a:solidFill>
                <a:latin typeface="Arial"/>
                <a:ea typeface="Arial"/>
                <a:cs typeface="Arial"/>
              </a:defRPr>
            </a:pPr>
            <a:r>
              <a:rPr sz="1050" b="1">
                <a:solidFill>
                  <a:srgbClr val="B4232B"/>
                </a:solidFill>
                <a:latin typeface="Arial"/>
                <a:ea typeface="Arial"/>
                <a:cs typeface="Arial"/>
              </a:rPr>
              <a:t>YEAR 1 MATHS  •  AUTUMN  •  WEEK 1  •  DAY 1</a:t>
            </a:r>
          </a:p>
        </p:txBody>
      </p:sp>
      <p:sp>
        <p:nvSpPr>
          <p:cNvPr id="3" name="">
            <a:extLst xmlns:a="http://schemas.openxmlformats.org/drawingml/2006/main">
              <a:ext uri="{FF2B5EF4-FFF2-40B4-BE49-F238E27FC236}">
                <a16:creationId xmlns:a16="http://schemas.microsoft.com/office/drawing/2014/main" id="{AEE39376-D83D-41A1-B488-00BAF04D1568}"/>
              </a:ext>
            </a:extLst>
          </p:cNvPr>
          <p:cNvSpPr>
            <a:spLocks xmlns:a="http://schemas.openxmlformats.org/drawingml/2006/main" noGrp="1"/>
          </p:cNvSpPr>
          <p:nvPr/>
        </p:nvSpPr>
        <p:spPr>
          <a:xfrm xmlns:a="http://schemas.openxmlformats.org/drawingml/2006/main">
            <a:off x="552450" y="685800"/>
            <a:ext cx="1238250" cy="323850"/>
          </a:xfrm>
          <a:prstGeom xmlns:a="http://schemas.openxmlformats.org/drawingml/2006/main" prst="roundRect">
            <a:avLst>
              <a:gd name="adj" fmla="val 23529"/>
            </a:avLst>
          </a:prstGeom>
          <a:solidFill xmlns:a="http://schemas.openxmlformats.org/drawingml/2006/main">
            <a:srgbClr val="B4232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A35AFB0-F3CB-4D7B-B5A5-F066325ECE98}"/>
              </a:ext>
            </a:extLst>
          </p:cNvPr>
          <p:cNvSpPr>
            <a:spLocks xmlns:a="http://schemas.openxmlformats.org/drawingml/2006/main" noGrp="1"/>
          </p:cNvSpPr>
          <p:nvPr/>
        </p:nvSpPr>
        <p:spPr>
          <a:xfrm xmlns:a="http://schemas.openxmlformats.org/drawingml/2006/main">
            <a:off x="590550" y="704850"/>
            <a:ext cx="1162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FFFFFF"/>
                </a:solidFill>
                <a:latin typeface="Arial"/>
                <a:ea typeface="Arial"/>
                <a:cs typeface="Arial"/>
              </a:defRPr>
            </a:pPr>
            <a:r>
              <a:rPr sz="750" b="1">
                <a:solidFill>
                  <a:srgbClr val="FFFFFF"/>
                </a:solidFill>
                <a:latin typeface="Arial"/>
                <a:ea typeface="Arial"/>
                <a:cs typeface="Arial"/>
              </a:rPr>
              <a:t>VOCABULARY</a:t>
            </a:r>
          </a:p>
        </p:txBody>
      </p:sp>
      <p:sp>
        <p:nvSpPr>
          <p:cNvPr id="5" name="">
            <a:extLst xmlns:a="http://schemas.openxmlformats.org/drawingml/2006/main">
              <a:ext uri="{FF2B5EF4-FFF2-40B4-BE49-F238E27FC236}">
                <a16:creationId xmlns:a16="http://schemas.microsoft.com/office/drawing/2014/main" id="{66AE6AD0-D765-41F4-A94C-C138D6ABC0AF}"/>
              </a:ext>
            </a:extLst>
          </p:cNvPr>
          <p:cNvSpPr>
            <a:spLocks xmlns:a="http://schemas.openxmlformats.org/drawingml/2006/main" noGrp="1"/>
          </p:cNvSpPr>
          <p:nvPr/>
        </p:nvSpPr>
        <p:spPr>
          <a:xfrm xmlns:a="http://schemas.openxmlformats.org/drawingml/2006/main">
            <a:off x="1962150" y="590550"/>
            <a:ext cx="8496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625" b="1">
                <a:solidFill>
                  <a:srgbClr val="17253A"/>
                </a:solidFill>
                <a:latin typeface="Arial"/>
                <a:ea typeface="Arial"/>
                <a:cs typeface="Arial"/>
              </a:defRPr>
            </a:pPr>
            <a:r>
              <a:rPr sz="2625" b="1">
                <a:solidFill>
                  <a:srgbClr val="17253A"/>
                </a:solidFill>
                <a:latin typeface="Arial"/>
                <a:ea typeface="Arial"/>
                <a:cs typeface="Arial"/>
              </a:rPr>
              <a:t>Words we will use</a:t>
            </a:r>
          </a:p>
        </p:txBody>
      </p:sp>
      <p:sp>
        <p:nvSpPr>
          <p:cNvPr id="6" name="">
            <a:extLst xmlns:a="http://schemas.openxmlformats.org/drawingml/2006/main">
              <a:ext uri="{FF2B5EF4-FFF2-40B4-BE49-F238E27FC236}">
                <a16:creationId xmlns:a16="http://schemas.microsoft.com/office/drawing/2014/main" id="{7347ACC4-94CE-4372-BFBE-C9406B54DB87}"/>
              </a:ext>
            </a:extLst>
          </p:cNvPr>
          <p:cNvSpPr>
            <a:spLocks xmlns:a="http://schemas.openxmlformats.org/drawingml/2006/main" noGrp="1"/>
          </p:cNvSpPr>
          <p:nvPr/>
        </p:nvSpPr>
        <p:spPr>
          <a:xfrm xmlns:a="http://schemas.openxmlformats.org/drawingml/2006/main">
            <a:off x="10668000" y="4000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r">
              <a:defRPr sz="975" b="1">
                <a:solidFill>
                  <a:srgbClr val="6B788A"/>
                </a:solidFill>
                <a:latin typeface="Arial"/>
                <a:ea typeface="Arial"/>
                <a:cs typeface="Arial"/>
              </a:defRPr>
            </a:pPr>
            <a:r>
              <a:rPr sz="975" b="1">
                <a:solidFill>
                  <a:srgbClr val="6B788A"/>
                </a:solidFill>
                <a:latin typeface="Arial"/>
                <a:ea typeface="Arial"/>
                <a:cs typeface="Arial"/>
              </a:rPr>
              <a:t>5 / 15</a:t>
            </a:r>
          </a:p>
        </p:txBody>
      </p:sp>
      <p:sp>
        <p:nvSpPr>
          <p:cNvPr id="7" name="">
            <a:extLst xmlns:a="http://schemas.openxmlformats.org/drawingml/2006/main">
              <a:ext uri="{FF2B5EF4-FFF2-40B4-BE49-F238E27FC236}">
                <a16:creationId xmlns:a16="http://schemas.microsoft.com/office/drawing/2014/main" id="{0734868D-09AA-41E8-B063-4C2074F9B539}"/>
              </a:ext>
            </a:extLst>
          </p:cNvPr>
          <p:cNvSpPr>
            <a:spLocks xmlns:a="http://schemas.openxmlformats.org/drawingml/2006/main" noGrp="1"/>
          </p:cNvSpPr>
          <p:nvPr/>
        </p:nvSpPr>
        <p:spPr>
          <a:xfrm xmlns:a="http://schemas.openxmlformats.org/drawingml/2006/main">
            <a:off x="552450" y="6457950"/>
            <a:ext cx="11087100" cy="19050"/>
          </a:xfrm>
          <a:prstGeom xmlns:a="http://schemas.openxmlformats.org/drawingml/2006/main" prst="rect">
            <a:avLst/>
          </a:prstGeom>
          <a:solidFill xmlns:a="http://schemas.openxmlformats.org/drawingml/2006/main">
            <a:srgbClr val="D9DEE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CB1C6F9-7DE4-43EC-8AE4-086EA9638BF1}"/>
              </a:ext>
            </a:extLst>
          </p:cNvPr>
          <p:cNvSpPr>
            <a:spLocks xmlns:a="http://schemas.openxmlformats.org/drawingml/2006/main" noGrp="1"/>
          </p:cNvSpPr>
          <p:nvPr/>
        </p:nvSpPr>
        <p:spPr>
          <a:xfrm xmlns:a="http://schemas.openxmlformats.org/drawingml/2006/main">
            <a:off x="552450" y="6543675"/>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l">
              <a:defRPr sz="900" b="0">
                <a:solidFill>
                  <a:srgbClr val="6B788A"/>
                </a:solidFill>
                <a:latin typeface="Arial"/>
                <a:ea typeface="Arial"/>
                <a:cs typeface="Arial"/>
              </a:defRPr>
            </a:pPr>
            <a:r>
              <a:rPr sz="900" b="0">
                <a:solidFill>
                  <a:srgbClr val="6B788A"/>
                </a:solidFill>
                <a:latin typeface="Arial"/>
                <a:ea typeface="Arial"/>
                <a:cs typeface="Arial"/>
              </a:rPr>
              <a:t>BrightPath Primary Learning</a:t>
            </a:r>
          </a:p>
        </p:txBody>
      </p:sp>
      <p:sp>
        <p:nvSpPr>
          <p:cNvPr id="9" name="">
            <a:extLst xmlns:a="http://schemas.openxmlformats.org/drawingml/2006/main">
              <a:ext uri="{FF2B5EF4-FFF2-40B4-BE49-F238E27FC236}">
                <a16:creationId xmlns:a16="http://schemas.microsoft.com/office/drawing/2014/main" id="{8AAE76AB-6076-4862-8CA7-28F5F20B5EB8}"/>
              </a:ext>
            </a:extLst>
          </p:cNvPr>
          <p:cNvSpPr>
            <a:spLocks xmlns:a="http://schemas.openxmlformats.org/drawingml/2006/main" noGrp="1"/>
          </p:cNvSpPr>
          <p:nvPr/>
        </p:nvSpPr>
        <p:spPr>
          <a:xfrm xmlns:a="http://schemas.openxmlformats.org/drawingml/2006/main">
            <a:off x="8477250" y="6543675"/>
            <a:ext cx="3162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0">
                <a:solidFill>
                  <a:srgbClr val="6B788A"/>
                </a:solidFill>
                <a:latin typeface="Arial"/>
                <a:ea typeface="Arial"/>
                <a:cs typeface="Arial"/>
              </a:defRPr>
            </a:pPr>
            <a:r>
              <a:rPr sz="900" b="0">
                <a:solidFill>
                  <a:srgbClr val="6B788A"/>
                </a:solidFill>
                <a:latin typeface="Arial"/>
                <a:ea typeface="Arial"/>
                <a:cs typeface="Arial"/>
              </a:rPr>
              <a:t>Sort objects into groups</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f9344cf19f7a4a61"/>
          <a:stretch xmlns:a="http://schemas.openxmlformats.org/drawingml/2006/main"/>
        </p:blipFill>
        <p:spPr>
          <a:xfrm xmlns:a="http://schemas.openxmlformats.org/drawingml/2006/main">
            <a:off x="571500" y="1885950"/>
            <a:ext cx="3048000" cy="36576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4B275EB0-7010-46FD-B30D-7CFBB17DF9B0}"/>
              </a:ext>
            </a:extLst>
          </p:cNvPr>
          <p:cNvSpPr>
            <a:spLocks xmlns:a="http://schemas.openxmlformats.org/drawingml/2006/main" noGrp="1"/>
          </p:cNvSpPr>
          <p:nvPr/>
        </p:nvSpPr>
        <p:spPr>
          <a:xfrm xmlns:a="http://schemas.openxmlformats.org/drawingml/2006/main">
            <a:off x="3333750" y="1476375"/>
            <a:ext cx="78105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19050">
            <a:solidFill>
              <a:srgbClr val="D9DEE7"/>
            </a:solidFill>
          </a:ln>
        </p:spPr>
      </p:sp>
      <p:sp>
        <p:nvSpPr>
          <p:cNvPr id="12" name="">
            <a:extLst xmlns:a="http://schemas.openxmlformats.org/drawingml/2006/main">
              <a:ext uri="{FF2B5EF4-FFF2-40B4-BE49-F238E27FC236}">
                <a16:creationId xmlns:a16="http://schemas.microsoft.com/office/drawing/2014/main" id="{F2A74B24-BDCF-4486-B71A-9F340FCF5777}"/>
              </a:ext>
            </a:extLst>
          </p:cNvPr>
          <p:cNvSpPr>
            <a:spLocks xmlns:a="http://schemas.openxmlformats.org/drawingml/2006/main" noGrp="1"/>
          </p:cNvSpPr>
          <p:nvPr/>
        </p:nvSpPr>
        <p:spPr>
          <a:xfrm xmlns:a="http://schemas.openxmlformats.org/drawingml/2006/main">
            <a:off x="3543300" y="1590675"/>
            <a:ext cx="739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253A"/>
                </a:solidFill>
                <a:latin typeface="Arial"/>
                <a:ea typeface="Arial"/>
                <a:cs typeface="Arial"/>
              </a:defRPr>
            </a:pPr>
            <a:r>
              <a:rPr sz="1650" b="1">
                <a:solidFill>
                  <a:srgbClr val="17253A"/>
                </a:solidFill>
                <a:latin typeface="Arial"/>
                <a:ea typeface="Arial"/>
                <a:cs typeface="Arial"/>
              </a:rPr>
              <a:t>I’m Pip. Sometimes I sort things wrongly. Can you spot my mistakes?</a:t>
            </a:r>
          </a:p>
        </p:txBody>
      </p:sp>
      <p:sp>
        <p:nvSpPr>
          <p:cNvPr id="13" name="">
            <a:extLst xmlns:a="http://schemas.openxmlformats.org/drawingml/2006/main">
              <a:ext uri="{FF2B5EF4-FFF2-40B4-BE49-F238E27FC236}">
                <a16:creationId xmlns:a16="http://schemas.microsoft.com/office/drawing/2014/main" id="{ED751756-35DF-48E3-BC0F-6006445F60DD}"/>
              </a:ext>
            </a:extLst>
          </p:cNvPr>
          <p:cNvSpPr>
            <a:spLocks xmlns:a="http://schemas.openxmlformats.org/drawingml/2006/main" noGrp="1"/>
          </p:cNvSpPr>
          <p:nvPr/>
        </p:nvSpPr>
        <p:spPr>
          <a:xfrm xmlns:a="http://schemas.openxmlformats.org/drawingml/2006/main">
            <a:off x="3714750" y="2762250"/>
            <a:ext cx="1428750" cy="361950"/>
          </a:xfrm>
          <a:prstGeom xmlns:a="http://schemas.openxmlformats.org/drawingml/2006/main" prst="roundRect">
            <a:avLst>
              <a:gd name="adj" fmla="val 21053"/>
            </a:avLst>
          </a:prstGeom>
          <a:solidFill xmlns:a="http://schemas.openxmlformats.org/drawingml/2006/main">
            <a:srgbClr val="FFF0E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D078687-C960-487F-BDB2-147FEF05207E}"/>
              </a:ext>
            </a:extLst>
          </p:cNvPr>
          <p:cNvSpPr>
            <a:spLocks xmlns:a="http://schemas.openxmlformats.org/drawingml/2006/main" noGrp="1"/>
          </p:cNvSpPr>
          <p:nvPr/>
        </p:nvSpPr>
        <p:spPr>
          <a:xfrm xmlns:a="http://schemas.openxmlformats.org/drawingml/2006/main">
            <a:off x="3810000" y="2790825"/>
            <a:ext cx="1238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B4232B"/>
                </a:solidFill>
                <a:latin typeface="Arial"/>
                <a:ea typeface="Arial"/>
                <a:cs typeface="Arial"/>
              </a:defRPr>
            </a:pPr>
            <a:r>
              <a:rPr sz="1125" b="1">
                <a:solidFill>
                  <a:srgbClr val="B4232B"/>
                </a:solidFill>
                <a:latin typeface="Arial"/>
                <a:ea typeface="Arial"/>
                <a:cs typeface="Arial"/>
              </a:rPr>
              <a:t>SORT</a:t>
            </a:r>
          </a:p>
        </p:txBody>
      </p:sp>
      <p:sp>
        <p:nvSpPr>
          <p:cNvPr id="15" name="">
            <a:extLst xmlns:a="http://schemas.openxmlformats.org/drawingml/2006/main">
              <a:ext uri="{FF2B5EF4-FFF2-40B4-BE49-F238E27FC236}">
                <a16:creationId xmlns:a16="http://schemas.microsoft.com/office/drawing/2014/main" id="{AF56D39A-575A-44B4-A21D-CC9AC28D0D26}"/>
              </a:ext>
            </a:extLst>
          </p:cNvPr>
          <p:cNvSpPr>
            <a:spLocks xmlns:a="http://schemas.openxmlformats.org/drawingml/2006/main" noGrp="1"/>
          </p:cNvSpPr>
          <p:nvPr/>
        </p:nvSpPr>
        <p:spPr>
          <a:xfrm xmlns:a="http://schemas.openxmlformats.org/drawingml/2006/main">
            <a:off x="5286375" y="27622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40516A"/>
                </a:solidFill>
                <a:latin typeface="Arial"/>
                <a:ea typeface="Arial"/>
                <a:cs typeface="Arial"/>
              </a:defRPr>
            </a:pPr>
            <a:r>
              <a:rPr sz="1350" b="0">
                <a:solidFill>
                  <a:srgbClr val="40516A"/>
                </a:solidFill>
                <a:latin typeface="Arial"/>
                <a:ea typeface="Arial"/>
                <a:cs typeface="Arial"/>
              </a:rPr>
              <a:t>put things into groups</a:t>
            </a:r>
          </a:p>
        </p:txBody>
      </p:sp>
      <p:sp>
        <p:nvSpPr>
          <p:cNvPr id="16" name="">
            <a:extLst xmlns:a="http://schemas.openxmlformats.org/drawingml/2006/main">
              <a:ext uri="{FF2B5EF4-FFF2-40B4-BE49-F238E27FC236}">
                <a16:creationId xmlns:a16="http://schemas.microsoft.com/office/drawing/2014/main" id="{7456EE31-4094-4466-AFA9-2C09980174E6}"/>
              </a:ext>
            </a:extLst>
          </p:cNvPr>
          <p:cNvSpPr>
            <a:spLocks xmlns:a="http://schemas.openxmlformats.org/drawingml/2006/main" noGrp="1"/>
          </p:cNvSpPr>
          <p:nvPr/>
        </p:nvSpPr>
        <p:spPr>
          <a:xfrm xmlns:a="http://schemas.openxmlformats.org/drawingml/2006/main">
            <a:off x="7524750" y="2762250"/>
            <a:ext cx="1428750" cy="361950"/>
          </a:xfrm>
          <a:prstGeom xmlns:a="http://schemas.openxmlformats.org/drawingml/2006/main" prst="roundRect">
            <a:avLst>
              <a:gd name="adj" fmla="val 21053"/>
            </a:avLst>
          </a:prstGeom>
          <a:solidFill xmlns:a="http://schemas.openxmlformats.org/drawingml/2006/main">
            <a:srgbClr val="E9F4FB"/>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8E0F763-9630-4596-8C9E-9EF4AA5EB5E2}"/>
              </a:ext>
            </a:extLst>
          </p:cNvPr>
          <p:cNvSpPr>
            <a:spLocks xmlns:a="http://schemas.openxmlformats.org/drawingml/2006/main" noGrp="1"/>
          </p:cNvSpPr>
          <p:nvPr/>
        </p:nvSpPr>
        <p:spPr>
          <a:xfrm xmlns:a="http://schemas.openxmlformats.org/drawingml/2006/main">
            <a:off x="7620000" y="2790825"/>
            <a:ext cx="1238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3F7DC0"/>
                </a:solidFill>
                <a:latin typeface="Arial"/>
                <a:ea typeface="Arial"/>
                <a:cs typeface="Arial"/>
              </a:defRPr>
            </a:pPr>
            <a:r>
              <a:rPr sz="1125" b="1">
                <a:solidFill>
                  <a:srgbClr val="3F7DC0"/>
                </a:solidFill>
                <a:latin typeface="Arial"/>
                <a:ea typeface="Arial"/>
                <a:cs typeface="Arial"/>
              </a:rPr>
              <a:t>GROUP</a:t>
            </a:r>
          </a:p>
        </p:txBody>
      </p:sp>
      <p:sp>
        <p:nvSpPr>
          <p:cNvPr id="18" name="">
            <a:extLst xmlns:a="http://schemas.openxmlformats.org/drawingml/2006/main">
              <a:ext uri="{FF2B5EF4-FFF2-40B4-BE49-F238E27FC236}">
                <a16:creationId xmlns:a16="http://schemas.microsoft.com/office/drawing/2014/main" id="{285B9B55-D5E6-49CB-9622-23F82AD6B9D2}"/>
              </a:ext>
            </a:extLst>
          </p:cNvPr>
          <p:cNvSpPr>
            <a:spLocks xmlns:a="http://schemas.openxmlformats.org/drawingml/2006/main" noGrp="1"/>
          </p:cNvSpPr>
          <p:nvPr/>
        </p:nvSpPr>
        <p:spPr>
          <a:xfrm xmlns:a="http://schemas.openxmlformats.org/drawingml/2006/main">
            <a:off x="9096375" y="27622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075"/>
          </a:bodyPr>
          <a:lstStyle xmlns:a="http://schemas.openxmlformats.org/drawingml/2006/main"/>
          <a:p xmlns:a="http://schemas.openxmlformats.org/drawingml/2006/main">
            <a:pPr algn="l">
              <a:defRPr sz="1350" b="0">
                <a:solidFill>
                  <a:srgbClr val="40516A"/>
                </a:solidFill>
                <a:latin typeface="Arial"/>
                <a:ea typeface="Arial"/>
                <a:cs typeface="Arial"/>
              </a:defRPr>
            </a:pPr>
            <a:r>
              <a:rPr sz="1350" b="0">
                <a:solidFill>
                  <a:srgbClr val="40516A"/>
                </a:solidFill>
                <a:latin typeface="Arial"/>
                <a:ea typeface="Arial"/>
                <a:cs typeface="Arial"/>
              </a:rPr>
              <a:t>things that belong together</a:t>
            </a:r>
          </a:p>
        </p:txBody>
      </p:sp>
      <p:sp>
        <p:nvSpPr>
          <p:cNvPr id="19" name="">
            <a:extLst xmlns:a="http://schemas.openxmlformats.org/drawingml/2006/main">
              <a:ext uri="{FF2B5EF4-FFF2-40B4-BE49-F238E27FC236}">
                <a16:creationId xmlns:a16="http://schemas.microsoft.com/office/drawing/2014/main" id="{44A95112-BEF9-41C1-8F1A-205C6697D8D7}"/>
              </a:ext>
            </a:extLst>
          </p:cNvPr>
          <p:cNvSpPr>
            <a:spLocks xmlns:a="http://schemas.openxmlformats.org/drawingml/2006/main" noGrp="1"/>
          </p:cNvSpPr>
          <p:nvPr/>
        </p:nvSpPr>
        <p:spPr>
          <a:xfrm xmlns:a="http://schemas.openxmlformats.org/drawingml/2006/main">
            <a:off x="3714750" y="3657600"/>
            <a:ext cx="1428750" cy="361950"/>
          </a:xfrm>
          <a:prstGeom xmlns:a="http://schemas.openxmlformats.org/drawingml/2006/main" prst="roundRect">
            <a:avLst>
              <a:gd name="adj" fmla="val 21053"/>
            </a:avLst>
          </a:prstGeom>
          <a:solidFill xmlns:a="http://schemas.openxmlformats.org/drawingml/2006/main">
            <a:srgbClr val="FFF0E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A99E1DA-8F36-4F22-80C5-884CBE7196E3}"/>
              </a:ext>
            </a:extLst>
          </p:cNvPr>
          <p:cNvSpPr>
            <a:spLocks xmlns:a="http://schemas.openxmlformats.org/drawingml/2006/main" noGrp="1"/>
          </p:cNvSpPr>
          <p:nvPr/>
        </p:nvSpPr>
        <p:spPr>
          <a:xfrm xmlns:a="http://schemas.openxmlformats.org/drawingml/2006/main">
            <a:off x="3810000" y="3686175"/>
            <a:ext cx="1238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B4232B"/>
                </a:solidFill>
                <a:latin typeface="Arial"/>
                <a:ea typeface="Arial"/>
                <a:cs typeface="Arial"/>
              </a:defRPr>
            </a:pPr>
            <a:r>
              <a:rPr sz="1125" b="1">
                <a:solidFill>
                  <a:srgbClr val="B4232B"/>
                </a:solidFill>
                <a:latin typeface="Arial"/>
                <a:ea typeface="Arial"/>
                <a:cs typeface="Arial"/>
              </a:rPr>
              <a:t>PROPERTY</a:t>
            </a:r>
          </a:p>
        </p:txBody>
      </p:sp>
      <p:sp>
        <p:nvSpPr>
          <p:cNvPr id="21" name="">
            <a:extLst xmlns:a="http://schemas.openxmlformats.org/drawingml/2006/main">
              <a:ext uri="{FF2B5EF4-FFF2-40B4-BE49-F238E27FC236}">
                <a16:creationId xmlns:a16="http://schemas.microsoft.com/office/drawing/2014/main" id="{6B92487D-9E39-41EB-9F04-F31482C16908}"/>
              </a:ext>
            </a:extLst>
          </p:cNvPr>
          <p:cNvSpPr>
            <a:spLocks xmlns:a="http://schemas.openxmlformats.org/drawingml/2006/main" noGrp="1"/>
          </p:cNvSpPr>
          <p:nvPr/>
        </p:nvSpPr>
        <p:spPr>
          <a:xfrm xmlns:a="http://schemas.openxmlformats.org/drawingml/2006/main">
            <a:off x="5286375" y="365760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40516A"/>
                </a:solidFill>
                <a:latin typeface="Arial"/>
                <a:ea typeface="Arial"/>
                <a:cs typeface="Arial"/>
              </a:defRPr>
            </a:pPr>
            <a:r>
              <a:rPr sz="1350" b="0">
                <a:solidFill>
                  <a:srgbClr val="40516A"/>
                </a:solidFill>
                <a:latin typeface="Arial"/>
                <a:ea typeface="Arial"/>
                <a:cs typeface="Arial"/>
              </a:rPr>
              <a:t>something we notice</a:t>
            </a:r>
          </a:p>
        </p:txBody>
      </p:sp>
      <p:sp>
        <p:nvSpPr>
          <p:cNvPr id="22" name="">
            <a:extLst xmlns:a="http://schemas.openxmlformats.org/drawingml/2006/main">
              <a:ext uri="{FF2B5EF4-FFF2-40B4-BE49-F238E27FC236}">
                <a16:creationId xmlns:a16="http://schemas.microsoft.com/office/drawing/2014/main" id="{25D4BD1E-C7BB-45B0-AAF6-1B545946E040}"/>
              </a:ext>
            </a:extLst>
          </p:cNvPr>
          <p:cNvSpPr>
            <a:spLocks xmlns:a="http://schemas.openxmlformats.org/drawingml/2006/main" noGrp="1"/>
          </p:cNvSpPr>
          <p:nvPr/>
        </p:nvSpPr>
        <p:spPr>
          <a:xfrm xmlns:a="http://schemas.openxmlformats.org/drawingml/2006/main">
            <a:off x="7524750" y="3657600"/>
            <a:ext cx="1428750" cy="361950"/>
          </a:xfrm>
          <a:prstGeom xmlns:a="http://schemas.openxmlformats.org/drawingml/2006/main" prst="roundRect">
            <a:avLst>
              <a:gd name="adj" fmla="val 21053"/>
            </a:avLst>
          </a:prstGeom>
          <a:solidFill xmlns:a="http://schemas.openxmlformats.org/drawingml/2006/main">
            <a:srgbClr val="E9F4FB"/>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930ACE6-F6D9-480C-844F-C0B6243D9968}"/>
              </a:ext>
            </a:extLst>
          </p:cNvPr>
          <p:cNvSpPr>
            <a:spLocks xmlns:a="http://schemas.openxmlformats.org/drawingml/2006/main" noGrp="1"/>
          </p:cNvSpPr>
          <p:nvPr/>
        </p:nvSpPr>
        <p:spPr>
          <a:xfrm xmlns:a="http://schemas.openxmlformats.org/drawingml/2006/main">
            <a:off x="7620000" y="3686175"/>
            <a:ext cx="1238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3F7DC0"/>
                </a:solidFill>
                <a:latin typeface="Arial"/>
                <a:ea typeface="Arial"/>
                <a:cs typeface="Arial"/>
              </a:defRPr>
            </a:pPr>
            <a:r>
              <a:rPr sz="1125" b="1">
                <a:solidFill>
                  <a:srgbClr val="3F7DC0"/>
                </a:solidFill>
                <a:latin typeface="Arial"/>
                <a:ea typeface="Arial"/>
                <a:cs typeface="Arial"/>
              </a:rPr>
              <a:t>RULE</a:t>
            </a:r>
          </a:p>
        </p:txBody>
      </p:sp>
      <p:sp>
        <p:nvSpPr>
          <p:cNvPr id="24" name="">
            <a:extLst xmlns:a="http://schemas.openxmlformats.org/drawingml/2006/main">
              <a:ext uri="{FF2B5EF4-FFF2-40B4-BE49-F238E27FC236}">
                <a16:creationId xmlns:a16="http://schemas.microsoft.com/office/drawing/2014/main" id="{F2227D05-FF2D-4420-9CF9-28D13F8F17F0}"/>
              </a:ext>
            </a:extLst>
          </p:cNvPr>
          <p:cNvSpPr>
            <a:spLocks xmlns:a="http://schemas.openxmlformats.org/drawingml/2006/main" noGrp="1"/>
          </p:cNvSpPr>
          <p:nvPr/>
        </p:nvSpPr>
        <p:spPr>
          <a:xfrm xmlns:a="http://schemas.openxmlformats.org/drawingml/2006/main">
            <a:off x="9096375" y="365760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119"/>
          </a:bodyPr>
          <a:lstStyle xmlns:a="http://schemas.openxmlformats.org/drawingml/2006/main"/>
          <a:p xmlns:a="http://schemas.openxmlformats.org/drawingml/2006/main">
            <a:pPr algn="l">
              <a:defRPr sz="1350" b="0">
                <a:solidFill>
                  <a:srgbClr val="40516A"/>
                </a:solidFill>
                <a:latin typeface="Arial"/>
                <a:ea typeface="Arial"/>
                <a:cs typeface="Arial"/>
              </a:defRPr>
            </a:pPr>
            <a:r>
              <a:rPr sz="1350" b="0">
                <a:solidFill>
                  <a:srgbClr val="40516A"/>
                </a:solidFill>
                <a:latin typeface="Arial"/>
                <a:ea typeface="Arial"/>
                <a:cs typeface="Arial"/>
              </a:rPr>
              <a:t>how we decide where things go</a:t>
            </a:r>
          </a:p>
        </p:txBody>
      </p:sp>
      <p:sp>
        <p:nvSpPr>
          <p:cNvPr id="25" name="">
            <a:extLst xmlns:a="http://schemas.openxmlformats.org/drawingml/2006/main">
              <a:ext uri="{FF2B5EF4-FFF2-40B4-BE49-F238E27FC236}">
                <a16:creationId xmlns:a16="http://schemas.microsoft.com/office/drawing/2014/main" id="{3E9068CF-8752-4549-B1A1-DC6BCE9B73A5}"/>
              </a:ext>
            </a:extLst>
          </p:cNvPr>
          <p:cNvSpPr>
            <a:spLocks xmlns:a="http://schemas.openxmlformats.org/drawingml/2006/main" noGrp="1"/>
          </p:cNvSpPr>
          <p:nvPr/>
        </p:nvSpPr>
        <p:spPr>
          <a:xfrm xmlns:a="http://schemas.openxmlformats.org/drawingml/2006/main">
            <a:off x="3714750" y="4552950"/>
            <a:ext cx="1428750" cy="361950"/>
          </a:xfrm>
          <a:prstGeom xmlns:a="http://schemas.openxmlformats.org/drawingml/2006/main" prst="roundRect">
            <a:avLst>
              <a:gd name="adj" fmla="val 21053"/>
            </a:avLst>
          </a:prstGeom>
          <a:solidFill xmlns:a="http://schemas.openxmlformats.org/drawingml/2006/main">
            <a:srgbClr val="FFF0E7"/>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E3A323CC-D151-4B5C-B473-9ACA70A90650}"/>
              </a:ext>
            </a:extLst>
          </p:cNvPr>
          <p:cNvSpPr>
            <a:spLocks xmlns:a="http://schemas.openxmlformats.org/drawingml/2006/main" noGrp="1"/>
          </p:cNvSpPr>
          <p:nvPr/>
        </p:nvSpPr>
        <p:spPr>
          <a:xfrm xmlns:a="http://schemas.openxmlformats.org/drawingml/2006/main">
            <a:off x="3810000" y="4581525"/>
            <a:ext cx="1238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B4232B"/>
                </a:solidFill>
                <a:latin typeface="Arial"/>
                <a:ea typeface="Arial"/>
                <a:cs typeface="Arial"/>
              </a:defRPr>
            </a:pPr>
            <a:r>
              <a:rPr sz="1125" b="1">
                <a:solidFill>
                  <a:srgbClr val="B4232B"/>
                </a:solidFill>
                <a:latin typeface="Arial"/>
                <a:ea typeface="Arial"/>
                <a:cs typeface="Arial"/>
              </a:rPr>
              <a:t>SAME</a:t>
            </a:r>
          </a:p>
        </p:txBody>
      </p:sp>
      <p:sp>
        <p:nvSpPr>
          <p:cNvPr id="27" name="">
            <a:extLst xmlns:a="http://schemas.openxmlformats.org/drawingml/2006/main">
              <a:ext uri="{FF2B5EF4-FFF2-40B4-BE49-F238E27FC236}">
                <a16:creationId xmlns:a16="http://schemas.microsoft.com/office/drawing/2014/main" id="{EEA80AEF-76C7-4863-9103-413188319414}"/>
              </a:ext>
            </a:extLst>
          </p:cNvPr>
          <p:cNvSpPr>
            <a:spLocks xmlns:a="http://schemas.openxmlformats.org/drawingml/2006/main" noGrp="1"/>
          </p:cNvSpPr>
          <p:nvPr/>
        </p:nvSpPr>
        <p:spPr>
          <a:xfrm xmlns:a="http://schemas.openxmlformats.org/drawingml/2006/main">
            <a:off x="5286375" y="45529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40516A"/>
                </a:solidFill>
                <a:latin typeface="Arial"/>
                <a:ea typeface="Arial"/>
                <a:cs typeface="Arial"/>
              </a:defRPr>
            </a:pPr>
            <a:r>
              <a:rPr sz="1350" b="0">
                <a:solidFill>
                  <a:srgbClr val="40516A"/>
                </a:solidFill>
                <a:latin typeface="Arial"/>
                <a:ea typeface="Arial"/>
                <a:cs typeface="Arial"/>
              </a:rPr>
              <a:t>matching in one way</a:t>
            </a:r>
          </a:p>
        </p:txBody>
      </p:sp>
      <p:sp>
        <p:nvSpPr>
          <p:cNvPr id="28" name="">
            <a:extLst xmlns:a="http://schemas.openxmlformats.org/drawingml/2006/main">
              <a:ext uri="{FF2B5EF4-FFF2-40B4-BE49-F238E27FC236}">
                <a16:creationId xmlns:a16="http://schemas.microsoft.com/office/drawing/2014/main" id="{BD01BCDC-7914-4D7F-A240-C6E453682ED3}"/>
              </a:ext>
            </a:extLst>
          </p:cNvPr>
          <p:cNvSpPr>
            <a:spLocks xmlns:a="http://schemas.openxmlformats.org/drawingml/2006/main" noGrp="1"/>
          </p:cNvSpPr>
          <p:nvPr/>
        </p:nvSpPr>
        <p:spPr>
          <a:xfrm xmlns:a="http://schemas.openxmlformats.org/drawingml/2006/main">
            <a:off x="7524750" y="4552950"/>
            <a:ext cx="1428750" cy="361950"/>
          </a:xfrm>
          <a:prstGeom xmlns:a="http://schemas.openxmlformats.org/drawingml/2006/main" prst="roundRect">
            <a:avLst>
              <a:gd name="adj" fmla="val 21053"/>
            </a:avLst>
          </a:prstGeom>
          <a:solidFill xmlns:a="http://schemas.openxmlformats.org/drawingml/2006/main">
            <a:srgbClr val="E9F4FB"/>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E18EDE2C-6C10-4A9D-A28D-6AB3DF62983B}"/>
              </a:ext>
            </a:extLst>
          </p:cNvPr>
          <p:cNvSpPr>
            <a:spLocks xmlns:a="http://schemas.openxmlformats.org/drawingml/2006/main" noGrp="1"/>
          </p:cNvSpPr>
          <p:nvPr/>
        </p:nvSpPr>
        <p:spPr>
          <a:xfrm xmlns:a="http://schemas.openxmlformats.org/drawingml/2006/main">
            <a:off x="7620000" y="4581525"/>
            <a:ext cx="1238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3F7DC0"/>
                </a:solidFill>
                <a:latin typeface="Arial"/>
                <a:ea typeface="Arial"/>
                <a:cs typeface="Arial"/>
              </a:defRPr>
            </a:pPr>
            <a:r>
              <a:rPr sz="1125" b="1">
                <a:solidFill>
                  <a:srgbClr val="3F7DC0"/>
                </a:solidFill>
                <a:latin typeface="Arial"/>
                <a:ea typeface="Arial"/>
                <a:cs typeface="Arial"/>
              </a:rPr>
              <a:t>DIFFERENT</a:t>
            </a:r>
          </a:p>
        </p:txBody>
      </p:sp>
      <p:sp>
        <p:nvSpPr>
          <p:cNvPr id="30" name="">
            <a:extLst xmlns:a="http://schemas.openxmlformats.org/drawingml/2006/main">
              <a:ext uri="{FF2B5EF4-FFF2-40B4-BE49-F238E27FC236}">
                <a16:creationId xmlns:a16="http://schemas.microsoft.com/office/drawing/2014/main" id="{2E67D4FF-5A05-4E49-BFB1-A6DB9173B323}"/>
              </a:ext>
            </a:extLst>
          </p:cNvPr>
          <p:cNvSpPr>
            <a:spLocks xmlns:a="http://schemas.openxmlformats.org/drawingml/2006/main" noGrp="1"/>
          </p:cNvSpPr>
          <p:nvPr/>
        </p:nvSpPr>
        <p:spPr>
          <a:xfrm xmlns:a="http://schemas.openxmlformats.org/drawingml/2006/main">
            <a:off x="9096375" y="45529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40516A"/>
                </a:solidFill>
                <a:latin typeface="Arial"/>
                <a:ea typeface="Arial"/>
                <a:cs typeface="Arial"/>
              </a:defRPr>
            </a:pPr>
            <a:r>
              <a:rPr sz="1350" b="0">
                <a:solidFill>
                  <a:srgbClr val="40516A"/>
                </a:solidFill>
                <a:latin typeface="Arial"/>
                <a:ea typeface="Arial"/>
                <a:cs typeface="Arial"/>
              </a:rPr>
              <a:t>not matching in that way</a:t>
            </a:r>
          </a:p>
        </p:txBody>
      </p:sp>
    </p:spTree>
    <p:extLst>
      <p:ext uri="{BB962C8B-B14F-4D97-AF65-F5344CB8AC3E}">
        <p14:creationId xmlns:p14="http://schemas.microsoft.com/office/powerpoint/2010/main" val="2006574121"/>
      </p:ext>
    </p:extLst>
  </p:cSld>
</p:sld>
</file>

<file path=ppt/slides/slide6.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0D2B8C69-C2BC-48C1-AC4B-3432C6B68F2D}"/>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B4232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311F6A8-6AC7-4719-B206-9EB41C0D1BAA}"/>
              </a:ext>
            </a:extLst>
          </p:cNvPr>
          <p:cNvSpPr>
            <a:spLocks xmlns:a="http://schemas.openxmlformats.org/drawingml/2006/main" noGrp="1"/>
          </p:cNvSpPr>
          <p:nvPr/>
        </p:nvSpPr>
        <p:spPr>
          <a:xfrm xmlns:a="http://schemas.openxmlformats.org/drawingml/2006/main">
            <a:off x="552450" y="285750"/>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B4232B"/>
                </a:solidFill>
                <a:latin typeface="Arial"/>
                <a:ea typeface="Arial"/>
                <a:cs typeface="Arial"/>
              </a:defRPr>
            </a:pPr>
            <a:r>
              <a:rPr sz="1050" b="1">
                <a:solidFill>
                  <a:srgbClr val="B4232B"/>
                </a:solidFill>
                <a:latin typeface="Arial"/>
                <a:ea typeface="Arial"/>
                <a:cs typeface="Arial"/>
              </a:rPr>
              <a:t>YEAR 1 MATHS  •  AUTUMN  •  WEEK 1  •  DAY 1</a:t>
            </a:r>
          </a:p>
        </p:txBody>
      </p:sp>
      <p:sp>
        <p:nvSpPr>
          <p:cNvPr id="3" name="">
            <a:extLst xmlns:a="http://schemas.openxmlformats.org/drawingml/2006/main">
              <a:ext uri="{FF2B5EF4-FFF2-40B4-BE49-F238E27FC236}">
                <a16:creationId xmlns:a16="http://schemas.microsoft.com/office/drawing/2014/main" id="{9FD2AD54-29A6-41C2-97BB-CE98F1DD13FC}"/>
              </a:ext>
            </a:extLst>
          </p:cNvPr>
          <p:cNvSpPr>
            <a:spLocks xmlns:a="http://schemas.openxmlformats.org/drawingml/2006/main" noGrp="1"/>
          </p:cNvSpPr>
          <p:nvPr/>
        </p:nvSpPr>
        <p:spPr>
          <a:xfrm xmlns:a="http://schemas.openxmlformats.org/drawingml/2006/main">
            <a:off x="552450" y="685800"/>
            <a:ext cx="1238250" cy="323850"/>
          </a:xfrm>
          <a:prstGeom xmlns:a="http://schemas.openxmlformats.org/drawingml/2006/main" prst="roundRect">
            <a:avLst>
              <a:gd name="adj" fmla="val 23529"/>
            </a:avLst>
          </a:prstGeom>
          <a:solidFill xmlns:a="http://schemas.openxmlformats.org/drawingml/2006/main">
            <a:srgbClr val="B4232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C4F28B7-8268-40D2-B042-F98588C104BE}"/>
              </a:ext>
            </a:extLst>
          </p:cNvPr>
          <p:cNvSpPr>
            <a:spLocks xmlns:a="http://schemas.openxmlformats.org/drawingml/2006/main" noGrp="1"/>
          </p:cNvSpPr>
          <p:nvPr/>
        </p:nvSpPr>
        <p:spPr>
          <a:xfrm xmlns:a="http://schemas.openxmlformats.org/drawingml/2006/main">
            <a:off x="590550" y="704850"/>
            <a:ext cx="1162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FFFFFF"/>
                </a:solidFill>
                <a:latin typeface="Arial"/>
                <a:ea typeface="Arial"/>
                <a:cs typeface="Arial"/>
              </a:defRPr>
            </a:pPr>
            <a:r>
              <a:rPr sz="750" b="1">
                <a:solidFill>
                  <a:srgbClr val="FFFFFF"/>
                </a:solidFill>
                <a:latin typeface="Arial"/>
                <a:ea typeface="Arial"/>
                <a:cs typeface="Arial"/>
              </a:rPr>
              <a:t>TEACH</a:t>
            </a:r>
          </a:p>
        </p:txBody>
      </p:sp>
      <p:sp>
        <p:nvSpPr>
          <p:cNvPr id="5" name="">
            <a:extLst xmlns:a="http://schemas.openxmlformats.org/drawingml/2006/main">
              <a:ext uri="{FF2B5EF4-FFF2-40B4-BE49-F238E27FC236}">
                <a16:creationId xmlns:a16="http://schemas.microsoft.com/office/drawing/2014/main" id="{166DA8E2-25A3-420F-A4ED-DB7B8565D35A}"/>
              </a:ext>
            </a:extLst>
          </p:cNvPr>
          <p:cNvSpPr>
            <a:spLocks xmlns:a="http://schemas.openxmlformats.org/drawingml/2006/main" noGrp="1"/>
          </p:cNvSpPr>
          <p:nvPr/>
        </p:nvSpPr>
        <p:spPr>
          <a:xfrm xmlns:a="http://schemas.openxmlformats.org/drawingml/2006/main">
            <a:off x="1962150" y="590550"/>
            <a:ext cx="8496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625" b="1">
                <a:solidFill>
                  <a:srgbClr val="17253A"/>
                </a:solidFill>
                <a:latin typeface="Arial"/>
                <a:ea typeface="Arial"/>
                <a:cs typeface="Arial"/>
              </a:defRPr>
            </a:pPr>
            <a:r>
              <a:rPr sz="2625" b="1">
                <a:solidFill>
                  <a:srgbClr val="17253A"/>
                </a:solidFill>
                <a:latin typeface="Arial"/>
                <a:ea typeface="Arial"/>
                <a:cs typeface="Arial"/>
              </a:rPr>
              <a:t>Four steps for a careful sort</a:t>
            </a:r>
          </a:p>
        </p:txBody>
      </p:sp>
      <p:sp>
        <p:nvSpPr>
          <p:cNvPr id="6" name="">
            <a:extLst xmlns:a="http://schemas.openxmlformats.org/drawingml/2006/main">
              <a:ext uri="{FF2B5EF4-FFF2-40B4-BE49-F238E27FC236}">
                <a16:creationId xmlns:a16="http://schemas.microsoft.com/office/drawing/2014/main" id="{A114100A-C002-4AA1-A05C-A31FE56BA722}"/>
              </a:ext>
            </a:extLst>
          </p:cNvPr>
          <p:cNvSpPr>
            <a:spLocks xmlns:a="http://schemas.openxmlformats.org/drawingml/2006/main" noGrp="1"/>
          </p:cNvSpPr>
          <p:nvPr/>
        </p:nvSpPr>
        <p:spPr>
          <a:xfrm xmlns:a="http://schemas.openxmlformats.org/drawingml/2006/main">
            <a:off x="10668000" y="4000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r">
              <a:defRPr sz="975" b="1">
                <a:solidFill>
                  <a:srgbClr val="6B788A"/>
                </a:solidFill>
                <a:latin typeface="Arial"/>
                <a:ea typeface="Arial"/>
                <a:cs typeface="Arial"/>
              </a:defRPr>
            </a:pPr>
            <a:r>
              <a:rPr sz="975" b="1">
                <a:solidFill>
                  <a:srgbClr val="6B788A"/>
                </a:solidFill>
                <a:latin typeface="Arial"/>
                <a:ea typeface="Arial"/>
                <a:cs typeface="Arial"/>
              </a:rPr>
              <a:t>6 / 15</a:t>
            </a:r>
          </a:p>
        </p:txBody>
      </p:sp>
      <p:sp>
        <p:nvSpPr>
          <p:cNvPr id="7" name="">
            <a:extLst xmlns:a="http://schemas.openxmlformats.org/drawingml/2006/main">
              <a:ext uri="{FF2B5EF4-FFF2-40B4-BE49-F238E27FC236}">
                <a16:creationId xmlns:a16="http://schemas.microsoft.com/office/drawing/2014/main" id="{DFD607C1-3EAC-4875-8983-D7C6120CD31B}"/>
              </a:ext>
            </a:extLst>
          </p:cNvPr>
          <p:cNvSpPr>
            <a:spLocks xmlns:a="http://schemas.openxmlformats.org/drawingml/2006/main" noGrp="1"/>
          </p:cNvSpPr>
          <p:nvPr/>
        </p:nvSpPr>
        <p:spPr>
          <a:xfrm xmlns:a="http://schemas.openxmlformats.org/drawingml/2006/main">
            <a:off x="552450" y="6457950"/>
            <a:ext cx="11087100" cy="19050"/>
          </a:xfrm>
          <a:prstGeom xmlns:a="http://schemas.openxmlformats.org/drawingml/2006/main" prst="rect">
            <a:avLst/>
          </a:prstGeom>
          <a:solidFill xmlns:a="http://schemas.openxmlformats.org/drawingml/2006/main">
            <a:srgbClr val="D9DEE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12E53B6-107E-410F-83E6-2329845FE778}"/>
              </a:ext>
            </a:extLst>
          </p:cNvPr>
          <p:cNvSpPr>
            <a:spLocks xmlns:a="http://schemas.openxmlformats.org/drawingml/2006/main" noGrp="1"/>
          </p:cNvSpPr>
          <p:nvPr/>
        </p:nvSpPr>
        <p:spPr>
          <a:xfrm xmlns:a="http://schemas.openxmlformats.org/drawingml/2006/main">
            <a:off x="552450" y="6543675"/>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l">
              <a:defRPr sz="900" b="0">
                <a:solidFill>
                  <a:srgbClr val="6B788A"/>
                </a:solidFill>
                <a:latin typeface="Arial"/>
                <a:ea typeface="Arial"/>
                <a:cs typeface="Arial"/>
              </a:defRPr>
            </a:pPr>
            <a:r>
              <a:rPr sz="900" b="0">
                <a:solidFill>
                  <a:srgbClr val="6B788A"/>
                </a:solidFill>
                <a:latin typeface="Arial"/>
                <a:ea typeface="Arial"/>
                <a:cs typeface="Arial"/>
              </a:rPr>
              <a:t>BrightPath Primary Learning</a:t>
            </a:r>
          </a:p>
        </p:txBody>
      </p:sp>
      <p:sp>
        <p:nvSpPr>
          <p:cNvPr id="9" name="">
            <a:extLst xmlns:a="http://schemas.openxmlformats.org/drawingml/2006/main">
              <a:ext uri="{FF2B5EF4-FFF2-40B4-BE49-F238E27FC236}">
                <a16:creationId xmlns:a16="http://schemas.microsoft.com/office/drawing/2014/main" id="{C010F63A-BE07-447F-B9EC-2C75D5B05E49}"/>
              </a:ext>
            </a:extLst>
          </p:cNvPr>
          <p:cNvSpPr>
            <a:spLocks xmlns:a="http://schemas.openxmlformats.org/drawingml/2006/main" noGrp="1"/>
          </p:cNvSpPr>
          <p:nvPr/>
        </p:nvSpPr>
        <p:spPr>
          <a:xfrm xmlns:a="http://schemas.openxmlformats.org/drawingml/2006/main">
            <a:off x="8477250" y="6543675"/>
            <a:ext cx="3162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0">
                <a:solidFill>
                  <a:srgbClr val="6B788A"/>
                </a:solidFill>
                <a:latin typeface="Arial"/>
                <a:ea typeface="Arial"/>
                <a:cs typeface="Arial"/>
              </a:defRPr>
            </a:pPr>
            <a:r>
              <a:rPr sz="900" b="0">
                <a:solidFill>
                  <a:srgbClr val="6B788A"/>
                </a:solidFill>
                <a:latin typeface="Arial"/>
                <a:ea typeface="Arial"/>
                <a:cs typeface="Arial"/>
              </a:rPr>
              <a:t>Sort objects into groups</a:t>
            </a:r>
          </a:p>
        </p:txBody>
      </p:sp>
      <p:sp>
        <p:nvSpPr>
          <p:cNvPr id="10" name="">
            <a:extLst xmlns:a="http://schemas.openxmlformats.org/drawingml/2006/main">
              <a:ext uri="{FF2B5EF4-FFF2-40B4-BE49-F238E27FC236}">
                <a16:creationId xmlns:a16="http://schemas.microsoft.com/office/drawing/2014/main" id="{4E047C1D-1A83-4F39-B098-656E1FC10CD5}"/>
              </a:ext>
            </a:extLst>
          </p:cNvPr>
          <p:cNvSpPr>
            <a:spLocks xmlns:a="http://schemas.openxmlformats.org/drawingml/2006/main" noGrp="1"/>
          </p:cNvSpPr>
          <p:nvPr/>
        </p:nvSpPr>
        <p:spPr>
          <a:xfrm xmlns:a="http://schemas.openxmlformats.org/drawingml/2006/main">
            <a:off x="666750" y="1571625"/>
            <a:ext cx="2571750" cy="3810000"/>
          </a:xfrm>
          <a:prstGeom xmlns:a="http://schemas.openxmlformats.org/drawingml/2006/main" prst="roundRect">
            <a:avLst>
              <a:gd name="adj" fmla="val 2963"/>
            </a:avLst>
          </a:prstGeom>
          <a:solidFill xmlns:a="http://schemas.openxmlformats.org/drawingml/2006/main">
            <a:srgbClr val="FFF0E7"/>
          </a:solidFill>
          <a:ln xmlns:a="http://schemas.openxmlformats.org/drawingml/2006/main" w="19050">
            <a:solidFill>
              <a:srgbClr val="B4232B"/>
            </a:solidFill>
          </a:ln>
        </p:spPr>
      </p:sp>
      <p:sp>
        <p:nvSpPr>
          <p:cNvPr id="11" name="">
            <a:extLst xmlns:a="http://schemas.openxmlformats.org/drawingml/2006/main">
              <a:ext uri="{FF2B5EF4-FFF2-40B4-BE49-F238E27FC236}">
                <a16:creationId xmlns:a16="http://schemas.microsoft.com/office/drawing/2014/main" id="{02F0DD55-C93B-4F7B-9E91-55334C5AFFF4}"/>
              </a:ext>
            </a:extLst>
          </p:cNvPr>
          <p:cNvSpPr>
            <a:spLocks xmlns:a="http://schemas.openxmlformats.org/drawingml/2006/main" noGrp="1"/>
          </p:cNvSpPr>
          <p:nvPr/>
        </p:nvSpPr>
        <p:spPr>
          <a:xfrm xmlns:a="http://schemas.openxmlformats.org/drawingml/2006/main">
            <a:off x="1571625" y="1857375"/>
            <a:ext cx="762000" cy="762000"/>
          </a:xfrm>
          <a:prstGeom xmlns:a="http://schemas.openxmlformats.org/drawingml/2006/main" prst="ellipse">
            <a:avLst/>
          </a:prstGeom>
          <a:solidFill xmlns:a="http://schemas.openxmlformats.org/drawingml/2006/main">
            <a:srgbClr val="B4232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1BD4A4C-9190-45AA-A2CD-3BE1BD1753B8}"/>
              </a:ext>
            </a:extLst>
          </p:cNvPr>
          <p:cNvSpPr>
            <a:spLocks xmlns:a="http://schemas.openxmlformats.org/drawingml/2006/main" noGrp="1"/>
          </p:cNvSpPr>
          <p:nvPr/>
        </p:nvSpPr>
        <p:spPr>
          <a:xfrm xmlns:a="http://schemas.openxmlformats.org/drawingml/2006/main">
            <a:off x="1571625" y="1952625"/>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1</a:t>
            </a:r>
          </a:p>
        </p:txBody>
      </p:sp>
      <p:sp>
        <p:nvSpPr>
          <p:cNvPr id="13" name="">
            <a:extLst xmlns:a="http://schemas.openxmlformats.org/drawingml/2006/main">
              <a:ext uri="{FF2B5EF4-FFF2-40B4-BE49-F238E27FC236}">
                <a16:creationId xmlns:a16="http://schemas.microsoft.com/office/drawing/2014/main" id="{3579802B-F74D-4B63-829D-57FF987B1807}"/>
              </a:ext>
            </a:extLst>
          </p:cNvPr>
          <p:cNvSpPr>
            <a:spLocks xmlns:a="http://schemas.openxmlformats.org/drawingml/2006/main" noGrp="1"/>
          </p:cNvSpPr>
          <p:nvPr/>
        </p:nvSpPr>
        <p:spPr>
          <a:xfrm xmlns:a="http://schemas.openxmlformats.org/drawingml/2006/main">
            <a:off x="952500" y="2905125"/>
            <a:ext cx="200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253A"/>
                </a:solidFill>
                <a:latin typeface="Arial"/>
                <a:ea typeface="Arial"/>
                <a:cs typeface="Arial"/>
              </a:defRPr>
            </a:pPr>
            <a:r>
              <a:rPr sz="1650" b="1">
                <a:solidFill>
                  <a:srgbClr val="17253A"/>
                </a:solidFill>
                <a:latin typeface="Arial"/>
                <a:ea typeface="Arial"/>
                <a:cs typeface="Arial"/>
              </a:rPr>
              <a:t>NOTICE</a:t>
            </a:r>
          </a:p>
        </p:txBody>
      </p:sp>
      <p:sp>
        <p:nvSpPr>
          <p:cNvPr id="14" name="">
            <a:extLst xmlns:a="http://schemas.openxmlformats.org/drawingml/2006/main">
              <a:ext uri="{FF2B5EF4-FFF2-40B4-BE49-F238E27FC236}">
                <a16:creationId xmlns:a16="http://schemas.microsoft.com/office/drawing/2014/main" id="{D5CDBBB4-FED0-40C6-A17F-1E6C4855E8A9}"/>
              </a:ext>
            </a:extLst>
          </p:cNvPr>
          <p:cNvSpPr>
            <a:spLocks xmlns:a="http://schemas.openxmlformats.org/drawingml/2006/main" noGrp="1"/>
          </p:cNvSpPr>
          <p:nvPr/>
        </p:nvSpPr>
        <p:spPr>
          <a:xfrm xmlns:a="http://schemas.openxmlformats.org/drawingml/2006/main">
            <a:off x="952500" y="3524250"/>
            <a:ext cx="2000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0">
                <a:solidFill>
                  <a:srgbClr val="40516A"/>
                </a:solidFill>
                <a:latin typeface="Arial"/>
                <a:ea typeface="Arial"/>
                <a:cs typeface="Arial"/>
              </a:defRPr>
            </a:pPr>
            <a:r>
              <a:rPr sz="1500" b="0">
                <a:solidFill>
                  <a:srgbClr val="40516A"/>
                </a:solidFill>
                <a:latin typeface="Arial"/>
                <a:ea typeface="Arial"/>
                <a:cs typeface="Arial"/>
              </a:rPr>
              <a:t>Look at the objects and name their properties.</a:t>
            </a:r>
          </a:p>
        </p:txBody>
      </p:sp>
      <p:sp>
        <p:nvSpPr>
          <p:cNvPr id="15" name="">
            <a:extLst xmlns:a="http://schemas.openxmlformats.org/drawingml/2006/main">
              <a:ext uri="{FF2B5EF4-FFF2-40B4-BE49-F238E27FC236}">
                <a16:creationId xmlns:a16="http://schemas.microsoft.com/office/drawing/2014/main" id="{ED6697E2-EEF9-4699-BB94-03F0FD13EEC8}"/>
              </a:ext>
            </a:extLst>
          </p:cNvPr>
          <p:cNvSpPr>
            <a:spLocks xmlns:a="http://schemas.openxmlformats.org/drawingml/2006/main" noGrp="1"/>
          </p:cNvSpPr>
          <p:nvPr/>
        </p:nvSpPr>
        <p:spPr>
          <a:xfrm xmlns:a="http://schemas.openxmlformats.org/drawingml/2006/main">
            <a:off x="3524250" y="1571625"/>
            <a:ext cx="2571750" cy="3810000"/>
          </a:xfrm>
          <a:prstGeom xmlns:a="http://schemas.openxmlformats.org/drawingml/2006/main" prst="roundRect">
            <a:avLst>
              <a:gd name="adj" fmla="val 2963"/>
            </a:avLst>
          </a:prstGeom>
          <a:solidFill xmlns:a="http://schemas.openxmlformats.org/drawingml/2006/main">
            <a:srgbClr val="E9F4FB"/>
          </a:solidFill>
          <a:ln xmlns:a="http://schemas.openxmlformats.org/drawingml/2006/main" w="19050">
            <a:solidFill>
              <a:srgbClr val="3F7DC0"/>
            </a:solidFill>
          </a:ln>
        </p:spPr>
      </p:sp>
      <p:sp>
        <p:nvSpPr>
          <p:cNvPr id="16" name="">
            <a:extLst xmlns:a="http://schemas.openxmlformats.org/drawingml/2006/main">
              <a:ext uri="{FF2B5EF4-FFF2-40B4-BE49-F238E27FC236}">
                <a16:creationId xmlns:a16="http://schemas.microsoft.com/office/drawing/2014/main" id="{01580D59-64AD-4248-AC89-F8A306DB726D}"/>
              </a:ext>
            </a:extLst>
          </p:cNvPr>
          <p:cNvSpPr>
            <a:spLocks xmlns:a="http://schemas.openxmlformats.org/drawingml/2006/main" noGrp="1"/>
          </p:cNvSpPr>
          <p:nvPr/>
        </p:nvSpPr>
        <p:spPr>
          <a:xfrm xmlns:a="http://schemas.openxmlformats.org/drawingml/2006/main">
            <a:off x="4429125" y="1857375"/>
            <a:ext cx="762000" cy="762000"/>
          </a:xfrm>
          <a:prstGeom xmlns:a="http://schemas.openxmlformats.org/drawingml/2006/main" prst="ellipse">
            <a:avLst/>
          </a:prstGeom>
          <a:solidFill xmlns:a="http://schemas.openxmlformats.org/drawingml/2006/main">
            <a:srgbClr val="3F7DC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409BE76-74D4-4024-B3E1-65C7D1E42C04}"/>
              </a:ext>
            </a:extLst>
          </p:cNvPr>
          <p:cNvSpPr>
            <a:spLocks xmlns:a="http://schemas.openxmlformats.org/drawingml/2006/main" noGrp="1"/>
          </p:cNvSpPr>
          <p:nvPr/>
        </p:nvSpPr>
        <p:spPr>
          <a:xfrm xmlns:a="http://schemas.openxmlformats.org/drawingml/2006/main">
            <a:off x="4429125" y="1952625"/>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2</a:t>
            </a:r>
          </a:p>
        </p:txBody>
      </p:sp>
      <p:sp>
        <p:nvSpPr>
          <p:cNvPr id="18" name="">
            <a:extLst xmlns:a="http://schemas.openxmlformats.org/drawingml/2006/main">
              <a:ext uri="{FF2B5EF4-FFF2-40B4-BE49-F238E27FC236}">
                <a16:creationId xmlns:a16="http://schemas.microsoft.com/office/drawing/2014/main" id="{AA492361-5908-45D2-80B1-342F2933D7EF}"/>
              </a:ext>
            </a:extLst>
          </p:cNvPr>
          <p:cNvSpPr>
            <a:spLocks xmlns:a="http://schemas.openxmlformats.org/drawingml/2006/main" noGrp="1"/>
          </p:cNvSpPr>
          <p:nvPr/>
        </p:nvSpPr>
        <p:spPr>
          <a:xfrm xmlns:a="http://schemas.openxmlformats.org/drawingml/2006/main">
            <a:off x="3810000" y="2905125"/>
            <a:ext cx="200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253A"/>
                </a:solidFill>
                <a:latin typeface="Arial"/>
                <a:ea typeface="Arial"/>
                <a:cs typeface="Arial"/>
              </a:defRPr>
            </a:pPr>
            <a:r>
              <a:rPr sz="1650" b="1">
                <a:solidFill>
                  <a:srgbClr val="17253A"/>
                </a:solidFill>
                <a:latin typeface="Arial"/>
                <a:ea typeface="Arial"/>
                <a:cs typeface="Arial"/>
              </a:rPr>
              <a:t>CHOOSE</a:t>
            </a:r>
          </a:p>
        </p:txBody>
      </p:sp>
      <p:sp>
        <p:nvSpPr>
          <p:cNvPr id="19" name="">
            <a:extLst xmlns:a="http://schemas.openxmlformats.org/drawingml/2006/main">
              <a:ext uri="{FF2B5EF4-FFF2-40B4-BE49-F238E27FC236}">
                <a16:creationId xmlns:a16="http://schemas.microsoft.com/office/drawing/2014/main" id="{C76884D1-04F6-4FB2-BC93-CF593450F15A}"/>
              </a:ext>
            </a:extLst>
          </p:cNvPr>
          <p:cNvSpPr>
            <a:spLocks xmlns:a="http://schemas.openxmlformats.org/drawingml/2006/main" noGrp="1"/>
          </p:cNvSpPr>
          <p:nvPr/>
        </p:nvSpPr>
        <p:spPr>
          <a:xfrm xmlns:a="http://schemas.openxmlformats.org/drawingml/2006/main">
            <a:off x="3810000" y="3524250"/>
            <a:ext cx="2000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0">
                <a:solidFill>
                  <a:srgbClr val="40516A"/>
                </a:solidFill>
                <a:latin typeface="Arial"/>
                <a:ea typeface="Arial"/>
                <a:cs typeface="Arial"/>
              </a:defRPr>
            </a:pPr>
            <a:r>
              <a:rPr sz="1500" b="0">
                <a:solidFill>
                  <a:srgbClr val="40516A"/>
                </a:solidFill>
                <a:latin typeface="Arial"/>
                <a:ea typeface="Arial"/>
                <a:cs typeface="Arial"/>
              </a:rPr>
              <a:t>Choose one property, such as colour.</a:t>
            </a:r>
          </a:p>
        </p:txBody>
      </p:sp>
      <p:sp>
        <p:nvSpPr>
          <p:cNvPr id="20" name="">
            <a:extLst xmlns:a="http://schemas.openxmlformats.org/drawingml/2006/main">
              <a:ext uri="{FF2B5EF4-FFF2-40B4-BE49-F238E27FC236}">
                <a16:creationId xmlns:a16="http://schemas.microsoft.com/office/drawing/2014/main" id="{8876B6B7-5471-497D-B4FA-0AB70A463DFF}"/>
              </a:ext>
            </a:extLst>
          </p:cNvPr>
          <p:cNvSpPr>
            <a:spLocks xmlns:a="http://schemas.openxmlformats.org/drawingml/2006/main" noGrp="1"/>
          </p:cNvSpPr>
          <p:nvPr/>
        </p:nvSpPr>
        <p:spPr>
          <a:xfrm xmlns:a="http://schemas.openxmlformats.org/drawingml/2006/main">
            <a:off x="6381750" y="1571625"/>
            <a:ext cx="2571750" cy="3810000"/>
          </a:xfrm>
          <a:prstGeom xmlns:a="http://schemas.openxmlformats.org/drawingml/2006/main" prst="roundRect">
            <a:avLst>
              <a:gd name="adj" fmla="val 2963"/>
            </a:avLst>
          </a:prstGeom>
          <a:solidFill xmlns:a="http://schemas.openxmlformats.org/drawingml/2006/main">
            <a:srgbClr val="FFF0E7"/>
          </a:solidFill>
          <a:ln xmlns:a="http://schemas.openxmlformats.org/drawingml/2006/main" w="19050">
            <a:solidFill>
              <a:srgbClr val="B4232B"/>
            </a:solidFill>
          </a:ln>
        </p:spPr>
      </p:sp>
      <p:sp>
        <p:nvSpPr>
          <p:cNvPr id="21" name="">
            <a:extLst xmlns:a="http://schemas.openxmlformats.org/drawingml/2006/main">
              <a:ext uri="{FF2B5EF4-FFF2-40B4-BE49-F238E27FC236}">
                <a16:creationId xmlns:a16="http://schemas.microsoft.com/office/drawing/2014/main" id="{F6A230A3-11CE-4AAD-9960-7062AF5CEF5D}"/>
              </a:ext>
            </a:extLst>
          </p:cNvPr>
          <p:cNvSpPr>
            <a:spLocks xmlns:a="http://schemas.openxmlformats.org/drawingml/2006/main" noGrp="1"/>
          </p:cNvSpPr>
          <p:nvPr/>
        </p:nvSpPr>
        <p:spPr>
          <a:xfrm xmlns:a="http://schemas.openxmlformats.org/drawingml/2006/main">
            <a:off x="7286625" y="1857375"/>
            <a:ext cx="762000" cy="762000"/>
          </a:xfrm>
          <a:prstGeom xmlns:a="http://schemas.openxmlformats.org/drawingml/2006/main" prst="ellipse">
            <a:avLst/>
          </a:prstGeom>
          <a:solidFill xmlns:a="http://schemas.openxmlformats.org/drawingml/2006/main">
            <a:srgbClr val="B4232B"/>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4F8C47D1-1115-416F-8571-C0BFE361FFA1}"/>
              </a:ext>
            </a:extLst>
          </p:cNvPr>
          <p:cNvSpPr>
            <a:spLocks xmlns:a="http://schemas.openxmlformats.org/drawingml/2006/main" noGrp="1"/>
          </p:cNvSpPr>
          <p:nvPr/>
        </p:nvSpPr>
        <p:spPr>
          <a:xfrm xmlns:a="http://schemas.openxmlformats.org/drawingml/2006/main">
            <a:off x="7286625" y="1952625"/>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3</a:t>
            </a:r>
          </a:p>
        </p:txBody>
      </p:sp>
      <p:sp>
        <p:nvSpPr>
          <p:cNvPr id="23" name="">
            <a:extLst xmlns:a="http://schemas.openxmlformats.org/drawingml/2006/main">
              <a:ext uri="{FF2B5EF4-FFF2-40B4-BE49-F238E27FC236}">
                <a16:creationId xmlns:a16="http://schemas.microsoft.com/office/drawing/2014/main" id="{8A49D66A-5219-4D65-86A9-4CC2DDC1A995}"/>
              </a:ext>
            </a:extLst>
          </p:cNvPr>
          <p:cNvSpPr>
            <a:spLocks xmlns:a="http://schemas.openxmlformats.org/drawingml/2006/main" noGrp="1"/>
          </p:cNvSpPr>
          <p:nvPr/>
        </p:nvSpPr>
        <p:spPr>
          <a:xfrm xmlns:a="http://schemas.openxmlformats.org/drawingml/2006/main">
            <a:off x="6667500" y="2905125"/>
            <a:ext cx="200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253A"/>
                </a:solidFill>
                <a:latin typeface="Arial"/>
                <a:ea typeface="Arial"/>
                <a:cs typeface="Arial"/>
              </a:defRPr>
            </a:pPr>
            <a:r>
              <a:rPr sz="1650" b="1">
                <a:solidFill>
                  <a:srgbClr val="17253A"/>
                </a:solidFill>
                <a:latin typeface="Arial"/>
                <a:ea typeface="Arial"/>
                <a:cs typeface="Arial"/>
              </a:rPr>
              <a:t>SAY + PLACE</a:t>
            </a:r>
          </a:p>
        </p:txBody>
      </p:sp>
      <p:sp>
        <p:nvSpPr>
          <p:cNvPr id="24" name="">
            <a:extLst xmlns:a="http://schemas.openxmlformats.org/drawingml/2006/main">
              <a:ext uri="{FF2B5EF4-FFF2-40B4-BE49-F238E27FC236}">
                <a16:creationId xmlns:a16="http://schemas.microsoft.com/office/drawing/2014/main" id="{BDF2F2E5-F1F1-4AC2-980B-4036AD3A3C7B}"/>
              </a:ext>
            </a:extLst>
          </p:cNvPr>
          <p:cNvSpPr>
            <a:spLocks xmlns:a="http://schemas.openxmlformats.org/drawingml/2006/main" noGrp="1"/>
          </p:cNvSpPr>
          <p:nvPr/>
        </p:nvSpPr>
        <p:spPr>
          <a:xfrm xmlns:a="http://schemas.openxmlformats.org/drawingml/2006/main">
            <a:off x="6667500" y="3524250"/>
            <a:ext cx="2000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0">
                <a:solidFill>
                  <a:srgbClr val="40516A"/>
                </a:solidFill>
                <a:latin typeface="Arial"/>
                <a:ea typeface="Arial"/>
                <a:cs typeface="Arial"/>
              </a:defRPr>
            </a:pPr>
            <a:r>
              <a:rPr sz="1500" b="0">
                <a:solidFill>
                  <a:srgbClr val="40516A"/>
                </a:solidFill>
                <a:latin typeface="Arial"/>
                <a:ea typeface="Arial"/>
                <a:cs typeface="Arial"/>
              </a:rPr>
              <a:t>Say the rule, then place one object at a time.</a:t>
            </a:r>
          </a:p>
        </p:txBody>
      </p:sp>
      <p:sp>
        <p:nvSpPr>
          <p:cNvPr id="25" name="">
            <a:extLst xmlns:a="http://schemas.openxmlformats.org/drawingml/2006/main">
              <a:ext uri="{FF2B5EF4-FFF2-40B4-BE49-F238E27FC236}">
                <a16:creationId xmlns:a16="http://schemas.microsoft.com/office/drawing/2014/main" id="{FF37DDFD-5CC7-4FC9-831A-8C48CC2AF19F}"/>
              </a:ext>
            </a:extLst>
          </p:cNvPr>
          <p:cNvSpPr>
            <a:spLocks xmlns:a="http://schemas.openxmlformats.org/drawingml/2006/main" noGrp="1"/>
          </p:cNvSpPr>
          <p:nvPr/>
        </p:nvSpPr>
        <p:spPr>
          <a:xfrm xmlns:a="http://schemas.openxmlformats.org/drawingml/2006/main">
            <a:off x="9239250" y="1571625"/>
            <a:ext cx="2571750" cy="3810000"/>
          </a:xfrm>
          <a:prstGeom xmlns:a="http://schemas.openxmlformats.org/drawingml/2006/main" prst="roundRect">
            <a:avLst>
              <a:gd name="adj" fmla="val 2963"/>
            </a:avLst>
          </a:prstGeom>
          <a:solidFill xmlns:a="http://schemas.openxmlformats.org/drawingml/2006/main">
            <a:srgbClr val="E9F4FB"/>
          </a:solidFill>
          <a:ln xmlns:a="http://schemas.openxmlformats.org/drawingml/2006/main" w="19050">
            <a:solidFill>
              <a:srgbClr val="3F7DC0"/>
            </a:solidFill>
          </a:ln>
        </p:spPr>
      </p:sp>
      <p:sp>
        <p:nvSpPr>
          <p:cNvPr id="26" name="">
            <a:extLst xmlns:a="http://schemas.openxmlformats.org/drawingml/2006/main">
              <a:ext uri="{FF2B5EF4-FFF2-40B4-BE49-F238E27FC236}">
                <a16:creationId xmlns:a16="http://schemas.microsoft.com/office/drawing/2014/main" id="{93EBB4D1-28D9-45C1-8659-799884D747F4}"/>
              </a:ext>
            </a:extLst>
          </p:cNvPr>
          <p:cNvSpPr>
            <a:spLocks xmlns:a="http://schemas.openxmlformats.org/drawingml/2006/main" noGrp="1"/>
          </p:cNvSpPr>
          <p:nvPr/>
        </p:nvSpPr>
        <p:spPr>
          <a:xfrm xmlns:a="http://schemas.openxmlformats.org/drawingml/2006/main">
            <a:off x="10144125" y="1857375"/>
            <a:ext cx="762000" cy="762000"/>
          </a:xfrm>
          <a:prstGeom xmlns:a="http://schemas.openxmlformats.org/drawingml/2006/main" prst="ellipse">
            <a:avLst/>
          </a:prstGeom>
          <a:solidFill xmlns:a="http://schemas.openxmlformats.org/drawingml/2006/main">
            <a:srgbClr val="3F7DC0"/>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1B4ADE4-76BF-4639-BE78-CE0A1D778AB8}"/>
              </a:ext>
            </a:extLst>
          </p:cNvPr>
          <p:cNvSpPr>
            <a:spLocks xmlns:a="http://schemas.openxmlformats.org/drawingml/2006/main" noGrp="1"/>
          </p:cNvSpPr>
          <p:nvPr/>
        </p:nvSpPr>
        <p:spPr>
          <a:xfrm xmlns:a="http://schemas.openxmlformats.org/drawingml/2006/main">
            <a:off x="10144125" y="1952625"/>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4</a:t>
            </a:r>
          </a:p>
        </p:txBody>
      </p:sp>
      <p:sp>
        <p:nvSpPr>
          <p:cNvPr id="28" name="">
            <a:extLst xmlns:a="http://schemas.openxmlformats.org/drawingml/2006/main">
              <a:ext uri="{FF2B5EF4-FFF2-40B4-BE49-F238E27FC236}">
                <a16:creationId xmlns:a16="http://schemas.microsoft.com/office/drawing/2014/main" id="{66E637AE-95E5-4156-BF4E-031C46B1C196}"/>
              </a:ext>
            </a:extLst>
          </p:cNvPr>
          <p:cNvSpPr>
            <a:spLocks xmlns:a="http://schemas.openxmlformats.org/drawingml/2006/main" noGrp="1"/>
          </p:cNvSpPr>
          <p:nvPr/>
        </p:nvSpPr>
        <p:spPr>
          <a:xfrm xmlns:a="http://schemas.openxmlformats.org/drawingml/2006/main">
            <a:off x="9525000" y="2905125"/>
            <a:ext cx="200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253A"/>
                </a:solidFill>
                <a:latin typeface="Arial"/>
                <a:ea typeface="Arial"/>
                <a:cs typeface="Arial"/>
              </a:defRPr>
            </a:pPr>
            <a:r>
              <a:rPr sz="1650" b="1">
                <a:solidFill>
                  <a:srgbClr val="17253A"/>
                </a:solidFill>
                <a:latin typeface="Arial"/>
                <a:ea typeface="Arial"/>
                <a:cs typeface="Arial"/>
              </a:rPr>
              <a:t>CHECK</a:t>
            </a:r>
          </a:p>
        </p:txBody>
      </p:sp>
      <p:sp>
        <p:nvSpPr>
          <p:cNvPr id="29" name="">
            <a:extLst xmlns:a="http://schemas.openxmlformats.org/drawingml/2006/main">
              <a:ext uri="{FF2B5EF4-FFF2-40B4-BE49-F238E27FC236}">
                <a16:creationId xmlns:a16="http://schemas.microsoft.com/office/drawing/2014/main" id="{89E140DC-A1B0-4530-B5D9-85BC7483FAFB}"/>
              </a:ext>
            </a:extLst>
          </p:cNvPr>
          <p:cNvSpPr>
            <a:spLocks xmlns:a="http://schemas.openxmlformats.org/drawingml/2006/main" noGrp="1"/>
          </p:cNvSpPr>
          <p:nvPr/>
        </p:nvSpPr>
        <p:spPr>
          <a:xfrm xmlns:a="http://schemas.openxmlformats.org/drawingml/2006/main">
            <a:off x="9525000" y="3524250"/>
            <a:ext cx="2000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0">
                <a:solidFill>
                  <a:srgbClr val="40516A"/>
                </a:solidFill>
                <a:latin typeface="Arial"/>
                <a:ea typeface="Arial"/>
                <a:cs typeface="Arial"/>
              </a:defRPr>
            </a:pPr>
            <a:r>
              <a:rPr sz="1500" b="0">
                <a:solidFill>
                  <a:srgbClr val="40516A"/>
                </a:solidFill>
                <a:latin typeface="Arial"/>
                <a:ea typeface="Arial"/>
                <a:cs typeface="Arial"/>
              </a:rPr>
              <a:t>Check every object against the same rule.</a:t>
            </a:r>
          </a:p>
        </p:txBody>
      </p:sp>
      <p:sp>
        <p:nvSpPr>
          <p:cNvPr id="30" name="">
            <a:extLst xmlns:a="http://schemas.openxmlformats.org/drawingml/2006/main">
              <a:ext uri="{FF2B5EF4-FFF2-40B4-BE49-F238E27FC236}">
                <a16:creationId xmlns:a16="http://schemas.microsoft.com/office/drawing/2014/main" id="{127E34DC-176F-4A47-890B-8E3D4C38993E}"/>
              </a:ext>
            </a:extLst>
          </p:cNvPr>
          <p:cNvSpPr>
            <a:spLocks xmlns:a="http://schemas.openxmlformats.org/drawingml/2006/main" noGrp="1"/>
          </p:cNvSpPr>
          <p:nvPr/>
        </p:nvSpPr>
        <p:spPr>
          <a:xfrm xmlns:a="http://schemas.openxmlformats.org/drawingml/2006/main">
            <a:off x="1809750" y="5619750"/>
            <a:ext cx="8572500" cy="5715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9050">
            <a:solidFill>
              <a:srgbClr val="D9DEE7"/>
            </a:solidFill>
          </a:ln>
        </p:spPr>
      </p:sp>
      <p:sp>
        <p:nvSpPr>
          <p:cNvPr id="31" name="">
            <a:extLst xmlns:a="http://schemas.openxmlformats.org/drawingml/2006/main">
              <a:ext uri="{FF2B5EF4-FFF2-40B4-BE49-F238E27FC236}">
                <a16:creationId xmlns:a16="http://schemas.microsoft.com/office/drawing/2014/main" id="{B0D0C78A-1E06-4A74-800B-3E4C76F61DD1}"/>
              </a:ext>
            </a:extLst>
          </p:cNvPr>
          <p:cNvSpPr>
            <a:spLocks xmlns:a="http://schemas.openxmlformats.org/drawingml/2006/main" noGrp="1"/>
          </p:cNvSpPr>
          <p:nvPr/>
        </p:nvSpPr>
        <p:spPr>
          <a:xfrm xmlns:a="http://schemas.openxmlformats.org/drawingml/2006/main">
            <a:off x="2019300" y="5734050"/>
            <a:ext cx="815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166"/>
          </a:bodyPr>
          <a:lstStyle xmlns:a="http://schemas.openxmlformats.org/drawingml/2006/main"/>
          <a:p xmlns:a="http://schemas.openxmlformats.org/drawingml/2006/main">
            <a:pPr algn="ctr">
              <a:defRPr sz="1650" b="1">
                <a:solidFill>
                  <a:srgbClr val="17253A"/>
                </a:solidFill>
                <a:latin typeface="Arial"/>
                <a:ea typeface="Arial"/>
                <a:cs typeface="Arial"/>
              </a:defRPr>
            </a:pPr>
            <a:r>
              <a:rPr sz="1650" b="1">
                <a:solidFill>
                  <a:srgbClr val="17253A"/>
                </a:solidFill>
                <a:latin typeface="Arial"/>
                <a:ea typeface="Arial"/>
                <a:cs typeface="Arial"/>
              </a:rPr>
              <a:t>Remember: one object can have many properties. The rule tells us which one matters now.</a:t>
            </a:r>
          </a:p>
        </p:txBody>
      </p:sp>
    </p:spTree>
    <p:extLst>
      <p:ext uri="{BB962C8B-B14F-4D97-AF65-F5344CB8AC3E}">
        <p14:creationId xmlns:p14="http://schemas.microsoft.com/office/powerpoint/2010/main" val="811572075"/>
      </p:ext>
    </p:extLst>
  </p:cSld>
</p:sld>
</file>

<file path=ppt/slides/slide7.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57E5459-B798-47F0-8F72-8BF5E3BD2F9F}"/>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B4232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2D2CB3-BFE8-4ABE-AC9C-D887FEC6DC3B}"/>
              </a:ext>
            </a:extLst>
          </p:cNvPr>
          <p:cNvSpPr>
            <a:spLocks xmlns:a="http://schemas.openxmlformats.org/drawingml/2006/main" noGrp="1"/>
          </p:cNvSpPr>
          <p:nvPr/>
        </p:nvSpPr>
        <p:spPr>
          <a:xfrm xmlns:a="http://schemas.openxmlformats.org/drawingml/2006/main">
            <a:off x="552450" y="285750"/>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B4232B"/>
                </a:solidFill>
                <a:latin typeface="Arial"/>
                <a:ea typeface="Arial"/>
                <a:cs typeface="Arial"/>
              </a:defRPr>
            </a:pPr>
            <a:r>
              <a:rPr sz="1050" b="1">
                <a:solidFill>
                  <a:srgbClr val="B4232B"/>
                </a:solidFill>
                <a:latin typeface="Arial"/>
                <a:ea typeface="Arial"/>
                <a:cs typeface="Arial"/>
              </a:rPr>
              <a:t>YEAR 1 MATHS  •  AUTUMN  •  WEEK 1  •  DAY 1</a:t>
            </a:r>
          </a:p>
        </p:txBody>
      </p:sp>
      <p:sp>
        <p:nvSpPr>
          <p:cNvPr id="3" name="">
            <a:extLst xmlns:a="http://schemas.openxmlformats.org/drawingml/2006/main">
              <a:ext uri="{FF2B5EF4-FFF2-40B4-BE49-F238E27FC236}">
                <a16:creationId xmlns:a16="http://schemas.microsoft.com/office/drawing/2014/main" id="{B48F9560-48E6-4BD2-B102-A2BC3E10F420}"/>
              </a:ext>
            </a:extLst>
          </p:cNvPr>
          <p:cNvSpPr>
            <a:spLocks xmlns:a="http://schemas.openxmlformats.org/drawingml/2006/main" noGrp="1"/>
          </p:cNvSpPr>
          <p:nvPr/>
        </p:nvSpPr>
        <p:spPr>
          <a:xfrm xmlns:a="http://schemas.openxmlformats.org/drawingml/2006/main">
            <a:off x="552450" y="685800"/>
            <a:ext cx="1238250" cy="323850"/>
          </a:xfrm>
          <a:prstGeom xmlns:a="http://schemas.openxmlformats.org/drawingml/2006/main" prst="roundRect">
            <a:avLst>
              <a:gd name="adj" fmla="val 23529"/>
            </a:avLst>
          </a:prstGeom>
          <a:solidFill xmlns:a="http://schemas.openxmlformats.org/drawingml/2006/main">
            <a:srgbClr val="B4232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FBA4561-1908-4A56-A93F-9DEFF5E16B01}"/>
              </a:ext>
            </a:extLst>
          </p:cNvPr>
          <p:cNvSpPr>
            <a:spLocks xmlns:a="http://schemas.openxmlformats.org/drawingml/2006/main" noGrp="1"/>
          </p:cNvSpPr>
          <p:nvPr/>
        </p:nvSpPr>
        <p:spPr>
          <a:xfrm xmlns:a="http://schemas.openxmlformats.org/drawingml/2006/main">
            <a:off x="590550" y="704850"/>
            <a:ext cx="1162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FFFFFF"/>
                </a:solidFill>
                <a:latin typeface="Arial"/>
                <a:ea typeface="Arial"/>
                <a:cs typeface="Arial"/>
              </a:defRPr>
            </a:pPr>
            <a:r>
              <a:rPr sz="750" b="1">
                <a:solidFill>
                  <a:srgbClr val="FFFFFF"/>
                </a:solidFill>
                <a:latin typeface="Arial"/>
                <a:ea typeface="Arial"/>
                <a:cs typeface="Arial"/>
              </a:rPr>
              <a:t>MODEL</a:t>
            </a:r>
          </a:p>
        </p:txBody>
      </p:sp>
      <p:sp>
        <p:nvSpPr>
          <p:cNvPr id="5" name="">
            <a:extLst xmlns:a="http://schemas.openxmlformats.org/drawingml/2006/main">
              <a:ext uri="{FF2B5EF4-FFF2-40B4-BE49-F238E27FC236}">
                <a16:creationId xmlns:a16="http://schemas.microsoft.com/office/drawing/2014/main" id="{D10097C6-567A-4C5B-B36E-C0F831DC84E3}"/>
              </a:ext>
            </a:extLst>
          </p:cNvPr>
          <p:cNvSpPr>
            <a:spLocks xmlns:a="http://schemas.openxmlformats.org/drawingml/2006/main" noGrp="1"/>
          </p:cNvSpPr>
          <p:nvPr/>
        </p:nvSpPr>
        <p:spPr>
          <a:xfrm xmlns:a="http://schemas.openxmlformats.org/drawingml/2006/main">
            <a:off x="1962150" y="590550"/>
            <a:ext cx="8496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625" b="1">
                <a:solidFill>
                  <a:srgbClr val="17253A"/>
                </a:solidFill>
                <a:latin typeface="Arial"/>
                <a:ea typeface="Arial"/>
                <a:cs typeface="Arial"/>
              </a:defRPr>
            </a:pPr>
            <a:r>
              <a:rPr sz="2625" b="1">
                <a:solidFill>
                  <a:srgbClr val="17253A"/>
                </a:solidFill>
                <a:latin typeface="Arial"/>
                <a:ea typeface="Arial"/>
                <a:cs typeface="Arial"/>
              </a:rPr>
              <a:t>Teacher model: sort by colour</a:t>
            </a:r>
          </a:p>
        </p:txBody>
      </p:sp>
      <p:sp>
        <p:nvSpPr>
          <p:cNvPr id="6" name="">
            <a:extLst xmlns:a="http://schemas.openxmlformats.org/drawingml/2006/main">
              <a:ext uri="{FF2B5EF4-FFF2-40B4-BE49-F238E27FC236}">
                <a16:creationId xmlns:a16="http://schemas.microsoft.com/office/drawing/2014/main" id="{EAEE8545-0124-4E0B-AA11-A7555DDB8B0D}"/>
              </a:ext>
            </a:extLst>
          </p:cNvPr>
          <p:cNvSpPr>
            <a:spLocks xmlns:a="http://schemas.openxmlformats.org/drawingml/2006/main" noGrp="1"/>
          </p:cNvSpPr>
          <p:nvPr/>
        </p:nvSpPr>
        <p:spPr>
          <a:xfrm xmlns:a="http://schemas.openxmlformats.org/drawingml/2006/main">
            <a:off x="10668000" y="4000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r">
              <a:defRPr sz="975" b="1">
                <a:solidFill>
                  <a:srgbClr val="6B788A"/>
                </a:solidFill>
                <a:latin typeface="Arial"/>
                <a:ea typeface="Arial"/>
                <a:cs typeface="Arial"/>
              </a:defRPr>
            </a:pPr>
            <a:r>
              <a:rPr sz="975" b="1">
                <a:solidFill>
                  <a:srgbClr val="6B788A"/>
                </a:solidFill>
                <a:latin typeface="Arial"/>
                <a:ea typeface="Arial"/>
                <a:cs typeface="Arial"/>
              </a:rPr>
              <a:t>7 / 15</a:t>
            </a:r>
          </a:p>
        </p:txBody>
      </p:sp>
      <p:sp>
        <p:nvSpPr>
          <p:cNvPr id="7" name="">
            <a:extLst xmlns:a="http://schemas.openxmlformats.org/drawingml/2006/main">
              <a:ext uri="{FF2B5EF4-FFF2-40B4-BE49-F238E27FC236}">
                <a16:creationId xmlns:a16="http://schemas.microsoft.com/office/drawing/2014/main" id="{32F531A1-949D-4183-AB45-33D796BD7B76}"/>
              </a:ext>
            </a:extLst>
          </p:cNvPr>
          <p:cNvSpPr>
            <a:spLocks xmlns:a="http://schemas.openxmlformats.org/drawingml/2006/main" noGrp="1"/>
          </p:cNvSpPr>
          <p:nvPr/>
        </p:nvSpPr>
        <p:spPr>
          <a:xfrm xmlns:a="http://schemas.openxmlformats.org/drawingml/2006/main">
            <a:off x="552450" y="6457950"/>
            <a:ext cx="11087100" cy="19050"/>
          </a:xfrm>
          <a:prstGeom xmlns:a="http://schemas.openxmlformats.org/drawingml/2006/main" prst="rect">
            <a:avLst/>
          </a:prstGeom>
          <a:solidFill xmlns:a="http://schemas.openxmlformats.org/drawingml/2006/main">
            <a:srgbClr val="D9DEE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C711F66-46ED-4B2B-98DF-BF2C18A15DAA}"/>
              </a:ext>
            </a:extLst>
          </p:cNvPr>
          <p:cNvSpPr>
            <a:spLocks xmlns:a="http://schemas.openxmlformats.org/drawingml/2006/main" noGrp="1"/>
          </p:cNvSpPr>
          <p:nvPr/>
        </p:nvSpPr>
        <p:spPr>
          <a:xfrm xmlns:a="http://schemas.openxmlformats.org/drawingml/2006/main">
            <a:off x="552450" y="6543675"/>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l">
              <a:defRPr sz="900" b="0">
                <a:solidFill>
                  <a:srgbClr val="6B788A"/>
                </a:solidFill>
                <a:latin typeface="Arial"/>
                <a:ea typeface="Arial"/>
                <a:cs typeface="Arial"/>
              </a:defRPr>
            </a:pPr>
            <a:r>
              <a:rPr sz="900" b="0">
                <a:solidFill>
                  <a:srgbClr val="6B788A"/>
                </a:solidFill>
                <a:latin typeface="Arial"/>
                <a:ea typeface="Arial"/>
                <a:cs typeface="Arial"/>
              </a:rPr>
              <a:t>BrightPath Primary Learning</a:t>
            </a:r>
          </a:p>
        </p:txBody>
      </p:sp>
      <p:sp>
        <p:nvSpPr>
          <p:cNvPr id="9" name="">
            <a:extLst xmlns:a="http://schemas.openxmlformats.org/drawingml/2006/main">
              <a:ext uri="{FF2B5EF4-FFF2-40B4-BE49-F238E27FC236}">
                <a16:creationId xmlns:a16="http://schemas.microsoft.com/office/drawing/2014/main" id="{A46E97ED-1584-45A3-8193-EBBFDA942055}"/>
              </a:ext>
            </a:extLst>
          </p:cNvPr>
          <p:cNvSpPr>
            <a:spLocks xmlns:a="http://schemas.openxmlformats.org/drawingml/2006/main" noGrp="1"/>
          </p:cNvSpPr>
          <p:nvPr/>
        </p:nvSpPr>
        <p:spPr>
          <a:xfrm xmlns:a="http://schemas.openxmlformats.org/drawingml/2006/main">
            <a:off x="8477250" y="6543675"/>
            <a:ext cx="3162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0">
                <a:solidFill>
                  <a:srgbClr val="6B788A"/>
                </a:solidFill>
                <a:latin typeface="Arial"/>
                <a:ea typeface="Arial"/>
                <a:cs typeface="Arial"/>
              </a:defRPr>
            </a:pPr>
            <a:r>
              <a:rPr sz="900" b="0">
                <a:solidFill>
                  <a:srgbClr val="6B788A"/>
                </a:solidFill>
                <a:latin typeface="Arial"/>
                <a:ea typeface="Arial"/>
                <a:cs typeface="Arial"/>
              </a:rPr>
              <a:t>Sort objects into groups</a:t>
            </a:r>
          </a:p>
        </p:txBody>
      </p:sp>
      <p:sp>
        <p:nvSpPr>
          <p:cNvPr id="10" name="">
            <a:extLst xmlns:a="http://schemas.openxmlformats.org/drawingml/2006/main">
              <a:ext uri="{FF2B5EF4-FFF2-40B4-BE49-F238E27FC236}">
                <a16:creationId xmlns:a16="http://schemas.microsoft.com/office/drawing/2014/main" id="{429F01DA-7A06-4407-8178-CFF2F18B59A2}"/>
              </a:ext>
            </a:extLst>
          </p:cNvPr>
          <p:cNvSpPr>
            <a:spLocks xmlns:a="http://schemas.openxmlformats.org/drawingml/2006/main" noGrp="1"/>
          </p:cNvSpPr>
          <p:nvPr/>
        </p:nvSpPr>
        <p:spPr>
          <a:xfrm xmlns:a="http://schemas.openxmlformats.org/drawingml/2006/main">
            <a:off x="666750" y="1524000"/>
            <a:ext cx="5095875"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57150">
            <a:solidFill>
              <a:srgbClr val="B4232B"/>
            </a:solidFill>
          </a:ln>
        </p:spPr>
      </p:sp>
      <p:sp>
        <p:nvSpPr>
          <p:cNvPr id="11" name="">
            <a:extLst xmlns:a="http://schemas.openxmlformats.org/drawingml/2006/main">
              <a:ext uri="{FF2B5EF4-FFF2-40B4-BE49-F238E27FC236}">
                <a16:creationId xmlns:a16="http://schemas.microsoft.com/office/drawing/2014/main" id="{CAAF1B66-CA6B-4759-AFF6-F27E4164715D}"/>
              </a:ext>
            </a:extLst>
          </p:cNvPr>
          <p:cNvSpPr>
            <a:spLocks xmlns:a="http://schemas.openxmlformats.org/drawingml/2006/main" noGrp="1"/>
          </p:cNvSpPr>
          <p:nvPr/>
        </p:nvSpPr>
        <p:spPr>
          <a:xfrm xmlns:a="http://schemas.openxmlformats.org/drawingml/2006/main">
            <a:off x="1066800" y="1695450"/>
            <a:ext cx="4295775" cy="361950"/>
          </a:xfrm>
          <a:prstGeom xmlns:a="http://schemas.openxmlformats.org/drawingml/2006/main" prst="roundRect">
            <a:avLst>
              <a:gd name="adj" fmla="val 21053"/>
            </a:avLst>
          </a:prstGeom>
          <a:solidFill xmlns:a="http://schemas.openxmlformats.org/drawingml/2006/main">
            <a:srgbClr val="B4232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E518DE5-3E38-4D5B-87ED-E2634A05AA60}"/>
              </a:ext>
            </a:extLst>
          </p:cNvPr>
          <p:cNvSpPr>
            <a:spLocks xmlns:a="http://schemas.openxmlformats.org/drawingml/2006/main" noGrp="1"/>
          </p:cNvSpPr>
          <p:nvPr/>
        </p:nvSpPr>
        <p:spPr>
          <a:xfrm xmlns:a="http://schemas.openxmlformats.org/drawingml/2006/main">
            <a:off x="1162050" y="1724025"/>
            <a:ext cx="41052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RED GROUP</a:t>
            </a:r>
          </a:p>
        </p:txBody>
      </p:sp>
      <p:sp>
        <p:nvSpPr>
          <p:cNvPr id="13" name="">
            <a:extLst xmlns:a="http://schemas.openxmlformats.org/drawingml/2006/main">
              <a:ext uri="{FF2B5EF4-FFF2-40B4-BE49-F238E27FC236}">
                <a16:creationId xmlns:a16="http://schemas.microsoft.com/office/drawing/2014/main" id="{3092F03B-C741-4C23-9F0F-40B73A907331}"/>
              </a:ext>
            </a:extLst>
          </p:cNvPr>
          <p:cNvSpPr>
            <a:spLocks xmlns:a="http://schemas.openxmlformats.org/drawingml/2006/main" noGrp="1"/>
          </p:cNvSpPr>
          <p:nvPr/>
        </p:nvSpPr>
        <p:spPr>
          <a:xfrm xmlns:a="http://schemas.openxmlformats.org/drawingml/2006/main">
            <a:off x="6429375" y="1524000"/>
            <a:ext cx="5095875"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57150">
            <a:solidFill>
              <a:srgbClr val="3F7DC0"/>
            </a:solidFill>
          </a:ln>
        </p:spPr>
      </p:sp>
      <p:sp>
        <p:nvSpPr>
          <p:cNvPr id="14" name="">
            <a:extLst xmlns:a="http://schemas.openxmlformats.org/drawingml/2006/main">
              <a:ext uri="{FF2B5EF4-FFF2-40B4-BE49-F238E27FC236}">
                <a16:creationId xmlns:a16="http://schemas.microsoft.com/office/drawing/2014/main" id="{507FA5CB-2EB0-42DD-82A3-FD569B248B7F}"/>
              </a:ext>
            </a:extLst>
          </p:cNvPr>
          <p:cNvSpPr>
            <a:spLocks xmlns:a="http://schemas.openxmlformats.org/drawingml/2006/main" noGrp="1"/>
          </p:cNvSpPr>
          <p:nvPr/>
        </p:nvSpPr>
        <p:spPr>
          <a:xfrm xmlns:a="http://schemas.openxmlformats.org/drawingml/2006/main">
            <a:off x="6829425" y="1695450"/>
            <a:ext cx="4295775" cy="361950"/>
          </a:xfrm>
          <a:prstGeom xmlns:a="http://schemas.openxmlformats.org/drawingml/2006/main" prst="roundRect">
            <a:avLst>
              <a:gd name="adj" fmla="val 21053"/>
            </a:avLst>
          </a:prstGeom>
          <a:solidFill xmlns:a="http://schemas.openxmlformats.org/drawingml/2006/main">
            <a:srgbClr val="3F7DC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2A8A73E-D508-46E2-B2D9-298CE6429CBF}"/>
              </a:ext>
            </a:extLst>
          </p:cNvPr>
          <p:cNvSpPr>
            <a:spLocks xmlns:a="http://schemas.openxmlformats.org/drawingml/2006/main" noGrp="1"/>
          </p:cNvSpPr>
          <p:nvPr/>
        </p:nvSpPr>
        <p:spPr>
          <a:xfrm xmlns:a="http://schemas.openxmlformats.org/drawingml/2006/main">
            <a:off x="6924675" y="1724025"/>
            <a:ext cx="41052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BLUE GROUP</a:t>
            </a:r>
          </a:p>
        </p:txBody>
      </p:sp>
      <p:sp>
        <p:nvSpPr>
          <p:cNvPr id="16" name="">
            <a:extLst xmlns:a="http://schemas.openxmlformats.org/drawingml/2006/main">
              <a:ext uri="{FF2B5EF4-FFF2-40B4-BE49-F238E27FC236}">
                <a16:creationId xmlns:a16="http://schemas.microsoft.com/office/drawing/2014/main" id="{60BCDC64-386A-41D3-BBC0-B711ABF7F18E}"/>
              </a:ext>
            </a:extLst>
          </p:cNvPr>
          <p:cNvSpPr>
            <a:spLocks xmlns:a="http://schemas.openxmlformats.org/drawingml/2006/main" noGrp="1"/>
          </p:cNvSpPr>
          <p:nvPr/>
        </p:nvSpPr>
        <p:spPr>
          <a:xfrm xmlns:a="http://schemas.openxmlformats.org/drawingml/2006/main">
            <a:off x="1666875" y="2952750"/>
            <a:ext cx="762000" cy="762000"/>
          </a:xfrm>
          <a:prstGeom xmlns:a="http://schemas.openxmlformats.org/drawingml/2006/main" prst="ellipse">
            <a:avLst/>
          </a:prstGeom>
          <a:solidFill xmlns:a="http://schemas.openxmlformats.org/drawingml/2006/main">
            <a:srgbClr val="B4232B"/>
          </a:solidFill>
          <a:ln xmlns:a="http://schemas.openxmlformats.org/drawingml/2006/main" w="19050">
            <a:solidFill>
              <a:srgbClr val="17253A"/>
            </a:solidFill>
          </a:ln>
        </p:spPr>
      </p:sp>
      <p:sp>
        <p:nvSpPr>
          <p:cNvPr id="17" name="">
            <a:extLst xmlns:a="http://schemas.openxmlformats.org/drawingml/2006/main">
              <a:ext uri="{FF2B5EF4-FFF2-40B4-BE49-F238E27FC236}">
                <a16:creationId xmlns:a16="http://schemas.microsoft.com/office/drawing/2014/main" id="{FE543A4C-2487-4674-83C3-AA3DC03959BB}"/>
              </a:ext>
            </a:extLst>
          </p:cNvPr>
          <p:cNvSpPr>
            <a:spLocks xmlns:a="http://schemas.openxmlformats.org/drawingml/2006/main" noGrp="1"/>
          </p:cNvSpPr>
          <p:nvPr/>
        </p:nvSpPr>
        <p:spPr>
          <a:xfrm xmlns:a="http://schemas.openxmlformats.org/drawingml/2006/main">
            <a:off x="3143250" y="2952750"/>
            <a:ext cx="762000" cy="762000"/>
          </a:xfrm>
          <a:prstGeom xmlns:a="http://schemas.openxmlformats.org/drawingml/2006/main" prst="rect">
            <a:avLst/>
          </a:prstGeom>
          <a:solidFill xmlns:a="http://schemas.openxmlformats.org/drawingml/2006/main">
            <a:srgbClr val="B4232B"/>
          </a:solidFill>
          <a:ln xmlns:a="http://schemas.openxmlformats.org/drawingml/2006/main" w="19050">
            <a:solidFill>
              <a:srgbClr val="17253A"/>
            </a:solidFill>
          </a:ln>
        </p:spPr>
      </p:sp>
      <p:sp>
        <p:nvSpPr>
          <p:cNvPr id="18" name="">
            <a:extLst xmlns:a="http://schemas.openxmlformats.org/drawingml/2006/main">
              <a:ext uri="{FF2B5EF4-FFF2-40B4-BE49-F238E27FC236}">
                <a16:creationId xmlns:a16="http://schemas.microsoft.com/office/drawing/2014/main" id="{34DEA32D-1754-42A2-BC59-CB84D65AEA31}"/>
              </a:ext>
            </a:extLst>
          </p:cNvPr>
          <p:cNvSpPr>
            <a:spLocks xmlns:a="http://schemas.openxmlformats.org/drawingml/2006/main" noGrp="1"/>
          </p:cNvSpPr>
          <p:nvPr/>
        </p:nvSpPr>
        <p:spPr>
          <a:xfrm xmlns:a="http://schemas.openxmlformats.org/drawingml/2006/main">
            <a:off x="4429125" y="2952750"/>
            <a:ext cx="762000" cy="762000"/>
          </a:xfrm>
          <a:prstGeom xmlns:a="http://schemas.openxmlformats.org/drawingml/2006/main" prst="triangle">
            <a:avLst/>
          </a:prstGeom>
          <a:solidFill xmlns:a="http://schemas.openxmlformats.org/drawingml/2006/main">
            <a:srgbClr val="B4232B"/>
          </a:solidFill>
          <a:ln xmlns:a="http://schemas.openxmlformats.org/drawingml/2006/main" w="19050">
            <a:solidFill>
              <a:srgbClr val="17253A"/>
            </a:solidFill>
          </a:ln>
        </p:spPr>
      </p:sp>
      <p:sp>
        <p:nvSpPr>
          <p:cNvPr id="19" name="">
            <a:extLst xmlns:a="http://schemas.openxmlformats.org/drawingml/2006/main">
              <a:ext uri="{FF2B5EF4-FFF2-40B4-BE49-F238E27FC236}">
                <a16:creationId xmlns:a16="http://schemas.microsoft.com/office/drawing/2014/main" id="{DE2BCA36-F0DE-45A8-A341-7A6FC425DC98}"/>
              </a:ext>
            </a:extLst>
          </p:cNvPr>
          <p:cNvSpPr>
            <a:spLocks xmlns:a="http://schemas.openxmlformats.org/drawingml/2006/main" noGrp="1"/>
          </p:cNvSpPr>
          <p:nvPr/>
        </p:nvSpPr>
        <p:spPr>
          <a:xfrm xmlns:a="http://schemas.openxmlformats.org/drawingml/2006/main">
            <a:off x="7429500" y="2952750"/>
            <a:ext cx="762000" cy="762000"/>
          </a:xfrm>
          <a:prstGeom xmlns:a="http://schemas.openxmlformats.org/drawingml/2006/main" prst="ellipse">
            <a:avLst/>
          </a:prstGeom>
          <a:solidFill xmlns:a="http://schemas.openxmlformats.org/drawingml/2006/main">
            <a:srgbClr val="3F7DC0"/>
          </a:solidFill>
          <a:ln xmlns:a="http://schemas.openxmlformats.org/drawingml/2006/main" w="19050">
            <a:solidFill>
              <a:srgbClr val="17253A"/>
            </a:solidFill>
          </a:ln>
        </p:spPr>
      </p:sp>
      <p:sp>
        <p:nvSpPr>
          <p:cNvPr id="20" name="">
            <a:extLst xmlns:a="http://schemas.openxmlformats.org/drawingml/2006/main">
              <a:ext uri="{FF2B5EF4-FFF2-40B4-BE49-F238E27FC236}">
                <a16:creationId xmlns:a16="http://schemas.microsoft.com/office/drawing/2014/main" id="{1542BC65-E953-4A2C-AFEF-94E41BDACFEA}"/>
              </a:ext>
            </a:extLst>
          </p:cNvPr>
          <p:cNvSpPr>
            <a:spLocks xmlns:a="http://schemas.openxmlformats.org/drawingml/2006/main" noGrp="1"/>
          </p:cNvSpPr>
          <p:nvPr/>
        </p:nvSpPr>
        <p:spPr>
          <a:xfrm xmlns:a="http://schemas.openxmlformats.org/drawingml/2006/main">
            <a:off x="8905875" y="2952750"/>
            <a:ext cx="762000" cy="762000"/>
          </a:xfrm>
          <a:prstGeom xmlns:a="http://schemas.openxmlformats.org/drawingml/2006/main" prst="rect">
            <a:avLst/>
          </a:prstGeom>
          <a:solidFill xmlns:a="http://schemas.openxmlformats.org/drawingml/2006/main">
            <a:srgbClr val="3F7DC0"/>
          </a:solidFill>
          <a:ln xmlns:a="http://schemas.openxmlformats.org/drawingml/2006/main" w="19050">
            <a:solidFill>
              <a:srgbClr val="17253A"/>
            </a:solidFill>
          </a:ln>
        </p:spPr>
      </p:sp>
      <p:sp>
        <p:nvSpPr>
          <p:cNvPr id="21" name="">
            <a:extLst xmlns:a="http://schemas.openxmlformats.org/drawingml/2006/main">
              <a:ext uri="{FF2B5EF4-FFF2-40B4-BE49-F238E27FC236}">
                <a16:creationId xmlns:a16="http://schemas.microsoft.com/office/drawing/2014/main" id="{25AD99A2-3708-4A2F-936E-12F856DD3254}"/>
              </a:ext>
            </a:extLst>
          </p:cNvPr>
          <p:cNvSpPr>
            <a:spLocks xmlns:a="http://schemas.openxmlformats.org/drawingml/2006/main" noGrp="1"/>
          </p:cNvSpPr>
          <p:nvPr/>
        </p:nvSpPr>
        <p:spPr>
          <a:xfrm xmlns:a="http://schemas.openxmlformats.org/drawingml/2006/main">
            <a:off x="10191750" y="2952750"/>
            <a:ext cx="762000" cy="762000"/>
          </a:xfrm>
          <a:prstGeom xmlns:a="http://schemas.openxmlformats.org/drawingml/2006/main" prst="triangle">
            <a:avLst/>
          </a:prstGeom>
          <a:solidFill xmlns:a="http://schemas.openxmlformats.org/drawingml/2006/main">
            <a:srgbClr val="3F7DC0"/>
          </a:solidFill>
          <a:ln xmlns:a="http://schemas.openxmlformats.org/drawingml/2006/main" w="19050">
            <a:solidFill>
              <a:srgbClr val="17253A"/>
            </a:solidFill>
          </a:ln>
        </p:spPr>
      </p:sp>
      <p:sp>
        <p:nvSpPr>
          <p:cNvPr id="22" name="">
            <a:extLst xmlns:a="http://schemas.openxmlformats.org/drawingml/2006/main">
              <a:ext uri="{FF2B5EF4-FFF2-40B4-BE49-F238E27FC236}">
                <a16:creationId xmlns:a16="http://schemas.microsoft.com/office/drawing/2014/main" id="{750E65C6-590A-4785-B559-0BDA7B118FB4}"/>
              </a:ext>
            </a:extLst>
          </p:cNvPr>
          <p:cNvSpPr>
            <a:spLocks xmlns:a="http://schemas.openxmlformats.org/drawingml/2006/main" noGrp="1"/>
          </p:cNvSpPr>
          <p:nvPr/>
        </p:nvSpPr>
        <p:spPr>
          <a:xfrm xmlns:a="http://schemas.openxmlformats.org/drawingml/2006/main">
            <a:off x="2381250" y="5772150"/>
            <a:ext cx="742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B4232B"/>
                </a:solidFill>
                <a:latin typeface="Arial"/>
                <a:ea typeface="Arial"/>
                <a:cs typeface="Arial"/>
              </a:defRPr>
            </a:pPr>
            <a:r>
              <a:rPr sz="1800" b="1">
                <a:solidFill>
                  <a:srgbClr val="B4232B"/>
                </a:solidFill>
                <a:latin typeface="Arial"/>
                <a:ea typeface="Arial"/>
                <a:cs typeface="Arial"/>
              </a:rPr>
              <a:t>My rule: I am sorting by colour.</a:t>
            </a:r>
          </a:p>
        </p:txBody>
      </p:sp>
    </p:spTree>
    <p:extLst>
      <p:ext uri="{BB962C8B-B14F-4D97-AF65-F5344CB8AC3E}">
        <p14:creationId xmlns:p14="http://schemas.microsoft.com/office/powerpoint/2010/main" val="1849030483"/>
      </p:ext>
    </p:extLst>
  </p:cSld>
</p:sld>
</file>

<file path=ppt/slides/slide8.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5EB5754-442B-4BAF-8DCD-EC2AE24E925D}"/>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B4232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880E57D-2501-489A-B262-0381C77EEBC2}"/>
              </a:ext>
            </a:extLst>
          </p:cNvPr>
          <p:cNvSpPr>
            <a:spLocks xmlns:a="http://schemas.openxmlformats.org/drawingml/2006/main" noGrp="1"/>
          </p:cNvSpPr>
          <p:nvPr/>
        </p:nvSpPr>
        <p:spPr>
          <a:xfrm xmlns:a="http://schemas.openxmlformats.org/drawingml/2006/main">
            <a:off x="552450" y="285750"/>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B4232B"/>
                </a:solidFill>
                <a:latin typeface="Arial"/>
                <a:ea typeface="Arial"/>
                <a:cs typeface="Arial"/>
              </a:defRPr>
            </a:pPr>
            <a:r>
              <a:rPr sz="1050" b="1">
                <a:solidFill>
                  <a:srgbClr val="B4232B"/>
                </a:solidFill>
                <a:latin typeface="Arial"/>
                <a:ea typeface="Arial"/>
                <a:cs typeface="Arial"/>
              </a:rPr>
              <a:t>YEAR 1 MATHS  •  AUTUMN  •  WEEK 1  •  DAY 1</a:t>
            </a:r>
          </a:p>
        </p:txBody>
      </p:sp>
      <p:sp>
        <p:nvSpPr>
          <p:cNvPr id="3" name="">
            <a:extLst xmlns:a="http://schemas.openxmlformats.org/drawingml/2006/main">
              <a:ext uri="{FF2B5EF4-FFF2-40B4-BE49-F238E27FC236}">
                <a16:creationId xmlns:a16="http://schemas.microsoft.com/office/drawing/2014/main" id="{CBFFBF0F-AABE-406B-B2AE-BBE150E149A3}"/>
              </a:ext>
            </a:extLst>
          </p:cNvPr>
          <p:cNvSpPr>
            <a:spLocks xmlns:a="http://schemas.openxmlformats.org/drawingml/2006/main" noGrp="1"/>
          </p:cNvSpPr>
          <p:nvPr/>
        </p:nvSpPr>
        <p:spPr>
          <a:xfrm xmlns:a="http://schemas.openxmlformats.org/drawingml/2006/main">
            <a:off x="552450" y="685800"/>
            <a:ext cx="1238250" cy="323850"/>
          </a:xfrm>
          <a:prstGeom xmlns:a="http://schemas.openxmlformats.org/drawingml/2006/main" prst="roundRect">
            <a:avLst>
              <a:gd name="adj" fmla="val 23529"/>
            </a:avLst>
          </a:prstGeom>
          <a:solidFill xmlns:a="http://schemas.openxmlformats.org/drawingml/2006/main">
            <a:srgbClr val="B4232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45831AB-3269-4C9A-85D3-965598DBDF4C}"/>
              </a:ext>
            </a:extLst>
          </p:cNvPr>
          <p:cNvSpPr>
            <a:spLocks xmlns:a="http://schemas.openxmlformats.org/drawingml/2006/main" noGrp="1"/>
          </p:cNvSpPr>
          <p:nvPr/>
        </p:nvSpPr>
        <p:spPr>
          <a:xfrm xmlns:a="http://schemas.openxmlformats.org/drawingml/2006/main">
            <a:off x="590550" y="704850"/>
            <a:ext cx="1162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FFFFFF"/>
                </a:solidFill>
                <a:latin typeface="Arial"/>
                <a:ea typeface="Arial"/>
                <a:cs typeface="Arial"/>
              </a:defRPr>
            </a:pPr>
            <a:r>
              <a:rPr sz="750" b="1">
                <a:solidFill>
                  <a:srgbClr val="FFFFFF"/>
                </a:solidFill>
                <a:latin typeface="Arial"/>
                <a:ea typeface="Arial"/>
                <a:cs typeface="Arial"/>
              </a:rPr>
              <a:t>GUIDED</a:t>
            </a:r>
          </a:p>
        </p:txBody>
      </p:sp>
      <p:sp>
        <p:nvSpPr>
          <p:cNvPr id="5" name="">
            <a:extLst xmlns:a="http://schemas.openxmlformats.org/drawingml/2006/main">
              <a:ext uri="{FF2B5EF4-FFF2-40B4-BE49-F238E27FC236}">
                <a16:creationId xmlns:a16="http://schemas.microsoft.com/office/drawing/2014/main" id="{7FF29BB0-D949-4E02-AD89-B48A52F55E56}"/>
              </a:ext>
            </a:extLst>
          </p:cNvPr>
          <p:cNvSpPr>
            <a:spLocks xmlns:a="http://schemas.openxmlformats.org/drawingml/2006/main" noGrp="1"/>
          </p:cNvSpPr>
          <p:nvPr/>
        </p:nvSpPr>
        <p:spPr>
          <a:xfrm xmlns:a="http://schemas.openxmlformats.org/drawingml/2006/main">
            <a:off x="1962150" y="590550"/>
            <a:ext cx="8496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625" b="1">
                <a:solidFill>
                  <a:srgbClr val="17253A"/>
                </a:solidFill>
                <a:latin typeface="Arial"/>
                <a:ea typeface="Arial"/>
                <a:cs typeface="Arial"/>
              </a:defRPr>
            </a:pPr>
            <a:r>
              <a:rPr sz="2625" b="1">
                <a:solidFill>
                  <a:srgbClr val="17253A"/>
                </a:solidFill>
                <a:latin typeface="Arial"/>
                <a:ea typeface="Arial"/>
                <a:cs typeface="Arial"/>
              </a:rPr>
              <a:t>Your turn: where should it go?</a:t>
            </a:r>
          </a:p>
        </p:txBody>
      </p:sp>
      <p:sp>
        <p:nvSpPr>
          <p:cNvPr id="6" name="">
            <a:extLst xmlns:a="http://schemas.openxmlformats.org/drawingml/2006/main">
              <a:ext uri="{FF2B5EF4-FFF2-40B4-BE49-F238E27FC236}">
                <a16:creationId xmlns:a16="http://schemas.microsoft.com/office/drawing/2014/main" id="{49D3FBD2-D5B8-4304-A873-F827EECDF3B8}"/>
              </a:ext>
            </a:extLst>
          </p:cNvPr>
          <p:cNvSpPr>
            <a:spLocks xmlns:a="http://schemas.openxmlformats.org/drawingml/2006/main" noGrp="1"/>
          </p:cNvSpPr>
          <p:nvPr/>
        </p:nvSpPr>
        <p:spPr>
          <a:xfrm xmlns:a="http://schemas.openxmlformats.org/drawingml/2006/main">
            <a:off x="10668000" y="4000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r">
              <a:defRPr sz="975" b="1">
                <a:solidFill>
                  <a:srgbClr val="6B788A"/>
                </a:solidFill>
                <a:latin typeface="Arial"/>
                <a:ea typeface="Arial"/>
                <a:cs typeface="Arial"/>
              </a:defRPr>
            </a:pPr>
            <a:r>
              <a:rPr sz="975" b="1">
                <a:solidFill>
                  <a:srgbClr val="6B788A"/>
                </a:solidFill>
                <a:latin typeface="Arial"/>
                <a:ea typeface="Arial"/>
                <a:cs typeface="Arial"/>
              </a:rPr>
              <a:t>8 / 15</a:t>
            </a:r>
          </a:p>
        </p:txBody>
      </p:sp>
      <p:sp>
        <p:nvSpPr>
          <p:cNvPr id="7" name="">
            <a:extLst xmlns:a="http://schemas.openxmlformats.org/drawingml/2006/main">
              <a:ext uri="{FF2B5EF4-FFF2-40B4-BE49-F238E27FC236}">
                <a16:creationId xmlns:a16="http://schemas.microsoft.com/office/drawing/2014/main" id="{1AFDF96D-C840-405C-875C-B50EECA3FECA}"/>
              </a:ext>
            </a:extLst>
          </p:cNvPr>
          <p:cNvSpPr>
            <a:spLocks xmlns:a="http://schemas.openxmlformats.org/drawingml/2006/main" noGrp="1"/>
          </p:cNvSpPr>
          <p:nvPr/>
        </p:nvSpPr>
        <p:spPr>
          <a:xfrm xmlns:a="http://schemas.openxmlformats.org/drawingml/2006/main">
            <a:off x="552450" y="6457950"/>
            <a:ext cx="11087100" cy="19050"/>
          </a:xfrm>
          <a:prstGeom xmlns:a="http://schemas.openxmlformats.org/drawingml/2006/main" prst="rect">
            <a:avLst/>
          </a:prstGeom>
          <a:solidFill xmlns:a="http://schemas.openxmlformats.org/drawingml/2006/main">
            <a:srgbClr val="D9DEE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481E8DB-1243-44C9-8049-26AE38EEBD03}"/>
              </a:ext>
            </a:extLst>
          </p:cNvPr>
          <p:cNvSpPr>
            <a:spLocks xmlns:a="http://schemas.openxmlformats.org/drawingml/2006/main" noGrp="1"/>
          </p:cNvSpPr>
          <p:nvPr/>
        </p:nvSpPr>
        <p:spPr>
          <a:xfrm xmlns:a="http://schemas.openxmlformats.org/drawingml/2006/main">
            <a:off x="552450" y="6543675"/>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l">
              <a:defRPr sz="900" b="0">
                <a:solidFill>
                  <a:srgbClr val="6B788A"/>
                </a:solidFill>
                <a:latin typeface="Arial"/>
                <a:ea typeface="Arial"/>
                <a:cs typeface="Arial"/>
              </a:defRPr>
            </a:pPr>
            <a:r>
              <a:rPr sz="900" b="0">
                <a:solidFill>
                  <a:srgbClr val="6B788A"/>
                </a:solidFill>
                <a:latin typeface="Arial"/>
                <a:ea typeface="Arial"/>
                <a:cs typeface="Arial"/>
              </a:rPr>
              <a:t>BrightPath Primary Learning</a:t>
            </a:r>
          </a:p>
        </p:txBody>
      </p:sp>
      <p:sp>
        <p:nvSpPr>
          <p:cNvPr id="9" name="">
            <a:extLst xmlns:a="http://schemas.openxmlformats.org/drawingml/2006/main">
              <a:ext uri="{FF2B5EF4-FFF2-40B4-BE49-F238E27FC236}">
                <a16:creationId xmlns:a16="http://schemas.microsoft.com/office/drawing/2014/main" id="{978CB9FB-4645-4E82-88BA-AF9DE522DC34}"/>
              </a:ext>
            </a:extLst>
          </p:cNvPr>
          <p:cNvSpPr>
            <a:spLocks xmlns:a="http://schemas.openxmlformats.org/drawingml/2006/main" noGrp="1"/>
          </p:cNvSpPr>
          <p:nvPr/>
        </p:nvSpPr>
        <p:spPr>
          <a:xfrm xmlns:a="http://schemas.openxmlformats.org/drawingml/2006/main">
            <a:off x="8477250" y="6543675"/>
            <a:ext cx="3162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0">
                <a:solidFill>
                  <a:srgbClr val="6B788A"/>
                </a:solidFill>
                <a:latin typeface="Arial"/>
                <a:ea typeface="Arial"/>
                <a:cs typeface="Arial"/>
              </a:defRPr>
            </a:pPr>
            <a:r>
              <a:rPr sz="900" b="0">
                <a:solidFill>
                  <a:srgbClr val="6B788A"/>
                </a:solidFill>
                <a:latin typeface="Arial"/>
                <a:ea typeface="Arial"/>
                <a:cs typeface="Arial"/>
              </a:rPr>
              <a:t>Sort objects into groups</a:t>
            </a:r>
          </a:p>
        </p:txBody>
      </p:sp>
      <p:sp>
        <p:nvSpPr>
          <p:cNvPr id="10" name="">
            <a:extLst xmlns:a="http://schemas.openxmlformats.org/drawingml/2006/main">
              <a:ext uri="{FF2B5EF4-FFF2-40B4-BE49-F238E27FC236}">
                <a16:creationId xmlns:a16="http://schemas.microsoft.com/office/drawing/2014/main" id="{5BAC6C20-4EC5-4441-B3F8-0129FCBA853C}"/>
              </a:ext>
            </a:extLst>
          </p:cNvPr>
          <p:cNvSpPr>
            <a:spLocks xmlns:a="http://schemas.openxmlformats.org/drawingml/2006/main" noGrp="1"/>
          </p:cNvSpPr>
          <p:nvPr/>
        </p:nvSpPr>
        <p:spPr>
          <a:xfrm xmlns:a="http://schemas.openxmlformats.org/drawingml/2006/main">
            <a:off x="1143000" y="2000250"/>
            <a:ext cx="3714750" cy="285750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57150">
            <a:solidFill>
              <a:srgbClr val="B4232B"/>
            </a:solidFill>
          </a:ln>
        </p:spPr>
      </p:sp>
      <p:sp>
        <p:nvSpPr>
          <p:cNvPr id="11" name="">
            <a:extLst xmlns:a="http://schemas.openxmlformats.org/drawingml/2006/main">
              <a:ext uri="{FF2B5EF4-FFF2-40B4-BE49-F238E27FC236}">
                <a16:creationId xmlns:a16="http://schemas.microsoft.com/office/drawing/2014/main" id="{71A47311-5E15-4EBA-A0C1-6E03F476CFE9}"/>
              </a:ext>
            </a:extLst>
          </p:cNvPr>
          <p:cNvSpPr>
            <a:spLocks xmlns:a="http://schemas.openxmlformats.org/drawingml/2006/main" noGrp="1"/>
          </p:cNvSpPr>
          <p:nvPr/>
        </p:nvSpPr>
        <p:spPr>
          <a:xfrm xmlns:a="http://schemas.openxmlformats.org/drawingml/2006/main">
            <a:off x="1543050" y="2171700"/>
            <a:ext cx="2914650" cy="361950"/>
          </a:xfrm>
          <a:prstGeom xmlns:a="http://schemas.openxmlformats.org/drawingml/2006/main" prst="roundRect">
            <a:avLst>
              <a:gd name="adj" fmla="val 21053"/>
            </a:avLst>
          </a:prstGeom>
          <a:solidFill xmlns:a="http://schemas.openxmlformats.org/drawingml/2006/main">
            <a:srgbClr val="B4232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C0EADA6-78C6-4631-8EDD-CFE3F01839D5}"/>
              </a:ext>
            </a:extLst>
          </p:cNvPr>
          <p:cNvSpPr>
            <a:spLocks xmlns:a="http://schemas.openxmlformats.org/drawingml/2006/main" noGrp="1"/>
          </p:cNvSpPr>
          <p:nvPr/>
        </p:nvSpPr>
        <p:spPr>
          <a:xfrm xmlns:a="http://schemas.openxmlformats.org/drawingml/2006/main">
            <a:off x="1638300" y="2200275"/>
            <a:ext cx="2724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RED</a:t>
            </a:r>
          </a:p>
        </p:txBody>
      </p:sp>
      <p:sp>
        <p:nvSpPr>
          <p:cNvPr id="13" name="">
            <a:extLst xmlns:a="http://schemas.openxmlformats.org/drawingml/2006/main">
              <a:ext uri="{FF2B5EF4-FFF2-40B4-BE49-F238E27FC236}">
                <a16:creationId xmlns:a16="http://schemas.microsoft.com/office/drawing/2014/main" id="{E08B91A0-3323-4863-BB4F-FB7AE3741F70}"/>
              </a:ext>
            </a:extLst>
          </p:cNvPr>
          <p:cNvSpPr>
            <a:spLocks xmlns:a="http://schemas.openxmlformats.org/drawingml/2006/main" noGrp="1"/>
          </p:cNvSpPr>
          <p:nvPr/>
        </p:nvSpPr>
        <p:spPr>
          <a:xfrm xmlns:a="http://schemas.openxmlformats.org/drawingml/2006/main">
            <a:off x="7334250" y="2000250"/>
            <a:ext cx="3714750" cy="285750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57150">
            <a:solidFill>
              <a:srgbClr val="3F7DC0"/>
            </a:solidFill>
          </a:ln>
        </p:spPr>
      </p:sp>
      <p:sp>
        <p:nvSpPr>
          <p:cNvPr id="14" name="">
            <a:extLst xmlns:a="http://schemas.openxmlformats.org/drawingml/2006/main">
              <a:ext uri="{FF2B5EF4-FFF2-40B4-BE49-F238E27FC236}">
                <a16:creationId xmlns:a16="http://schemas.microsoft.com/office/drawing/2014/main" id="{E7666823-50E1-4DB4-91B0-2DCFE4CCC2F9}"/>
              </a:ext>
            </a:extLst>
          </p:cNvPr>
          <p:cNvSpPr>
            <a:spLocks xmlns:a="http://schemas.openxmlformats.org/drawingml/2006/main" noGrp="1"/>
          </p:cNvSpPr>
          <p:nvPr/>
        </p:nvSpPr>
        <p:spPr>
          <a:xfrm xmlns:a="http://schemas.openxmlformats.org/drawingml/2006/main">
            <a:off x="7734300" y="2171700"/>
            <a:ext cx="2914650" cy="361950"/>
          </a:xfrm>
          <a:prstGeom xmlns:a="http://schemas.openxmlformats.org/drawingml/2006/main" prst="roundRect">
            <a:avLst>
              <a:gd name="adj" fmla="val 21053"/>
            </a:avLst>
          </a:prstGeom>
          <a:solidFill xmlns:a="http://schemas.openxmlformats.org/drawingml/2006/main">
            <a:srgbClr val="3F7DC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39F3D3F-49F6-4225-AE06-F664CB6DE2B4}"/>
              </a:ext>
            </a:extLst>
          </p:cNvPr>
          <p:cNvSpPr>
            <a:spLocks xmlns:a="http://schemas.openxmlformats.org/drawingml/2006/main" noGrp="1"/>
          </p:cNvSpPr>
          <p:nvPr/>
        </p:nvSpPr>
        <p:spPr>
          <a:xfrm xmlns:a="http://schemas.openxmlformats.org/drawingml/2006/main">
            <a:off x="7829550" y="2200275"/>
            <a:ext cx="2724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BLUE</a:t>
            </a:r>
          </a:p>
        </p:txBody>
      </p:sp>
      <p:sp>
        <p:nvSpPr>
          <p:cNvPr id="16" name="">
            <a:extLst xmlns:a="http://schemas.openxmlformats.org/drawingml/2006/main">
              <a:ext uri="{FF2B5EF4-FFF2-40B4-BE49-F238E27FC236}">
                <a16:creationId xmlns:a16="http://schemas.microsoft.com/office/drawing/2014/main" id="{3E1440EE-519E-4324-84FE-CA8C930C0E4C}"/>
              </a:ext>
            </a:extLst>
          </p:cNvPr>
          <p:cNvSpPr>
            <a:spLocks xmlns:a="http://schemas.openxmlformats.org/drawingml/2006/main" noGrp="1"/>
          </p:cNvSpPr>
          <p:nvPr/>
        </p:nvSpPr>
        <p:spPr>
          <a:xfrm xmlns:a="http://schemas.openxmlformats.org/drawingml/2006/main">
            <a:off x="5619750" y="2857500"/>
            <a:ext cx="952500" cy="952500"/>
          </a:xfrm>
          <a:prstGeom xmlns:a="http://schemas.openxmlformats.org/drawingml/2006/main" prst="triangle">
            <a:avLst/>
          </a:prstGeom>
          <a:solidFill xmlns:a="http://schemas.openxmlformats.org/drawingml/2006/main">
            <a:srgbClr val="3F7DC0"/>
          </a:solidFill>
          <a:ln xmlns:a="http://schemas.openxmlformats.org/drawingml/2006/main" w="19050">
            <a:solidFill>
              <a:srgbClr val="17253A"/>
            </a:solidFill>
          </a:ln>
        </p:spPr>
      </p:sp>
      <p:sp>
        <p:nvSpPr>
          <p:cNvPr id="17" name="">
            <a:extLst xmlns:a="http://schemas.openxmlformats.org/drawingml/2006/main">
              <a:ext uri="{FF2B5EF4-FFF2-40B4-BE49-F238E27FC236}">
                <a16:creationId xmlns:a16="http://schemas.microsoft.com/office/drawing/2014/main" id="{8220913C-7561-4497-9678-8451BB105953}"/>
              </a:ext>
            </a:extLst>
          </p:cNvPr>
          <p:cNvSpPr>
            <a:spLocks xmlns:a="http://schemas.openxmlformats.org/drawingml/2006/main" noGrp="1"/>
          </p:cNvSpPr>
          <p:nvPr/>
        </p:nvSpPr>
        <p:spPr>
          <a:xfrm xmlns:a="http://schemas.openxmlformats.org/drawingml/2006/main">
            <a:off x="1905000" y="1285875"/>
            <a:ext cx="838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17253A"/>
                </a:solidFill>
                <a:latin typeface="Arial"/>
                <a:ea typeface="Arial"/>
                <a:cs typeface="Arial"/>
              </a:defRPr>
            </a:pPr>
            <a:r>
              <a:rPr sz="2100" b="1">
                <a:solidFill>
                  <a:srgbClr val="17253A"/>
                </a:solidFill>
                <a:latin typeface="Arial"/>
                <a:ea typeface="Arial"/>
                <a:cs typeface="Arial"/>
              </a:rPr>
              <a:t>Point, then explain using the sentence stem.</a:t>
            </a:r>
          </a:p>
        </p:txBody>
      </p:sp>
      <p:sp>
        <p:nvSpPr>
          <p:cNvPr id="18" name="">
            <a:extLst xmlns:a="http://schemas.openxmlformats.org/drawingml/2006/main">
              <a:ext uri="{FF2B5EF4-FFF2-40B4-BE49-F238E27FC236}">
                <a16:creationId xmlns:a16="http://schemas.microsoft.com/office/drawing/2014/main" id="{9A02D3F6-C7EF-4B82-BAC7-83F4362D3EF4}"/>
              </a:ext>
            </a:extLst>
          </p:cNvPr>
          <p:cNvSpPr>
            <a:spLocks xmlns:a="http://schemas.openxmlformats.org/drawingml/2006/main" noGrp="1"/>
          </p:cNvSpPr>
          <p:nvPr/>
        </p:nvSpPr>
        <p:spPr>
          <a:xfrm xmlns:a="http://schemas.openxmlformats.org/drawingml/2006/main">
            <a:off x="2095500" y="5286375"/>
            <a:ext cx="800100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9050">
            <a:solidFill>
              <a:srgbClr val="D9DEE7"/>
            </a:solidFill>
          </a:ln>
        </p:spPr>
      </p:sp>
      <p:sp>
        <p:nvSpPr>
          <p:cNvPr id="19" name="">
            <a:extLst xmlns:a="http://schemas.openxmlformats.org/drawingml/2006/main">
              <a:ext uri="{FF2B5EF4-FFF2-40B4-BE49-F238E27FC236}">
                <a16:creationId xmlns:a16="http://schemas.microsoft.com/office/drawing/2014/main" id="{CA0449B7-060C-4E6D-BC5E-0E6A049391CD}"/>
              </a:ext>
            </a:extLst>
          </p:cNvPr>
          <p:cNvSpPr>
            <a:spLocks xmlns:a="http://schemas.openxmlformats.org/drawingml/2006/main" noGrp="1"/>
          </p:cNvSpPr>
          <p:nvPr/>
        </p:nvSpPr>
        <p:spPr>
          <a:xfrm xmlns:a="http://schemas.openxmlformats.org/drawingml/2006/main">
            <a:off x="2305050" y="5400675"/>
            <a:ext cx="7581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253A"/>
                </a:solidFill>
                <a:latin typeface="Arial"/>
                <a:ea typeface="Arial"/>
                <a:cs typeface="Arial"/>
              </a:defRPr>
            </a:pPr>
            <a:r>
              <a:rPr sz="1650" b="1">
                <a:solidFill>
                  <a:srgbClr val="17253A"/>
                </a:solidFill>
                <a:latin typeface="Arial"/>
                <a:ea typeface="Arial"/>
                <a:cs typeface="Arial"/>
              </a:rPr>
              <a:t>The blue triangle belongs in the ______ group because ______.</a:t>
            </a:r>
          </a:p>
        </p:txBody>
      </p:sp>
    </p:spTree>
    <p:extLst>
      <p:ext uri="{BB962C8B-B14F-4D97-AF65-F5344CB8AC3E}">
        <p14:creationId xmlns:p14="http://schemas.microsoft.com/office/powerpoint/2010/main" val="452978056"/>
      </p:ext>
    </p:extLst>
  </p:cSld>
</p:sld>
</file>

<file path=ppt/slides/slide9.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D75F6269-538D-4554-A2EF-11E950FDBDC1}"/>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B4232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6E29DEE-76FC-4DA4-92A1-9C8D26CE32B5}"/>
              </a:ext>
            </a:extLst>
          </p:cNvPr>
          <p:cNvSpPr>
            <a:spLocks xmlns:a="http://schemas.openxmlformats.org/drawingml/2006/main" noGrp="1"/>
          </p:cNvSpPr>
          <p:nvPr/>
        </p:nvSpPr>
        <p:spPr>
          <a:xfrm xmlns:a="http://schemas.openxmlformats.org/drawingml/2006/main">
            <a:off x="552450" y="285750"/>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B4232B"/>
                </a:solidFill>
                <a:latin typeface="Arial"/>
                <a:ea typeface="Arial"/>
                <a:cs typeface="Arial"/>
              </a:defRPr>
            </a:pPr>
            <a:r>
              <a:rPr sz="1050" b="1">
                <a:solidFill>
                  <a:srgbClr val="B4232B"/>
                </a:solidFill>
                <a:latin typeface="Arial"/>
                <a:ea typeface="Arial"/>
                <a:cs typeface="Arial"/>
              </a:rPr>
              <a:t>YEAR 1 MATHS  •  AUTUMN  •  WEEK 1  •  DAY 1</a:t>
            </a:r>
          </a:p>
        </p:txBody>
      </p:sp>
      <p:sp>
        <p:nvSpPr>
          <p:cNvPr id="3" name="">
            <a:extLst xmlns:a="http://schemas.openxmlformats.org/drawingml/2006/main">
              <a:ext uri="{FF2B5EF4-FFF2-40B4-BE49-F238E27FC236}">
                <a16:creationId xmlns:a16="http://schemas.microsoft.com/office/drawing/2014/main" id="{ACD6ED41-488A-44E1-8FC0-D118958E393D}"/>
              </a:ext>
            </a:extLst>
          </p:cNvPr>
          <p:cNvSpPr>
            <a:spLocks xmlns:a="http://schemas.openxmlformats.org/drawingml/2006/main" noGrp="1"/>
          </p:cNvSpPr>
          <p:nvPr/>
        </p:nvSpPr>
        <p:spPr>
          <a:xfrm xmlns:a="http://schemas.openxmlformats.org/drawingml/2006/main">
            <a:off x="552450" y="685800"/>
            <a:ext cx="1238250" cy="323850"/>
          </a:xfrm>
          <a:prstGeom xmlns:a="http://schemas.openxmlformats.org/drawingml/2006/main" prst="roundRect">
            <a:avLst>
              <a:gd name="adj" fmla="val 23529"/>
            </a:avLst>
          </a:prstGeom>
          <a:solidFill xmlns:a="http://schemas.openxmlformats.org/drawingml/2006/main">
            <a:srgbClr val="B4232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0284CB8-D7F9-43F9-A596-B5F5358F870F}"/>
              </a:ext>
            </a:extLst>
          </p:cNvPr>
          <p:cNvSpPr>
            <a:spLocks xmlns:a="http://schemas.openxmlformats.org/drawingml/2006/main" noGrp="1"/>
          </p:cNvSpPr>
          <p:nvPr/>
        </p:nvSpPr>
        <p:spPr>
          <a:xfrm xmlns:a="http://schemas.openxmlformats.org/drawingml/2006/main">
            <a:off x="590550" y="704850"/>
            <a:ext cx="1162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FFFFFF"/>
                </a:solidFill>
                <a:latin typeface="Arial"/>
                <a:ea typeface="Arial"/>
                <a:cs typeface="Arial"/>
              </a:defRPr>
            </a:pPr>
            <a:r>
              <a:rPr sz="750" b="1">
                <a:solidFill>
                  <a:srgbClr val="FFFFFF"/>
                </a:solidFill>
                <a:latin typeface="Arial"/>
                <a:ea typeface="Arial"/>
                <a:cs typeface="Arial"/>
              </a:rPr>
              <a:t>MISCONCEPTION</a:t>
            </a:r>
          </a:p>
        </p:txBody>
      </p:sp>
      <p:sp>
        <p:nvSpPr>
          <p:cNvPr id="5" name="">
            <a:extLst xmlns:a="http://schemas.openxmlformats.org/drawingml/2006/main">
              <a:ext uri="{FF2B5EF4-FFF2-40B4-BE49-F238E27FC236}">
                <a16:creationId xmlns:a16="http://schemas.microsoft.com/office/drawing/2014/main" id="{76C6967D-DE53-4F82-973B-F48DEA5BEAC0}"/>
              </a:ext>
            </a:extLst>
          </p:cNvPr>
          <p:cNvSpPr>
            <a:spLocks xmlns:a="http://schemas.openxmlformats.org/drawingml/2006/main" noGrp="1"/>
          </p:cNvSpPr>
          <p:nvPr/>
        </p:nvSpPr>
        <p:spPr>
          <a:xfrm xmlns:a="http://schemas.openxmlformats.org/drawingml/2006/main">
            <a:off x="1962150" y="590550"/>
            <a:ext cx="8496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625" b="1">
                <a:solidFill>
                  <a:srgbClr val="17253A"/>
                </a:solidFill>
                <a:latin typeface="Arial"/>
                <a:ea typeface="Arial"/>
                <a:cs typeface="Arial"/>
              </a:defRPr>
            </a:pPr>
            <a:r>
              <a:rPr sz="2625" b="1">
                <a:solidFill>
                  <a:srgbClr val="17253A"/>
                </a:solidFill>
                <a:latin typeface="Arial"/>
                <a:ea typeface="Arial"/>
                <a:cs typeface="Arial"/>
              </a:rPr>
              <a:t>Pip’s mistake: spot it and explain</a:t>
            </a:r>
          </a:p>
        </p:txBody>
      </p:sp>
      <p:sp>
        <p:nvSpPr>
          <p:cNvPr id="6" name="">
            <a:extLst xmlns:a="http://schemas.openxmlformats.org/drawingml/2006/main">
              <a:ext uri="{FF2B5EF4-FFF2-40B4-BE49-F238E27FC236}">
                <a16:creationId xmlns:a16="http://schemas.microsoft.com/office/drawing/2014/main" id="{79DD8484-4ECB-453A-8379-B7ABF05459A9}"/>
              </a:ext>
            </a:extLst>
          </p:cNvPr>
          <p:cNvSpPr>
            <a:spLocks xmlns:a="http://schemas.openxmlformats.org/drawingml/2006/main" noGrp="1"/>
          </p:cNvSpPr>
          <p:nvPr/>
        </p:nvSpPr>
        <p:spPr>
          <a:xfrm xmlns:a="http://schemas.openxmlformats.org/drawingml/2006/main">
            <a:off x="10668000" y="4000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r">
              <a:defRPr sz="975" b="1">
                <a:solidFill>
                  <a:srgbClr val="6B788A"/>
                </a:solidFill>
                <a:latin typeface="Arial"/>
                <a:ea typeface="Arial"/>
                <a:cs typeface="Arial"/>
              </a:defRPr>
            </a:pPr>
            <a:r>
              <a:rPr sz="975" b="1">
                <a:solidFill>
                  <a:srgbClr val="6B788A"/>
                </a:solidFill>
                <a:latin typeface="Arial"/>
                <a:ea typeface="Arial"/>
                <a:cs typeface="Arial"/>
              </a:rPr>
              <a:t>9 / 15</a:t>
            </a:r>
          </a:p>
        </p:txBody>
      </p:sp>
      <p:sp>
        <p:nvSpPr>
          <p:cNvPr id="7" name="">
            <a:extLst xmlns:a="http://schemas.openxmlformats.org/drawingml/2006/main">
              <a:ext uri="{FF2B5EF4-FFF2-40B4-BE49-F238E27FC236}">
                <a16:creationId xmlns:a16="http://schemas.microsoft.com/office/drawing/2014/main" id="{BD89FEE3-58CB-4C69-AF80-3F42F2618BF6}"/>
              </a:ext>
            </a:extLst>
          </p:cNvPr>
          <p:cNvSpPr>
            <a:spLocks xmlns:a="http://schemas.openxmlformats.org/drawingml/2006/main" noGrp="1"/>
          </p:cNvSpPr>
          <p:nvPr/>
        </p:nvSpPr>
        <p:spPr>
          <a:xfrm xmlns:a="http://schemas.openxmlformats.org/drawingml/2006/main">
            <a:off x="552450" y="6457950"/>
            <a:ext cx="11087100" cy="19050"/>
          </a:xfrm>
          <a:prstGeom xmlns:a="http://schemas.openxmlformats.org/drawingml/2006/main" prst="rect">
            <a:avLst/>
          </a:prstGeom>
          <a:solidFill xmlns:a="http://schemas.openxmlformats.org/drawingml/2006/main">
            <a:srgbClr val="D9DEE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949C97F-0A09-4992-B92A-B419FEA537D7}"/>
              </a:ext>
            </a:extLst>
          </p:cNvPr>
          <p:cNvSpPr>
            <a:spLocks xmlns:a="http://schemas.openxmlformats.org/drawingml/2006/main" noGrp="1"/>
          </p:cNvSpPr>
          <p:nvPr/>
        </p:nvSpPr>
        <p:spPr>
          <a:xfrm xmlns:a="http://schemas.openxmlformats.org/drawingml/2006/main">
            <a:off x="552450" y="6543675"/>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l">
              <a:defRPr sz="900" b="0">
                <a:solidFill>
                  <a:srgbClr val="6B788A"/>
                </a:solidFill>
                <a:latin typeface="Arial"/>
                <a:ea typeface="Arial"/>
                <a:cs typeface="Arial"/>
              </a:defRPr>
            </a:pPr>
            <a:r>
              <a:rPr sz="900" b="0">
                <a:solidFill>
                  <a:srgbClr val="6B788A"/>
                </a:solidFill>
                <a:latin typeface="Arial"/>
                <a:ea typeface="Arial"/>
                <a:cs typeface="Arial"/>
              </a:rPr>
              <a:t>BrightPath Primary Learning</a:t>
            </a:r>
          </a:p>
        </p:txBody>
      </p:sp>
      <p:sp>
        <p:nvSpPr>
          <p:cNvPr id="9" name="">
            <a:extLst xmlns:a="http://schemas.openxmlformats.org/drawingml/2006/main">
              <a:ext uri="{FF2B5EF4-FFF2-40B4-BE49-F238E27FC236}">
                <a16:creationId xmlns:a16="http://schemas.microsoft.com/office/drawing/2014/main" id="{46E6598C-9D2B-45F8-B6E4-EAB57EA81B96}"/>
              </a:ext>
            </a:extLst>
          </p:cNvPr>
          <p:cNvSpPr>
            <a:spLocks xmlns:a="http://schemas.openxmlformats.org/drawingml/2006/main" noGrp="1"/>
          </p:cNvSpPr>
          <p:nvPr/>
        </p:nvSpPr>
        <p:spPr>
          <a:xfrm xmlns:a="http://schemas.openxmlformats.org/drawingml/2006/main">
            <a:off x="8477250" y="6543675"/>
            <a:ext cx="3162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0">
                <a:solidFill>
                  <a:srgbClr val="6B788A"/>
                </a:solidFill>
                <a:latin typeface="Arial"/>
                <a:ea typeface="Arial"/>
                <a:cs typeface="Arial"/>
              </a:defRPr>
            </a:pPr>
            <a:r>
              <a:rPr sz="900" b="0">
                <a:solidFill>
                  <a:srgbClr val="6B788A"/>
                </a:solidFill>
                <a:latin typeface="Arial"/>
                <a:ea typeface="Arial"/>
                <a:cs typeface="Arial"/>
              </a:rPr>
              <a:t>Sort objects into groups</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a2576776f484485d"/>
          <a:stretch xmlns:a="http://schemas.openxmlformats.org/drawingml/2006/main"/>
        </p:blipFill>
        <p:spPr>
          <a:xfrm xmlns:a="http://schemas.openxmlformats.org/drawingml/2006/main">
            <a:off x="523875" y="2247900"/>
            <a:ext cx="2571750" cy="30861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1F86A625-4C69-43E6-AEBE-B4787FB35614}"/>
              </a:ext>
            </a:extLst>
          </p:cNvPr>
          <p:cNvSpPr>
            <a:spLocks xmlns:a="http://schemas.openxmlformats.org/drawingml/2006/main" noGrp="1"/>
          </p:cNvSpPr>
          <p:nvPr/>
        </p:nvSpPr>
        <p:spPr>
          <a:xfrm xmlns:a="http://schemas.openxmlformats.org/drawingml/2006/main">
            <a:off x="2571750" y="1333500"/>
            <a:ext cx="7905750" cy="7239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19050">
            <a:solidFill>
              <a:srgbClr val="D9DEE7"/>
            </a:solidFill>
          </a:ln>
        </p:spPr>
      </p:sp>
      <p:sp>
        <p:nvSpPr>
          <p:cNvPr id="12" name="">
            <a:extLst xmlns:a="http://schemas.openxmlformats.org/drawingml/2006/main">
              <a:ext uri="{FF2B5EF4-FFF2-40B4-BE49-F238E27FC236}">
                <a16:creationId xmlns:a16="http://schemas.microsoft.com/office/drawing/2014/main" id="{178AD18E-3A70-4A15-819A-2B25F7A31D9D}"/>
              </a:ext>
            </a:extLst>
          </p:cNvPr>
          <p:cNvSpPr>
            <a:spLocks xmlns:a="http://schemas.openxmlformats.org/drawingml/2006/main" noGrp="1"/>
          </p:cNvSpPr>
          <p:nvPr/>
        </p:nvSpPr>
        <p:spPr>
          <a:xfrm xmlns:a="http://schemas.openxmlformats.org/drawingml/2006/main">
            <a:off x="2781300" y="1447800"/>
            <a:ext cx="7486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253A"/>
                </a:solidFill>
                <a:latin typeface="Arial"/>
                <a:ea typeface="Arial"/>
                <a:cs typeface="Arial"/>
              </a:defRPr>
            </a:pPr>
            <a:r>
              <a:rPr sz="1650" b="1">
                <a:solidFill>
                  <a:srgbClr val="17253A"/>
                </a:solidFill>
                <a:latin typeface="Arial"/>
                <a:ea typeface="Arial"/>
                <a:cs typeface="Arial"/>
              </a:rPr>
              <a:t>I sorted by colour. I think every object is correct!</a:t>
            </a:r>
          </a:p>
        </p:txBody>
      </p:sp>
      <p:sp>
        <p:nvSpPr>
          <p:cNvPr id="13" name="">
            <a:extLst xmlns:a="http://schemas.openxmlformats.org/drawingml/2006/main">
              <a:ext uri="{FF2B5EF4-FFF2-40B4-BE49-F238E27FC236}">
                <a16:creationId xmlns:a16="http://schemas.microsoft.com/office/drawing/2014/main" id="{D800FCAF-498A-4200-8F9B-BFFA4AEA10F3}"/>
              </a:ext>
            </a:extLst>
          </p:cNvPr>
          <p:cNvSpPr>
            <a:spLocks xmlns:a="http://schemas.openxmlformats.org/drawingml/2006/main" noGrp="1"/>
          </p:cNvSpPr>
          <p:nvPr/>
        </p:nvSpPr>
        <p:spPr>
          <a:xfrm xmlns:a="http://schemas.openxmlformats.org/drawingml/2006/main">
            <a:off x="3429000" y="2381250"/>
            <a:ext cx="3333750" cy="2571750"/>
          </a:xfrm>
          <a:prstGeom xmlns:a="http://schemas.openxmlformats.org/drawingml/2006/main" prst="roundRect">
            <a:avLst>
              <a:gd name="adj" fmla="val 2963"/>
            </a:avLst>
          </a:prstGeom>
          <a:solidFill xmlns:a="http://schemas.openxmlformats.org/drawingml/2006/main">
            <a:srgbClr val="FFFFFF"/>
          </a:solidFill>
          <a:ln xmlns:a="http://schemas.openxmlformats.org/drawingml/2006/main" w="57150">
            <a:solidFill>
              <a:srgbClr val="B4232B"/>
            </a:solidFill>
          </a:ln>
        </p:spPr>
      </p:sp>
      <p:sp>
        <p:nvSpPr>
          <p:cNvPr id="14" name="">
            <a:extLst xmlns:a="http://schemas.openxmlformats.org/drawingml/2006/main">
              <a:ext uri="{FF2B5EF4-FFF2-40B4-BE49-F238E27FC236}">
                <a16:creationId xmlns:a16="http://schemas.microsoft.com/office/drawing/2014/main" id="{5084EB80-2B68-4392-B596-03DC776C9976}"/>
              </a:ext>
            </a:extLst>
          </p:cNvPr>
          <p:cNvSpPr>
            <a:spLocks xmlns:a="http://schemas.openxmlformats.org/drawingml/2006/main" noGrp="1"/>
          </p:cNvSpPr>
          <p:nvPr/>
        </p:nvSpPr>
        <p:spPr>
          <a:xfrm xmlns:a="http://schemas.openxmlformats.org/drawingml/2006/main">
            <a:off x="3829050" y="2552700"/>
            <a:ext cx="2533650" cy="361950"/>
          </a:xfrm>
          <a:prstGeom xmlns:a="http://schemas.openxmlformats.org/drawingml/2006/main" prst="roundRect">
            <a:avLst>
              <a:gd name="adj" fmla="val 21053"/>
            </a:avLst>
          </a:prstGeom>
          <a:solidFill xmlns:a="http://schemas.openxmlformats.org/drawingml/2006/main">
            <a:srgbClr val="B4232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01C265E-1733-4221-A37D-C553A572CC00}"/>
              </a:ext>
            </a:extLst>
          </p:cNvPr>
          <p:cNvSpPr>
            <a:spLocks xmlns:a="http://schemas.openxmlformats.org/drawingml/2006/main" noGrp="1"/>
          </p:cNvSpPr>
          <p:nvPr/>
        </p:nvSpPr>
        <p:spPr>
          <a:xfrm xmlns:a="http://schemas.openxmlformats.org/drawingml/2006/main">
            <a:off x="3924300" y="2581275"/>
            <a:ext cx="2343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RED</a:t>
            </a:r>
          </a:p>
        </p:txBody>
      </p:sp>
      <p:sp>
        <p:nvSpPr>
          <p:cNvPr id="16" name="">
            <a:extLst xmlns:a="http://schemas.openxmlformats.org/drawingml/2006/main">
              <a:ext uri="{FF2B5EF4-FFF2-40B4-BE49-F238E27FC236}">
                <a16:creationId xmlns:a16="http://schemas.microsoft.com/office/drawing/2014/main" id="{51F59528-6C77-4378-8300-D29F1D9B8FAD}"/>
              </a:ext>
            </a:extLst>
          </p:cNvPr>
          <p:cNvSpPr>
            <a:spLocks xmlns:a="http://schemas.openxmlformats.org/drawingml/2006/main" noGrp="1"/>
          </p:cNvSpPr>
          <p:nvPr/>
        </p:nvSpPr>
        <p:spPr>
          <a:xfrm xmlns:a="http://schemas.openxmlformats.org/drawingml/2006/main">
            <a:off x="7620000" y="2381250"/>
            <a:ext cx="3333750" cy="2571750"/>
          </a:xfrm>
          <a:prstGeom xmlns:a="http://schemas.openxmlformats.org/drawingml/2006/main" prst="roundRect">
            <a:avLst>
              <a:gd name="adj" fmla="val 2963"/>
            </a:avLst>
          </a:prstGeom>
          <a:solidFill xmlns:a="http://schemas.openxmlformats.org/drawingml/2006/main">
            <a:srgbClr val="FFFFFF"/>
          </a:solidFill>
          <a:ln xmlns:a="http://schemas.openxmlformats.org/drawingml/2006/main" w="57150">
            <a:solidFill>
              <a:srgbClr val="3F7DC0"/>
            </a:solidFill>
          </a:ln>
        </p:spPr>
      </p:sp>
      <p:sp>
        <p:nvSpPr>
          <p:cNvPr id="17" name="">
            <a:extLst xmlns:a="http://schemas.openxmlformats.org/drawingml/2006/main">
              <a:ext uri="{FF2B5EF4-FFF2-40B4-BE49-F238E27FC236}">
                <a16:creationId xmlns:a16="http://schemas.microsoft.com/office/drawing/2014/main" id="{D807BF61-C65D-4FE1-8D7C-AB8EB10487C3}"/>
              </a:ext>
            </a:extLst>
          </p:cNvPr>
          <p:cNvSpPr>
            <a:spLocks xmlns:a="http://schemas.openxmlformats.org/drawingml/2006/main" noGrp="1"/>
          </p:cNvSpPr>
          <p:nvPr/>
        </p:nvSpPr>
        <p:spPr>
          <a:xfrm xmlns:a="http://schemas.openxmlformats.org/drawingml/2006/main">
            <a:off x="8020050" y="2552700"/>
            <a:ext cx="2533650" cy="361950"/>
          </a:xfrm>
          <a:prstGeom xmlns:a="http://schemas.openxmlformats.org/drawingml/2006/main" prst="roundRect">
            <a:avLst>
              <a:gd name="adj" fmla="val 21053"/>
            </a:avLst>
          </a:prstGeom>
          <a:solidFill xmlns:a="http://schemas.openxmlformats.org/drawingml/2006/main">
            <a:srgbClr val="3F7DC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F586625-3F45-4DDC-A058-ECF00FF0DFB9}"/>
              </a:ext>
            </a:extLst>
          </p:cNvPr>
          <p:cNvSpPr>
            <a:spLocks xmlns:a="http://schemas.openxmlformats.org/drawingml/2006/main" noGrp="1"/>
          </p:cNvSpPr>
          <p:nvPr/>
        </p:nvSpPr>
        <p:spPr>
          <a:xfrm xmlns:a="http://schemas.openxmlformats.org/drawingml/2006/main">
            <a:off x="8115300" y="2581275"/>
            <a:ext cx="2343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BLUE</a:t>
            </a:r>
          </a:p>
        </p:txBody>
      </p:sp>
      <p:sp>
        <p:nvSpPr>
          <p:cNvPr id="19" name="">
            <a:extLst xmlns:a="http://schemas.openxmlformats.org/drawingml/2006/main">
              <a:ext uri="{FF2B5EF4-FFF2-40B4-BE49-F238E27FC236}">
                <a16:creationId xmlns:a16="http://schemas.microsoft.com/office/drawing/2014/main" id="{00656DAA-79AA-4057-A589-3FB4AE0F9F88}"/>
              </a:ext>
            </a:extLst>
          </p:cNvPr>
          <p:cNvSpPr>
            <a:spLocks xmlns:a="http://schemas.openxmlformats.org/drawingml/2006/main" noGrp="1"/>
          </p:cNvSpPr>
          <p:nvPr/>
        </p:nvSpPr>
        <p:spPr>
          <a:xfrm xmlns:a="http://schemas.openxmlformats.org/drawingml/2006/main">
            <a:off x="4000500" y="3429000"/>
            <a:ext cx="628650" cy="628650"/>
          </a:xfrm>
          <a:prstGeom xmlns:a="http://schemas.openxmlformats.org/drawingml/2006/main" prst="ellipse">
            <a:avLst/>
          </a:prstGeom>
          <a:solidFill xmlns:a="http://schemas.openxmlformats.org/drawingml/2006/main">
            <a:srgbClr val="B4232B"/>
          </a:solidFill>
          <a:ln xmlns:a="http://schemas.openxmlformats.org/drawingml/2006/main" w="19050">
            <a:solidFill>
              <a:srgbClr val="17253A"/>
            </a:solidFill>
          </a:ln>
        </p:spPr>
      </p:sp>
      <p:sp>
        <p:nvSpPr>
          <p:cNvPr id="20" name="">
            <a:extLst xmlns:a="http://schemas.openxmlformats.org/drawingml/2006/main">
              <a:ext uri="{FF2B5EF4-FFF2-40B4-BE49-F238E27FC236}">
                <a16:creationId xmlns:a16="http://schemas.microsoft.com/office/drawing/2014/main" id="{D9D0D880-65D4-49C3-B373-044F67A0B9F6}"/>
              </a:ext>
            </a:extLst>
          </p:cNvPr>
          <p:cNvSpPr>
            <a:spLocks xmlns:a="http://schemas.openxmlformats.org/drawingml/2006/main" noGrp="1"/>
          </p:cNvSpPr>
          <p:nvPr/>
        </p:nvSpPr>
        <p:spPr>
          <a:xfrm xmlns:a="http://schemas.openxmlformats.org/drawingml/2006/main">
            <a:off x="4905375" y="3429000"/>
            <a:ext cx="628650" cy="628650"/>
          </a:xfrm>
          <a:prstGeom xmlns:a="http://schemas.openxmlformats.org/drawingml/2006/main" prst="rect">
            <a:avLst/>
          </a:prstGeom>
          <a:solidFill xmlns:a="http://schemas.openxmlformats.org/drawingml/2006/main">
            <a:srgbClr val="B4232B"/>
          </a:solidFill>
          <a:ln xmlns:a="http://schemas.openxmlformats.org/drawingml/2006/main" w="19050">
            <a:solidFill>
              <a:srgbClr val="17253A"/>
            </a:solidFill>
          </a:ln>
        </p:spPr>
      </p:sp>
      <p:sp>
        <p:nvSpPr>
          <p:cNvPr id="21" name="">
            <a:extLst xmlns:a="http://schemas.openxmlformats.org/drawingml/2006/main">
              <a:ext uri="{FF2B5EF4-FFF2-40B4-BE49-F238E27FC236}">
                <a16:creationId xmlns:a16="http://schemas.microsoft.com/office/drawing/2014/main" id="{B4130C84-872C-4EA3-A7E4-EC49BA2BC3D9}"/>
              </a:ext>
            </a:extLst>
          </p:cNvPr>
          <p:cNvSpPr>
            <a:spLocks xmlns:a="http://schemas.openxmlformats.org/drawingml/2006/main" noGrp="1"/>
          </p:cNvSpPr>
          <p:nvPr/>
        </p:nvSpPr>
        <p:spPr>
          <a:xfrm xmlns:a="http://schemas.openxmlformats.org/drawingml/2006/main">
            <a:off x="5829300" y="3429000"/>
            <a:ext cx="628650" cy="628650"/>
          </a:xfrm>
          <a:prstGeom xmlns:a="http://schemas.openxmlformats.org/drawingml/2006/main" prst="triangle">
            <a:avLst/>
          </a:prstGeom>
          <a:solidFill xmlns:a="http://schemas.openxmlformats.org/drawingml/2006/main">
            <a:srgbClr val="3F7DC0"/>
          </a:solidFill>
          <a:ln xmlns:a="http://schemas.openxmlformats.org/drawingml/2006/main" w="19050">
            <a:solidFill>
              <a:srgbClr val="17253A"/>
            </a:solidFill>
          </a:ln>
        </p:spPr>
      </p:sp>
      <p:sp>
        <p:nvSpPr>
          <p:cNvPr id="22" name="">
            <a:extLst xmlns:a="http://schemas.openxmlformats.org/drawingml/2006/main">
              <a:ext uri="{FF2B5EF4-FFF2-40B4-BE49-F238E27FC236}">
                <a16:creationId xmlns:a16="http://schemas.microsoft.com/office/drawing/2014/main" id="{5C38EE7C-24FE-4C3F-8553-E077F4BDBDE1}"/>
              </a:ext>
            </a:extLst>
          </p:cNvPr>
          <p:cNvSpPr>
            <a:spLocks xmlns:a="http://schemas.openxmlformats.org/drawingml/2006/main" noGrp="1"/>
          </p:cNvSpPr>
          <p:nvPr/>
        </p:nvSpPr>
        <p:spPr>
          <a:xfrm xmlns:a="http://schemas.openxmlformats.org/drawingml/2006/main">
            <a:off x="8143875" y="3429000"/>
            <a:ext cx="628650" cy="628650"/>
          </a:xfrm>
          <a:prstGeom xmlns:a="http://schemas.openxmlformats.org/drawingml/2006/main" prst="ellipse">
            <a:avLst/>
          </a:prstGeom>
          <a:solidFill xmlns:a="http://schemas.openxmlformats.org/drawingml/2006/main">
            <a:srgbClr val="3F7DC0"/>
          </a:solidFill>
          <a:ln xmlns:a="http://schemas.openxmlformats.org/drawingml/2006/main" w="19050">
            <a:solidFill>
              <a:srgbClr val="17253A"/>
            </a:solidFill>
          </a:ln>
        </p:spPr>
      </p:sp>
      <p:sp>
        <p:nvSpPr>
          <p:cNvPr id="23" name="">
            <a:extLst xmlns:a="http://schemas.openxmlformats.org/drawingml/2006/main">
              <a:ext uri="{FF2B5EF4-FFF2-40B4-BE49-F238E27FC236}">
                <a16:creationId xmlns:a16="http://schemas.microsoft.com/office/drawing/2014/main" id="{386CE25F-165D-4C10-A197-EC97BE06D684}"/>
              </a:ext>
            </a:extLst>
          </p:cNvPr>
          <p:cNvSpPr>
            <a:spLocks xmlns:a="http://schemas.openxmlformats.org/drawingml/2006/main" noGrp="1"/>
          </p:cNvSpPr>
          <p:nvPr/>
        </p:nvSpPr>
        <p:spPr>
          <a:xfrm xmlns:a="http://schemas.openxmlformats.org/drawingml/2006/main">
            <a:off x="9048750" y="3429000"/>
            <a:ext cx="628650" cy="628650"/>
          </a:xfrm>
          <a:prstGeom xmlns:a="http://schemas.openxmlformats.org/drawingml/2006/main" prst="rect">
            <a:avLst/>
          </a:prstGeom>
          <a:solidFill xmlns:a="http://schemas.openxmlformats.org/drawingml/2006/main">
            <a:srgbClr val="3F7DC0"/>
          </a:solidFill>
          <a:ln xmlns:a="http://schemas.openxmlformats.org/drawingml/2006/main" w="19050">
            <a:solidFill>
              <a:srgbClr val="17253A"/>
            </a:solidFill>
          </a:ln>
        </p:spPr>
      </p:sp>
      <p:sp>
        <p:nvSpPr>
          <p:cNvPr id="24" name="">
            <a:extLst xmlns:a="http://schemas.openxmlformats.org/drawingml/2006/main">
              <a:ext uri="{FF2B5EF4-FFF2-40B4-BE49-F238E27FC236}">
                <a16:creationId xmlns:a16="http://schemas.microsoft.com/office/drawing/2014/main" id="{9AD2340A-C8C7-4DBE-A8D9-74AACF8D1E94}"/>
              </a:ext>
            </a:extLst>
          </p:cNvPr>
          <p:cNvSpPr>
            <a:spLocks xmlns:a="http://schemas.openxmlformats.org/drawingml/2006/main" noGrp="1"/>
          </p:cNvSpPr>
          <p:nvPr/>
        </p:nvSpPr>
        <p:spPr>
          <a:xfrm xmlns:a="http://schemas.openxmlformats.org/drawingml/2006/main">
            <a:off x="3333750" y="5381625"/>
            <a:ext cx="7620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B4232B"/>
                </a:solidFill>
                <a:latin typeface="Arial"/>
                <a:ea typeface="Arial"/>
                <a:cs typeface="Arial"/>
              </a:defRPr>
            </a:pPr>
            <a:r>
              <a:rPr sz="1725" b="1">
                <a:solidFill>
                  <a:srgbClr val="B4232B"/>
                </a:solidFill>
                <a:latin typeface="Arial"/>
                <a:ea typeface="Arial"/>
                <a:cs typeface="Arial"/>
              </a:rPr>
              <a:t>Think → point to the mistake → tell your partner why</a:t>
            </a:r>
          </a:p>
        </p:txBody>
      </p:sp>
    </p:spTree>
    <p:extLst>
      <p:ext uri="{BB962C8B-B14F-4D97-AF65-F5344CB8AC3E}">
        <p14:creationId xmlns:p14="http://schemas.microsoft.com/office/powerpoint/2010/main" val="1836644146"/>
      </p:ext>
    </p:extLst>
  </p:cSld>
</p:sld>
</file>

<file path=ppt/slides/slide10.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162E7E0-AD40-4A5B-93E4-84020FA52DEA}"/>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B4232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69EA695-50A7-4A79-8BC2-DB7CD9B1E805}"/>
              </a:ext>
            </a:extLst>
          </p:cNvPr>
          <p:cNvSpPr>
            <a:spLocks xmlns:a="http://schemas.openxmlformats.org/drawingml/2006/main" noGrp="1"/>
          </p:cNvSpPr>
          <p:nvPr/>
        </p:nvSpPr>
        <p:spPr>
          <a:xfrm xmlns:a="http://schemas.openxmlformats.org/drawingml/2006/main">
            <a:off x="552450" y="285750"/>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B4232B"/>
                </a:solidFill>
                <a:latin typeface="Arial"/>
                <a:ea typeface="Arial"/>
                <a:cs typeface="Arial"/>
              </a:defRPr>
            </a:pPr>
            <a:r>
              <a:rPr sz="1050" b="1">
                <a:solidFill>
                  <a:srgbClr val="B4232B"/>
                </a:solidFill>
                <a:latin typeface="Arial"/>
                <a:ea typeface="Arial"/>
                <a:cs typeface="Arial"/>
              </a:rPr>
              <a:t>YEAR 1 MATHS  •  AUTUMN  •  WEEK 1  •  DAY 1</a:t>
            </a:r>
          </a:p>
        </p:txBody>
      </p:sp>
      <p:sp>
        <p:nvSpPr>
          <p:cNvPr id="3" name="">
            <a:extLst xmlns:a="http://schemas.openxmlformats.org/drawingml/2006/main">
              <a:ext uri="{FF2B5EF4-FFF2-40B4-BE49-F238E27FC236}">
                <a16:creationId xmlns:a16="http://schemas.microsoft.com/office/drawing/2014/main" id="{276CFAC3-328A-47EB-B83E-DF87AA9942FA}"/>
              </a:ext>
            </a:extLst>
          </p:cNvPr>
          <p:cNvSpPr>
            <a:spLocks xmlns:a="http://schemas.openxmlformats.org/drawingml/2006/main" noGrp="1"/>
          </p:cNvSpPr>
          <p:nvPr/>
        </p:nvSpPr>
        <p:spPr>
          <a:xfrm xmlns:a="http://schemas.openxmlformats.org/drawingml/2006/main">
            <a:off x="552450" y="685800"/>
            <a:ext cx="1238250" cy="323850"/>
          </a:xfrm>
          <a:prstGeom xmlns:a="http://schemas.openxmlformats.org/drawingml/2006/main" prst="roundRect">
            <a:avLst>
              <a:gd name="adj" fmla="val 23529"/>
            </a:avLst>
          </a:prstGeom>
          <a:solidFill xmlns:a="http://schemas.openxmlformats.org/drawingml/2006/main">
            <a:srgbClr val="B4232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BDBD727-8075-4750-AD29-9BE55DD5FBFA}"/>
              </a:ext>
            </a:extLst>
          </p:cNvPr>
          <p:cNvSpPr>
            <a:spLocks xmlns:a="http://schemas.openxmlformats.org/drawingml/2006/main" noGrp="1"/>
          </p:cNvSpPr>
          <p:nvPr/>
        </p:nvSpPr>
        <p:spPr>
          <a:xfrm xmlns:a="http://schemas.openxmlformats.org/drawingml/2006/main">
            <a:off x="590550" y="704850"/>
            <a:ext cx="1162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FFFFFF"/>
                </a:solidFill>
                <a:latin typeface="Arial"/>
                <a:ea typeface="Arial"/>
                <a:cs typeface="Arial"/>
              </a:defRPr>
            </a:pPr>
            <a:r>
              <a:rPr sz="750" b="1">
                <a:solidFill>
                  <a:srgbClr val="FFFFFF"/>
                </a:solidFill>
                <a:latin typeface="Arial"/>
                <a:ea typeface="Arial"/>
                <a:cs typeface="Arial"/>
              </a:rPr>
              <a:t>REVEAL</a:t>
            </a:r>
          </a:p>
        </p:txBody>
      </p:sp>
      <p:sp>
        <p:nvSpPr>
          <p:cNvPr id="5" name="">
            <a:extLst xmlns:a="http://schemas.openxmlformats.org/drawingml/2006/main">
              <a:ext uri="{FF2B5EF4-FFF2-40B4-BE49-F238E27FC236}">
                <a16:creationId xmlns:a16="http://schemas.microsoft.com/office/drawing/2014/main" id="{A0A3B0D0-9622-494E-A1AD-4B7C00804CA1}"/>
              </a:ext>
            </a:extLst>
          </p:cNvPr>
          <p:cNvSpPr>
            <a:spLocks xmlns:a="http://schemas.openxmlformats.org/drawingml/2006/main" noGrp="1"/>
          </p:cNvSpPr>
          <p:nvPr/>
        </p:nvSpPr>
        <p:spPr>
          <a:xfrm xmlns:a="http://schemas.openxmlformats.org/drawingml/2006/main">
            <a:off x="1962150" y="590550"/>
            <a:ext cx="8496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625" b="1">
                <a:solidFill>
                  <a:srgbClr val="17253A"/>
                </a:solidFill>
                <a:latin typeface="Arial"/>
                <a:ea typeface="Arial"/>
                <a:cs typeface="Arial"/>
              </a:defRPr>
            </a:pPr>
            <a:r>
              <a:rPr sz="2625" b="1">
                <a:solidFill>
                  <a:srgbClr val="17253A"/>
                </a:solidFill>
                <a:latin typeface="Arial"/>
                <a:ea typeface="Arial"/>
                <a:cs typeface="Arial"/>
              </a:rPr>
              <a:t>Correct Pip’s sort</a:t>
            </a:r>
          </a:p>
        </p:txBody>
      </p:sp>
      <p:sp>
        <p:nvSpPr>
          <p:cNvPr id="6" name="">
            <a:extLst xmlns:a="http://schemas.openxmlformats.org/drawingml/2006/main">
              <a:ext uri="{FF2B5EF4-FFF2-40B4-BE49-F238E27FC236}">
                <a16:creationId xmlns:a16="http://schemas.microsoft.com/office/drawing/2014/main" id="{6EB05A98-3623-40B3-A2BE-7CDC175B0E5F}"/>
              </a:ext>
            </a:extLst>
          </p:cNvPr>
          <p:cNvSpPr>
            <a:spLocks xmlns:a="http://schemas.openxmlformats.org/drawingml/2006/main" noGrp="1"/>
          </p:cNvSpPr>
          <p:nvPr/>
        </p:nvSpPr>
        <p:spPr>
          <a:xfrm xmlns:a="http://schemas.openxmlformats.org/drawingml/2006/main">
            <a:off x="10668000" y="4000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r">
              <a:defRPr sz="975" b="1">
                <a:solidFill>
                  <a:srgbClr val="6B788A"/>
                </a:solidFill>
                <a:latin typeface="Arial"/>
                <a:ea typeface="Arial"/>
                <a:cs typeface="Arial"/>
              </a:defRPr>
            </a:pPr>
            <a:r>
              <a:rPr sz="975" b="1">
                <a:solidFill>
                  <a:srgbClr val="6B788A"/>
                </a:solidFill>
                <a:latin typeface="Arial"/>
                <a:ea typeface="Arial"/>
                <a:cs typeface="Arial"/>
              </a:rPr>
              <a:t>10 / 15</a:t>
            </a:r>
          </a:p>
        </p:txBody>
      </p:sp>
      <p:sp>
        <p:nvSpPr>
          <p:cNvPr id="7" name="">
            <a:extLst xmlns:a="http://schemas.openxmlformats.org/drawingml/2006/main">
              <a:ext uri="{FF2B5EF4-FFF2-40B4-BE49-F238E27FC236}">
                <a16:creationId xmlns:a16="http://schemas.microsoft.com/office/drawing/2014/main" id="{5D2DBFA2-2A3A-429C-AB54-5637CA5022FB}"/>
              </a:ext>
            </a:extLst>
          </p:cNvPr>
          <p:cNvSpPr>
            <a:spLocks xmlns:a="http://schemas.openxmlformats.org/drawingml/2006/main" noGrp="1"/>
          </p:cNvSpPr>
          <p:nvPr/>
        </p:nvSpPr>
        <p:spPr>
          <a:xfrm xmlns:a="http://schemas.openxmlformats.org/drawingml/2006/main">
            <a:off x="552450" y="6457950"/>
            <a:ext cx="11087100" cy="19050"/>
          </a:xfrm>
          <a:prstGeom xmlns:a="http://schemas.openxmlformats.org/drawingml/2006/main" prst="rect">
            <a:avLst/>
          </a:prstGeom>
          <a:solidFill xmlns:a="http://schemas.openxmlformats.org/drawingml/2006/main">
            <a:srgbClr val="D9DEE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2A83F87-05CA-4DBF-A460-3905D85BA48F}"/>
              </a:ext>
            </a:extLst>
          </p:cNvPr>
          <p:cNvSpPr>
            <a:spLocks xmlns:a="http://schemas.openxmlformats.org/drawingml/2006/main" noGrp="1"/>
          </p:cNvSpPr>
          <p:nvPr/>
        </p:nvSpPr>
        <p:spPr>
          <a:xfrm xmlns:a="http://schemas.openxmlformats.org/drawingml/2006/main">
            <a:off x="552450" y="6543675"/>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l">
              <a:defRPr sz="900" b="0">
                <a:solidFill>
                  <a:srgbClr val="6B788A"/>
                </a:solidFill>
                <a:latin typeface="Arial"/>
                <a:ea typeface="Arial"/>
                <a:cs typeface="Arial"/>
              </a:defRPr>
            </a:pPr>
            <a:r>
              <a:rPr sz="900" b="0">
                <a:solidFill>
                  <a:srgbClr val="6B788A"/>
                </a:solidFill>
                <a:latin typeface="Arial"/>
                <a:ea typeface="Arial"/>
                <a:cs typeface="Arial"/>
              </a:rPr>
              <a:t>BrightPath Primary Learning</a:t>
            </a:r>
          </a:p>
        </p:txBody>
      </p:sp>
      <p:sp>
        <p:nvSpPr>
          <p:cNvPr id="9" name="">
            <a:extLst xmlns:a="http://schemas.openxmlformats.org/drawingml/2006/main">
              <a:ext uri="{FF2B5EF4-FFF2-40B4-BE49-F238E27FC236}">
                <a16:creationId xmlns:a16="http://schemas.microsoft.com/office/drawing/2014/main" id="{3FA2BB8B-22A2-432E-99B8-90F403B0AA24}"/>
              </a:ext>
            </a:extLst>
          </p:cNvPr>
          <p:cNvSpPr>
            <a:spLocks xmlns:a="http://schemas.openxmlformats.org/drawingml/2006/main" noGrp="1"/>
          </p:cNvSpPr>
          <p:nvPr/>
        </p:nvSpPr>
        <p:spPr>
          <a:xfrm xmlns:a="http://schemas.openxmlformats.org/drawingml/2006/main">
            <a:off x="8477250" y="6543675"/>
            <a:ext cx="3162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0">
                <a:solidFill>
                  <a:srgbClr val="6B788A"/>
                </a:solidFill>
                <a:latin typeface="Arial"/>
                <a:ea typeface="Arial"/>
                <a:cs typeface="Arial"/>
              </a:defRPr>
            </a:pPr>
            <a:r>
              <a:rPr sz="900" b="0">
                <a:solidFill>
                  <a:srgbClr val="6B788A"/>
                </a:solidFill>
                <a:latin typeface="Arial"/>
                <a:ea typeface="Arial"/>
                <a:cs typeface="Arial"/>
              </a:rPr>
              <a:t>Sort objects into groups</a:t>
            </a:r>
          </a:p>
        </p:txBody>
      </p:sp>
      <p:sp>
        <p:nvSpPr>
          <p:cNvPr id="10" name="">
            <a:extLst xmlns:a="http://schemas.openxmlformats.org/drawingml/2006/main">
              <a:ext uri="{FF2B5EF4-FFF2-40B4-BE49-F238E27FC236}">
                <a16:creationId xmlns:a16="http://schemas.microsoft.com/office/drawing/2014/main" id="{CEB09062-7461-4B51-A41E-3416E2CAF849}"/>
              </a:ext>
            </a:extLst>
          </p:cNvPr>
          <p:cNvSpPr>
            <a:spLocks xmlns:a="http://schemas.openxmlformats.org/drawingml/2006/main" noGrp="1"/>
          </p:cNvSpPr>
          <p:nvPr/>
        </p:nvSpPr>
        <p:spPr>
          <a:xfrm xmlns:a="http://schemas.openxmlformats.org/drawingml/2006/main">
            <a:off x="952500" y="1714500"/>
            <a:ext cx="4476750"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57150">
            <a:solidFill>
              <a:srgbClr val="B4232B"/>
            </a:solidFill>
          </a:ln>
        </p:spPr>
      </p:sp>
      <p:sp>
        <p:nvSpPr>
          <p:cNvPr id="11" name="">
            <a:extLst xmlns:a="http://schemas.openxmlformats.org/drawingml/2006/main">
              <a:ext uri="{FF2B5EF4-FFF2-40B4-BE49-F238E27FC236}">
                <a16:creationId xmlns:a16="http://schemas.microsoft.com/office/drawing/2014/main" id="{A833B109-A8C0-4D36-9B56-7EE29CEEA90F}"/>
              </a:ext>
            </a:extLst>
          </p:cNvPr>
          <p:cNvSpPr>
            <a:spLocks xmlns:a="http://schemas.openxmlformats.org/drawingml/2006/main" noGrp="1"/>
          </p:cNvSpPr>
          <p:nvPr/>
        </p:nvSpPr>
        <p:spPr>
          <a:xfrm xmlns:a="http://schemas.openxmlformats.org/drawingml/2006/main">
            <a:off x="1352550" y="1885950"/>
            <a:ext cx="3676650" cy="361950"/>
          </a:xfrm>
          <a:prstGeom xmlns:a="http://schemas.openxmlformats.org/drawingml/2006/main" prst="roundRect">
            <a:avLst>
              <a:gd name="adj" fmla="val 21053"/>
            </a:avLst>
          </a:prstGeom>
          <a:solidFill xmlns:a="http://schemas.openxmlformats.org/drawingml/2006/main">
            <a:srgbClr val="B4232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28CD75C-E7A0-44FE-8798-1881052A24D4}"/>
              </a:ext>
            </a:extLst>
          </p:cNvPr>
          <p:cNvSpPr>
            <a:spLocks xmlns:a="http://schemas.openxmlformats.org/drawingml/2006/main" noGrp="1"/>
          </p:cNvSpPr>
          <p:nvPr/>
        </p:nvSpPr>
        <p:spPr>
          <a:xfrm xmlns:a="http://schemas.openxmlformats.org/drawingml/2006/main">
            <a:off x="1447800" y="1914525"/>
            <a:ext cx="3486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RED</a:t>
            </a:r>
          </a:p>
        </p:txBody>
      </p:sp>
      <p:sp>
        <p:nvSpPr>
          <p:cNvPr id="13" name="">
            <a:extLst xmlns:a="http://schemas.openxmlformats.org/drawingml/2006/main">
              <a:ext uri="{FF2B5EF4-FFF2-40B4-BE49-F238E27FC236}">
                <a16:creationId xmlns:a16="http://schemas.microsoft.com/office/drawing/2014/main" id="{8905379D-7DCB-4B3E-8554-05BA737C15CD}"/>
              </a:ext>
            </a:extLst>
          </p:cNvPr>
          <p:cNvSpPr>
            <a:spLocks xmlns:a="http://schemas.openxmlformats.org/drawingml/2006/main" noGrp="1"/>
          </p:cNvSpPr>
          <p:nvPr/>
        </p:nvSpPr>
        <p:spPr>
          <a:xfrm xmlns:a="http://schemas.openxmlformats.org/drawingml/2006/main">
            <a:off x="6762750" y="1714500"/>
            <a:ext cx="4476750"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57150">
            <a:solidFill>
              <a:srgbClr val="3F7DC0"/>
            </a:solidFill>
          </a:ln>
        </p:spPr>
      </p:sp>
      <p:sp>
        <p:nvSpPr>
          <p:cNvPr id="14" name="">
            <a:extLst xmlns:a="http://schemas.openxmlformats.org/drawingml/2006/main">
              <a:ext uri="{FF2B5EF4-FFF2-40B4-BE49-F238E27FC236}">
                <a16:creationId xmlns:a16="http://schemas.microsoft.com/office/drawing/2014/main" id="{692B5796-DD33-4C39-B7A7-3E550406D605}"/>
              </a:ext>
            </a:extLst>
          </p:cNvPr>
          <p:cNvSpPr>
            <a:spLocks xmlns:a="http://schemas.openxmlformats.org/drawingml/2006/main" noGrp="1"/>
          </p:cNvSpPr>
          <p:nvPr/>
        </p:nvSpPr>
        <p:spPr>
          <a:xfrm xmlns:a="http://schemas.openxmlformats.org/drawingml/2006/main">
            <a:off x="7162800" y="1885950"/>
            <a:ext cx="3676650" cy="361950"/>
          </a:xfrm>
          <a:prstGeom xmlns:a="http://schemas.openxmlformats.org/drawingml/2006/main" prst="roundRect">
            <a:avLst>
              <a:gd name="adj" fmla="val 21053"/>
            </a:avLst>
          </a:prstGeom>
          <a:solidFill xmlns:a="http://schemas.openxmlformats.org/drawingml/2006/main">
            <a:srgbClr val="3F7DC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A06E8AF-38AB-4E7F-93EE-A97816385568}"/>
              </a:ext>
            </a:extLst>
          </p:cNvPr>
          <p:cNvSpPr>
            <a:spLocks xmlns:a="http://schemas.openxmlformats.org/drawingml/2006/main" noGrp="1"/>
          </p:cNvSpPr>
          <p:nvPr/>
        </p:nvSpPr>
        <p:spPr>
          <a:xfrm xmlns:a="http://schemas.openxmlformats.org/drawingml/2006/main">
            <a:off x="7258050" y="1914525"/>
            <a:ext cx="3486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BLUE</a:t>
            </a:r>
          </a:p>
        </p:txBody>
      </p:sp>
      <p:sp>
        <p:nvSpPr>
          <p:cNvPr id="16" name="">
            <a:extLst xmlns:a="http://schemas.openxmlformats.org/drawingml/2006/main">
              <a:ext uri="{FF2B5EF4-FFF2-40B4-BE49-F238E27FC236}">
                <a16:creationId xmlns:a16="http://schemas.microsoft.com/office/drawing/2014/main" id="{8FDB3B27-275D-49F3-8F78-A03868CC12A0}"/>
              </a:ext>
            </a:extLst>
          </p:cNvPr>
          <p:cNvSpPr>
            <a:spLocks xmlns:a="http://schemas.openxmlformats.org/drawingml/2006/main" noGrp="1"/>
          </p:cNvSpPr>
          <p:nvPr/>
        </p:nvSpPr>
        <p:spPr>
          <a:xfrm xmlns:a="http://schemas.openxmlformats.org/drawingml/2006/main">
            <a:off x="2000250" y="3048000"/>
            <a:ext cx="704850" cy="704850"/>
          </a:xfrm>
          <a:prstGeom xmlns:a="http://schemas.openxmlformats.org/drawingml/2006/main" prst="ellipse">
            <a:avLst/>
          </a:prstGeom>
          <a:solidFill xmlns:a="http://schemas.openxmlformats.org/drawingml/2006/main">
            <a:srgbClr val="B4232B"/>
          </a:solidFill>
          <a:ln xmlns:a="http://schemas.openxmlformats.org/drawingml/2006/main" w="19050">
            <a:solidFill>
              <a:srgbClr val="17253A"/>
            </a:solidFill>
          </a:ln>
        </p:spPr>
      </p:sp>
      <p:sp>
        <p:nvSpPr>
          <p:cNvPr id="17" name="">
            <a:extLst xmlns:a="http://schemas.openxmlformats.org/drawingml/2006/main">
              <a:ext uri="{FF2B5EF4-FFF2-40B4-BE49-F238E27FC236}">
                <a16:creationId xmlns:a16="http://schemas.microsoft.com/office/drawing/2014/main" id="{9310FC06-7899-442B-B527-B8A250AFF96B}"/>
              </a:ext>
            </a:extLst>
          </p:cNvPr>
          <p:cNvSpPr>
            <a:spLocks xmlns:a="http://schemas.openxmlformats.org/drawingml/2006/main" noGrp="1"/>
          </p:cNvSpPr>
          <p:nvPr/>
        </p:nvSpPr>
        <p:spPr>
          <a:xfrm xmlns:a="http://schemas.openxmlformats.org/drawingml/2006/main">
            <a:off x="3524250" y="3048000"/>
            <a:ext cx="704850" cy="704850"/>
          </a:xfrm>
          <a:prstGeom xmlns:a="http://schemas.openxmlformats.org/drawingml/2006/main" prst="rect">
            <a:avLst/>
          </a:prstGeom>
          <a:solidFill xmlns:a="http://schemas.openxmlformats.org/drawingml/2006/main">
            <a:srgbClr val="B4232B"/>
          </a:solidFill>
          <a:ln xmlns:a="http://schemas.openxmlformats.org/drawingml/2006/main" w="19050">
            <a:solidFill>
              <a:srgbClr val="17253A"/>
            </a:solidFill>
          </a:ln>
        </p:spPr>
      </p:sp>
      <p:sp>
        <p:nvSpPr>
          <p:cNvPr id="18" name="">
            <a:extLst xmlns:a="http://schemas.openxmlformats.org/drawingml/2006/main">
              <a:ext uri="{FF2B5EF4-FFF2-40B4-BE49-F238E27FC236}">
                <a16:creationId xmlns:a16="http://schemas.microsoft.com/office/drawing/2014/main" id="{08A3E536-D308-4D6C-AE74-762A0AD198CF}"/>
              </a:ext>
            </a:extLst>
          </p:cNvPr>
          <p:cNvSpPr>
            <a:spLocks xmlns:a="http://schemas.openxmlformats.org/drawingml/2006/main" noGrp="1"/>
          </p:cNvSpPr>
          <p:nvPr/>
        </p:nvSpPr>
        <p:spPr>
          <a:xfrm xmlns:a="http://schemas.openxmlformats.org/drawingml/2006/main">
            <a:off x="7620000" y="3048000"/>
            <a:ext cx="704850" cy="704850"/>
          </a:xfrm>
          <a:prstGeom xmlns:a="http://schemas.openxmlformats.org/drawingml/2006/main" prst="ellipse">
            <a:avLst/>
          </a:prstGeom>
          <a:solidFill xmlns:a="http://schemas.openxmlformats.org/drawingml/2006/main">
            <a:srgbClr val="3F7DC0"/>
          </a:solidFill>
          <a:ln xmlns:a="http://schemas.openxmlformats.org/drawingml/2006/main" w="19050">
            <a:solidFill>
              <a:srgbClr val="17253A"/>
            </a:solidFill>
          </a:ln>
        </p:spPr>
      </p:sp>
      <p:sp>
        <p:nvSpPr>
          <p:cNvPr id="19" name="">
            <a:extLst xmlns:a="http://schemas.openxmlformats.org/drawingml/2006/main">
              <a:ext uri="{FF2B5EF4-FFF2-40B4-BE49-F238E27FC236}">
                <a16:creationId xmlns:a16="http://schemas.microsoft.com/office/drawing/2014/main" id="{83D7984A-701A-41E0-BFEC-429ABF43FDA1}"/>
              </a:ext>
            </a:extLst>
          </p:cNvPr>
          <p:cNvSpPr>
            <a:spLocks xmlns:a="http://schemas.openxmlformats.org/drawingml/2006/main" noGrp="1"/>
          </p:cNvSpPr>
          <p:nvPr/>
        </p:nvSpPr>
        <p:spPr>
          <a:xfrm xmlns:a="http://schemas.openxmlformats.org/drawingml/2006/main">
            <a:off x="8858250" y="3048000"/>
            <a:ext cx="704850" cy="704850"/>
          </a:xfrm>
          <a:prstGeom xmlns:a="http://schemas.openxmlformats.org/drawingml/2006/main" prst="rect">
            <a:avLst/>
          </a:prstGeom>
          <a:solidFill xmlns:a="http://schemas.openxmlformats.org/drawingml/2006/main">
            <a:srgbClr val="3F7DC0"/>
          </a:solidFill>
          <a:ln xmlns:a="http://schemas.openxmlformats.org/drawingml/2006/main" w="19050">
            <a:solidFill>
              <a:srgbClr val="17253A"/>
            </a:solidFill>
          </a:ln>
        </p:spPr>
      </p:sp>
      <p:sp>
        <p:nvSpPr>
          <p:cNvPr id="20" name="">
            <a:extLst xmlns:a="http://schemas.openxmlformats.org/drawingml/2006/main">
              <a:ext uri="{FF2B5EF4-FFF2-40B4-BE49-F238E27FC236}">
                <a16:creationId xmlns:a16="http://schemas.microsoft.com/office/drawing/2014/main" id="{A08E070F-5EB3-419B-8BFA-DA66E6D32468}"/>
              </a:ext>
            </a:extLst>
          </p:cNvPr>
          <p:cNvSpPr>
            <a:spLocks xmlns:a="http://schemas.openxmlformats.org/drawingml/2006/main" noGrp="1"/>
          </p:cNvSpPr>
          <p:nvPr/>
        </p:nvSpPr>
        <p:spPr>
          <a:xfrm xmlns:a="http://schemas.openxmlformats.org/drawingml/2006/main">
            <a:off x="10096500" y="3048000"/>
            <a:ext cx="704850" cy="704850"/>
          </a:xfrm>
          <a:prstGeom xmlns:a="http://schemas.openxmlformats.org/drawingml/2006/main" prst="triangle">
            <a:avLst/>
          </a:prstGeom>
          <a:solidFill xmlns:a="http://schemas.openxmlformats.org/drawingml/2006/main">
            <a:srgbClr val="3F7DC0"/>
          </a:solidFill>
          <a:ln xmlns:a="http://schemas.openxmlformats.org/drawingml/2006/main" w="19050">
            <a:solidFill>
              <a:srgbClr val="17253A"/>
            </a:solidFill>
          </a:ln>
        </p:spPr>
      </p:sp>
      <p:sp>
        <p:nvSpPr>
          <p:cNvPr id="21" name="">
            <a:extLst xmlns:a="http://schemas.openxmlformats.org/drawingml/2006/main">
              <a:ext uri="{FF2B5EF4-FFF2-40B4-BE49-F238E27FC236}">
                <a16:creationId xmlns:a16="http://schemas.microsoft.com/office/drawing/2014/main" id="{890AC7BF-BC28-49C4-A814-59BFECD98CCD}"/>
              </a:ext>
            </a:extLst>
          </p:cNvPr>
          <p:cNvSpPr>
            <a:spLocks xmlns:a="http://schemas.openxmlformats.org/drawingml/2006/main" noGrp="1"/>
          </p:cNvSpPr>
          <p:nvPr/>
        </p:nvSpPr>
        <p:spPr>
          <a:xfrm xmlns:a="http://schemas.openxmlformats.org/drawingml/2006/main">
            <a:off x="2190750" y="5476875"/>
            <a:ext cx="7810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19050">
            <a:solidFill>
              <a:srgbClr val="D9DEE7"/>
            </a:solidFill>
          </a:ln>
        </p:spPr>
      </p:sp>
      <p:sp>
        <p:nvSpPr>
          <p:cNvPr id="22" name="">
            <a:extLst xmlns:a="http://schemas.openxmlformats.org/drawingml/2006/main">
              <a:ext uri="{FF2B5EF4-FFF2-40B4-BE49-F238E27FC236}">
                <a16:creationId xmlns:a16="http://schemas.microsoft.com/office/drawing/2014/main" id="{A052D77D-0B56-41FA-8C83-D09FDBBD1BC2}"/>
              </a:ext>
            </a:extLst>
          </p:cNvPr>
          <p:cNvSpPr>
            <a:spLocks xmlns:a="http://schemas.openxmlformats.org/drawingml/2006/main" noGrp="1"/>
          </p:cNvSpPr>
          <p:nvPr/>
        </p:nvSpPr>
        <p:spPr>
          <a:xfrm xmlns:a="http://schemas.openxmlformats.org/drawingml/2006/main">
            <a:off x="2400300" y="5591175"/>
            <a:ext cx="7391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253A"/>
                </a:solidFill>
                <a:latin typeface="Arial"/>
                <a:ea typeface="Arial"/>
                <a:cs typeface="Arial"/>
              </a:defRPr>
            </a:pPr>
            <a:r>
              <a:rPr sz="1650" b="1">
                <a:solidFill>
                  <a:srgbClr val="17253A"/>
                </a:solidFill>
                <a:latin typeface="Arial"/>
                <a:ea typeface="Arial"/>
                <a:cs typeface="Arial"/>
              </a:rPr>
              <a:t>We moved the blue triangle because the rule was colour, not shape.</a:t>
            </a:r>
          </a:p>
        </p:txBody>
      </p:sp>
    </p:spTree>
    <p:extLst>
      <p:ext uri="{BB962C8B-B14F-4D97-AF65-F5344CB8AC3E}">
        <p14:creationId xmlns:p14="http://schemas.microsoft.com/office/powerpoint/2010/main" val="1871132207"/>
      </p:ext>
    </p:extLst>
  </p:cSld>
</p:sld>
</file>

<file path=ppt/slides/slide11.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77E7406-01D2-4F4E-8B41-B2763270FC74}"/>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B4232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8F76EDE-583E-4597-A218-2513AD96EA48}"/>
              </a:ext>
            </a:extLst>
          </p:cNvPr>
          <p:cNvSpPr>
            <a:spLocks xmlns:a="http://schemas.openxmlformats.org/drawingml/2006/main" noGrp="1"/>
          </p:cNvSpPr>
          <p:nvPr/>
        </p:nvSpPr>
        <p:spPr>
          <a:xfrm xmlns:a="http://schemas.openxmlformats.org/drawingml/2006/main">
            <a:off x="552450" y="285750"/>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B4232B"/>
                </a:solidFill>
                <a:latin typeface="Arial"/>
                <a:ea typeface="Arial"/>
                <a:cs typeface="Arial"/>
              </a:defRPr>
            </a:pPr>
            <a:r>
              <a:rPr sz="1050" b="1">
                <a:solidFill>
                  <a:srgbClr val="B4232B"/>
                </a:solidFill>
                <a:latin typeface="Arial"/>
                <a:ea typeface="Arial"/>
                <a:cs typeface="Arial"/>
              </a:rPr>
              <a:t>YEAR 1 MATHS  •  AUTUMN  •  WEEK 1  •  DAY 1</a:t>
            </a:r>
          </a:p>
        </p:txBody>
      </p:sp>
      <p:sp>
        <p:nvSpPr>
          <p:cNvPr id="3" name="">
            <a:extLst xmlns:a="http://schemas.openxmlformats.org/drawingml/2006/main">
              <a:ext uri="{FF2B5EF4-FFF2-40B4-BE49-F238E27FC236}">
                <a16:creationId xmlns:a16="http://schemas.microsoft.com/office/drawing/2014/main" id="{42F29F34-9CF8-43ED-81D6-B0131D9C31BD}"/>
              </a:ext>
            </a:extLst>
          </p:cNvPr>
          <p:cNvSpPr>
            <a:spLocks xmlns:a="http://schemas.openxmlformats.org/drawingml/2006/main" noGrp="1"/>
          </p:cNvSpPr>
          <p:nvPr/>
        </p:nvSpPr>
        <p:spPr>
          <a:xfrm xmlns:a="http://schemas.openxmlformats.org/drawingml/2006/main">
            <a:off x="552450" y="685800"/>
            <a:ext cx="1238250" cy="323850"/>
          </a:xfrm>
          <a:prstGeom xmlns:a="http://schemas.openxmlformats.org/drawingml/2006/main" prst="roundRect">
            <a:avLst>
              <a:gd name="adj" fmla="val 23529"/>
            </a:avLst>
          </a:prstGeom>
          <a:solidFill xmlns:a="http://schemas.openxmlformats.org/drawingml/2006/main">
            <a:srgbClr val="B4232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989C6E1-B209-4607-9E99-76C72B8CD1D2}"/>
              </a:ext>
            </a:extLst>
          </p:cNvPr>
          <p:cNvSpPr>
            <a:spLocks xmlns:a="http://schemas.openxmlformats.org/drawingml/2006/main" noGrp="1"/>
          </p:cNvSpPr>
          <p:nvPr/>
        </p:nvSpPr>
        <p:spPr>
          <a:xfrm xmlns:a="http://schemas.openxmlformats.org/drawingml/2006/main">
            <a:off x="590550" y="704850"/>
            <a:ext cx="1162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FFFFFF"/>
                </a:solidFill>
                <a:latin typeface="Arial"/>
                <a:ea typeface="Arial"/>
                <a:cs typeface="Arial"/>
              </a:defRPr>
            </a:pPr>
            <a:r>
              <a:rPr sz="750" b="1">
                <a:solidFill>
                  <a:srgbClr val="FFFFFF"/>
                </a:solidFill>
                <a:latin typeface="Arial"/>
                <a:ea typeface="Arial"/>
                <a:cs typeface="Arial"/>
              </a:rPr>
              <a:t>TEACH + TRY</a:t>
            </a:r>
          </a:p>
        </p:txBody>
      </p:sp>
      <p:sp>
        <p:nvSpPr>
          <p:cNvPr id="5" name="">
            <a:extLst xmlns:a="http://schemas.openxmlformats.org/drawingml/2006/main">
              <a:ext uri="{FF2B5EF4-FFF2-40B4-BE49-F238E27FC236}">
                <a16:creationId xmlns:a16="http://schemas.microsoft.com/office/drawing/2014/main" id="{FBDAA27D-F7A2-4573-A5FB-05535B332468}"/>
              </a:ext>
            </a:extLst>
          </p:cNvPr>
          <p:cNvSpPr>
            <a:spLocks xmlns:a="http://schemas.openxmlformats.org/drawingml/2006/main" noGrp="1"/>
          </p:cNvSpPr>
          <p:nvPr/>
        </p:nvSpPr>
        <p:spPr>
          <a:xfrm xmlns:a="http://schemas.openxmlformats.org/drawingml/2006/main">
            <a:off x="1962150" y="590550"/>
            <a:ext cx="8496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625" b="1">
                <a:solidFill>
                  <a:srgbClr val="17253A"/>
                </a:solidFill>
                <a:latin typeface="Arial"/>
                <a:ea typeface="Arial"/>
                <a:cs typeface="Arial"/>
              </a:defRPr>
            </a:pPr>
            <a:r>
              <a:rPr sz="2625" b="1">
                <a:solidFill>
                  <a:srgbClr val="17253A"/>
                </a:solidFill>
                <a:latin typeface="Arial"/>
                <a:ea typeface="Arial"/>
                <a:cs typeface="Arial"/>
              </a:rPr>
              <a:t>Same objects, new rule: sort by shape</a:t>
            </a:r>
          </a:p>
        </p:txBody>
      </p:sp>
      <p:sp>
        <p:nvSpPr>
          <p:cNvPr id="6" name="">
            <a:extLst xmlns:a="http://schemas.openxmlformats.org/drawingml/2006/main">
              <a:ext uri="{FF2B5EF4-FFF2-40B4-BE49-F238E27FC236}">
                <a16:creationId xmlns:a16="http://schemas.microsoft.com/office/drawing/2014/main" id="{7CFF6059-ADCF-4D20-8C14-B38FCAD420FE}"/>
              </a:ext>
            </a:extLst>
          </p:cNvPr>
          <p:cNvSpPr>
            <a:spLocks xmlns:a="http://schemas.openxmlformats.org/drawingml/2006/main" noGrp="1"/>
          </p:cNvSpPr>
          <p:nvPr/>
        </p:nvSpPr>
        <p:spPr>
          <a:xfrm xmlns:a="http://schemas.openxmlformats.org/drawingml/2006/main">
            <a:off x="10668000" y="4000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r">
              <a:defRPr sz="975" b="1">
                <a:solidFill>
                  <a:srgbClr val="6B788A"/>
                </a:solidFill>
                <a:latin typeface="Arial"/>
                <a:ea typeface="Arial"/>
                <a:cs typeface="Arial"/>
              </a:defRPr>
            </a:pPr>
            <a:r>
              <a:rPr sz="975" b="1">
                <a:solidFill>
                  <a:srgbClr val="6B788A"/>
                </a:solidFill>
                <a:latin typeface="Arial"/>
                <a:ea typeface="Arial"/>
                <a:cs typeface="Arial"/>
              </a:rPr>
              <a:t>11 / 15</a:t>
            </a:r>
          </a:p>
        </p:txBody>
      </p:sp>
      <p:sp>
        <p:nvSpPr>
          <p:cNvPr id="7" name="">
            <a:extLst xmlns:a="http://schemas.openxmlformats.org/drawingml/2006/main">
              <a:ext uri="{FF2B5EF4-FFF2-40B4-BE49-F238E27FC236}">
                <a16:creationId xmlns:a16="http://schemas.microsoft.com/office/drawing/2014/main" id="{52E0F6B7-189E-410B-A5F2-2784AAECEAA3}"/>
              </a:ext>
            </a:extLst>
          </p:cNvPr>
          <p:cNvSpPr>
            <a:spLocks xmlns:a="http://schemas.openxmlformats.org/drawingml/2006/main" noGrp="1"/>
          </p:cNvSpPr>
          <p:nvPr/>
        </p:nvSpPr>
        <p:spPr>
          <a:xfrm xmlns:a="http://schemas.openxmlformats.org/drawingml/2006/main">
            <a:off x="552450" y="6457950"/>
            <a:ext cx="11087100" cy="19050"/>
          </a:xfrm>
          <a:prstGeom xmlns:a="http://schemas.openxmlformats.org/drawingml/2006/main" prst="rect">
            <a:avLst/>
          </a:prstGeom>
          <a:solidFill xmlns:a="http://schemas.openxmlformats.org/drawingml/2006/main">
            <a:srgbClr val="D9DEE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A638CD9-FB3B-4C93-B48E-B35D8D21D113}"/>
              </a:ext>
            </a:extLst>
          </p:cNvPr>
          <p:cNvSpPr>
            <a:spLocks xmlns:a="http://schemas.openxmlformats.org/drawingml/2006/main" noGrp="1"/>
          </p:cNvSpPr>
          <p:nvPr/>
        </p:nvSpPr>
        <p:spPr>
          <a:xfrm xmlns:a="http://schemas.openxmlformats.org/drawingml/2006/main">
            <a:off x="552450" y="6543675"/>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l">
              <a:defRPr sz="900" b="0">
                <a:solidFill>
                  <a:srgbClr val="6B788A"/>
                </a:solidFill>
                <a:latin typeface="Arial"/>
                <a:ea typeface="Arial"/>
                <a:cs typeface="Arial"/>
              </a:defRPr>
            </a:pPr>
            <a:r>
              <a:rPr sz="900" b="0">
                <a:solidFill>
                  <a:srgbClr val="6B788A"/>
                </a:solidFill>
                <a:latin typeface="Arial"/>
                <a:ea typeface="Arial"/>
                <a:cs typeface="Arial"/>
              </a:rPr>
              <a:t>BrightPath Primary Learning</a:t>
            </a:r>
          </a:p>
        </p:txBody>
      </p:sp>
      <p:sp>
        <p:nvSpPr>
          <p:cNvPr id="9" name="">
            <a:extLst xmlns:a="http://schemas.openxmlformats.org/drawingml/2006/main">
              <a:ext uri="{FF2B5EF4-FFF2-40B4-BE49-F238E27FC236}">
                <a16:creationId xmlns:a16="http://schemas.microsoft.com/office/drawing/2014/main" id="{2EC14961-E8E2-4DB9-9E22-B9F3C270003C}"/>
              </a:ext>
            </a:extLst>
          </p:cNvPr>
          <p:cNvSpPr>
            <a:spLocks xmlns:a="http://schemas.openxmlformats.org/drawingml/2006/main" noGrp="1"/>
          </p:cNvSpPr>
          <p:nvPr/>
        </p:nvSpPr>
        <p:spPr>
          <a:xfrm xmlns:a="http://schemas.openxmlformats.org/drawingml/2006/main">
            <a:off x="8477250" y="6543675"/>
            <a:ext cx="3162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0">
                <a:solidFill>
                  <a:srgbClr val="6B788A"/>
                </a:solidFill>
                <a:latin typeface="Arial"/>
                <a:ea typeface="Arial"/>
                <a:cs typeface="Arial"/>
              </a:defRPr>
            </a:pPr>
            <a:r>
              <a:rPr sz="900" b="0">
                <a:solidFill>
                  <a:srgbClr val="6B788A"/>
                </a:solidFill>
                <a:latin typeface="Arial"/>
                <a:ea typeface="Arial"/>
                <a:cs typeface="Arial"/>
              </a:rPr>
              <a:t>Sort objects into groups</a:t>
            </a:r>
          </a:p>
        </p:txBody>
      </p:sp>
      <p:sp>
        <p:nvSpPr>
          <p:cNvPr id="10" name="">
            <a:extLst xmlns:a="http://schemas.openxmlformats.org/drawingml/2006/main">
              <a:ext uri="{FF2B5EF4-FFF2-40B4-BE49-F238E27FC236}">
                <a16:creationId xmlns:a16="http://schemas.microsoft.com/office/drawing/2014/main" id="{A86E447A-6106-4C9A-A0D0-D171563054FD}"/>
              </a:ext>
            </a:extLst>
          </p:cNvPr>
          <p:cNvSpPr>
            <a:spLocks xmlns:a="http://schemas.openxmlformats.org/drawingml/2006/main" noGrp="1"/>
          </p:cNvSpPr>
          <p:nvPr/>
        </p:nvSpPr>
        <p:spPr>
          <a:xfrm xmlns:a="http://schemas.openxmlformats.org/drawingml/2006/main">
            <a:off x="952500" y="1762125"/>
            <a:ext cx="4476750" cy="3571875"/>
          </a:xfrm>
          <a:prstGeom xmlns:a="http://schemas.openxmlformats.org/drawingml/2006/main" prst="roundRect">
            <a:avLst>
              <a:gd name="adj" fmla="val 2133"/>
            </a:avLst>
          </a:prstGeom>
          <a:solidFill xmlns:a="http://schemas.openxmlformats.org/drawingml/2006/main">
            <a:srgbClr val="FFFFFF"/>
          </a:solidFill>
          <a:ln xmlns:a="http://schemas.openxmlformats.org/drawingml/2006/main" w="57150">
            <a:solidFill>
              <a:srgbClr val="4D9A72"/>
            </a:solidFill>
          </a:ln>
        </p:spPr>
      </p:sp>
      <p:sp>
        <p:nvSpPr>
          <p:cNvPr id="11" name="">
            <a:extLst xmlns:a="http://schemas.openxmlformats.org/drawingml/2006/main">
              <a:ext uri="{FF2B5EF4-FFF2-40B4-BE49-F238E27FC236}">
                <a16:creationId xmlns:a16="http://schemas.microsoft.com/office/drawing/2014/main" id="{C379A744-9533-4C61-BF43-33ADB4374ED8}"/>
              </a:ext>
            </a:extLst>
          </p:cNvPr>
          <p:cNvSpPr>
            <a:spLocks xmlns:a="http://schemas.openxmlformats.org/drawingml/2006/main" noGrp="1"/>
          </p:cNvSpPr>
          <p:nvPr/>
        </p:nvSpPr>
        <p:spPr>
          <a:xfrm xmlns:a="http://schemas.openxmlformats.org/drawingml/2006/main">
            <a:off x="1352550" y="1933575"/>
            <a:ext cx="3676650" cy="361950"/>
          </a:xfrm>
          <a:prstGeom xmlns:a="http://schemas.openxmlformats.org/drawingml/2006/main" prst="roundRect">
            <a:avLst>
              <a:gd name="adj" fmla="val 21053"/>
            </a:avLst>
          </a:prstGeom>
          <a:solidFill xmlns:a="http://schemas.openxmlformats.org/drawingml/2006/main">
            <a:srgbClr val="4D9A7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B09657B-70C7-4B73-84C0-FDF6BFB2D5E8}"/>
              </a:ext>
            </a:extLst>
          </p:cNvPr>
          <p:cNvSpPr>
            <a:spLocks xmlns:a="http://schemas.openxmlformats.org/drawingml/2006/main" noGrp="1"/>
          </p:cNvSpPr>
          <p:nvPr/>
        </p:nvSpPr>
        <p:spPr>
          <a:xfrm xmlns:a="http://schemas.openxmlformats.org/drawingml/2006/main">
            <a:off x="1447800" y="1962150"/>
            <a:ext cx="3486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CIRCLES</a:t>
            </a:r>
          </a:p>
        </p:txBody>
      </p:sp>
      <p:sp>
        <p:nvSpPr>
          <p:cNvPr id="13" name="">
            <a:extLst xmlns:a="http://schemas.openxmlformats.org/drawingml/2006/main">
              <a:ext uri="{FF2B5EF4-FFF2-40B4-BE49-F238E27FC236}">
                <a16:creationId xmlns:a16="http://schemas.microsoft.com/office/drawing/2014/main" id="{2D6CB320-1DBA-4C8C-8F6E-A03DF22F441E}"/>
              </a:ext>
            </a:extLst>
          </p:cNvPr>
          <p:cNvSpPr>
            <a:spLocks xmlns:a="http://schemas.openxmlformats.org/drawingml/2006/main" noGrp="1"/>
          </p:cNvSpPr>
          <p:nvPr/>
        </p:nvSpPr>
        <p:spPr>
          <a:xfrm xmlns:a="http://schemas.openxmlformats.org/drawingml/2006/main">
            <a:off x="6762750" y="1762125"/>
            <a:ext cx="4476750" cy="3571875"/>
          </a:xfrm>
          <a:prstGeom xmlns:a="http://schemas.openxmlformats.org/drawingml/2006/main" prst="roundRect">
            <a:avLst>
              <a:gd name="adj" fmla="val 2133"/>
            </a:avLst>
          </a:prstGeom>
          <a:solidFill xmlns:a="http://schemas.openxmlformats.org/drawingml/2006/main">
            <a:srgbClr val="FFFFFF"/>
          </a:solidFill>
          <a:ln xmlns:a="http://schemas.openxmlformats.org/drawingml/2006/main" w="57150">
            <a:solidFill>
              <a:srgbClr val="76469A"/>
            </a:solidFill>
          </a:ln>
        </p:spPr>
      </p:sp>
      <p:sp>
        <p:nvSpPr>
          <p:cNvPr id="14" name="">
            <a:extLst xmlns:a="http://schemas.openxmlformats.org/drawingml/2006/main">
              <a:ext uri="{FF2B5EF4-FFF2-40B4-BE49-F238E27FC236}">
                <a16:creationId xmlns:a16="http://schemas.microsoft.com/office/drawing/2014/main" id="{414E28D4-0893-43B0-9E40-7F9FA8AFB478}"/>
              </a:ext>
            </a:extLst>
          </p:cNvPr>
          <p:cNvSpPr>
            <a:spLocks xmlns:a="http://schemas.openxmlformats.org/drawingml/2006/main" noGrp="1"/>
          </p:cNvSpPr>
          <p:nvPr/>
        </p:nvSpPr>
        <p:spPr>
          <a:xfrm xmlns:a="http://schemas.openxmlformats.org/drawingml/2006/main">
            <a:off x="7162800" y="1933575"/>
            <a:ext cx="3676650" cy="361950"/>
          </a:xfrm>
          <a:prstGeom xmlns:a="http://schemas.openxmlformats.org/drawingml/2006/main" prst="roundRect">
            <a:avLst>
              <a:gd name="adj" fmla="val 21053"/>
            </a:avLst>
          </a:prstGeom>
          <a:solidFill xmlns:a="http://schemas.openxmlformats.org/drawingml/2006/main">
            <a:srgbClr val="76469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A63EA4C-9316-4AC3-9D12-AA8EFBECDEB2}"/>
              </a:ext>
            </a:extLst>
          </p:cNvPr>
          <p:cNvSpPr>
            <a:spLocks xmlns:a="http://schemas.openxmlformats.org/drawingml/2006/main" noGrp="1"/>
          </p:cNvSpPr>
          <p:nvPr/>
        </p:nvSpPr>
        <p:spPr>
          <a:xfrm xmlns:a="http://schemas.openxmlformats.org/drawingml/2006/main">
            <a:off x="7258050" y="1962150"/>
            <a:ext cx="3486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SQUARES</a:t>
            </a:r>
          </a:p>
        </p:txBody>
      </p:sp>
      <p:sp>
        <p:nvSpPr>
          <p:cNvPr id="16" name="">
            <a:extLst xmlns:a="http://schemas.openxmlformats.org/drawingml/2006/main">
              <a:ext uri="{FF2B5EF4-FFF2-40B4-BE49-F238E27FC236}">
                <a16:creationId xmlns:a16="http://schemas.microsoft.com/office/drawing/2014/main" id="{4CE557DE-35F6-4B28-B454-DCE827313CD6}"/>
              </a:ext>
            </a:extLst>
          </p:cNvPr>
          <p:cNvSpPr>
            <a:spLocks xmlns:a="http://schemas.openxmlformats.org/drawingml/2006/main" noGrp="1"/>
          </p:cNvSpPr>
          <p:nvPr/>
        </p:nvSpPr>
        <p:spPr>
          <a:xfrm xmlns:a="http://schemas.openxmlformats.org/drawingml/2006/main">
            <a:off x="2000250" y="3143250"/>
            <a:ext cx="742950" cy="742950"/>
          </a:xfrm>
          <a:prstGeom xmlns:a="http://schemas.openxmlformats.org/drawingml/2006/main" prst="ellipse">
            <a:avLst/>
          </a:prstGeom>
          <a:solidFill xmlns:a="http://schemas.openxmlformats.org/drawingml/2006/main">
            <a:srgbClr val="B4232B"/>
          </a:solidFill>
          <a:ln xmlns:a="http://schemas.openxmlformats.org/drawingml/2006/main" w="19050">
            <a:solidFill>
              <a:srgbClr val="17253A"/>
            </a:solidFill>
          </a:ln>
        </p:spPr>
      </p:sp>
      <p:sp>
        <p:nvSpPr>
          <p:cNvPr id="17" name="">
            <a:extLst xmlns:a="http://schemas.openxmlformats.org/drawingml/2006/main">
              <a:ext uri="{FF2B5EF4-FFF2-40B4-BE49-F238E27FC236}">
                <a16:creationId xmlns:a16="http://schemas.microsoft.com/office/drawing/2014/main" id="{A9B7764C-19A1-4139-831A-A5674595D847}"/>
              </a:ext>
            </a:extLst>
          </p:cNvPr>
          <p:cNvSpPr>
            <a:spLocks xmlns:a="http://schemas.openxmlformats.org/drawingml/2006/main" noGrp="1"/>
          </p:cNvSpPr>
          <p:nvPr/>
        </p:nvSpPr>
        <p:spPr>
          <a:xfrm xmlns:a="http://schemas.openxmlformats.org/drawingml/2006/main">
            <a:off x="3524250" y="3143250"/>
            <a:ext cx="742950" cy="742950"/>
          </a:xfrm>
          <a:prstGeom xmlns:a="http://schemas.openxmlformats.org/drawingml/2006/main" prst="ellipse">
            <a:avLst/>
          </a:prstGeom>
          <a:solidFill xmlns:a="http://schemas.openxmlformats.org/drawingml/2006/main">
            <a:srgbClr val="3F7DC0"/>
          </a:solidFill>
          <a:ln xmlns:a="http://schemas.openxmlformats.org/drawingml/2006/main" w="19050">
            <a:solidFill>
              <a:srgbClr val="17253A"/>
            </a:solidFill>
          </a:ln>
        </p:spPr>
      </p:sp>
      <p:sp>
        <p:nvSpPr>
          <p:cNvPr id="18" name="">
            <a:extLst xmlns:a="http://schemas.openxmlformats.org/drawingml/2006/main">
              <a:ext uri="{FF2B5EF4-FFF2-40B4-BE49-F238E27FC236}">
                <a16:creationId xmlns:a16="http://schemas.microsoft.com/office/drawing/2014/main" id="{3EF4DC06-AAD9-4A3D-9FE8-5F2A1DFFCAE1}"/>
              </a:ext>
            </a:extLst>
          </p:cNvPr>
          <p:cNvSpPr>
            <a:spLocks xmlns:a="http://schemas.openxmlformats.org/drawingml/2006/main" noGrp="1"/>
          </p:cNvSpPr>
          <p:nvPr/>
        </p:nvSpPr>
        <p:spPr>
          <a:xfrm xmlns:a="http://schemas.openxmlformats.org/drawingml/2006/main">
            <a:off x="7810500" y="3143250"/>
            <a:ext cx="742950" cy="742950"/>
          </a:xfrm>
          <a:prstGeom xmlns:a="http://schemas.openxmlformats.org/drawingml/2006/main" prst="rect">
            <a:avLst/>
          </a:prstGeom>
          <a:solidFill xmlns:a="http://schemas.openxmlformats.org/drawingml/2006/main">
            <a:srgbClr val="B4232B"/>
          </a:solidFill>
          <a:ln xmlns:a="http://schemas.openxmlformats.org/drawingml/2006/main" w="19050">
            <a:solidFill>
              <a:srgbClr val="17253A"/>
            </a:solidFill>
          </a:ln>
        </p:spPr>
      </p:sp>
      <p:sp>
        <p:nvSpPr>
          <p:cNvPr id="19" name="">
            <a:extLst xmlns:a="http://schemas.openxmlformats.org/drawingml/2006/main">
              <a:ext uri="{FF2B5EF4-FFF2-40B4-BE49-F238E27FC236}">
                <a16:creationId xmlns:a16="http://schemas.microsoft.com/office/drawing/2014/main" id="{6DCA3042-A723-4C84-BEF6-89385D01BD1C}"/>
              </a:ext>
            </a:extLst>
          </p:cNvPr>
          <p:cNvSpPr>
            <a:spLocks xmlns:a="http://schemas.openxmlformats.org/drawingml/2006/main" noGrp="1"/>
          </p:cNvSpPr>
          <p:nvPr/>
        </p:nvSpPr>
        <p:spPr>
          <a:xfrm xmlns:a="http://schemas.openxmlformats.org/drawingml/2006/main">
            <a:off x="9334500" y="3143250"/>
            <a:ext cx="742950" cy="742950"/>
          </a:xfrm>
          <a:prstGeom xmlns:a="http://schemas.openxmlformats.org/drawingml/2006/main" prst="rect">
            <a:avLst/>
          </a:prstGeom>
          <a:solidFill xmlns:a="http://schemas.openxmlformats.org/drawingml/2006/main">
            <a:srgbClr val="3F7DC0"/>
          </a:solidFill>
          <a:ln xmlns:a="http://schemas.openxmlformats.org/drawingml/2006/main" w="19050">
            <a:solidFill>
              <a:srgbClr val="17253A"/>
            </a:solidFill>
          </a:ln>
        </p:spPr>
      </p:sp>
      <p:sp>
        <p:nvSpPr>
          <p:cNvPr id="20" name="">
            <a:extLst xmlns:a="http://schemas.openxmlformats.org/drawingml/2006/main">
              <a:ext uri="{FF2B5EF4-FFF2-40B4-BE49-F238E27FC236}">
                <a16:creationId xmlns:a16="http://schemas.microsoft.com/office/drawing/2014/main" id="{5A160599-46DD-4E96-ACB5-3996CDDDF687}"/>
              </a:ext>
            </a:extLst>
          </p:cNvPr>
          <p:cNvSpPr>
            <a:spLocks xmlns:a="http://schemas.openxmlformats.org/drawingml/2006/main" noGrp="1"/>
          </p:cNvSpPr>
          <p:nvPr/>
        </p:nvSpPr>
        <p:spPr>
          <a:xfrm xmlns:a="http://schemas.openxmlformats.org/drawingml/2006/main">
            <a:off x="2571750" y="5572125"/>
            <a:ext cx="704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17253A"/>
                </a:solidFill>
                <a:latin typeface="Arial"/>
                <a:ea typeface="Arial"/>
                <a:cs typeface="Arial"/>
              </a:defRPr>
            </a:pPr>
            <a:r>
              <a:rPr sz="1950" b="1">
                <a:solidFill>
                  <a:srgbClr val="17253A"/>
                </a:solidFill>
                <a:latin typeface="Arial"/>
                <a:ea typeface="Arial"/>
                <a:cs typeface="Arial"/>
              </a:rPr>
              <a:t>What changed? What stayed the same?</a:t>
            </a:r>
          </a:p>
        </p:txBody>
      </p:sp>
    </p:spTree>
    <p:extLst>
      <p:ext uri="{BB962C8B-B14F-4D97-AF65-F5344CB8AC3E}">
        <p14:creationId xmlns:p14="http://schemas.microsoft.com/office/powerpoint/2010/main" val="1384202144"/>
      </p:ext>
    </p:extLst>
  </p:cSld>
</p:sld>
</file>

<file path=ppt/slides/slide12.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AE209A3-2034-4397-BEB3-BE7899C17977}"/>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B4232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ADE1A38-40BF-468F-9919-3476D503C1AC}"/>
              </a:ext>
            </a:extLst>
          </p:cNvPr>
          <p:cNvSpPr>
            <a:spLocks xmlns:a="http://schemas.openxmlformats.org/drawingml/2006/main" noGrp="1"/>
          </p:cNvSpPr>
          <p:nvPr/>
        </p:nvSpPr>
        <p:spPr>
          <a:xfrm xmlns:a="http://schemas.openxmlformats.org/drawingml/2006/main">
            <a:off x="552450" y="285750"/>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B4232B"/>
                </a:solidFill>
                <a:latin typeface="Arial"/>
                <a:ea typeface="Arial"/>
                <a:cs typeface="Arial"/>
              </a:defRPr>
            </a:pPr>
            <a:r>
              <a:rPr sz="1050" b="1">
                <a:solidFill>
                  <a:srgbClr val="B4232B"/>
                </a:solidFill>
                <a:latin typeface="Arial"/>
                <a:ea typeface="Arial"/>
                <a:cs typeface="Arial"/>
              </a:rPr>
              <a:t>YEAR 1 MATHS  •  AUTUMN  •  WEEK 1  •  DAY 1</a:t>
            </a:r>
          </a:p>
        </p:txBody>
      </p:sp>
      <p:sp>
        <p:nvSpPr>
          <p:cNvPr id="3" name="">
            <a:extLst xmlns:a="http://schemas.openxmlformats.org/drawingml/2006/main">
              <a:ext uri="{FF2B5EF4-FFF2-40B4-BE49-F238E27FC236}">
                <a16:creationId xmlns:a16="http://schemas.microsoft.com/office/drawing/2014/main" id="{65BEFF05-8BDF-441F-AE32-E5EE7BA41401}"/>
              </a:ext>
            </a:extLst>
          </p:cNvPr>
          <p:cNvSpPr>
            <a:spLocks xmlns:a="http://schemas.openxmlformats.org/drawingml/2006/main" noGrp="1"/>
          </p:cNvSpPr>
          <p:nvPr/>
        </p:nvSpPr>
        <p:spPr>
          <a:xfrm xmlns:a="http://schemas.openxmlformats.org/drawingml/2006/main">
            <a:off x="552450" y="685800"/>
            <a:ext cx="1238250" cy="323850"/>
          </a:xfrm>
          <a:prstGeom xmlns:a="http://schemas.openxmlformats.org/drawingml/2006/main" prst="roundRect">
            <a:avLst>
              <a:gd name="adj" fmla="val 23529"/>
            </a:avLst>
          </a:prstGeom>
          <a:solidFill xmlns:a="http://schemas.openxmlformats.org/drawingml/2006/main">
            <a:srgbClr val="B4232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5432BC6-FFAF-41CE-8112-AE555D5D2061}"/>
              </a:ext>
            </a:extLst>
          </p:cNvPr>
          <p:cNvSpPr>
            <a:spLocks xmlns:a="http://schemas.openxmlformats.org/drawingml/2006/main" noGrp="1"/>
          </p:cNvSpPr>
          <p:nvPr/>
        </p:nvSpPr>
        <p:spPr>
          <a:xfrm xmlns:a="http://schemas.openxmlformats.org/drawingml/2006/main">
            <a:off x="590550" y="704850"/>
            <a:ext cx="1162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FFFFFF"/>
                </a:solidFill>
                <a:latin typeface="Arial"/>
                <a:ea typeface="Arial"/>
                <a:cs typeface="Arial"/>
              </a:defRPr>
            </a:pPr>
            <a:r>
              <a:rPr sz="750" b="1">
                <a:solidFill>
                  <a:srgbClr val="FFFFFF"/>
                </a:solidFill>
                <a:latin typeface="Arial"/>
                <a:ea typeface="Arial"/>
                <a:cs typeface="Arial"/>
              </a:rPr>
              <a:t>EXPLAIN</a:t>
            </a:r>
          </a:p>
        </p:txBody>
      </p:sp>
      <p:sp>
        <p:nvSpPr>
          <p:cNvPr id="5" name="">
            <a:extLst xmlns:a="http://schemas.openxmlformats.org/drawingml/2006/main">
              <a:ext uri="{FF2B5EF4-FFF2-40B4-BE49-F238E27FC236}">
                <a16:creationId xmlns:a16="http://schemas.microsoft.com/office/drawing/2014/main" id="{FE0F2287-673A-4A5C-82DA-554F28599A23}"/>
              </a:ext>
            </a:extLst>
          </p:cNvPr>
          <p:cNvSpPr>
            <a:spLocks xmlns:a="http://schemas.openxmlformats.org/drawingml/2006/main" noGrp="1"/>
          </p:cNvSpPr>
          <p:nvPr/>
        </p:nvSpPr>
        <p:spPr>
          <a:xfrm xmlns:a="http://schemas.openxmlformats.org/drawingml/2006/main">
            <a:off x="1962150" y="590550"/>
            <a:ext cx="8496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625" b="1">
                <a:solidFill>
                  <a:srgbClr val="17253A"/>
                </a:solidFill>
                <a:latin typeface="Arial"/>
                <a:ea typeface="Arial"/>
                <a:cs typeface="Arial"/>
              </a:defRPr>
            </a:pPr>
            <a:r>
              <a:rPr sz="2625" b="1">
                <a:solidFill>
                  <a:srgbClr val="17253A"/>
                </a:solidFill>
                <a:latin typeface="Arial"/>
                <a:ea typeface="Arial"/>
                <a:cs typeface="Arial"/>
              </a:rPr>
              <a:t>Talk partner challenge</a:t>
            </a:r>
          </a:p>
        </p:txBody>
      </p:sp>
      <p:sp>
        <p:nvSpPr>
          <p:cNvPr id="6" name="">
            <a:extLst xmlns:a="http://schemas.openxmlformats.org/drawingml/2006/main">
              <a:ext uri="{FF2B5EF4-FFF2-40B4-BE49-F238E27FC236}">
                <a16:creationId xmlns:a16="http://schemas.microsoft.com/office/drawing/2014/main" id="{D7AB8AA1-0AE1-4A9C-9B1D-8700B7AFFA78}"/>
              </a:ext>
            </a:extLst>
          </p:cNvPr>
          <p:cNvSpPr>
            <a:spLocks xmlns:a="http://schemas.openxmlformats.org/drawingml/2006/main" noGrp="1"/>
          </p:cNvSpPr>
          <p:nvPr/>
        </p:nvSpPr>
        <p:spPr>
          <a:xfrm xmlns:a="http://schemas.openxmlformats.org/drawingml/2006/main">
            <a:off x="10668000" y="4000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r">
              <a:defRPr sz="975" b="1">
                <a:solidFill>
                  <a:srgbClr val="6B788A"/>
                </a:solidFill>
                <a:latin typeface="Arial"/>
                <a:ea typeface="Arial"/>
                <a:cs typeface="Arial"/>
              </a:defRPr>
            </a:pPr>
            <a:r>
              <a:rPr sz="975" b="1">
                <a:solidFill>
                  <a:srgbClr val="6B788A"/>
                </a:solidFill>
                <a:latin typeface="Arial"/>
                <a:ea typeface="Arial"/>
                <a:cs typeface="Arial"/>
              </a:rPr>
              <a:t>12 / 15</a:t>
            </a:r>
          </a:p>
        </p:txBody>
      </p:sp>
      <p:sp>
        <p:nvSpPr>
          <p:cNvPr id="7" name="">
            <a:extLst xmlns:a="http://schemas.openxmlformats.org/drawingml/2006/main">
              <a:ext uri="{FF2B5EF4-FFF2-40B4-BE49-F238E27FC236}">
                <a16:creationId xmlns:a16="http://schemas.microsoft.com/office/drawing/2014/main" id="{C0791A06-65A0-4917-BBD8-807FD8A7C894}"/>
              </a:ext>
            </a:extLst>
          </p:cNvPr>
          <p:cNvSpPr>
            <a:spLocks xmlns:a="http://schemas.openxmlformats.org/drawingml/2006/main" noGrp="1"/>
          </p:cNvSpPr>
          <p:nvPr/>
        </p:nvSpPr>
        <p:spPr>
          <a:xfrm xmlns:a="http://schemas.openxmlformats.org/drawingml/2006/main">
            <a:off x="552450" y="6457950"/>
            <a:ext cx="11087100" cy="19050"/>
          </a:xfrm>
          <a:prstGeom xmlns:a="http://schemas.openxmlformats.org/drawingml/2006/main" prst="rect">
            <a:avLst/>
          </a:prstGeom>
          <a:solidFill xmlns:a="http://schemas.openxmlformats.org/drawingml/2006/main">
            <a:srgbClr val="D9DEE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F897B23-DDF2-4D6E-B2AB-9BE686A3C6E5}"/>
              </a:ext>
            </a:extLst>
          </p:cNvPr>
          <p:cNvSpPr>
            <a:spLocks xmlns:a="http://schemas.openxmlformats.org/drawingml/2006/main" noGrp="1"/>
          </p:cNvSpPr>
          <p:nvPr/>
        </p:nvSpPr>
        <p:spPr>
          <a:xfrm xmlns:a="http://schemas.openxmlformats.org/drawingml/2006/main">
            <a:off x="552450" y="6543675"/>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l">
              <a:defRPr sz="900" b="0">
                <a:solidFill>
                  <a:srgbClr val="6B788A"/>
                </a:solidFill>
                <a:latin typeface="Arial"/>
                <a:ea typeface="Arial"/>
                <a:cs typeface="Arial"/>
              </a:defRPr>
            </a:pPr>
            <a:r>
              <a:rPr sz="900" b="0">
                <a:solidFill>
                  <a:srgbClr val="6B788A"/>
                </a:solidFill>
                <a:latin typeface="Arial"/>
                <a:ea typeface="Arial"/>
                <a:cs typeface="Arial"/>
              </a:rPr>
              <a:t>BrightPath Primary Learning</a:t>
            </a:r>
          </a:p>
        </p:txBody>
      </p:sp>
      <p:sp>
        <p:nvSpPr>
          <p:cNvPr id="9" name="">
            <a:extLst xmlns:a="http://schemas.openxmlformats.org/drawingml/2006/main">
              <a:ext uri="{FF2B5EF4-FFF2-40B4-BE49-F238E27FC236}">
                <a16:creationId xmlns:a16="http://schemas.microsoft.com/office/drawing/2014/main" id="{EA89FC0A-C513-47A0-B1D4-E75FFA9BFE9A}"/>
              </a:ext>
            </a:extLst>
          </p:cNvPr>
          <p:cNvSpPr>
            <a:spLocks xmlns:a="http://schemas.openxmlformats.org/drawingml/2006/main" noGrp="1"/>
          </p:cNvSpPr>
          <p:nvPr/>
        </p:nvSpPr>
        <p:spPr>
          <a:xfrm xmlns:a="http://schemas.openxmlformats.org/drawingml/2006/main">
            <a:off x="8477250" y="6543675"/>
            <a:ext cx="3162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0">
                <a:solidFill>
                  <a:srgbClr val="6B788A"/>
                </a:solidFill>
                <a:latin typeface="Arial"/>
                <a:ea typeface="Arial"/>
                <a:cs typeface="Arial"/>
              </a:defRPr>
            </a:pPr>
            <a:r>
              <a:rPr sz="900" b="0">
                <a:solidFill>
                  <a:srgbClr val="6B788A"/>
                </a:solidFill>
                <a:latin typeface="Arial"/>
                <a:ea typeface="Arial"/>
                <a:cs typeface="Arial"/>
              </a:rPr>
              <a:t>Sort objects into groups</a:t>
            </a:r>
          </a:p>
        </p:txBody>
      </p:sp>
      <p:sp>
        <p:nvSpPr>
          <p:cNvPr id="10" name="">
            <a:extLst xmlns:a="http://schemas.openxmlformats.org/drawingml/2006/main">
              <a:ext uri="{FF2B5EF4-FFF2-40B4-BE49-F238E27FC236}">
                <a16:creationId xmlns:a16="http://schemas.microsoft.com/office/drawing/2014/main" id="{88C55D1B-2C2E-4695-B6F4-6056C40F01A9}"/>
              </a:ext>
            </a:extLst>
          </p:cNvPr>
          <p:cNvSpPr>
            <a:spLocks xmlns:a="http://schemas.openxmlformats.org/drawingml/2006/main" noGrp="1"/>
          </p:cNvSpPr>
          <p:nvPr/>
        </p:nvSpPr>
        <p:spPr>
          <a:xfrm xmlns:a="http://schemas.openxmlformats.org/drawingml/2006/main">
            <a:off x="762000" y="1476375"/>
            <a:ext cx="5048250" cy="4000500"/>
          </a:xfrm>
          <a:prstGeom xmlns:a="http://schemas.openxmlformats.org/drawingml/2006/main" prst="roundRect">
            <a:avLst>
              <a:gd name="adj" fmla="val 1905"/>
            </a:avLst>
          </a:prstGeom>
          <a:solidFill xmlns:a="http://schemas.openxmlformats.org/drawingml/2006/main">
            <a:srgbClr val="E9F4FB"/>
          </a:solidFill>
          <a:ln xmlns:a="http://schemas.openxmlformats.org/drawingml/2006/main" w="19050">
            <a:solidFill>
              <a:srgbClr val="3F7DC0"/>
            </a:solidFill>
          </a:ln>
        </p:spPr>
      </p:sp>
      <p:sp>
        <p:nvSpPr>
          <p:cNvPr id="11" name="">
            <a:extLst xmlns:a="http://schemas.openxmlformats.org/drawingml/2006/main">
              <a:ext uri="{FF2B5EF4-FFF2-40B4-BE49-F238E27FC236}">
                <a16:creationId xmlns:a16="http://schemas.microsoft.com/office/drawing/2014/main" id="{80A8BCB6-84F4-4F67-8CF8-8C6E2B51B1FE}"/>
              </a:ext>
            </a:extLst>
          </p:cNvPr>
          <p:cNvSpPr>
            <a:spLocks xmlns:a="http://schemas.openxmlformats.org/drawingml/2006/main" noGrp="1"/>
          </p:cNvSpPr>
          <p:nvPr/>
        </p:nvSpPr>
        <p:spPr>
          <a:xfrm xmlns:a="http://schemas.openxmlformats.org/drawingml/2006/main">
            <a:off x="6381750" y="1476375"/>
            <a:ext cx="5048250" cy="4000500"/>
          </a:xfrm>
          <a:prstGeom xmlns:a="http://schemas.openxmlformats.org/drawingml/2006/main" prst="roundRect">
            <a:avLst>
              <a:gd name="adj" fmla="val 1905"/>
            </a:avLst>
          </a:prstGeom>
          <a:solidFill xmlns:a="http://schemas.openxmlformats.org/drawingml/2006/main">
            <a:srgbClr val="FFF0E7"/>
          </a:solidFill>
          <a:ln xmlns:a="http://schemas.openxmlformats.org/drawingml/2006/main" w="19050">
            <a:solidFill>
              <a:srgbClr val="B4232B"/>
            </a:solidFill>
          </a:ln>
        </p:spPr>
      </p:sp>
      <p:sp>
        <p:nvSpPr>
          <p:cNvPr id="12" name="">
            <a:extLst xmlns:a="http://schemas.openxmlformats.org/drawingml/2006/main">
              <a:ext uri="{FF2B5EF4-FFF2-40B4-BE49-F238E27FC236}">
                <a16:creationId xmlns:a16="http://schemas.microsoft.com/office/drawing/2014/main" id="{7307955A-AA20-49EF-BA1A-DCCC00647980}"/>
              </a:ext>
            </a:extLst>
          </p:cNvPr>
          <p:cNvSpPr>
            <a:spLocks xmlns:a="http://schemas.openxmlformats.org/drawingml/2006/main" noGrp="1"/>
          </p:cNvSpPr>
          <p:nvPr/>
        </p:nvSpPr>
        <p:spPr>
          <a:xfrm xmlns:a="http://schemas.openxmlformats.org/drawingml/2006/main">
            <a:off x="2047875" y="1762125"/>
            <a:ext cx="2476500" cy="361950"/>
          </a:xfrm>
          <a:prstGeom xmlns:a="http://schemas.openxmlformats.org/drawingml/2006/main" prst="roundRect">
            <a:avLst>
              <a:gd name="adj" fmla="val 21053"/>
            </a:avLst>
          </a:prstGeom>
          <a:solidFill xmlns:a="http://schemas.openxmlformats.org/drawingml/2006/main">
            <a:srgbClr val="3F7DC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0DB71EB-6122-45FE-BA0E-A976FB9F3271}"/>
              </a:ext>
            </a:extLst>
          </p:cNvPr>
          <p:cNvSpPr>
            <a:spLocks xmlns:a="http://schemas.openxmlformats.org/drawingml/2006/main" noGrp="1"/>
          </p:cNvSpPr>
          <p:nvPr/>
        </p:nvSpPr>
        <p:spPr>
          <a:xfrm xmlns:a="http://schemas.openxmlformats.org/drawingml/2006/main">
            <a:off x="2143125" y="1790700"/>
            <a:ext cx="2286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PARTNER A</a:t>
            </a:r>
          </a:p>
        </p:txBody>
      </p:sp>
      <p:sp>
        <p:nvSpPr>
          <p:cNvPr id="14" name="">
            <a:extLst xmlns:a="http://schemas.openxmlformats.org/drawingml/2006/main">
              <a:ext uri="{FF2B5EF4-FFF2-40B4-BE49-F238E27FC236}">
                <a16:creationId xmlns:a16="http://schemas.microsoft.com/office/drawing/2014/main" id="{38583189-6F09-41EB-8ECB-037390773B3A}"/>
              </a:ext>
            </a:extLst>
          </p:cNvPr>
          <p:cNvSpPr>
            <a:spLocks xmlns:a="http://schemas.openxmlformats.org/drawingml/2006/main" noGrp="1"/>
          </p:cNvSpPr>
          <p:nvPr/>
        </p:nvSpPr>
        <p:spPr>
          <a:xfrm xmlns:a="http://schemas.openxmlformats.org/drawingml/2006/main">
            <a:off x="7667625" y="1762125"/>
            <a:ext cx="2476500" cy="361950"/>
          </a:xfrm>
          <a:prstGeom xmlns:a="http://schemas.openxmlformats.org/drawingml/2006/main" prst="roundRect">
            <a:avLst>
              <a:gd name="adj" fmla="val 21053"/>
            </a:avLst>
          </a:prstGeom>
          <a:solidFill xmlns:a="http://schemas.openxmlformats.org/drawingml/2006/main">
            <a:srgbClr val="B4232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43BB9B5-2CF5-446C-A8E0-EB0A89E3C7A0}"/>
              </a:ext>
            </a:extLst>
          </p:cNvPr>
          <p:cNvSpPr>
            <a:spLocks xmlns:a="http://schemas.openxmlformats.org/drawingml/2006/main" noGrp="1"/>
          </p:cNvSpPr>
          <p:nvPr/>
        </p:nvSpPr>
        <p:spPr>
          <a:xfrm xmlns:a="http://schemas.openxmlformats.org/drawingml/2006/main">
            <a:off x="7762875" y="1790700"/>
            <a:ext cx="2286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PARTNER B</a:t>
            </a:r>
          </a:p>
        </p:txBody>
      </p:sp>
      <p:sp>
        <p:nvSpPr>
          <p:cNvPr id="16" name="">
            <a:extLst xmlns:a="http://schemas.openxmlformats.org/drawingml/2006/main">
              <a:ext uri="{FF2B5EF4-FFF2-40B4-BE49-F238E27FC236}">
                <a16:creationId xmlns:a16="http://schemas.microsoft.com/office/drawing/2014/main" id="{CEE1E1D5-AEDB-4F5A-84CC-451FC388EDDB}"/>
              </a:ext>
            </a:extLst>
          </p:cNvPr>
          <p:cNvSpPr>
            <a:spLocks xmlns:a="http://schemas.openxmlformats.org/drawingml/2006/main" noGrp="1"/>
          </p:cNvSpPr>
          <p:nvPr/>
        </p:nvSpPr>
        <p:spPr>
          <a:xfrm xmlns:a="http://schemas.openxmlformats.org/drawingml/2006/main">
            <a:off x="1190625" y="2571750"/>
            <a:ext cx="4191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025" b="1">
                <a:solidFill>
                  <a:srgbClr val="17253A"/>
                </a:solidFill>
                <a:latin typeface="Arial"/>
                <a:ea typeface="Arial"/>
                <a:cs typeface="Arial"/>
              </a:defRPr>
            </a:pPr>
            <a:r>
              <a:rPr sz="2025" b="1">
                <a:solidFill>
                  <a:srgbClr val="17253A"/>
                </a:solidFill>
                <a:latin typeface="Arial"/>
                <a:ea typeface="Arial"/>
                <a:cs typeface="Arial"/>
              </a:rPr>
              <a:t>Choose a rule and explain how you would sort four objects.</a:t>
            </a:r>
          </a:p>
        </p:txBody>
      </p:sp>
      <p:sp>
        <p:nvSpPr>
          <p:cNvPr id="17" name="">
            <a:extLst xmlns:a="http://schemas.openxmlformats.org/drawingml/2006/main">
              <a:ext uri="{FF2B5EF4-FFF2-40B4-BE49-F238E27FC236}">
                <a16:creationId xmlns:a16="http://schemas.microsoft.com/office/drawing/2014/main" id="{1D311BF0-BBFB-4405-94D4-1A00FC134A9B}"/>
              </a:ext>
            </a:extLst>
          </p:cNvPr>
          <p:cNvSpPr>
            <a:spLocks xmlns:a="http://schemas.openxmlformats.org/drawingml/2006/main" noGrp="1"/>
          </p:cNvSpPr>
          <p:nvPr/>
        </p:nvSpPr>
        <p:spPr>
          <a:xfrm xmlns:a="http://schemas.openxmlformats.org/drawingml/2006/main">
            <a:off x="6810375" y="2571750"/>
            <a:ext cx="4191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025" b="1">
                <a:solidFill>
                  <a:srgbClr val="17253A"/>
                </a:solidFill>
                <a:latin typeface="Arial"/>
                <a:ea typeface="Arial"/>
                <a:cs typeface="Arial"/>
              </a:defRPr>
            </a:pPr>
            <a:r>
              <a:rPr sz="2025" b="1">
                <a:solidFill>
                  <a:srgbClr val="17253A"/>
                </a:solidFill>
                <a:latin typeface="Arial"/>
                <a:ea typeface="Arial"/>
                <a:cs typeface="Arial"/>
              </a:rPr>
              <a:t>Listen. Repeat your partner’s rule, then ask one helpful question.</a:t>
            </a:r>
          </a:p>
        </p:txBody>
      </p:sp>
      <p:sp>
        <p:nvSpPr>
          <p:cNvPr id="18" name="">
            <a:extLst xmlns:a="http://schemas.openxmlformats.org/drawingml/2006/main">
              <a:ext uri="{FF2B5EF4-FFF2-40B4-BE49-F238E27FC236}">
                <a16:creationId xmlns:a16="http://schemas.microsoft.com/office/drawing/2014/main" id="{3E082CFD-1B95-4C12-A540-670A2AE25005}"/>
              </a:ext>
            </a:extLst>
          </p:cNvPr>
          <p:cNvSpPr>
            <a:spLocks xmlns:a="http://schemas.openxmlformats.org/drawingml/2006/main" noGrp="1"/>
          </p:cNvSpPr>
          <p:nvPr/>
        </p:nvSpPr>
        <p:spPr>
          <a:xfrm xmlns:a="http://schemas.openxmlformats.org/drawingml/2006/main">
            <a:off x="1809750" y="4429125"/>
            <a:ext cx="8572500"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19050">
            <a:solidFill>
              <a:srgbClr val="D9DEE7"/>
            </a:solidFill>
          </a:ln>
        </p:spPr>
      </p:sp>
      <p:sp>
        <p:nvSpPr>
          <p:cNvPr id="19" name="">
            <a:extLst xmlns:a="http://schemas.openxmlformats.org/drawingml/2006/main">
              <a:ext uri="{FF2B5EF4-FFF2-40B4-BE49-F238E27FC236}">
                <a16:creationId xmlns:a16="http://schemas.microsoft.com/office/drawing/2014/main" id="{F81E768E-EDA4-46CB-8DE4-267B49FCAACB}"/>
              </a:ext>
            </a:extLst>
          </p:cNvPr>
          <p:cNvSpPr>
            <a:spLocks xmlns:a="http://schemas.openxmlformats.org/drawingml/2006/main" noGrp="1"/>
          </p:cNvSpPr>
          <p:nvPr/>
        </p:nvSpPr>
        <p:spPr>
          <a:xfrm xmlns:a="http://schemas.openxmlformats.org/drawingml/2006/main">
            <a:off x="2019300" y="4543425"/>
            <a:ext cx="8153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253A"/>
                </a:solidFill>
                <a:latin typeface="Arial"/>
                <a:ea typeface="Arial"/>
                <a:cs typeface="Arial"/>
              </a:defRPr>
            </a:pPr>
            <a:r>
              <a:rPr sz="1650" b="1">
                <a:solidFill>
                  <a:srgbClr val="17253A"/>
                </a:solidFill>
                <a:latin typeface="Arial"/>
                <a:ea typeface="Arial"/>
                <a:cs typeface="Arial"/>
              </a:rPr>
              <a:t>I sorted by ______. I know ______ belongs here because ______.</a:t>
            </a:r>
          </a:p>
        </p:txBody>
      </p:sp>
    </p:spTree>
    <p:extLst>
      <p:ext uri="{BB962C8B-B14F-4D97-AF65-F5344CB8AC3E}">
        <p14:creationId xmlns:p14="http://schemas.microsoft.com/office/powerpoint/2010/main" val="1693290931"/>
      </p:ext>
    </p:extLst>
  </p:cSld>
</p:sld>
</file>

<file path=ppt/slides/slide13.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23C9FEF-A2DB-4A23-8632-F191D58919CB}"/>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B4232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B80EDE8-8185-41BB-BA99-C195649363F0}"/>
              </a:ext>
            </a:extLst>
          </p:cNvPr>
          <p:cNvSpPr>
            <a:spLocks xmlns:a="http://schemas.openxmlformats.org/drawingml/2006/main" noGrp="1"/>
          </p:cNvSpPr>
          <p:nvPr/>
        </p:nvSpPr>
        <p:spPr>
          <a:xfrm xmlns:a="http://schemas.openxmlformats.org/drawingml/2006/main">
            <a:off x="552450" y="285750"/>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B4232B"/>
                </a:solidFill>
                <a:latin typeface="Arial"/>
                <a:ea typeface="Arial"/>
                <a:cs typeface="Arial"/>
              </a:defRPr>
            </a:pPr>
            <a:r>
              <a:rPr sz="1050" b="1">
                <a:solidFill>
                  <a:srgbClr val="B4232B"/>
                </a:solidFill>
                <a:latin typeface="Arial"/>
                <a:ea typeface="Arial"/>
                <a:cs typeface="Arial"/>
              </a:rPr>
              <a:t>YEAR 1 MATHS  •  AUTUMN  •  WEEK 1  •  DAY 1</a:t>
            </a:r>
          </a:p>
        </p:txBody>
      </p:sp>
      <p:sp>
        <p:nvSpPr>
          <p:cNvPr id="3" name="">
            <a:extLst xmlns:a="http://schemas.openxmlformats.org/drawingml/2006/main">
              <a:ext uri="{FF2B5EF4-FFF2-40B4-BE49-F238E27FC236}">
                <a16:creationId xmlns:a16="http://schemas.microsoft.com/office/drawing/2014/main" id="{ECAF82DF-943D-4950-9266-CF7A380A5B15}"/>
              </a:ext>
            </a:extLst>
          </p:cNvPr>
          <p:cNvSpPr>
            <a:spLocks xmlns:a="http://schemas.openxmlformats.org/drawingml/2006/main" noGrp="1"/>
          </p:cNvSpPr>
          <p:nvPr/>
        </p:nvSpPr>
        <p:spPr>
          <a:xfrm xmlns:a="http://schemas.openxmlformats.org/drawingml/2006/main">
            <a:off x="552450" y="685800"/>
            <a:ext cx="1238250" cy="323850"/>
          </a:xfrm>
          <a:prstGeom xmlns:a="http://schemas.openxmlformats.org/drawingml/2006/main" prst="roundRect">
            <a:avLst>
              <a:gd name="adj" fmla="val 23529"/>
            </a:avLst>
          </a:prstGeom>
          <a:solidFill xmlns:a="http://schemas.openxmlformats.org/drawingml/2006/main">
            <a:srgbClr val="B4232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69DE46B-3423-4CAC-BE9C-5C1EAF5F9307}"/>
              </a:ext>
            </a:extLst>
          </p:cNvPr>
          <p:cNvSpPr>
            <a:spLocks xmlns:a="http://schemas.openxmlformats.org/drawingml/2006/main" noGrp="1"/>
          </p:cNvSpPr>
          <p:nvPr/>
        </p:nvSpPr>
        <p:spPr>
          <a:xfrm xmlns:a="http://schemas.openxmlformats.org/drawingml/2006/main">
            <a:off x="590550" y="704850"/>
            <a:ext cx="1162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FFFFFF"/>
                </a:solidFill>
                <a:latin typeface="Arial"/>
                <a:ea typeface="Arial"/>
                <a:cs typeface="Arial"/>
              </a:defRPr>
            </a:pPr>
            <a:r>
              <a:rPr sz="750" b="1">
                <a:solidFill>
                  <a:srgbClr val="FFFFFF"/>
                </a:solidFill>
                <a:latin typeface="Arial"/>
                <a:ea typeface="Arial"/>
                <a:cs typeface="Arial"/>
              </a:rPr>
              <a:t>PRACTISE</a:t>
            </a:r>
          </a:p>
        </p:txBody>
      </p:sp>
      <p:sp>
        <p:nvSpPr>
          <p:cNvPr id="5" name="">
            <a:extLst xmlns:a="http://schemas.openxmlformats.org/drawingml/2006/main">
              <a:ext uri="{FF2B5EF4-FFF2-40B4-BE49-F238E27FC236}">
                <a16:creationId xmlns:a16="http://schemas.microsoft.com/office/drawing/2014/main" id="{C33B166A-F990-4EE1-A93D-3845CA732C64}"/>
              </a:ext>
            </a:extLst>
          </p:cNvPr>
          <p:cNvSpPr>
            <a:spLocks xmlns:a="http://schemas.openxmlformats.org/drawingml/2006/main" noGrp="1"/>
          </p:cNvSpPr>
          <p:nvPr/>
        </p:nvSpPr>
        <p:spPr>
          <a:xfrm xmlns:a="http://schemas.openxmlformats.org/drawingml/2006/main">
            <a:off x="1962150" y="590550"/>
            <a:ext cx="8496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625" b="1">
                <a:solidFill>
                  <a:srgbClr val="17253A"/>
                </a:solidFill>
                <a:latin typeface="Arial"/>
                <a:ea typeface="Arial"/>
                <a:cs typeface="Arial"/>
              </a:defRPr>
            </a:pPr>
            <a:r>
              <a:rPr sz="2625" b="1">
                <a:solidFill>
                  <a:srgbClr val="17253A"/>
                </a:solidFill>
                <a:latin typeface="Arial"/>
                <a:ea typeface="Arial"/>
                <a:cs typeface="Arial"/>
              </a:rPr>
              <a:t>Independent practice: choose the right support</a:t>
            </a:r>
          </a:p>
        </p:txBody>
      </p:sp>
      <p:sp>
        <p:nvSpPr>
          <p:cNvPr id="6" name="">
            <a:extLst xmlns:a="http://schemas.openxmlformats.org/drawingml/2006/main">
              <a:ext uri="{FF2B5EF4-FFF2-40B4-BE49-F238E27FC236}">
                <a16:creationId xmlns:a16="http://schemas.microsoft.com/office/drawing/2014/main" id="{B99BDCFA-FDDC-4172-9016-3D7EF34031A0}"/>
              </a:ext>
            </a:extLst>
          </p:cNvPr>
          <p:cNvSpPr>
            <a:spLocks xmlns:a="http://schemas.openxmlformats.org/drawingml/2006/main" noGrp="1"/>
          </p:cNvSpPr>
          <p:nvPr/>
        </p:nvSpPr>
        <p:spPr>
          <a:xfrm xmlns:a="http://schemas.openxmlformats.org/drawingml/2006/main">
            <a:off x="10668000" y="4000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r">
              <a:defRPr sz="975" b="1">
                <a:solidFill>
                  <a:srgbClr val="6B788A"/>
                </a:solidFill>
                <a:latin typeface="Arial"/>
                <a:ea typeface="Arial"/>
                <a:cs typeface="Arial"/>
              </a:defRPr>
            </a:pPr>
            <a:r>
              <a:rPr sz="975" b="1">
                <a:solidFill>
                  <a:srgbClr val="6B788A"/>
                </a:solidFill>
                <a:latin typeface="Arial"/>
                <a:ea typeface="Arial"/>
                <a:cs typeface="Arial"/>
              </a:rPr>
              <a:t>13 / 15</a:t>
            </a:r>
          </a:p>
        </p:txBody>
      </p:sp>
      <p:sp>
        <p:nvSpPr>
          <p:cNvPr id="7" name="">
            <a:extLst xmlns:a="http://schemas.openxmlformats.org/drawingml/2006/main">
              <a:ext uri="{FF2B5EF4-FFF2-40B4-BE49-F238E27FC236}">
                <a16:creationId xmlns:a16="http://schemas.microsoft.com/office/drawing/2014/main" id="{5DA2D853-3612-4B12-BC54-A2303F837672}"/>
              </a:ext>
            </a:extLst>
          </p:cNvPr>
          <p:cNvSpPr>
            <a:spLocks xmlns:a="http://schemas.openxmlformats.org/drawingml/2006/main" noGrp="1"/>
          </p:cNvSpPr>
          <p:nvPr/>
        </p:nvSpPr>
        <p:spPr>
          <a:xfrm xmlns:a="http://schemas.openxmlformats.org/drawingml/2006/main">
            <a:off x="552450" y="6457950"/>
            <a:ext cx="11087100" cy="19050"/>
          </a:xfrm>
          <a:prstGeom xmlns:a="http://schemas.openxmlformats.org/drawingml/2006/main" prst="rect">
            <a:avLst/>
          </a:prstGeom>
          <a:solidFill xmlns:a="http://schemas.openxmlformats.org/drawingml/2006/main">
            <a:srgbClr val="D9DEE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1D95992-6302-44FE-8824-C76F36C7A7D7}"/>
              </a:ext>
            </a:extLst>
          </p:cNvPr>
          <p:cNvSpPr>
            <a:spLocks xmlns:a="http://schemas.openxmlformats.org/drawingml/2006/main" noGrp="1"/>
          </p:cNvSpPr>
          <p:nvPr/>
        </p:nvSpPr>
        <p:spPr>
          <a:xfrm xmlns:a="http://schemas.openxmlformats.org/drawingml/2006/main">
            <a:off x="552450" y="6543675"/>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l">
              <a:defRPr sz="900" b="0">
                <a:solidFill>
                  <a:srgbClr val="6B788A"/>
                </a:solidFill>
                <a:latin typeface="Arial"/>
                <a:ea typeface="Arial"/>
                <a:cs typeface="Arial"/>
              </a:defRPr>
            </a:pPr>
            <a:r>
              <a:rPr sz="900" b="0">
                <a:solidFill>
                  <a:srgbClr val="6B788A"/>
                </a:solidFill>
                <a:latin typeface="Arial"/>
                <a:ea typeface="Arial"/>
                <a:cs typeface="Arial"/>
              </a:rPr>
              <a:t>BrightPath Primary Learning</a:t>
            </a:r>
          </a:p>
        </p:txBody>
      </p:sp>
      <p:sp>
        <p:nvSpPr>
          <p:cNvPr id="9" name="">
            <a:extLst xmlns:a="http://schemas.openxmlformats.org/drawingml/2006/main">
              <a:ext uri="{FF2B5EF4-FFF2-40B4-BE49-F238E27FC236}">
                <a16:creationId xmlns:a16="http://schemas.microsoft.com/office/drawing/2014/main" id="{AA1611F8-5180-405A-8E23-CDD4C1A3B942}"/>
              </a:ext>
            </a:extLst>
          </p:cNvPr>
          <p:cNvSpPr>
            <a:spLocks xmlns:a="http://schemas.openxmlformats.org/drawingml/2006/main" noGrp="1"/>
          </p:cNvSpPr>
          <p:nvPr/>
        </p:nvSpPr>
        <p:spPr>
          <a:xfrm xmlns:a="http://schemas.openxmlformats.org/drawingml/2006/main">
            <a:off x="8477250" y="6543675"/>
            <a:ext cx="3162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0">
                <a:solidFill>
                  <a:srgbClr val="6B788A"/>
                </a:solidFill>
                <a:latin typeface="Arial"/>
                <a:ea typeface="Arial"/>
                <a:cs typeface="Arial"/>
              </a:defRPr>
            </a:pPr>
            <a:r>
              <a:rPr sz="900" b="0">
                <a:solidFill>
                  <a:srgbClr val="6B788A"/>
                </a:solidFill>
                <a:latin typeface="Arial"/>
                <a:ea typeface="Arial"/>
                <a:cs typeface="Arial"/>
              </a:rPr>
              <a:t>Sort objects into groups</a:t>
            </a:r>
          </a:p>
        </p:txBody>
      </p:sp>
      <p:sp>
        <p:nvSpPr>
          <p:cNvPr id="10" name="">
            <a:extLst xmlns:a="http://schemas.openxmlformats.org/drawingml/2006/main">
              <a:ext uri="{FF2B5EF4-FFF2-40B4-BE49-F238E27FC236}">
                <a16:creationId xmlns:a16="http://schemas.microsoft.com/office/drawing/2014/main" id="{7A222D00-4662-400B-9AAF-E52ED05782DC}"/>
              </a:ext>
            </a:extLst>
          </p:cNvPr>
          <p:cNvSpPr>
            <a:spLocks xmlns:a="http://schemas.openxmlformats.org/drawingml/2006/main" noGrp="1"/>
          </p:cNvSpPr>
          <p:nvPr/>
        </p:nvSpPr>
        <p:spPr>
          <a:xfrm xmlns:a="http://schemas.openxmlformats.org/drawingml/2006/main">
            <a:off x="523875" y="1476375"/>
            <a:ext cx="3524250" cy="4000500"/>
          </a:xfrm>
          <a:prstGeom xmlns:a="http://schemas.openxmlformats.org/drawingml/2006/main" prst="roundRect">
            <a:avLst>
              <a:gd name="adj" fmla="val 2162"/>
            </a:avLst>
          </a:prstGeom>
          <a:solidFill xmlns:a="http://schemas.openxmlformats.org/drawingml/2006/main">
            <a:srgbClr val="FFF0E7"/>
          </a:solidFill>
          <a:ln xmlns:a="http://schemas.openxmlformats.org/drawingml/2006/main" w="19050">
            <a:solidFill>
              <a:srgbClr val="B4232B"/>
            </a:solidFill>
          </a:ln>
        </p:spPr>
      </p:sp>
      <p:sp>
        <p:nvSpPr>
          <p:cNvPr id="11" name="">
            <a:extLst xmlns:a="http://schemas.openxmlformats.org/drawingml/2006/main">
              <a:ext uri="{FF2B5EF4-FFF2-40B4-BE49-F238E27FC236}">
                <a16:creationId xmlns:a16="http://schemas.microsoft.com/office/drawing/2014/main" id="{4DC5BA22-263A-43C3-93C6-3F9F60AE288C}"/>
              </a:ext>
            </a:extLst>
          </p:cNvPr>
          <p:cNvSpPr>
            <a:spLocks xmlns:a="http://schemas.openxmlformats.org/drawingml/2006/main" noGrp="1"/>
          </p:cNvSpPr>
          <p:nvPr/>
        </p:nvSpPr>
        <p:spPr>
          <a:xfrm xmlns:a="http://schemas.openxmlformats.org/drawingml/2006/main">
            <a:off x="1047750" y="1714500"/>
            <a:ext cx="247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B4232B"/>
                </a:solidFill>
                <a:latin typeface="Arial"/>
                <a:ea typeface="Arial"/>
                <a:cs typeface="Arial"/>
              </a:defRPr>
            </a:pPr>
            <a:r>
              <a:rPr sz="1950" b="1">
                <a:solidFill>
                  <a:srgbClr val="B4232B"/>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EFED81BF-04DB-4D10-B953-93F23D7C8AAF}"/>
              </a:ext>
            </a:extLst>
          </p:cNvPr>
          <p:cNvSpPr>
            <a:spLocks xmlns:a="http://schemas.openxmlformats.org/drawingml/2006/main" noGrp="1"/>
          </p:cNvSpPr>
          <p:nvPr/>
        </p:nvSpPr>
        <p:spPr>
          <a:xfrm xmlns:a="http://schemas.openxmlformats.org/drawingml/2006/main">
            <a:off x="809625" y="2333625"/>
            <a:ext cx="295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253A"/>
                </a:solidFill>
                <a:latin typeface="Arial"/>
                <a:ea typeface="Arial"/>
                <a:cs typeface="Arial"/>
              </a:defRPr>
            </a:pPr>
            <a:r>
              <a:rPr sz="1650" b="1">
                <a:solidFill>
                  <a:srgbClr val="17253A"/>
                </a:solidFill>
                <a:latin typeface="Arial"/>
                <a:ea typeface="Arial"/>
                <a:cs typeface="Arial"/>
              </a:rPr>
              <a:t>LOWER SUPPORT</a:t>
            </a:r>
          </a:p>
        </p:txBody>
      </p:sp>
      <p:sp>
        <p:nvSpPr>
          <p:cNvPr id="13" name="">
            <a:extLst xmlns:a="http://schemas.openxmlformats.org/drawingml/2006/main">
              <a:ext uri="{FF2B5EF4-FFF2-40B4-BE49-F238E27FC236}">
                <a16:creationId xmlns:a16="http://schemas.microsoft.com/office/drawing/2014/main" id="{924A8AB5-12F6-4821-A179-F44E3E20C585}"/>
              </a:ext>
            </a:extLst>
          </p:cNvPr>
          <p:cNvSpPr>
            <a:spLocks xmlns:a="http://schemas.openxmlformats.org/drawingml/2006/main" noGrp="1"/>
          </p:cNvSpPr>
          <p:nvPr/>
        </p:nvSpPr>
        <p:spPr>
          <a:xfrm xmlns:a="http://schemas.openxmlformats.org/drawingml/2006/main">
            <a:off x="923925" y="3067050"/>
            <a:ext cx="27241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0">
                <a:solidFill>
                  <a:srgbClr val="40516A"/>
                </a:solidFill>
                <a:latin typeface="Arial"/>
                <a:ea typeface="Arial"/>
                <a:cs typeface="Arial"/>
              </a:defRPr>
            </a:pPr>
            <a:r>
              <a:rPr sz="1575" b="0">
                <a:solidFill>
                  <a:srgbClr val="40516A"/>
                </a:solidFill>
                <a:latin typeface="Arial"/>
                <a:ea typeface="Arial"/>
                <a:cs typeface="Arial"/>
              </a:rPr>
              <a:t>Use real objects. Sort by one shown property. Say the rule with an adult.</a:t>
            </a:r>
          </a:p>
        </p:txBody>
      </p:sp>
      <p:sp>
        <p:nvSpPr>
          <p:cNvPr id="14" name="">
            <a:extLst xmlns:a="http://schemas.openxmlformats.org/drawingml/2006/main">
              <a:ext uri="{FF2B5EF4-FFF2-40B4-BE49-F238E27FC236}">
                <a16:creationId xmlns:a16="http://schemas.microsoft.com/office/drawing/2014/main" id="{6C3B2ADE-3325-4F63-B431-DF226315965D}"/>
              </a:ext>
            </a:extLst>
          </p:cNvPr>
          <p:cNvSpPr>
            <a:spLocks xmlns:a="http://schemas.openxmlformats.org/drawingml/2006/main" noGrp="1"/>
          </p:cNvSpPr>
          <p:nvPr/>
        </p:nvSpPr>
        <p:spPr>
          <a:xfrm xmlns:a="http://schemas.openxmlformats.org/drawingml/2006/main">
            <a:off x="952500" y="4810125"/>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B4232B"/>
                </a:solidFill>
                <a:latin typeface="Arial"/>
                <a:ea typeface="Arial"/>
                <a:cs typeface="Arial"/>
              </a:defRPr>
            </a:pPr>
            <a:r>
              <a:rPr sz="1350" b="1">
                <a:solidFill>
                  <a:srgbClr val="B4232B"/>
                </a:solidFill>
                <a:latin typeface="Arial"/>
                <a:ea typeface="Arial"/>
                <a:cs typeface="Arial"/>
              </a:rPr>
              <a:t>Show your thinking.</a:t>
            </a:r>
          </a:p>
        </p:txBody>
      </p:sp>
      <p:sp>
        <p:nvSpPr>
          <p:cNvPr id="15" name="">
            <a:extLst xmlns:a="http://schemas.openxmlformats.org/drawingml/2006/main">
              <a:ext uri="{FF2B5EF4-FFF2-40B4-BE49-F238E27FC236}">
                <a16:creationId xmlns:a16="http://schemas.microsoft.com/office/drawing/2014/main" id="{0F328FB0-B364-4922-8DBA-B9F9E8165DD7}"/>
              </a:ext>
            </a:extLst>
          </p:cNvPr>
          <p:cNvSpPr>
            <a:spLocks xmlns:a="http://schemas.openxmlformats.org/drawingml/2006/main" noGrp="1"/>
          </p:cNvSpPr>
          <p:nvPr/>
        </p:nvSpPr>
        <p:spPr>
          <a:xfrm xmlns:a="http://schemas.openxmlformats.org/drawingml/2006/main">
            <a:off x="4400550" y="1476375"/>
            <a:ext cx="3524250" cy="4000500"/>
          </a:xfrm>
          <a:prstGeom xmlns:a="http://schemas.openxmlformats.org/drawingml/2006/main" prst="roundRect">
            <a:avLst>
              <a:gd name="adj" fmla="val 2162"/>
            </a:avLst>
          </a:prstGeom>
          <a:solidFill xmlns:a="http://schemas.openxmlformats.org/drawingml/2006/main">
            <a:srgbClr val="E9F4FB"/>
          </a:solidFill>
          <a:ln xmlns:a="http://schemas.openxmlformats.org/drawingml/2006/main" w="19050">
            <a:solidFill>
              <a:srgbClr val="3F7DC0"/>
            </a:solidFill>
          </a:ln>
        </p:spPr>
      </p:sp>
      <p:sp>
        <p:nvSpPr>
          <p:cNvPr id="16" name="">
            <a:extLst xmlns:a="http://schemas.openxmlformats.org/drawingml/2006/main">
              <a:ext uri="{FF2B5EF4-FFF2-40B4-BE49-F238E27FC236}">
                <a16:creationId xmlns:a16="http://schemas.microsoft.com/office/drawing/2014/main" id="{C6217017-35C3-4622-95B1-857F5EA609E5}"/>
              </a:ext>
            </a:extLst>
          </p:cNvPr>
          <p:cNvSpPr>
            <a:spLocks xmlns:a="http://schemas.openxmlformats.org/drawingml/2006/main" noGrp="1"/>
          </p:cNvSpPr>
          <p:nvPr/>
        </p:nvSpPr>
        <p:spPr>
          <a:xfrm xmlns:a="http://schemas.openxmlformats.org/drawingml/2006/main">
            <a:off x="4924425" y="1714500"/>
            <a:ext cx="247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3F7DC0"/>
                </a:solidFill>
                <a:latin typeface="Arial"/>
                <a:ea typeface="Arial"/>
                <a:cs typeface="Arial"/>
              </a:defRPr>
            </a:pPr>
            <a:r>
              <a:rPr sz="1950" b="1">
                <a:solidFill>
                  <a:srgbClr val="3F7DC0"/>
                </a:solidFill>
                <a:latin typeface="Arial"/>
                <a:ea typeface="Arial"/>
                <a:cs typeface="Arial"/>
              </a:rPr>
              <a:t>● ●</a:t>
            </a:r>
          </a:p>
        </p:txBody>
      </p:sp>
      <p:sp>
        <p:nvSpPr>
          <p:cNvPr id="17" name="">
            <a:extLst xmlns:a="http://schemas.openxmlformats.org/drawingml/2006/main">
              <a:ext uri="{FF2B5EF4-FFF2-40B4-BE49-F238E27FC236}">
                <a16:creationId xmlns:a16="http://schemas.microsoft.com/office/drawing/2014/main" id="{CAC223BA-5152-4D43-A075-369132BEDB79}"/>
              </a:ext>
            </a:extLst>
          </p:cNvPr>
          <p:cNvSpPr>
            <a:spLocks xmlns:a="http://schemas.openxmlformats.org/drawingml/2006/main" noGrp="1"/>
          </p:cNvSpPr>
          <p:nvPr/>
        </p:nvSpPr>
        <p:spPr>
          <a:xfrm xmlns:a="http://schemas.openxmlformats.org/drawingml/2006/main">
            <a:off x="4686300" y="2333625"/>
            <a:ext cx="295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253A"/>
                </a:solidFill>
                <a:latin typeface="Arial"/>
                <a:ea typeface="Arial"/>
                <a:cs typeface="Arial"/>
              </a:defRPr>
            </a:pPr>
            <a:r>
              <a:rPr sz="1650" b="1">
                <a:solidFill>
                  <a:srgbClr val="17253A"/>
                </a:solidFill>
                <a:latin typeface="Arial"/>
                <a:ea typeface="Arial"/>
                <a:cs typeface="Arial"/>
              </a:rPr>
              <a:t>EXPECTED</a:t>
            </a:r>
          </a:p>
        </p:txBody>
      </p:sp>
      <p:sp>
        <p:nvSpPr>
          <p:cNvPr id="18" name="">
            <a:extLst xmlns:a="http://schemas.openxmlformats.org/drawingml/2006/main">
              <a:ext uri="{FF2B5EF4-FFF2-40B4-BE49-F238E27FC236}">
                <a16:creationId xmlns:a16="http://schemas.microsoft.com/office/drawing/2014/main" id="{C0B0BF57-2A56-4899-965B-A7E12F3E6682}"/>
              </a:ext>
            </a:extLst>
          </p:cNvPr>
          <p:cNvSpPr>
            <a:spLocks xmlns:a="http://schemas.openxmlformats.org/drawingml/2006/main" noGrp="1"/>
          </p:cNvSpPr>
          <p:nvPr/>
        </p:nvSpPr>
        <p:spPr>
          <a:xfrm xmlns:a="http://schemas.openxmlformats.org/drawingml/2006/main">
            <a:off x="4800600" y="3067050"/>
            <a:ext cx="27241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0">
                <a:solidFill>
                  <a:srgbClr val="40516A"/>
                </a:solidFill>
                <a:latin typeface="Arial"/>
                <a:ea typeface="Arial"/>
                <a:cs typeface="Arial"/>
              </a:defRPr>
            </a:pPr>
            <a:r>
              <a:rPr sz="1575" b="0">
                <a:solidFill>
                  <a:srgbClr val="40516A"/>
                </a:solidFill>
                <a:latin typeface="Arial"/>
                <a:ea typeface="Arial"/>
                <a:cs typeface="Arial"/>
              </a:rPr>
              <a:t>Sort picture sets independently. Record the groups and explain the rule.</a:t>
            </a:r>
          </a:p>
        </p:txBody>
      </p:sp>
      <p:sp>
        <p:nvSpPr>
          <p:cNvPr id="19" name="">
            <a:extLst xmlns:a="http://schemas.openxmlformats.org/drawingml/2006/main">
              <a:ext uri="{FF2B5EF4-FFF2-40B4-BE49-F238E27FC236}">
                <a16:creationId xmlns:a16="http://schemas.microsoft.com/office/drawing/2014/main" id="{5FA2988C-DE8A-43A6-B603-972BF53020E3}"/>
              </a:ext>
            </a:extLst>
          </p:cNvPr>
          <p:cNvSpPr>
            <a:spLocks xmlns:a="http://schemas.openxmlformats.org/drawingml/2006/main" noGrp="1"/>
          </p:cNvSpPr>
          <p:nvPr/>
        </p:nvSpPr>
        <p:spPr>
          <a:xfrm xmlns:a="http://schemas.openxmlformats.org/drawingml/2006/main">
            <a:off x="4829175" y="4810125"/>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3F7DC0"/>
                </a:solidFill>
                <a:latin typeface="Arial"/>
                <a:ea typeface="Arial"/>
                <a:cs typeface="Arial"/>
              </a:defRPr>
            </a:pPr>
            <a:r>
              <a:rPr sz="1350" b="1">
                <a:solidFill>
                  <a:srgbClr val="3F7DC0"/>
                </a:solidFill>
                <a:latin typeface="Arial"/>
                <a:ea typeface="Arial"/>
                <a:cs typeface="Arial"/>
              </a:rPr>
              <a:t>Show your thinking.</a:t>
            </a:r>
          </a:p>
        </p:txBody>
      </p:sp>
      <p:sp>
        <p:nvSpPr>
          <p:cNvPr id="20" name="">
            <a:extLst xmlns:a="http://schemas.openxmlformats.org/drawingml/2006/main">
              <a:ext uri="{FF2B5EF4-FFF2-40B4-BE49-F238E27FC236}">
                <a16:creationId xmlns:a16="http://schemas.microsoft.com/office/drawing/2014/main" id="{18329B0A-948A-468F-B5BD-AD5178EB2F3D}"/>
              </a:ext>
            </a:extLst>
          </p:cNvPr>
          <p:cNvSpPr>
            <a:spLocks xmlns:a="http://schemas.openxmlformats.org/drawingml/2006/main" noGrp="1"/>
          </p:cNvSpPr>
          <p:nvPr/>
        </p:nvSpPr>
        <p:spPr>
          <a:xfrm xmlns:a="http://schemas.openxmlformats.org/drawingml/2006/main">
            <a:off x="8277225" y="1476375"/>
            <a:ext cx="3524250" cy="4000500"/>
          </a:xfrm>
          <a:prstGeom xmlns:a="http://schemas.openxmlformats.org/drawingml/2006/main" prst="roundRect">
            <a:avLst>
              <a:gd name="adj" fmla="val 2162"/>
            </a:avLst>
          </a:prstGeom>
          <a:solidFill xmlns:a="http://schemas.openxmlformats.org/drawingml/2006/main">
            <a:srgbClr val="F3ECFA"/>
          </a:solidFill>
          <a:ln xmlns:a="http://schemas.openxmlformats.org/drawingml/2006/main" w="19050">
            <a:solidFill>
              <a:srgbClr val="76469A"/>
            </a:solidFill>
          </a:ln>
        </p:spPr>
      </p:sp>
      <p:sp>
        <p:nvSpPr>
          <p:cNvPr id="21" name="">
            <a:extLst xmlns:a="http://schemas.openxmlformats.org/drawingml/2006/main">
              <a:ext uri="{FF2B5EF4-FFF2-40B4-BE49-F238E27FC236}">
                <a16:creationId xmlns:a16="http://schemas.microsoft.com/office/drawing/2014/main" id="{013F632C-FDCC-455B-AFD7-42962C8F01B9}"/>
              </a:ext>
            </a:extLst>
          </p:cNvPr>
          <p:cNvSpPr>
            <a:spLocks xmlns:a="http://schemas.openxmlformats.org/drawingml/2006/main" noGrp="1"/>
          </p:cNvSpPr>
          <p:nvPr/>
        </p:nvSpPr>
        <p:spPr>
          <a:xfrm xmlns:a="http://schemas.openxmlformats.org/drawingml/2006/main">
            <a:off x="8801100" y="1714500"/>
            <a:ext cx="247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76469A"/>
                </a:solidFill>
                <a:latin typeface="Arial"/>
                <a:ea typeface="Arial"/>
                <a:cs typeface="Arial"/>
              </a:defRPr>
            </a:pPr>
            <a:r>
              <a:rPr sz="1950" b="1">
                <a:solidFill>
                  <a:srgbClr val="76469A"/>
                </a:solidFill>
                <a:latin typeface="Arial"/>
                <a:ea typeface="Arial"/>
                <a:cs typeface="Arial"/>
              </a:rPr>
              <a:t>● ● ●</a:t>
            </a:r>
          </a:p>
        </p:txBody>
      </p:sp>
      <p:sp>
        <p:nvSpPr>
          <p:cNvPr id="22" name="">
            <a:extLst xmlns:a="http://schemas.openxmlformats.org/drawingml/2006/main">
              <a:ext uri="{FF2B5EF4-FFF2-40B4-BE49-F238E27FC236}">
                <a16:creationId xmlns:a16="http://schemas.microsoft.com/office/drawing/2014/main" id="{FA0E8C4A-65D3-466C-A9B3-1D62E184B83D}"/>
              </a:ext>
            </a:extLst>
          </p:cNvPr>
          <p:cNvSpPr>
            <a:spLocks xmlns:a="http://schemas.openxmlformats.org/drawingml/2006/main" noGrp="1"/>
          </p:cNvSpPr>
          <p:nvPr/>
        </p:nvSpPr>
        <p:spPr>
          <a:xfrm xmlns:a="http://schemas.openxmlformats.org/drawingml/2006/main">
            <a:off x="8562975" y="2333625"/>
            <a:ext cx="295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253A"/>
                </a:solidFill>
                <a:latin typeface="Arial"/>
                <a:ea typeface="Arial"/>
                <a:cs typeface="Arial"/>
              </a:defRPr>
            </a:pPr>
            <a:r>
              <a:rPr sz="1650" b="1">
                <a:solidFill>
                  <a:srgbClr val="17253A"/>
                </a:solidFill>
                <a:latin typeface="Arial"/>
                <a:ea typeface="Arial"/>
                <a:cs typeface="Arial"/>
              </a:rPr>
              <a:t>HIGHER / FINISHER</a:t>
            </a:r>
          </a:p>
        </p:txBody>
      </p:sp>
      <p:sp>
        <p:nvSpPr>
          <p:cNvPr id="23" name="">
            <a:extLst xmlns:a="http://schemas.openxmlformats.org/drawingml/2006/main">
              <a:ext uri="{FF2B5EF4-FFF2-40B4-BE49-F238E27FC236}">
                <a16:creationId xmlns:a16="http://schemas.microsoft.com/office/drawing/2014/main" id="{AEE9D6DB-70C5-4CC0-B891-D24A3C70C1C8}"/>
              </a:ext>
            </a:extLst>
          </p:cNvPr>
          <p:cNvSpPr>
            <a:spLocks xmlns:a="http://schemas.openxmlformats.org/drawingml/2006/main" noGrp="1"/>
          </p:cNvSpPr>
          <p:nvPr/>
        </p:nvSpPr>
        <p:spPr>
          <a:xfrm xmlns:a="http://schemas.openxmlformats.org/drawingml/2006/main">
            <a:off x="8677275" y="3067050"/>
            <a:ext cx="27241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0">
                <a:solidFill>
                  <a:srgbClr val="40516A"/>
                </a:solidFill>
                <a:latin typeface="Arial"/>
                <a:ea typeface="Arial"/>
                <a:cs typeface="Arial"/>
              </a:defRPr>
            </a:pPr>
            <a:r>
              <a:rPr sz="1575" b="0">
                <a:solidFill>
                  <a:srgbClr val="40516A"/>
                </a:solidFill>
                <a:latin typeface="Arial"/>
                <a:ea typeface="Arial"/>
                <a:cs typeface="Arial"/>
              </a:rPr>
              <a:t>Find two valid rules. Explain how the groups change and justify your choice.</a:t>
            </a:r>
          </a:p>
        </p:txBody>
      </p:sp>
      <p:sp>
        <p:nvSpPr>
          <p:cNvPr id="24" name="">
            <a:extLst xmlns:a="http://schemas.openxmlformats.org/drawingml/2006/main">
              <a:ext uri="{FF2B5EF4-FFF2-40B4-BE49-F238E27FC236}">
                <a16:creationId xmlns:a16="http://schemas.microsoft.com/office/drawing/2014/main" id="{2BAE7981-E7FC-41EE-AA37-BACAEA1D432D}"/>
              </a:ext>
            </a:extLst>
          </p:cNvPr>
          <p:cNvSpPr>
            <a:spLocks xmlns:a="http://schemas.openxmlformats.org/drawingml/2006/main" noGrp="1"/>
          </p:cNvSpPr>
          <p:nvPr/>
        </p:nvSpPr>
        <p:spPr>
          <a:xfrm xmlns:a="http://schemas.openxmlformats.org/drawingml/2006/main">
            <a:off x="8705850" y="4810125"/>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76469A"/>
                </a:solidFill>
                <a:latin typeface="Arial"/>
                <a:ea typeface="Arial"/>
                <a:cs typeface="Arial"/>
              </a:defRPr>
            </a:pPr>
            <a:r>
              <a:rPr sz="1350" b="1">
                <a:solidFill>
                  <a:srgbClr val="76469A"/>
                </a:solidFill>
                <a:latin typeface="Arial"/>
                <a:ea typeface="Arial"/>
                <a:cs typeface="Arial"/>
              </a:rPr>
              <a:t>Show your thinking.</a:t>
            </a:r>
          </a:p>
        </p:txBody>
      </p:sp>
      <p:sp>
        <p:nvSpPr>
          <p:cNvPr id="25" name="">
            <a:extLst xmlns:a="http://schemas.openxmlformats.org/drawingml/2006/main">
              <a:ext uri="{FF2B5EF4-FFF2-40B4-BE49-F238E27FC236}">
                <a16:creationId xmlns:a16="http://schemas.microsoft.com/office/drawing/2014/main" id="{81E7E1F8-2A5A-41BA-B5A7-904AA55A91D4}"/>
              </a:ext>
            </a:extLst>
          </p:cNvPr>
          <p:cNvSpPr>
            <a:spLocks xmlns:a="http://schemas.openxmlformats.org/drawingml/2006/main" noGrp="1"/>
          </p:cNvSpPr>
          <p:nvPr/>
        </p:nvSpPr>
        <p:spPr>
          <a:xfrm xmlns:a="http://schemas.openxmlformats.org/drawingml/2006/main">
            <a:off x="2095500" y="5810250"/>
            <a:ext cx="800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6B788A"/>
                </a:solidFill>
                <a:latin typeface="Arial"/>
                <a:ea typeface="Arial"/>
                <a:cs typeface="Arial"/>
              </a:defRPr>
            </a:pPr>
            <a:r>
              <a:rPr sz="1350" b="1">
                <a:solidFill>
                  <a:srgbClr val="6B788A"/>
                </a:solidFill>
                <a:latin typeface="Arial"/>
                <a:ea typeface="Arial"/>
                <a:cs typeface="Arial"/>
              </a:rPr>
              <a:t>The teacher may change your sheet today. That helps everyone learn well.</a:t>
            </a:r>
          </a:p>
        </p:txBody>
      </p:sp>
    </p:spTree>
    <p:extLst>
      <p:ext uri="{BB962C8B-B14F-4D97-AF65-F5344CB8AC3E}">
        <p14:creationId xmlns:p14="http://schemas.microsoft.com/office/powerpoint/2010/main" val="60363115"/>
      </p:ext>
    </p:extLst>
  </p:cSld>
</p:sld>
</file>

<file path=ppt/slides/slide14.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E0A8222-BA58-47FC-9065-FC6579C2AA8F}"/>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B4232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7855AFA-5C25-4239-B13E-28ACC533F061}"/>
              </a:ext>
            </a:extLst>
          </p:cNvPr>
          <p:cNvSpPr>
            <a:spLocks xmlns:a="http://schemas.openxmlformats.org/drawingml/2006/main" noGrp="1"/>
          </p:cNvSpPr>
          <p:nvPr/>
        </p:nvSpPr>
        <p:spPr>
          <a:xfrm xmlns:a="http://schemas.openxmlformats.org/drawingml/2006/main">
            <a:off x="552450" y="285750"/>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B4232B"/>
                </a:solidFill>
                <a:latin typeface="Arial"/>
                <a:ea typeface="Arial"/>
                <a:cs typeface="Arial"/>
              </a:defRPr>
            </a:pPr>
            <a:r>
              <a:rPr sz="1050" b="1">
                <a:solidFill>
                  <a:srgbClr val="B4232B"/>
                </a:solidFill>
                <a:latin typeface="Arial"/>
                <a:ea typeface="Arial"/>
                <a:cs typeface="Arial"/>
              </a:rPr>
              <a:t>YEAR 1 MATHS  •  AUTUMN  •  WEEK 1  •  DAY 1</a:t>
            </a:r>
          </a:p>
        </p:txBody>
      </p:sp>
      <p:sp>
        <p:nvSpPr>
          <p:cNvPr id="3" name="">
            <a:extLst xmlns:a="http://schemas.openxmlformats.org/drawingml/2006/main">
              <a:ext uri="{FF2B5EF4-FFF2-40B4-BE49-F238E27FC236}">
                <a16:creationId xmlns:a16="http://schemas.microsoft.com/office/drawing/2014/main" id="{47B9A754-1170-49F8-B480-2D817B69DFD7}"/>
              </a:ext>
            </a:extLst>
          </p:cNvPr>
          <p:cNvSpPr>
            <a:spLocks xmlns:a="http://schemas.openxmlformats.org/drawingml/2006/main" noGrp="1"/>
          </p:cNvSpPr>
          <p:nvPr/>
        </p:nvSpPr>
        <p:spPr>
          <a:xfrm xmlns:a="http://schemas.openxmlformats.org/drawingml/2006/main">
            <a:off x="552450" y="685800"/>
            <a:ext cx="1238250" cy="323850"/>
          </a:xfrm>
          <a:prstGeom xmlns:a="http://schemas.openxmlformats.org/drawingml/2006/main" prst="roundRect">
            <a:avLst>
              <a:gd name="adj" fmla="val 23529"/>
            </a:avLst>
          </a:prstGeom>
          <a:solidFill xmlns:a="http://schemas.openxmlformats.org/drawingml/2006/main">
            <a:srgbClr val="B4232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199EB8E-C883-42B8-A05D-C083B43056B8}"/>
              </a:ext>
            </a:extLst>
          </p:cNvPr>
          <p:cNvSpPr>
            <a:spLocks xmlns:a="http://schemas.openxmlformats.org/drawingml/2006/main" noGrp="1"/>
          </p:cNvSpPr>
          <p:nvPr/>
        </p:nvSpPr>
        <p:spPr>
          <a:xfrm xmlns:a="http://schemas.openxmlformats.org/drawingml/2006/main">
            <a:off x="590550" y="704850"/>
            <a:ext cx="1162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FFFFFF"/>
                </a:solidFill>
                <a:latin typeface="Arial"/>
                <a:ea typeface="Arial"/>
                <a:cs typeface="Arial"/>
              </a:defRPr>
            </a:pPr>
            <a:r>
              <a:rPr sz="750" b="1">
                <a:solidFill>
                  <a:srgbClr val="FFFFFF"/>
                </a:solidFill>
                <a:latin typeface="Arial"/>
                <a:ea typeface="Arial"/>
                <a:cs typeface="Arial"/>
              </a:rPr>
              <a:t>DEEPEN</a:t>
            </a:r>
          </a:p>
        </p:txBody>
      </p:sp>
      <p:sp>
        <p:nvSpPr>
          <p:cNvPr id="5" name="">
            <a:extLst xmlns:a="http://schemas.openxmlformats.org/drawingml/2006/main">
              <a:ext uri="{FF2B5EF4-FFF2-40B4-BE49-F238E27FC236}">
                <a16:creationId xmlns:a16="http://schemas.microsoft.com/office/drawing/2014/main" id="{B80A5D89-268E-468C-AA18-1812AD2EB973}"/>
              </a:ext>
            </a:extLst>
          </p:cNvPr>
          <p:cNvSpPr>
            <a:spLocks xmlns:a="http://schemas.openxmlformats.org/drawingml/2006/main" noGrp="1"/>
          </p:cNvSpPr>
          <p:nvPr/>
        </p:nvSpPr>
        <p:spPr>
          <a:xfrm xmlns:a="http://schemas.openxmlformats.org/drawingml/2006/main">
            <a:off x="1962150" y="590550"/>
            <a:ext cx="8496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625" b="1">
                <a:solidFill>
                  <a:srgbClr val="17253A"/>
                </a:solidFill>
                <a:latin typeface="Arial"/>
                <a:ea typeface="Arial"/>
                <a:cs typeface="Arial"/>
              </a:defRPr>
            </a:pPr>
            <a:r>
              <a:rPr sz="2625" b="1">
                <a:solidFill>
                  <a:srgbClr val="17253A"/>
                </a:solidFill>
                <a:latin typeface="Arial"/>
                <a:ea typeface="Arial"/>
                <a:cs typeface="Arial"/>
              </a:rPr>
              <a:t>Challenge: one set, two correct sorts</a:t>
            </a:r>
          </a:p>
        </p:txBody>
      </p:sp>
      <p:sp>
        <p:nvSpPr>
          <p:cNvPr id="6" name="">
            <a:extLst xmlns:a="http://schemas.openxmlformats.org/drawingml/2006/main">
              <a:ext uri="{FF2B5EF4-FFF2-40B4-BE49-F238E27FC236}">
                <a16:creationId xmlns:a16="http://schemas.microsoft.com/office/drawing/2014/main" id="{F7935455-750C-4B19-9D99-9723285FAB29}"/>
              </a:ext>
            </a:extLst>
          </p:cNvPr>
          <p:cNvSpPr>
            <a:spLocks xmlns:a="http://schemas.openxmlformats.org/drawingml/2006/main" noGrp="1"/>
          </p:cNvSpPr>
          <p:nvPr/>
        </p:nvSpPr>
        <p:spPr>
          <a:xfrm xmlns:a="http://schemas.openxmlformats.org/drawingml/2006/main">
            <a:off x="10668000" y="4000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r">
              <a:defRPr sz="975" b="1">
                <a:solidFill>
                  <a:srgbClr val="6B788A"/>
                </a:solidFill>
                <a:latin typeface="Arial"/>
                <a:ea typeface="Arial"/>
                <a:cs typeface="Arial"/>
              </a:defRPr>
            </a:pPr>
            <a:r>
              <a:rPr sz="975" b="1">
                <a:solidFill>
                  <a:srgbClr val="6B788A"/>
                </a:solidFill>
                <a:latin typeface="Arial"/>
                <a:ea typeface="Arial"/>
                <a:cs typeface="Arial"/>
              </a:rPr>
              <a:t>14 / 15</a:t>
            </a:r>
          </a:p>
        </p:txBody>
      </p:sp>
      <p:sp>
        <p:nvSpPr>
          <p:cNvPr id="7" name="">
            <a:extLst xmlns:a="http://schemas.openxmlformats.org/drawingml/2006/main">
              <a:ext uri="{FF2B5EF4-FFF2-40B4-BE49-F238E27FC236}">
                <a16:creationId xmlns:a16="http://schemas.microsoft.com/office/drawing/2014/main" id="{243F73D4-110D-464C-BBA1-01BF31D5303C}"/>
              </a:ext>
            </a:extLst>
          </p:cNvPr>
          <p:cNvSpPr>
            <a:spLocks xmlns:a="http://schemas.openxmlformats.org/drawingml/2006/main" noGrp="1"/>
          </p:cNvSpPr>
          <p:nvPr/>
        </p:nvSpPr>
        <p:spPr>
          <a:xfrm xmlns:a="http://schemas.openxmlformats.org/drawingml/2006/main">
            <a:off x="552450" y="6457950"/>
            <a:ext cx="11087100" cy="19050"/>
          </a:xfrm>
          <a:prstGeom xmlns:a="http://schemas.openxmlformats.org/drawingml/2006/main" prst="rect">
            <a:avLst/>
          </a:prstGeom>
          <a:solidFill xmlns:a="http://schemas.openxmlformats.org/drawingml/2006/main">
            <a:srgbClr val="D9DEE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F4B5512-524D-452F-96FC-28F2CA78319C}"/>
              </a:ext>
            </a:extLst>
          </p:cNvPr>
          <p:cNvSpPr>
            <a:spLocks xmlns:a="http://schemas.openxmlformats.org/drawingml/2006/main" noGrp="1"/>
          </p:cNvSpPr>
          <p:nvPr/>
        </p:nvSpPr>
        <p:spPr>
          <a:xfrm xmlns:a="http://schemas.openxmlformats.org/drawingml/2006/main">
            <a:off x="552450" y="6543675"/>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l">
              <a:defRPr sz="900" b="0">
                <a:solidFill>
                  <a:srgbClr val="6B788A"/>
                </a:solidFill>
                <a:latin typeface="Arial"/>
                <a:ea typeface="Arial"/>
                <a:cs typeface="Arial"/>
              </a:defRPr>
            </a:pPr>
            <a:r>
              <a:rPr sz="900" b="0">
                <a:solidFill>
                  <a:srgbClr val="6B788A"/>
                </a:solidFill>
                <a:latin typeface="Arial"/>
                <a:ea typeface="Arial"/>
                <a:cs typeface="Arial"/>
              </a:rPr>
              <a:t>BrightPath Primary Learning</a:t>
            </a:r>
          </a:p>
        </p:txBody>
      </p:sp>
      <p:sp>
        <p:nvSpPr>
          <p:cNvPr id="9" name="">
            <a:extLst xmlns:a="http://schemas.openxmlformats.org/drawingml/2006/main">
              <a:ext uri="{FF2B5EF4-FFF2-40B4-BE49-F238E27FC236}">
                <a16:creationId xmlns:a16="http://schemas.microsoft.com/office/drawing/2014/main" id="{F9352156-68B4-463E-B319-71AEFD8E22FE}"/>
              </a:ext>
            </a:extLst>
          </p:cNvPr>
          <p:cNvSpPr>
            <a:spLocks xmlns:a="http://schemas.openxmlformats.org/drawingml/2006/main" noGrp="1"/>
          </p:cNvSpPr>
          <p:nvPr/>
        </p:nvSpPr>
        <p:spPr>
          <a:xfrm xmlns:a="http://schemas.openxmlformats.org/drawingml/2006/main">
            <a:off x="8477250" y="6543675"/>
            <a:ext cx="3162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0">
                <a:solidFill>
                  <a:srgbClr val="6B788A"/>
                </a:solidFill>
                <a:latin typeface="Arial"/>
                <a:ea typeface="Arial"/>
                <a:cs typeface="Arial"/>
              </a:defRPr>
            </a:pPr>
            <a:r>
              <a:rPr sz="900" b="0">
                <a:solidFill>
                  <a:srgbClr val="6B788A"/>
                </a:solidFill>
                <a:latin typeface="Arial"/>
                <a:ea typeface="Arial"/>
                <a:cs typeface="Arial"/>
              </a:rPr>
              <a:t>Sort objects into groups</a:t>
            </a:r>
          </a:p>
        </p:txBody>
      </p:sp>
      <p:sp>
        <p:nvSpPr>
          <p:cNvPr id="10" name="">
            <a:extLst xmlns:a="http://schemas.openxmlformats.org/drawingml/2006/main">
              <a:ext uri="{FF2B5EF4-FFF2-40B4-BE49-F238E27FC236}">
                <a16:creationId xmlns:a16="http://schemas.microsoft.com/office/drawing/2014/main" id="{7F408A1C-1E4E-4C80-A363-8AB23A5C92C0}"/>
              </a:ext>
            </a:extLst>
          </p:cNvPr>
          <p:cNvSpPr>
            <a:spLocks xmlns:a="http://schemas.openxmlformats.org/drawingml/2006/main" noGrp="1"/>
          </p:cNvSpPr>
          <p:nvPr/>
        </p:nvSpPr>
        <p:spPr>
          <a:xfrm xmlns:a="http://schemas.openxmlformats.org/drawingml/2006/main">
            <a:off x="1047750" y="138112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050"/>
          </a:bodyPr>
          <a:lstStyle xmlns:a="http://schemas.openxmlformats.org/drawingml/2006/main"/>
          <a:p xmlns:a="http://schemas.openxmlformats.org/drawingml/2006/main">
            <a:pPr algn="ctr">
              <a:defRPr sz="2325" b="1">
                <a:solidFill>
                  <a:srgbClr val="17253A"/>
                </a:solidFill>
                <a:latin typeface="Arial"/>
                <a:ea typeface="Arial"/>
                <a:cs typeface="Arial"/>
              </a:defRPr>
            </a:pPr>
            <a:r>
              <a:rPr sz="2325" b="1">
                <a:solidFill>
                  <a:srgbClr val="17253A"/>
                </a:solidFill>
                <a:latin typeface="Arial"/>
                <a:ea typeface="Arial"/>
                <a:cs typeface="Arial"/>
              </a:rPr>
              <a:t>Make or draw a set of six objects that can be sorted in two different ways.</a:t>
            </a:r>
          </a:p>
        </p:txBody>
      </p:sp>
      <p:sp>
        <p:nvSpPr>
          <p:cNvPr id="11" name="">
            <a:extLst xmlns:a="http://schemas.openxmlformats.org/drawingml/2006/main">
              <a:ext uri="{FF2B5EF4-FFF2-40B4-BE49-F238E27FC236}">
                <a16:creationId xmlns:a16="http://schemas.microsoft.com/office/drawing/2014/main" id="{19BDBE99-2CCF-4138-BE85-71969DE9F8F8}"/>
              </a:ext>
            </a:extLst>
          </p:cNvPr>
          <p:cNvSpPr>
            <a:spLocks xmlns:a="http://schemas.openxmlformats.org/drawingml/2006/main" noGrp="1"/>
          </p:cNvSpPr>
          <p:nvPr/>
        </p:nvSpPr>
        <p:spPr>
          <a:xfrm xmlns:a="http://schemas.openxmlformats.org/drawingml/2006/main">
            <a:off x="1095375" y="2428875"/>
            <a:ext cx="4572000" cy="2667000"/>
          </a:xfrm>
          <a:prstGeom xmlns:a="http://schemas.openxmlformats.org/drawingml/2006/main" prst="roundRect">
            <a:avLst>
              <a:gd name="adj" fmla="val 2857"/>
            </a:avLst>
          </a:prstGeom>
          <a:solidFill xmlns:a="http://schemas.openxmlformats.org/drawingml/2006/main">
            <a:srgbClr val="FFFFFF"/>
          </a:solidFill>
          <a:ln xmlns:a="http://schemas.openxmlformats.org/drawingml/2006/main" w="19050">
            <a:solidFill>
              <a:srgbClr val="D9DEE7"/>
            </a:solidFill>
          </a:ln>
        </p:spPr>
      </p:sp>
      <p:sp>
        <p:nvSpPr>
          <p:cNvPr id="12" name="">
            <a:extLst xmlns:a="http://schemas.openxmlformats.org/drawingml/2006/main">
              <a:ext uri="{FF2B5EF4-FFF2-40B4-BE49-F238E27FC236}">
                <a16:creationId xmlns:a16="http://schemas.microsoft.com/office/drawing/2014/main" id="{BA057AEF-06F7-4121-A7AE-4DF24DEB9987}"/>
              </a:ext>
            </a:extLst>
          </p:cNvPr>
          <p:cNvSpPr>
            <a:spLocks xmlns:a="http://schemas.openxmlformats.org/drawingml/2006/main" noGrp="1"/>
          </p:cNvSpPr>
          <p:nvPr/>
        </p:nvSpPr>
        <p:spPr>
          <a:xfrm xmlns:a="http://schemas.openxmlformats.org/drawingml/2006/main">
            <a:off x="6524625" y="2428875"/>
            <a:ext cx="4572000" cy="2667000"/>
          </a:xfrm>
          <a:prstGeom xmlns:a="http://schemas.openxmlformats.org/drawingml/2006/main" prst="roundRect">
            <a:avLst>
              <a:gd name="adj" fmla="val 2857"/>
            </a:avLst>
          </a:prstGeom>
          <a:solidFill xmlns:a="http://schemas.openxmlformats.org/drawingml/2006/main">
            <a:srgbClr val="FFFFFF"/>
          </a:solidFill>
          <a:ln xmlns:a="http://schemas.openxmlformats.org/drawingml/2006/main" w="19050">
            <a:solidFill>
              <a:srgbClr val="D9DEE7"/>
            </a:solidFill>
          </a:ln>
        </p:spPr>
      </p:sp>
      <p:sp>
        <p:nvSpPr>
          <p:cNvPr id="13" name="">
            <a:extLst xmlns:a="http://schemas.openxmlformats.org/drawingml/2006/main">
              <a:ext uri="{FF2B5EF4-FFF2-40B4-BE49-F238E27FC236}">
                <a16:creationId xmlns:a16="http://schemas.microsoft.com/office/drawing/2014/main" id="{FC20032D-FB2E-4E62-A038-13A880F6E6C8}"/>
              </a:ext>
            </a:extLst>
          </p:cNvPr>
          <p:cNvSpPr>
            <a:spLocks xmlns:a="http://schemas.openxmlformats.org/drawingml/2006/main" noGrp="1"/>
          </p:cNvSpPr>
          <p:nvPr/>
        </p:nvSpPr>
        <p:spPr>
          <a:xfrm xmlns:a="http://schemas.openxmlformats.org/drawingml/2006/main">
            <a:off x="2381250" y="2667000"/>
            <a:ext cx="2000250" cy="361950"/>
          </a:xfrm>
          <a:prstGeom xmlns:a="http://schemas.openxmlformats.org/drawingml/2006/main" prst="roundRect">
            <a:avLst>
              <a:gd name="adj" fmla="val 21053"/>
            </a:avLst>
          </a:prstGeom>
          <a:solidFill xmlns:a="http://schemas.openxmlformats.org/drawingml/2006/main">
            <a:srgbClr val="FFF0E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30B128F-D93C-4AFF-BF71-A1111E139C43}"/>
              </a:ext>
            </a:extLst>
          </p:cNvPr>
          <p:cNvSpPr>
            <a:spLocks xmlns:a="http://schemas.openxmlformats.org/drawingml/2006/main" noGrp="1"/>
          </p:cNvSpPr>
          <p:nvPr/>
        </p:nvSpPr>
        <p:spPr>
          <a:xfrm xmlns:a="http://schemas.openxmlformats.org/drawingml/2006/main">
            <a:off x="2476500" y="2695575"/>
            <a:ext cx="1809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B4232B"/>
                </a:solidFill>
                <a:latin typeface="Arial"/>
                <a:ea typeface="Arial"/>
                <a:cs typeface="Arial"/>
              </a:defRPr>
            </a:pPr>
            <a:r>
              <a:rPr sz="1125" b="1">
                <a:solidFill>
                  <a:srgbClr val="B4232B"/>
                </a:solidFill>
                <a:latin typeface="Arial"/>
                <a:ea typeface="Arial"/>
                <a:cs typeface="Arial"/>
              </a:rPr>
              <a:t>RULE 1</a:t>
            </a:r>
          </a:p>
        </p:txBody>
      </p:sp>
      <p:sp>
        <p:nvSpPr>
          <p:cNvPr id="15" name="">
            <a:extLst xmlns:a="http://schemas.openxmlformats.org/drawingml/2006/main">
              <a:ext uri="{FF2B5EF4-FFF2-40B4-BE49-F238E27FC236}">
                <a16:creationId xmlns:a16="http://schemas.microsoft.com/office/drawing/2014/main" id="{8437345E-D5EF-431D-A864-C743551F9BB1}"/>
              </a:ext>
            </a:extLst>
          </p:cNvPr>
          <p:cNvSpPr>
            <a:spLocks xmlns:a="http://schemas.openxmlformats.org/drawingml/2006/main" noGrp="1"/>
          </p:cNvSpPr>
          <p:nvPr/>
        </p:nvSpPr>
        <p:spPr>
          <a:xfrm xmlns:a="http://schemas.openxmlformats.org/drawingml/2006/main">
            <a:off x="7810500" y="2667000"/>
            <a:ext cx="2000250" cy="361950"/>
          </a:xfrm>
          <a:prstGeom xmlns:a="http://schemas.openxmlformats.org/drawingml/2006/main" prst="roundRect">
            <a:avLst>
              <a:gd name="adj" fmla="val 21053"/>
            </a:avLst>
          </a:prstGeom>
          <a:solidFill xmlns:a="http://schemas.openxmlformats.org/drawingml/2006/main">
            <a:srgbClr val="E9F4F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3275B5E-BC8F-4989-B34E-0F89DDB69EFA}"/>
              </a:ext>
            </a:extLst>
          </p:cNvPr>
          <p:cNvSpPr>
            <a:spLocks xmlns:a="http://schemas.openxmlformats.org/drawingml/2006/main" noGrp="1"/>
          </p:cNvSpPr>
          <p:nvPr/>
        </p:nvSpPr>
        <p:spPr>
          <a:xfrm xmlns:a="http://schemas.openxmlformats.org/drawingml/2006/main">
            <a:off x="7905750" y="2695575"/>
            <a:ext cx="1809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3F7DC0"/>
                </a:solidFill>
                <a:latin typeface="Arial"/>
                <a:ea typeface="Arial"/>
                <a:cs typeface="Arial"/>
              </a:defRPr>
            </a:pPr>
            <a:r>
              <a:rPr sz="1125" b="1">
                <a:solidFill>
                  <a:srgbClr val="3F7DC0"/>
                </a:solidFill>
                <a:latin typeface="Arial"/>
                <a:ea typeface="Arial"/>
                <a:cs typeface="Arial"/>
              </a:rPr>
              <a:t>RULE 2</a:t>
            </a:r>
          </a:p>
        </p:txBody>
      </p:sp>
      <p:sp>
        <p:nvSpPr>
          <p:cNvPr id="17" name="">
            <a:extLst xmlns:a="http://schemas.openxmlformats.org/drawingml/2006/main">
              <a:ext uri="{FF2B5EF4-FFF2-40B4-BE49-F238E27FC236}">
                <a16:creationId xmlns:a16="http://schemas.microsoft.com/office/drawing/2014/main" id="{DC8BCDC7-5A8B-4814-966D-497D2930C906}"/>
              </a:ext>
            </a:extLst>
          </p:cNvPr>
          <p:cNvSpPr>
            <a:spLocks xmlns:a="http://schemas.openxmlformats.org/drawingml/2006/main" noGrp="1"/>
          </p:cNvSpPr>
          <p:nvPr/>
        </p:nvSpPr>
        <p:spPr>
          <a:xfrm xmlns:a="http://schemas.openxmlformats.org/drawingml/2006/main">
            <a:off x="1619250" y="3381375"/>
            <a:ext cx="352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40516A"/>
                </a:solidFill>
                <a:latin typeface="Arial"/>
                <a:ea typeface="Arial"/>
                <a:cs typeface="Arial"/>
              </a:defRPr>
            </a:pPr>
            <a:r>
              <a:rPr sz="1800" b="1">
                <a:solidFill>
                  <a:srgbClr val="40516A"/>
                </a:solidFill>
                <a:latin typeface="Arial"/>
                <a:ea typeface="Arial"/>
                <a:cs typeface="Arial"/>
              </a:rPr>
              <a:t>Draw the two groups.</a:t>
            </a:r>
          </a:p>
          <a:p xmlns:a="http://schemas.openxmlformats.org/drawingml/2006/main">
            <a:pPr algn="ctr">
              <a:defRPr sz="1800" b="1">
                <a:solidFill>
                  <a:srgbClr val="40516A"/>
                </a:solidFill>
                <a:latin typeface="Arial"/>
                <a:ea typeface="Arial"/>
                <a:cs typeface="Arial"/>
              </a:defRPr>
            </a:pPr>
            <a:r>
              <a:rPr sz="1800" b="1">
                <a:solidFill>
                  <a:srgbClr val="40516A"/>
                </a:solidFill>
                <a:latin typeface="Arial"/>
                <a:ea typeface="Arial"/>
                <a:cs typeface="Arial"/>
              </a:rPr>
              <a:t>Write: I sorted by…</a:t>
            </a:r>
          </a:p>
        </p:txBody>
      </p:sp>
      <p:sp>
        <p:nvSpPr>
          <p:cNvPr id="18" name="">
            <a:extLst xmlns:a="http://schemas.openxmlformats.org/drawingml/2006/main">
              <a:ext uri="{FF2B5EF4-FFF2-40B4-BE49-F238E27FC236}">
                <a16:creationId xmlns:a16="http://schemas.microsoft.com/office/drawing/2014/main" id="{E2BEF915-9F06-4F4E-A4E8-77134719C22A}"/>
              </a:ext>
            </a:extLst>
          </p:cNvPr>
          <p:cNvSpPr>
            <a:spLocks xmlns:a="http://schemas.openxmlformats.org/drawingml/2006/main" noGrp="1"/>
          </p:cNvSpPr>
          <p:nvPr/>
        </p:nvSpPr>
        <p:spPr>
          <a:xfrm xmlns:a="http://schemas.openxmlformats.org/drawingml/2006/main">
            <a:off x="7048500" y="3381375"/>
            <a:ext cx="352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40516A"/>
                </a:solidFill>
                <a:latin typeface="Arial"/>
                <a:ea typeface="Arial"/>
                <a:cs typeface="Arial"/>
              </a:defRPr>
            </a:pPr>
            <a:r>
              <a:rPr sz="1800" b="1">
                <a:solidFill>
                  <a:srgbClr val="40516A"/>
                </a:solidFill>
                <a:latin typeface="Arial"/>
                <a:ea typeface="Arial"/>
                <a:cs typeface="Arial"/>
              </a:rPr>
              <a:t>Use the same objects.</a:t>
            </a:r>
          </a:p>
          <a:p xmlns:a="http://schemas.openxmlformats.org/drawingml/2006/main">
            <a:pPr algn="ctr">
              <a:defRPr sz="1800" b="1">
                <a:solidFill>
                  <a:srgbClr val="40516A"/>
                </a:solidFill>
                <a:latin typeface="Arial"/>
                <a:ea typeface="Arial"/>
                <a:cs typeface="Arial"/>
              </a:defRPr>
            </a:pPr>
            <a:r>
              <a:rPr sz="1800" b="1">
                <a:solidFill>
                  <a:srgbClr val="40516A"/>
                </a:solidFill>
                <a:latin typeface="Arial"/>
                <a:ea typeface="Arial"/>
                <a:cs typeface="Arial"/>
              </a:rPr>
              <a:t>What changes?</a:t>
            </a:r>
          </a:p>
        </p:txBody>
      </p:sp>
      <p:sp>
        <p:nvSpPr>
          <p:cNvPr id="19" name="">
            <a:extLst xmlns:a="http://schemas.openxmlformats.org/drawingml/2006/main">
              <a:ext uri="{FF2B5EF4-FFF2-40B4-BE49-F238E27FC236}">
                <a16:creationId xmlns:a16="http://schemas.microsoft.com/office/drawing/2014/main" id="{A0D51EFC-8BBE-49C5-B407-F823BF5CF31F}"/>
              </a:ext>
            </a:extLst>
          </p:cNvPr>
          <p:cNvSpPr>
            <a:spLocks xmlns:a="http://schemas.openxmlformats.org/drawingml/2006/main" noGrp="1"/>
          </p:cNvSpPr>
          <p:nvPr/>
        </p:nvSpPr>
        <p:spPr>
          <a:xfrm xmlns:a="http://schemas.openxmlformats.org/drawingml/2006/main">
            <a:off x="3048000" y="5476875"/>
            <a:ext cx="6096000" cy="590550"/>
          </a:xfrm>
          <a:prstGeom xmlns:a="http://schemas.openxmlformats.org/drawingml/2006/main" prst="roundRect">
            <a:avLst>
              <a:gd name="adj" fmla="val 12903"/>
            </a:avLst>
          </a:prstGeom>
          <a:solidFill xmlns:a="http://schemas.openxmlformats.org/drawingml/2006/main">
            <a:srgbClr val="FFF7EA"/>
          </a:solidFill>
          <a:ln xmlns:a="http://schemas.openxmlformats.org/drawingml/2006/main" w="19050">
            <a:solidFill>
              <a:srgbClr val="D9DEE7"/>
            </a:solidFill>
          </a:ln>
        </p:spPr>
      </p:sp>
      <p:sp>
        <p:nvSpPr>
          <p:cNvPr id="20" name="">
            <a:extLst xmlns:a="http://schemas.openxmlformats.org/drawingml/2006/main">
              <a:ext uri="{FF2B5EF4-FFF2-40B4-BE49-F238E27FC236}">
                <a16:creationId xmlns:a16="http://schemas.microsoft.com/office/drawing/2014/main" id="{5FF1BE62-3AB5-4E2F-B0DB-87F7F0895052}"/>
              </a:ext>
            </a:extLst>
          </p:cNvPr>
          <p:cNvSpPr>
            <a:spLocks xmlns:a="http://schemas.openxmlformats.org/drawingml/2006/main" noGrp="1"/>
          </p:cNvSpPr>
          <p:nvPr/>
        </p:nvSpPr>
        <p:spPr>
          <a:xfrm xmlns:a="http://schemas.openxmlformats.org/drawingml/2006/main">
            <a:off x="3257550" y="5591175"/>
            <a:ext cx="5676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253A"/>
                </a:solidFill>
                <a:latin typeface="Arial"/>
                <a:ea typeface="Arial"/>
                <a:cs typeface="Arial"/>
              </a:defRPr>
            </a:pPr>
            <a:r>
              <a:rPr sz="1650" b="1">
                <a:solidFill>
                  <a:srgbClr val="17253A"/>
                </a:solidFill>
                <a:latin typeface="Arial"/>
                <a:ea typeface="Arial"/>
                <a:cs typeface="Arial"/>
              </a:rPr>
              <a:t>Prove both rules work for every object.</a:t>
            </a:r>
          </a:p>
        </p:txBody>
      </p:sp>
    </p:spTree>
    <p:extLst>
      <p:ext uri="{BB962C8B-B14F-4D97-AF65-F5344CB8AC3E}">
        <p14:creationId xmlns:p14="http://schemas.microsoft.com/office/powerpoint/2010/main" val="1634560779"/>
      </p:ext>
    </p:extLst>
  </p:cSld>
</p:sld>
</file>

<file path=ppt/slides/slide15.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675A44D-10B5-40C6-A46B-B8578E059CFF}"/>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B4232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2F1FFC4-BFA3-467D-B331-828BD61104EE}"/>
              </a:ext>
            </a:extLst>
          </p:cNvPr>
          <p:cNvSpPr>
            <a:spLocks xmlns:a="http://schemas.openxmlformats.org/drawingml/2006/main" noGrp="1"/>
          </p:cNvSpPr>
          <p:nvPr/>
        </p:nvSpPr>
        <p:spPr>
          <a:xfrm xmlns:a="http://schemas.openxmlformats.org/drawingml/2006/main">
            <a:off x="552450" y="285750"/>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B4232B"/>
                </a:solidFill>
                <a:latin typeface="Arial"/>
                <a:ea typeface="Arial"/>
                <a:cs typeface="Arial"/>
              </a:defRPr>
            </a:pPr>
            <a:r>
              <a:rPr sz="1050" b="1">
                <a:solidFill>
                  <a:srgbClr val="B4232B"/>
                </a:solidFill>
                <a:latin typeface="Arial"/>
                <a:ea typeface="Arial"/>
                <a:cs typeface="Arial"/>
              </a:rPr>
              <a:t>YEAR 1 MATHS  •  AUTUMN  •  WEEK 1  •  DAY 1</a:t>
            </a:r>
          </a:p>
        </p:txBody>
      </p:sp>
      <p:sp>
        <p:nvSpPr>
          <p:cNvPr id="3" name="">
            <a:extLst xmlns:a="http://schemas.openxmlformats.org/drawingml/2006/main">
              <a:ext uri="{FF2B5EF4-FFF2-40B4-BE49-F238E27FC236}">
                <a16:creationId xmlns:a16="http://schemas.microsoft.com/office/drawing/2014/main" id="{517BFD27-1DC2-485A-8C6A-3BFFE0E07C0E}"/>
              </a:ext>
            </a:extLst>
          </p:cNvPr>
          <p:cNvSpPr>
            <a:spLocks xmlns:a="http://schemas.openxmlformats.org/drawingml/2006/main" noGrp="1"/>
          </p:cNvSpPr>
          <p:nvPr/>
        </p:nvSpPr>
        <p:spPr>
          <a:xfrm xmlns:a="http://schemas.openxmlformats.org/drawingml/2006/main">
            <a:off x="552450" y="685800"/>
            <a:ext cx="1238250" cy="323850"/>
          </a:xfrm>
          <a:prstGeom xmlns:a="http://schemas.openxmlformats.org/drawingml/2006/main" prst="roundRect">
            <a:avLst>
              <a:gd name="adj" fmla="val 23529"/>
            </a:avLst>
          </a:prstGeom>
          <a:solidFill xmlns:a="http://schemas.openxmlformats.org/drawingml/2006/main">
            <a:srgbClr val="B4232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9452A37-ACB4-4923-A7BA-C7B42B25C4E7}"/>
              </a:ext>
            </a:extLst>
          </p:cNvPr>
          <p:cNvSpPr>
            <a:spLocks xmlns:a="http://schemas.openxmlformats.org/drawingml/2006/main" noGrp="1"/>
          </p:cNvSpPr>
          <p:nvPr/>
        </p:nvSpPr>
        <p:spPr>
          <a:xfrm xmlns:a="http://schemas.openxmlformats.org/drawingml/2006/main">
            <a:off x="590550" y="704850"/>
            <a:ext cx="1162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750" b="1">
                <a:solidFill>
                  <a:srgbClr val="FFFFFF"/>
                </a:solidFill>
                <a:latin typeface="Arial"/>
                <a:ea typeface="Arial"/>
                <a:cs typeface="Arial"/>
              </a:defRPr>
            </a:pPr>
            <a:r>
              <a:rPr sz="750" b="1">
                <a:solidFill>
                  <a:srgbClr val="FFFFFF"/>
                </a:solidFill>
                <a:latin typeface="Arial"/>
                <a:ea typeface="Arial"/>
                <a:cs typeface="Arial"/>
              </a:rPr>
              <a:t>ASSESS</a:t>
            </a:r>
          </a:p>
        </p:txBody>
      </p:sp>
      <p:sp>
        <p:nvSpPr>
          <p:cNvPr id="5" name="">
            <a:extLst xmlns:a="http://schemas.openxmlformats.org/drawingml/2006/main">
              <a:ext uri="{FF2B5EF4-FFF2-40B4-BE49-F238E27FC236}">
                <a16:creationId xmlns:a16="http://schemas.microsoft.com/office/drawing/2014/main" id="{3471646D-36C6-47C0-96BF-729244B25385}"/>
              </a:ext>
            </a:extLst>
          </p:cNvPr>
          <p:cNvSpPr>
            <a:spLocks xmlns:a="http://schemas.openxmlformats.org/drawingml/2006/main" noGrp="1"/>
          </p:cNvSpPr>
          <p:nvPr/>
        </p:nvSpPr>
        <p:spPr>
          <a:xfrm xmlns:a="http://schemas.openxmlformats.org/drawingml/2006/main">
            <a:off x="1962150" y="590550"/>
            <a:ext cx="8496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625" b="1">
                <a:solidFill>
                  <a:srgbClr val="17253A"/>
                </a:solidFill>
                <a:latin typeface="Arial"/>
                <a:ea typeface="Arial"/>
                <a:cs typeface="Arial"/>
              </a:defRPr>
            </a:pPr>
            <a:r>
              <a:rPr sz="2625" b="1">
                <a:solidFill>
                  <a:srgbClr val="17253A"/>
                </a:solidFill>
                <a:latin typeface="Arial"/>
                <a:ea typeface="Arial"/>
                <a:cs typeface="Arial"/>
              </a:rPr>
              <a:t>Exit check: ready for tomorrow?</a:t>
            </a:r>
          </a:p>
        </p:txBody>
      </p:sp>
      <p:sp>
        <p:nvSpPr>
          <p:cNvPr id="6" name="">
            <a:extLst xmlns:a="http://schemas.openxmlformats.org/drawingml/2006/main">
              <a:ext uri="{FF2B5EF4-FFF2-40B4-BE49-F238E27FC236}">
                <a16:creationId xmlns:a16="http://schemas.microsoft.com/office/drawing/2014/main" id="{346189B2-A163-4B69-8EA5-856B0F0D1E31}"/>
              </a:ext>
            </a:extLst>
          </p:cNvPr>
          <p:cNvSpPr>
            <a:spLocks xmlns:a="http://schemas.openxmlformats.org/drawingml/2006/main" noGrp="1"/>
          </p:cNvSpPr>
          <p:nvPr/>
        </p:nvSpPr>
        <p:spPr>
          <a:xfrm xmlns:a="http://schemas.openxmlformats.org/drawingml/2006/main">
            <a:off x="10668000" y="4000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r">
              <a:defRPr sz="975" b="1">
                <a:solidFill>
                  <a:srgbClr val="6B788A"/>
                </a:solidFill>
                <a:latin typeface="Arial"/>
                <a:ea typeface="Arial"/>
                <a:cs typeface="Arial"/>
              </a:defRPr>
            </a:pPr>
            <a:r>
              <a:rPr sz="975" b="1">
                <a:solidFill>
                  <a:srgbClr val="6B788A"/>
                </a:solidFill>
                <a:latin typeface="Arial"/>
                <a:ea typeface="Arial"/>
                <a:cs typeface="Arial"/>
              </a:rPr>
              <a:t>15 / 15</a:t>
            </a:r>
          </a:p>
        </p:txBody>
      </p:sp>
      <p:sp>
        <p:nvSpPr>
          <p:cNvPr id="7" name="">
            <a:extLst xmlns:a="http://schemas.openxmlformats.org/drawingml/2006/main">
              <a:ext uri="{FF2B5EF4-FFF2-40B4-BE49-F238E27FC236}">
                <a16:creationId xmlns:a16="http://schemas.microsoft.com/office/drawing/2014/main" id="{9E2BE4B2-59FA-44D2-A363-596F0073B331}"/>
              </a:ext>
            </a:extLst>
          </p:cNvPr>
          <p:cNvSpPr>
            <a:spLocks xmlns:a="http://schemas.openxmlformats.org/drawingml/2006/main" noGrp="1"/>
          </p:cNvSpPr>
          <p:nvPr/>
        </p:nvSpPr>
        <p:spPr>
          <a:xfrm xmlns:a="http://schemas.openxmlformats.org/drawingml/2006/main">
            <a:off x="552450" y="6457950"/>
            <a:ext cx="11087100" cy="19050"/>
          </a:xfrm>
          <a:prstGeom xmlns:a="http://schemas.openxmlformats.org/drawingml/2006/main" prst="rect">
            <a:avLst/>
          </a:prstGeom>
          <a:solidFill xmlns:a="http://schemas.openxmlformats.org/drawingml/2006/main">
            <a:srgbClr val="D9DEE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F106274-5627-4A32-9C5B-624AF9F6E603}"/>
              </a:ext>
            </a:extLst>
          </p:cNvPr>
          <p:cNvSpPr>
            <a:spLocks xmlns:a="http://schemas.openxmlformats.org/drawingml/2006/main" noGrp="1"/>
          </p:cNvSpPr>
          <p:nvPr/>
        </p:nvSpPr>
        <p:spPr>
          <a:xfrm xmlns:a="http://schemas.openxmlformats.org/drawingml/2006/main">
            <a:off x="552450" y="6543675"/>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l">
              <a:defRPr sz="900" b="0">
                <a:solidFill>
                  <a:srgbClr val="6B788A"/>
                </a:solidFill>
                <a:latin typeface="Arial"/>
                <a:ea typeface="Arial"/>
                <a:cs typeface="Arial"/>
              </a:defRPr>
            </a:pPr>
            <a:r>
              <a:rPr sz="900" b="0">
                <a:solidFill>
                  <a:srgbClr val="6B788A"/>
                </a:solidFill>
                <a:latin typeface="Arial"/>
                <a:ea typeface="Arial"/>
                <a:cs typeface="Arial"/>
              </a:rPr>
              <a:t>BrightPath Primary Learning</a:t>
            </a:r>
          </a:p>
        </p:txBody>
      </p:sp>
      <p:sp>
        <p:nvSpPr>
          <p:cNvPr id="9" name="">
            <a:extLst xmlns:a="http://schemas.openxmlformats.org/drawingml/2006/main">
              <a:ext uri="{FF2B5EF4-FFF2-40B4-BE49-F238E27FC236}">
                <a16:creationId xmlns:a16="http://schemas.microsoft.com/office/drawing/2014/main" id="{E210601B-4DE0-49C5-A00D-B9F51B92C2FA}"/>
              </a:ext>
            </a:extLst>
          </p:cNvPr>
          <p:cNvSpPr>
            <a:spLocks xmlns:a="http://schemas.openxmlformats.org/drawingml/2006/main" noGrp="1"/>
          </p:cNvSpPr>
          <p:nvPr/>
        </p:nvSpPr>
        <p:spPr>
          <a:xfrm xmlns:a="http://schemas.openxmlformats.org/drawingml/2006/main">
            <a:off x="8477250" y="6543675"/>
            <a:ext cx="3162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0">
                <a:solidFill>
                  <a:srgbClr val="6B788A"/>
                </a:solidFill>
                <a:latin typeface="Arial"/>
                <a:ea typeface="Arial"/>
                <a:cs typeface="Arial"/>
              </a:defRPr>
            </a:pPr>
            <a:r>
              <a:rPr sz="900" b="0">
                <a:solidFill>
                  <a:srgbClr val="6B788A"/>
                </a:solidFill>
                <a:latin typeface="Arial"/>
                <a:ea typeface="Arial"/>
                <a:cs typeface="Arial"/>
              </a:rPr>
              <a:t>Sort objects into groups</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b222dadeab064dac"/>
          <a:stretch xmlns:a="http://schemas.openxmlformats.org/drawingml/2006/main"/>
        </p:blipFill>
        <p:spPr>
          <a:xfrm xmlns:a="http://schemas.openxmlformats.org/drawingml/2006/main">
            <a:off x="8572500" y="2314575"/>
            <a:ext cx="2571750" cy="30861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4C076E9A-3574-4070-B646-756FE5CDAFCE}"/>
              </a:ext>
            </a:extLst>
          </p:cNvPr>
          <p:cNvSpPr>
            <a:spLocks xmlns:a="http://schemas.openxmlformats.org/drawingml/2006/main" noGrp="1"/>
          </p:cNvSpPr>
          <p:nvPr/>
        </p:nvSpPr>
        <p:spPr>
          <a:xfrm xmlns:a="http://schemas.openxmlformats.org/drawingml/2006/main">
            <a:off x="762000" y="1476375"/>
            <a:ext cx="6858000" cy="9144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9050">
            <a:solidFill>
              <a:srgbClr val="D9DEE7"/>
            </a:solidFill>
          </a:ln>
        </p:spPr>
      </p:sp>
      <p:sp>
        <p:nvSpPr>
          <p:cNvPr id="12" name="">
            <a:extLst xmlns:a="http://schemas.openxmlformats.org/drawingml/2006/main">
              <a:ext uri="{FF2B5EF4-FFF2-40B4-BE49-F238E27FC236}">
                <a16:creationId xmlns:a16="http://schemas.microsoft.com/office/drawing/2014/main" id="{7EE14B55-542F-47E7-B1B1-0C4BC8AA7356}"/>
              </a:ext>
            </a:extLst>
          </p:cNvPr>
          <p:cNvSpPr>
            <a:spLocks xmlns:a="http://schemas.openxmlformats.org/drawingml/2006/main" noGrp="1"/>
          </p:cNvSpPr>
          <p:nvPr/>
        </p:nvSpPr>
        <p:spPr>
          <a:xfrm xmlns:a="http://schemas.openxmlformats.org/drawingml/2006/main">
            <a:off x="1066800" y="1619250"/>
            <a:ext cx="6238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17253A"/>
                </a:solidFill>
                <a:latin typeface="Arial"/>
                <a:ea typeface="Arial"/>
                <a:cs typeface="Arial"/>
              </a:defRPr>
            </a:pPr>
            <a:r>
              <a:rPr sz="1875" b="1">
                <a:solidFill>
                  <a:srgbClr val="17253A"/>
                </a:solidFill>
                <a:latin typeface="Arial"/>
                <a:ea typeface="Arial"/>
                <a:cs typeface="Arial"/>
              </a:rPr>
              <a:t>1. What does sort mean?</a:t>
            </a:r>
          </a:p>
        </p:txBody>
      </p:sp>
      <p:sp>
        <p:nvSpPr>
          <p:cNvPr id="13" name="">
            <a:extLst xmlns:a="http://schemas.openxmlformats.org/drawingml/2006/main">
              <a:ext uri="{FF2B5EF4-FFF2-40B4-BE49-F238E27FC236}">
                <a16:creationId xmlns:a16="http://schemas.microsoft.com/office/drawing/2014/main" id="{CBE33F1C-D2EF-407C-AF0E-BEB536B5D625}"/>
              </a:ext>
            </a:extLst>
          </p:cNvPr>
          <p:cNvSpPr>
            <a:spLocks xmlns:a="http://schemas.openxmlformats.org/drawingml/2006/main" noGrp="1"/>
          </p:cNvSpPr>
          <p:nvPr/>
        </p:nvSpPr>
        <p:spPr>
          <a:xfrm xmlns:a="http://schemas.openxmlformats.org/drawingml/2006/main">
            <a:off x="762000" y="2714625"/>
            <a:ext cx="6858000" cy="914400"/>
          </a:xfrm>
          <a:prstGeom xmlns:a="http://schemas.openxmlformats.org/drawingml/2006/main" prst="roundRect">
            <a:avLst>
              <a:gd name="adj" fmla="val 8333"/>
            </a:avLst>
          </a:prstGeom>
          <a:solidFill xmlns:a="http://schemas.openxmlformats.org/drawingml/2006/main">
            <a:srgbClr val="E9F4FB"/>
          </a:solidFill>
          <a:ln xmlns:a="http://schemas.openxmlformats.org/drawingml/2006/main" w="19050">
            <a:solidFill>
              <a:srgbClr val="3F7DC0"/>
            </a:solidFill>
          </a:ln>
        </p:spPr>
      </p:sp>
      <p:sp>
        <p:nvSpPr>
          <p:cNvPr id="14" name="">
            <a:extLst xmlns:a="http://schemas.openxmlformats.org/drawingml/2006/main">
              <a:ext uri="{FF2B5EF4-FFF2-40B4-BE49-F238E27FC236}">
                <a16:creationId xmlns:a16="http://schemas.microsoft.com/office/drawing/2014/main" id="{970360BB-2A56-44AE-89DC-C931D93EAE2A}"/>
              </a:ext>
            </a:extLst>
          </p:cNvPr>
          <p:cNvSpPr>
            <a:spLocks xmlns:a="http://schemas.openxmlformats.org/drawingml/2006/main" noGrp="1"/>
          </p:cNvSpPr>
          <p:nvPr/>
        </p:nvSpPr>
        <p:spPr>
          <a:xfrm xmlns:a="http://schemas.openxmlformats.org/drawingml/2006/main">
            <a:off x="1066800" y="2857500"/>
            <a:ext cx="6238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17253A"/>
                </a:solidFill>
                <a:latin typeface="Arial"/>
                <a:ea typeface="Arial"/>
                <a:cs typeface="Arial"/>
              </a:defRPr>
            </a:pPr>
            <a:r>
              <a:rPr sz="1875" b="1">
                <a:solidFill>
                  <a:srgbClr val="17253A"/>
                </a:solidFill>
                <a:latin typeface="Arial"/>
                <a:ea typeface="Arial"/>
                <a:cs typeface="Arial"/>
              </a:rPr>
              <a:t>2. Name one property we could use.</a:t>
            </a:r>
          </a:p>
        </p:txBody>
      </p:sp>
      <p:sp>
        <p:nvSpPr>
          <p:cNvPr id="15" name="">
            <a:extLst xmlns:a="http://schemas.openxmlformats.org/drawingml/2006/main">
              <a:ext uri="{FF2B5EF4-FFF2-40B4-BE49-F238E27FC236}">
                <a16:creationId xmlns:a16="http://schemas.microsoft.com/office/drawing/2014/main" id="{7538CFB4-C3BE-47D8-B6AD-0DDE0247FB39}"/>
              </a:ext>
            </a:extLst>
          </p:cNvPr>
          <p:cNvSpPr>
            <a:spLocks xmlns:a="http://schemas.openxmlformats.org/drawingml/2006/main" noGrp="1"/>
          </p:cNvSpPr>
          <p:nvPr/>
        </p:nvSpPr>
        <p:spPr>
          <a:xfrm xmlns:a="http://schemas.openxmlformats.org/drawingml/2006/main">
            <a:off x="762000" y="3952875"/>
            <a:ext cx="6858000" cy="9144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9050">
            <a:solidFill>
              <a:srgbClr val="D9DEE7"/>
            </a:solidFill>
          </a:ln>
        </p:spPr>
      </p:sp>
      <p:sp>
        <p:nvSpPr>
          <p:cNvPr id="16" name="">
            <a:extLst xmlns:a="http://schemas.openxmlformats.org/drawingml/2006/main">
              <a:ext uri="{FF2B5EF4-FFF2-40B4-BE49-F238E27FC236}">
                <a16:creationId xmlns:a16="http://schemas.microsoft.com/office/drawing/2014/main" id="{7445FBE2-F0A2-4326-A4E5-FB20A5B7B297}"/>
              </a:ext>
            </a:extLst>
          </p:cNvPr>
          <p:cNvSpPr>
            <a:spLocks xmlns:a="http://schemas.openxmlformats.org/drawingml/2006/main" noGrp="1"/>
          </p:cNvSpPr>
          <p:nvPr/>
        </p:nvSpPr>
        <p:spPr>
          <a:xfrm xmlns:a="http://schemas.openxmlformats.org/drawingml/2006/main">
            <a:off x="1066800" y="4095750"/>
            <a:ext cx="6238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17253A"/>
                </a:solidFill>
                <a:latin typeface="Arial"/>
                <a:ea typeface="Arial"/>
                <a:cs typeface="Arial"/>
              </a:defRPr>
            </a:pPr>
            <a:r>
              <a:rPr sz="1875" b="1">
                <a:solidFill>
                  <a:srgbClr val="17253A"/>
                </a:solidFill>
                <a:latin typeface="Arial"/>
                <a:ea typeface="Arial"/>
                <a:cs typeface="Arial"/>
              </a:rPr>
              <a:t>3. Why must the rule stay the same?</a:t>
            </a:r>
          </a:p>
        </p:txBody>
      </p:sp>
      <p:sp>
        <p:nvSpPr>
          <p:cNvPr id="17" name="">
            <a:extLst xmlns:a="http://schemas.openxmlformats.org/drawingml/2006/main">
              <a:ext uri="{FF2B5EF4-FFF2-40B4-BE49-F238E27FC236}">
                <a16:creationId xmlns:a16="http://schemas.microsoft.com/office/drawing/2014/main" id="{75A8B199-2A2C-4E27-A637-2312DE72D8FC}"/>
              </a:ext>
            </a:extLst>
          </p:cNvPr>
          <p:cNvSpPr>
            <a:spLocks xmlns:a="http://schemas.openxmlformats.org/drawingml/2006/main" noGrp="1"/>
          </p:cNvSpPr>
          <p:nvPr/>
        </p:nvSpPr>
        <p:spPr>
          <a:xfrm xmlns:a="http://schemas.openxmlformats.org/drawingml/2006/main">
            <a:off x="1762125" y="5381625"/>
            <a:ext cx="7620000" cy="590550"/>
          </a:xfrm>
          <a:prstGeom xmlns:a="http://schemas.openxmlformats.org/drawingml/2006/main" prst="roundRect">
            <a:avLst>
              <a:gd name="adj" fmla="val 12903"/>
            </a:avLst>
          </a:prstGeom>
          <a:solidFill xmlns:a="http://schemas.openxmlformats.org/drawingml/2006/main">
            <a:srgbClr val="FFF0E7"/>
          </a:solidFill>
          <a:ln xmlns:a="http://schemas.openxmlformats.org/drawingml/2006/main" w="19050">
            <a:solidFill>
              <a:srgbClr val="D9DEE7"/>
            </a:solidFill>
          </a:ln>
        </p:spPr>
      </p:sp>
      <p:sp>
        <p:nvSpPr>
          <p:cNvPr id="18" name="">
            <a:extLst xmlns:a="http://schemas.openxmlformats.org/drawingml/2006/main">
              <a:ext uri="{FF2B5EF4-FFF2-40B4-BE49-F238E27FC236}">
                <a16:creationId xmlns:a16="http://schemas.microsoft.com/office/drawing/2014/main" id="{72CE1C39-C00B-4522-86FC-8B701FAFBB36}"/>
              </a:ext>
            </a:extLst>
          </p:cNvPr>
          <p:cNvSpPr>
            <a:spLocks xmlns:a="http://schemas.openxmlformats.org/drawingml/2006/main" noGrp="1"/>
          </p:cNvSpPr>
          <p:nvPr/>
        </p:nvSpPr>
        <p:spPr>
          <a:xfrm xmlns:a="http://schemas.openxmlformats.org/drawingml/2006/main">
            <a:off x="1971675" y="5495925"/>
            <a:ext cx="7200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253A"/>
                </a:solidFill>
                <a:latin typeface="Arial"/>
                <a:ea typeface="Arial"/>
                <a:cs typeface="Arial"/>
              </a:defRPr>
            </a:pPr>
            <a:r>
              <a:rPr sz="1650" b="1">
                <a:solidFill>
                  <a:srgbClr val="17253A"/>
                </a:solidFill>
                <a:latin typeface="Arial"/>
                <a:ea typeface="Arial"/>
                <a:cs typeface="Arial"/>
              </a:rPr>
              <a:t>Show me: SECURE   |   NEARLY THERE   |   NEED MORE PRACTICE</a:t>
            </a:r>
          </a:p>
        </p:txBody>
      </p:sp>
    </p:spTree>
    <p:extLst>
      <p:ext uri="{BB962C8B-B14F-4D97-AF65-F5344CB8AC3E}">
        <p14:creationId xmlns:p14="http://schemas.microsoft.com/office/powerpoint/2010/main" val="20242993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2026-09-08T10:22:49.5700000Z</dcterms:created>
  <dcterms:modified xsi:type="dcterms:W3CDTF">2026-09-08T10:22:49.5700000Z</dcterms:modified>
</coreProperties>
</file>