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c4bbd46244111" /><Relationship Type="http://schemas.openxmlformats.org/officeDocument/2006/relationships/extended-properties" Target="/docProps/app.xml" Id="Rc16e16a1ac4e44db" /><Relationship Type="http://schemas.openxmlformats.org/officeDocument/2006/relationships/officeDocument" Target="/ppt/presentation.xml" Id="Rc3eaeefb9d6a4c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8003a3e9b84c45"/>
  </p:sldMasterIdLst>
  <p:notesMasterIdLst>
    <p:notesMasterId xmlns:r="http://schemas.openxmlformats.org/officeDocument/2006/relationships" r:id="Rc4a76febccf34e90"/>
  </p:notesMasterIdLst>
  <p:sldIdLst>
    <p:sldId xmlns:r="http://schemas.openxmlformats.org/officeDocument/2006/relationships" id="256" r:id="Rf670f9c05b674955"/>
    <p:sldId xmlns:r="http://schemas.openxmlformats.org/officeDocument/2006/relationships" id="257" r:id="R944e329e97894ccb"/>
    <p:sldId xmlns:r="http://schemas.openxmlformats.org/officeDocument/2006/relationships" id="258" r:id="R31f566c9a8d449e7"/>
    <p:sldId xmlns:r="http://schemas.openxmlformats.org/officeDocument/2006/relationships" id="259" r:id="Ree143329d66d4374"/>
    <p:sldId xmlns:r="http://schemas.openxmlformats.org/officeDocument/2006/relationships" id="260" r:id="Raf2e6ff46c444421"/>
    <p:sldId xmlns:r="http://schemas.openxmlformats.org/officeDocument/2006/relationships" id="261" r:id="R84e13b9e2a354420"/>
    <p:sldId xmlns:r="http://schemas.openxmlformats.org/officeDocument/2006/relationships" id="262" r:id="Rfbf2644e86374e42"/>
    <p:sldId xmlns:r="http://schemas.openxmlformats.org/officeDocument/2006/relationships" id="263" r:id="Rec0f44d59d8344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77d98825f64b53" /><Relationship Type="http://schemas.openxmlformats.org/officeDocument/2006/relationships/slideMaster" Target="/ppt/slideMasters/slideMaster1.xml" Id="R098003a3e9b84c45" /><Relationship Type="http://schemas.openxmlformats.org/officeDocument/2006/relationships/notesMaster" Target="/ppt/notesMasters/notesMaster1.xml" Id="Rc4a76febccf34e90" /><Relationship Type="http://schemas.openxmlformats.org/officeDocument/2006/relationships/presProps" Target="/ppt/presProps.xml" Id="Rf4a16edd77ac451e" /><Relationship Type="http://schemas.openxmlformats.org/officeDocument/2006/relationships/tableStyles" Target="/ppt/tableStyles.xml" Id="R20f8b844b085487d" /><Relationship Type="http://schemas.openxmlformats.org/officeDocument/2006/relationships/slide" Target="/ppt/slides/slide1.xml" Id="Rf670f9c05b674955" /><Relationship Type="http://schemas.openxmlformats.org/officeDocument/2006/relationships/slide" Target="/ppt/slides/slide2.xml" Id="R944e329e97894ccb" /><Relationship Type="http://schemas.openxmlformats.org/officeDocument/2006/relationships/slide" Target="/ppt/slides/slide3.xml" Id="R31f566c9a8d449e7" /><Relationship Type="http://schemas.openxmlformats.org/officeDocument/2006/relationships/slide" Target="/ppt/slides/slide4.xml" Id="Ree143329d66d4374" /><Relationship Type="http://schemas.openxmlformats.org/officeDocument/2006/relationships/slide" Target="/ppt/slides/slide5.xml" Id="Raf2e6ff46c444421" /><Relationship Type="http://schemas.openxmlformats.org/officeDocument/2006/relationships/slide" Target="/ppt/slides/slide6.xml" Id="R84e13b9e2a354420" /><Relationship Type="http://schemas.openxmlformats.org/officeDocument/2006/relationships/slide" Target="/ppt/slides/slide7.xml" Id="Rfbf2644e86374e42" /><Relationship Type="http://schemas.openxmlformats.org/officeDocument/2006/relationships/slide" Target="/ppt/slides/slide8.xml" Id="Rec0f44d59d8344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ad497c84784f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0a2829d6b44806" /><Relationship Type="http://schemas.openxmlformats.org/officeDocument/2006/relationships/notesMaster" Target="/ppt/notesMasters/notesMaster1.xml" Id="R39d4f5c1213a4c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2221d10b24f2f" /><Relationship Type="http://schemas.openxmlformats.org/officeDocument/2006/relationships/notesMaster" Target="/ppt/notesMasters/notesMaster1.xml" Id="Ref8c029faab04d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e0901c14b1464b" /><Relationship Type="http://schemas.openxmlformats.org/officeDocument/2006/relationships/notesMaster" Target="/ppt/notesMasters/notesMaster1.xml" Id="R7854f0721d0a4e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a65cc11304441f" /><Relationship Type="http://schemas.openxmlformats.org/officeDocument/2006/relationships/notesMaster" Target="/ppt/notesMasters/notesMaster1.xml" Id="Rfe87afa499cc46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871eb8b49d4fa0" /><Relationship Type="http://schemas.openxmlformats.org/officeDocument/2006/relationships/notesMaster" Target="/ppt/notesMasters/notesMaster1.xml" Id="Rf7b1905af6c247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0b784ffe5b43fe" /><Relationship Type="http://schemas.openxmlformats.org/officeDocument/2006/relationships/notesMaster" Target="/ppt/notesMasters/notesMaster1.xml" Id="R97aa912afe2c42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bdf15a5244263" /><Relationship Type="http://schemas.openxmlformats.org/officeDocument/2006/relationships/notesMaster" Target="/ppt/notesMasters/notesMaster1.xml" Id="Rf883b495cd6747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7a774c57294acd" /><Relationship Type="http://schemas.openxmlformats.org/officeDocument/2006/relationships/notesMaster" Target="/ppt/notesMasters/notesMaster1.xml" Id="R30ee1745cbed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learning objective in child-friendly language. Revisit: Show two objects. Children say one way they are the same and one way they are different.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silent thinking time. Invite pupils to say what they notice without evaluating answers. Warm-up: Show two objects. Children say one way they are the same and one way they are different.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using real objects where possible. Misconception to address: A child changes the sorting rule part-way through. Restate the rule and check every object against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60-90 seconds. Scan responses. Ask one pupil to explain and another to agree, disagree or add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pupils have committed to an answer. Expected explanation: Red group: circle and square. Blue group: circle and square.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rehearsal before sharing. Possible response: Sort by shape: both circles together and both squares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by current learning need. Independent task: Children complete the chosen worksheet. Lower group may use real objects. Expected group sorts pictures independently. Higher group finds two valid rules and explains which is more useful.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Put objects into groups. | Colour, shape, size or type. | So every object can be checked fairly.. Use responses to decide the next lesson's pre-teach group.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7ad3a498a40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3556e661db4d5d" /><Relationship Type="http://schemas.openxmlformats.org/officeDocument/2006/relationships/slideLayout" Target="/ppt/slideLayouts/slideLayout1.xml" Id="Rbe68cd74e4464d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8cd74e4464d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87c4578eb4f6f" /><Relationship Type="http://schemas.openxmlformats.org/officeDocument/2006/relationships/notesSlide" Target="/ppt/notesSlides/notesSlide1.xml" Id="R6685054fd94540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9ad1446d04888" /><Relationship Type="http://schemas.openxmlformats.org/officeDocument/2006/relationships/notesSlide" Target="/ppt/notesSlides/notesSlide2.xml" Id="Ra917b980220940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bfe00991048c8" /><Relationship Type="http://schemas.openxmlformats.org/officeDocument/2006/relationships/notesSlide" Target="/ppt/notesSlides/notesSlide3.xml" Id="R7d8b26b2716846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accd9056748cf" /><Relationship Type="http://schemas.openxmlformats.org/officeDocument/2006/relationships/notesSlide" Target="/ppt/notesSlides/notesSlide4.xml" Id="R5373ac07748c4e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5bc8b8cef403a" /><Relationship Type="http://schemas.openxmlformats.org/officeDocument/2006/relationships/notesSlide" Target="/ppt/notesSlides/notesSlide5.xml" Id="R6976f4484c5446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a6c29aa0f49e9" /><Relationship Type="http://schemas.openxmlformats.org/officeDocument/2006/relationships/notesSlide" Target="/ppt/notesSlides/notesSlide6.xml" Id="Rb04d646ebbda49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1d5aa66524337" /><Relationship Type="http://schemas.openxmlformats.org/officeDocument/2006/relationships/notesSlide" Target="/ppt/notesSlides/notesSlide7.xml" Id="Rcf6fa6638dc4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533a4d432481b" /><Relationship Type="http://schemas.openxmlformats.org/officeDocument/2006/relationships/notesSlide" Target="/ppt/notesSlides/notesSlide8.xml" Id="Rb68acae35fe840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F5CC8-5133-4501-B055-8269E44C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41649-0217-4881-9A31-D698A6FA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YEAR 1 MATHS  •  AUTUMN WEEK 1  • 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A1318-0E89-45BC-B1A1-40005462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Sort objects into groups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03EB6-2B78-4BBA-9E59-8DFE8872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1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7C79B-5230-4FA3-AA96-57BFB716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0B34A-F12C-4195-8BD9-8115C198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D3B22-44BD-4706-9355-99741160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387CB-848C-4115-BD19-497CAD56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Learning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C65C-F7A4-4AFD-8000-85E702D7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Sort a mixed collection by one clear property and explain the sorting rule.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D4DDA-37A8-4B6B-A110-C058A449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200400" cy="3619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B65DA-280A-4EDB-84A6-2EC73665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478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Today we will…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D0AA9-97A7-45E4-AD34-CA1425F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B6F86-3E46-448B-B9EE-71EE6E7B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E72EE-1BF8-4EAC-8565-20AE639D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Look • Think • Talk • Try</a:t>
            </a:r>
          </a:p>
        </p:txBody>
      </p:sp>
    </p:spTree>
    <p:extLst>
      <p:ext uri="{BB962C8B-B14F-4D97-AF65-F5344CB8AC3E}">
        <p14:creationId xmlns:p14="http://schemas.microsoft.com/office/powerpoint/2010/main" val="1876437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28F73-1E97-4052-A3C9-01D37E8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66DFF-E84B-4685-8F45-8FBF57E2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YEAR 1 MATHS  •  AUTUMN WEEK 1  • 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D7A70-3ED8-46B4-9CEF-CF440B3C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Notice and wonder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F4CDD-1F20-4920-A4C6-560DBDD1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85401-8B91-47B2-9320-C1778763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A2BE9-3519-4E7D-9D3A-1B01DC9E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CE757-2B77-4D0E-9D9A-3BD52D81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What is the same? What is different?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1A761-E398-45F1-9677-BB4A312C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9144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71ACF-9A7A-4FF2-9F8E-10D894B2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377D9-B326-447E-9592-EEE1D4E4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3EB03-EBCE-4B39-8344-C19BDF71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469E9-639A-4E1C-B45C-43BA774F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27357-9095-46C5-900F-4F0E974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C403D-2D2D-4F5E-AB8A-8D9A3A7B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4000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11C9B-9D49-4399-9B4B-821CA5FE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7210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30 seconds: silent thinking</a:t>
            </a:r>
          </a:p>
        </p:txBody>
      </p:sp>
    </p:spTree>
    <p:extLst>
      <p:ext uri="{BB962C8B-B14F-4D97-AF65-F5344CB8AC3E}">
        <p14:creationId xmlns:p14="http://schemas.microsoft.com/office/powerpoint/2010/main" val="257633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30493-971E-4F20-A09E-A7180864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FF9F5-1D7E-46B5-AFE9-412F439A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YEAR 1 MATHS  •  AUTUMN WEEK 1  • 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FAFB1-E2A7-4789-AE6D-1BB0F1B1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Teacher model: think aloud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6487F-DE05-45B5-9A36-7D23E19B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BFC24-9603-4BF7-89B0-ED820377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95DB4-6B16-43B6-B80C-A519368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7D7B8-5933-4B65-91B5-D07C6CB1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3E68A-B1A1-4A66-ADC5-47F34A44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B8D37-C4F1-48B3-9DE7-02799EA0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78298-192A-4C5C-89D9-FE4C18B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Choose one property, such as colour.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58489-908B-4736-8786-D8E2381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28068-3C0A-4C48-9E9C-C4D9F163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789CB-8C25-4A81-B873-72129633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Say the rule aloud before moving anything.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56695-6949-46EE-A0C6-129D6BE6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02570-59D5-429F-8711-B38F891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12393-9771-4B43-A37D-B8FE5F8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Place each object in the matching hoop.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53E28-82E1-4F0D-B4C3-1C65774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C3207-EAF8-429D-A0DA-21D6A083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7EB5A-5AFB-4D0F-A5FC-4478A4E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Check that every object follows the same rule.</a:t>
            </a:r>
          </a:p>
        </p:txBody>
      </p:sp>
    </p:spTree>
    <p:extLst>
      <p:ext uri="{BB962C8B-B14F-4D97-AF65-F5344CB8AC3E}">
        <p14:creationId xmlns:p14="http://schemas.microsoft.com/office/powerpoint/2010/main" val="1164591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0880B-39F8-43E5-99D4-7A8E6E8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1AF8F-2D5B-4405-A07E-C2E5643B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YEAR 1 MATHS  •  AUTUMN WEEK 1  • 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34A33-B95A-4E49-B079-5DBE7D98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Your turn: try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E3F4C-C10A-4658-BAB6-AC76899D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C23B0-11C8-4DB3-B59E-66EA6A55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ECE34-E9B3-47D3-ADBF-740DFF8D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E51E9-D30B-45EE-A10A-A19E5D45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906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BFDE8-3344-4100-A3A8-919F16AC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904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Sort a red circle, blue circle, red square and blue square by colour.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6CAF1-D877-450B-803F-DDA482A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0AA0F-0216-4800-AD2C-0D25EE97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958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3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3412"/>
                </a:solidFill>
                <a:latin typeface="Arial"/>
                <a:ea typeface="Arial"/>
                <a:cs typeface="Arial"/>
              </a:rPr>
              <a:t>Use objects or draw your thinking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95A8C-8624-4EA1-9F85-C98AFA15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 not call out — show your teacher when you are ready.</a:t>
            </a:r>
          </a:p>
        </p:txBody>
      </p:sp>
    </p:spTree>
    <p:extLst>
      <p:ext uri="{BB962C8B-B14F-4D97-AF65-F5344CB8AC3E}">
        <p14:creationId xmlns:p14="http://schemas.microsoft.com/office/powerpoint/2010/main" val="866702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93361-5D28-4091-8061-8B1EB7A2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0E693-CDB2-46AB-AED4-410BB57B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YEAR 1 MATHS  •  AUTUMN WEEK 1  • 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0C524-81EA-48C8-B639-4AAA836A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Check and explain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72C10-A17F-4662-B88B-DDD33268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564C6-1F80-4AE7-AB94-6827F958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F997B-7247-4081-858F-729DB37A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1A463-4BAA-4DDE-855D-D3F96FBC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90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0BCA2-23F5-4F98-87C7-E699D2EB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478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47857"/>
                </a:solidFill>
                <a:latin typeface="Arial"/>
                <a:ea typeface="Arial"/>
                <a:cs typeface="Arial"/>
              </a:rPr>
              <a:t>Answer reveal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72B7E-B928-4CDB-94ED-73218505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EDB0C-24C9-47EF-B9F6-C68E95DD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Red group: circle and square. Blue group: circle and square.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8FB24-C011-4763-9B75-F9A3F80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34155"/>
                </a:solidFill>
                <a:latin typeface="Arial"/>
                <a:ea typeface="Arial"/>
                <a:cs typeface="Arial"/>
              </a:rPr>
              <a:t>How do you know?  •  What did you check?  •  Is there another way?</a:t>
            </a:r>
          </a:p>
        </p:txBody>
      </p:sp>
    </p:spTree>
    <p:extLst>
      <p:ext uri="{BB962C8B-B14F-4D97-AF65-F5344CB8AC3E}">
        <p14:creationId xmlns:p14="http://schemas.microsoft.com/office/powerpoint/2010/main" val="1093314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77078-8CC6-4B7B-A40E-8FEB7FC0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C90BA-4C26-4510-BE64-072BE207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YEAR 1 MATHS  •  AUTUMN WEEK 1  • 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BBFFC-9B5E-4492-B121-2368B223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Talk partner challenge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6F2BF-21CF-48C3-95B1-0F54AA3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C3A69-E9A4-4555-8EAD-72D54C89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2369B-B7B6-458E-B9D5-17DAB97C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E36F3-826E-41B8-B73F-A9095AF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C2CA6-3667-457C-BAEC-BF9561F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864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A2E89-5B3B-489B-A607-AFC44924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00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452F0-17C0-4BF3-A70E-A09006D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Partner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B6D19-C752-4091-8C2A-6A6178A2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46863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How could you sort the same four objects in a different way?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82677-713C-45EA-9B85-2AFF6C85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200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C95E7-CC1C-499B-8DD2-467E563E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3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3412"/>
                </a:solidFill>
                <a:latin typeface="Arial"/>
                <a:ea typeface="Arial"/>
                <a:cs typeface="Arial"/>
              </a:rPr>
              <a:t>Partner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DA9CF-FED9-4B30-BD87-93760B1D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9149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Listen carefully. Then explain your partner's idea back to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3F675-8665-4310-B95E-AB98E930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0550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Sentence stem: I think… because…</a:t>
            </a:r>
          </a:p>
        </p:txBody>
      </p:sp>
    </p:spTree>
    <p:extLst>
      <p:ext uri="{BB962C8B-B14F-4D97-AF65-F5344CB8AC3E}">
        <p14:creationId xmlns:p14="http://schemas.microsoft.com/office/powerpoint/2010/main" val="558225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7171C-39F2-4EC4-8FE3-BBA99FC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88BE3-0A01-4DCF-98AE-084678EC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YEAR 1 MATHS  •  AUTUMN WEEK 1  • 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2645-F592-47EA-BF2E-4DD9278F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Choose the right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B9158-2289-40FE-9D44-8BE91245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2677F-270C-4825-8DD9-038D19BA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27A6A-097C-46F2-B696-D68764BA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BC18A-C0BB-43D8-96A5-251F3C12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52800" cy="37147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630D4-DA31-44EE-9CAB-02571BA9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57375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EE6F3-24C0-4A98-936D-646D6719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Lower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8CB93-B2CA-4B0D-8F42-784C74E4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2705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Use objects and adult prompts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66204-16B9-4D90-8E25-28F3B311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3352800" cy="37147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C94A2-CF80-4F2B-91D5-7E391A7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● 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A281D-E849-4F55-BBE9-A1ECC531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2412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9F640-0482-444E-82C6-82D12309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2705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Work independently, then 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20743-860E-47C5-8A19-C31E553B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24000"/>
            <a:ext cx="3352800" cy="37147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F34D4-0384-4E43-998A-49CB0B9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57375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478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47857"/>
                </a:solidFill>
                <a:latin typeface="Arial"/>
                <a:ea typeface="Arial"/>
                <a:cs typeface="Arial"/>
              </a:rPr>
              <a:t>● ● 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AF945-35D4-4A1D-A793-8E535F33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2412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Higher challenge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91F48-AB5E-41AB-9D36-BDF614A5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2705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Prove, compare or generalise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07CFA-7FCF-42CF-8AD3-134D3B1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Your teacher may move you to a different sheet today — that is good learning.</a:t>
            </a:r>
          </a:p>
        </p:txBody>
      </p:sp>
    </p:spTree>
    <p:extLst>
      <p:ext uri="{BB962C8B-B14F-4D97-AF65-F5344CB8AC3E}">
        <p14:creationId xmlns:p14="http://schemas.microsoft.com/office/powerpoint/2010/main" val="474193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8010B-AF86-47AC-85ED-9FC8709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DF394-F92C-4306-BCA8-D7B091A9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YEAR 1 MATHS  •  AUTUMN WEEK 1  • 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544D2-A64B-48C9-B276-C0BF992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531FB-A79A-470E-8C3F-ED782D19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1950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54B4E-3BBB-48D0-8002-377CDB7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A0D4F-E7D6-4687-8FAF-BF248579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39F3F-82DE-4852-BA1A-25768FE1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FE627-502E-47B1-A93C-31599622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AFBAD-F369-48AD-B712-75EFF34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192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3DBA2-8E60-4BDC-BBC1-6FA001CE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66875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What does sort mean?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5A3DA-E21D-4680-89F4-2292E0AD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5F2C5-74BD-4B9A-B480-5BC9AE3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C7C53-A15A-41CC-AECE-C2AE75ED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AAE24-037B-4B58-9DE4-F671F4FD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00375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Name one property we can 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A349F-63AE-4DA0-AC2D-E2D7B5DB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B5E81-7BAB-41F9-AE37-0592FCA2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8ADC5-C9B3-4883-8138-B69AB6F4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862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B7A43-3CEB-48CA-BD7A-C15538C6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33875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Why must the rule stay the same?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9A069-727A-4975-A916-C88BDCAA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Show: thumbs up / sideways / down — How confident do you feel?</a:t>
            </a:r>
          </a:p>
        </p:txBody>
      </p:sp>
    </p:spTree>
    <p:extLst>
      <p:ext uri="{BB962C8B-B14F-4D97-AF65-F5344CB8AC3E}">
        <p14:creationId xmlns:p14="http://schemas.microsoft.com/office/powerpoint/2010/main" val="1624161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2026-09-07T13:12:07.1240000Z</dcterms:created>
  <dcterms:modified xsi:type="dcterms:W3CDTF">2026-09-07T13:12:07.1240000Z</dcterms:modified>
</coreProperties>
</file>