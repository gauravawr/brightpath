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519286ab8564adb" /><Relationship Type="http://schemas.openxmlformats.org/officeDocument/2006/relationships/extended-properties" Target="/docProps/app.xml" Id="Rbd91cd6cb9fa402f" /><Relationship Type="http://schemas.openxmlformats.org/officeDocument/2006/relationships/officeDocument" Target="/ppt/presentation.xml" Id="R9b2dab27869c461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8bdb82cdec45f3"/>
  </p:sldMasterIdLst>
  <p:notesMasterIdLst>
    <p:notesMasterId xmlns:r="http://schemas.openxmlformats.org/officeDocument/2006/relationships" r:id="R6f1fb719d02e4388"/>
  </p:notesMasterIdLst>
  <p:sldIdLst>
    <p:sldId xmlns:r="http://schemas.openxmlformats.org/officeDocument/2006/relationships" id="256" r:id="Reff6289844174368"/>
    <p:sldId xmlns:r="http://schemas.openxmlformats.org/officeDocument/2006/relationships" id="257" r:id="R33d52851db59454e"/>
    <p:sldId xmlns:r="http://schemas.openxmlformats.org/officeDocument/2006/relationships" id="258" r:id="R5af4e4a357134938"/>
    <p:sldId xmlns:r="http://schemas.openxmlformats.org/officeDocument/2006/relationships" id="259" r:id="R278191c22d434ebb"/>
    <p:sldId xmlns:r="http://schemas.openxmlformats.org/officeDocument/2006/relationships" id="260" r:id="R15592dca42974800"/>
    <p:sldId xmlns:r="http://schemas.openxmlformats.org/officeDocument/2006/relationships" id="261" r:id="Rcb8f41196e6a4813"/>
    <p:sldId xmlns:r="http://schemas.openxmlformats.org/officeDocument/2006/relationships" id="262" r:id="R95a2f9288577458f"/>
    <p:sldId xmlns:r="http://schemas.openxmlformats.org/officeDocument/2006/relationships" id="263" r:id="R2242cd3af2a4420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87d020a2954ec4" /><Relationship Type="http://schemas.openxmlformats.org/officeDocument/2006/relationships/slideMaster" Target="/ppt/slideMasters/slideMaster1.xml" Id="R248bdb82cdec45f3" /><Relationship Type="http://schemas.openxmlformats.org/officeDocument/2006/relationships/notesMaster" Target="/ppt/notesMasters/notesMaster1.xml" Id="R6f1fb719d02e4388" /><Relationship Type="http://schemas.openxmlformats.org/officeDocument/2006/relationships/presProps" Target="/ppt/presProps.xml" Id="R07cf2b6983a74ede" /><Relationship Type="http://schemas.openxmlformats.org/officeDocument/2006/relationships/tableStyles" Target="/ppt/tableStyles.xml" Id="Rdcf2b93a85dd4eae" /><Relationship Type="http://schemas.openxmlformats.org/officeDocument/2006/relationships/slide" Target="/ppt/slides/slide1.xml" Id="Reff6289844174368" /><Relationship Type="http://schemas.openxmlformats.org/officeDocument/2006/relationships/slide" Target="/ppt/slides/slide2.xml" Id="R33d52851db59454e" /><Relationship Type="http://schemas.openxmlformats.org/officeDocument/2006/relationships/slide" Target="/ppt/slides/slide3.xml" Id="R5af4e4a357134938" /><Relationship Type="http://schemas.openxmlformats.org/officeDocument/2006/relationships/slide" Target="/ppt/slides/slide4.xml" Id="R278191c22d434ebb" /><Relationship Type="http://schemas.openxmlformats.org/officeDocument/2006/relationships/slide" Target="/ppt/slides/slide5.xml" Id="R15592dca42974800" /><Relationship Type="http://schemas.openxmlformats.org/officeDocument/2006/relationships/slide" Target="/ppt/slides/slide6.xml" Id="Rcb8f41196e6a4813" /><Relationship Type="http://schemas.openxmlformats.org/officeDocument/2006/relationships/slide" Target="/ppt/slides/slide7.xml" Id="R95a2f9288577458f" /><Relationship Type="http://schemas.openxmlformats.org/officeDocument/2006/relationships/slide" Target="/ppt/slides/slide8.xml" Id="R2242cd3af2a442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b673db26594d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d326567d0de43d9" /><Relationship Type="http://schemas.openxmlformats.org/officeDocument/2006/relationships/notesMaster" Target="/ppt/notesMasters/notesMaster1.xml" Id="R58654bc9d3c548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4c1b0066fc94afd" /><Relationship Type="http://schemas.openxmlformats.org/officeDocument/2006/relationships/notesMaster" Target="/ppt/notesMasters/notesMaster1.xml" Id="R7dae0d20e00a4e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50ac592a6ef4e9a" /><Relationship Type="http://schemas.openxmlformats.org/officeDocument/2006/relationships/notesMaster" Target="/ppt/notesMasters/notesMaster1.xml" Id="R79ba3199184142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d4a3f5f6c448cf" /><Relationship Type="http://schemas.openxmlformats.org/officeDocument/2006/relationships/notesMaster" Target="/ppt/notesMasters/notesMaster1.xml" Id="Rebabf6a8b3a2492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09418d8f9a4ff9" /><Relationship Type="http://schemas.openxmlformats.org/officeDocument/2006/relationships/notesMaster" Target="/ppt/notesMasters/notesMaster1.xml" Id="Rec8cb2e14e9d46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4648665d2f47fa" /><Relationship Type="http://schemas.openxmlformats.org/officeDocument/2006/relationships/notesMaster" Target="/ppt/notesMasters/notesMaster1.xml" Id="R03c6d76edfcc46e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0eb369f18946aa" /><Relationship Type="http://schemas.openxmlformats.org/officeDocument/2006/relationships/notesMaster" Target="/ppt/notesMasters/notesMaster1.xml" Id="Rc0ed1f10acf34f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584144914a4a3a" /><Relationship Type="http://schemas.openxmlformats.org/officeDocument/2006/relationships/notesMaster" Target="/ppt/notesMasters/notesMaster1.xml" Id="R430486ef0a7b41a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learning objective in child-friendly language. Revisit: Count five claps together, matching one number word to each clap.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silent thinking time. Invite pupils to say what they notice without evaluating answers. Warm-up: Count five claps together, matching one number word to each clap.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 using real objects where possible. Misconception to address: A child skips or recounts an object. Arrange objects in a line and move each one after saying its number.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Give 60-90 seconds. Scan responses. Ask one pupil to explain and another to agree, disagree or add 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after pupils have committed to an answer. Expected explanation: Mark or move the first counter, then count each counter once.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Allow rehearsal before sharing. Possible response: The same six counters remain, so only their position changes.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Choose by current learning need. Independent task: Children count picture sets on the chosen worksheet. Lower group may cover each counted object. Expected group counts mixed arrangements. Higher group explains and corrects inaccurate counts.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Answers: One number word. | The total. | Move, touch, line up or mark each object.. Use responses to decide the next lesson's pre-teach group.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ca179d2b554ab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3ca135609e4a33" /><Relationship Type="http://schemas.openxmlformats.org/officeDocument/2006/relationships/slideLayout" Target="/ppt/slideLayouts/slideLayout1.xml" Id="R933dbc38174d4f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33dbc38174d4f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3e947a56a4b8d" /><Relationship Type="http://schemas.openxmlformats.org/officeDocument/2006/relationships/notesSlide" Target="/ppt/notesSlides/notesSlide1.xml" Id="Raec6827696d4467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dae63e8a34100" /><Relationship Type="http://schemas.openxmlformats.org/officeDocument/2006/relationships/notesSlide" Target="/ppt/notesSlides/notesSlide2.xml" Id="R945f1ffe5ed947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7aa5b3f3e4cb6" /><Relationship Type="http://schemas.openxmlformats.org/officeDocument/2006/relationships/notesSlide" Target="/ppt/notesSlides/notesSlide3.xml" Id="Rf5380ac4545645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0997d397734a61" /><Relationship Type="http://schemas.openxmlformats.org/officeDocument/2006/relationships/notesSlide" Target="/ppt/notesSlides/notesSlide4.xml" Id="Rd4df2ab36d04429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de363d4f141fb" /><Relationship Type="http://schemas.openxmlformats.org/officeDocument/2006/relationships/notesSlide" Target="/ppt/notesSlides/notesSlide5.xml" Id="R63896e1561dd40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5f4a7af904e08" /><Relationship Type="http://schemas.openxmlformats.org/officeDocument/2006/relationships/notesSlide" Target="/ppt/notesSlides/notesSlide6.xml" Id="Ra893f9527cfa47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5a33a7c1747fc" /><Relationship Type="http://schemas.openxmlformats.org/officeDocument/2006/relationships/notesSlide" Target="/ppt/notesSlides/notesSlide7.xml" Id="R5fb14a413776459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0d07cfacf14eeb" /><Relationship Type="http://schemas.openxmlformats.org/officeDocument/2006/relationships/notesSlide" Target="/ppt/notesSlides/notesSlide8.xml" Id="R8f7c76a453cb4ab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015E78-3D6A-4B53-B503-FE8A518F9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1DED31-A394-4D7F-8D5A-5119DD58F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4172DC-0105-485E-9A4A-3BCA204AA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Count objects using one-to-one correspondence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DC559-69CC-4199-992C-38DD2653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1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C22E8A-FD55-49C2-834C-1EADD802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1BD180-75AE-4D3F-9BCA-C8E4E0371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1974F8-D8A9-49FC-BB1E-3B5CFBA42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095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FCF548-BD05-4F50-A6C0-87693A2F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Learning objective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5DAE1C-A77F-4FDB-AB9D-0BF3DF35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7239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Count a set accurately by saying one number for each object.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D0BD98-2567-4F2D-8167-D1BA11BD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524000"/>
            <a:ext cx="3200400" cy="36195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4F1028-FE08-4F21-9B0B-DF1E3E44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47850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Today we will…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0506C-072F-4821-A4B6-A3806454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24AF6F-8944-4CBF-A103-B6100170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922FFE-E2B7-4E7D-AE3B-1FAA863F6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AA7FB-823C-47AB-9313-AD373ABF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714750"/>
            <a:ext cx="2647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Look • Think • Talk • Try</a:t>
            </a:r>
          </a:p>
        </p:txBody>
      </p:sp>
    </p:spTree>
    <p:extLst>
      <p:ext uri="{BB962C8B-B14F-4D97-AF65-F5344CB8AC3E}">
        <p14:creationId xmlns:p14="http://schemas.microsoft.com/office/powerpoint/2010/main" val="127444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D0642-659F-43BD-91F1-2CDC00EF1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63CB5-9B56-493F-B67F-D70DA95E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87934-C199-4626-9A7A-7E99BEF2B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Notice and wonder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22696-7A28-4050-9A2D-3F3D1B27A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2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E13869-CF38-4A1E-8652-E406D4A67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A9542E-B34B-4CC6-BABF-AD974623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15AF89-0FC3-4B08-A9C4-C1FCE893E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Can you count the claps without seeing them?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4B36BC-4F34-48BB-8EBF-6B4950BD2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571750"/>
            <a:ext cx="9144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F80777-FEE9-4337-80BB-2A375C6E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BB6335-57A1-4B65-9DD3-94EA56D6A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CD94D3-4C18-45E6-9701-29837A33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96429B-2D58-4060-AAB1-F5F32F4C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3A5717-EA93-4A36-BF21-8EBF2BB3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909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31126C-DF22-4910-B079-C33EC39B8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34000"/>
            <a:ext cx="4000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C43610-EAEC-4A5C-BD6D-8883860D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72100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30 seconds: silent thinking</a:t>
            </a:r>
          </a:p>
        </p:txBody>
      </p:sp>
    </p:spTree>
    <p:extLst>
      <p:ext uri="{BB962C8B-B14F-4D97-AF65-F5344CB8AC3E}">
        <p14:creationId xmlns:p14="http://schemas.microsoft.com/office/powerpoint/2010/main" val="120117051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50B4D8-CC7A-45A7-94CE-27CD7557B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5A065-7E7F-43F7-B919-86401022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28E83C-85EC-4182-9D5E-C519161B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Teacher model: think aloud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00D7C-AADD-47A3-81D4-88674B6D5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3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D6C502-417E-4A5B-BE4F-9ED555B9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5EE139-D759-40D1-8E98-BF19449C5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7A4F75-0269-4ADA-8E22-9122813EC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BAB47-3BF9-4BB5-8D4A-0D30165E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B101C3-0C1A-4699-B58A-BE8EB701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E2F41A-F8D2-4EE4-94A9-45B4A815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Arrange the objects so each can be seen.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66AD9-65B5-4359-A328-A43A7E3C0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74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273FAB-7F55-45DB-BDFF-0988495C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1239DA-2A5C-4178-8BDF-F32BF6C7A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098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Touch or move one object for each number said.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E3A308-17A7-4630-B990-3AB57E05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528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91C534-F5B1-42A7-86E3-B13F630F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F9B49A-F467-44DE-B1A9-4686E8F4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50520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Keep the counting sequence in order.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77E9A7-5D44-40A5-890F-7719096F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481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94B3EB-1D7E-4121-A6BB-31025BFE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95800"/>
            <a:ext cx="514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CE1331-9B74-44A6-AAF8-B5373583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005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Say that the final number is how many altogether.</a:t>
            </a:r>
          </a:p>
        </p:txBody>
      </p:sp>
    </p:spTree>
    <p:extLst>
      <p:ext uri="{BB962C8B-B14F-4D97-AF65-F5344CB8AC3E}">
        <p14:creationId xmlns:p14="http://schemas.microsoft.com/office/powerpoint/2010/main" val="147865887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8F635-2E0D-4337-84C9-EB619C57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979356-291C-4D2E-AE6E-2136CC5BD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C1D190-C3C9-4E08-BA53-AEA464435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Your turn: try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2A635E-F7C1-4B4E-833E-7D3CFA54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4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4EE8D3-8E40-431B-98AF-5BF6B51F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95F950-B19C-49A4-BCD8-43AE7B41C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D6F19F-98A8-4EDA-A2BE-FE31C10F7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9906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8E15B4-EE5F-4694-A4E4-A86AED54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52625"/>
            <a:ext cx="9048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Count six counters arranged in a circle. How will you remember where you started?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4F4BA4-B5F2-4843-A3EF-67A9139A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57750"/>
            <a:ext cx="47625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81EB30-ECF1-4D0D-8830-0DEC6570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95850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Use objects or draw your thinking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A7B94E-6C17-4B66-B74A-6905FDBA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2450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Do not call out — show your teacher when you are ready.</a:t>
            </a:r>
          </a:p>
        </p:txBody>
      </p:sp>
    </p:spTree>
    <p:extLst>
      <p:ext uri="{BB962C8B-B14F-4D97-AF65-F5344CB8AC3E}">
        <p14:creationId xmlns:p14="http://schemas.microsoft.com/office/powerpoint/2010/main" val="9769178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5E2A3B-BD0B-471F-8387-05110B2E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07BCE8-D8B4-47CD-BB81-C8BF5248E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6C5FED-08FE-4309-BB49-3269455A5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Check and explain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5B4B0D-EB48-41D3-8582-82646870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5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C3989B-D1F1-4151-AF71-15A3B750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DAF257-55DD-4F10-AA83-9F8EA461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1F953-D0B1-4713-B390-D52B6102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9050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73ACA6-6345-456E-8A78-E504F72C9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1676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Answer reveal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CDDB26-A171-4A57-8AF4-7E2A6935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F0204E-C475-420D-98EC-7E06D268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10287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Mark or move the first counter, then count each counter once.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721911-B852-4314-99A3-CC95A886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57750"/>
            <a:ext cx="1009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34155"/>
                </a:solidFill>
                <a:latin typeface="Arial"/>
                <a:ea typeface="Arial"/>
                <a:cs typeface="Arial"/>
              </a:rPr>
              <a:t>How do you know?  •  What did you check?  •  Is there another way?</a:t>
            </a:r>
          </a:p>
        </p:txBody>
      </p:sp>
    </p:spTree>
    <p:extLst>
      <p:ext uri="{BB962C8B-B14F-4D97-AF65-F5344CB8AC3E}">
        <p14:creationId xmlns:p14="http://schemas.microsoft.com/office/powerpoint/2010/main" val="3358304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2E8952-2469-4957-B326-B05406A7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9C6382-A555-48E0-AF13-2A3B4376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2151B-971D-4529-8C5A-B6318D48B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Talk partner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9E9905-6D8F-43FE-B0A8-514F98FF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6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CA3804-E929-44B5-B15B-08F9672D6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778ED-7163-40BC-896B-9D191F75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D8024E-33BD-4F25-A011-473AB004B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2578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A8A548-AD91-4623-9BF1-3E5BEE36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486400" cy="4381500"/>
          </a:xfrm>
          <a:prstGeom xmlns:a="http://schemas.openxmlformats.org/drawingml/2006/main" prst="roundRect">
            <a:avLst>
              <a:gd name="adj" fmla="val 173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88635B-F8D7-49D4-B618-40CD75B8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463CDA-1EC2-423A-8FA8-EF54C038D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Partner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C8871-2743-4527-ACD1-A43D71F2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46863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Why does moving the counters not change how many there are?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C693F2-57DA-463E-A6CB-93891D8F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954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EDD5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8F8CA7-35F6-4610-8CA6-C69A50F0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335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3412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3412"/>
                </a:solidFill>
                <a:latin typeface="Arial"/>
                <a:ea typeface="Arial"/>
                <a:cs typeface="Arial"/>
              </a:rPr>
              <a:t>Partner 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A5C094-DC3A-41AA-BEA3-786E9F94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43150"/>
            <a:ext cx="49149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Listen carefully. Then explain your partner's idea back to them.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8E781C-79BB-4143-85F1-788E8766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905500"/>
            <a:ext cx="609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Sentence stem: I think… because…</a:t>
            </a:r>
          </a:p>
        </p:txBody>
      </p:sp>
    </p:spTree>
    <p:extLst>
      <p:ext uri="{BB962C8B-B14F-4D97-AF65-F5344CB8AC3E}">
        <p14:creationId xmlns:p14="http://schemas.microsoft.com/office/powerpoint/2010/main" val="19505540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AB04EC-89CB-44C0-9D01-CC161B62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CC2B55-502E-4F66-997E-8C112BA4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91DF36-A569-4015-A2FB-D3A884D1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Choose the right practice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C52C1F-D1A3-4CDA-A889-8D94F945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7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F2861-0AE8-4562-8F4F-956F474B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3FDC22-9B62-4DC9-A0D9-3B78121CA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0D3262-90C6-4778-9F10-C814B1746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33B406-62D1-4904-A693-A94B93EE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A2C2A0-C905-44CA-9E4E-EC46B55B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73D94B-0E77-4267-9880-F30BA3517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Use objects and adult prompts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458B41A-1458-4A3B-A773-78CD7D15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245ECB-3AF9-49C4-B690-D017279C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● 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70583F-CB70-443A-B5AF-0381636B6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9378D8-F63C-463B-A6A5-52DA9C40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Work independently, then explain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9C34D8-ABC6-41C9-8437-5F84B73A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524000"/>
            <a:ext cx="3352800" cy="371475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21289B-23AA-41E4-976D-709C461F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57375"/>
            <a:ext cx="2781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47857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47857"/>
                </a:solidFill>
                <a:latin typeface="Arial"/>
                <a:ea typeface="Arial"/>
                <a:cs typeface="Arial"/>
              </a:rPr>
              <a:t>● ● 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4F7AEA-4A27-489C-B8D6-B616FA13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24125"/>
            <a:ext cx="2895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Higher challenge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193957-5115-4E7E-9F93-C2965E3E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238500"/>
            <a:ext cx="27051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3341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334155"/>
                </a:solidFill>
                <a:latin typeface="Arial"/>
                <a:ea typeface="Arial"/>
                <a:cs typeface="Arial"/>
              </a:rPr>
              <a:t>Prove, compare or generalise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143280-C281-4604-8F58-39BB00D5A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57212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Your teacher may move you to a different sheet today — that is good learning.</a:t>
            </a:r>
          </a:p>
        </p:txBody>
      </p:sp>
    </p:spTree>
    <p:extLst>
      <p:ext uri="{BB962C8B-B14F-4D97-AF65-F5344CB8AC3E}">
        <p14:creationId xmlns:p14="http://schemas.microsoft.com/office/powerpoint/2010/main" val="18625027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2D0DD6-5460-4E87-A898-E65C56962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F221B3-9BDC-4538-A8C1-C7785E6B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YEAR 1 MATHS  •  AUTUMN WEEK 1  •  DAY 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2DE622-16F7-44F1-88BD-175469DB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DDAC5D-ED2C-4B96-AFCC-7B529F8E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619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64748B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2860C8-35D0-4ECF-873B-D5293332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E8F0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A84254-88B7-415F-A352-F12723B62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960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4748B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64748B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4745C3-A458-4115-9317-D90E60FA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CFD1CF-37B0-4E06-8BF5-169EB4D5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762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7BFAF6-A07A-4B35-8371-84345637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819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E4B264-2EDC-4054-BDEA-A749C0AF2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1666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must match each object?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5835A0-2900-47C5-AD6A-002328D38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575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1D406E-9C1A-43B8-8126-6F69806BC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956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2DE381-AE42-413D-9102-B05DD45D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1527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8A2E97-A133-4991-8FB3-554B4E23B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0003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What does the final number tell us?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3114C-E4C0-40AD-9BCF-EAB3D5CAE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106680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EF2F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56B0D7-B780-4323-B15F-E1E01CEE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29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ED5D9B-31F6-4F85-AA54-FCEFE558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86275"/>
            <a:ext cx="51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9FE314-2265-4AEE-9FA1-A14F38390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4333875"/>
            <a:ext cx="9239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F172A"/>
                </a:solidFill>
                <a:latin typeface="Arial"/>
                <a:ea typeface="Arial"/>
                <a:cs typeface="Arial"/>
              </a:rPr>
              <a:t>Name one way to avoid counting twice.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536CF9-D5B3-474A-8B69-3B0F61FE9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619750"/>
            <a:ext cx="895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91C1C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B91C1C"/>
                </a:solidFill>
                <a:latin typeface="Arial"/>
                <a:ea typeface="Arial"/>
                <a:cs typeface="Arial"/>
              </a:rPr>
              <a:t>Show: thumbs up / sideways / down — How confident do you feel?</a:t>
            </a:r>
          </a:p>
        </p:txBody>
      </p:sp>
    </p:spTree>
    <p:extLst>
      <p:ext uri="{BB962C8B-B14F-4D97-AF65-F5344CB8AC3E}">
        <p14:creationId xmlns:p14="http://schemas.microsoft.com/office/powerpoint/2010/main" val="13329222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2026-09-07T13:12:12.9270000Z</dcterms:created>
  <dcterms:modified xsi:type="dcterms:W3CDTF">2026-09-07T13:12:12.9270000Z</dcterms:modified>
</coreProperties>
</file>