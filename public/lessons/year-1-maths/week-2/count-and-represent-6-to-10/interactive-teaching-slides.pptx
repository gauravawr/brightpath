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and represent 6 to 10. Count and represent 6 to 10.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and represent 6 to 10. I do.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and represent 6 to 10. You do. Pause before clicking. Let pupils try independently, then reveal and discuss every step.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and represent 6 to 10. I do.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and represent 6 to 10. You do. Pause before clicking. Let pupils try independently, then reveal and discuss every step. Touch and move each object exactly once. The last number tells the total. Zero means the frame stays empty.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and represent 6 to 10.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 and represent 6 to 10.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21FD2968-6BC2-46DF-B385-EB2F26FEE418}"/>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Count and represent 6 to 10</a:t>
            </a:r>
          </a:p>
        </p:txBody>
      </p:sp>
      <p:sp>
        <p:nvSpPr>
          <p:cNvPr id="2" name="object-2">
            <a:extLst>
              <a:ext uri="{FF2B5EF4-FFF2-40B4-BE49-F238E27FC236}">
                <a16:creationId xmlns:a16="http://schemas.microsoft.com/office/drawing/2014/main" id="{60A73CF3-3633-4E04-88CB-60C5F684254F}"/>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192F8B33-CC3C-4B27-929D-47D75D4FA546}"/>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77A3345-CE99-4D25-A6CC-6348D12B8CE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and represent 6 to 10</a:t>
            </a:r>
          </a:p>
        </p:txBody>
      </p:sp>
      <p:sp>
        <p:nvSpPr>
          <p:cNvPr id="5" name="object-5">
            <a:extLst>
              <a:ext uri="{FF2B5EF4-FFF2-40B4-BE49-F238E27FC236}">
                <a16:creationId xmlns:a16="http://schemas.microsoft.com/office/drawing/2014/main" id="{1C9FB23F-E3FB-4D25-9789-F8E801661E5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5ABE3CD1-0EBD-47DC-B8F7-F4641DB73FF8}"/>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Count sets from 6 to 10 accurately and represent each quantity in different ways.</a:t>
            </a:r>
          </a:p>
        </p:txBody>
      </p:sp>
    </p:spTree>
    <p:extLst>
      <p:ext uri="{BB962C8B-B14F-4D97-AF65-F5344CB8AC3E}">
        <p14:creationId xmlns:p14="http://schemas.microsoft.com/office/powerpoint/2010/main" val="1560505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object-1">
            <a:extLst>
              <a:ext uri="{FF2B5EF4-FFF2-40B4-BE49-F238E27FC236}">
                <a16:creationId xmlns:a16="http://schemas.microsoft.com/office/drawing/2014/main" id="{40890468-00F5-4D54-831E-16852744EC3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986B5A52-B28B-4566-BF9E-EE07B3629EF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 Show the amount in the frame.</a:t>
            </a:r>
          </a:p>
        </p:txBody>
      </p:sp>
      <p:sp>
        <p:nvSpPr>
          <p:cNvPr id="3" name="object-3">
            <a:extLst>
              <a:ext uri="{FF2B5EF4-FFF2-40B4-BE49-F238E27FC236}">
                <a16:creationId xmlns:a16="http://schemas.microsoft.com/office/drawing/2014/main" id="{642C7C04-8270-44EA-AD0C-C234ECCF87E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AD47B8A-DA6B-4D45-BD9C-FBC3139F10A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and represent 6 to 10</a:t>
            </a:r>
          </a:p>
        </p:txBody>
      </p:sp>
      <p:sp>
        <p:nvSpPr>
          <p:cNvPr id="5" name="object-5">
            <a:extLst>
              <a:ext uri="{FF2B5EF4-FFF2-40B4-BE49-F238E27FC236}">
                <a16:creationId xmlns:a16="http://schemas.microsoft.com/office/drawing/2014/main" id="{ED1ED420-6A73-4637-8B8A-8998333456F2}"/>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AEC851BF-9816-415A-AA4E-37D03BCFFD64}"/>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7" name="object-7">
            <a:extLst>
              <a:ext uri="{FF2B5EF4-FFF2-40B4-BE49-F238E27FC236}">
                <a16:creationId xmlns:a16="http://schemas.microsoft.com/office/drawing/2014/main" id="{36396E42-1CEF-4BE3-85EF-44C2AF3DA3B8}"/>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F3C7E50A-89D4-4FF5-8F8E-11BA658A5AEA}"/>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959F39A5-0353-4E39-81E4-146D2D694C02}"/>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DD8C1B66-DAFE-417B-8648-26CF7E325B33}"/>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A1943995-C682-476E-BF15-92B1F62A821F}"/>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BA3163BC-EDC0-452D-9780-B59E3E9F808E}"/>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E134917C-0674-4557-BB50-1E0B898124C2}"/>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893DB28B-395E-449A-87AD-13501A1434FF}"/>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5D6DF60E-BC19-4DAF-A5FA-42ECB6146296}"/>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AF0F5D24-4AB1-4879-8AF0-E4E5E44CC4E4}"/>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8C13A8B8-90F4-49F4-9E7E-2E0538DB3ED1}"/>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18" name="object-18">
            <a:extLst>
              <a:ext uri="{FF2B5EF4-FFF2-40B4-BE49-F238E27FC236}">
                <a16:creationId xmlns:a16="http://schemas.microsoft.com/office/drawing/2014/main" id="{D503FA09-B368-437B-8CAA-9AFE15628EFD}"/>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2F9A8092-AF68-4D3A-A124-87E7FC88EFF2}"/>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20" name="object-20">
            <a:extLst>
              <a:ext uri="{FF2B5EF4-FFF2-40B4-BE49-F238E27FC236}">
                <a16:creationId xmlns:a16="http://schemas.microsoft.com/office/drawing/2014/main" id="{56AA4EAA-FB15-43AB-936E-EF41B6307D2E}"/>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668703AD-DC7A-4BE3-A3CF-EACAB70D7751}"/>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22" name="object-22">
            <a:extLst>
              <a:ext uri="{FF2B5EF4-FFF2-40B4-BE49-F238E27FC236}">
                <a16:creationId xmlns:a16="http://schemas.microsoft.com/office/drawing/2014/main" id="{094CF507-CC9A-4724-9238-E6A8A694E25C}"/>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E9E25F4C-FE20-4175-8C54-1785C9AAD9E9}"/>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24" name="object-24">
            <a:extLst>
              <a:ext uri="{FF2B5EF4-FFF2-40B4-BE49-F238E27FC236}">
                <a16:creationId xmlns:a16="http://schemas.microsoft.com/office/drawing/2014/main" id="{42D4CDD6-5880-4611-9D65-E562949F3879}"/>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25" name="object-25">
            <a:extLst>
              <a:ext uri="{FF2B5EF4-FFF2-40B4-BE49-F238E27FC236}">
                <a16:creationId xmlns:a16="http://schemas.microsoft.com/office/drawing/2014/main" id="{8072FBAB-6406-4D64-BEE5-6B67823D3B32}"/>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26" name="object-26">
            <a:extLst>
              <a:ext uri="{FF2B5EF4-FFF2-40B4-BE49-F238E27FC236}">
                <a16:creationId xmlns:a16="http://schemas.microsoft.com/office/drawing/2014/main" id="{E429707F-7CA3-47E5-8962-3A6253E13BA7}"/>
              </a:ext>
            </a:extLst>
          </p:cNvPr>
          <p:cNvSpPr>
            <a:spLocks noGrp="1"/>
          </p:cNvSpPr>
          <p:nvPr/>
        </p:nvSpPr>
        <p:spPr>
          <a:xfrm>
            <a:off x="7679531" y="3333750"/>
            <a:ext cx="571500" cy="571500"/>
          </a:xfrm>
          <a:prstGeom prst="ellipse">
            <a:avLst/>
          </a:prstGeom>
          <a:solidFill>
            <a:srgbClr val="1D4ED8"/>
          </a:solidFill>
          <a:ln w="11906">
            <a:solidFill>
              <a:srgbClr val="172B4D"/>
            </a:solidFill>
          </a:ln>
        </p:spPr>
      </p:sp>
      <p:sp>
        <p:nvSpPr>
          <p:cNvPr id="27" name="object-27">
            <a:extLst>
              <a:ext uri="{FF2B5EF4-FFF2-40B4-BE49-F238E27FC236}">
                <a16:creationId xmlns:a16="http://schemas.microsoft.com/office/drawing/2014/main" id="{2079284F-C6B8-4041-B5A7-23D5C740ACC0}"/>
              </a:ext>
            </a:extLst>
          </p:cNvPr>
          <p:cNvSpPr>
            <a:spLocks noGrp="1"/>
          </p:cNvSpPr>
          <p:nvPr/>
        </p:nvSpPr>
        <p:spPr>
          <a:xfrm>
            <a:off x="7620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6</a:t>
            </a:r>
          </a:p>
        </p:txBody>
      </p:sp>
      <p:sp>
        <p:nvSpPr>
          <p:cNvPr id="28" name="object-28">
            <a:extLst>
              <a:ext uri="{FF2B5EF4-FFF2-40B4-BE49-F238E27FC236}">
                <a16:creationId xmlns:a16="http://schemas.microsoft.com/office/drawing/2014/main" id="{7B2CCEDD-EC29-43B3-B091-A299F3B7E7CF}"/>
              </a:ext>
            </a:extLst>
          </p:cNvPr>
          <p:cNvSpPr>
            <a:spLocks noGrp="1"/>
          </p:cNvSpPr>
          <p:nvPr/>
        </p:nvSpPr>
        <p:spPr>
          <a:xfrm>
            <a:off x="8989219" y="2917031"/>
            <a:ext cx="571500" cy="571500"/>
          </a:xfrm>
          <a:prstGeom prst="ellipse">
            <a:avLst/>
          </a:prstGeom>
          <a:solidFill>
            <a:srgbClr val="1D4ED8"/>
          </a:solidFill>
          <a:ln w="11906">
            <a:solidFill>
              <a:srgbClr val="172B4D"/>
            </a:solidFill>
          </a:ln>
        </p:spPr>
      </p:sp>
      <p:sp>
        <p:nvSpPr>
          <p:cNvPr id="29" name="object-29">
            <a:extLst>
              <a:ext uri="{FF2B5EF4-FFF2-40B4-BE49-F238E27FC236}">
                <a16:creationId xmlns:a16="http://schemas.microsoft.com/office/drawing/2014/main" id="{16EF589E-EE2D-4298-B2E0-C84F44107487}"/>
              </a:ext>
            </a:extLst>
          </p:cNvPr>
          <p:cNvSpPr>
            <a:spLocks noGrp="1"/>
          </p:cNvSpPr>
          <p:nvPr/>
        </p:nvSpPr>
        <p:spPr>
          <a:xfrm>
            <a:off x="8953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7</a:t>
            </a:r>
          </a:p>
        </p:txBody>
      </p:sp>
      <p:sp>
        <p:nvSpPr>
          <p:cNvPr id="30" name="object-30">
            <a:extLst>
              <a:ext uri="{FF2B5EF4-FFF2-40B4-BE49-F238E27FC236}">
                <a16:creationId xmlns:a16="http://schemas.microsoft.com/office/drawing/2014/main" id="{6497468A-B785-4EC2-8404-315EFC0ABFBC}"/>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 altogether</a:t>
            </a:r>
          </a:p>
        </p:txBody>
      </p:sp>
    </p:spTree>
    <p:extLst>
      <p:ext uri="{BB962C8B-B14F-4D97-AF65-F5344CB8AC3E}">
        <p14:creationId xmlns:p14="http://schemas.microsoft.com/office/powerpoint/2010/main" val="48825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1328125 0.275 E" pathEditMode="relative" ptsTypes="">
                                      <p:cBhvr>
                                        <p:cTn id="6" dur="800" fill="hold"/>
                                        <p:tgtEl>
                                          <p:spTgt spid="16"/>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15625 0.22638889 E" pathEditMode="relative" ptsTypes="">
                                      <p:cBhvr>
                                        <p:cTn id="13" dur="800" fill="hold"/>
                                        <p:tgtEl>
                                          <p:spTgt spid="18"/>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19921875 0.275 E" pathEditMode="relative" ptsTypes="">
                                      <p:cBhvr>
                                        <p:cTn id="20" dur="800" fill="hold"/>
                                        <p:tgtEl>
                                          <p:spTgt spid="20"/>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2421875 0.22638889 E" pathEditMode="relative" ptsTypes="">
                                      <p:cBhvr>
                                        <p:cTn id="27" dur="800" fill="hold"/>
                                        <p:tgtEl>
                                          <p:spTgt spid="22"/>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28515625 0.275 E" pathEditMode="relative" ptsTypes="">
                                      <p:cBhvr>
                                        <p:cTn id="34" dur="800" fill="hold"/>
                                        <p:tgtEl>
                                          <p:spTgt spid="24"/>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0 0 L -0.31640625 0.35416667 E" pathEditMode="relative" ptsTypes="">
                                      <p:cBhvr>
                                        <p:cTn id="41" dur="800" fill="hold"/>
                                        <p:tgtEl>
                                          <p:spTgt spid="26"/>
                                        </p:tgtEl>
                                        <p:attrNameLst>
                                          <p:attrName>ppt_x</p:attrName>
                                          <p:attrName>ppt_y</p:attrName>
                                        </p:attrNameLst>
                                      </p:cBhvr>
                                    </p:animMotion>
                                  </p:childTnLst>
                                </p:cTn>
                              </p:par>
                            </p:childTnLst>
                          </p:cTn>
                        </p:par>
                        <p:par>
                          <p:cTn id="42" fill="hold">
                            <p:stCondLst>
                              <p:cond delay="800"/>
                            </p:stCondLst>
                            <p:childTnLst>
                              <p:par>
                                <p:cTn id="43" presetID="1" presetClass="entr" presetSubtype="0"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0 0 L -0.2734375 0.40277778 E" pathEditMode="relative" ptsTypes="">
                                      <p:cBhvr>
                                        <p:cTn id="48" dur="800" fill="hold"/>
                                        <p:tgtEl>
                                          <p:spTgt spid="28"/>
                                        </p:tgtEl>
                                        <p:attrNameLst>
                                          <p:attrName>ppt_x</p:attrName>
                                          <p:attrName>ppt_y</p:attrName>
                                        </p:attrNameLst>
                                      </p:cBhvr>
                                    </p:animMotion>
                                  </p:childTnLst>
                                </p:cTn>
                              </p:par>
                            </p:childTnLst>
                          </p:cTn>
                        </p:par>
                        <p:par>
                          <p:cTn id="49" fill="hold">
                            <p:stCondLst>
                              <p:cond delay="800"/>
                            </p:stCondLst>
                            <p:childTnLst>
                              <p:par>
                                <p:cTn id="50" presetID="1" presetClass="entr" presetSubtype="0" fill="hold" grpId="0" nodeType="afterEffect">
                                  <p:stCondLst>
                                    <p:cond delay="0"/>
                                  </p:stCondLst>
                                  <p:childTnLst>
                                    <p:set>
                                      <p:cBhvr>
                                        <p:cTn id="51" dur="1" fill="hold">
                                          <p:stCondLst>
                                            <p:cond delay="0"/>
                                          </p:stCondLst>
                                        </p:cTn>
                                        <p:tgtEl>
                                          <p:spTgt spid="2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5" grpId="0"/>
      <p:bldP spid="27" grpId="0"/>
      <p:bldP spid="29" grpId="0"/>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object-1">
            <a:extLst>
              <a:ext uri="{FF2B5EF4-FFF2-40B4-BE49-F238E27FC236}">
                <a16:creationId xmlns:a16="http://schemas.microsoft.com/office/drawing/2014/main" id="{A3B65D4D-5518-4859-B820-204CFA76BAE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0B48D63-1823-47AF-A1CA-2F1B796E068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87AF789-0D37-4AFD-BF46-E620DE513C0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 Show the amount in the frame.</a:t>
            </a:r>
          </a:p>
        </p:txBody>
      </p:sp>
      <p:sp>
        <p:nvSpPr>
          <p:cNvPr id="4" name="object-4">
            <a:extLst>
              <a:ext uri="{FF2B5EF4-FFF2-40B4-BE49-F238E27FC236}">
                <a16:creationId xmlns:a16="http://schemas.microsoft.com/office/drawing/2014/main" id="{46A40B00-8336-451C-AFA2-2E9EBA16FAAD}"/>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56318A27-F53A-4BB0-9560-5E698A1E849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and represent 6 to 10</a:t>
            </a:r>
          </a:p>
        </p:txBody>
      </p:sp>
      <p:sp>
        <p:nvSpPr>
          <p:cNvPr id="6" name="object-6">
            <a:extLst>
              <a:ext uri="{FF2B5EF4-FFF2-40B4-BE49-F238E27FC236}">
                <a16:creationId xmlns:a16="http://schemas.microsoft.com/office/drawing/2014/main" id="{9A417978-F76B-4B3C-A0E4-2FD0BFA4964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9AE6C626-068A-4177-A19F-FF7B6C8FF382}"/>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0DBFFBAB-0977-413F-A562-5509A6B89381}"/>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DAFD6639-DA7D-4FFB-B73E-F67F277864C4}"/>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B070621A-8414-43F5-BB19-F03708E3A9BB}"/>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256FC3FE-1C72-4743-975A-13A060E6571E}"/>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AA1226CD-460A-4723-A6C2-B7CA4BCBBE93}"/>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2ECC68AA-3239-496B-BA07-737D4C342723}"/>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A8CBB149-4B2E-424C-887F-4E364FBEBA85}"/>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6C1069F1-4049-4729-88B1-A1819D6FF66C}"/>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7559E33F-9017-4D2E-8A13-062921292547}"/>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7" name="object-17">
            <a:extLst>
              <a:ext uri="{FF2B5EF4-FFF2-40B4-BE49-F238E27FC236}">
                <a16:creationId xmlns:a16="http://schemas.microsoft.com/office/drawing/2014/main" id="{69D85188-CE80-41B7-9B97-0FCF1B9A5E78}"/>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CB77FACB-C3E4-464A-AC9F-D43E182A94AE}"/>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19" name="object-19">
            <a:extLst>
              <a:ext uri="{FF2B5EF4-FFF2-40B4-BE49-F238E27FC236}">
                <a16:creationId xmlns:a16="http://schemas.microsoft.com/office/drawing/2014/main" id="{9B2D829E-E71A-4C48-836D-4DC0BDCB138F}"/>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1FF9E0E3-D3E2-4B40-8C27-B67F4A757D83}"/>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21" name="object-21">
            <a:extLst>
              <a:ext uri="{FF2B5EF4-FFF2-40B4-BE49-F238E27FC236}">
                <a16:creationId xmlns:a16="http://schemas.microsoft.com/office/drawing/2014/main" id="{E6A29710-C971-48F0-9AD6-A60FACD2D0B1}"/>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6BF9A001-16BF-4DBF-BD45-528062BFD4EE}"/>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23" name="object-23">
            <a:extLst>
              <a:ext uri="{FF2B5EF4-FFF2-40B4-BE49-F238E27FC236}">
                <a16:creationId xmlns:a16="http://schemas.microsoft.com/office/drawing/2014/main" id="{58456C61-7E39-455A-BDBF-A3CA12CA78C9}"/>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24" name="object-24">
            <a:extLst>
              <a:ext uri="{FF2B5EF4-FFF2-40B4-BE49-F238E27FC236}">
                <a16:creationId xmlns:a16="http://schemas.microsoft.com/office/drawing/2014/main" id="{52803D0B-4AFB-414D-B90D-E51058ACA2A3}"/>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25" name="object-25">
            <a:extLst>
              <a:ext uri="{FF2B5EF4-FFF2-40B4-BE49-F238E27FC236}">
                <a16:creationId xmlns:a16="http://schemas.microsoft.com/office/drawing/2014/main" id="{12BA3DEF-9262-42E7-B6A7-CD7926BE454D}"/>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26" name="object-26">
            <a:extLst>
              <a:ext uri="{FF2B5EF4-FFF2-40B4-BE49-F238E27FC236}">
                <a16:creationId xmlns:a16="http://schemas.microsoft.com/office/drawing/2014/main" id="{B8DDB646-31BC-4839-AF78-643A6AFD01B5}"/>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27" name="object-27">
            <a:extLst>
              <a:ext uri="{FF2B5EF4-FFF2-40B4-BE49-F238E27FC236}">
                <a16:creationId xmlns:a16="http://schemas.microsoft.com/office/drawing/2014/main" id="{E83E3017-1BD0-4074-A479-D6634C60F1B8}"/>
              </a:ext>
            </a:extLst>
          </p:cNvPr>
          <p:cNvSpPr>
            <a:spLocks noGrp="1"/>
          </p:cNvSpPr>
          <p:nvPr/>
        </p:nvSpPr>
        <p:spPr>
          <a:xfrm>
            <a:off x="7679531" y="3333750"/>
            <a:ext cx="571500" cy="571500"/>
          </a:xfrm>
          <a:prstGeom prst="ellipse">
            <a:avLst/>
          </a:prstGeom>
          <a:solidFill>
            <a:srgbClr val="1D4ED8"/>
          </a:solidFill>
          <a:ln w="11906">
            <a:solidFill>
              <a:srgbClr val="172B4D"/>
            </a:solidFill>
          </a:ln>
        </p:spPr>
      </p:sp>
      <p:sp>
        <p:nvSpPr>
          <p:cNvPr id="28" name="object-28">
            <a:extLst>
              <a:ext uri="{FF2B5EF4-FFF2-40B4-BE49-F238E27FC236}">
                <a16:creationId xmlns:a16="http://schemas.microsoft.com/office/drawing/2014/main" id="{489E6474-00F2-4A15-8A7E-151944CB6CE3}"/>
              </a:ext>
            </a:extLst>
          </p:cNvPr>
          <p:cNvSpPr>
            <a:spLocks noGrp="1"/>
          </p:cNvSpPr>
          <p:nvPr/>
        </p:nvSpPr>
        <p:spPr>
          <a:xfrm>
            <a:off x="7620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6</a:t>
            </a:r>
          </a:p>
        </p:txBody>
      </p:sp>
      <p:sp>
        <p:nvSpPr>
          <p:cNvPr id="29" name="object-29">
            <a:extLst>
              <a:ext uri="{FF2B5EF4-FFF2-40B4-BE49-F238E27FC236}">
                <a16:creationId xmlns:a16="http://schemas.microsoft.com/office/drawing/2014/main" id="{689FDDF2-9CA0-4C6C-8B93-5464453F82FB}"/>
              </a:ext>
            </a:extLst>
          </p:cNvPr>
          <p:cNvSpPr>
            <a:spLocks noGrp="1"/>
          </p:cNvSpPr>
          <p:nvPr/>
        </p:nvSpPr>
        <p:spPr>
          <a:xfrm>
            <a:off x="8989219" y="2917031"/>
            <a:ext cx="571500" cy="571500"/>
          </a:xfrm>
          <a:prstGeom prst="ellipse">
            <a:avLst/>
          </a:prstGeom>
          <a:solidFill>
            <a:srgbClr val="1D4ED8"/>
          </a:solidFill>
          <a:ln w="11906">
            <a:solidFill>
              <a:srgbClr val="172B4D"/>
            </a:solidFill>
          </a:ln>
        </p:spPr>
      </p:sp>
      <p:sp>
        <p:nvSpPr>
          <p:cNvPr id="30" name="object-30">
            <a:extLst>
              <a:ext uri="{FF2B5EF4-FFF2-40B4-BE49-F238E27FC236}">
                <a16:creationId xmlns:a16="http://schemas.microsoft.com/office/drawing/2014/main" id="{BB1EC648-D2C3-464D-8EA1-2D48D837B202}"/>
              </a:ext>
            </a:extLst>
          </p:cNvPr>
          <p:cNvSpPr>
            <a:spLocks noGrp="1"/>
          </p:cNvSpPr>
          <p:nvPr/>
        </p:nvSpPr>
        <p:spPr>
          <a:xfrm>
            <a:off x="8953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7</a:t>
            </a:r>
          </a:p>
        </p:txBody>
      </p:sp>
      <p:sp>
        <p:nvSpPr>
          <p:cNvPr id="31" name="object-31">
            <a:extLst>
              <a:ext uri="{FF2B5EF4-FFF2-40B4-BE49-F238E27FC236}">
                <a16:creationId xmlns:a16="http://schemas.microsoft.com/office/drawing/2014/main" id="{AF5C5512-961D-4319-B96D-6462E233EFAF}"/>
              </a:ext>
            </a:extLst>
          </p:cNvPr>
          <p:cNvSpPr>
            <a:spLocks noGrp="1"/>
          </p:cNvSpPr>
          <p:nvPr/>
        </p:nvSpPr>
        <p:spPr>
          <a:xfrm>
            <a:off x="10298906" y="3333750"/>
            <a:ext cx="571500" cy="571500"/>
          </a:xfrm>
          <a:prstGeom prst="ellipse">
            <a:avLst/>
          </a:prstGeom>
          <a:solidFill>
            <a:srgbClr val="1D4ED8"/>
          </a:solidFill>
          <a:ln w="11906">
            <a:solidFill>
              <a:srgbClr val="172B4D"/>
            </a:solidFill>
          </a:ln>
        </p:spPr>
      </p:sp>
      <p:sp>
        <p:nvSpPr>
          <p:cNvPr id="32" name="object-32">
            <a:extLst>
              <a:ext uri="{FF2B5EF4-FFF2-40B4-BE49-F238E27FC236}">
                <a16:creationId xmlns:a16="http://schemas.microsoft.com/office/drawing/2014/main" id="{80C63824-225D-494A-B3AA-0F1E93563D91}"/>
              </a:ext>
            </a:extLst>
          </p:cNvPr>
          <p:cNvSpPr>
            <a:spLocks noGrp="1"/>
          </p:cNvSpPr>
          <p:nvPr/>
        </p:nvSpPr>
        <p:spPr>
          <a:xfrm>
            <a:off x="10287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8</a:t>
            </a:r>
          </a:p>
        </p:txBody>
      </p:sp>
      <p:sp>
        <p:nvSpPr>
          <p:cNvPr id="33" name="object-33">
            <a:extLst>
              <a:ext uri="{FF2B5EF4-FFF2-40B4-BE49-F238E27FC236}">
                <a16:creationId xmlns:a16="http://schemas.microsoft.com/office/drawing/2014/main" id="{22538E73-B90A-40A0-BC87-7954EADB1C5C}"/>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8 altogether</a:t>
            </a:r>
          </a:p>
        </p:txBody>
      </p:sp>
    </p:spTree>
    <p:extLst>
      <p:ext uri="{BB962C8B-B14F-4D97-AF65-F5344CB8AC3E}">
        <p14:creationId xmlns:p14="http://schemas.microsoft.com/office/powerpoint/2010/main" val="805799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1328125 0.275 E" pathEditMode="relative" ptsTypes="">
                                      <p:cBhvr>
                                        <p:cTn id="6" dur="800" fill="hold"/>
                                        <p:tgtEl>
                                          <p:spTgt spid="17"/>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15625 0.22638889 E" pathEditMode="relative" ptsTypes="">
                                      <p:cBhvr>
                                        <p:cTn id="13" dur="800" fill="hold"/>
                                        <p:tgtEl>
                                          <p:spTgt spid="19"/>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19921875 0.275 E" pathEditMode="relative" ptsTypes="">
                                      <p:cBhvr>
                                        <p:cTn id="20" dur="800" fill="hold"/>
                                        <p:tgtEl>
                                          <p:spTgt spid="21"/>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2421875 0.22638889 E" pathEditMode="relative" ptsTypes="">
                                      <p:cBhvr>
                                        <p:cTn id="27" dur="800" fill="hold"/>
                                        <p:tgtEl>
                                          <p:spTgt spid="23"/>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28515625 0.275 E" pathEditMode="relative" ptsTypes="">
                                      <p:cBhvr>
                                        <p:cTn id="34" dur="800" fill="hold"/>
                                        <p:tgtEl>
                                          <p:spTgt spid="25"/>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0 0 L -0.31640625 0.35416667 E" pathEditMode="relative" ptsTypes="">
                                      <p:cBhvr>
                                        <p:cTn id="41" dur="800" fill="hold"/>
                                        <p:tgtEl>
                                          <p:spTgt spid="27"/>
                                        </p:tgtEl>
                                        <p:attrNameLst>
                                          <p:attrName>ppt_x</p:attrName>
                                          <p:attrName>ppt_y</p:attrName>
                                        </p:attrNameLst>
                                      </p:cBhvr>
                                    </p:animMotion>
                                  </p:childTnLst>
                                </p:cTn>
                              </p:par>
                            </p:childTnLst>
                          </p:cTn>
                        </p:par>
                        <p:par>
                          <p:cTn id="42" fill="hold">
                            <p:stCondLst>
                              <p:cond delay="800"/>
                            </p:stCondLst>
                            <p:childTnLst>
                              <p:par>
                                <p:cTn id="43" presetID="1" presetClass="entr" presetSubtype="0" fill="hold" grpId="0" nodeType="after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0 0 L -0.2734375 0.40277778 E" pathEditMode="relative" ptsTypes="">
                                      <p:cBhvr>
                                        <p:cTn id="48" dur="800" fill="hold"/>
                                        <p:tgtEl>
                                          <p:spTgt spid="29"/>
                                        </p:tgtEl>
                                        <p:attrNameLst>
                                          <p:attrName>ppt_x</p:attrName>
                                          <p:attrName>ppt_y</p:attrName>
                                        </p:attrNameLst>
                                      </p:cBhvr>
                                    </p:animMotion>
                                  </p:childTnLst>
                                </p:cTn>
                              </p:par>
                            </p:childTnLst>
                          </p:cTn>
                        </p:par>
                        <p:par>
                          <p:cTn id="49" fill="hold">
                            <p:stCondLst>
                              <p:cond delay="800"/>
                            </p:stCondLst>
                            <p:childTnLst>
                              <p:par>
                                <p:cTn id="50" presetID="1" presetClass="entr" presetSubtype="0" fill="hold" grpId="0" nodeType="afterEffect">
                                  <p:stCondLst>
                                    <p:cond delay="0"/>
                                  </p:stCondLst>
                                  <p:childTnLst>
                                    <p:set>
                                      <p:cBhvr>
                                        <p:cTn id="51" dur="1" fill="hold">
                                          <p:stCondLst>
                                            <p:cond delay="0"/>
                                          </p:stCondLst>
                                        </p:cTn>
                                        <p:tgtEl>
                                          <p:spTgt spid="3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63" presetClass="path" presetSubtype="0" accel="50000" decel="50000" fill="hold" nodeType="clickEffect">
                                  <p:stCondLst>
                                    <p:cond delay="0"/>
                                  </p:stCondLst>
                                  <p:childTnLst>
                                    <p:animMotion origin="layout" path="M 0 0 L -0.23046875 0.35416667 E" pathEditMode="relative" ptsTypes="">
                                      <p:cBhvr>
                                        <p:cTn id="55" dur="800" fill="hold"/>
                                        <p:tgtEl>
                                          <p:spTgt spid="31"/>
                                        </p:tgtEl>
                                        <p:attrNameLst>
                                          <p:attrName>ppt_x</p:attrName>
                                          <p:attrName>ppt_y</p:attrName>
                                        </p:attrNameLst>
                                      </p:cBhvr>
                                    </p:animMotion>
                                  </p:childTnLst>
                                </p:cTn>
                              </p:par>
                            </p:childTnLst>
                          </p:cTn>
                        </p:par>
                        <p:par>
                          <p:cTn id="56" fill="hold">
                            <p:stCondLst>
                              <p:cond delay="800"/>
                            </p:stCondLst>
                            <p:childTnLst>
                              <p:par>
                                <p:cTn id="57" presetID="1"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2" grpId="0"/>
      <p:bldP spid="24" grpId="0"/>
      <p:bldP spid="26" grpId="0"/>
      <p:bldP spid="28" grpId="0"/>
      <p:bldP spid="30"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object-1">
            <a:extLst>
              <a:ext uri="{FF2B5EF4-FFF2-40B4-BE49-F238E27FC236}">
                <a16:creationId xmlns:a16="http://schemas.microsoft.com/office/drawing/2014/main" id="{EEE7A5F6-F8E1-45F6-B9FB-EBAADF2B82D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D46FB4A-4FBE-45AA-9E9C-2261917F054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 Show the amount in the frame.</a:t>
            </a:r>
          </a:p>
        </p:txBody>
      </p:sp>
      <p:sp>
        <p:nvSpPr>
          <p:cNvPr id="3" name="object-3">
            <a:extLst>
              <a:ext uri="{FF2B5EF4-FFF2-40B4-BE49-F238E27FC236}">
                <a16:creationId xmlns:a16="http://schemas.microsoft.com/office/drawing/2014/main" id="{FB0E7E78-43EB-4FD7-B74D-3A231238E1A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4FF348C8-EEFB-48E0-9C01-F251C830C56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and represent 6 to 10</a:t>
            </a:r>
          </a:p>
        </p:txBody>
      </p:sp>
      <p:sp>
        <p:nvSpPr>
          <p:cNvPr id="5" name="object-5">
            <a:extLst>
              <a:ext uri="{FF2B5EF4-FFF2-40B4-BE49-F238E27FC236}">
                <a16:creationId xmlns:a16="http://schemas.microsoft.com/office/drawing/2014/main" id="{6639D79D-2099-4674-9A24-3AD3BF661F82}"/>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97D3BEE4-FFA0-49E6-9CA7-6239CA9A9FA6}"/>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7" name="object-7">
            <a:extLst>
              <a:ext uri="{FF2B5EF4-FFF2-40B4-BE49-F238E27FC236}">
                <a16:creationId xmlns:a16="http://schemas.microsoft.com/office/drawing/2014/main" id="{C99342CE-70A2-487E-BA93-C7C71C0E2D61}"/>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F2A43EB5-7369-4CCF-BDEC-8C7DD63EE09B}"/>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F0D4F0C0-75E4-494F-ADE1-5AC2FF75725B}"/>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B1779A0C-D559-4F65-AAD9-4D8D2D2E31AA}"/>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5491C3EC-1D77-4C9D-B088-9A91B0E7F73A}"/>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A0D930B3-51A0-4168-AE93-5294DC93547A}"/>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49C6A8BF-FF2B-4045-8810-EBFC905321B5}"/>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5F4DF563-966F-41A6-88C5-23DDF1FA2F20}"/>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859BC79E-3FB7-419E-8108-E415449C0BA6}"/>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A2660452-07BF-4DB5-8F15-6A2724B1EAC6}"/>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0869B8A0-C178-4557-AEDE-EB53A768A105}"/>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18" name="object-18">
            <a:extLst>
              <a:ext uri="{FF2B5EF4-FFF2-40B4-BE49-F238E27FC236}">
                <a16:creationId xmlns:a16="http://schemas.microsoft.com/office/drawing/2014/main" id="{C35C7B11-B58B-48BB-83F2-79B4C7E3197B}"/>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326B68B0-777C-4B0A-A707-7F0882FFD605}"/>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20" name="object-20">
            <a:extLst>
              <a:ext uri="{FF2B5EF4-FFF2-40B4-BE49-F238E27FC236}">
                <a16:creationId xmlns:a16="http://schemas.microsoft.com/office/drawing/2014/main" id="{957F7F7D-D286-402E-A14F-D535983CA8D0}"/>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F4994FB8-9204-41FF-AB31-35E02B5125EA}"/>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22" name="object-22">
            <a:extLst>
              <a:ext uri="{FF2B5EF4-FFF2-40B4-BE49-F238E27FC236}">
                <a16:creationId xmlns:a16="http://schemas.microsoft.com/office/drawing/2014/main" id="{7AC47F6B-EF63-4885-9CDE-A6503778D8E3}"/>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67964370-067D-4DA2-AA0F-D166872A36C3}"/>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24" name="object-24">
            <a:extLst>
              <a:ext uri="{FF2B5EF4-FFF2-40B4-BE49-F238E27FC236}">
                <a16:creationId xmlns:a16="http://schemas.microsoft.com/office/drawing/2014/main" id="{051E5730-DC68-41AA-B757-77F54FF99039}"/>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25" name="object-25">
            <a:extLst>
              <a:ext uri="{FF2B5EF4-FFF2-40B4-BE49-F238E27FC236}">
                <a16:creationId xmlns:a16="http://schemas.microsoft.com/office/drawing/2014/main" id="{FC7E820D-ECDD-4AE8-9F56-4E9B18063A3E}"/>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26" name="object-26">
            <a:extLst>
              <a:ext uri="{FF2B5EF4-FFF2-40B4-BE49-F238E27FC236}">
                <a16:creationId xmlns:a16="http://schemas.microsoft.com/office/drawing/2014/main" id="{322227FF-BACB-4694-9130-C5D0C4F9F808}"/>
              </a:ext>
            </a:extLst>
          </p:cNvPr>
          <p:cNvSpPr>
            <a:spLocks noGrp="1"/>
          </p:cNvSpPr>
          <p:nvPr/>
        </p:nvSpPr>
        <p:spPr>
          <a:xfrm>
            <a:off x="7679531" y="3333750"/>
            <a:ext cx="571500" cy="571500"/>
          </a:xfrm>
          <a:prstGeom prst="ellipse">
            <a:avLst/>
          </a:prstGeom>
          <a:solidFill>
            <a:srgbClr val="1D4ED8"/>
          </a:solidFill>
          <a:ln w="11906">
            <a:solidFill>
              <a:srgbClr val="172B4D"/>
            </a:solidFill>
          </a:ln>
        </p:spPr>
      </p:sp>
      <p:sp>
        <p:nvSpPr>
          <p:cNvPr id="27" name="object-27">
            <a:extLst>
              <a:ext uri="{FF2B5EF4-FFF2-40B4-BE49-F238E27FC236}">
                <a16:creationId xmlns:a16="http://schemas.microsoft.com/office/drawing/2014/main" id="{07AAF4B2-F7BB-4745-8403-9F1C5C391BB1}"/>
              </a:ext>
            </a:extLst>
          </p:cNvPr>
          <p:cNvSpPr>
            <a:spLocks noGrp="1"/>
          </p:cNvSpPr>
          <p:nvPr/>
        </p:nvSpPr>
        <p:spPr>
          <a:xfrm>
            <a:off x="7620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6</a:t>
            </a:r>
          </a:p>
        </p:txBody>
      </p:sp>
      <p:sp>
        <p:nvSpPr>
          <p:cNvPr id="28" name="object-28">
            <a:extLst>
              <a:ext uri="{FF2B5EF4-FFF2-40B4-BE49-F238E27FC236}">
                <a16:creationId xmlns:a16="http://schemas.microsoft.com/office/drawing/2014/main" id="{1F2724F3-7EFF-4869-987C-C35479C94055}"/>
              </a:ext>
            </a:extLst>
          </p:cNvPr>
          <p:cNvSpPr>
            <a:spLocks noGrp="1"/>
          </p:cNvSpPr>
          <p:nvPr/>
        </p:nvSpPr>
        <p:spPr>
          <a:xfrm>
            <a:off x="8989219" y="2917031"/>
            <a:ext cx="571500" cy="571500"/>
          </a:xfrm>
          <a:prstGeom prst="ellipse">
            <a:avLst/>
          </a:prstGeom>
          <a:solidFill>
            <a:srgbClr val="1D4ED8"/>
          </a:solidFill>
          <a:ln w="11906">
            <a:solidFill>
              <a:srgbClr val="172B4D"/>
            </a:solidFill>
          </a:ln>
        </p:spPr>
      </p:sp>
      <p:sp>
        <p:nvSpPr>
          <p:cNvPr id="29" name="object-29">
            <a:extLst>
              <a:ext uri="{FF2B5EF4-FFF2-40B4-BE49-F238E27FC236}">
                <a16:creationId xmlns:a16="http://schemas.microsoft.com/office/drawing/2014/main" id="{6BA7D7FC-F02D-45AC-A2D7-BB6B6EA6FD04}"/>
              </a:ext>
            </a:extLst>
          </p:cNvPr>
          <p:cNvSpPr>
            <a:spLocks noGrp="1"/>
          </p:cNvSpPr>
          <p:nvPr/>
        </p:nvSpPr>
        <p:spPr>
          <a:xfrm>
            <a:off x="8953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7</a:t>
            </a:r>
          </a:p>
        </p:txBody>
      </p:sp>
      <p:sp>
        <p:nvSpPr>
          <p:cNvPr id="30" name="object-30">
            <a:extLst>
              <a:ext uri="{FF2B5EF4-FFF2-40B4-BE49-F238E27FC236}">
                <a16:creationId xmlns:a16="http://schemas.microsoft.com/office/drawing/2014/main" id="{5B3EEF78-DA54-40B3-94D0-7076657826F3}"/>
              </a:ext>
            </a:extLst>
          </p:cNvPr>
          <p:cNvSpPr>
            <a:spLocks noGrp="1"/>
          </p:cNvSpPr>
          <p:nvPr/>
        </p:nvSpPr>
        <p:spPr>
          <a:xfrm>
            <a:off x="10298906" y="3333750"/>
            <a:ext cx="571500" cy="571500"/>
          </a:xfrm>
          <a:prstGeom prst="ellipse">
            <a:avLst/>
          </a:prstGeom>
          <a:solidFill>
            <a:srgbClr val="1D4ED8"/>
          </a:solidFill>
          <a:ln w="11906">
            <a:solidFill>
              <a:srgbClr val="172B4D"/>
            </a:solidFill>
          </a:ln>
        </p:spPr>
      </p:sp>
      <p:sp>
        <p:nvSpPr>
          <p:cNvPr id="31" name="object-31">
            <a:extLst>
              <a:ext uri="{FF2B5EF4-FFF2-40B4-BE49-F238E27FC236}">
                <a16:creationId xmlns:a16="http://schemas.microsoft.com/office/drawing/2014/main" id="{DFCE2BD7-889A-42B0-BAC2-ED7EC951DDA5}"/>
              </a:ext>
            </a:extLst>
          </p:cNvPr>
          <p:cNvSpPr>
            <a:spLocks noGrp="1"/>
          </p:cNvSpPr>
          <p:nvPr/>
        </p:nvSpPr>
        <p:spPr>
          <a:xfrm>
            <a:off x="10287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8</a:t>
            </a:r>
          </a:p>
        </p:txBody>
      </p:sp>
      <p:sp>
        <p:nvSpPr>
          <p:cNvPr id="32" name="object-32">
            <a:extLst>
              <a:ext uri="{FF2B5EF4-FFF2-40B4-BE49-F238E27FC236}">
                <a16:creationId xmlns:a16="http://schemas.microsoft.com/office/drawing/2014/main" id="{B90884BB-C5D4-43FE-B1F9-BA25C04F02E9}"/>
              </a:ext>
            </a:extLst>
          </p:cNvPr>
          <p:cNvSpPr>
            <a:spLocks noGrp="1"/>
          </p:cNvSpPr>
          <p:nvPr/>
        </p:nvSpPr>
        <p:spPr>
          <a:xfrm>
            <a:off x="11608594" y="2917031"/>
            <a:ext cx="571500" cy="571500"/>
          </a:xfrm>
          <a:prstGeom prst="ellipse">
            <a:avLst/>
          </a:prstGeom>
          <a:solidFill>
            <a:srgbClr val="1D4ED8"/>
          </a:solidFill>
          <a:ln w="11906">
            <a:solidFill>
              <a:srgbClr val="172B4D"/>
            </a:solidFill>
          </a:ln>
        </p:spPr>
      </p:sp>
      <p:sp>
        <p:nvSpPr>
          <p:cNvPr id="33" name="object-33">
            <a:extLst>
              <a:ext uri="{FF2B5EF4-FFF2-40B4-BE49-F238E27FC236}">
                <a16:creationId xmlns:a16="http://schemas.microsoft.com/office/drawing/2014/main" id="{A509D8EC-D423-4D2E-9563-3E05CCDC2542}"/>
              </a:ext>
            </a:extLst>
          </p:cNvPr>
          <p:cNvSpPr>
            <a:spLocks noGrp="1"/>
          </p:cNvSpPr>
          <p:nvPr/>
        </p:nvSpPr>
        <p:spPr>
          <a:xfrm>
            <a:off x="11620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9</a:t>
            </a:r>
          </a:p>
        </p:txBody>
      </p:sp>
      <p:sp>
        <p:nvSpPr>
          <p:cNvPr id="34" name="object-34">
            <a:extLst>
              <a:ext uri="{FF2B5EF4-FFF2-40B4-BE49-F238E27FC236}">
                <a16:creationId xmlns:a16="http://schemas.microsoft.com/office/drawing/2014/main" id="{2F9E721B-16AC-4D55-96E6-21AFE0606A45}"/>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9 altogether</a:t>
            </a:r>
          </a:p>
        </p:txBody>
      </p:sp>
    </p:spTree>
    <p:extLst>
      <p:ext uri="{BB962C8B-B14F-4D97-AF65-F5344CB8AC3E}">
        <p14:creationId xmlns:p14="http://schemas.microsoft.com/office/powerpoint/2010/main" val="60114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1328125 0.275 E" pathEditMode="relative" ptsTypes="">
                                      <p:cBhvr>
                                        <p:cTn id="6" dur="800" fill="hold"/>
                                        <p:tgtEl>
                                          <p:spTgt spid="16"/>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15625 0.22638889 E" pathEditMode="relative" ptsTypes="">
                                      <p:cBhvr>
                                        <p:cTn id="13" dur="800" fill="hold"/>
                                        <p:tgtEl>
                                          <p:spTgt spid="18"/>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19921875 0.275 E" pathEditMode="relative" ptsTypes="">
                                      <p:cBhvr>
                                        <p:cTn id="20" dur="800" fill="hold"/>
                                        <p:tgtEl>
                                          <p:spTgt spid="20"/>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2421875 0.22638889 E" pathEditMode="relative" ptsTypes="">
                                      <p:cBhvr>
                                        <p:cTn id="27" dur="800" fill="hold"/>
                                        <p:tgtEl>
                                          <p:spTgt spid="22"/>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28515625 0.275 E" pathEditMode="relative" ptsTypes="">
                                      <p:cBhvr>
                                        <p:cTn id="34" dur="800" fill="hold"/>
                                        <p:tgtEl>
                                          <p:spTgt spid="24"/>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0 0 L -0.31640625 0.35416667 E" pathEditMode="relative" ptsTypes="">
                                      <p:cBhvr>
                                        <p:cTn id="41" dur="800" fill="hold"/>
                                        <p:tgtEl>
                                          <p:spTgt spid="26"/>
                                        </p:tgtEl>
                                        <p:attrNameLst>
                                          <p:attrName>ppt_x</p:attrName>
                                          <p:attrName>ppt_y</p:attrName>
                                        </p:attrNameLst>
                                      </p:cBhvr>
                                    </p:animMotion>
                                  </p:childTnLst>
                                </p:cTn>
                              </p:par>
                            </p:childTnLst>
                          </p:cTn>
                        </p:par>
                        <p:par>
                          <p:cTn id="42" fill="hold">
                            <p:stCondLst>
                              <p:cond delay="800"/>
                            </p:stCondLst>
                            <p:childTnLst>
                              <p:par>
                                <p:cTn id="43" presetID="1" presetClass="entr" presetSubtype="0"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0 0 L -0.2734375 0.40277778 E" pathEditMode="relative" ptsTypes="">
                                      <p:cBhvr>
                                        <p:cTn id="48" dur="800" fill="hold"/>
                                        <p:tgtEl>
                                          <p:spTgt spid="28"/>
                                        </p:tgtEl>
                                        <p:attrNameLst>
                                          <p:attrName>ppt_x</p:attrName>
                                          <p:attrName>ppt_y</p:attrName>
                                        </p:attrNameLst>
                                      </p:cBhvr>
                                    </p:animMotion>
                                  </p:childTnLst>
                                </p:cTn>
                              </p:par>
                            </p:childTnLst>
                          </p:cTn>
                        </p:par>
                        <p:par>
                          <p:cTn id="49" fill="hold">
                            <p:stCondLst>
                              <p:cond delay="800"/>
                            </p:stCondLst>
                            <p:childTnLst>
                              <p:par>
                                <p:cTn id="50" presetID="1" presetClass="entr" presetSubtype="0" fill="hold" grpId="0" nodeType="afterEffect">
                                  <p:stCondLst>
                                    <p:cond delay="0"/>
                                  </p:stCondLst>
                                  <p:childTnLst>
                                    <p:set>
                                      <p:cBhvr>
                                        <p:cTn id="51" dur="1" fill="hold">
                                          <p:stCondLst>
                                            <p:cond delay="0"/>
                                          </p:stCondLst>
                                        </p:cTn>
                                        <p:tgtEl>
                                          <p:spTgt spid="2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63" presetClass="path" presetSubtype="0" accel="50000" decel="50000" fill="hold" nodeType="clickEffect">
                                  <p:stCondLst>
                                    <p:cond delay="0"/>
                                  </p:stCondLst>
                                  <p:childTnLst>
                                    <p:animMotion origin="layout" path="M 0 0 L -0.23046875 0.35416667 E" pathEditMode="relative" ptsTypes="">
                                      <p:cBhvr>
                                        <p:cTn id="55" dur="800" fill="hold"/>
                                        <p:tgtEl>
                                          <p:spTgt spid="30"/>
                                        </p:tgtEl>
                                        <p:attrNameLst>
                                          <p:attrName>ppt_x</p:attrName>
                                          <p:attrName>ppt_y</p:attrName>
                                        </p:attrNameLst>
                                      </p:cBhvr>
                                    </p:animMotion>
                                  </p:childTnLst>
                                </p:cTn>
                              </p:par>
                            </p:childTnLst>
                          </p:cTn>
                        </p:par>
                        <p:par>
                          <p:cTn id="56" fill="hold">
                            <p:stCondLst>
                              <p:cond delay="800"/>
                            </p:stCondLst>
                            <p:childTnLst>
                              <p:par>
                                <p:cTn id="57" presetID="1"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63" presetClass="path" presetSubtype="0" accel="50000" decel="50000" fill="hold" nodeType="clickEffect">
                                  <p:stCondLst>
                                    <p:cond delay="0"/>
                                  </p:stCondLst>
                                  <p:childTnLst>
                                    <p:animMotion origin="layout" path="M 0 0 L -0.1875 0.40277778 E" pathEditMode="relative" ptsTypes="">
                                      <p:cBhvr>
                                        <p:cTn id="62" dur="800" fill="hold"/>
                                        <p:tgtEl>
                                          <p:spTgt spid="32"/>
                                        </p:tgtEl>
                                        <p:attrNameLst>
                                          <p:attrName>ppt_x</p:attrName>
                                          <p:attrName>ppt_y</p:attrName>
                                        </p:attrNameLst>
                                      </p:cBhvr>
                                    </p:animMotion>
                                  </p:childTnLst>
                                </p:cTn>
                              </p:par>
                            </p:childTnLst>
                          </p:cTn>
                        </p:par>
                        <p:par>
                          <p:cTn id="63" fill="hold">
                            <p:stCondLst>
                              <p:cond delay="800"/>
                            </p:stCondLst>
                            <p:childTnLst>
                              <p:par>
                                <p:cTn id="64" presetID="1" presetClass="entr" presetSubtype="0" fill="hold" grpId="0" nodeType="after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5" grpId="0"/>
      <p:bldP spid="27" grpId="0"/>
      <p:bldP spid="29" grpId="0"/>
      <p:bldP spid="31"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object-1">
            <a:extLst>
              <a:ext uri="{FF2B5EF4-FFF2-40B4-BE49-F238E27FC236}">
                <a16:creationId xmlns:a16="http://schemas.microsoft.com/office/drawing/2014/main" id="{0CAC069E-4EEE-4624-9E44-911CCE1F071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54022872-2870-4001-9629-7C03859FBD8B}"/>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E2F08723-F46E-485A-A6D0-F3803F06314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How many objects are there? Show the amount in the frame.</a:t>
            </a:r>
          </a:p>
        </p:txBody>
      </p:sp>
      <p:sp>
        <p:nvSpPr>
          <p:cNvPr id="4" name="object-4">
            <a:extLst>
              <a:ext uri="{FF2B5EF4-FFF2-40B4-BE49-F238E27FC236}">
                <a16:creationId xmlns:a16="http://schemas.microsoft.com/office/drawing/2014/main" id="{2F85DFCA-FCB2-4938-B9F2-179A6252316A}"/>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35728D79-0BE7-4DA5-AFB4-BD8EC111E1F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and represent 6 to 10</a:t>
            </a:r>
          </a:p>
        </p:txBody>
      </p:sp>
      <p:sp>
        <p:nvSpPr>
          <p:cNvPr id="6" name="object-6">
            <a:extLst>
              <a:ext uri="{FF2B5EF4-FFF2-40B4-BE49-F238E27FC236}">
                <a16:creationId xmlns:a16="http://schemas.microsoft.com/office/drawing/2014/main" id="{6B1138A3-8E71-4D27-8B6B-E3101B01DEE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150CEEA8-EE01-423A-B2DC-2EFBF80C8FC1}"/>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81877482-5235-437E-A035-B4A0D7B73736}"/>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BDC549CD-1FBE-4B71-84D3-3A082702B7B8}"/>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E1C4A04A-1FBC-4089-AEAE-AE24C28FED9A}"/>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DAD4977A-AB04-477C-BB3A-5E3A156A60CB}"/>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E94FC4F1-330F-4374-8BB1-B757BB016655}"/>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FEA17AAA-475E-4456-A51D-C048FB3C2044}"/>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19F2CE6C-BCEE-4EA0-8C14-304C7C3C30CC}"/>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4941039B-4D0F-4366-B2DD-BEF13CEC5592}"/>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F4CE315B-67AE-4082-9081-5A6A2BE78728}"/>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7" name="object-17">
            <a:extLst>
              <a:ext uri="{FF2B5EF4-FFF2-40B4-BE49-F238E27FC236}">
                <a16:creationId xmlns:a16="http://schemas.microsoft.com/office/drawing/2014/main" id="{9A706460-0E7C-4AB4-B68B-D063380297CE}"/>
              </a:ext>
            </a:extLst>
          </p:cNvPr>
          <p:cNvSpPr>
            <a:spLocks noGrp="1"/>
          </p:cNvSpPr>
          <p:nvPr/>
        </p:nvSpPr>
        <p:spPr>
          <a:xfrm>
            <a:off x="1131094" y="2917031"/>
            <a:ext cx="571500" cy="571500"/>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94A48F69-8725-47AA-9AA9-E2D6FF035B9E}"/>
              </a:ext>
            </a:extLst>
          </p:cNvPr>
          <p:cNvSpPr>
            <a:spLocks noGrp="1"/>
          </p:cNvSpPr>
          <p:nvPr/>
        </p:nvSpPr>
        <p:spPr>
          <a:xfrm>
            <a:off x="952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a:t>
            </a:r>
          </a:p>
        </p:txBody>
      </p:sp>
      <p:sp>
        <p:nvSpPr>
          <p:cNvPr id="19" name="object-19">
            <a:extLst>
              <a:ext uri="{FF2B5EF4-FFF2-40B4-BE49-F238E27FC236}">
                <a16:creationId xmlns:a16="http://schemas.microsoft.com/office/drawing/2014/main" id="{3330726A-E720-4475-A05A-57C7FED77B2F}"/>
              </a:ext>
            </a:extLst>
          </p:cNvPr>
          <p:cNvSpPr>
            <a:spLocks noGrp="1"/>
          </p:cNvSpPr>
          <p:nvPr/>
        </p:nvSpPr>
        <p:spPr>
          <a:xfrm>
            <a:off x="2440781" y="3333750"/>
            <a:ext cx="571500" cy="571500"/>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0823DB99-FE15-4403-9539-5B48E518B554}"/>
              </a:ext>
            </a:extLst>
          </p:cNvPr>
          <p:cNvSpPr>
            <a:spLocks noGrp="1"/>
          </p:cNvSpPr>
          <p:nvPr/>
        </p:nvSpPr>
        <p:spPr>
          <a:xfrm>
            <a:off x="2286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2</a:t>
            </a:r>
          </a:p>
        </p:txBody>
      </p:sp>
      <p:sp>
        <p:nvSpPr>
          <p:cNvPr id="21" name="object-21">
            <a:extLst>
              <a:ext uri="{FF2B5EF4-FFF2-40B4-BE49-F238E27FC236}">
                <a16:creationId xmlns:a16="http://schemas.microsoft.com/office/drawing/2014/main" id="{13832656-96DB-4F34-90F2-81A24A9EF788}"/>
              </a:ext>
            </a:extLst>
          </p:cNvPr>
          <p:cNvSpPr>
            <a:spLocks noGrp="1"/>
          </p:cNvSpPr>
          <p:nvPr/>
        </p:nvSpPr>
        <p:spPr>
          <a:xfrm>
            <a:off x="3750469" y="2917031"/>
            <a:ext cx="571500" cy="571500"/>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815346F7-FEC1-4C29-815A-F999477D351A}"/>
              </a:ext>
            </a:extLst>
          </p:cNvPr>
          <p:cNvSpPr>
            <a:spLocks noGrp="1"/>
          </p:cNvSpPr>
          <p:nvPr/>
        </p:nvSpPr>
        <p:spPr>
          <a:xfrm>
            <a:off x="3619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3</a:t>
            </a:r>
          </a:p>
        </p:txBody>
      </p:sp>
      <p:sp>
        <p:nvSpPr>
          <p:cNvPr id="23" name="object-23">
            <a:extLst>
              <a:ext uri="{FF2B5EF4-FFF2-40B4-BE49-F238E27FC236}">
                <a16:creationId xmlns:a16="http://schemas.microsoft.com/office/drawing/2014/main" id="{9081D2D8-C6CA-4D6F-B7EA-4273A299A141}"/>
              </a:ext>
            </a:extLst>
          </p:cNvPr>
          <p:cNvSpPr>
            <a:spLocks noGrp="1"/>
          </p:cNvSpPr>
          <p:nvPr/>
        </p:nvSpPr>
        <p:spPr>
          <a:xfrm>
            <a:off x="5060156" y="3333750"/>
            <a:ext cx="571500" cy="571500"/>
          </a:xfrm>
          <a:prstGeom prst="ellipse">
            <a:avLst/>
          </a:prstGeom>
          <a:solidFill>
            <a:srgbClr val="1D4ED8"/>
          </a:solidFill>
          <a:ln w="11906">
            <a:solidFill>
              <a:srgbClr val="172B4D"/>
            </a:solidFill>
          </a:ln>
        </p:spPr>
      </p:sp>
      <p:sp>
        <p:nvSpPr>
          <p:cNvPr id="24" name="object-24">
            <a:extLst>
              <a:ext uri="{FF2B5EF4-FFF2-40B4-BE49-F238E27FC236}">
                <a16:creationId xmlns:a16="http://schemas.microsoft.com/office/drawing/2014/main" id="{3460B4DA-1AD0-4593-873D-5A3B05A73004}"/>
              </a:ext>
            </a:extLst>
          </p:cNvPr>
          <p:cNvSpPr>
            <a:spLocks noGrp="1"/>
          </p:cNvSpPr>
          <p:nvPr/>
        </p:nvSpPr>
        <p:spPr>
          <a:xfrm>
            <a:off x="4953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4</a:t>
            </a:r>
          </a:p>
        </p:txBody>
      </p:sp>
      <p:sp>
        <p:nvSpPr>
          <p:cNvPr id="25" name="object-25">
            <a:extLst>
              <a:ext uri="{FF2B5EF4-FFF2-40B4-BE49-F238E27FC236}">
                <a16:creationId xmlns:a16="http://schemas.microsoft.com/office/drawing/2014/main" id="{D39095F7-893D-4877-81D0-206D3F8E619E}"/>
              </a:ext>
            </a:extLst>
          </p:cNvPr>
          <p:cNvSpPr>
            <a:spLocks noGrp="1"/>
          </p:cNvSpPr>
          <p:nvPr/>
        </p:nvSpPr>
        <p:spPr>
          <a:xfrm>
            <a:off x="6369844" y="2917031"/>
            <a:ext cx="571500" cy="571500"/>
          </a:xfrm>
          <a:prstGeom prst="ellipse">
            <a:avLst/>
          </a:prstGeom>
          <a:solidFill>
            <a:srgbClr val="1D4ED8"/>
          </a:solidFill>
          <a:ln w="11906">
            <a:solidFill>
              <a:srgbClr val="172B4D"/>
            </a:solidFill>
          </a:ln>
        </p:spPr>
      </p:sp>
      <p:sp>
        <p:nvSpPr>
          <p:cNvPr id="26" name="object-26">
            <a:extLst>
              <a:ext uri="{FF2B5EF4-FFF2-40B4-BE49-F238E27FC236}">
                <a16:creationId xmlns:a16="http://schemas.microsoft.com/office/drawing/2014/main" id="{4571B0A8-B2D2-43A9-AD56-77733D47A5B9}"/>
              </a:ext>
            </a:extLst>
          </p:cNvPr>
          <p:cNvSpPr>
            <a:spLocks noGrp="1"/>
          </p:cNvSpPr>
          <p:nvPr/>
        </p:nvSpPr>
        <p:spPr>
          <a:xfrm>
            <a:off x="6286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5</a:t>
            </a:r>
          </a:p>
        </p:txBody>
      </p:sp>
      <p:sp>
        <p:nvSpPr>
          <p:cNvPr id="27" name="object-27">
            <a:extLst>
              <a:ext uri="{FF2B5EF4-FFF2-40B4-BE49-F238E27FC236}">
                <a16:creationId xmlns:a16="http://schemas.microsoft.com/office/drawing/2014/main" id="{C0E7EF9C-6425-4032-918A-3DB712A84019}"/>
              </a:ext>
            </a:extLst>
          </p:cNvPr>
          <p:cNvSpPr>
            <a:spLocks noGrp="1"/>
          </p:cNvSpPr>
          <p:nvPr/>
        </p:nvSpPr>
        <p:spPr>
          <a:xfrm>
            <a:off x="7679531" y="3333750"/>
            <a:ext cx="571500" cy="571500"/>
          </a:xfrm>
          <a:prstGeom prst="ellipse">
            <a:avLst/>
          </a:prstGeom>
          <a:solidFill>
            <a:srgbClr val="1D4ED8"/>
          </a:solidFill>
          <a:ln w="11906">
            <a:solidFill>
              <a:srgbClr val="172B4D"/>
            </a:solidFill>
          </a:ln>
        </p:spPr>
      </p:sp>
      <p:sp>
        <p:nvSpPr>
          <p:cNvPr id="28" name="object-28">
            <a:extLst>
              <a:ext uri="{FF2B5EF4-FFF2-40B4-BE49-F238E27FC236}">
                <a16:creationId xmlns:a16="http://schemas.microsoft.com/office/drawing/2014/main" id="{9382F92C-6C34-4169-9466-B8BFAD5C1834}"/>
              </a:ext>
            </a:extLst>
          </p:cNvPr>
          <p:cNvSpPr>
            <a:spLocks noGrp="1"/>
          </p:cNvSpPr>
          <p:nvPr/>
        </p:nvSpPr>
        <p:spPr>
          <a:xfrm>
            <a:off x="7620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6</a:t>
            </a:r>
          </a:p>
        </p:txBody>
      </p:sp>
      <p:sp>
        <p:nvSpPr>
          <p:cNvPr id="29" name="object-29">
            <a:extLst>
              <a:ext uri="{FF2B5EF4-FFF2-40B4-BE49-F238E27FC236}">
                <a16:creationId xmlns:a16="http://schemas.microsoft.com/office/drawing/2014/main" id="{67A88855-F9F5-470A-A0F6-B4BC6141346C}"/>
              </a:ext>
            </a:extLst>
          </p:cNvPr>
          <p:cNvSpPr>
            <a:spLocks noGrp="1"/>
          </p:cNvSpPr>
          <p:nvPr/>
        </p:nvSpPr>
        <p:spPr>
          <a:xfrm>
            <a:off x="8989219" y="2917031"/>
            <a:ext cx="571500" cy="571500"/>
          </a:xfrm>
          <a:prstGeom prst="ellipse">
            <a:avLst/>
          </a:prstGeom>
          <a:solidFill>
            <a:srgbClr val="1D4ED8"/>
          </a:solidFill>
          <a:ln w="11906">
            <a:solidFill>
              <a:srgbClr val="172B4D"/>
            </a:solidFill>
          </a:ln>
        </p:spPr>
      </p:sp>
      <p:sp>
        <p:nvSpPr>
          <p:cNvPr id="30" name="object-30">
            <a:extLst>
              <a:ext uri="{FF2B5EF4-FFF2-40B4-BE49-F238E27FC236}">
                <a16:creationId xmlns:a16="http://schemas.microsoft.com/office/drawing/2014/main" id="{4007D3C1-3E7A-410C-A6C8-8127F61F8BFD}"/>
              </a:ext>
            </a:extLst>
          </p:cNvPr>
          <p:cNvSpPr>
            <a:spLocks noGrp="1"/>
          </p:cNvSpPr>
          <p:nvPr/>
        </p:nvSpPr>
        <p:spPr>
          <a:xfrm>
            <a:off x="8953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7</a:t>
            </a:r>
          </a:p>
        </p:txBody>
      </p:sp>
      <p:sp>
        <p:nvSpPr>
          <p:cNvPr id="31" name="object-31">
            <a:extLst>
              <a:ext uri="{FF2B5EF4-FFF2-40B4-BE49-F238E27FC236}">
                <a16:creationId xmlns:a16="http://schemas.microsoft.com/office/drawing/2014/main" id="{87676951-279E-4612-BE0B-039565B23B3C}"/>
              </a:ext>
            </a:extLst>
          </p:cNvPr>
          <p:cNvSpPr>
            <a:spLocks noGrp="1"/>
          </p:cNvSpPr>
          <p:nvPr/>
        </p:nvSpPr>
        <p:spPr>
          <a:xfrm>
            <a:off x="10298906" y="3333750"/>
            <a:ext cx="571500" cy="571500"/>
          </a:xfrm>
          <a:prstGeom prst="ellipse">
            <a:avLst/>
          </a:prstGeom>
          <a:solidFill>
            <a:srgbClr val="1D4ED8"/>
          </a:solidFill>
          <a:ln w="11906">
            <a:solidFill>
              <a:srgbClr val="172B4D"/>
            </a:solidFill>
          </a:ln>
        </p:spPr>
      </p:sp>
      <p:sp>
        <p:nvSpPr>
          <p:cNvPr id="32" name="object-32">
            <a:extLst>
              <a:ext uri="{FF2B5EF4-FFF2-40B4-BE49-F238E27FC236}">
                <a16:creationId xmlns:a16="http://schemas.microsoft.com/office/drawing/2014/main" id="{14BF8464-13E5-4EA5-8656-29F16C75121D}"/>
              </a:ext>
            </a:extLst>
          </p:cNvPr>
          <p:cNvSpPr>
            <a:spLocks noGrp="1"/>
          </p:cNvSpPr>
          <p:nvPr/>
        </p:nvSpPr>
        <p:spPr>
          <a:xfrm>
            <a:off x="10287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8</a:t>
            </a:r>
          </a:p>
        </p:txBody>
      </p:sp>
      <p:sp>
        <p:nvSpPr>
          <p:cNvPr id="33" name="object-33">
            <a:extLst>
              <a:ext uri="{FF2B5EF4-FFF2-40B4-BE49-F238E27FC236}">
                <a16:creationId xmlns:a16="http://schemas.microsoft.com/office/drawing/2014/main" id="{2238D302-D03D-4A84-81B1-1FF4A7E0B4DA}"/>
              </a:ext>
            </a:extLst>
          </p:cNvPr>
          <p:cNvSpPr>
            <a:spLocks noGrp="1"/>
          </p:cNvSpPr>
          <p:nvPr/>
        </p:nvSpPr>
        <p:spPr>
          <a:xfrm>
            <a:off x="11608594" y="2917031"/>
            <a:ext cx="571500" cy="571500"/>
          </a:xfrm>
          <a:prstGeom prst="ellipse">
            <a:avLst/>
          </a:prstGeom>
          <a:solidFill>
            <a:srgbClr val="1D4ED8"/>
          </a:solidFill>
          <a:ln w="11906">
            <a:solidFill>
              <a:srgbClr val="172B4D"/>
            </a:solidFill>
          </a:ln>
        </p:spPr>
      </p:sp>
      <p:sp>
        <p:nvSpPr>
          <p:cNvPr id="34" name="object-34">
            <a:extLst>
              <a:ext uri="{FF2B5EF4-FFF2-40B4-BE49-F238E27FC236}">
                <a16:creationId xmlns:a16="http://schemas.microsoft.com/office/drawing/2014/main" id="{E316A52F-3EBF-455A-AE74-E411078FC156}"/>
              </a:ext>
            </a:extLst>
          </p:cNvPr>
          <p:cNvSpPr>
            <a:spLocks noGrp="1"/>
          </p:cNvSpPr>
          <p:nvPr/>
        </p:nvSpPr>
        <p:spPr>
          <a:xfrm>
            <a:off x="116205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9</a:t>
            </a:r>
          </a:p>
        </p:txBody>
      </p:sp>
      <p:sp>
        <p:nvSpPr>
          <p:cNvPr id="35" name="object-35">
            <a:extLst>
              <a:ext uri="{FF2B5EF4-FFF2-40B4-BE49-F238E27FC236}">
                <a16:creationId xmlns:a16="http://schemas.microsoft.com/office/drawing/2014/main" id="{4A0DB0EE-9140-4D09-966F-82AEE4A16B76}"/>
              </a:ext>
            </a:extLst>
          </p:cNvPr>
          <p:cNvSpPr>
            <a:spLocks noGrp="1"/>
          </p:cNvSpPr>
          <p:nvPr/>
        </p:nvSpPr>
        <p:spPr>
          <a:xfrm>
            <a:off x="12918281" y="3333750"/>
            <a:ext cx="571500" cy="571500"/>
          </a:xfrm>
          <a:prstGeom prst="ellipse">
            <a:avLst/>
          </a:prstGeom>
          <a:solidFill>
            <a:srgbClr val="1D4ED8"/>
          </a:solidFill>
          <a:ln w="11906">
            <a:solidFill>
              <a:srgbClr val="172B4D"/>
            </a:solidFill>
          </a:ln>
        </p:spPr>
      </p:sp>
      <p:sp>
        <p:nvSpPr>
          <p:cNvPr id="36" name="object-36">
            <a:extLst>
              <a:ext uri="{FF2B5EF4-FFF2-40B4-BE49-F238E27FC236}">
                <a16:creationId xmlns:a16="http://schemas.microsoft.com/office/drawing/2014/main" id="{0611C9C6-1E13-4B26-90A7-574C985B850B}"/>
              </a:ext>
            </a:extLst>
          </p:cNvPr>
          <p:cNvSpPr>
            <a:spLocks noGrp="1"/>
          </p:cNvSpPr>
          <p:nvPr/>
        </p:nvSpPr>
        <p:spPr>
          <a:xfrm>
            <a:off x="12954000" y="4048125"/>
            <a:ext cx="1309688" cy="654844"/>
          </a:xfrm>
          <a:prstGeom prst="rect">
            <a:avLst/>
          </a:prstGeom>
          <a:noFill/>
          <a:ln w="0">
            <a:noFill/>
          </a:ln>
        </p:spPr>
        <p:txBody>
          <a:bodyPr anchor="ctr">
            <a:noAutofit/>
          </a:bodyPr>
          <a:lstStyle/>
          <a:p>
            <a:pPr algn="ctr">
              <a:defRPr sz="2813" b="1">
                <a:solidFill>
                  <a:srgbClr val="52647A"/>
                </a:solidFill>
                <a:latin typeface="Arial"/>
                <a:ea typeface="Arial"/>
                <a:cs typeface="Arial"/>
              </a:defRPr>
            </a:pPr>
            <a:r>
              <a:rPr sz="2813" b="1">
                <a:solidFill>
                  <a:srgbClr val="52647A"/>
                </a:solidFill>
                <a:latin typeface="Arial"/>
                <a:ea typeface="Arial"/>
                <a:cs typeface="Arial"/>
              </a:rPr>
              <a:t>10</a:t>
            </a:r>
          </a:p>
        </p:txBody>
      </p:sp>
      <p:sp>
        <p:nvSpPr>
          <p:cNvPr id="37" name="object-37">
            <a:extLst>
              <a:ext uri="{FF2B5EF4-FFF2-40B4-BE49-F238E27FC236}">
                <a16:creationId xmlns:a16="http://schemas.microsoft.com/office/drawing/2014/main" id="{214644E2-BB4A-47A5-A238-944C64BB949B}"/>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10 altogether</a:t>
            </a:r>
          </a:p>
        </p:txBody>
      </p:sp>
    </p:spTree>
    <p:extLst>
      <p:ext uri="{BB962C8B-B14F-4D97-AF65-F5344CB8AC3E}">
        <p14:creationId xmlns:p14="http://schemas.microsoft.com/office/powerpoint/2010/main" val="40279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11328125 0.275 E" pathEditMode="relative" ptsTypes="">
                                      <p:cBhvr>
                                        <p:cTn id="6" dur="800" fill="hold"/>
                                        <p:tgtEl>
                                          <p:spTgt spid="17"/>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 0 L 0.15625 0.22638889 E" pathEditMode="relative" ptsTypes="">
                                      <p:cBhvr>
                                        <p:cTn id="13" dur="800" fill="hold"/>
                                        <p:tgtEl>
                                          <p:spTgt spid="19"/>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 0 L 0.19921875 0.275 E" pathEditMode="relative" ptsTypes="">
                                      <p:cBhvr>
                                        <p:cTn id="20" dur="800" fill="hold"/>
                                        <p:tgtEl>
                                          <p:spTgt spid="21"/>
                                        </p:tgtEl>
                                        <p:attrNameLst>
                                          <p:attrName>ppt_x</p:attrName>
                                          <p:attrName>ppt_y</p:attrName>
                                        </p:attrNameLst>
                                      </p:cBhvr>
                                    </p:animMotion>
                                  </p:childTnLst>
                                </p:cTn>
                              </p:par>
                            </p:childTnLst>
                          </p:cTn>
                        </p:par>
                        <p:par>
                          <p:cTn id="21" fill="hold">
                            <p:stCondLst>
                              <p:cond delay="800"/>
                            </p:stCondLst>
                            <p:childTnLst>
                              <p:par>
                                <p:cTn id="22" presetID="1" presetClass="entr" presetSubtype="0"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 0 L 0.2421875 0.22638889 E" pathEditMode="relative" ptsTypes="">
                                      <p:cBhvr>
                                        <p:cTn id="27" dur="800" fill="hold"/>
                                        <p:tgtEl>
                                          <p:spTgt spid="23"/>
                                        </p:tgtEl>
                                        <p:attrNameLst>
                                          <p:attrName>ppt_x</p:attrName>
                                          <p:attrName>ppt_y</p:attrName>
                                        </p:attrNameLst>
                                      </p:cBhvr>
                                    </p:animMotion>
                                  </p:childTnLst>
                                </p:cTn>
                              </p:par>
                            </p:childTnLst>
                          </p:cTn>
                        </p:par>
                        <p:par>
                          <p:cTn id="28" fill="hold">
                            <p:stCondLst>
                              <p:cond delay="800"/>
                            </p:stCondLst>
                            <p:childTnLst>
                              <p:par>
                                <p:cTn id="29" presetID="1"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 0 L 0.28515625 0.275 E" pathEditMode="relative" ptsTypes="">
                                      <p:cBhvr>
                                        <p:cTn id="34" dur="800" fill="hold"/>
                                        <p:tgtEl>
                                          <p:spTgt spid="25"/>
                                        </p:tgtEl>
                                        <p:attrNameLst>
                                          <p:attrName>ppt_x</p:attrName>
                                          <p:attrName>ppt_y</p:attrName>
                                        </p:attrNameLst>
                                      </p:cBhvr>
                                    </p:animMotion>
                                  </p:childTnLst>
                                </p:cTn>
                              </p:par>
                            </p:childTnLst>
                          </p:cTn>
                        </p:par>
                        <p:par>
                          <p:cTn id="35" fill="hold">
                            <p:stCondLst>
                              <p:cond delay="800"/>
                            </p:stCondLst>
                            <p:childTnLst>
                              <p:par>
                                <p:cTn id="36" presetID="1"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0 0 L -0.31640625 0.35416667 E" pathEditMode="relative" ptsTypes="">
                                      <p:cBhvr>
                                        <p:cTn id="41" dur="800" fill="hold"/>
                                        <p:tgtEl>
                                          <p:spTgt spid="27"/>
                                        </p:tgtEl>
                                        <p:attrNameLst>
                                          <p:attrName>ppt_x</p:attrName>
                                          <p:attrName>ppt_y</p:attrName>
                                        </p:attrNameLst>
                                      </p:cBhvr>
                                    </p:animMotion>
                                  </p:childTnLst>
                                </p:cTn>
                              </p:par>
                            </p:childTnLst>
                          </p:cTn>
                        </p:par>
                        <p:par>
                          <p:cTn id="42" fill="hold">
                            <p:stCondLst>
                              <p:cond delay="800"/>
                            </p:stCondLst>
                            <p:childTnLst>
                              <p:par>
                                <p:cTn id="43" presetID="1" presetClass="entr" presetSubtype="0" fill="hold" grpId="0" nodeType="after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0 0 L -0.2734375 0.40277778 E" pathEditMode="relative" ptsTypes="">
                                      <p:cBhvr>
                                        <p:cTn id="48" dur="800" fill="hold"/>
                                        <p:tgtEl>
                                          <p:spTgt spid="29"/>
                                        </p:tgtEl>
                                        <p:attrNameLst>
                                          <p:attrName>ppt_x</p:attrName>
                                          <p:attrName>ppt_y</p:attrName>
                                        </p:attrNameLst>
                                      </p:cBhvr>
                                    </p:animMotion>
                                  </p:childTnLst>
                                </p:cTn>
                              </p:par>
                            </p:childTnLst>
                          </p:cTn>
                        </p:par>
                        <p:par>
                          <p:cTn id="49" fill="hold">
                            <p:stCondLst>
                              <p:cond delay="800"/>
                            </p:stCondLst>
                            <p:childTnLst>
                              <p:par>
                                <p:cTn id="50" presetID="1" presetClass="entr" presetSubtype="0" fill="hold" grpId="0" nodeType="afterEffect">
                                  <p:stCondLst>
                                    <p:cond delay="0"/>
                                  </p:stCondLst>
                                  <p:childTnLst>
                                    <p:set>
                                      <p:cBhvr>
                                        <p:cTn id="51" dur="1" fill="hold">
                                          <p:stCondLst>
                                            <p:cond delay="0"/>
                                          </p:stCondLst>
                                        </p:cTn>
                                        <p:tgtEl>
                                          <p:spTgt spid="3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63" presetClass="path" presetSubtype="0" accel="50000" decel="50000" fill="hold" nodeType="clickEffect">
                                  <p:stCondLst>
                                    <p:cond delay="0"/>
                                  </p:stCondLst>
                                  <p:childTnLst>
                                    <p:animMotion origin="layout" path="M 0 0 L -0.23046875 0.35416667 E" pathEditMode="relative" ptsTypes="">
                                      <p:cBhvr>
                                        <p:cTn id="55" dur="800" fill="hold"/>
                                        <p:tgtEl>
                                          <p:spTgt spid="31"/>
                                        </p:tgtEl>
                                        <p:attrNameLst>
                                          <p:attrName>ppt_x</p:attrName>
                                          <p:attrName>ppt_y</p:attrName>
                                        </p:attrNameLst>
                                      </p:cBhvr>
                                    </p:animMotion>
                                  </p:childTnLst>
                                </p:cTn>
                              </p:par>
                            </p:childTnLst>
                          </p:cTn>
                        </p:par>
                        <p:par>
                          <p:cTn id="56" fill="hold">
                            <p:stCondLst>
                              <p:cond delay="800"/>
                            </p:stCondLst>
                            <p:childTnLst>
                              <p:par>
                                <p:cTn id="57" presetID="1"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63" presetClass="path" presetSubtype="0" accel="50000" decel="50000" fill="hold" nodeType="clickEffect">
                                  <p:stCondLst>
                                    <p:cond delay="0"/>
                                  </p:stCondLst>
                                  <p:childTnLst>
                                    <p:animMotion origin="layout" path="M 0 0 L -0.1875 0.40277778 E" pathEditMode="relative" ptsTypes="">
                                      <p:cBhvr>
                                        <p:cTn id="62" dur="800" fill="hold"/>
                                        <p:tgtEl>
                                          <p:spTgt spid="33"/>
                                        </p:tgtEl>
                                        <p:attrNameLst>
                                          <p:attrName>ppt_x</p:attrName>
                                          <p:attrName>ppt_y</p:attrName>
                                        </p:attrNameLst>
                                      </p:cBhvr>
                                    </p:animMotion>
                                  </p:childTnLst>
                                </p:cTn>
                              </p:par>
                            </p:childTnLst>
                          </p:cTn>
                        </p:par>
                        <p:par>
                          <p:cTn id="63" fill="hold">
                            <p:stCondLst>
                              <p:cond delay="800"/>
                            </p:stCondLst>
                            <p:childTnLst>
                              <p:par>
                                <p:cTn id="64" presetID="1" presetClass="entr" presetSubtype="0" fill="hold" grpId="0" nodeType="afterEffect">
                                  <p:stCondLst>
                                    <p:cond delay="0"/>
                                  </p:stCondLst>
                                  <p:childTnLst>
                                    <p:set>
                                      <p:cBhvr>
                                        <p:cTn id="65" dur="1" fill="hold">
                                          <p:stCondLst>
                                            <p:cond delay="0"/>
                                          </p:stCondLst>
                                        </p:cTn>
                                        <p:tgtEl>
                                          <p:spTgt spid="3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63" presetClass="path" presetSubtype="0" accel="50000" decel="50000" fill="hold" nodeType="clickEffect">
                                  <p:stCondLst>
                                    <p:cond delay="0"/>
                                  </p:stCondLst>
                                  <p:childTnLst>
                                    <p:animMotion origin="layout" path="M 0 0 L -0.14453125 0.35416667 E" pathEditMode="relative" ptsTypes="">
                                      <p:cBhvr>
                                        <p:cTn id="69" dur="800" fill="hold"/>
                                        <p:tgtEl>
                                          <p:spTgt spid="35"/>
                                        </p:tgtEl>
                                        <p:attrNameLst>
                                          <p:attrName>ppt_x</p:attrName>
                                          <p:attrName>ppt_y</p:attrName>
                                        </p:attrNameLst>
                                      </p:cBhvr>
                                    </p:animMotion>
                                  </p:childTnLst>
                                </p:cTn>
                              </p:par>
                            </p:childTnLst>
                          </p:cTn>
                        </p:par>
                        <p:par>
                          <p:cTn id="70" fill="hold">
                            <p:stCondLst>
                              <p:cond delay="800"/>
                            </p:stCondLst>
                            <p:childTnLst>
                              <p:par>
                                <p:cTn id="71" presetID="1" presetClass="entr" presetSubtype="0" fill="hold" grpId="0" nodeType="after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2" grpId="0"/>
      <p:bldP spid="24" grpId="0"/>
      <p:bldP spid="26" grpId="0"/>
      <p:bldP spid="28" grpId="0"/>
      <p:bldP spid="30" grpId="0"/>
      <p:bldP spid="32" grpId="0"/>
      <p:bldP spid="34" grpId="0"/>
      <p:bldP spid="36" grpId="0"/>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60917E2D-AE50-4E00-9590-095C3EB0093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AD28A561-7583-4F14-92B8-9FB03E123542}"/>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6A80D184-93B0-4D5A-BB04-C631761F499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F5733B25-8DEA-4A98-BF2A-F28E1F2E91B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5EE6D5AD-75F3-43B5-8B25-7C95D1EB7C0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and represent 6 to 10</a:t>
            </a:r>
          </a:p>
        </p:txBody>
      </p:sp>
      <p:sp>
        <p:nvSpPr>
          <p:cNvPr id="6" name="object-6">
            <a:extLst>
              <a:ext uri="{FF2B5EF4-FFF2-40B4-BE49-F238E27FC236}">
                <a16:creationId xmlns:a16="http://schemas.microsoft.com/office/drawing/2014/main" id="{42A66669-9ED2-4E48-8442-6E9052EED39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5D893CCD-9212-412B-98DC-786FFC30AE5D}"/>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8302E4FF-6CEA-4EFC-B02B-3D75BCEAC80E}"/>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Represent 6 using dots, tally marks and a ten frame.</a:t>
            </a:r>
          </a:p>
        </p:txBody>
      </p:sp>
      <p:sp>
        <p:nvSpPr>
          <p:cNvPr id="9" name="object-9">
            <a:extLst>
              <a:ext uri="{FF2B5EF4-FFF2-40B4-BE49-F238E27FC236}">
                <a16:creationId xmlns:a16="http://schemas.microsoft.com/office/drawing/2014/main" id="{82488A59-9CB9-44B4-8AF9-97ADC754F55E}"/>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23B359B6-2119-4107-94E3-D9A657714747}"/>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Count nine objects in a scattered set. Write the numeral.</a:t>
            </a:r>
          </a:p>
        </p:txBody>
      </p:sp>
      <p:sp>
        <p:nvSpPr>
          <p:cNvPr id="11" name="object-11">
            <a:extLst>
              <a:ext uri="{FF2B5EF4-FFF2-40B4-BE49-F238E27FC236}">
                <a16:creationId xmlns:a16="http://schemas.microsoft.com/office/drawing/2014/main" id="{27934826-3EB8-4E49-89E8-5F9C20875555}"/>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9466D34E-6376-4AD9-BE9B-638A6C670FA0}"/>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Complete: 7 counters and 2 more counters make __ counters.</a:t>
            </a:r>
          </a:p>
        </p:txBody>
      </p:sp>
      <p:sp>
        <p:nvSpPr>
          <p:cNvPr id="13" name="object-13">
            <a:extLst>
              <a:ext uri="{FF2B5EF4-FFF2-40B4-BE49-F238E27FC236}">
                <a16:creationId xmlns:a16="http://schemas.microsoft.com/office/drawing/2014/main" id="{A622D226-3BEB-41AA-AE1F-AD0CC2AF1E14}"/>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76176401-5DEC-44DF-9537-D0D8F0A99B8E}"/>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Draw a representation of 10 that is not a ten frame.</a:t>
            </a:r>
          </a:p>
        </p:txBody>
      </p:sp>
      <p:sp>
        <p:nvSpPr>
          <p:cNvPr id="15" name="object-15">
            <a:extLst>
              <a:ext uri="{FF2B5EF4-FFF2-40B4-BE49-F238E27FC236}">
                <a16:creationId xmlns:a16="http://schemas.microsoft.com/office/drawing/2014/main" id="{C2A7088E-A385-4C0E-BB57-1DAAFB3AF146}"/>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3C7C621F-75B9-4B53-B2B3-57DDBB5653ED}"/>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Mia says eight counters show 9. Explain her mistake.</a:t>
            </a:r>
          </a:p>
        </p:txBody>
      </p:sp>
    </p:spTree>
    <p:extLst>
      <p:ext uri="{BB962C8B-B14F-4D97-AF65-F5344CB8AC3E}">
        <p14:creationId xmlns:p14="http://schemas.microsoft.com/office/powerpoint/2010/main" val="151480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85ED93C1-2373-4215-9FA4-548109A87FB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6E470D3C-99D5-4801-B6F4-4DA5EB658AF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F7B309F8-7637-4E93-8C04-CBBA18199F5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E4F6FCF-065A-4FC6-A02A-664D953FC64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Count and represent 6 to 10</a:t>
            </a:r>
          </a:p>
        </p:txBody>
      </p:sp>
      <p:sp>
        <p:nvSpPr>
          <p:cNvPr id="5" name="object-5">
            <a:extLst>
              <a:ext uri="{FF2B5EF4-FFF2-40B4-BE49-F238E27FC236}">
                <a16:creationId xmlns:a16="http://schemas.microsoft.com/office/drawing/2014/main" id="{8231DCF8-0282-40D1-B569-29422D2FD77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6746D7FD-60E4-441C-B26D-B31C47381E8D}"/>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AC3985CF-AEAB-4755-BB52-8D3D9076C561}"/>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Each representation shows six.</a:t>
            </a:r>
          </a:p>
        </p:txBody>
      </p:sp>
      <p:sp>
        <p:nvSpPr>
          <p:cNvPr id="8" name="object-8">
            <a:extLst>
              <a:ext uri="{FF2B5EF4-FFF2-40B4-BE49-F238E27FC236}">
                <a16:creationId xmlns:a16="http://schemas.microsoft.com/office/drawing/2014/main" id="{90A2F084-E6AC-4A5B-9716-F887481C037C}"/>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72F29028-F76F-4187-9556-2617736174C4}"/>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9.</a:t>
            </a:r>
          </a:p>
        </p:txBody>
      </p:sp>
      <p:sp>
        <p:nvSpPr>
          <p:cNvPr id="10" name="object-10">
            <a:extLst>
              <a:ext uri="{FF2B5EF4-FFF2-40B4-BE49-F238E27FC236}">
                <a16:creationId xmlns:a16="http://schemas.microsoft.com/office/drawing/2014/main" id="{1DAEDDBA-8A89-403A-98DF-59D59BAC6E7D}"/>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0F3F6F3B-39BC-4527-9F03-FA80405754BB}"/>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9.</a:t>
            </a:r>
          </a:p>
        </p:txBody>
      </p:sp>
      <p:sp>
        <p:nvSpPr>
          <p:cNvPr id="12" name="object-12">
            <a:extLst>
              <a:ext uri="{FF2B5EF4-FFF2-40B4-BE49-F238E27FC236}">
                <a16:creationId xmlns:a16="http://schemas.microsoft.com/office/drawing/2014/main" id="{F3EACA0F-51BD-4D23-A366-EBE6D7B815F0}"/>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490B885F-B358-4A4D-AFFE-E4F40542DE1D}"/>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Any clear representation of ten.</a:t>
            </a:r>
          </a:p>
        </p:txBody>
      </p:sp>
      <p:sp>
        <p:nvSpPr>
          <p:cNvPr id="14" name="object-14">
            <a:extLst>
              <a:ext uri="{FF2B5EF4-FFF2-40B4-BE49-F238E27FC236}">
                <a16:creationId xmlns:a16="http://schemas.microsoft.com/office/drawing/2014/main" id="{ED341DE0-01A8-46C6-ADEC-08A1E89477C6}"/>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83ABCF0C-4ED6-4FBE-B3F2-9D25F50FC4EC}"/>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She has one too few; eight counters show 8.</a:t>
            </a:r>
          </a:p>
        </p:txBody>
      </p:sp>
    </p:spTree>
    <p:extLst>
      <p:ext uri="{BB962C8B-B14F-4D97-AF65-F5344CB8AC3E}">
        <p14:creationId xmlns:p14="http://schemas.microsoft.com/office/powerpoint/2010/main" val="177739682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789</Words>
  <Application>Microsoft Office PowerPoint</Application>
  <DocSecurity>0</DocSecurity>
  <PresentationFormat>Custom</PresentationFormat>
  <Paragraphs>104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2026-09-14T13:14:41Z</dcterms:created>
  <dcterms:modified xsi:type="dcterms:W3CDTF">2026-09-14T13:14:53Z</dcterms:modified>
</cp:coreProperties>
</file>