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Continue and describe sequences. Continue and describe sequences. Introduce the mathematical idea using the first worked example. The lesson can be placed anywhere in the teaching sequence.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Continue and describe sequences. I do. Follow the constant difference. Move a copy of the step between successive terms.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Continue and describe sequences. You do. Pause before clicking. Let pupils try independently, then reveal and discuss every step. Follow the constant difference. Move a copy of the step between successive terms.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Continue and describe sequences. I do. Follow the constant difference. Move a copy of the step between successive terms.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Continue and describe sequences. You do. Pause before clicking. Let pupils try independently, then reveal and discuss every step. Follow the constant difference. Move a copy of the step between successive terms.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Continue and describe sequences. You do. Pause before clicking. Let pupils try independently, then reveal and discuss every step. These are the existing expected-level worksheet questions, in their original order. Do not advance to the answer slide until pupils have had time to finish.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Continue and describe sequences. Answers. Answers to the preceding complete activity question set, in matching order. Accept mathematically valid alternatives for open questions.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-1">
            <a:extLst>
              <a:ext uri="{FF2B5EF4-FFF2-40B4-BE49-F238E27FC236}">
                <a16:creationId xmlns:a16="http://schemas.microsoft.com/office/drawing/2014/main" id="{6362C44F-3D7E-4319-A4FA-8C0D5FEF5D16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15478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Continue and describe sequences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594DAD74-35C6-4AB1-BF10-02B5E9F227CD}"/>
              </a:ext>
            </a:extLst>
          </p:cNvPr>
          <p:cNvSpPr>
            <a:spLocks noGrp="1"/>
          </p:cNvSpPr>
          <p:nvPr/>
        </p:nvSpPr>
        <p:spPr>
          <a:xfrm>
            <a:off x="654844" y="2024063"/>
            <a:ext cx="13930313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Watch the model. Try the next question. Explain what changes.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707D6512-54C0-4CC4-91AA-295DDE38647E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D6B8E07D-F4DE-47A8-A5C5-1BA403454E06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Continue and describe sequences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6433ACF2-6BB9-46F7-9D29-4003B8BD41A8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91F3FBFA-6912-4D96-8958-CCED3C8311A4}"/>
              </a:ext>
            </a:extLst>
          </p:cNvPr>
          <p:cNvSpPr>
            <a:spLocks noGrp="1"/>
          </p:cNvSpPr>
          <p:nvPr/>
        </p:nvSpPr>
        <p:spPr>
          <a:xfrm>
            <a:off x="1190625" y="3631406"/>
            <a:ext cx="12858750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To continue sequences and describe their term-to-term rule.</a:t>
            </a:r>
          </a:p>
        </p:txBody>
      </p:sp>
    </p:spTree>
    <p:extLst>
      <p:ext uri="{BB962C8B-B14F-4D97-AF65-F5344CB8AC3E}">
        <p14:creationId xmlns:p14="http://schemas.microsoft.com/office/powerpoint/2010/main" val="4782019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object-1">
            <a:extLst>
              <a:ext uri="{FF2B5EF4-FFF2-40B4-BE49-F238E27FC236}">
                <a16:creationId xmlns:a16="http://schemas.microsoft.com/office/drawing/2014/main" id="{091B187F-5331-40D6-9A3E-2D473209F051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483492EB-AB97-49EA-8C34-642F17D2DB40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Continue the sequence: 7, 12, 17, …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44BAB66D-0C4B-4B75-A809-59632570AB33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6B695CAC-5408-4230-9BAB-498A47BC342A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Continue and describe sequences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8E4062CC-EB1D-4F1C-B7B5-DA950A0CD94F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4F7A1551-4BF3-4701-AEE8-63B10024CE00}"/>
              </a:ext>
            </a:extLst>
          </p:cNvPr>
          <p:cNvSpPr>
            <a:spLocks noGrp="1"/>
          </p:cNvSpPr>
          <p:nvPr/>
        </p:nvSpPr>
        <p:spPr>
          <a:xfrm>
            <a:off x="952500" y="3929063"/>
            <a:ext cx="1964531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78EA3613-7D09-4E70-B1AD-4F0E360B8721}"/>
              </a:ext>
            </a:extLst>
          </p:cNvPr>
          <p:cNvSpPr>
            <a:spLocks noGrp="1"/>
          </p:cNvSpPr>
          <p:nvPr/>
        </p:nvSpPr>
        <p:spPr>
          <a:xfrm>
            <a:off x="2333625" y="3095625"/>
            <a:ext cx="1845469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+5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00C12316-9ADE-4A4D-AB6B-7570FA73DB17}"/>
              </a:ext>
            </a:extLst>
          </p:cNvPr>
          <p:cNvSpPr>
            <a:spLocks noGrp="1"/>
          </p:cNvSpPr>
          <p:nvPr/>
        </p:nvSpPr>
        <p:spPr>
          <a:xfrm>
            <a:off x="3309938" y="3929063"/>
            <a:ext cx="1964531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F6200AC4-2E8F-42C2-A04E-6636A494C92D}"/>
              </a:ext>
            </a:extLst>
          </p:cNvPr>
          <p:cNvSpPr>
            <a:spLocks noGrp="1"/>
          </p:cNvSpPr>
          <p:nvPr/>
        </p:nvSpPr>
        <p:spPr>
          <a:xfrm>
            <a:off x="4691063" y="3095625"/>
            <a:ext cx="1845469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+5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FFF3F4EF-F5C8-4D5D-99FF-3387317A71DB}"/>
              </a:ext>
            </a:extLst>
          </p:cNvPr>
          <p:cNvSpPr>
            <a:spLocks noGrp="1"/>
          </p:cNvSpPr>
          <p:nvPr/>
        </p:nvSpPr>
        <p:spPr>
          <a:xfrm>
            <a:off x="5667375" y="3929063"/>
            <a:ext cx="1964531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9A9D8D80-3B6C-469F-BE39-F6BB541AC050}"/>
              </a:ext>
            </a:extLst>
          </p:cNvPr>
          <p:cNvSpPr>
            <a:spLocks noGrp="1"/>
          </p:cNvSpPr>
          <p:nvPr/>
        </p:nvSpPr>
        <p:spPr>
          <a:xfrm>
            <a:off x="7048500" y="3095625"/>
            <a:ext cx="1845469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+5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1F8BFC0E-8CD1-40D7-B8E4-0427D7642EDC}"/>
              </a:ext>
            </a:extLst>
          </p:cNvPr>
          <p:cNvSpPr>
            <a:spLocks noGrp="1"/>
          </p:cNvSpPr>
          <p:nvPr/>
        </p:nvSpPr>
        <p:spPr>
          <a:xfrm>
            <a:off x="8024813" y="3929063"/>
            <a:ext cx="1964531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64A6B58F-BE97-41A6-8B8A-1EA45BF86CAF}"/>
              </a:ext>
            </a:extLst>
          </p:cNvPr>
          <p:cNvSpPr>
            <a:spLocks noGrp="1"/>
          </p:cNvSpPr>
          <p:nvPr/>
        </p:nvSpPr>
        <p:spPr>
          <a:xfrm>
            <a:off x="9405938" y="3095625"/>
            <a:ext cx="1845469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+5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547875CE-0533-4C97-B6C7-6C152906096B}"/>
              </a:ext>
            </a:extLst>
          </p:cNvPr>
          <p:cNvSpPr>
            <a:spLocks noGrp="1"/>
          </p:cNvSpPr>
          <p:nvPr/>
        </p:nvSpPr>
        <p:spPr>
          <a:xfrm>
            <a:off x="10382250" y="3929063"/>
            <a:ext cx="1964531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18840422-39DE-4641-9170-B2FECFD787AA}"/>
              </a:ext>
            </a:extLst>
          </p:cNvPr>
          <p:cNvSpPr>
            <a:spLocks noGrp="1"/>
          </p:cNvSpPr>
          <p:nvPr/>
        </p:nvSpPr>
        <p:spPr>
          <a:xfrm>
            <a:off x="11763375" y="3095625"/>
            <a:ext cx="1845469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+5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7E23E66A-4216-429D-BF17-9C8E40A73723}"/>
              </a:ext>
            </a:extLst>
          </p:cNvPr>
          <p:cNvSpPr>
            <a:spLocks noGrp="1"/>
          </p:cNvSpPr>
          <p:nvPr/>
        </p:nvSpPr>
        <p:spPr>
          <a:xfrm>
            <a:off x="12739688" y="3929063"/>
            <a:ext cx="1964531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0E5ABB32-0892-4046-BEDA-A2F088B06E54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The rule is add 5 each time.</a:t>
            </a:r>
          </a:p>
        </p:txBody>
      </p:sp>
    </p:spTree>
    <p:extLst>
      <p:ext uri="{BB962C8B-B14F-4D97-AF65-F5344CB8AC3E}">
        <p14:creationId xmlns:p14="http://schemas.microsoft.com/office/powerpoint/2010/main" val="1390395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  <p:bldP spid="12" grpId="0"/>
      <p:bldP spid="13" grpId="0"/>
      <p:bldP spid="14" grpId="0"/>
      <p:bldP spid="15" grpId="0"/>
      <p:bldP spid="16" grpId="0"/>
      <p:bldP spid="1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object-1">
            <a:extLst>
              <a:ext uri="{FF2B5EF4-FFF2-40B4-BE49-F238E27FC236}">
                <a16:creationId xmlns:a16="http://schemas.microsoft.com/office/drawing/2014/main" id="{C6CE2B73-6459-471A-B1F7-663F040C1804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21B10551-5B1D-4B93-B9D6-C828012CE7AB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E2D1C921-A0E0-471D-A65E-10983C44E499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Continue the sequence: 9, 14, 19, …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FAA40075-0153-4C60-B434-C99A6FC87934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949CA445-2BE9-4B47-8D2C-E96BD8BD88DF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Continue and describe sequences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D568F4CB-455A-4DAA-88F2-B8D7EEA99CB8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BDFB06A1-8334-4C54-B61A-DBE81F3F383D}"/>
              </a:ext>
            </a:extLst>
          </p:cNvPr>
          <p:cNvSpPr>
            <a:spLocks noGrp="1"/>
          </p:cNvSpPr>
          <p:nvPr/>
        </p:nvSpPr>
        <p:spPr>
          <a:xfrm>
            <a:off x="952500" y="3929063"/>
            <a:ext cx="1964531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5EDDD922-9CF6-4676-BB1C-DC4254088FEF}"/>
              </a:ext>
            </a:extLst>
          </p:cNvPr>
          <p:cNvSpPr>
            <a:spLocks noGrp="1"/>
          </p:cNvSpPr>
          <p:nvPr/>
        </p:nvSpPr>
        <p:spPr>
          <a:xfrm>
            <a:off x="2333625" y="3095625"/>
            <a:ext cx="1845469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+5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E39FDC0C-CF07-498F-9970-3D3F01BECFA7}"/>
              </a:ext>
            </a:extLst>
          </p:cNvPr>
          <p:cNvSpPr>
            <a:spLocks noGrp="1"/>
          </p:cNvSpPr>
          <p:nvPr/>
        </p:nvSpPr>
        <p:spPr>
          <a:xfrm>
            <a:off x="3309938" y="3929063"/>
            <a:ext cx="1964531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95F2394D-C1D8-4D04-95D3-929BEF8DE9D0}"/>
              </a:ext>
            </a:extLst>
          </p:cNvPr>
          <p:cNvSpPr>
            <a:spLocks noGrp="1"/>
          </p:cNvSpPr>
          <p:nvPr/>
        </p:nvSpPr>
        <p:spPr>
          <a:xfrm>
            <a:off x="4691063" y="3095625"/>
            <a:ext cx="1845469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+5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B986A02C-573C-445B-914F-1C1D26BA082E}"/>
              </a:ext>
            </a:extLst>
          </p:cNvPr>
          <p:cNvSpPr>
            <a:spLocks noGrp="1"/>
          </p:cNvSpPr>
          <p:nvPr/>
        </p:nvSpPr>
        <p:spPr>
          <a:xfrm>
            <a:off x="5667375" y="3929063"/>
            <a:ext cx="1964531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14EF41D7-F814-4EFC-B059-B773195C684F}"/>
              </a:ext>
            </a:extLst>
          </p:cNvPr>
          <p:cNvSpPr>
            <a:spLocks noGrp="1"/>
          </p:cNvSpPr>
          <p:nvPr/>
        </p:nvSpPr>
        <p:spPr>
          <a:xfrm>
            <a:off x="7048500" y="3095625"/>
            <a:ext cx="1845469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+5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839C024D-C130-4F6B-90B0-FED177BB6169}"/>
              </a:ext>
            </a:extLst>
          </p:cNvPr>
          <p:cNvSpPr>
            <a:spLocks noGrp="1"/>
          </p:cNvSpPr>
          <p:nvPr/>
        </p:nvSpPr>
        <p:spPr>
          <a:xfrm>
            <a:off x="8024813" y="3929063"/>
            <a:ext cx="1964531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AAE18C83-2292-49A7-9B30-A00213D5C573}"/>
              </a:ext>
            </a:extLst>
          </p:cNvPr>
          <p:cNvSpPr>
            <a:spLocks noGrp="1"/>
          </p:cNvSpPr>
          <p:nvPr/>
        </p:nvSpPr>
        <p:spPr>
          <a:xfrm>
            <a:off x="9405938" y="3095625"/>
            <a:ext cx="1845469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+5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020FFEC9-890C-4D38-98BD-93CD4981533C}"/>
              </a:ext>
            </a:extLst>
          </p:cNvPr>
          <p:cNvSpPr>
            <a:spLocks noGrp="1"/>
          </p:cNvSpPr>
          <p:nvPr/>
        </p:nvSpPr>
        <p:spPr>
          <a:xfrm>
            <a:off x="10382250" y="3929063"/>
            <a:ext cx="1964531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32A6A060-9E0A-45DF-B289-5FE8178B78FA}"/>
              </a:ext>
            </a:extLst>
          </p:cNvPr>
          <p:cNvSpPr>
            <a:spLocks noGrp="1"/>
          </p:cNvSpPr>
          <p:nvPr/>
        </p:nvSpPr>
        <p:spPr>
          <a:xfrm>
            <a:off x="11763375" y="3095625"/>
            <a:ext cx="1845469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+5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AFABD579-32BE-462A-8375-E4C1CF8827DA}"/>
              </a:ext>
            </a:extLst>
          </p:cNvPr>
          <p:cNvSpPr>
            <a:spLocks noGrp="1"/>
          </p:cNvSpPr>
          <p:nvPr/>
        </p:nvSpPr>
        <p:spPr>
          <a:xfrm>
            <a:off x="12739688" y="3929063"/>
            <a:ext cx="1964531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CC14EAD9-82FE-4176-8283-ACD7C7625781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The rule is add 5 each time.</a:t>
            </a:r>
          </a:p>
        </p:txBody>
      </p:sp>
    </p:spTree>
    <p:extLst>
      <p:ext uri="{BB962C8B-B14F-4D97-AF65-F5344CB8AC3E}">
        <p14:creationId xmlns:p14="http://schemas.microsoft.com/office/powerpoint/2010/main" val="1638850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2" grpId="0"/>
      <p:bldP spid="13" grpId="0"/>
      <p:bldP spid="14" grpId="0"/>
      <p:bldP spid="15" grpId="0"/>
      <p:bldP spid="16" grpId="0"/>
      <p:bldP spid="17" grpId="0"/>
      <p:bldP spid="1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object-1">
            <a:extLst>
              <a:ext uri="{FF2B5EF4-FFF2-40B4-BE49-F238E27FC236}">
                <a16:creationId xmlns:a16="http://schemas.microsoft.com/office/drawing/2014/main" id="{5EBC3028-009A-4210-878A-07D26EFEB8EA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DBDF2360-6E7C-4987-B354-5FBC4C195698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Continue the sequence: 11, 16, 21, …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362EB103-7A87-437A-B566-B93E6C7B0DAE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B032ADEE-B11E-42AA-BE65-2667EE99A308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Continue and describe sequences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2DA2B40B-488C-4C99-ABEC-2CCE4C91B274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3324373B-8C6F-4231-BD8A-6BE635FCA706}"/>
              </a:ext>
            </a:extLst>
          </p:cNvPr>
          <p:cNvSpPr>
            <a:spLocks noGrp="1"/>
          </p:cNvSpPr>
          <p:nvPr/>
        </p:nvSpPr>
        <p:spPr>
          <a:xfrm>
            <a:off x="952500" y="3929063"/>
            <a:ext cx="1964531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E6179361-CF01-4F99-A118-2A6D8DD9DF85}"/>
              </a:ext>
            </a:extLst>
          </p:cNvPr>
          <p:cNvSpPr>
            <a:spLocks noGrp="1"/>
          </p:cNvSpPr>
          <p:nvPr/>
        </p:nvSpPr>
        <p:spPr>
          <a:xfrm>
            <a:off x="2333625" y="3095625"/>
            <a:ext cx="1845469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+5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AE97EE4D-23E5-434B-807F-9D40CC9343F2}"/>
              </a:ext>
            </a:extLst>
          </p:cNvPr>
          <p:cNvSpPr>
            <a:spLocks noGrp="1"/>
          </p:cNvSpPr>
          <p:nvPr/>
        </p:nvSpPr>
        <p:spPr>
          <a:xfrm>
            <a:off x="3309938" y="3929063"/>
            <a:ext cx="1964531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C4115AEE-3DBE-4B77-AC34-3E14D5C86141}"/>
              </a:ext>
            </a:extLst>
          </p:cNvPr>
          <p:cNvSpPr>
            <a:spLocks noGrp="1"/>
          </p:cNvSpPr>
          <p:nvPr/>
        </p:nvSpPr>
        <p:spPr>
          <a:xfrm>
            <a:off x="4691063" y="3095625"/>
            <a:ext cx="1845469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+5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BB931CA3-67D5-4111-805F-3956435889A1}"/>
              </a:ext>
            </a:extLst>
          </p:cNvPr>
          <p:cNvSpPr>
            <a:spLocks noGrp="1"/>
          </p:cNvSpPr>
          <p:nvPr/>
        </p:nvSpPr>
        <p:spPr>
          <a:xfrm>
            <a:off x="5667375" y="3929063"/>
            <a:ext cx="1964531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094086DD-C412-44FB-ADFC-B39009578EA1}"/>
              </a:ext>
            </a:extLst>
          </p:cNvPr>
          <p:cNvSpPr>
            <a:spLocks noGrp="1"/>
          </p:cNvSpPr>
          <p:nvPr/>
        </p:nvSpPr>
        <p:spPr>
          <a:xfrm>
            <a:off x="7048500" y="3095625"/>
            <a:ext cx="1845469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+5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3CEAB132-41E8-441E-9681-1DFB5A86BBA0}"/>
              </a:ext>
            </a:extLst>
          </p:cNvPr>
          <p:cNvSpPr>
            <a:spLocks noGrp="1"/>
          </p:cNvSpPr>
          <p:nvPr/>
        </p:nvSpPr>
        <p:spPr>
          <a:xfrm>
            <a:off x="8024813" y="3929063"/>
            <a:ext cx="1964531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6E87E6E4-C58E-4E34-AD19-D55C3A7B5A17}"/>
              </a:ext>
            </a:extLst>
          </p:cNvPr>
          <p:cNvSpPr>
            <a:spLocks noGrp="1"/>
          </p:cNvSpPr>
          <p:nvPr/>
        </p:nvSpPr>
        <p:spPr>
          <a:xfrm>
            <a:off x="9405938" y="3095625"/>
            <a:ext cx="1845469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+5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5329A76B-4E71-47D0-B2BD-5748A782DE6E}"/>
              </a:ext>
            </a:extLst>
          </p:cNvPr>
          <p:cNvSpPr>
            <a:spLocks noGrp="1"/>
          </p:cNvSpPr>
          <p:nvPr/>
        </p:nvSpPr>
        <p:spPr>
          <a:xfrm>
            <a:off x="10382250" y="3929063"/>
            <a:ext cx="1964531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EDD58542-B406-42CC-8C03-C276682E6C4C}"/>
              </a:ext>
            </a:extLst>
          </p:cNvPr>
          <p:cNvSpPr>
            <a:spLocks noGrp="1"/>
          </p:cNvSpPr>
          <p:nvPr/>
        </p:nvSpPr>
        <p:spPr>
          <a:xfrm>
            <a:off x="11763375" y="3095625"/>
            <a:ext cx="1845469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+5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5F757A1C-EDE6-48D5-B77F-B381ACE8EE58}"/>
              </a:ext>
            </a:extLst>
          </p:cNvPr>
          <p:cNvSpPr>
            <a:spLocks noGrp="1"/>
          </p:cNvSpPr>
          <p:nvPr/>
        </p:nvSpPr>
        <p:spPr>
          <a:xfrm>
            <a:off x="12739688" y="3929063"/>
            <a:ext cx="1964531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1F99F6FF-44CB-4E7A-B9B5-C5283E34208F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The rule is add 5 each time.</a:t>
            </a:r>
          </a:p>
        </p:txBody>
      </p:sp>
    </p:spTree>
    <p:extLst>
      <p:ext uri="{BB962C8B-B14F-4D97-AF65-F5344CB8AC3E}">
        <p14:creationId xmlns:p14="http://schemas.microsoft.com/office/powerpoint/2010/main" val="442063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  <p:bldP spid="12" grpId="0"/>
      <p:bldP spid="13" grpId="0"/>
      <p:bldP spid="14" grpId="0"/>
      <p:bldP spid="15" grpId="0"/>
      <p:bldP spid="16" grpId="0"/>
      <p:bldP spid="1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object-1">
            <a:extLst>
              <a:ext uri="{FF2B5EF4-FFF2-40B4-BE49-F238E27FC236}">
                <a16:creationId xmlns:a16="http://schemas.microsoft.com/office/drawing/2014/main" id="{1D3F0E32-EECF-4F36-8AD1-204ACD34198A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78D75581-FE99-4945-A35B-C07E5B76525A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C68792DD-5109-44D4-9E55-CE3FF8CAA05F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Continue the sequence: 13, 18, 23, …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BECDFCE7-DC13-4F40-9DF3-F0211DD1DBE9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F38AC9A0-FD95-43F0-B82B-30C609C4F281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Continue and describe sequences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CDA37122-2878-4EE8-A6CC-8964D5E83963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6299A9CB-1108-4593-9665-DD809A7A03C6}"/>
              </a:ext>
            </a:extLst>
          </p:cNvPr>
          <p:cNvSpPr>
            <a:spLocks noGrp="1"/>
          </p:cNvSpPr>
          <p:nvPr/>
        </p:nvSpPr>
        <p:spPr>
          <a:xfrm>
            <a:off x="952500" y="3929063"/>
            <a:ext cx="1964531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483B6D00-0860-4230-95A8-D7808BBFE089}"/>
              </a:ext>
            </a:extLst>
          </p:cNvPr>
          <p:cNvSpPr>
            <a:spLocks noGrp="1"/>
          </p:cNvSpPr>
          <p:nvPr/>
        </p:nvSpPr>
        <p:spPr>
          <a:xfrm>
            <a:off x="2333625" y="3095625"/>
            <a:ext cx="1845469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+5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B746E26D-A65E-4130-976C-256FE15286B1}"/>
              </a:ext>
            </a:extLst>
          </p:cNvPr>
          <p:cNvSpPr>
            <a:spLocks noGrp="1"/>
          </p:cNvSpPr>
          <p:nvPr/>
        </p:nvSpPr>
        <p:spPr>
          <a:xfrm>
            <a:off x="3309938" y="3929063"/>
            <a:ext cx="1964531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FECC7DD6-6E8C-4B90-AA28-54DEF502F7B4}"/>
              </a:ext>
            </a:extLst>
          </p:cNvPr>
          <p:cNvSpPr>
            <a:spLocks noGrp="1"/>
          </p:cNvSpPr>
          <p:nvPr/>
        </p:nvSpPr>
        <p:spPr>
          <a:xfrm>
            <a:off x="4691063" y="3095625"/>
            <a:ext cx="1845469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+5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A9BE3DF8-AEA5-4E46-B345-399929696EA6}"/>
              </a:ext>
            </a:extLst>
          </p:cNvPr>
          <p:cNvSpPr>
            <a:spLocks noGrp="1"/>
          </p:cNvSpPr>
          <p:nvPr/>
        </p:nvSpPr>
        <p:spPr>
          <a:xfrm>
            <a:off x="5667375" y="3929063"/>
            <a:ext cx="1964531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A08BDDFB-F7B6-457B-8257-979DBF834296}"/>
              </a:ext>
            </a:extLst>
          </p:cNvPr>
          <p:cNvSpPr>
            <a:spLocks noGrp="1"/>
          </p:cNvSpPr>
          <p:nvPr/>
        </p:nvSpPr>
        <p:spPr>
          <a:xfrm>
            <a:off x="7048500" y="3095625"/>
            <a:ext cx="1845469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+5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A2A6877B-6958-459B-85F6-CC34EE6603A0}"/>
              </a:ext>
            </a:extLst>
          </p:cNvPr>
          <p:cNvSpPr>
            <a:spLocks noGrp="1"/>
          </p:cNvSpPr>
          <p:nvPr/>
        </p:nvSpPr>
        <p:spPr>
          <a:xfrm>
            <a:off x="8024813" y="3929063"/>
            <a:ext cx="1964531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0C368BDD-5F49-418B-9B48-5F3FD7B3DD72}"/>
              </a:ext>
            </a:extLst>
          </p:cNvPr>
          <p:cNvSpPr>
            <a:spLocks noGrp="1"/>
          </p:cNvSpPr>
          <p:nvPr/>
        </p:nvSpPr>
        <p:spPr>
          <a:xfrm>
            <a:off x="9405938" y="3095625"/>
            <a:ext cx="1845469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+5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AB0EC3A5-C7B3-4C34-9BA8-82DA4B9D2021}"/>
              </a:ext>
            </a:extLst>
          </p:cNvPr>
          <p:cNvSpPr>
            <a:spLocks noGrp="1"/>
          </p:cNvSpPr>
          <p:nvPr/>
        </p:nvSpPr>
        <p:spPr>
          <a:xfrm>
            <a:off x="10382250" y="3929063"/>
            <a:ext cx="1964531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5EEB6D57-E1F3-4224-AFC5-947BB522B4DB}"/>
              </a:ext>
            </a:extLst>
          </p:cNvPr>
          <p:cNvSpPr>
            <a:spLocks noGrp="1"/>
          </p:cNvSpPr>
          <p:nvPr/>
        </p:nvSpPr>
        <p:spPr>
          <a:xfrm>
            <a:off x="11763375" y="3095625"/>
            <a:ext cx="1845469" cy="65484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625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+5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BD16F812-AE34-4BAA-B89C-1C6BE6C4E2CC}"/>
              </a:ext>
            </a:extLst>
          </p:cNvPr>
          <p:cNvSpPr>
            <a:spLocks noGrp="1"/>
          </p:cNvSpPr>
          <p:nvPr/>
        </p:nvSpPr>
        <p:spPr>
          <a:xfrm>
            <a:off x="12739688" y="3929063"/>
            <a:ext cx="1964531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96823167-1ACC-4CC6-9A45-458B66FEEB46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The rule is add 5 each time.</a:t>
            </a:r>
          </a:p>
        </p:txBody>
      </p:sp>
    </p:spTree>
    <p:extLst>
      <p:ext uri="{BB962C8B-B14F-4D97-AF65-F5344CB8AC3E}">
        <p14:creationId xmlns:p14="http://schemas.microsoft.com/office/powerpoint/2010/main" val="53193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2" grpId="0"/>
      <p:bldP spid="13" grpId="0"/>
      <p:bldP spid="14" grpId="0"/>
      <p:bldP spid="15" grpId="0"/>
      <p:bldP spid="16" grpId="0"/>
      <p:bldP spid="17" grpId="0"/>
      <p:bldP spid="1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34B49B52-1602-45B1-B2B4-7316FF0D2808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07CD2CD4-4711-452C-895A-BD8DD45EE4EE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C15E954E-41A6-4513-A377-1037305C9C3B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Try these questions.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B1F82F7D-F18B-40B9-A0DE-9A58301AB53B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1C0B6471-260A-47EA-A0B9-F1D632A2A5DD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Continue and describe sequences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A24143B0-94CA-40EC-84B3-75FE13055C6E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1E648163-639A-4EDE-8876-EA0D5C75A6EE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216D690C-7025-4A36-9CF6-F28F7EF25382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Continue 7, 12, 17, 22 and state the rule.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912C4EF1-65B2-4E18-A398-6FCE77DD3072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441C97F0-6065-4537-BEE2-C6FA4D2AFA16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Find the missing terms: 84, __, 62, __, 40.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E3C9C480-FC8F-4435-B331-1DFCEAEC6F7B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5ED9877F-0001-4D70-9F28-AE5C7ADA898F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formula for the cost C of n tickets at £6 each plus a £4 booking fee.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ED35FA19-7626-4B68-8F3E-6B56595C7567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2E9938F0-D5B8-420B-8A7D-A281D8D58023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this independently and show every stage: Continue 7, 12, 17, 22 and state the rule.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7CA5935E-1DF8-4DFF-8E35-4ADD8BED1ED0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3E0B2E11-230B-4351-BF5A-648C152EA41D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a second method or representation for: Find the missing terms: 84, __, 62, __, 40.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92EEB239-A0E5-4B66-A083-49D7E347C50A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DEB4F66E-5876-4654-8F8B-BEB6EBD0885F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this result using an inverse, estimate or known fact: Write a formula for the cost C of n tickets at £6 each plus a £4 booking fee.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63069574-D99C-450B-BDCA-1217FAB6EAB5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8E7C72F0-7099-445C-974B-85BBE9229A61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Prove or explain your reasoning: Find A when A = 3b + 2c, b = 7 and c = 5.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BD7C0C25-CAFE-44D9-8CFF-E40772E74C43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59524F09-0376-430C-8ED5-7DDF21249B9A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Identify and correct this misconception: Miro treats a variable as a label instead of a number that can vary.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8EC9FAB2-E413-4A98-949F-C79442CB6AA5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1936BFC3-C37F-468B-90B8-08EAA5648CE6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complete sentence explaining how you checked one answer.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E0958BD5-93A6-4212-B8E2-F3025BDDA58F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1C384BA9-9C97-4BFA-A6AA-8DE7D5452A13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and solve a similar question to: Write a formula for the cost C of n tickets at £6 each plus a £4 booking fee.</a:t>
            </a:r>
          </a:p>
        </p:txBody>
      </p:sp>
    </p:spTree>
    <p:extLst>
      <p:ext uri="{BB962C8B-B14F-4D97-AF65-F5344CB8AC3E}">
        <p14:creationId xmlns:p14="http://schemas.microsoft.com/office/powerpoint/2010/main" val="4754683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665FF3D2-FC7F-4D97-A199-EFA21398ECDD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Answers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4D56DE54-2C64-4317-A957-EF6C89B30466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your answers. Explain any corrections.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C4B6E3CA-5CC3-4D4C-A930-83BBCCC912ED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93DD1F03-4E59-4CDE-A8B9-D6782E7B1B98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Continue and describe sequences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00C609D4-4BBA-4BFF-A157-B27E4C30E797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2A0D75A0-A00D-4264-8311-32769BA447E3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AD8D6E41-33C1-42A2-BE21-064D3DFD40A3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27, 32; add 5.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167F12BD-4250-4ECE-81D6-29801C928857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560B0152-64B2-417F-B37F-B88227E64417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73 and 51.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D1F276F2-B5F6-42CF-B740-A1FA7D068A66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529221B6-D473-44C2-9031-A184C3761192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C = 6n + 4.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477EC2D2-E4F7-4928-BE08-CE21FC6AF47E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29DD2D11-17CB-4E87-95CC-6EAA26135422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27, 32; add 5.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8FE1C0B8-2252-4692-848F-2744806C3F86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8B2DCA25-6A4C-4818-BEC7-8E5F16B7D74B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73 and 51. Method or representation may vary.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B2BFCAB5-5394-48ED-B447-C430A0B1C214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4B90186C-1BC1-451A-85B6-33221D33FC77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C = 6n + 4. A valid check must be shown.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972EEE8E-10B8-4514-B0D4-1C031CE59E78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5D06B4B5-BCDA-4BDA-9655-8817FAB82D5F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31. The explanation must show why the method works.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98AEFDA0-11BA-404F-81D8-9DAA753E9BA2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C157DD38-742A-401F-83B4-BE599E2CCA9F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State what the variable represents, substitute its value and preserve the operation structure.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73E9C4BD-0017-45C6-B0AA-9D19B7DF1AAF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5E777716-FE8D-43CE-B46C-0E3B67F9E990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 should name an inverse, estimate, boundary, known fact or equivalent representation.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B60F161B-6071-4632-9982-CF58B496547A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975CB63D-2C76-44AE-AC75-082198CD9EB3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new question must use the same mathematical structure and include a correct solution.</a:t>
            </a:r>
          </a:p>
        </p:txBody>
      </p:sp>
    </p:spTree>
    <p:extLst>
      <p:ext uri="{BB962C8B-B14F-4D97-AF65-F5344CB8AC3E}">
        <p14:creationId xmlns:p14="http://schemas.microsoft.com/office/powerpoint/2010/main" val="84052464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1023</Words>
  <Application>Microsoft Office PowerPoint</Application>
  <DocSecurity>0</DocSecurity>
  <PresentationFormat>Custom</PresentationFormat>
  <Paragraphs>134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2026-09-14T13:14:34Z</dcterms:created>
  <dcterms:modified xsi:type="dcterms:W3CDTF">2026-09-14T13:17:16Z</dcterms:modified>
</cp:coreProperties>
</file>