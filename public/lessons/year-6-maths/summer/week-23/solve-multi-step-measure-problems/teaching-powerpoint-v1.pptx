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Solve multi-step measure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I do.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You do. Pause before clicking. Let pupils try independently, then reveal and discuss every step. Identify the operation represented by each part. Reveal one calculation at a time, then follow the result into the next step.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multi-step measure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889D862D-4DCD-45ED-A9C7-60A595AB66B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multi-step measure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8759123-F294-4E26-8428-7C162FA5C572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E70C3DC-C9EE-4302-AA9F-7ECD85F5A14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668D11E-3A6F-4904-A8C9-1B00D60B218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465FF2B-BC21-4973-A7EC-973BF99FB20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1CB1560-0EE8-4571-996D-BF79ADF2B20B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problems involving more than one unit conversion.</a:t>
            </a:r>
          </a:p>
        </p:txBody>
      </p:sp>
    </p:spTree>
    <p:extLst>
      <p:ext uri="{BB962C8B-B14F-4D97-AF65-F5344CB8AC3E}">
        <p14:creationId xmlns:p14="http://schemas.microsoft.com/office/powerpoint/2010/main" val="845298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4D363FBE-A1F6-4658-85A0-C85C41A2519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5C564BB-BE87-4F36-9D54-02F096AD79C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Cut a 12.5 m length into 40 cm pieces. How many whole pieces fit?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EE2096B-401F-4FDC-A981-FC7B7E97B08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5548872-B05C-4F34-BEF0-501B8EA4208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36D2236-C9CE-4856-8932-67644EE0D5F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415185B-CE6F-458A-AA41-F294C1754785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12.5 × 100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C2B70E4-0329-464E-858B-33E6E608C50D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1,250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7A17154-8900-420A-92BD-A5E4CBF191B1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1250 ÷ 40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7D73607-AFEA-4D5C-91FC-64A95E5CD54B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31.25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C32C22A-42EF-4D6D-AFC7-D13DAA7470E2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Complete pieces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7B7D34D-411B-4EEA-ADAB-3D9707C4E553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83638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72358F41-4320-4E98-810A-B8EF7D5948C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06CD509-AFC2-4426-BFB4-0DB41A02592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5F5276C-EFB6-4C8A-9C3F-F51832F6A50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Cut a 13.5 m length into 40 cm pieces. How many whole pieces fit?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AFE7CD8-B7BE-49D7-8AAE-CB23B62E43E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5BD6EF8-60F0-4A49-9B15-749867AB0A5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33EE007-4B27-498F-9466-928DF8DEB4B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3FACF9B-3FE1-4058-A136-E0F0C8B601EC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13.5 × 100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65D01BD-2ABD-46E7-9366-009679DC3E7B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1,350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4E76984-0835-4035-A120-D876F2B4BD8C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1350 ÷ 40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5CB5335-F3CF-448B-A0F5-7A22358B9F5A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33.75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61F8CF4-CAC3-46A9-BFD2-D61E56462FBF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Complete pieces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38856B3-1345-44E9-BFFD-E660FC598B0F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89524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46C715BF-7818-4B67-834A-B25D254AB48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951DE18-214A-4EB7-ADF2-827B67BF076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Cut a 14.5 m length into 40 cm pieces. How many whole pieces fit?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79D9CBB-F789-4389-88AE-5D4CE35C275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CAB4B42-ABE5-4842-A387-404D8F60790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ECC380E-C9B2-4501-B745-AC2EC70A1A8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AE825D6-02EE-441A-819D-D05221BA1951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14.5 × 100 =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9E1A5C9-DF16-4B90-A8E4-DD65475E852F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1,450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6044678-34C4-488A-A41B-9B2F89B42FBD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1450 ÷ 40 =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1CF32E50-3C5E-4E3C-94CF-97CC60B91590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36.25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5C5FBBB-9034-40ED-9E2E-1CEBD7CED984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Complete pieces =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0804D2F-D976-429A-AD4A-31214F114CEF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56829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7" grpId="1"/>
      <p:bldP spid="8" grpId="0"/>
      <p:bldP spid="9" grpId="0"/>
      <p:bldP spid="9" grpId="1"/>
      <p:bldP spid="10" grpId="0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D17077A6-739B-4D5F-AE70-A8465B678DE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183B5E4-5F96-45BA-9FF0-C75199A08B5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27AA8D1-3365-496F-9E9F-470684A1D72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Cut a 15.5 m length into 40 cm pieces. How many whole pieces fit?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35918E6-659A-49A7-AE2A-4B1A7BCF247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DDFACCE-363C-41EE-B86D-68B15696317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B60FA8A-8FD1-4DB5-8646-E265D3A1AEF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F1A5A26-28B5-49FC-8DFB-FEA2E3E9E570}"/>
              </a:ext>
            </a:extLst>
          </p:cNvPr>
          <p:cNvSpPr>
            <a:spLocks noGrp="1"/>
          </p:cNvSpPr>
          <p:nvPr/>
        </p:nvSpPr>
        <p:spPr>
          <a:xfrm>
            <a:off x="1012031" y="271462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15.5 × 100 =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005FDE6-C13E-4B02-B973-8097B411FD4C}"/>
              </a:ext>
            </a:extLst>
          </p:cNvPr>
          <p:cNvSpPr>
            <a:spLocks noGrp="1"/>
          </p:cNvSpPr>
          <p:nvPr/>
        </p:nvSpPr>
        <p:spPr>
          <a:xfrm>
            <a:off x="9346406" y="271462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1,550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99A0F9F-61B8-41D6-A67A-B7E55FA0A067}"/>
              </a:ext>
            </a:extLst>
          </p:cNvPr>
          <p:cNvSpPr>
            <a:spLocks noGrp="1"/>
          </p:cNvSpPr>
          <p:nvPr/>
        </p:nvSpPr>
        <p:spPr>
          <a:xfrm>
            <a:off x="1012031" y="4064000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1550 ÷ 40 =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663B7F7-2161-4863-B9CB-1FBBABC7D5DC}"/>
              </a:ext>
            </a:extLst>
          </p:cNvPr>
          <p:cNvSpPr>
            <a:spLocks noGrp="1"/>
          </p:cNvSpPr>
          <p:nvPr/>
        </p:nvSpPr>
        <p:spPr>
          <a:xfrm>
            <a:off x="9346406" y="4064000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38.75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08032A9-CA73-4CFE-9EE3-775CFF2320A2}"/>
              </a:ext>
            </a:extLst>
          </p:cNvPr>
          <p:cNvSpPr>
            <a:spLocks noGrp="1"/>
          </p:cNvSpPr>
          <p:nvPr/>
        </p:nvSpPr>
        <p:spPr>
          <a:xfrm>
            <a:off x="1012031" y="5413375"/>
            <a:ext cx="85725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Complete pieces =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B37C48B-5FFF-41AF-815F-789B5950ACD2}"/>
              </a:ext>
            </a:extLst>
          </p:cNvPr>
          <p:cNvSpPr>
            <a:spLocks noGrp="1"/>
          </p:cNvSpPr>
          <p:nvPr/>
        </p:nvSpPr>
        <p:spPr>
          <a:xfrm>
            <a:off x="9346406" y="5413375"/>
            <a:ext cx="3810000" cy="79771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75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903557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12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2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3515625 0 E" pathEditMode="relative" ptsTypes="">
                                      <p:cBhvr>
                                        <p:cTn id="32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8" grpId="1"/>
      <p:bldP spid="9" grpId="0"/>
      <p:bldP spid="10" grpId="0"/>
      <p:bldP spid="10" grpId="1"/>
      <p:bldP spid="11" grpId="0"/>
      <p:bldP spid="12" grpId="0"/>
      <p:bldP spid="12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63316A4C-4128-44AE-8AEF-ED3EB045C86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FC27C8A-85E0-499B-923A-544E2EF8F36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9B4CE50-6AF6-40E1-9BB0-E032044A32B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A3E66E3-4929-4B36-927F-324175EBC99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70D698A-3EC6-4886-B3DD-0F20ED5EA22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710BF92-7C04-4D66-9910-D3E0578DB83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55078CE-BF1B-48F1-9503-3651B362414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57AD272-418B-4D97-AB58-F2A9415377A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12.5 m roll is cut into 40 cm pieces. How many complete pieces can be cut?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2306E0E-8E7D-4289-B959-8C711AEF2E6F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8D5FEB1-20A0-4492-B13E-7A909633245A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7629D3F-C473-4621-A256-683545F56988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3CF3324-879F-428F-B414-4BC8423A04A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E026243-8C19-4B2E-B52B-0CD010AD210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D3CAC69-F114-4A37-BEB1-5ABB2B923234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12.5 m roll is cut into 40 cm pieces. How many complete pieces can be cut?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116B2EE-BBB2-4C30-A29F-0596977E715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BA1ED0F-B649-4627-9F44-7D6DAC6C2D8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Convert 4.375 km to metres.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5F8D8AC-9EFB-4E11-9A6A-78F8814E8671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0847C00-19AD-4BBE-894C-1C6111ECA00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Convert 2.65 kg to grams and 3,750 ml to litres.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704B20B-2BFB-44CA-9093-530C3378602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A91E791-DB31-4F76-9344-8270795E9F38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Write 845 mm in metres.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8062C3D-FAB3-4C91-B3FF-4D22DEB5A072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F4DAE18-4665-4B33-9E97-9BCC6A9AB004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multiplies whenever converting, regardless of the direction between units.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C0884D2-91DD-4610-B4DA-502107A94008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259BF11-E524-4C2B-9247-EA4A7152B32F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8F869DD-1049-4751-A633-D6E05EB0816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8DF29ED-B01A-4F06-A419-2B13A160FEE6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Convert 2.65 kg to grams and 3,750 ml to litres.</a:t>
            </a:r>
          </a:p>
        </p:txBody>
      </p:sp>
    </p:spTree>
    <p:extLst>
      <p:ext uri="{BB962C8B-B14F-4D97-AF65-F5344CB8AC3E}">
        <p14:creationId xmlns:p14="http://schemas.microsoft.com/office/powerpoint/2010/main" val="1751965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AFDB41E2-7365-4119-B35B-64658DFE4A0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B484E72-A281-4A81-91DD-1162FCDD5B5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EEE2AF2-10C5-4091-81F0-4F5A9A0002B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DC08E90-8A43-4B2C-A7CD-E7278F618FC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multi-step measure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C7DD4D4-2029-422B-8B57-D4B46E924EB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6AEE462-8D1A-46E8-A769-2EDF68A64B9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5500750-2D21-4346-92AD-A3687CD2E33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 complete pieces, with 10 cm left.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F854F1F-4C08-4BA3-89A2-2AFC97CB9DD8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5BE0229-4A96-4661-8202-70FD1C42DBF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4,375 m.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754A5AA-6DEA-45A3-9EEA-E9CCA494861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B42FF5B-3762-44AB-8BAC-17672B386408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2,650 g and 3.75 litres.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C506FA7-922F-47B9-836C-1EBA40C84528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51EA8316-B103-4D9F-870F-0E3B25053CA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 complete pieces, with 10 cm left.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A50AA14-310A-4AF0-AEFD-5AA4865525F8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67D1A4D-55E2-4592-8215-264E85CDBA4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4,375 m.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7CF4C7B-E711-4795-85D4-C63592142D6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687066C-8095-4A6F-B517-C949C1CA3DF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2,650 g and 3.75 litres.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D994F7F-D58A-4AB7-9869-69BEF696E80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06142B8-6818-4DCB-9AB1-E4DFBB14E70A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0.845 m.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EE05841-B445-49E5-AF96-6EF1F5EE724E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EB6CF32-FBFE-4AEA-A07E-041942886662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2B07A57-443E-4CF0-B3FC-4FC126639B2C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496CFDE-8476-4A0F-9B17-6922376BEEA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3437B60-E21B-4623-8575-D4E03A0E4BDB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C21B905-D02A-4FA1-94DE-2B3560D8A65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2237658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1005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2026-09-14T13:14:36Z</dcterms:created>
  <dcterms:modified xsi:type="dcterms:W3CDTF">2026-09-14T13:17:32Z</dcterms:modified>
</cp:coreProperties>
</file>