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decimal notation in conversions. Use decimal notation in conversions.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decimal notation in conversions. I do. Each digit moves three place-value columns. The decimal point stays fixed.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decimal notation in conversions. You do. Pause before clicking. Let pupils try independently, then reveal and discuss every step. Each digit moves three place-value columns. The decimal point stays fixed.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decimal notation in conversions. I do. Each digit moves three place-value columns. The decimal point stays fixed.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decimal notation in conversions. You do. Pause before clicking. Let pupils try independently, then reveal and discuss every step. Each digit moves three place-value columns. The decimal point stays fixed.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decimal notation in conversions.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decimal notation in conversions.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0B30CB33-1731-4ED3-AB27-CBFBA8FB298D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Use decimal notation in conversions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4926B94-72E3-422B-B67D-FFA13B1C0ADB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C0C41F88-4BCF-490E-B57D-591FBEC4B7BF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5D4E0B1A-CE72-4040-899E-6925FEFDD375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Use decimal notation in conversions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C05575EC-0802-4E77-B94E-6D267A0F7A59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07EF5265-4FC6-4C33-A73F-696E70B3B6F1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express converted measures using decimals to three places.</a:t>
            </a:r>
          </a:p>
        </p:txBody>
      </p:sp>
    </p:spTree>
    <p:extLst>
      <p:ext uri="{BB962C8B-B14F-4D97-AF65-F5344CB8AC3E}">
        <p14:creationId xmlns:p14="http://schemas.microsoft.com/office/powerpoint/2010/main" val="1467648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-1">
            <a:extLst>
              <a:ext uri="{FF2B5EF4-FFF2-40B4-BE49-F238E27FC236}">
                <a16:creationId xmlns:a16="http://schemas.microsoft.com/office/drawing/2014/main" id="{940B395B-C073-4B95-BBB9-CDCF02BFD47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8369ECB5-AFD4-4934-86D6-653F6AB3669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Convert 845 mm to m.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49FBBB4A-781D-4B8A-A7AE-9873DD9E6255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E4D9ACB0-1FCE-49C4-8FB1-239E1745FFED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Use decimal notation in conversions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988D7D39-300D-420B-91D6-017F9A406E5C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7137E9C-2B32-402A-BE49-A4902D36839C}"/>
              </a:ext>
            </a:extLst>
          </p:cNvPr>
          <p:cNvSpPr>
            <a:spLocks noGrp="1"/>
          </p:cNvSpPr>
          <p:nvPr/>
        </p:nvSpPr>
        <p:spPr>
          <a:xfrm>
            <a:off x="892969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2646DD29-4E39-4B04-84E3-9890D8937EFD}"/>
              </a:ext>
            </a:extLst>
          </p:cNvPr>
          <p:cNvSpPr>
            <a:spLocks noGrp="1"/>
          </p:cNvSpPr>
          <p:nvPr/>
        </p:nvSpPr>
        <p:spPr>
          <a:xfrm>
            <a:off x="892969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10000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4510A7AF-EDE1-4BEE-AB7F-2F1D34B158E0}"/>
              </a:ext>
            </a:extLst>
          </p:cNvPr>
          <p:cNvSpPr>
            <a:spLocks noGrp="1"/>
          </p:cNvSpPr>
          <p:nvPr/>
        </p:nvSpPr>
        <p:spPr>
          <a:xfrm>
            <a:off x="2571750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B2E22525-49A9-48E4-A903-84496524D2A2}"/>
              </a:ext>
            </a:extLst>
          </p:cNvPr>
          <p:cNvSpPr>
            <a:spLocks noGrp="1"/>
          </p:cNvSpPr>
          <p:nvPr/>
        </p:nvSpPr>
        <p:spPr>
          <a:xfrm>
            <a:off x="2571750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585E132F-5D63-4719-AB6B-82581FB59E02}"/>
              </a:ext>
            </a:extLst>
          </p:cNvPr>
          <p:cNvSpPr>
            <a:spLocks noGrp="1"/>
          </p:cNvSpPr>
          <p:nvPr/>
        </p:nvSpPr>
        <p:spPr>
          <a:xfrm>
            <a:off x="4250531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3C96BEA5-49FB-4F84-A612-AAA45CBA5637}"/>
              </a:ext>
            </a:extLst>
          </p:cNvPr>
          <p:cNvSpPr>
            <a:spLocks noGrp="1"/>
          </p:cNvSpPr>
          <p:nvPr/>
        </p:nvSpPr>
        <p:spPr>
          <a:xfrm>
            <a:off x="4250531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E2257AA2-B80E-4853-A1AD-78ECF72BA467}"/>
              </a:ext>
            </a:extLst>
          </p:cNvPr>
          <p:cNvSpPr>
            <a:spLocks noGrp="1"/>
          </p:cNvSpPr>
          <p:nvPr/>
        </p:nvSpPr>
        <p:spPr>
          <a:xfrm>
            <a:off x="5929313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1540D02F-2161-4AD8-A365-612E9043C236}"/>
              </a:ext>
            </a:extLst>
          </p:cNvPr>
          <p:cNvSpPr>
            <a:spLocks noGrp="1"/>
          </p:cNvSpPr>
          <p:nvPr/>
        </p:nvSpPr>
        <p:spPr>
          <a:xfrm>
            <a:off x="5929313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198F46F5-B659-4C25-83FD-F6D000CFA148}"/>
              </a:ext>
            </a:extLst>
          </p:cNvPr>
          <p:cNvSpPr>
            <a:spLocks noGrp="1"/>
          </p:cNvSpPr>
          <p:nvPr/>
        </p:nvSpPr>
        <p:spPr>
          <a:xfrm>
            <a:off x="7608094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B9266490-F413-4BF8-96A4-36697437169B}"/>
              </a:ext>
            </a:extLst>
          </p:cNvPr>
          <p:cNvSpPr>
            <a:spLocks noGrp="1"/>
          </p:cNvSpPr>
          <p:nvPr/>
        </p:nvSpPr>
        <p:spPr>
          <a:xfrm>
            <a:off x="7608094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4C060EB2-75C2-43BE-B47A-269EE505A903}"/>
              </a:ext>
            </a:extLst>
          </p:cNvPr>
          <p:cNvSpPr>
            <a:spLocks noGrp="1"/>
          </p:cNvSpPr>
          <p:nvPr/>
        </p:nvSpPr>
        <p:spPr>
          <a:xfrm>
            <a:off x="9286875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CA81C4F1-B48B-493C-AB06-C1AC32FA079A}"/>
              </a:ext>
            </a:extLst>
          </p:cNvPr>
          <p:cNvSpPr>
            <a:spLocks noGrp="1"/>
          </p:cNvSpPr>
          <p:nvPr/>
        </p:nvSpPr>
        <p:spPr>
          <a:xfrm>
            <a:off x="9286875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3D3B9A4F-1AF6-4380-90AB-93F0366C71D4}"/>
              </a:ext>
            </a:extLst>
          </p:cNvPr>
          <p:cNvSpPr>
            <a:spLocks noGrp="1"/>
          </p:cNvSpPr>
          <p:nvPr/>
        </p:nvSpPr>
        <p:spPr>
          <a:xfrm>
            <a:off x="10965656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3FD1324D-5CCF-4434-BB1B-2B13BCBCF3C2}"/>
              </a:ext>
            </a:extLst>
          </p:cNvPr>
          <p:cNvSpPr>
            <a:spLocks noGrp="1"/>
          </p:cNvSpPr>
          <p:nvPr/>
        </p:nvSpPr>
        <p:spPr>
          <a:xfrm>
            <a:off x="10965656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0.01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329D1B12-E6E9-47F5-9021-7105527F5783}"/>
              </a:ext>
            </a:extLst>
          </p:cNvPr>
          <p:cNvSpPr>
            <a:spLocks noGrp="1"/>
          </p:cNvSpPr>
          <p:nvPr/>
        </p:nvSpPr>
        <p:spPr>
          <a:xfrm>
            <a:off x="12644438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99BCFC14-5E0C-4DA6-8A17-597E8F04664F}"/>
              </a:ext>
            </a:extLst>
          </p:cNvPr>
          <p:cNvSpPr>
            <a:spLocks noGrp="1"/>
          </p:cNvSpPr>
          <p:nvPr/>
        </p:nvSpPr>
        <p:spPr>
          <a:xfrm>
            <a:off x="12644438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0.001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52BD485E-8FE8-44AC-9D35-7F7A5EC9E79C}"/>
              </a:ext>
            </a:extLst>
          </p:cNvPr>
          <p:cNvSpPr>
            <a:spLocks noGrp="1"/>
          </p:cNvSpPr>
          <p:nvPr/>
        </p:nvSpPr>
        <p:spPr>
          <a:xfrm>
            <a:off x="4250531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E2EC3275-970C-4417-837A-7F7F7FCF321E}"/>
              </a:ext>
            </a:extLst>
          </p:cNvPr>
          <p:cNvSpPr>
            <a:spLocks noGrp="1"/>
          </p:cNvSpPr>
          <p:nvPr/>
        </p:nvSpPr>
        <p:spPr>
          <a:xfrm>
            <a:off x="5929313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44890D5A-D022-4A09-935E-3DA0A0778B0F}"/>
              </a:ext>
            </a:extLst>
          </p:cNvPr>
          <p:cNvSpPr>
            <a:spLocks noGrp="1"/>
          </p:cNvSpPr>
          <p:nvPr/>
        </p:nvSpPr>
        <p:spPr>
          <a:xfrm>
            <a:off x="7608094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393C1E4D-AAF0-4AB2-B2EE-BA8AA2B816AE}"/>
              </a:ext>
            </a:extLst>
          </p:cNvPr>
          <p:cNvSpPr>
            <a:spLocks noGrp="1"/>
          </p:cNvSpPr>
          <p:nvPr/>
        </p:nvSpPr>
        <p:spPr>
          <a:xfrm>
            <a:off x="9227344" y="4822031"/>
            <a:ext cx="107156" cy="107156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0E866CCF-4F63-4E53-9003-152C9C4D5847}"/>
              </a:ext>
            </a:extLst>
          </p:cNvPr>
          <p:cNvSpPr>
            <a:spLocks noGrp="1"/>
          </p:cNvSpPr>
          <p:nvPr/>
        </p:nvSpPr>
        <p:spPr>
          <a:xfrm>
            <a:off x="7608094" y="5464969"/>
            <a:ext cx="3571875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63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063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fixed decimal point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05359735-FA23-440C-A6F7-B68791ADC450}"/>
              </a:ext>
            </a:extLst>
          </p:cNvPr>
          <p:cNvSpPr>
            <a:spLocks noGrp="1"/>
          </p:cNvSpPr>
          <p:nvPr/>
        </p:nvSpPr>
        <p:spPr>
          <a:xfrm>
            <a:off x="952500" y="6274594"/>
            <a:ext cx="1333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7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÷ 1000: each digit moves 3 places right.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2BD0FC72-9E8E-42C7-8222-CC099CACE5C4}"/>
              </a:ext>
            </a:extLst>
          </p:cNvPr>
          <p:cNvSpPr>
            <a:spLocks noGrp="1"/>
          </p:cNvSpPr>
          <p:nvPr/>
        </p:nvSpPr>
        <p:spPr>
          <a:xfrm>
            <a:off x="892969" y="7143750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845 mm = 0.845 m</a:t>
            </a:r>
          </a:p>
        </p:txBody>
      </p:sp>
    </p:spTree>
    <p:extLst>
      <p:ext uri="{BB962C8B-B14F-4D97-AF65-F5344CB8AC3E}">
        <p14:creationId xmlns:p14="http://schemas.microsoft.com/office/powerpoint/2010/main" val="525645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3046875 0 E" pathEditMode="relative" ptsTypes="">
                                      <p:cBhvr>
                                        <p:cTn id="6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3046875 0 E" pathEditMode="relative" ptsTypes="">
                                      <p:cBhvr>
                                        <p:cTn id="8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3046875 0 E" pathEditMode="relative" ptsTypes="">
                                      <p:cBhvr>
                                        <p:cTn id="10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7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-1">
            <a:extLst>
              <a:ext uri="{FF2B5EF4-FFF2-40B4-BE49-F238E27FC236}">
                <a16:creationId xmlns:a16="http://schemas.microsoft.com/office/drawing/2014/main" id="{B72656DE-ACC3-4114-BF4B-168366ED0F5D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2B0F7E5-EDA2-4814-BA1D-EC45C7BE5A57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F058E807-14B9-484B-89D3-4CE7C8E4DC42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Convert 846 mm to m.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64D635E-666A-454B-8863-732B13026983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EC01B748-6C5C-472F-AA8A-F9ED2817CE0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Use decimal notation in conversions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8A89DC5-60CB-4CC2-B2FC-49B07701FEAF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0397A0B1-26E5-4067-904C-64E30B58243D}"/>
              </a:ext>
            </a:extLst>
          </p:cNvPr>
          <p:cNvSpPr>
            <a:spLocks noGrp="1"/>
          </p:cNvSpPr>
          <p:nvPr/>
        </p:nvSpPr>
        <p:spPr>
          <a:xfrm>
            <a:off x="892969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B043AC31-E77F-4F1E-AC5A-7FA6DA4B0D3F}"/>
              </a:ext>
            </a:extLst>
          </p:cNvPr>
          <p:cNvSpPr>
            <a:spLocks noGrp="1"/>
          </p:cNvSpPr>
          <p:nvPr/>
        </p:nvSpPr>
        <p:spPr>
          <a:xfrm>
            <a:off x="892969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10000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5247B285-5F97-4AE8-A6A7-D2E45F624C80}"/>
              </a:ext>
            </a:extLst>
          </p:cNvPr>
          <p:cNvSpPr>
            <a:spLocks noGrp="1"/>
          </p:cNvSpPr>
          <p:nvPr/>
        </p:nvSpPr>
        <p:spPr>
          <a:xfrm>
            <a:off x="2571750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85681A91-C009-46D9-B0B0-DA0FD596AD7D}"/>
              </a:ext>
            </a:extLst>
          </p:cNvPr>
          <p:cNvSpPr>
            <a:spLocks noGrp="1"/>
          </p:cNvSpPr>
          <p:nvPr/>
        </p:nvSpPr>
        <p:spPr>
          <a:xfrm>
            <a:off x="2571750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65497E74-8B08-4AA6-94DF-543EE6B2BFC9}"/>
              </a:ext>
            </a:extLst>
          </p:cNvPr>
          <p:cNvSpPr>
            <a:spLocks noGrp="1"/>
          </p:cNvSpPr>
          <p:nvPr/>
        </p:nvSpPr>
        <p:spPr>
          <a:xfrm>
            <a:off x="4250531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8C2ADAEB-8E0A-4A7A-9D5F-C038816C50B6}"/>
              </a:ext>
            </a:extLst>
          </p:cNvPr>
          <p:cNvSpPr>
            <a:spLocks noGrp="1"/>
          </p:cNvSpPr>
          <p:nvPr/>
        </p:nvSpPr>
        <p:spPr>
          <a:xfrm>
            <a:off x="4250531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E50435F1-7011-4403-865B-5015E4267203}"/>
              </a:ext>
            </a:extLst>
          </p:cNvPr>
          <p:cNvSpPr>
            <a:spLocks noGrp="1"/>
          </p:cNvSpPr>
          <p:nvPr/>
        </p:nvSpPr>
        <p:spPr>
          <a:xfrm>
            <a:off x="5929313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5080F3CA-6B9E-4ACF-8A1C-BF4B3E961B58}"/>
              </a:ext>
            </a:extLst>
          </p:cNvPr>
          <p:cNvSpPr>
            <a:spLocks noGrp="1"/>
          </p:cNvSpPr>
          <p:nvPr/>
        </p:nvSpPr>
        <p:spPr>
          <a:xfrm>
            <a:off x="5929313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D710BBF6-80FB-4CEA-BF59-22B45CB642C7}"/>
              </a:ext>
            </a:extLst>
          </p:cNvPr>
          <p:cNvSpPr>
            <a:spLocks noGrp="1"/>
          </p:cNvSpPr>
          <p:nvPr/>
        </p:nvSpPr>
        <p:spPr>
          <a:xfrm>
            <a:off x="7608094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A98B41F9-A273-4C9A-85C2-102996397D74}"/>
              </a:ext>
            </a:extLst>
          </p:cNvPr>
          <p:cNvSpPr>
            <a:spLocks noGrp="1"/>
          </p:cNvSpPr>
          <p:nvPr/>
        </p:nvSpPr>
        <p:spPr>
          <a:xfrm>
            <a:off x="7608094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F1112F2B-51A5-4BF3-94BE-B96748E5C2BE}"/>
              </a:ext>
            </a:extLst>
          </p:cNvPr>
          <p:cNvSpPr>
            <a:spLocks noGrp="1"/>
          </p:cNvSpPr>
          <p:nvPr/>
        </p:nvSpPr>
        <p:spPr>
          <a:xfrm>
            <a:off x="9286875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C9046029-39D4-4538-B520-83A1919D37A0}"/>
              </a:ext>
            </a:extLst>
          </p:cNvPr>
          <p:cNvSpPr>
            <a:spLocks noGrp="1"/>
          </p:cNvSpPr>
          <p:nvPr/>
        </p:nvSpPr>
        <p:spPr>
          <a:xfrm>
            <a:off x="9286875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64B9EFF3-3D53-4F6D-8393-49569263883F}"/>
              </a:ext>
            </a:extLst>
          </p:cNvPr>
          <p:cNvSpPr>
            <a:spLocks noGrp="1"/>
          </p:cNvSpPr>
          <p:nvPr/>
        </p:nvSpPr>
        <p:spPr>
          <a:xfrm>
            <a:off x="10965656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56AA7E32-797F-4648-8E90-BC62A8F4DFD8}"/>
              </a:ext>
            </a:extLst>
          </p:cNvPr>
          <p:cNvSpPr>
            <a:spLocks noGrp="1"/>
          </p:cNvSpPr>
          <p:nvPr/>
        </p:nvSpPr>
        <p:spPr>
          <a:xfrm>
            <a:off x="10965656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0.01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87CA2BF5-002A-4B69-ACF7-2BC2053E5A2F}"/>
              </a:ext>
            </a:extLst>
          </p:cNvPr>
          <p:cNvSpPr>
            <a:spLocks noGrp="1"/>
          </p:cNvSpPr>
          <p:nvPr/>
        </p:nvSpPr>
        <p:spPr>
          <a:xfrm>
            <a:off x="12644438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F632D13B-B86C-4CCC-B738-B427305EF141}"/>
              </a:ext>
            </a:extLst>
          </p:cNvPr>
          <p:cNvSpPr>
            <a:spLocks noGrp="1"/>
          </p:cNvSpPr>
          <p:nvPr/>
        </p:nvSpPr>
        <p:spPr>
          <a:xfrm>
            <a:off x="12644438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0.001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4A834618-243F-4E98-9985-239E967A3CB4}"/>
              </a:ext>
            </a:extLst>
          </p:cNvPr>
          <p:cNvSpPr>
            <a:spLocks noGrp="1"/>
          </p:cNvSpPr>
          <p:nvPr/>
        </p:nvSpPr>
        <p:spPr>
          <a:xfrm>
            <a:off x="4250531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B8BDB863-D69B-452D-A758-1B41E5EBEF62}"/>
              </a:ext>
            </a:extLst>
          </p:cNvPr>
          <p:cNvSpPr>
            <a:spLocks noGrp="1"/>
          </p:cNvSpPr>
          <p:nvPr/>
        </p:nvSpPr>
        <p:spPr>
          <a:xfrm>
            <a:off x="5929313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18E6235B-9220-4559-B24E-1250263E8318}"/>
              </a:ext>
            </a:extLst>
          </p:cNvPr>
          <p:cNvSpPr>
            <a:spLocks noGrp="1"/>
          </p:cNvSpPr>
          <p:nvPr/>
        </p:nvSpPr>
        <p:spPr>
          <a:xfrm>
            <a:off x="7608094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21A56B80-6FEF-4574-A012-2473E8EF60BA}"/>
              </a:ext>
            </a:extLst>
          </p:cNvPr>
          <p:cNvSpPr>
            <a:spLocks noGrp="1"/>
          </p:cNvSpPr>
          <p:nvPr/>
        </p:nvSpPr>
        <p:spPr>
          <a:xfrm>
            <a:off x="9227344" y="4822031"/>
            <a:ext cx="107156" cy="107156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7FA37B4E-EAE5-4C1C-AD4C-2204A4779C66}"/>
              </a:ext>
            </a:extLst>
          </p:cNvPr>
          <p:cNvSpPr>
            <a:spLocks noGrp="1"/>
          </p:cNvSpPr>
          <p:nvPr/>
        </p:nvSpPr>
        <p:spPr>
          <a:xfrm>
            <a:off x="7608094" y="5464969"/>
            <a:ext cx="3571875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63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063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fixed decimal point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2E5C3D02-3757-4ADD-8C5E-224AA01DC660}"/>
              </a:ext>
            </a:extLst>
          </p:cNvPr>
          <p:cNvSpPr>
            <a:spLocks noGrp="1"/>
          </p:cNvSpPr>
          <p:nvPr/>
        </p:nvSpPr>
        <p:spPr>
          <a:xfrm>
            <a:off x="952500" y="6274594"/>
            <a:ext cx="1333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7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÷ 1000: each digit moves 3 places right.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3EAF9475-6E9C-4D68-8C7E-AB5EFCB8A355}"/>
              </a:ext>
            </a:extLst>
          </p:cNvPr>
          <p:cNvSpPr>
            <a:spLocks noGrp="1"/>
          </p:cNvSpPr>
          <p:nvPr/>
        </p:nvSpPr>
        <p:spPr>
          <a:xfrm>
            <a:off x="892969" y="7143750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846 mm = 0.846 m</a:t>
            </a:r>
          </a:p>
        </p:txBody>
      </p:sp>
    </p:spTree>
    <p:extLst>
      <p:ext uri="{BB962C8B-B14F-4D97-AF65-F5344CB8AC3E}">
        <p14:creationId xmlns:p14="http://schemas.microsoft.com/office/powerpoint/2010/main" val="871786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3046875 0 E" pathEditMode="relative" ptsTypes="">
                                      <p:cBhvr>
                                        <p:cTn id="6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3046875 0 E" pathEditMode="relative" ptsTypes="">
                                      <p:cBhvr>
                                        <p:cTn id="8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3046875 0 E" pathEditMode="relative" ptsTypes="">
                                      <p:cBhvr>
                                        <p:cTn id="10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-1">
            <a:extLst>
              <a:ext uri="{FF2B5EF4-FFF2-40B4-BE49-F238E27FC236}">
                <a16:creationId xmlns:a16="http://schemas.microsoft.com/office/drawing/2014/main" id="{B38A56B7-3D6E-4037-8076-5BE8A003E90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969E7F3F-06F6-4170-926B-035F7888E66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Convert 847 mm to m.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4182868E-BDF6-4402-A6A1-2B849E210620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B07F056C-EDE4-42B8-AB02-09DED2E169BF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Use decimal notation in conversions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EB1D7FF8-B938-4FDF-9ABD-526DB5C3D511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078EA763-5A59-43BC-A3A6-7B951C1FB892}"/>
              </a:ext>
            </a:extLst>
          </p:cNvPr>
          <p:cNvSpPr>
            <a:spLocks noGrp="1"/>
          </p:cNvSpPr>
          <p:nvPr/>
        </p:nvSpPr>
        <p:spPr>
          <a:xfrm>
            <a:off x="892969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F309F9EA-E789-4333-A41E-27D4EB7952AD}"/>
              </a:ext>
            </a:extLst>
          </p:cNvPr>
          <p:cNvSpPr>
            <a:spLocks noGrp="1"/>
          </p:cNvSpPr>
          <p:nvPr/>
        </p:nvSpPr>
        <p:spPr>
          <a:xfrm>
            <a:off x="892969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10000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346270A9-B66C-4C94-BDE8-37F3EF5F885F}"/>
              </a:ext>
            </a:extLst>
          </p:cNvPr>
          <p:cNvSpPr>
            <a:spLocks noGrp="1"/>
          </p:cNvSpPr>
          <p:nvPr/>
        </p:nvSpPr>
        <p:spPr>
          <a:xfrm>
            <a:off x="2571750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A36A519-7F48-40FB-86CD-20BB61D3B843}"/>
              </a:ext>
            </a:extLst>
          </p:cNvPr>
          <p:cNvSpPr>
            <a:spLocks noGrp="1"/>
          </p:cNvSpPr>
          <p:nvPr/>
        </p:nvSpPr>
        <p:spPr>
          <a:xfrm>
            <a:off x="2571750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F638AE76-1FE9-4A43-A896-8ED9F7E04E6F}"/>
              </a:ext>
            </a:extLst>
          </p:cNvPr>
          <p:cNvSpPr>
            <a:spLocks noGrp="1"/>
          </p:cNvSpPr>
          <p:nvPr/>
        </p:nvSpPr>
        <p:spPr>
          <a:xfrm>
            <a:off x="4250531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BBCB5638-FDE6-4FB4-8E20-92B2B8F06241}"/>
              </a:ext>
            </a:extLst>
          </p:cNvPr>
          <p:cNvSpPr>
            <a:spLocks noGrp="1"/>
          </p:cNvSpPr>
          <p:nvPr/>
        </p:nvSpPr>
        <p:spPr>
          <a:xfrm>
            <a:off x="4250531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8554D77A-FEB8-4CE2-B095-A9763CEF5669}"/>
              </a:ext>
            </a:extLst>
          </p:cNvPr>
          <p:cNvSpPr>
            <a:spLocks noGrp="1"/>
          </p:cNvSpPr>
          <p:nvPr/>
        </p:nvSpPr>
        <p:spPr>
          <a:xfrm>
            <a:off x="5929313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A69C10A8-98E7-498E-8767-08DEDC094DA8}"/>
              </a:ext>
            </a:extLst>
          </p:cNvPr>
          <p:cNvSpPr>
            <a:spLocks noGrp="1"/>
          </p:cNvSpPr>
          <p:nvPr/>
        </p:nvSpPr>
        <p:spPr>
          <a:xfrm>
            <a:off x="5929313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8A5AB93D-1DAD-41E8-9616-BC0B3AB2DB5B}"/>
              </a:ext>
            </a:extLst>
          </p:cNvPr>
          <p:cNvSpPr>
            <a:spLocks noGrp="1"/>
          </p:cNvSpPr>
          <p:nvPr/>
        </p:nvSpPr>
        <p:spPr>
          <a:xfrm>
            <a:off x="7608094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B62F38E8-0A4F-470B-A58C-E6A50CD59C00}"/>
              </a:ext>
            </a:extLst>
          </p:cNvPr>
          <p:cNvSpPr>
            <a:spLocks noGrp="1"/>
          </p:cNvSpPr>
          <p:nvPr/>
        </p:nvSpPr>
        <p:spPr>
          <a:xfrm>
            <a:off x="7608094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62FAFA81-D910-49EF-B7BA-3FCFDEF49241}"/>
              </a:ext>
            </a:extLst>
          </p:cNvPr>
          <p:cNvSpPr>
            <a:spLocks noGrp="1"/>
          </p:cNvSpPr>
          <p:nvPr/>
        </p:nvSpPr>
        <p:spPr>
          <a:xfrm>
            <a:off x="9286875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00407138-8F0E-4DE6-9974-F1C3FC545224}"/>
              </a:ext>
            </a:extLst>
          </p:cNvPr>
          <p:cNvSpPr>
            <a:spLocks noGrp="1"/>
          </p:cNvSpPr>
          <p:nvPr/>
        </p:nvSpPr>
        <p:spPr>
          <a:xfrm>
            <a:off x="9286875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61DDE2BE-B42E-4AAD-A271-DEB3B3712B92}"/>
              </a:ext>
            </a:extLst>
          </p:cNvPr>
          <p:cNvSpPr>
            <a:spLocks noGrp="1"/>
          </p:cNvSpPr>
          <p:nvPr/>
        </p:nvSpPr>
        <p:spPr>
          <a:xfrm>
            <a:off x="10965656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F6FC3C72-1732-488A-BADF-E0EC58F19F43}"/>
              </a:ext>
            </a:extLst>
          </p:cNvPr>
          <p:cNvSpPr>
            <a:spLocks noGrp="1"/>
          </p:cNvSpPr>
          <p:nvPr/>
        </p:nvSpPr>
        <p:spPr>
          <a:xfrm>
            <a:off x="10965656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0.01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EBFC340C-5C7B-4701-BD7E-59C3C7649991}"/>
              </a:ext>
            </a:extLst>
          </p:cNvPr>
          <p:cNvSpPr>
            <a:spLocks noGrp="1"/>
          </p:cNvSpPr>
          <p:nvPr/>
        </p:nvSpPr>
        <p:spPr>
          <a:xfrm>
            <a:off x="12644438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769B0117-863B-4982-A1D7-90DC04BB2A64}"/>
              </a:ext>
            </a:extLst>
          </p:cNvPr>
          <p:cNvSpPr>
            <a:spLocks noGrp="1"/>
          </p:cNvSpPr>
          <p:nvPr/>
        </p:nvSpPr>
        <p:spPr>
          <a:xfrm>
            <a:off x="12644438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0.001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BED8BAD5-08C5-42F6-AE6F-4D3D0C969031}"/>
              </a:ext>
            </a:extLst>
          </p:cNvPr>
          <p:cNvSpPr>
            <a:spLocks noGrp="1"/>
          </p:cNvSpPr>
          <p:nvPr/>
        </p:nvSpPr>
        <p:spPr>
          <a:xfrm>
            <a:off x="4250531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BC4B591E-C675-4FB2-ADC4-97EF368D1113}"/>
              </a:ext>
            </a:extLst>
          </p:cNvPr>
          <p:cNvSpPr>
            <a:spLocks noGrp="1"/>
          </p:cNvSpPr>
          <p:nvPr/>
        </p:nvSpPr>
        <p:spPr>
          <a:xfrm>
            <a:off x="5929313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2FD7E27F-77EE-45C7-8395-6091D00E959F}"/>
              </a:ext>
            </a:extLst>
          </p:cNvPr>
          <p:cNvSpPr>
            <a:spLocks noGrp="1"/>
          </p:cNvSpPr>
          <p:nvPr/>
        </p:nvSpPr>
        <p:spPr>
          <a:xfrm>
            <a:off x="7608094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8F8BCCEC-3A8B-4EE7-9CEC-228AB277EC80}"/>
              </a:ext>
            </a:extLst>
          </p:cNvPr>
          <p:cNvSpPr>
            <a:spLocks noGrp="1"/>
          </p:cNvSpPr>
          <p:nvPr/>
        </p:nvSpPr>
        <p:spPr>
          <a:xfrm>
            <a:off x="9227344" y="4822031"/>
            <a:ext cx="107156" cy="107156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3D09AF8A-B0E8-48C0-BCA8-7ECB08DD606B}"/>
              </a:ext>
            </a:extLst>
          </p:cNvPr>
          <p:cNvSpPr>
            <a:spLocks noGrp="1"/>
          </p:cNvSpPr>
          <p:nvPr/>
        </p:nvSpPr>
        <p:spPr>
          <a:xfrm>
            <a:off x="7608094" y="5464969"/>
            <a:ext cx="3571875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63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063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fixed decimal point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91C08A39-0E4B-4AE6-B681-7CA7787A7BB1}"/>
              </a:ext>
            </a:extLst>
          </p:cNvPr>
          <p:cNvSpPr>
            <a:spLocks noGrp="1"/>
          </p:cNvSpPr>
          <p:nvPr/>
        </p:nvSpPr>
        <p:spPr>
          <a:xfrm>
            <a:off x="952500" y="6274594"/>
            <a:ext cx="1333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7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÷ 1000: each digit moves 3 places right.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666F2B59-1B30-4392-B3F2-24464F08B3DE}"/>
              </a:ext>
            </a:extLst>
          </p:cNvPr>
          <p:cNvSpPr>
            <a:spLocks noGrp="1"/>
          </p:cNvSpPr>
          <p:nvPr/>
        </p:nvSpPr>
        <p:spPr>
          <a:xfrm>
            <a:off x="892969" y="7143750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847 mm = 0.847 m</a:t>
            </a:r>
          </a:p>
        </p:txBody>
      </p:sp>
    </p:spTree>
    <p:extLst>
      <p:ext uri="{BB962C8B-B14F-4D97-AF65-F5344CB8AC3E}">
        <p14:creationId xmlns:p14="http://schemas.microsoft.com/office/powerpoint/2010/main" val="1140110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3046875 0 E" pathEditMode="relative" ptsTypes="">
                                      <p:cBhvr>
                                        <p:cTn id="6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3046875 0 E" pathEditMode="relative" ptsTypes="">
                                      <p:cBhvr>
                                        <p:cTn id="8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3046875 0 E" pathEditMode="relative" ptsTypes="">
                                      <p:cBhvr>
                                        <p:cTn id="10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7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-1">
            <a:extLst>
              <a:ext uri="{FF2B5EF4-FFF2-40B4-BE49-F238E27FC236}">
                <a16:creationId xmlns:a16="http://schemas.microsoft.com/office/drawing/2014/main" id="{DF4B4D19-74BB-418D-8741-19E8FE871DCB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9F832945-B53B-4C0F-9620-FBA764871A1E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C6A95CAF-E6C1-4960-BADC-977FDB1378E2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Convert 848 mm to m.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267A3A10-2775-4752-8D75-83E5A809081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80FC27F2-769D-42A0-AB42-DA39138E6746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Use decimal notation in conversions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33957D0-35D7-4F21-96D8-C04B2E1F0A8A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DE25890A-93A6-439C-8CB8-75AA1D053998}"/>
              </a:ext>
            </a:extLst>
          </p:cNvPr>
          <p:cNvSpPr>
            <a:spLocks noGrp="1"/>
          </p:cNvSpPr>
          <p:nvPr/>
        </p:nvSpPr>
        <p:spPr>
          <a:xfrm>
            <a:off x="892969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DD85F5C9-EA3F-4743-BB7A-E334D39E75F8}"/>
              </a:ext>
            </a:extLst>
          </p:cNvPr>
          <p:cNvSpPr>
            <a:spLocks noGrp="1"/>
          </p:cNvSpPr>
          <p:nvPr/>
        </p:nvSpPr>
        <p:spPr>
          <a:xfrm>
            <a:off x="892969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10000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2E1D66CC-31E8-4CB7-9882-00304E8DA117}"/>
              </a:ext>
            </a:extLst>
          </p:cNvPr>
          <p:cNvSpPr>
            <a:spLocks noGrp="1"/>
          </p:cNvSpPr>
          <p:nvPr/>
        </p:nvSpPr>
        <p:spPr>
          <a:xfrm>
            <a:off x="2571750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ABC3BA46-AC0D-40D0-8D56-A5E5F19A2D19}"/>
              </a:ext>
            </a:extLst>
          </p:cNvPr>
          <p:cNvSpPr>
            <a:spLocks noGrp="1"/>
          </p:cNvSpPr>
          <p:nvPr/>
        </p:nvSpPr>
        <p:spPr>
          <a:xfrm>
            <a:off x="2571750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077457C4-6387-4DB6-A5F3-3AB24B4B7009}"/>
              </a:ext>
            </a:extLst>
          </p:cNvPr>
          <p:cNvSpPr>
            <a:spLocks noGrp="1"/>
          </p:cNvSpPr>
          <p:nvPr/>
        </p:nvSpPr>
        <p:spPr>
          <a:xfrm>
            <a:off x="4250531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78215CCF-398E-48B1-8F26-F97BD3235FCB}"/>
              </a:ext>
            </a:extLst>
          </p:cNvPr>
          <p:cNvSpPr>
            <a:spLocks noGrp="1"/>
          </p:cNvSpPr>
          <p:nvPr/>
        </p:nvSpPr>
        <p:spPr>
          <a:xfrm>
            <a:off x="4250531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B7850FEE-3BB9-42E1-A448-99710EAF32FA}"/>
              </a:ext>
            </a:extLst>
          </p:cNvPr>
          <p:cNvSpPr>
            <a:spLocks noGrp="1"/>
          </p:cNvSpPr>
          <p:nvPr/>
        </p:nvSpPr>
        <p:spPr>
          <a:xfrm>
            <a:off x="5929313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433E5BCC-2E81-4287-A673-A364B82C30D9}"/>
              </a:ext>
            </a:extLst>
          </p:cNvPr>
          <p:cNvSpPr>
            <a:spLocks noGrp="1"/>
          </p:cNvSpPr>
          <p:nvPr/>
        </p:nvSpPr>
        <p:spPr>
          <a:xfrm>
            <a:off x="5929313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86BAD8B6-1A81-40C6-B1CB-184FA7D0B449}"/>
              </a:ext>
            </a:extLst>
          </p:cNvPr>
          <p:cNvSpPr>
            <a:spLocks noGrp="1"/>
          </p:cNvSpPr>
          <p:nvPr/>
        </p:nvSpPr>
        <p:spPr>
          <a:xfrm>
            <a:off x="7608094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747E4563-EC59-4BF3-8E49-AE341DAAA3D1}"/>
              </a:ext>
            </a:extLst>
          </p:cNvPr>
          <p:cNvSpPr>
            <a:spLocks noGrp="1"/>
          </p:cNvSpPr>
          <p:nvPr/>
        </p:nvSpPr>
        <p:spPr>
          <a:xfrm>
            <a:off x="7608094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291779C3-77C4-4D2A-BE38-3E73CD9A9AD0}"/>
              </a:ext>
            </a:extLst>
          </p:cNvPr>
          <p:cNvSpPr>
            <a:spLocks noGrp="1"/>
          </p:cNvSpPr>
          <p:nvPr/>
        </p:nvSpPr>
        <p:spPr>
          <a:xfrm>
            <a:off x="9286875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964DB85C-B57C-497B-9DE6-4B07DDE7C930}"/>
              </a:ext>
            </a:extLst>
          </p:cNvPr>
          <p:cNvSpPr>
            <a:spLocks noGrp="1"/>
          </p:cNvSpPr>
          <p:nvPr/>
        </p:nvSpPr>
        <p:spPr>
          <a:xfrm>
            <a:off x="9286875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D98B3BCD-91D1-4035-B008-75C6C8B48E3B}"/>
              </a:ext>
            </a:extLst>
          </p:cNvPr>
          <p:cNvSpPr>
            <a:spLocks noGrp="1"/>
          </p:cNvSpPr>
          <p:nvPr/>
        </p:nvSpPr>
        <p:spPr>
          <a:xfrm>
            <a:off x="10965656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4B7B5383-9F2E-44C0-8D62-AFFA26746974}"/>
              </a:ext>
            </a:extLst>
          </p:cNvPr>
          <p:cNvSpPr>
            <a:spLocks noGrp="1"/>
          </p:cNvSpPr>
          <p:nvPr/>
        </p:nvSpPr>
        <p:spPr>
          <a:xfrm>
            <a:off x="10965656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0.01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EC31B186-6452-427A-9CF1-97E53604019D}"/>
              </a:ext>
            </a:extLst>
          </p:cNvPr>
          <p:cNvSpPr>
            <a:spLocks noGrp="1"/>
          </p:cNvSpPr>
          <p:nvPr/>
        </p:nvSpPr>
        <p:spPr>
          <a:xfrm>
            <a:off x="12644438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0AE88287-D1A1-4701-9B1A-E82A6C7B91D5}"/>
              </a:ext>
            </a:extLst>
          </p:cNvPr>
          <p:cNvSpPr>
            <a:spLocks noGrp="1"/>
          </p:cNvSpPr>
          <p:nvPr/>
        </p:nvSpPr>
        <p:spPr>
          <a:xfrm>
            <a:off x="12644438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0.001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5F539F41-CFF3-49E0-A0D3-15FB76A17A58}"/>
              </a:ext>
            </a:extLst>
          </p:cNvPr>
          <p:cNvSpPr>
            <a:spLocks noGrp="1"/>
          </p:cNvSpPr>
          <p:nvPr/>
        </p:nvSpPr>
        <p:spPr>
          <a:xfrm>
            <a:off x="4250531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2822BEFA-28A2-4B00-B9FB-DFB0C7E1A2C2}"/>
              </a:ext>
            </a:extLst>
          </p:cNvPr>
          <p:cNvSpPr>
            <a:spLocks noGrp="1"/>
          </p:cNvSpPr>
          <p:nvPr/>
        </p:nvSpPr>
        <p:spPr>
          <a:xfrm>
            <a:off x="5929313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36D21507-E41C-4593-954A-77B79E86CFC3}"/>
              </a:ext>
            </a:extLst>
          </p:cNvPr>
          <p:cNvSpPr>
            <a:spLocks noGrp="1"/>
          </p:cNvSpPr>
          <p:nvPr/>
        </p:nvSpPr>
        <p:spPr>
          <a:xfrm>
            <a:off x="7608094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2419B224-7739-46C4-9C03-C0D9BE285C2F}"/>
              </a:ext>
            </a:extLst>
          </p:cNvPr>
          <p:cNvSpPr>
            <a:spLocks noGrp="1"/>
          </p:cNvSpPr>
          <p:nvPr/>
        </p:nvSpPr>
        <p:spPr>
          <a:xfrm>
            <a:off x="9227344" y="4822031"/>
            <a:ext cx="107156" cy="107156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69858630-CA8D-40DF-8224-489EC813B0A1}"/>
              </a:ext>
            </a:extLst>
          </p:cNvPr>
          <p:cNvSpPr>
            <a:spLocks noGrp="1"/>
          </p:cNvSpPr>
          <p:nvPr/>
        </p:nvSpPr>
        <p:spPr>
          <a:xfrm>
            <a:off x="7608094" y="5464969"/>
            <a:ext cx="3571875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63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063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fixed decimal point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CCB23D04-A40F-4F3C-B7E4-24DA38265CF6}"/>
              </a:ext>
            </a:extLst>
          </p:cNvPr>
          <p:cNvSpPr>
            <a:spLocks noGrp="1"/>
          </p:cNvSpPr>
          <p:nvPr/>
        </p:nvSpPr>
        <p:spPr>
          <a:xfrm>
            <a:off x="952500" y="6274594"/>
            <a:ext cx="1333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7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÷ 1000: each digit moves 3 places right.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B48CB29F-A4AD-442C-AFE9-1415A5AC8FA6}"/>
              </a:ext>
            </a:extLst>
          </p:cNvPr>
          <p:cNvSpPr>
            <a:spLocks noGrp="1"/>
          </p:cNvSpPr>
          <p:nvPr/>
        </p:nvSpPr>
        <p:spPr>
          <a:xfrm>
            <a:off x="892969" y="7143750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848 mm = 0.848 m</a:t>
            </a:r>
          </a:p>
        </p:txBody>
      </p:sp>
    </p:spTree>
    <p:extLst>
      <p:ext uri="{BB962C8B-B14F-4D97-AF65-F5344CB8AC3E}">
        <p14:creationId xmlns:p14="http://schemas.microsoft.com/office/powerpoint/2010/main" val="298004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3046875 0 E" pathEditMode="relative" ptsTypes="">
                                      <p:cBhvr>
                                        <p:cTn id="6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3046875 0 E" pathEditMode="relative" ptsTypes="">
                                      <p:cBhvr>
                                        <p:cTn id="8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3046875 0 E" pathEditMode="relative" ptsTypes="">
                                      <p:cBhvr>
                                        <p:cTn id="10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6963162A-FF5A-4C79-B837-72D61FCCD41B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C21A088-EAAD-42FA-84CC-591FE0B2EC07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5EA6D72D-0B13-4093-991F-3182AEC25F02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379B6A6F-8A40-420B-80F3-23A18E21115C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F1F1A9B7-8A7E-4894-8D11-50581652C55B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Use decimal notation in conversions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8CCDC60A-EFD3-4F34-AC0C-E75AAAC616E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3110F099-9E7E-432F-941A-EF2E33179A8C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DC00B8DE-E1DA-4305-B9D1-FD0A22C85EA1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845 mm in metres.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2E0E4157-BB8C-4302-9C95-D325FF44A458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4B06A7C6-6C33-48E1-B866-38FDEB79376B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5 miles is about 8 km. Estimate 30 miles in kilometres.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6ED3EF6F-9EDC-46A0-896B-219935279A99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99DCBBCF-6877-4AEA-B516-A49DA602CA2A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12.5 m roll is cut into 40 cm pieces. How many complete pieces can be cut?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629862F1-2047-4C49-BB56-6CFA702344AB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D41E4A54-6FCE-4F2E-9256-2E561D270C8E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Write 845 mm in metres.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7011FB2F-27AC-4836-A5B1-6C5034C00F1C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686783A3-7C8E-4F08-A694-0AFA3B0A20FC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Use 5 miles is about 8 km. Estimate 30 miles in kilometres.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E639FF4B-F06A-46E2-8E07-D4434E03266E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630D9AC3-3FC9-4C82-8A69-448681B31F07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A 12.5 m roll is cut into 40 cm pieces. How many complete pieces can be cut?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579BAA9A-B12C-4B18-996F-FC15FEB3A0AD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34D0681D-E24D-4930-A913-EA2EBADE2316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Convert 4.375 km to metres.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D9CD50D8-9047-4457-8C2D-90633C6C687F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A8CE6B9F-D591-4E7C-8CC9-8FE7B3F3E466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multiplies whenever converting, regardless of the direction between units.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C6D7DFAA-CC1E-4DE1-9A89-34C5B1A6772B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D9055AD0-1B85-43A3-9BC5-62AE3F33E313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D98F8586-1B21-4813-A6B9-E6767DA8E976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CE7D7C58-650D-4718-9971-CB9BC89EED3E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A 12.5 m roll is cut into 40 cm pieces. How many complete pieces can be cut?</a:t>
            </a:r>
          </a:p>
        </p:txBody>
      </p:sp>
    </p:spTree>
    <p:extLst>
      <p:ext uri="{BB962C8B-B14F-4D97-AF65-F5344CB8AC3E}">
        <p14:creationId xmlns:p14="http://schemas.microsoft.com/office/powerpoint/2010/main" val="917889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9F990E48-E8B7-422D-B944-B090A548502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25C2D201-C410-44FD-92C5-884D04609F55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64113B3-76F1-4A23-90B6-E5474B2642C0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BF27819D-FF9F-4D2E-8F97-78DA0A0EA963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Use decimal notation in conversions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64C779CF-D609-41E0-AD88-040BF520C1E9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DA7F252-D156-452A-8453-E7EA8B63B099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777F17EE-E969-42F1-859A-7503A157B7C6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0.845 m.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3846431E-BA61-4A2A-9432-DB9676A7D6A7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23C9C084-C39A-4901-AF4D-6C906A3711D5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About 48 km.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93E15C0C-B833-4B60-BA92-D865F4CD2EF2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3421162B-382C-481D-995A-DFD9FBE4CBDD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31 complete pieces, with 10 cm left.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DF8540E2-DF64-4FDC-BC6D-4967D08E1A66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A18688A7-88FB-45F6-9664-FFB7410AA6AD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0.845 m.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5AB2AE71-B40D-4881-815D-7EBD6AC0F418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1C3D1B70-3993-4E86-8D97-0639A8C225F1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About 48 km.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CBD66456-100E-49B1-A05C-98EB276C6003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0B2E647F-AF3B-4318-BA17-90293931A31E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31 complete pieces, with 10 cm left.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464594CE-E169-4F07-8153-09FB566A188C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780BDC36-DE38-400B-A9B0-A704C57EF2F1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4,375 m.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C3DB037E-E5C4-4DF0-AE0F-0CA5A1E3BDE7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10F9D62D-C928-4E36-9FE9-53B3C070A046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Use the size of the target unit to decide the direction, then check whether the numerical value should grow or shrink.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B567861E-1D5D-4CF4-810D-56529BEDC54D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04FEE90C-4DE0-492D-8AE8-4F038E520133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8E119A04-FC77-49BC-BC55-8105CE426CD9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65E44FF0-6CC1-4726-B7B7-91C5F47316E0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14228710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1007</Words>
  <Application>Microsoft Office PowerPoint</Application>
  <DocSecurity>0</DocSecurity>
  <PresentationFormat>Custom</PresentationFormat>
  <Paragraphs>142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2026-09-14T13:14:35Z</dcterms:created>
  <dcterms:modified xsi:type="dcterms:W3CDTF">2026-09-14T13:17:30Z</dcterms:modified>
</cp:coreProperties>
</file>