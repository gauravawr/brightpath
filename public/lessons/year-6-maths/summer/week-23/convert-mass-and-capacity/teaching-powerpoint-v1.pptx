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Convert mass and capacity.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I do.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You do. Pause before clicking. Let pupils try independently, then reveal and discuss every step. Each digit moves three place-value columns. The decimal point stays fixed.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Convert mass and capacity.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4EAFEEA3-730F-4F6A-B90F-9FA920A0731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Convert mass and capacity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8402362-EDD5-48AF-BD50-135DCAFB5550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2AC477F-4635-4400-8CB3-D951FB67BE2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DF435A8-A607-4E93-8C8C-CB9C40D7054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6AEEC43-D4AF-456E-9814-6DC8BA94377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C376051-0B6A-4BD8-A7EE-4832D020BD45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convert between grams, kilograms, millilitres and litres.</a:t>
            </a:r>
          </a:p>
        </p:txBody>
      </p:sp>
    </p:spTree>
    <p:extLst>
      <p:ext uri="{BB962C8B-B14F-4D97-AF65-F5344CB8AC3E}">
        <p14:creationId xmlns:p14="http://schemas.microsoft.com/office/powerpoint/2010/main" val="145637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2FABD362-D0D3-4496-B286-F32AD8303A9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2CC32EC-59F3-4D8E-835C-F4B2CF81227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2.65 kg to g.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39E5305-1FCA-4A56-B5F7-A9A207A662E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489F578-3F4A-4373-B84F-7A17A20411A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BB8C926-34A6-4236-9434-282FD550A7F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73BEB1E-117A-40D2-84E7-C7F6A0B1973F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7DD165B-8A96-4B5D-BA1E-985DA0BA1106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7D2A649-6B96-4F81-AEAE-61109EB249AB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784F764-93E7-4FF9-B70C-9C0B3424C2A7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78C67EC-166F-4133-B0D2-3AB05699258E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6E21EAB-10BA-4A80-912B-BDDEC7487F65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E1D5737-316A-489C-82C5-0A47E24585BC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98D943D-AD2D-4C58-A8C5-507FEC290379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DEBFD74-C463-47AD-A1DC-7373753C06FF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A45880B-3331-4766-AC73-DB81D26EAA24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5F24897-B93C-46D2-8ADA-9F9BCDA25892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9DA2845-ABA2-4011-BDF5-D4F41372FDF4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F6DC748F-B980-4995-9182-D82E18663384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122B5F4-DC8E-47B4-956F-5CF1A80BFD25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72B0FEF-808B-499C-B0DE-967FD9EEF01A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881A271-6641-43A8-9469-2E1BC0A3C1D2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064ABE8-724E-493A-945B-39E72BD5D0AB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8183614-522E-4E5D-B627-5A35DA348C24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9A9432D-838C-47D6-9D77-6C153587ED37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1E367C8-67E0-4BF0-8FB5-9AB045EA0112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E9337E6-3CF5-4B55-B391-652FD0C51029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9F2FB29-B02B-400D-9F80-999F1200D0B3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A1D0F64-223E-466F-B328-5F92B784EB26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2.65 kg = 2,650 g</a:t>
            </a:r>
          </a:p>
        </p:txBody>
      </p:sp>
    </p:spTree>
    <p:extLst>
      <p:ext uri="{BB962C8B-B14F-4D97-AF65-F5344CB8AC3E}">
        <p14:creationId xmlns:p14="http://schemas.microsoft.com/office/powerpoint/2010/main" val="171437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C8F4AC6F-BF8A-4102-A588-4E8E9584734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0C211FF-1712-4CDD-9108-3E2C389E582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DA7DB85-E824-4CB9-B8C0-758B7325AAC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3.65 kg to g.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C0FA172-80A4-48B5-AF8C-53AD5FB32D2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BCBB201-D8FF-4DB8-BA46-8FEF5D0D30A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BA588E1-FF89-407E-94A3-0E4292B5B27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2FF0A36-4D11-4C59-8765-D9249D071219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2B9065F-4A02-4ED7-BCB4-2F6E51D99E1C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0739CED-438B-4B29-AA42-7BB8A1EB07CC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4E4707D-92AA-4E4A-80F4-B8B840C5F4FA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95EC353-9C89-48F4-8C62-DF8D69FBB629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3797652-8762-442F-AD5D-C84501194444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DE656BA-9064-4286-AF8E-1809C0AA3397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D32C35A-4D6D-4700-85FE-6A2C492F3EB7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14751D9-F098-403D-BDF3-4C58103BBD50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B19E7C6-995F-4197-9DE8-8E120146A63C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7B2AB17-0853-4389-AB67-954AF4FF62B0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7D6EADF-EBD7-4D48-A779-A4A18CEF308A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642EDC9-928E-4847-BABC-A1B146DA7276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6678F98-D065-418D-82A9-D4BADB7B934F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1AD0FF6-94D1-4348-B8E5-C6EC0E37DA0B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250F314-64D1-4B41-A3B3-4BDB06C59FB6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638CE45-E979-4F2A-84B3-29B976EAF1F4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C50C657-DE43-493F-BD02-64FD3AB697AA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DD60CF2-3FAA-4A6F-BE07-DBEF7E8AB708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E96BD80-8A86-41D8-969B-A522C3AB923D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76B1EAC-64B4-4920-A331-413CCD61ACCC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6EBA61B6-2A00-4375-B6C4-DDA66815FE74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BE60113-19E5-48B1-AA8D-C91CA4C08208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3.65 kg = 3,650 g</a:t>
            </a:r>
          </a:p>
        </p:txBody>
      </p:sp>
    </p:spTree>
    <p:extLst>
      <p:ext uri="{BB962C8B-B14F-4D97-AF65-F5344CB8AC3E}">
        <p14:creationId xmlns:p14="http://schemas.microsoft.com/office/powerpoint/2010/main" val="2015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9E8E8E44-F8C9-450B-81E1-B273A99F0EC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DD29F8A-BFD4-47C3-A147-C03FDB6B015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4.65 kg to g.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CE2CBD2-A1BC-48D4-86F9-75E10280ED9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9F07F81-2600-4F50-AE48-1894F4B6D16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D466A4A-D2FF-4A58-9DD3-FC60C534646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DDDD2EC-EC66-46AE-915D-871C584B00F4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BF386B9-5BF9-4C53-B18E-E9BC7B8CCEE1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144434E-3C83-492F-B07B-0B1A7BAB5891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C70B021-2B91-411C-AFDD-4D08D42A1A25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03E053D-7471-4958-AAB1-60F50B826E96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75E97DA-1CAB-4AE3-9ABE-2026B05B68C5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20B8A1E-12CB-47AE-A8B6-505BBE926D96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3DD31C6-A18E-4F89-94AD-1AA6360EF5E0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A3BD80D-6207-43F8-8992-BF104C167B32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769A2F3-D1A9-4B0D-8622-D742FF0E52FD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AAA3128-5938-474A-9B63-6D2C55F28AEF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C306F8D-537B-4ED3-9A23-C93E0750B1BB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83D33AA-69E5-441B-AF0F-CFE8C0DEB96F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D249036-B387-4EB7-99E6-8ED83765F055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EB28500-A097-4C81-A5EE-F123EFFA92BA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0F73B0A-7570-48BE-83A1-F3DA76F82985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F03E0EC-A596-4D7F-B8A5-E39BBAA2C68C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8C44992-9C6D-496B-B0E0-802E3EA76ED2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FA73000-B2A9-471C-9A33-AEA06ACE6C29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34746D5-4E68-413F-8760-EFCCC07C76A6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CEA0FBF-70DF-45E8-9C8C-46E96C24646C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B550F576-D2A4-4629-896D-2CF133C3D3F9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19E7C09-6F5F-43C9-8C78-458C8B27638D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4.65 kg = 4,650 g</a:t>
            </a:r>
          </a:p>
        </p:txBody>
      </p:sp>
    </p:spTree>
    <p:extLst>
      <p:ext uri="{BB962C8B-B14F-4D97-AF65-F5344CB8AC3E}">
        <p14:creationId xmlns:p14="http://schemas.microsoft.com/office/powerpoint/2010/main" val="213693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029EC2AA-0F93-41E8-970F-ACB6EFB55CE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236A450-4785-4D69-9244-A17235AC00D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AD8297A-248D-46D3-807D-280AF69FB95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5.65 kg to g.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715FEFB-878B-4FEE-827A-184283BF8F3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C08E8B7-6ADE-4204-A39D-F0B79932BD3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BA12A39-7AD1-47EB-865C-E6D0E04BF6E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9324B5B-BB8C-4F63-BB94-E06522B0418A}"/>
              </a:ext>
            </a:extLst>
          </p:cNvPr>
          <p:cNvSpPr>
            <a:spLocks noGrp="1"/>
          </p:cNvSpPr>
          <p:nvPr/>
        </p:nvSpPr>
        <p:spPr>
          <a:xfrm>
            <a:off x="892969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C10854A-80BC-43D1-8FB7-B4EDAA341F15}"/>
              </a:ext>
            </a:extLst>
          </p:cNvPr>
          <p:cNvSpPr>
            <a:spLocks noGrp="1"/>
          </p:cNvSpPr>
          <p:nvPr/>
        </p:nvSpPr>
        <p:spPr>
          <a:xfrm>
            <a:off x="892969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4454FD8-27AF-4E72-BDE1-B86775A1ABFD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C600E98-51B9-4021-A066-D2D3B782E77B}"/>
              </a:ext>
            </a:extLst>
          </p:cNvPr>
          <p:cNvSpPr>
            <a:spLocks noGrp="1"/>
          </p:cNvSpPr>
          <p:nvPr/>
        </p:nvSpPr>
        <p:spPr>
          <a:xfrm>
            <a:off x="2571750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5183A59-5755-4762-A28C-08CE1F63B527}"/>
              </a:ext>
            </a:extLst>
          </p:cNvPr>
          <p:cNvSpPr>
            <a:spLocks noGrp="1"/>
          </p:cNvSpPr>
          <p:nvPr/>
        </p:nvSpPr>
        <p:spPr>
          <a:xfrm>
            <a:off x="4250531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9DB60AE-16C0-4DE4-82EE-CF670154E247}"/>
              </a:ext>
            </a:extLst>
          </p:cNvPr>
          <p:cNvSpPr>
            <a:spLocks noGrp="1"/>
          </p:cNvSpPr>
          <p:nvPr/>
        </p:nvSpPr>
        <p:spPr>
          <a:xfrm>
            <a:off x="4250531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7F80A46-559E-43DC-885E-20ACD5DED48B}"/>
              </a:ext>
            </a:extLst>
          </p:cNvPr>
          <p:cNvSpPr>
            <a:spLocks noGrp="1"/>
          </p:cNvSpPr>
          <p:nvPr/>
        </p:nvSpPr>
        <p:spPr>
          <a:xfrm>
            <a:off x="5929313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912A6EA-8E04-4C7E-802B-4C3F14EEFB0A}"/>
              </a:ext>
            </a:extLst>
          </p:cNvPr>
          <p:cNvSpPr>
            <a:spLocks noGrp="1"/>
          </p:cNvSpPr>
          <p:nvPr/>
        </p:nvSpPr>
        <p:spPr>
          <a:xfrm>
            <a:off x="5929313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766EE59-FC5C-44CE-98AC-F41F6ED029BF}"/>
              </a:ext>
            </a:extLst>
          </p:cNvPr>
          <p:cNvSpPr>
            <a:spLocks noGrp="1"/>
          </p:cNvSpPr>
          <p:nvPr/>
        </p:nvSpPr>
        <p:spPr>
          <a:xfrm>
            <a:off x="7608094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BF16A85-1418-4C23-9930-0D7F29C7B72F}"/>
              </a:ext>
            </a:extLst>
          </p:cNvPr>
          <p:cNvSpPr>
            <a:spLocks noGrp="1"/>
          </p:cNvSpPr>
          <p:nvPr/>
        </p:nvSpPr>
        <p:spPr>
          <a:xfrm>
            <a:off x="7608094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3233525-4854-4E68-98C3-07811AFB5C42}"/>
              </a:ext>
            </a:extLst>
          </p:cNvPr>
          <p:cNvSpPr>
            <a:spLocks noGrp="1"/>
          </p:cNvSpPr>
          <p:nvPr/>
        </p:nvSpPr>
        <p:spPr>
          <a:xfrm>
            <a:off x="9286875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B5A582A-8DF7-4E51-8E7E-1CC16AE6CFEA}"/>
              </a:ext>
            </a:extLst>
          </p:cNvPr>
          <p:cNvSpPr>
            <a:spLocks noGrp="1"/>
          </p:cNvSpPr>
          <p:nvPr/>
        </p:nvSpPr>
        <p:spPr>
          <a:xfrm>
            <a:off x="9286875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F21D037-144E-42ED-A058-832F69B877D4}"/>
              </a:ext>
            </a:extLst>
          </p:cNvPr>
          <p:cNvSpPr>
            <a:spLocks noGrp="1"/>
          </p:cNvSpPr>
          <p:nvPr/>
        </p:nvSpPr>
        <p:spPr>
          <a:xfrm>
            <a:off x="10965656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0CD2824-7769-4C4E-B20C-E713458652C8}"/>
              </a:ext>
            </a:extLst>
          </p:cNvPr>
          <p:cNvSpPr>
            <a:spLocks noGrp="1"/>
          </p:cNvSpPr>
          <p:nvPr/>
        </p:nvSpPr>
        <p:spPr>
          <a:xfrm>
            <a:off x="10965656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7CC4179-B6B1-4E38-B212-23371CF8F002}"/>
              </a:ext>
            </a:extLst>
          </p:cNvPr>
          <p:cNvSpPr>
            <a:spLocks noGrp="1"/>
          </p:cNvSpPr>
          <p:nvPr/>
        </p:nvSpPr>
        <p:spPr>
          <a:xfrm>
            <a:off x="12644438" y="3810000"/>
            <a:ext cx="1678781" cy="1547813"/>
          </a:xfrm>
          <a:prstGeom prst="rect">
            <a:avLst/>
          </a:prstGeom>
          <a:solidFill>
            <a:srgbClr val="EFF6FF"/>
          </a:solidFill>
          <a:ln w="11906">
            <a:solidFill>
              <a:srgbClr val="BCD0EA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730CB86-F527-496A-AB61-8518E782C7C8}"/>
              </a:ext>
            </a:extLst>
          </p:cNvPr>
          <p:cNvSpPr>
            <a:spLocks noGrp="1"/>
          </p:cNvSpPr>
          <p:nvPr/>
        </p:nvSpPr>
        <p:spPr>
          <a:xfrm>
            <a:off x="12644438" y="3059906"/>
            <a:ext cx="1678781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56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56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0.001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2EAE4DC-8404-4029-AE7D-11F960266E14}"/>
              </a:ext>
            </a:extLst>
          </p:cNvPr>
          <p:cNvSpPr>
            <a:spLocks noGrp="1"/>
          </p:cNvSpPr>
          <p:nvPr/>
        </p:nvSpPr>
        <p:spPr>
          <a:xfrm>
            <a:off x="7608094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F5579C3-C894-4B9A-BB1A-D69B79F4657C}"/>
              </a:ext>
            </a:extLst>
          </p:cNvPr>
          <p:cNvSpPr>
            <a:spLocks noGrp="1"/>
          </p:cNvSpPr>
          <p:nvPr/>
        </p:nvSpPr>
        <p:spPr>
          <a:xfrm>
            <a:off x="9286875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2935B01-EEA4-413D-BDC7-77338DAEF445}"/>
              </a:ext>
            </a:extLst>
          </p:cNvPr>
          <p:cNvSpPr>
            <a:spLocks noGrp="1"/>
          </p:cNvSpPr>
          <p:nvPr/>
        </p:nvSpPr>
        <p:spPr>
          <a:xfrm>
            <a:off x="10965656" y="4131469"/>
            <a:ext cx="1678781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6780A3C-EE59-41E2-BE4C-8DFA50890988}"/>
              </a:ext>
            </a:extLst>
          </p:cNvPr>
          <p:cNvSpPr>
            <a:spLocks noGrp="1"/>
          </p:cNvSpPr>
          <p:nvPr/>
        </p:nvSpPr>
        <p:spPr>
          <a:xfrm>
            <a:off x="9227344" y="4822031"/>
            <a:ext cx="107156" cy="107156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320DC9F-6BB2-4647-B3A7-624A386223EB}"/>
              </a:ext>
            </a:extLst>
          </p:cNvPr>
          <p:cNvSpPr>
            <a:spLocks noGrp="1"/>
          </p:cNvSpPr>
          <p:nvPr/>
        </p:nvSpPr>
        <p:spPr>
          <a:xfrm>
            <a:off x="7608094" y="5464969"/>
            <a:ext cx="3571875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63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63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fixed decimal point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CEF9462-9BE7-4035-A5D8-A1E6E82DA312}"/>
              </a:ext>
            </a:extLst>
          </p:cNvPr>
          <p:cNvSpPr>
            <a:spLocks noGrp="1"/>
          </p:cNvSpPr>
          <p:nvPr/>
        </p:nvSpPr>
        <p:spPr>
          <a:xfrm>
            <a:off x="952500" y="6274594"/>
            <a:ext cx="1333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7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× 1000: each digit moves 3 places left.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3C15F33-251F-4DA9-A691-811BC8A4D509}"/>
              </a:ext>
            </a:extLst>
          </p:cNvPr>
          <p:cNvSpPr>
            <a:spLocks noGrp="1"/>
          </p:cNvSpPr>
          <p:nvPr/>
        </p:nvSpPr>
        <p:spPr>
          <a:xfrm>
            <a:off x="892969" y="7143750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5.65 kg = 5,650 g</a:t>
            </a:r>
          </a:p>
        </p:txBody>
      </p:sp>
    </p:spTree>
    <p:extLst>
      <p:ext uri="{BB962C8B-B14F-4D97-AF65-F5344CB8AC3E}">
        <p14:creationId xmlns:p14="http://schemas.microsoft.com/office/powerpoint/2010/main" val="26694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046875 0 E" pathEditMode="relative" ptsTypes="">
                                      <p:cBhvr>
                                        <p:cTn id="10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D8C66686-9692-438D-991F-43714245B2F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AEF78E7-4887-4126-858C-3AB8D3EE81A5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0776651-3951-4728-AC00-343DAA95A6A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DA10287-F791-486B-B858-C71FADE2BC0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15E1954-D0A2-4192-B006-CB62E4B4B52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9580FF2-1E17-43CD-A7F4-35B13CED06E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3860C68-A0C0-42C0-B51E-725A9977BEE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D421994-E27E-4FEC-8D48-640B23AC9CE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Convert 2.65 kg to grams and 3,750 ml to litres.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2A03D56-C3C9-42D7-98CC-519D7ABD89D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06D5884-EF49-47E5-91EB-E896620480CC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845 mm in metres.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FD250FC-775D-4911-AC0C-8D08264F71DE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BD90CF6-167F-47E1-AAEC-CB336CB771CD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5 miles is about 8 km. Estimate 30 miles in kilometres.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847D964-811E-427C-BEAC-B01D744BBB6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0F0D980-DFC8-4F9B-926C-FEFE4B3AE844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Convert 2.65 kg to grams and 3,750 ml to litres.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E8C587A-8CB8-445F-A15C-69A5FC5DE34F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6AA2238-83BD-439C-8FCB-1D3D547B4424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Write 845 mm in metres.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64F588C-4FAC-4144-ACAE-41804AA9241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27DAC47-519A-4AF8-A6E8-5A456C95024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Use 5 miles is about 8 km. Estimate 30 miles in kilometres.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ED1C4D7-66F9-4D70-B9DC-207B5472C57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D2B7BBD-D387-4E25-AE95-59FCED9913B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12.5 m roll is cut into 40 cm pieces. How many complete pieces can be cut?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82C2812-68DF-4341-9B27-F42B5A49C370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429BA9A-130E-4B63-B638-C8765B5322C5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multiplies whenever converting, regardless of the direction between units.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EE911C8-F8D3-4A94-BC3A-F93D52E47C5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126F85B-4126-4BC2-820C-E0D2E670E93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BD89A9C-3051-4068-843A-BBDD26D88134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CFFFAE6-87B3-4A86-8E15-40EC87F5AC5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Use 5 miles is about 8 km. Estimate 30 miles in kilometres.</a:t>
            </a:r>
          </a:p>
        </p:txBody>
      </p:sp>
    </p:spTree>
    <p:extLst>
      <p:ext uri="{BB962C8B-B14F-4D97-AF65-F5344CB8AC3E}">
        <p14:creationId xmlns:p14="http://schemas.microsoft.com/office/powerpoint/2010/main" val="46470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F6B21DBD-4AEF-45B2-BCF2-296D725EAB2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4CE4458-2113-4258-A945-3FDEADE177B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B877F3B-6009-47EB-9195-D4919EB312D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1A23BE8-16D7-4015-81D2-39AA8BC1568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Convert mass and capacity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6519981-1622-43C7-B5BA-A55864D5502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B08064F-3DF8-4A76-BE9B-CF215F7B6C0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376F28B-29A2-409C-B2E8-8ADA20D8DD9D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2,650 g and 3.75 litres.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08A04F8-6B0A-4815-ABAC-BD0B8B15BC0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1CA3B61-4938-4803-8BEE-0DE94B26041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0.845 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23BB60F-8F2A-4C9E-B024-7D7D8EB07D5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91CA605-8E33-4044-8106-756D33E2E70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About 48 km.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A4E89E0-99D5-4B5F-AD91-CE8E908CE52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EE70B00-4631-4FB5-AAF5-3A47EDA7CB4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2,650 g and 3.75 litres.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2B1B317-3D71-43DC-995E-7D88934DAEA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72301E8-395B-4B83-AEA5-E95771979A8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0.845 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681F14E-E6B3-4435-B268-CB7F8E7947A7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89BF040-9F3F-4DD6-B44C-11C47B742D49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About 48 km.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D8CE65D-36AC-47DF-8D71-DAC7DA5DE6A7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9F74731-9D88-44F4-A629-99C8CA5556F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31 complete pieces, with 10 cm left.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8677C2A-956F-4F04-B648-136E77392E23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9DA30F5-2E02-4A62-AA86-AF7B6368401D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the size of the target unit to decide the direction, then check whether the numerical value should grow or shrink.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6389C4C-DDBF-4D11-8AE3-96DBD9DE051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40CECFD-B805-4380-8FE1-6F3B7A7BC231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F88FE35-F09A-456B-AD9F-FFCC1730E17E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F57AE7E-0314-4892-9669-16232E972142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925489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Microsoft Office PowerPoint</Application>
  <DocSecurity>0</DocSecurity>
  <PresentationFormat>Custom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2026-09-14T13:14:35Z</dcterms:created>
  <dcterms:modified xsi:type="dcterms:W3CDTF">2026-09-14T13:17:29Z</dcterms:modified>
</cp:coreProperties>
</file>