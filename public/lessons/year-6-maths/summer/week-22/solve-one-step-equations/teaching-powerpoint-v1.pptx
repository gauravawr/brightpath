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one-step equations. Solve one-step equations.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one-step equations. I do. Keep both sides equal. Undo addition or subtraction on both sides, then divide both sides by the coefficient.</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one-step equations. You do. Pause before clicking. Let pupils try independently, then reveal and discuss every step. Keep both sides equal. Undo addition or subtraction on both sides, then divide both sides by the coefficient.</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one-step equations. I do. Keep both sides equal. Undo addition or subtraction on both sides, then divide both sides by the coefficient.</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one-step equations. You do. Pause before clicking. Let pupils try independently, then reveal and discuss every step. Keep both sides equal. Undo addition or subtraction on both sides, then divide both sides by the coefficient.</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one-step equations.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one-step equations.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D4DCCFF1-6F05-4A69-A257-0E987A8889B9}"/>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Solve one-step equations</a:t>
            </a:r>
          </a:p>
        </p:txBody>
      </p:sp>
      <p:sp>
        <p:nvSpPr>
          <p:cNvPr id="2" name="object-2">
            <a:extLst>
              <a:ext uri="{FF2B5EF4-FFF2-40B4-BE49-F238E27FC236}">
                <a16:creationId xmlns:a16="http://schemas.microsoft.com/office/drawing/2014/main" id="{3BFACA0A-7768-438D-A234-CE1F65EFA9A7}"/>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194FC5CF-05AB-4ABF-8BD1-E70AD69FDC0D}"/>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DA766FF3-E3CE-415D-B9FE-511E9A65D70C}"/>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one-step equations</a:t>
            </a:r>
          </a:p>
        </p:txBody>
      </p:sp>
      <p:sp>
        <p:nvSpPr>
          <p:cNvPr id="5" name="object-5">
            <a:extLst>
              <a:ext uri="{FF2B5EF4-FFF2-40B4-BE49-F238E27FC236}">
                <a16:creationId xmlns:a16="http://schemas.microsoft.com/office/drawing/2014/main" id="{96B337E7-E6F5-48E2-823C-45F5FAD35DC3}"/>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0B322707-3965-4611-8CBA-6819E844E432}"/>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solve one-step equations using inverse operations.</a:t>
            </a:r>
          </a:p>
        </p:txBody>
      </p:sp>
    </p:spTree>
    <p:extLst>
      <p:ext uri="{BB962C8B-B14F-4D97-AF65-F5344CB8AC3E}">
        <p14:creationId xmlns:p14="http://schemas.microsoft.com/office/powerpoint/2010/main" val="20063935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object-1">
            <a:extLst>
              <a:ext uri="{FF2B5EF4-FFF2-40B4-BE49-F238E27FC236}">
                <a16:creationId xmlns:a16="http://schemas.microsoft.com/office/drawing/2014/main" id="{27B3C62C-4626-4CAA-BAAD-4A1C751589EE}"/>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766CAAE9-ADDB-4489-ADFA-82A2BB730F2E}"/>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Solve x + 38 = 91.</a:t>
            </a:r>
          </a:p>
        </p:txBody>
      </p:sp>
      <p:sp>
        <p:nvSpPr>
          <p:cNvPr id="3" name="object-3">
            <a:extLst>
              <a:ext uri="{FF2B5EF4-FFF2-40B4-BE49-F238E27FC236}">
                <a16:creationId xmlns:a16="http://schemas.microsoft.com/office/drawing/2014/main" id="{4D6EBD59-C893-4977-AC6F-0863E37B17AB}"/>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CA1F4F17-A94E-418F-8DD8-9F172323CF1E}"/>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one-step equations</a:t>
            </a:r>
          </a:p>
        </p:txBody>
      </p:sp>
      <p:sp>
        <p:nvSpPr>
          <p:cNvPr id="5" name="object-5">
            <a:extLst>
              <a:ext uri="{FF2B5EF4-FFF2-40B4-BE49-F238E27FC236}">
                <a16:creationId xmlns:a16="http://schemas.microsoft.com/office/drawing/2014/main" id="{14362269-7084-4365-8D0E-CBD266A18A2C}"/>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8F36D078-21F0-40C9-88F2-D427D404F557}"/>
              </a:ext>
            </a:extLst>
          </p:cNvPr>
          <p:cNvSpPr>
            <a:spLocks noGrp="1"/>
          </p:cNvSpPr>
          <p:nvPr/>
        </p:nvSpPr>
        <p:spPr>
          <a:xfrm>
            <a:off x="1309688" y="3095625"/>
            <a:ext cx="7143750" cy="1071563"/>
          </a:xfrm>
          <a:prstGeom prst="rect">
            <a:avLst/>
          </a:prstGeom>
          <a:solidFill>
            <a:srgbClr val="EFF6FF"/>
          </a:solidFill>
          <a:ln w="23813">
            <a:solidFill>
              <a:srgbClr val="1D4ED8"/>
            </a:solidFill>
          </a:ln>
        </p:spPr>
      </p:sp>
      <p:sp>
        <p:nvSpPr>
          <p:cNvPr id="7" name="object-7">
            <a:extLst>
              <a:ext uri="{FF2B5EF4-FFF2-40B4-BE49-F238E27FC236}">
                <a16:creationId xmlns:a16="http://schemas.microsoft.com/office/drawing/2014/main" id="{F453BB92-3EFE-487E-B944-7522FA5299E1}"/>
              </a:ext>
            </a:extLst>
          </p:cNvPr>
          <p:cNvSpPr>
            <a:spLocks noGrp="1"/>
          </p:cNvSpPr>
          <p:nvPr/>
        </p:nvSpPr>
        <p:spPr>
          <a:xfrm>
            <a:off x="1309688" y="3178969"/>
            <a:ext cx="7143750"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8" name="object-8">
            <a:extLst>
              <a:ext uri="{FF2B5EF4-FFF2-40B4-BE49-F238E27FC236}">
                <a16:creationId xmlns:a16="http://schemas.microsoft.com/office/drawing/2014/main" id="{0DBFC78A-CBAD-485C-BE33-43D542338DC0}"/>
              </a:ext>
            </a:extLst>
          </p:cNvPr>
          <p:cNvSpPr>
            <a:spLocks noGrp="1"/>
          </p:cNvSpPr>
          <p:nvPr/>
        </p:nvSpPr>
        <p:spPr>
          <a:xfrm>
            <a:off x="8870156" y="3155156"/>
            <a:ext cx="2083594" cy="892969"/>
          </a:xfrm>
          <a:prstGeom prst="rect">
            <a:avLst/>
          </a:prstGeom>
          <a:noFill/>
          <a:ln w="0">
            <a:noFill/>
          </a:ln>
        </p:spPr>
        <p:txBody>
          <a:bodyPr anchor="ctr">
            <a:noAutofit/>
          </a:bodyPr>
          <a:lstStyle/>
          <a:p>
            <a:pPr algn="l">
              <a:defRPr sz="3938" b="1">
                <a:solidFill>
                  <a:srgbClr val="9A5800"/>
                </a:solidFill>
                <a:latin typeface="Arial"/>
                <a:ea typeface="Arial"/>
                <a:cs typeface="Arial"/>
              </a:defRPr>
            </a:pPr>
            <a:r>
              <a:rPr sz="3938" b="1">
                <a:solidFill>
                  <a:srgbClr val="9A5800"/>
                </a:solidFill>
                <a:latin typeface="Arial"/>
                <a:ea typeface="Arial"/>
                <a:cs typeface="Arial"/>
              </a:rPr>
              <a:t>+ 38</a:t>
            </a:r>
          </a:p>
        </p:txBody>
      </p:sp>
      <p:sp>
        <p:nvSpPr>
          <p:cNvPr id="9" name="object-9">
            <a:extLst>
              <a:ext uri="{FF2B5EF4-FFF2-40B4-BE49-F238E27FC236}">
                <a16:creationId xmlns:a16="http://schemas.microsoft.com/office/drawing/2014/main" id="{E66900E6-42F2-4F1E-9ACF-49D4E1013F49}"/>
              </a:ext>
            </a:extLst>
          </p:cNvPr>
          <p:cNvSpPr>
            <a:spLocks noGrp="1"/>
          </p:cNvSpPr>
          <p:nvPr/>
        </p:nvSpPr>
        <p:spPr>
          <a:xfrm>
            <a:off x="11549063" y="3155156"/>
            <a:ext cx="2857500" cy="892969"/>
          </a:xfrm>
          <a:prstGeom prst="rect">
            <a:avLst/>
          </a:prstGeom>
          <a:noFill/>
          <a:ln w="0">
            <a:noFill/>
          </a:ln>
        </p:spPr>
        <p:txBody>
          <a:bodyPr anchor="ctr">
            <a:noAutofit/>
          </a:bodyPr>
          <a:lstStyle/>
          <a:p>
            <a:pPr algn="l">
              <a:defRPr sz="4031" b="1">
                <a:solidFill>
                  <a:srgbClr val="172B4D"/>
                </a:solidFill>
                <a:latin typeface="Arial"/>
                <a:ea typeface="Arial"/>
                <a:cs typeface="Arial"/>
              </a:defRPr>
            </a:pPr>
            <a:r>
              <a:rPr sz="4031" b="1">
                <a:solidFill>
                  <a:srgbClr val="172B4D"/>
                </a:solidFill>
                <a:latin typeface="Arial"/>
                <a:ea typeface="Arial"/>
                <a:cs typeface="Arial"/>
              </a:rPr>
              <a:t>= 91</a:t>
            </a:r>
          </a:p>
        </p:txBody>
      </p:sp>
      <p:sp>
        <p:nvSpPr>
          <p:cNvPr id="10" name="object-10">
            <a:extLst>
              <a:ext uri="{FF2B5EF4-FFF2-40B4-BE49-F238E27FC236}">
                <a16:creationId xmlns:a16="http://schemas.microsoft.com/office/drawing/2014/main" id="{A2F0C9D2-7A19-46F4-9BDD-9DE2491DD862}"/>
              </a:ext>
            </a:extLst>
          </p:cNvPr>
          <p:cNvSpPr>
            <a:spLocks noGrp="1"/>
          </p:cNvSpPr>
          <p:nvPr/>
        </p:nvSpPr>
        <p:spPr>
          <a:xfrm>
            <a:off x="2024063" y="4643438"/>
            <a:ext cx="11191875" cy="714375"/>
          </a:xfrm>
          <a:prstGeom prst="rect">
            <a:avLst/>
          </a:prstGeom>
          <a:noFill/>
          <a:ln w="0">
            <a:noFill/>
          </a:ln>
        </p:spPr>
        <p:txBody>
          <a:bodyPr anchor="ctr">
            <a:noAutofit/>
          </a:bodyPr>
          <a:lstStyle/>
          <a:p>
            <a:pPr algn="ctr">
              <a:defRPr sz="2906" b="1">
                <a:solidFill>
                  <a:srgbClr val="9A5800"/>
                </a:solidFill>
                <a:latin typeface="Arial"/>
                <a:ea typeface="Arial"/>
                <a:cs typeface="Arial"/>
              </a:defRPr>
            </a:pPr>
            <a:r>
              <a:rPr sz="2906" b="1">
                <a:solidFill>
                  <a:srgbClr val="9A5800"/>
                </a:solidFill>
                <a:latin typeface="Arial"/>
                <a:ea typeface="Arial"/>
                <a:cs typeface="Arial"/>
              </a:rPr>
              <a:t>Subtract 38 on both sides</a:t>
            </a:r>
          </a:p>
        </p:txBody>
      </p:sp>
      <p:sp>
        <p:nvSpPr>
          <p:cNvPr id="11" name="object-11">
            <a:extLst>
              <a:ext uri="{FF2B5EF4-FFF2-40B4-BE49-F238E27FC236}">
                <a16:creationId xmlns:a16="http://schemas.microsoft.com/office/drawing/2014/main" id="{96DC7867-D6F2-4657-AD9F-94257AE45B6B}"/>
              </a:ext>
            </a:extLst>
          </p:cNvPr>
          <p:cNvSpPr>
            <a:spLocks noGrp="1"/>
          </p:cNvSpPr>
          <p:nvPr/>
        </p:nvSpPr>
        <p:spPr>
          <a:xfrm>
            <a:off x="2381250" y="5655469"/>
            <a:ext cx="10477500"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1x = 53</a:t>
            </a:r>
          </a:p>
        </p:txBody>
      </p:sp>
      <p:sp>
        <p:nvSpPr>
          <p:cNvPr id="12" name="object-12">
            <a:extLst>
              <a:ext uri="{FF2B5EF4-FFF2-40B4-BE49-F238E27FC236}">
                <a16:creationId xmlns:a16="http://schemas.microsoft.com/office/drawing/2014/main" id="{8B60A7C8-B989-40C1-BD2D-5481781C82E2}"/>
              </a:ext>
            </a:extLst>
          </p:cNvPr>
          <p:cNvSpPr>
            <a:spLocks noGrp="1"/>
          </p:cNvSpPr>
          <p:nvPr/>
        </p:nvSpPr>
        <p:spPr>
          <a:xfrm>
            <a:off x="7977188" y="6667500"/>
            <a:ext cx="4286250" cy="773906"/>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x = 53</a:t>
            </a:r>
          </a:p>
        </p:txBody>
      </p:sp>
    </p:spTree>
    <p:extLst>
      <p:ext uri="{BB962C8B-B14F-4D97-AF65-F5344CB8AC3E}">
        <p14:creationId xmlns:p14="http://schemas.microsoft.com/office/powerpoint/2010/main" val="1539351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par>
                          <p:cTn id="15" fill="hold">
                            <p:stCondLst>
                              <p:cond delay="0"/>
                            </p:stCondLst>
                            <p:childTnLst>
                              <p:par>
                                <p:cTn id="16" presetID="63" presetClass="path" presetSubtype="0" accel="50000" decel="50000" fill="hold" grpId="1" nodeType="afterEffect">
                                  <p:stCondLst>
                                    <p:cond delay="0"/>
                                  </p:stCondLst>
                                  <p:childTnLst>
                                    <p:animMotion origin="layout" path="M 0 0 L -0.125 0 E" pathEditMode="relative" ptsTypes="">
                                      <p:cBhvr>
                                        <p:cTn id="17" dur="800" fill="hold"/>
                                        <p:tgtEl>
                                          <p:spTgt spid="1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12" grpId="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object-1">
            <a:extLst>
              <a:ext uri="{FF2B5EF4-FFF2-40B4-BE49-F238E27FC236}">
                <a16:creationId xmlns:a16="http://schemas.microsoft.com/office/drawing/2014/main" id="{AB53C525-1E50-4CFB-B4BD-D8B21CB26106}"/>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57EC3030-0A23-4732-9E16-46A05EA23455}"/>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3DD54285-3C50-4A6D-B581-F53338C93D16}"/>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Solve x + 38 = 93.</a:t>
            </a:r>
          </a:p>
        </p:txBody>
      </p:sp>
      <p:sp>
        <p:nvSpPr>
          <p:cNvPr id="4" name="object-4">
            <a:extLst>
              <a:ext uri="{FF2B5EF4-FFF2-40B4-BE49-F238E27FC236}">
                <a16:creationId xmlns:a16="http://schemas.microsoft.com/office/drawing/2014/main" id="{4247F0A9-B055-482D-80E1-EC0238E0F8EF}"/>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A58545DF-1E7E-4CDF-9D10-74631D8F4F5B}"/>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one-step equations</a:t>
            </a:r>
          </a:p>
        </p:txBody>
      </p:sp>
      <p:sp>
        <p:nvSpPr>
          <p:cNvPr id="6" name="object-6">
            <a:extLst>
              <a:ext uri="{FF2B5EF4-FFF2-40B4-BE49-F238E27FC236}">
                <a16:creationId xmlns:a16="http://schemas.microsoft.com/office/drawing/2014/main" id="{9F4F305E-D4C0-4C5A-A5F5-08E590F2DF1E}"/>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17D2CCDA-98EC-406C-A903-AF06DB83A056}"/>
              </a:ext>
            </a:extLst>
          </p:cNvPr>
          <p:cNvSpPr>
            <a:spLocks noGrp="1"/>
          </p:cNvSpPr>
          <p:nvPr/>
        </p:nvSpPr>
        <p:spPr>
          <a:xfrm>
            <a:off x="1309688" y="3095625"/>
            <a:ext cx="7143750" cy="1071563"/>
          </a:xfrm>
          <a:prstGeom prst="rect">
            <a:avLst/>
          </a:prstGeom>
          <a:solidFill>
            <a:srgbClr val="EFF6FF"/>
          </a:solidFill>
          <a:ln w="23813">
            <a:solidFill>
              <a:srgbClr val="1D4ED8"/>
            </a:solidFill>
          </a:ln>
        </p:spPr>
      </p:sp>
      <p:sp>
        <p:nvSpPr>
          <p:cNvPr id="8" name="object-8">
            <a:extLst>
              <a:ext uri="{FF2B5EF4-FFF2-40B4-BE49-F238E27FC236}">
                <a16:creationId xmlns:a16="http://schemas.microsoft.com/office/drawing/2014/main" id="{22132875-1DDE-4E5B-BD15-6162BA3DCFBB}"/>
              </a:ext>
            </a:extLst>
          </p:cNvPr>
          <p:cNvSpPr>
            <a:spLocks noGrp="1"/>
          </p:cNvSpPr>
          <p:nvPr/>
        </p:nvSpPr>
        <p:spPr>
          <a:xfrm>
            <a:off x="1309688" y="3178969"/>
            <a:ext cx="7143750"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9" name="object-9">
            <a:extLst>
              <a:ext uri="{FF2B5EF4-FFF2-40B4-BE49-F238E27FC236}">
                <a16:creationId xmlns:a16="http://schemas.microsoft.com/office/drawing/2014/main" id="{6613CC83-F1D1-4BFC-B0CA-0218C3A88B59}"/>
              </a:ext>
            </a:extLst>
          </p:cNvPr>
          <p:cNvSpPr>
            <a:spLocks noGrp="1"/>
          </p:cNvSpPr>
          <p:nvPr/>
        </p:nvSpPr>
        <p:spPr>
          <a:xfrm>
            <a:off x="8870156" y="3155156"/>
            <a:ext cx="2083594" cy="892969"/>
          </a:xfrm>
          <a:prstGeom prst="rect">
            <a:avLst/>
          </a:prstGeom>
          <a:noFill/>
          <a:ln w="0">
            <a:noFill/>
          </a:ln>
        </p:spPr>
        <p:txBody>
          <a:bodyPr anchor="ctr">
            <a:noAutofit/>
          </a:bodyPr>
          <a:lstStyle/>
          <a:p>
            <a:pPr algn="l">
              <a:defRPr sz="3938" b="1">
                <a:solidFill>
                  <a:srgbClr val="9A5800"/>
                </a:solidFill>
                <a:latin typeface="Arial"/>
                <a:ea typeface="Arial"/>
                <a:cs typeface="Arial"/>
              </a:defRPr>
            </a:pPr>
            <a:r>
              <a:rPr sz="3938" b="1">
                <a:solidFill>
                  <a:srgbClr val="9A5800"/>
                </a:solidFill>
                <a:latin typeface="Arial"/>
                <a:ea typeface="Arial"/>
                <a:cs typeface="Arial"/>
              </a:rPr>
              <a:t>+ 38</a:t>
            </a:r>
          </a:p>
        </p:txBody>
      </p:sp>
      <p:sp>
        <p:nvSpPr>
          <p:cNvPr id="10" name="object-10">
            <a:extLst>
              <a:ext uri="{FF2B5EF4-FFF2-40B4-BE49-F238E27FC236}">
                <a16:creationId xmlns:a16="http://schemas.microsoft.com/office/drawing/2014/main" id="{E144981B-8029-48D2-AD75-4D949D2E44BB}"/>
              </a:ext>
            </a:extLst>
          </p:cNvPr>
          <p:cNvSpPr>
            <a:spLocks noGrp="1"/>
          </p:cNvSpPr>
          <p:nvPr/>
        </p:nvSpPr>
        <p:spPr>
          <a:xfrm>
            <a:off x="11549063" y="3155156"/>
            <a:ext cx="2857500" cy="892969"/>
          </a:xfrm>
          <a:prstGeom prst="rect">
            <a:avLst/>
          </a:prstGeom>
          <a:noFill/>
          <a:ln w="0">
            <a:noFill/>
          </a:ln>
        </p:spPr>
        <p:txBody>
          <a:bodyPr anchor="ctr">
            <a:noAutofit/>
          </a:bodyPr>
          <a:lstStyle/>
          <a:p>
            <a:pPr algn="l">
              <a:defRPr sz="4031" b="1">
                <a:solidFill>
                  <a:srgbClr val="172B4D"/>
                </a:solidFill>
                <a:latin typeface="Arial"/>
                <a:ea typeface="Arial"/>
                <a:cs typeface="Arial"/>
              </a:defRPr>
            </a:pPr>
            <a:r>
              <a:rPr sz="4031" b="1">
                <a:solidFill>
                  <a:srgbClr val="172B4D"/>
                </a:solidFill>
                <a:latin typeface="Arial"/>
                <a:ea typeface="Arial"/>
                <a:cs typeface="Arial"/>
              </a:rPr>
              <a:t>= 93</a:t>
            </a:r>
          </a:p>
        </p:txBody>
      </p:sp>
      <p:sp>
        <p:nvSpPr>
          <p:cNvPr id="11" name="object-11">
            <a:extLst>
              <a:ext uri="{FF2B5EF4-FFF2-40B4-BE49-F238E27FC236}">
                <a16:creationId xmlns:a16="http://schemas.microsoft.com/office/drawing/2014/main" id="{57A12630-C441-40F1-A298-7F19734A6BDE}"/>
              </a:ext>
            </a:extLst>
          </p:cNvPr>
          <p:cNvSpPr>
            <a:spLocks noGrp="1"/>
          </p:cNvSpPr>
          <p:nvPr/>
        </p:nvSpPr>
        <p:spPr>
          <a:xfrm>
            <a:off x="2024063" y="4643438"/>
            <a:ext cx="11191875" cy="714375"/>
          </a:xfrm>
          <a:prstGeom prst="rect">
            <a:avLst/>
          </a:prstGeom>
          <a:noFill/>
          <a:ln w="0">
            <a:noFill/>
          </a:ln>
        </p:spPr>
        <p:txBody>
          <a:bodyPr anchor="ctr">
            <a:noAutofit/>
          </a:bodyPr>
          <a:lstStyle/>
          <a:p>
            <a:pPr algn="ctr">
              <a:defRPr sz="2906" b="1">
                <a:solidFill>
                  <a:srgbClr val="9A5800"/>
                </a:solidFill>
                <a:latin typeface="Arial"/>
                <a:ea typeface="Arial"/>
                <a:cs typeface="Arial"/>
              </a:defRPr>
            </a:pPr>
            <a:r>
              <a:rPr sz="2906" b="1">
                <a:solidFill>
                  <a:srgbClr val="9A5800"/>
                </a:solidFill>
                <a:latin typeface="Arial"/>
                <a:ea typeface="Arial"/>
                <a:cs typeface="Arial"/>
              </a:rPr>
              <a:t>Subtract 38 on both sides</a:t>
            </a:r>
          </a:p>
        </p:txBody>
      </p:sp>
      <p:sp>
        <p:nvSpPr>
          <p:cNvPr id="12" name="object-12">
            <a:extLst>
              <a:ext uri="{FF2B5EF4-FFF2-40B4-BE49-F238E27FC236}">
                <a16:creationId xmlns:a16="http://schemas.microsoft.com/office/drawing/2014/main" id="{87E40152-AE1B-472E-82B8-FADC38A7B379}"/>
              </a:ext>
            </a:extLst>
          </p:cNvPr>
          <p:cNvSpPr>
            <a:spLocks noGrp="1"/>
          </p:cNvSpPr>
          <p:nvPr/>
        </p:nvSpPr>
        <p:spPr>
          <a:xfrm>
            <a:off x="2381250" y="5655469"/>
            <a:ext cx="10477500"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1x = 55</a:t>
            </a:r>
          </a:p>
        </p:txBody>
      </p:sp>
      <p:sp>
        <p:nvSpPr>
          <p:cNvPr id="13" name="object-13">
            <a:extLst>
              <a:ext uri="{FF2B5EF4-FFF2-40B4-BE49-F238E27FC236}">
                <a16:creationId xmlns:a16="http://schemas.microsoft.com/office/drawing/2014/main" id="{0844D936-373B-44FC-BA3C-39E8882F10ED}"/>
              </a:ext>
            </a:extLst>
          </p:cNvPr>
          <p:cNvSpPr>
            <a:spLocks noGrp="1"/>
          </p:cNvSpPr>
          <p:nvPr/>
        </p:nvSpPr>
        <p:spPr>
          <a:xfrm>
            <a:off x="7977188" y="6667500"/>
            <a:ext cx="4286250" cy="773906"/>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x = 55</a:t>
            </a:r>
          </a:p>
        </p:txBody>
      </p:sp>
    </p:spTree>
    <p:extLst>
      <p:ext uri="{BB962C8B-B14F-4D97-AF65-F5344CB8AC3E}">
        <p14:creationId xmlns:p14="http://schemas.microsoft.com/office/powerpoint/2010/main" val="125776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par>
                          <p:cTn id="15" fill="hold">
                            <p:stCondLst>
                              <p:cond delay="0"/>
                            </p:stCondLst>
                            <p:childTnLst>
                              <p:par>
                                <p:cTn id="16" presetID="63" presetClass="path" presetSubtype="0" accel="50000" decel="50000" fill="hold" grpId="1" nodeType="afterEffect">
                                  <p:stCondLst>
                                    <p:cond delay="0"/>
                                  </p:stCondLst>
                                  <p:childTnLst>
                                    <p:animMotion origin="layout" path="M 0 0 L -0.125 0 E" pathEditMode="relative" ptsTypes="">
                                      <p:cBhvr>
                                        <p:cTn id="17" dur="800" fill="hold"/>
                                        <p:tgtEl>
                                          <p:spTgt spid="13"/>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3" grpId="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object-1">
            <a:extLst>
              <a:ext uri="{FF2B5EF4-FFF2-40B4-BE49-F238E27FC236}">
                <a16:creationId xmlns:a16="http://schemas.microsoft.com/office/drawing/2014/main" id="{AD3D2A4B-D83A-412B-B313-B4AA46F30459}"/>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F57785E8-BB27-4545-8F25-CFF02AE913C2}"/>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Solve x + 38 = 95.</a:t>
            </a:r>
          </a:p>
        </p:txBody>
      </p:sp>
      <p:sp>
        <p:nvSpPr>
          <p:cNvPr id="3" name="object-3">
            <a:extLst>
              <a:ext uri="{FF2B5EF4-FFF2-40B4-BE49-F238E27FC236}">
                <a16:creationId xmlns:a16="http://schemas.microsoft.com/office/drawing/2014/main" id="{CC44C876-F9D5-4B81-B372-3DFB0517FF87}"/>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3F53332F-7D22-4416-A5F1-DE822B4C0EE4}"/>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one-step equations</a:t>
            </a:r>
          </a:p>
        </p:txBody>
      </p:sp>
      <p:sp>
        <p:nvSpPr>
          <p:cNvPr id="5" name="object-5">
            <a:extLst>
              <a:ext uri="{FF2B5EF4-FFF2-40B4-BE49-F238E27FC236}">
                <a16:creationId xmlns:a16="http://schemas.microsoft.com/office/drawing/2014/main" id="{268E1550-0038-4675-AB28-A7CD6111A78D}"/>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600A580E-D31E-42F3-90E5-2DCB23A1FDFA}"/>
              </a:ext>
            </a:extLst>
          </p:cNvPr>
          <p:cNvSpPr>
            <a:spLocks noGrp="1"/>
          </p:cNvSpPr>
          <p:nvPr/>
        </p:nvSpPr>
        <p:spPr>
          <a:xfrm>
            <a:off x="1309688" y="3095625"/>
            <a:ext cx="7143750" cy="1071563"/>
          </a:xfrm>
          <a:prstGeom prst="rect">
            <a:avLst/>
          </a:prstGeom>
          <a:solidFill>
            <a:srgbClr val="EFF6FF"/>
          </a:solidFill>
          <a:ln w="23813">
            <a:solidFill>
              <a:srgbClr val="1D4ED8"/>
            </a:solidFill>
          </a:ln>
        </p:spPr>
      </p:sp>
      <p:sp>
        <p:nvSpPr>
          <p:cNvPr id="7" name="object-7">
            <a:extLst>
              <a:ext uri="{FF2B5EF4-FFF2-40B4-BE49-F238E27FC236}">
                <a16:creationId xmlns:a16="http://schemas.microsoft.com/office/drawing/2014/main" id="{411E6981-BBE5-4D78-A61F-F14B588A2CCC}"/>
              </a:ext>
            </a:extLst>
          </p:cNvPr>
          <p:cNvSpPr>
            <a:spLocks noGrp="1"/>
          </p:cNvSpPr>
          <p:nvPr/>
        </p:nvSpPr>
        <p:spPr>
          <a:xfrm>
            <a:off x="1309688" y="3178969"/>
            <a:ext cx="7143750"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8" name="object-8">
            <a:extLst>
              <a:ext uri="{FF2B5EF4-FFF2-40B4-BE49-F238E27FC236}">
                <a16:creationId xmlns:a16="http://schemas.microsoft.com/office/drawing/2014/main" id="{BE91340C-3C68-4A29-A4A4-DB05BFA21BC0}"/>
              </a:ext>
            </a:extLst>
          </p:cNvPr>
          <p:cNvSpPr>
            <a:spLocks noGrp="1"/>
          </p:cNvSpPr>
          <p:nvPr/>
        </p:nvSpPr>
        <p:spPr>
          <a:xfrm>
            <a:off x="8870156" y="3155156"/>
            <a:ext cx="2083594" cy="892969"/>
          </a:xfrm>
          <a:prstGeom prst="rect">
            <a:avLst/>
          </a:prstGeom>
          <a:noFill/>
          <a:ln w="0">
            <a:noFill/>
          </a:ln>
        </p:spPr>
        <p:txBody>
          <a:bodyPr anchor="ctr">
            <a:noAutofit/>
          </a:bodyPr>
          <a:lstStyle/>
          <a:p>
            <a:pPr algn="l">
              <a:defRPr sz="3938" b="1">
                <a:solidFill>
                  <a:srgbClr val="9A5800"/>
                </a:solidFill>
                <a:latin typeface="Arial"/>
                <a:ea typeface="Arial"/>
                <a:cs typeface="Arial"/>
              </a:defRPr>
            </a:pPr>
            <a:r>
              <a:rPr sz="3938" b="1">
                <a:solidFill>
                  <a:srgbClr val="9A5800"/>
                </a:solidFill>
                <a:latin typeface="Arial"/>
                <a:ea typeface="Arial"/>
                <a:cs typeface="Arial"/>
              </a:rPr>
              <a:t>+ 38</a:t>
            </a:r>
          </a:p>
        </p:txBody>
      </p:sp>
      <p:sp>
        <p:nvSpPr>
          <p:cNvPr id="9" name="object-9">
            <a:extLst>
              <a:ext uri="{FF2B5EF4-FFF2-40B4-BE49-F238E27FC236}">
                <a16:creationId xmlns:a16="http://schemas.microsoft.com/office/drawing/2014/main" id="{66F78C2A-F471-41B5-9433-B02E34EA20AC}"/>
              </a:ext>
            </a:extLst>
          </p:cNvPr>
          <p:cNvSpPr>
            <a:spLocks noGrp="1"/>
          </p:cNvSpPr>
          <p:nvPr/>
        </p:nvSpPr>
        <p:spPr>
          <a:xfrm>
            <a:off x="11549063" y="3155156"/>
            <a:ext cx="2857500" cy="892969"/>
          </a:xfrm>
          <a:prstGeom prst="rect">
            <a:avLst/>
          </a:prstGeom>
          <a:noFill/>
          <a:ln w="0">
            <a:noFill/>
          </a:ln>
        </p:spPr>
        <p:txBody>
          <a:bodyPr anchor="ctr">
            <a:noAutofit/>
          </a:bodyPr>
          <a:lstStyle/>
          <a:p>
            <a:pPr algn="l">
              <a:defRPr sz="4031" b="1">
                <a:solidFill>
                  <a:srgbClr val="172B4D"/>
                </a:solidFill>
                <a:latin typeface="Arial"/>
                <a:ea typeface="Arial"/>
                <a:cs typeface="Arial"/>
              </a:defRPr>
            </a:pPr>
            <a:r>
              <a:rPr sz="4031" b="1">
                <a:solidFill>
                  <a:srgbClr val="172B4D"/>
                </a:solidFill>
                <a:latin typeface="Arial"/>
                <a:ea typeface="Arial"/>
                <a:cs typeface="Arial"/>
              </a:rPr>
              <a:t>= 95</a:t>
            </a:r>
          </a:p>
        </p:txBody>
      </p:sp>
      <p:sp>
        <p:nvSpPr>
          <p:cNvPr id="10" name="object-10">
            <a:extLst>
              <a:ext uri="{FF2B5EF4-FFF2-40B4-BE49-F238E27FC236}">
                <a16:creationId xmlns:a16="http://schemas.microsoft.com/office/drawing/2014/main" id="{9F5C6965-7B5D-43BE-B471-0CA5BDD9B597}"/>
              </a:ext>
            </a:extLst>
          </p:cNvPr>
          <p:cNvSpPr>
            <a:spLocks noGrp="1"/>
          </p:cNvSpPr>
          <p:nvPr/>
        </p:nvSpPr>
        <p:spPr>
          <a:xfrm>
            <a:off x="2024063" y="4643438"/>
            <a:ext cx="11191875" cy="714375"/>
          </a:xfrm>
          <a:prstGeom prst="rect">
            <a:avLst/>
          </a:prstGeom>
          <a:noFill/>
          <a:ln w="0">
            <a:noFill/>
          </a:ln>
        </p:spPr>
        <p:txBody>
          <a:bodyPr anchor="ctr">
            <a:noAutofit/>
          </a:bodyPr>
          <a:lstStyle/>
          <a:p>
            <a:pPr algn="ctr">
              <a:defRPr sz="2906" b="1">
                <a:solidFill>
                  <a:srgbClr val="9A5800"/>
                </a:solidFill>
                <a:latin typeface="Arial"/>
                <a:ea typeface="Arial"/>
                <a:cs typeface="Arial"/>
              </a:defRPr>
            </a:pPr>
            <a:r>
              <a:rPr sz="2906" b="1">
                <a:solidFill>
                  <a:srgbClr val="9A5800"/>
                </a:solidFill>
                <a:latin typeface="Arial"/>
                <a:ea typeface="Arial"/>
                <a:cs typeface="Arial"/>
              </a:rPr>
              <a:t>Subtract 38 on both sides</a:t>
            </a:r>
          </a:p>
        </p:txBody>
      </p:sp>
      <p:sp>
        <p:nvSpPr>
          <p:cNvPr id="11" name="object-11">
            <a:extLst>
              <a:ext uri="{FF2B5EF4-FFF2-40B4-BE49-F238E27FC236}">
                <a16:creationId xmlns:a16="http://schemas.microsoft.com/office/drawing/2014/main" id="{AE6BB544-4D87-4BA3-8783-35C84ABE9A3E}"/>
              </a:ext>
            </a:extLst>
          </p:cNvPr>
          <p:cNvSpPr>
            <a:spLocks noGrp="1"/>
          </p:cNvSpPr>
          <p:nvPr/>
        </p:nvSpPr>
        <p:spPr>
          <a:xfrm>
            <a:off x="2381250" y="5655469"/>
            <a:ext cx="10477500"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1x = 57</a:t>
            </a:r>
          </a:p>
        </p:txBody>
      </p:sp>
      <p:sp>
        <p:nvSpPr>
          <p:cNvPr id="12" name="object-12">
            <a:extLst>
              <a:ext uri="{FF2B5EF4-FFF2-40B4-BE49-F238E27FC236}">
                <a16:creationId xmlns:a16="http://schemas.microsoft.com/office/drawing/2014/main" id="{7C9BF29E-6127-4DFC-8E8D-D36B41E0E494}"/>
              </a:ext>
            </a:extLst>
          </p:cNvPr>
          <p:cNvSpPr>
            <a:spLocks noGrp="1"/>
          </p:cNvSpPr>
          <p:nvPr/>
        </p:nvSpPr>
        <p:spPr>
          <a:xfrm>
            <a:off x="7977188" y="6667500"/>
            <a:ext cx="4286250" cy="773906"/>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x = 57</a:t>
            </a:r>
          </a:p>
        </p:txBody>
      </p:sp>
    </p:spTree>
    <p:extLst>
      <p:ext uri="{BB962C8B-B14F-4D97-AF65-F5344CB8AC3E}">
        <p14:creationId xmlns:p14="http://schemas.microsoft.com/office/powerpoint/2010/main" val="1450937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par>
                          <p:cTn id="15" fill="hold">
                            <p:stCondLst>
                              <p:cond delay="0"/>
                            </p:stCondLst>
                            <p:childTnLst>
                              <p:par>
                                <p:cTn id="16" presetID="63" presetClass="path" presetSubtype="0" accel="50000" decel="50000" fill="hold" grpId="1" nodeType="afterEffect">
                                  <p:stCondLst>
                                    <p:cond delay="0"/>
                                  </p:stCondLst>
                                  <p:childTnLst>
                                    <p:animMotion origin="layout" path="M 0 0 L -0.125 0 E" pathEditMode="relative" ptsTypes="">
                                      <p:cBhvr>
                                        <p:cTn id="17" dur="800" fill="hold"/>
                                        <p:tgtEl>
                                          <p:spTgt spid="1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12" grpId="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object-1">
            <a:extLst>
              <a:ext uri="{FF2B5EF4-FFF2-40B4-BE49-F238E27FC236}">
                <a16:creationId xmlns:a16="http://schemas.microsoft.com/office/drawing/2014/main" id="{F232F186-7A83-4DAA-8B41-4A6E6AA74106}"/>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CE479F5B-9F09-4770-9DAC-990C923DC9AE}"/>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A0C3F5B3-4062-46DE-8704-502C103347F2}"/>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Solve x + 38 = 97.</a:t>
            </a:r>
          </a:p>
        </p:txBody>
      </p:sp>
      <p:sp>
        <p:nvSpPr>
          <p:cNvPr id="4" name="object-4">
            <a:extLst>
              <a:ext uri="{FF2B5EF4-FFF2-40B4-BE49-F238E27FC236}">
                <a16:creationId xmlns:a16="http://schemas.microsoft.com/office/drawing/2014/main" id="{A910513B-FBC7-45B8-856C-464D36232610}"/>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2DA88E77-8758-4E20-9799-248C3DBEBDCA}"/>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one-step equations</a:t>
            </a:r>
          </a:p>
        </p:txBody>
      </p:sp>
      <p:sp>
        <p:nvSpPr>
          <p:cNvPr id="6" name="object-6">
            <a:extLst>
              <a:ext uri="{FF2B5EF4-FFF2-40B4-BE49-F238E27FC236}">
                <a16:creationId xmlns:a16="http://schemas.microsoft.com/office/drawing/2014/main" id="{ACE94EAA-C345-4102-AC2D-AF4FFDB74A42}"/>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479CAA5B-CC2B-4099-91E3-D998169421EB}"/>
              </a:ext>
            </a:extLst>
          </p:cNvPr>
          <p:cNvSpPr>
            <a:spLocks noGrp="1"/>
          </p:cNvSpPr>
          <p:nvPr/>
        </p:nvSpPr>
        <p:spPr>
          <a:xfrm>
            <a:off x="1309688" y="3095625"/>
            <a:ext cx="7143750" cy="1071563"/>
          </a:xfrm>
          <a:prstGeom prst="rect">
            <a:avLst/>
          </a:prstGeom>
          <a:solidFill>
            <a:srgbClr val="EFF6FF"/>
          </a:solidFill>
          <a:ln w="23813">
            <a:solidFill>
              <a:srgbClr val="1D4ED8"/>
            </a:solidFill>
          </a:ln>
        </p:spPr>
      </p:sp>
      <p:sp>
        <p:nvSpPr>
          <p:cNvPr id="8" name="object-8">
            <a:extLst>
              <a:ext uri="{FF2B5EF4-FFF2-40B4-BE49-F238E27FC236}">
                <a16:creationId xmlns:a16="http://schemas.microsoft.com/office/drawing/2014/main" id="{D79464E6-E85C-4AFE-A38A-2407F661A3C4}"/>
              </a:ext>
            </a:extLst>
          </p:cNvPr>
          <p:cNvSpPr>
            <a:spLocks noGrp="1"/>
          </p:cNvSpPr>
          <p:nvPr/>
        </p:nvSpPr>
        <p:spPr>
          <a:xfrm>
            <a:off x="1309688" y="3178969"/>
            <a:ext cx="7143750"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9" name="object-9">
            <a:extLst>
              <a:ext uri="{FF2B5EF4-FFF2-40B4-BE49-F238E27FC236}">
                <a16:creationId xmlns:a16="http://schemas.microsoft.com/office/drawing/2014/main" id="{525D0367-A15C-4BF7-93D1-0176F267158B}"/>
              </a:ext>
            </a:extLst>
          </p:cNvPr>
          <p:cNvSpPr>
            <a:spLocks noGrp="1"/>
          </p:cNvSpPr>
          <p:nvPr/>
        </p:nvSpPr>
        <p:spPr>
          <a:xfrm>
            <a:off x="8870156" y="3155156"/>
            <a:ext cx="2083594" cy="892969"/>
          </a:xfrm>
          <a:prstGeom prst="rect">
            <a:avLst/>
          </a:prstGeom>
          <a:noFill/>
          <a:ln w="0">
            <a:noFill/>
          </a:ln>
        </p:spPr>
        <p:txBody>
          <a:bodyPr anchor="ctr">
            <a:noAutofit/>
          </a:bodyPr>
          <a:lstStyle/>
          <a:p>
            <a:pPr algn="l">
              <a:defRPr sz="3938" b="1">
                <a:solidFill>
                  <a:srgbClr val="9A5800"/>
                </a:solidFill>
                <a:latin typeface="Arial"/>
                <a:ea typeface="Arial"/>
                <a:cs typeface="Arial"/>
              </a:defRPr>
            </a:pPr>
            <a:r>
              <a:rPr sz="3938" b="1">
                <a:solidFill>
                  <a:srgbClr val="9A5800"/>
                </a:solidFill>
                <a:latin typeface="Arial"/>
                <a:ea typeface="Arial"/>
                <a:cs typeface="Arial"/>
              </a:rPr>
              <a:t>+ 38</a:t>
            </a:r>
          </a:p>
        </p:txBody>
      </p:sp>
      <p:sp>
        <p:nvSpPr>
          <p:cNvPr id="10" name="object-10">
            <a:extLst>
              <a:ext uri="{FF2B5EF4-FFF2-40B4-BE49-F238E27FC236}">
                <a16:creationId xmlns:a16="http://schemas.microsoft.com/office/drawing/2014/main" id="{73DC6F2A-8018-4F58-B3E5-3169F353BD8F}"/>
              </a:ext>
            </a:extLst>
          </p:cNvPr>
          <p:cNvSpPr>
            <a:spLocks noGrp="1"/>
          </p:cNvSpPr>
          <p:nvPr/>
        </p:nvSpPr>
        <p:spPr>
          <a:xfrm>
            <a:off x="11549063" y="3155156"/>
            <a:ext cx="2857500" cy="892969"/>
          </a:xfrm>
          <a:prstGeom prst="rect">
            <a:avLst/>
          </a:prstGeom>
          <a:noFill/>
          <a:ln w="0">
            <a:noFill/>
          </a:ln>
        </p:spPr>
        <p:txBody>
          <a:bodyPr anchor="ctr">
            <a:noAutofit/>
          </a:bodyPr>
          <a:lstStyle/>
          <a:p>
            <a:pPr algn="l">
              <a:defRPr sz="4031" b="1">
                <a:solidFill>
                  <a:srgbClr val="172B4D"/>
                </a:solidFill>
                <a:latin typeface="Arial"/>
                <a:ea typeface="Arial"/>
                <a:cs typeface="Arial"/>
              </a:defRPr>
            </a:pPr>
            <a:r>
              <a:rPr sz="4031" b="1">
                <a:solidFill>
                  <a:srgbClr val="172B4D"/>
                </a:solidFill>
                <a:latin typeface="Arial"/>
                <a:ea typeface="Arial"/>
                <a:cs typeface="Arial"/>
              </a:rPr>
              <a:t>= 97</a:t>
            </a:r>
          </a:p>
        </p:txBody>
      </p:sp>
      <p:sp>
        <p:nvSpPr>
          <p:cNvPr id="11" name="object-11">
            <a:extLst>
              <a:ext uri="{FF2B5EF4-FFF2-40B4-BE49-F238E27FC236}">
                <a16:creationId xmlns:a16="http://schemas.microsoft.com/office/drawing/2014/main" id="{EC1C1EFB-87CE-42D0-B5AD-3C4C02075995}"/>
              </a:ext>
            </a:extLst>
          </p:cNvPr>
          <p:cNvSpPr>
            <a:spLocks noGrp="1"/>
          </p:cNvSpPr>
          <p:nvPr/>
        </p:nvSpPr>
        <p:spPr>
          <a:xfrm>
            <a:off x="2024063" y="4643438"/>
            <a:ext cx="11191875" cy="714375"/>
          </a:xfrm>
          <a:prstGeom prst="rect">
            <a:avLst/>
          </a:prstGeom>
          <a:noFill/>
          <a:ln w="0">
            <a:noFill/>
          </a:ln>
        </p:spPr>
        <p:txBody>
          <a:bodyPr anchor="ctr">
            <a:noAutofit/>
          </a:bodyPr>
          <a:lstStyle/>
          <a:p>
            <a:pPr algn="ctr">
              <a:defRPr sz="2906" b="1">
                <a:solidFill>
                  <a:srgbClr val="9A5800"/>
                </a:solidFill>
                <a:latin typeface="Arial"/>
                <a:ea typeface="Arial"/>
                <a:cs typeface="Arial"/>
              </a:defRPr>
            </a:pPr>
            <a:r>
              <a:rPr sz="2906" b="1">
                <a:solidFill>
                  <a:srgbClr val="9A5800"/>
                </a:solidFill>
                <a:latin typeface="Arial"/>
                <a:ea typeface="Arial"/>
                <a:cs typeface="Arial"/>
              </a:rPr>
              <a:t>Subtract 38 on both sides</a:t>
            </a:r>
          </a:p>
        </p:txBody>
      </p:sp>
      <p:sp>
        <p:nvSpPr>
          <p:cNvPr id="12" name="object-12">
            <a:extLst>
              <a:ext uri="{FF2B5EF4-FFF2-40B4-BE49-F238E27FC236}">
                <a16:creationId xmlns:a16="http://schemas.microsoft.com/office/drawing/2014/main" id="{DCFBC304-B67D-4326-8238-7C2507B4B869}"/>
              </a:ext>
            </a:extLst>
          </p:cNvPr>
          <p:cNvSpPr>
            <a:spLocks noGrp="1"/>
          </p:cNvSpPr>
          <p:nvPr/>
        </p:nvSpPr>
        <p:spPr>
          <a:xfrm>
            <a:off x="2381250" y="5655469"/>
            <a:ext cx="10477500"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1x = 59</a:t>
            </a:r>
          </a:p>
        </p:txBody>
      </p:sp>
      <p:sp>
        <p:nvSpPr>
          <p:cNvPr id="13" name="object-13">
            <a:extLst>
              <a:ext uri="{FF2B5EF4-FFF2-40B4-BE49-F238E27FC236}">
                <a16:creationId xmlns:a16="http://schemas.microsoft.com/office/drawing/2014/main" id="{320C7E66-BA01-4E85-B6CD-8F4A57F94A9A}"/>
              </a:ext>
            </a:extLst>
          </p:cNvPr>
          <p:cNvSpPr>
            <a:spLocks noGrp="1"/>
          </p:cNvSpPr>
          <p:nvPr/>
        </p:nvSpPr>
        <p:spPr>
          <a:xfrm>
            <a:off x="7977188" y="6667500"/>
            <a:ext cx="4286250" cy="773906"/>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x = 59</a:t>
            </a:r>
          </a:p>
        </p:txBody>
      </p:sp>
    </p:spTree>
    <p:extLst>
      <p:ext uri="{BB962C8B-B14F-4D97-AF65-F5344CB8AC3E}">
        <p14:creationId xmlns:p14="http://schemas.microsoft.com/office/powerpoint/2010/main" val="1035839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par>
                          <p:cTn id="15" fill="hold">
                            <p:stCondLst>
                              <p:cond delay="0"/>
                            </p:stCondLst>
                            <p:childTnLst>
                              <p:par>
                                <p:cTn id="16" presetID="63" presetClass="path" presetSubtype="0" accel="50000" decel="50000" fill="hold" grpId="1" nodeType="afterEffect">
                                  <p:stCondLst>
                                    <p:cond delay="0"/>
                                  </p:stCondLst>
                                  <p:childTnLst>
                                    <p:animMotion origin="layout" path="M 0 0 L -0.125 0 E" pathEditMode="relative" ptsTypes="">
                                      <p:cBhvr>
                                        <p:cTn id="17" dur="800" fill="hold"/>
                                        <p:tgtEl>
                                          <p:spTgt spid="13"/>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3" grpId="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36B1935C-C237-4CB7-B65C-8476A52A5F5C}"/>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A5845EDE-0035-4EE3-A717-7D4595CFEC68}"/>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0D8A789E-9497-4C95-B390-695F28F1E16C}"/>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82731139-CF3D-4221-8533-B6A4749AA458}"/>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9C04642E-81B8-452F-9B79-F620DE74FC03}"/>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one-step equations</a:t>
            </a:r>
          </a:p>
        </p:txBody>
      </p:sp>
      <p:sp>
        <p:nvSpPr>
          <p:cNvPr id="6" name="object-6">
            <a:extLst>
              <a:ext uri="{FF2B5EF4-FFF2-40B4-BE49-F238E27FC236}">
                <a16:creationId xmlns:a16="http://schemas.microsoft.com/office/drawing/2014/main" id="{D6D056A2-D4C4-4567-837D-213459FDD869}"/>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33EA910D-45DA-43F2-B2D7-B868D4610696}"/>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01B066B6-27A3-46A0-A2D4-3C948560299D}"/>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x + 38 = 91.</a:t>
            </a:r>
          </a:p>
        </p:txBody>
      </p:sp>
      <p:sp>
        <p:nvSpPr>
          <p:cNvPr id="9" name="object-9">
            <a:extLst>
              <a:ext uri="{FF2B5EF4-FFF2-40B4-BE49-F238E27FC236}">
                <a16:creationId xmlns:a16="http://schemas.microsoft.com/office/drawing/2014/main" id="{FDF50953-DBB0-4F71-8943-7E6F98128183}"/>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D7013E4A-B48C-4C84-B5B5-F65A232473CF}"/>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5x - 7 = 48.</a:t>
            </a:r>
          </a:p>
        </p:txBody>
      </p:sp>
      <p:sp>
        <p:nvSpPr>
          <p:cNvPr id="11" name="object-11">
            <a:extLst>
              <a:ext uri="{FF2B5EF4-FFF2-40B4-BE49-F238E27FC236}">
                <a16:creationId xmlns:a16="http://schemas.microsoft.com/office/drawing/2014/main" id="{DE152181-A2A7-4DBF-B2E8-15DD29B28743}"/>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FE91213A-DF3E-44CA-A2E9-B2BB4D52A46B}"/>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6(x + 4) = 72.</a:t>
            </a:r>
          </a:p>
        </p:txBody>
      </p:sp>
      <p:sp>
        <p:nvSpPr>
          <p:cNvPr id="13" name="object-13">
            <a:extLst>
              <a:ext uri="{FF2B5EF4-FFF2-40B4-BE49-F238E27FC236}">
                <a16:creationId xmlns:a16="http://schemas.microsoft.com/office/drawing/2014/main" id="{DA58EE10-B21A-4623-B060-370FE44A8993}"/>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4FE7FAAC-EA63-492E-888B-62CF1E30D145}"/>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Solve x + 38 = 91.</a:t>
            </a:r>
          </a:p>
        </p:txBody>
      </p:sp>
      <p:sp>
        <p:nvSpPr>
          <p:cNvPr id="15" name="object-15">
            <a:extLst>
              <a:ext uri="{FF2B5EF4-FFF2-40B4-BE49-F238E27FC236}">
                <a16:creationId xmlns:a16="http://schemas.microsoft.com/office/drawing/2014/main" id="{8F9E59EA-E63B-46C6-BD28-3D47FB26D4C7}"/>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D70E8DBD-1C9A-4A6A-BB1F-BEA74A23D7EA}"/>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Solve 5x - 7 = 48.</a:t>
            </a:r>
          </a:p>
        </p:txBody>
      </p:sp>
      <p:sp>
        <p:nvSpPr>
          <p:cNvPr id="17" name="object-17">
            <a:extLst>
              <a:ext uri="{FF2B5EF4-FFF2-40B4-BE49-F238E27FC236}">
                <a16:creationId xmlns:a16="http://schemas.microsoft.com/office/drawing/2014/main" id="{E95CF5FE-7B14-46B1-9170-9BDCC097AA82}"/>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F592084D-9718-4E03-BAB4-CFF7D46B587F}"/>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Solve 6(x + 4) = 72.</a:t>
            </a:r>
          </a:p>
        </p:txBody>
      </p:sp>
      <p:sp>
        <p:nvSpPr>
          <p:cNvPr id="19" name="object-19">
            <a:extLst>
              <a:ext uri="{FF2B5EF4-FFF2-40B4-BE49-F238E27FC236}">
                <a16:creationId xmlns:a16="http://schemas.microsoft.com/office/drawing/2014/main" id="{13BD7618-55C9-4F1C-9393-23B2A8F4BDB2}"/>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192CE3AE-E516-4CBF-BC79-B8CC9B4BCB5E}"/>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Prove or explain your reasoning: A number is tripled and 14 is added to make 65. Find the number.</a:t>
            </a:r>
          </a:p>
        </p:txBody>
      </p:sp>
      <p:sp>
        <p:nvSpPr>
          <p:cNvPr id="21" name="object-21">
            <a:extLst>
              <a:ext uri="{FF2B5EF4-FFF2-40B4-BE49-F238E27FC236}">
                <a16:creationId xmlns:a16="http://schemas.microsoft.com/office/drawing/2014/main" id="{AA6FB469-DDF6-4F70-AB33-C8F0C14D3E64}"/>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C787F7BE-2A54-4AED-9C30-F15971F44F8C}"/>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changes one side of an equation without making the same balanced change to the other side.</a:t>
            </a:r>
          </a:p>
        </p:txBody>
      </p:sp>
      <p:sp>
        <p:nvSpPr>
          <p:cNvPr id="23" name="object-23">
            <a:extLst>
              <a:ext uri="{FF2B5EF4-FFF2-40B4-BE49-F238E27FC236}">
                <a16:creationId xmlns:a16="http://schemas.microsoft.com/office/drawing/2014/main" id="{BB9791EF-0FF8-440E-AC3F-C90FFDB279B2}"/>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EF3AB7CE-6CE2-4028-81F3-D5982717CDAA}"/>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90108E62-9812-4CC9-A80F-BF66B061947F}"/>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B6BA6021-D13C-4ABB-A10F-6D8D771B3D31}"/>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Solve 6(x + 4) = 72.</a:t>
            </a:r>
          </a:p>
        </p:txBody>
      </p:sp>
    </p:spTree>
    <p:extLst>
      <p:ext uri="{BB962C8B-B14F-4D97-AF65-F5344CB8AC3E}">
        <p14:creationId xmlns:p14="http://schemas.microsoft.com/office/powerpoint/2010/main" val="11163484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D66709CD-3CE4-4DBD-B28E-4A94252B7372}"/>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6FC36A6A-95FA-49AE-9DE5-36276B6DE2F5}"/>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EC1625B6-EE7F-4679-A0C9-80A39078E55B}"/>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16D57A28-1014-467D-A51C-6568BAD29DFF}"/>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one-step equations</a:t>
            </a:r>
          </a:p>
        </p:txBody>
      </p:sp>
      <p:sp>
        <p:nvSpPr>
          <p:cNvPr id="5" name="object-5">
            <a:extLst>
              <a:ext uri="{FF2B5EF4-FFF2-40B4-BE49-F238E27FC236}">
                <a16:creationId xmlns:a16="http://schemas.microsoft.com/office/drawing/2014/main" id="{6E10AA67-51B3-4FC3-ACFF-2B37B6E610F3}"/>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080844D0-AF32-46E4-B34C-61CBD05E3BBE}"/>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ED179254-8717-4ACB-A895-FE234448D320}"/>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x = 53.</a:t>
            </a:r>
          </a:p>
        </p:txBody>
      </p:sp>
      <p:sp>
        <p:nvSpPr>
          <p:cNvPr id="8" name="object-8">
            <a:extLst>
              <a:ext uri="{FF2B5EF4-FFF2-40B4-BE49-F238E27FC236}">
                <a16:creationId xmlns:a16="http://schemas.microsoft.com/office/drawing/2014/main" id="{AB7DD6C1-E8CB-4DEC-8315-6AAB23CCCE25}"/>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1EAC47AC-0524-4E9C-916A-73B4DF9C50DB}"/>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x = 11.</a:t>
            </a:r>
          </a:p>
        </p:txBody>
      </p:sp>
      <p:sp>
        <p:nvSpPr>
          <p:cNvPr id="10" name="object-10">
            <a:extLst>
              <a:ext uri="{FF2B5EF4-FFF2-40B4-BE49-F238E27FC236}">
                <a16:creationId xmlns:a16="http://schemas.microsoft.com/office/drawing/2014/main" id="{94DCE8CB-1026-4B46-B8CA-6C6E6CF531BE}"/>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5065763E-FF42-48F3-A368-58891B9B8613}"/>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x = 8.</a:t>
            </a:r>
          </a:p>
        </p:txBody>
      </p:sp>
      <p:sp>
        <p:nvSpPr>
          <p:cNvPr id="12" name="object-12">
            <a:extLst>
              <a:ext uri="{FF2B5EF4-FFF2-40B4-BE49-F238E27FC236}">
                <a16:creationId xmlns:a16="http://schemas.microsoft.com/office/drawing/2014/main" id="{8AA41FAD-0421-4031-9B8A-1476CF5C2224}"/>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7E4DB284-8F32-4491-9834-2922F8E7EA03}"/>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x = 53.</a:t>
            </a:r>
          </a:p>
        </p:txBody>
      </p:sp>
      <p:sp>
        <p:nvSpPr>
          <p:cNvPr id="14" name="object-14">
            <a:extLst>
              <a:ext uri="{FF2B5EF4-FFF2-40B4-BE49-F238E27FC236}">
                <a16:creationId xmlns:a16="http://schemas.microsoft.com/office/drawing/2014/main" id="{9F06BC80-C82C-4830-9F6A-BD591FF74D93}"/>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7B8B9CB3-EE21-4DD2-81D8-04DC28D21F38}"/>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x = 11. Method or representation may vary.</a:t>
            </a:r>
          </a:p>
        </p:txBody>
      </p:sp>
      <p:sp>
        <p:nvSpPr>
          <p:cNvPr id="16" name="object-16">
            <a:extLst>
              <a:ext uri="{FF2B5EF4-FFF2-40B4-BE49-F238E27FC236}">
                <a16:creationId xmlns:a16="http://schemas.microsoft.com/office/drawing/2014/main" id="{45A19ACE-3D87-47DC-BDD3-7243B71C96E5}"/>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195376AE-F3CD-47AB-89F3-51339D68F42F}"/>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x = 8. A valid check must be shown.</a:t>
            </a:r>
          </a:p>
        </p:txBody>
      </p:sp>
      <p:sp>
        <p:nvSpPr>
          <p:cNvPr id="18" name="object-18">
            <a:extLst>
              <a:ext uri="{FF2B5EF4-FFF2-40B4-BE49-F238E27FC236}">
                <a16:creationId xmlns:a16="http://schemas.microsoft.com/office/drawing/2014/main" id="{6AA8ABAC-65E0-4EEE-87E2-741A7FCA9120}"/>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0F197063-5B9D-4AF0-9D2A-F45FC4FC5300}"/>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17. The explanation must show why the method works.</a:t>
            </a:r>
          </a:p>
        </p:txBody>
      </p:sp>
      <p:sp>
        <p:nvSpPr>
          <p:cNvPr id="20" name="object-20">
            <a:extLst>
              <a:ext uri="{FF2B5EF4-FFF2-40B4-BE49-F238E27FC236}">
                <a16:creationId xmlns:a16="http://schemas.microsoft.com/office/drawing/2014/main" id="{88A54E66-29E1-4153-AC24-6A8D606B648C}"/>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D26B67D1-2D5E-4253-A1FC-B1FE1E45B567}"/>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Use an inverse operation on the whole equation and check by substitution.</a:t>
            </a:r>
          </a:p>
        </p:txBody>
      </p:sp>
      <p:sp>
        <p:nvSpPr>
          <p:cNvPr id="22" name="object-22">
            <a:extLst>
              <a:ext uri="{FF2B5EF4-FFF2-40B4-BE49-F238E27FC236}">
                <a16:creationId xmlns:a16="http://schemas.microsoft.com/office/drawing/2014/main" id="{68B91C6A-8AC0-4AC8-B7FC-6B2B72543397}"/>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C9F43870-9AE1-42A2-BB21-4FAB80CCDA14}"/>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5F792399-2B25-40E5-8187-A22B0D505ACD}"/>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8A1C490B-09E9-4433-829F-CCD3EE43AA60}"/>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146753543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915</Words>
  <Application>Microsoft Office PowerPoint</Application>
  <DocSecurity>0</DocSecurity>
  <PresentationFormat>Custom</PresentationFormat>
  <Paragraphs>110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2026-09-14T13:14:34Z</dcterms:created>
  <dcterms:modified xsi:type="dcterms:W3CDTF">2026-09-14T13:17:23Z</dcterms:modified>
</cp:coreProperties>
</file>