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about equivalent equations. Reason about equivalent equations.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about equivalent equations. I do.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about equivalent equations. You do. Pause before clicking. Let pupils try independently, then reveal and discuss every step.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about equivalent equations. I do.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about equivalent equations. You do. Pause before clicking. Let pupils try independently, then reveal and discuss every step.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about equivalent equations.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Reason about equivalent equations.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7F1DFD86-8D82-4037-98B8-3FF9C3B53C5B}"/>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Reason about equivalent equations</a:t>
            </a:r>
          </a:p>
        </p:txBody>
      </p:sp>
      <p:sp>
        <p:nvSpPr>
          <p:cNvPr id="2" name="object-2">
            <a:extLst>
              <a:ext uri="{FF2B5EF4-FFF2-40B4-BE49-F238E27FC236}">
                <a16:creationId xmlns:a16="http://schemas.microsoft.com/office/drawing/2014/main" id="{18267642-4B0F-4220-8A04-C89657D71DAC}"/>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0C7D8919-293F-4160-9F55-5E0D632A8E69}"/>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C6815109-6317-4B9A-8B7B-403C9DABA3A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about equivalent equations</a:t>
            </a:r>
          </a:p>
        </p:txBody>
      </p:sp>
      <p:sp>
        <p:nvSpPr>
          <p:cNvPr id="5" name="object-5">
            <a:extLst>
              <a:ext uri="{FF2B5EF4-FFF2-40B4-BE49-F238E27FC236}">
                <a16:creationId xmlns:a16="http://schemas.microsoft.com/office/drawing/2014/main" id="{12AEB907-7F71-4701-A199-5FFA2C5775B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FE845288-4536-422A-BF08-9FBED5150A63}"/>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compare equations and justify whether they have the same solution.</a:t>
            </a:r>
          </a:p>
        </p:txBody>
      </p:sp>
    </p:spTree>
    <p:extLst>
      <p:ext uri="{BB962C8B-B14F-4D97-AF65-F5344CB8AC3E}">
        <p14:creationId xmlns:p14="http://schemas.microsoft.com/office/powerpoint/2010/main" val="7987165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object-1">
            <a:extLst>
              <a:ext uri="{FF2B5EF4-FFF2-40B4-BE49-F238E27FC236}">
                <a16:creationId xmlns:a16="http://schemas.microsoft.com/office/drawing/2014/main" id="{C1651555-3A56-4482-9C95-F54DCE862A21}"/>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46FFF9EC-B9C5-44C2-8D47-2AFBE5D8E34A}"/>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4x + 12 = 40.</a:t>
            </a:r>
          </a:p>
        </p:txBody>
      </p:sp>
      <p:sp>
        <p:nvSpPr>
          <p:cNvPr id="3" name="object-3">
            <a:extLst>
              <a:ext uri="{FF2B5EF4-FFF2-40B4-BE49-F238E27FC236}">
                <a16:creationId xmlns:a16="http://schemas.microsoft.com/office/drawing/2014/main" id="{DEC3419D-5BEF-4D67-BDD1-2EC6B22D0E67}"/>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C5EB0891-2466-48FE-9AA1-B3F7ADB4DED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about equivalent equations</a:t>
            </a:r>
          </a:p>
        </p:txBody>
      </p:sp>
      <p:sp>
        <p:nvSpPr>
          <p:cNvPr id="5" name="object-5">
            <a:extLst>
              <a:ext uri="{FF2B5EF4-FFF2-40B4-BE49-F238E27FC236}">
                <a16:creationId xmlns:a16="http://schemas.microsoft.com/office/drawing/2014/main" id="{303F1452-F7A9-4194-A786-5D56E1F0364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49F3660C-9CD8-4501-A39C-7F47597CA137}"/>
              </a:ext>
            </a:extLst>
          </p:cNvPr>
          <p:cNvSpPr>
            <a:spLocks noGrp="1"/>
          </p:cNvSpPr>
          <p:nvPr/>
        </p:nvSpPr>
        <p:spPr>
          <a:xfrm>
            <a:off x="1309688" y="3095625"/>
            <a:ext cx="1785938" cy="1071563"/>
          </a:xfrm>
          <a:prstGeom prst="rect">
            <a:avLst/>
          </a:prstGeom>
          <a:solidFill>
            <a:srgbClr val="EFF6FF"/>
          </a:solidFill>
          <a:ln w="23813">
            <a:solidFill>
              <a:srgbClr val="1D4ED8"/>
            </a:solidFill>
          </a:ln>
        </p:spPr>
      </p:sp>
      <p:sp>
        <p:nvSpPr>
          <p:cNvPr id="7" name="object-7">
            <a:extLst>
              <a:ext uri="{FF2B5EF4-FFF2-40B4-BE49-F238E27FC236}">
                <a16:creationId xmlns:a16="http://schemas.microsoft.com/office/drawing/2014/main" id="{E5A3E521-B9CA-41B9-B916-99AE5E5C4298}"/>
              </a:ext>
            </a:extLst>
          </p:cNvPr>
          <p:cNvSpPr>
            <a:spLocks noGrp="1"/>
          </p:cNvSpPr>
          <p:nvPr/>
        </p:nvSpPr>
        <p:spPr>
          <a:xfrm>
            <a:off x="1309688"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8" name="object-8">
            <a:extLst>
              <a:ext uri="{FF2B5EF4-FFF2-40B4-BE49-F238E27FC236}">
                <a16:creationId xmlns:a16="http://schemas.microsoft.com/office/drawing/2014/main" id="{D0DC810E-27E1-4802-91DE-4C1006D9E104}"/>
              </a:ext>
            </a:extLst>
          </p:cNvPr>
          <p:cNvSpPr>
            <a:spLocks noGrp="1"/>
          </p:cNvSpPr>
          <p:nvPr/>
        </p:nvSpPr>
        <p:spPr>
          <a:xfrm>
            <a:off x="3095625" y="3095625"/>
            <a:ext cx="1785938" cy="1071563"/>
          </a:xfrm>
          <a:prstGeom prst="rect">
            <a:avLst/>
          </a:prstGeom>
          <a:solidFill>
            <a:srgbClr val="EFF6FF"/>
          </a:solidFill>
          <a:ln w="23813">
            <a:solidFill>
              <a:srgbClr val="1D4ED8"/>
            </a:solidFill>
          </a:ln>
        </p:spPr>
      </p:sp>
      <p:sp>
        <p:nvSpPr>
          <p:cNvPr id="9" name="object-9">
            <a:extLst>
              <a:ext uri="{FF2B5EF4-FFF2-40B4-BE49-F238E27FC236}">
                <a16:creationId xmlns:a16="http://schemas.microsoft.com/office/drawing/2014/main" id="{C96A005E-6847-4A6F-9D21-CDF2C498B876}"/>
              </a:ext>
            </a:extLst>
          </p:cNvPr>
          <p:cNvSpPr>
            <a:spLocks noGrp="1"/>
          </p:cNvSpPr>
          <p:nvPr/>
        </p:nvSpPr>
        <p:spPr>
          <a:xfrm>
            <a:off x="3095625"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0" name="object-10">
            <a:extLst>
              <a:ext uri="{FF2B5EF4-FFF2-40B4-BE49-F238E27FC236}">
                <a16:creationId xmlns:a16="http://schemas.microsoft.com/office/drawing/2014/main" id="{454B04CD-B02D-49CB-997D-4FB7B98AFAB6}"/>
              </a:ext>
            </a:extLst>
          </p:cNvPr>
          <p:cNvSpPr>
            <a:spLocks noGrp="1"/>
          </p:cNvSpPr>
          <p:nvPr/>
        </p:nvSpPr>
        <p:spPr>
          <a:xfrm>
            <a:off x="4881563" y="3095625"/>
            <a:ext cx="1785938" cy="1071563"/>
          </a:xfrm>
          <a:prstGeom prst="rect">
            <a:avLst/>
          </a:prstGeom>
          <a:solidFill>
            <a:srgbClr val="EFF6FF"/>
          </a:solidFill>
          <a:ln w="23813">
            <a:solidFill>
              <a:srgbClr val="1D4ED8"/>
            </a:solidFill>
          </a:ln>
        </p:spPr>
      </p:sp>
      <p:sp>
        <p:nvSpPr>
          <p:cNvPr id="11" name="object-11">
            <a:extLst>
              <a:ext uri="{FF2B5EF4-FFF2-40B4-BE49-F238E27FC236}">
                <a16:creationId xmlns:a16="http://schemas.microsoft.com/office/drawing/2014/main" id="{F53D23F3-010F-403F-8306-5DEFE41C71AB}"/>
              </a:ext>
            </a:extLst>
          </p:cNvPr>
          <p:cNvSpPr>
            <a:spLocks noGrp="1"/>
          </p:cNvSpPr>
          <p:nvPr/>
        </p:nvSpPr>
        <p:spPr>
          <a:xfrm>
            <a:off x="4881563"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2" name="object-12">
            <a:extLst>
              <a:ext uri="{FF2B5EF4-FFF2-40B4-BE49-F238E27FC236}">
                <a16:creationId xmlns:a16="http://schemas.microsoft.com/office/drawing/2014/main" id="{1FBF280D-67D7-43A8-B6D7-8B16BE50BA71}"/>
              </a:ext>
            </a:extLst>
          </p:cNvPr>
          <p:cNvSpPr>
            <a:spLocks noGrp="1"/>
          </p:cNvSpPr>
          <p:nvPr/>
        </p:nvSpPr>
        <p:spPr>
          <a:xfrm>
            <a:off x="6667500" y="3095625"/>
            <a:ext cx="1785938" cy="1071563"/>
          </a:xfrm>
          <a:prstGeom prst="rect">
            <a:avLst/>
          </a:prstGeom>
          <a:solidFill>
            <a:srgbClr val="EFF6FF"/>
          </a:solidFill>
          <a:ln w="23813">
            <a:solidFill>
              <a:srgbClr val="1D4ED8"/>
            </a:solidFill>
          </a:ln>
        </p:spPr>
      </p:sp>
      <p:sp>
        <p:nvSpPr>
          <p:cNvPr id="13" name="object-13">
            <a:extLst>
              <a:ext uri="{FF2B5EF4-FFF2-40B4-BE49-F238E27FC236}">
                <a16:creationId xmlns:a16="http://schemas.microsoft.com/office/drawing/2014/main" id="{BAFC89A2-9C33-46E8-9629-D1934F246B0C}"/>
              </a:ext>
            </a:extLst>
          </p:cNvPr>
          <p:cNvSpPr>
            <a:spLocks noGrp="1"/>
          </p:cNvSpPr>
          <p:nvPr/>
        </p:nvSpPr>
        <p:spPr>
          <a:xfrm>
            <a:off x="6667500"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4" name="object-14">
            <a:extLst>
              <a:ext uri="{FF2B5EF4-FFF2-40B4-BE49-F238E27FC236}">
                <a16:creationId xmlns:a16="http://schemas.microsoft.com/office/drawing/2014/main" id="{544D3DEB-0AC7-463A-8FC3-C76128E18881}"/>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+ 12</a:t>
            </a:r>
          </a:p>
        </p:txBody>
      </p:sp>
      <p:sp>
        <p:nvSpPr>
          <p:cNvPr id="15" name="object-15">
            <a:extLst>
              <a:ext uri="{FF2B5EF4-FFF2-40B4-BE49-F238E27FC236}">
                <a16:creationId xmlns:a16="http://schemas.microsoft.com/office/drawing/2014/main" id="{53A593FB-84C5-442E-B691-ED3057EAAD4D}"/>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40</a:t>
            </a:r>
          </a:p>
        </p:txBody>
      </p:sp>
      <p:sp>
        <p:nvSpPr>
          <p:cNvPr id="16" name="object-16">
            <a:extLst>
              <a:ext uri="{FF2B5EF4-FFF2-40B4-BE49-F238E27FC236}">
                <a16:creationId xmlns:a16="http://schemas.microsoft.com/office/drawing/2014/main" id="{C8618768-B1E1-4B35-BCE5-A9C533D0B249}"/>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12 on both sides</a:t>
            </a:r>
          </a:p>
        </p:txBody>
      </p:sp>
      <p:sp>
        <p:nvSpPr>
          <p:cNvPr id="17" name="object-17">
            <a:extLst>
              <a:ext uri="{FF2B5EF4-FFF2-40B4-BE49-F238E27FC236}">
                <a16:creationId xmlns:a16="http://schemas.microsoft.com/office/drawing/2014/main" id="{949D2C99-DF3A-48D7-9A30-08D2B61C19F2}"/>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4x = 28</a:t>
            </a:r>
          </a:p>
        </p:txBody>
      </p:sp>
      <p:sp>
        <p:nvSpPr>
          <p:cNvPr id="18" name="object-18">
            <a:extLst>
              <a:ext uri="{FF2B5EF4-FFF2-40B4-BE49-F238E27FC236}">
                <a16:creationId xmlns:a16="http://schemas.microsoft.com/office/drawing/2014/main" id="{F457A611-9BE6-4607-97D7-7F432CAE4053}"/>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7</a:t>
            </a:r>
          </a:p>
        </p:txBody>
      </p:sp>
    </p:spTree>
    <p:extLst>
      <p:ext uri="{BB962C8B-B14F-4D97-AF65-F5344CB8AC3E}">
        <p14:creationId xmlns:p14="http://schemas.microsoft.com/office/powerpoint/2010/main" val="890794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1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8" grpId="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object-1">
            <a:extLst>
              <a:ext uri="{FF2B5EF4-FFF2-40B4-BE49-F238E27FC236}">
                <a16:creationId xmlns:a16="http://schemas.microsoft.com/office/drawing/2014/main" id="{DD31C1BC-16BE-473D-ACEF-B44AC56D7932}"/>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A433C73-2893-43D3-9273-91D4862AEDE1}"/>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7C1E5308-D8D5-4715-BA89-52ED9B57E7D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4x + 12 = 48.</a:t>
            </a:r>
          </a:p>
        </p:txBody>
      </p:sp>
      <p:sp>
        <p:nvSpPr>
          <p:cNvPr id="4" name="object-4">
            <a:extLst>
              <a:ext uri="{FF2B5EF4-FFF2-40B4-BE49-F238E27FC236}">
                <a16:creationId xmlns:a16="http://schemas.microsoft.com/office/drawing/2014/main" id="{4808EFCE-A3C0-41CD-94BF-95C18B5B02EC}"/>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E04721D2-9685-496F-97CF-8401D91EDAD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about equivalent equations</a:t>
            </a:r>
          </a:p>
        </p:txBody>
      </p:sp>
      <p:sp>
        <p:nvSpPr>
          <p:cNvPr id="6" name="object-6">
            <a:extLst>
              <a:ext uri="{FF2B5EF4-FFF2-40B4-BE49-F238E27FC236}">
                <a16:creationId xmlns:a16="http://schemas.microsoft.com/office/drawing/2014/main" id="{A5886511-A6F4-4041-ABC2-209C690BBE5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93121D10-E6AC-47AE-8F73-BB80A7C91407}"/>
              </a:ext>
            </a:extLst>
          </p:cNvPr>
          <p:cNvSpPr>
            <a:spLocks noGrp="1"/>
          </p:cNvSpPr>
          <p:nvPr/>
        </p:nvSpPr>
        <p:spPr>
          <a:xfrm>
            <a:off x="1309688" y="3095625"/>
            <a:ext cx="1785938" cy="1071563"/>
          </a:xfrm>
          <a:prstGeom prst="rect">
            <a:avLst/>
          </a:prstGeom>
          <a:solidFill>
            <a:srgbClr val="EFF6FF"/>
          </a:solidFill>
          <a:ln w="23813">
            <a:solidFill>
              <a:srgbClr val="1D4ED8"/>
            </a:solidFill>
          </a:ln>
        </p:spPr>
      </p:sp>
      <p:sp>
        <p:nvSpPr>
          <p:cNvPr id="8" name="object-8">
            <a:extLst>
              <a:ext uri="{FF2B5EF4-FFF2-40B4-BE49-F238E27FC236}">
                <a16:creationId xmlns:a16="http://schemas.microsoft.com/office/drawing/2014/main" id="{1DADFA8F-2F88-46B9-B9E6-276046F9A8A4}"/>
              </a:ext>
            </a:extLst>
          </p:cNvPr>
          <p:cNvSpPr>
            <a:spLocks noGrp="1"/>
          </p:cNvSpPr>
          <p:nvPr/>
        </p:nvSpPr>
        <p:spPr>
          <a:xfrm>
            <a:off x="1309688"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9" name="object-9">
            <a:extLst>
              <a:ext uri="{FF2B5EF4-FFF2-40B4-BE49-F238E27FC236}">
                <a16:creationId xmlns:a16="http://schemas.microsoft.com/office/drawing/2014/main" id="{66DCE980-C0E1-4B4B-A869-AA597017F5A2}"/>
              </a:ext>
            </a:extLst>
          </p:cNvPr>
          <p:cNvSpPr>
            <a:spLocks noGrp="1"/>
          </p:cNvSpPr>
          <p:nvPr/>
        </p:nvSpPr>
        <p:spPr>
          <a:xfrm>
            <a:off x="3095625" y="3095625"/>
            <a:ext cx="1785938" cy="1071563"/>
          </a:xfrm>
          <a:prstGeom prst="rect">
            <a:avLst/>
          </a:prstGeom>
          <a:solidFill>
            <a:srgbClr val="EFF6FF"/>
          </a:solidFill>
          <a:ln w="23813">
            <a:solidFill>
              <a:srgbClr val="1D4ED8"/>
            </a:solidFill>
          </a:ln>
        </p:spPr>
      </p:sp>
      <p:sp>
        <p:nvSpPr>
          <p:cNvPr id="10" name="object-10">
            <a:extLst>
              <a:ext uri="{FF2B5EF4-FFF2-40B4-BE49-F238E27FC236}">
                <a16:creationId xmlns:a16="http://schemas.microsoft.com/office/drawing/2014/main" id="{8F0DAD81-74A0-4955-B3A0-0950AFF393A6}"/>
              </a:ext>
            </a:extLst>
          </p:cNvPr>
          <p:cNvSpPr>
            <a:spLocks noGrp="1"/>
          </p:cNvSpPr>
          <p:nvPr/>
        </p:nvSpPr>
        <p:spPr>
          <a:xfrm>
            <a:off x="3095625"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1" name="object-11">
            <a:extLst>
              <a:ext uri="{FF2B5EF4-FFF2-40B4-BE49-F238E27FC236}">
                <a16:creationId xmlns:a16="http://schemas.microsoft.com/office/drawing/2014/main" id="{DC51AAFB-A8FF-42C4-AAE2-D6BD4F20321B}"/>
              </a:ext>
            </a:extLst>
          </p:cNvPr>
          <p:cNvSpPr>
            <a:spLocks noGrp="1"/>
          </p:cNvSpPr>
          <p:nvPr/>
        </p:nvSpPr>
        <p:spPr>
          <a:xfrm>
            <a:off x="4881563" y="3095625"/>
            <a:ext cx="1785938" cy="1071563"/>
          </a:xfrm>
          <a:prstGeom prst="rect">
            <a:avLst/>
          </a:prstGeom>
          <a:solidFill>
            <a:srgbClr val="EFF6FF"/>
          </a:solidFill>
          <a:ln w="23813">
            <a:solidFill>
              <a:srgbClr val="1D4ED8"/>
            </a:solidFill>
          </a:ln>
        </p:spPr>
      </p:sp>
      <p:sp>
        <p:nvSpPr>
          <p:cNvPr id="12" name="object-12">
            <a:extLst>
              <a:ext uri="{FF2B5EF4-FFF2-40B4-BE49-F238E27FC236}">
                <a16:creationId xmlns:a16="http://schemas.microsoft.com/office/drawing/2014/main" id="{36AAADFC-11DC-4C7A-87CF-0E455EF0D921}"/>
              </a:ext>
            </a:extLst>
          </p:cNvPr>
          <p:cNvSpPr>
            <a:spLocks noGrp="1"/>
          </p:cNvSpPr>
          <p:nvPr/>
        </p:nvSpPr>
        <p:spPr>
          <a:xfrm>
            <a:off x="4881563"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3" name="object-13">
            <a:extLst>
              <a:ext uri="{FF2B5EF4-FFF2-40B4-BE49-F238E27FC236}">
                <a16:creationId xmlns:a16="http://schemas.microsoft.com/office/drawing/2014/main" id="{5A81E168-F2FE-4D81-9E1F-78636711994A}"/>
              </a:ext>
            </a:extLst>
          </p:cNvPr>
          <p:cNvSpPr>
            <a:spLocks noGrp="1"/>
          </p:cNvSpPr>
          <p:nvPr/>
        </p:nvSpPr>
        <p:spPr>
          <a:xfrm>
            <a:off x="6667500" y="3095625"/>
            <a:ext cx="1785938" cy="1071563"/>
          </a:xfrm>
          <a:prstGeom prst="rect">
            <a:avLst/>
          </a:prstGeom>
          <a:solidFill>
            <a:srgbClr val="EFF6FF"/>
          </a:solidFill>
          <a:ln w="23813">
            <a:solidFill>
              <a:srgbClr val="1D4ED8"/>
            </a:solidFill>
          </a:ln>
        </p:spPr>
      </p:sp>
      <p:sp>
        <p:nvSpPr>
          <p:cNvPr id="14" name="object-14">
            <a:extLst>
              <a:ext uri="{FF2B5EF4-FFF2-40B4-BE49-F238E27FC236}">
                <a16:creationId xmlns:a16="http://schemas.microsoft.com/office/drawing/2014/main" id="{378B8A25-1A06-430A-BD89-EF2685714B42}"/>
              </a:ext>
            </a:extLst>
          </p:cNvPr>
          <p:cNvSpPr>
            <a:spLocks noGrp="1"/>
          </p:cNvSpPr>
          <p:nvPr/>
        </p:nvSpPr>
        <p:spPr>
          <a:xfrm>
            <a:off x="6667500"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5" name="object-15">
            <a:extLst>
              <a:ext uri="{FF2B5EF4-FFF2-40B4-BE49-F238E27FC236}">
                <a16:creationId xmlns:a16="http://schemas.microsoft.com/office/drawing/2014/main" id="{B9D2DB51-E054-4F4A-874E-A7225DD113AD}"/>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+ 12</a:t>
            </a:r>
          </a:p>
        </p:txBody>
      </p:sp>
      <p:sp>
        <p:nvSpPr>
          <p:cNvPr id="16" name="object-16">
            <a:extLst>
              <a:ext uri="{FF2B5EF4-FFF2-40B4-BE49-F238E27FC236}">
                <a16:creationId xmlns:a16="http://schemas.microsoft.com/office/drawing/2014/main" id="{9F19C2FC-9F7E-4717-9063-371C0843F2D8}"/>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48</a:t>
            </a:r>
          </a:p>
        </p:txBody>
      </p:sp>
      <p:sp>
        <p:nvSpPr>
          <p:cNvPr id="17" name="object-17">
            <a:extLst>
              <a:ext uri="{FF2B5EF4-FFF2-40B4-BE49-F238E27FC236}">
                <a16:creationId xmlns:a16="http://schemas.microsoft.com/office/drawing/2014/main" id="{8931B172-CA6E-4CFF-92B4-51DFB2BFF969}"/>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12 on both sides</a:t>
            </a:r>
          </a:p>
        </p:txBody>
      </p:sp>
      <p:sp>
        <p:nvSpPr>
          <p:cNvPr id="18" name="object-18">
            <a:extLst>
              <a:ext uri="{FF2B5EF4-FFF2-40B4-BE49-F238E27FC236}">
                <a16:creationId xmlns:a16="http://schemas.microsoft.com/office/drawing/2014/main" id="{8301C264-48F2-485A-BEB6-D8AA1EDBF1BA}"/>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4x = 36</a:t>
            </a:r>
          </a:p>
        </p:txBody>
      </p:sp>
      <p:sp>
        <p:nvSpPr>
          <p:cNvPr id="19" name="object-19">
            <a:extLst>
              <a:ext uri="{FF2B5EF4-FFF2-40B4-BE49-F238E27FC236}">
                <a16:creationId xmlns:a16="http://schemas.microsoft.com/office/drawing/2014/main" id="{3D8EA2A1-DE81-4AC9-AD02-97C370BC380E}"/>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9</a:t>
            </a:r>
          </a:p>
        </p:txBody>
      </p:sp>
    </p:spTree>
    <p:extLst>
      <p:ext uri="{BB962C8B-B14F-4D97-AF65-F5344CB8AC3E}">
        <p14:creationId xmlns:p14="http://schemas.microsoft.com/office/powerpoint/2010/main" val="1859626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1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19"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object-1">
            <a:extLst>
              <a:ext uri="{FF2B5EF4-FFF2-40B4-BE49-F238E27FC236}">
                <a16:creationId xmlns:a16="http://schemas.microsoft.com/office/drawing/2014/main" id="{19981F12-CEFB-4DA3-8D91-86467C5BC22D}"/>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D28B1353-C27D-408A-A0F0-F2A57D04029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4x + 12 = 56.</a:t>
            </a:r>
          </a:p>
        </p:txBody>
      </p:sp>
      <p:sp>
        <p:nvSpPr>
          <p:cNvPr id="3" name="object-3">
            <a:extLst>
              <a:ext uri="{FF2B5EF4-FFF2-40B4-BE49-F238E27FC236}">
                <a16:creationId xmlns:a16="http://schemas.microsoft.com/office/drawing/2014/main" id="{B92B02C2-E114-4C53-ADBB-1018B5CE287D}"/>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35D558C-417F-404B-91BA-2AB3CD5D9C1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about equivalent equations</a:t>
            </a:r>
          </a:p>
        </p:txBody>
      </p:sp>
      <p:sp>
        <p:nvSpPr>
          <p:cNvPr id="5" name="object-5">
            <a:extLst>
              <a:ext uri="{FF2B5EF4-FFF2-40B4-BE49-F238E27FC236}">
                <a16:creationId xmlns:a16="http://schemas.microsoft.com/office/drawing/2014/main" id="{A6BCB449-1EDD-4F72-922B-EE3FAD87BA3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760EAB61-03EA-4359-BDB9-AC111AAC56E5}"/>
              </a:ext>
            </a:extLst>
          </p:cNvPr>
          <p:cNvSpPr>
            <a:spLocks noGrp="1"/>
          </p:cNvSpPr>
          <p:nvPr/>
        </p:nvSpPr>
        <p:spPr>
          <a:xfrm>
            <a:off x="1309688" y="3095625"/>
            <a:ext cx="1785938" cy="1071563"/>
          </a:xfrm>
          <a:prstGeom prst="rect">
            <a:avLst/>
          </a:prstGeom>
          <a:solidFill>
            <a:srgbClr val="EFF6FF"/>
          </a:solidFill>
          <a:ln w="23813">
            <a:solidFill>
              <a:srgbClr val="1D4ED8"/>
            </a:solidFill>
          </a:ln>
        </p:spPr>
      </p:sp>
      <p:sp>
        <p:nvSpPr>
          <p:cNvPr id="7" name="object-7">
            <a:extLst>
              <a:ext uri="{FF2B5EF4-FFF2-40B4-BE49-F238E27FC236}">
                <a16:creationId xmlns:a16="http://schemas.microsoft.com/office/drawing/2014/main" id="{46486CCA-57C6-41F7-B1A5-6AD8B8F9ECED}"/>
              </a:ext>
            </a:extLst>
          </p:cNvPr>
          <p:cNvSpPr>
            <a:spLocks noGrp="1"/>
          </p:cNvSpPr>
          <p:nvPr/>
        </p:nvSpPr>
        <p:spPr>
          <a:xfrm>
            <a:off x="1309688"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8" name="object-8">
            <a:extLst>
              <a:ext uri="{FF2B5EF4-FFF2-40B4-BE49-F238E27FC236}">
                <a16:creationId xmlns:a16="http://schemas.microsoft.com/office/drawing/2014/main" id="{F6BB9F0F-38FB-491C-AB77-46639667C93A}"/>
              </a:ext>
            </a:extLst>
          </p:cNvPr>
          <p:cNvSpPr>
            <a:spLocks noGrp="1"/>
          </p:cNvSpPr>
          <p:nvPr/>
        </p:nvSpPr>
        <p:spPr>
          <a:xfrm>
            <a:off x="3095625" y="3095625"/>
            <a:ext cx="1785938" cy="1071563"/>
          </a:xfrm>
          <a:prstGeom prst="rect">
            <a:avLst/>
          </a:prstGeom>
          <a:solidFill>
            <a:srgbClr val="EFF6FF"/>
          </a:solidFill>
          <a:ln w="23813">
            <a:solidFill>
              <a:srgbClr val="1D4ED8"/>
            </a:solidFill>
          </a:ln>
        </p:spPr>
      </p:sp>
      <p:sp>
        <p:nvSpPr>
          <p:cNvPr id="9" name="object-9">
            <a:extLst>
              <a:ext uri="{FF2B5EF4-FFF2-40B4-BE49-F238E27FC236}">
                <a16:creationId xmlns:a16="http://schemas.microsoft.com/office/drawing/2014/main" id="{E509D107-60A9-481B-B86A-CD5CD8CE8691}"/>
              </a:ext>
            </a:extLst>
          </p:cNvPr>
          <p:cNvSpPr>
            <a:spLocks noGrp="1"/>
          </p:cNvSpPr>
          <p:nvPr/>
        </p:nvSpPr>
        <p:spPr>
          <a:xfrm>
            <a:off x="3095625"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0" name="object-10">
            <a:extLst>
              <a:ext uri="{FF2B5EF4-FFF2-40B4-BE49-F238E27FC236}">
                <a16:creationId xmlns:a16="http://schemas.microsoft.com/office/drawing/2014/main" id="{A1FB34D6-BC8F-408E-BFE0-8016E0593CB1}"/>
              </a:ext>
            </a:extLst>
          </p:cNvPr>
          <p:cNvSpPr>
            <a:spLocks noGrp="1"/>
          </p:cNvSpPr>
          <p:nvPr/>
        </p:nvSpPr>
        <p:spPr>
          <a:xfrm>
            <a:off x="4881563" y="3095625"/>
            <a:ext cx="1785938" cy="1071563"/>
          </a:xfrm>
          <a:prstGeom prst="rect">
            <a:avLst/>
          </a:prstGeom>
          <a:solidFill>
            <a:srgbClr val="EFF6FF"/>
          </a:solidFill>
          <a:ln w="23813">
            <a:solidFill>
              <a:srgbClr val="1D4ED8"/>
            </a:solidFill>
          </a:ln>
        </p:spPr>
      </p:sp>
      <p:sp>
        <p:nvSpPr>
          <p:cNvPr id="11" name="object-11">
            <a:extLst>
              <a:ext uri="{FF2B5EF4-FFF2-40B4-BE49-F238E27FC236}">
                <a16:creationId xmlns:a16="http://schemas.microsoft.com/office/drawing/2014/main" id="{997E6BE5-A959-4899-BE05-8392A95A3A31}"/>
              </a:ext>
            </a:extLst>
          </p:cNvPr>
          <p:cNvSpPr>
            <a:spLocks noGrp="1"/>
          </p:cNvSpPr>
          <p:nvPr/>
        </p:nvSpPr>
        <p:spPr>
          <a:xfrm>
            <a:off x="4881563"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2" name="object-12">
            <a:extLst>
              <a:ext uri="{FF2B5EF4-FFF2-40B4-BE49-F238E27FC236}">
                <a16:creationId xmlns:a16="http://schemas.microsoft.com/office/drawing/2014/main" id="{E80F0CA5-637C-4591-85FC-6BC132BC76F5}"/>
              </a:ext>
            </a:extLst>
          </p:cNvPr>
          <p:cNvSpPr>
            <a:spLocks noGrp="1"/>
          </p:cNvSpPr>
          <p:nvPr/>
        </p:nvSpPr>
        <p:spPr>
          <a:xfrm>
            <a:off x="6667500" y="3095625"/>
            <a:ext cx="1785938" cy="1071563"/>
          </a:xfrm>
          <a:prstGeom prst="rect">
            <a:avLst/>
          </a:prstGeom>
          <a:solidFill>
            <a:srgbClr val="EFF6FF"/>
          </a:solidFill>
          <a:ln w="23813">
            <a:solidFill>
              <a:srgbClr val="1D4ED8"/>
            </a:solidFill>
          </a:ln>
        </p:spPr>
      </p:sp>
      <p:sp>
        <p:nvSpPr>
          <p:cNvPr id="13" name="object-13">
            <a:extLst>
              <a:ext uri="{FF2B5EF4-FFF2-40B4-BE49-F238E27FC236}">
                <a16:creationId xmlns:a16="http://schemas.microsoft.com/office/drawing/2014/main" id="{73E52336-E403-4559-A438-4EA9EEDAAC8F}"/>
              </a:ext>
            </a:extLst>
          </p:cNvPr>
          <p:cNvSpPr>
            <a:spLocks noGrp="1"/>
          </p:cNvSpPr>
          <p:nvPr/>
        </p:nvSpPr>
        <p:spPr>
          <a:xfrm>
            <a:off x="6667500"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4" name="object-14">
            <a:extLst>
              <a:ext uri="{FF2B5EF4-FFF2-40B4-BE49-F238E27FC236}">
                <a16:creationId xmlns:a16="http://schemas.microsoft.com/office/drawing/2014/main" id="{3DEEE9CD-5FC2-4118-B7F8-E157D25FAAE3}"/>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+ 12</a:t>
            </a:r>
          </a:p>
        </p:txBody>
      </p:sp>
      <p:sp>
        <p:nvSpPr>
          <p:cNvPr id="15" name="object-15">
            <a:extLst>
              <a:ext uri="{FF2B5EF4-FFF2-40B4-BE49-F238E27FC236}">
                <a16:creationId xmlns:a16="http://schemas.microsoft.com/office/drawing/2014/main" id="{000C5965-BA06-4989-B649-3CC1324DC451}"/>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56</a:t>
            </a:r>
          </a:p>
        </p:txBody>
      </p:sp>
      <p:sp>
        <p:nvSpPr>
          <p:cNvPr id="16" name="object-16">
            <a:extLst>
              <a:ext uri="{FF2B5EF4-FFF2-40B4-BE49-F238E27FC236}">
                <a16:creationId xmlns:a16="http://schemas.microsoft.com/office/drawing/2014/main" id="{D12FDBB9-1374-4EC9-9634-D0F726F033F8}"/>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12 on both sides</a:t>
            </a:r>
          </a:p>
        </p:txBody>
      </p:sp>
      <p:sp>
        <p:nvSpPr>
          <p:cNvPr id="17" name="object-17">
            <a:extLst>
              <a:ext uri="{FF2B5EF4-FFF2-40B4-BE49-F238E27FC236}">
                <a16:creationId xmlns:a16="http://schemas.microsoft.com/office/drawing/2014/main" id="{CEEDA1DB-5140-4C56-B539-107823AC7267}"/>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4x = 44</a:t>
            </a:r>
          </a:p>
        </p:txBody>
      </p:sp>
      <p:sp>
        <p:nvSpPr>
          <p:cNvPr id="18" name="object-18">
            <a:extLst>
              <a:ext uri="{FF2B5EF4-FFF2-40B4-BE49-F238E27FC236}">
                <a16:creationId xmlns:a16="http://schemas.microsoft.com/office/drawing/2014/main" id="{25ECB7D7-211D-4FE4-8328-D2E225F5304D}"/>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11</a:t>
            </a:r>
          </a:p>
        </p:txBody>
      </p:sp>
    </p:spTree>
    <p:extLst>
      <p:ext uri="{BB962C8B-B14F-4D97-AF65-F5344CB8AC3E}">
        <p14:creationId xmlns:p14="http://schemas.microsoft.com/office/powerpoint/2010/main" val="1618136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1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8" grpId="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object-1">
            <a:extLst>
              <a:ext uri="{FF2B5EF4-FFF2-40B4-BE49-F238E27FC236}">
                <a16:creationId xmlns:a16="http://schemas.microsoft.com/office/drawing/2014/main" id="{932DABE6-FFD8-403C-B1AC-7B4CE5B6DBB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FF90643-7DEB-4C17-88FC-AFCC6F537524}"/>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9B2D7A05-99CE-4861-AD06-C9F33C752F4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4x + 12 = 64.</a:t>
            </a:r>
          </a:p>
        </p:txBody>
      </p:sp>
      <p:sp>
        <p:nvSpPr>
          <p:cNvPr id="4" name="object-4">
            <a:extLst>
              <a:ext uri="{FF2B5EF4-FFF2-40B4-BE49-F238E27FC236}">
                <a16:creationId xmlns:a16="http://schemas.microsoft.com/office/drawing/2014/main" id="{309FD1FE-28E4-42CD-9D79-BDFD420FFCA7}"/>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1B9C2778-E89D-4D42-B85C-83E653DBABA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about equivalent equations</a:t>
            </a:r>
          </a:p>
        </p:txBody>
      </p:sp>
      <p:sp>
        <p:nvSpPr>
          <p:cNvPr id="6" name="object-6">
            <a:extLst>
              <a:ext uri="{FF2B5EF4-FFF2-40B4-BE49-F238E27FC236}">
                <a16:creationId xmlns:a16="http://schemas.microsoft.com/office/drawing/2014/main" id="{CCFF1E83-BF33-4D8A-901D-EC34CDC93EEB}"/>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1E706D01-0847-4F10-8FF1-0F48D6B603D0}"/>
              </a:ext>
            </a:extLst>
          </p:cNvPr>
          <p:cNvSpPr>
            <a:spLocks noGrp="1"/>
          </p:cNvSpPr>
          <p:nvPr/>
        </p:nvSpPr>
        <p:spPr>
          <a:xfrm>
            <a:off x="1309688" y="3095625"/>
            <a:ext cx="1785938" cy="1071563"/>
          </a:xfrm>
          <a:prstGeom prst="rect">
            <a:avLst/>
          </a:prstGeom>
          <a:solidFill>
            <a:srgbClr val="EFF6FF"/>
          </a:solidFill>
          <a:ln w="23813">
            <a:solidFill>
              <a:srgbClr val="1D4ED8"/>
            </a:solidFill>
          </a:ln>
        </p:spPr>
      </p:sp>
      <p:sp>
        <p:nvSpPr>
          <p:cNvPr id="8" name="object-8">
            <a:extLst>
              <a:ext uri="{FF2B5EF4-FFF2-40B4-BE49-F238E27FC236}">
                <a16:creationId xmlns:a16="http://schemas.microsoft.com/office/drawing/2014/main" id="{37980A09-8032-4626-B472-F1CED00DC625}"/>
              </a:ext>
            </a:extLst>
          </p:cNvPr>
          <p:cNvSpPr>
            <a:spLocks noGrp="1"/>
          </p:cNvSpPr>
          <p:nvPr/>
        </p:nvSpPr>
        <p:spPr>
          <a:xfrm>
            <a:off x="1309688"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9" name="object-9">
            <a:extLst>
              <a:ext uri="{FF2B5EF4-FFF2-40B4-BE49-F238E27FC236}">
                <a16:creationId xmlns:a16="http://schemas.microsoft.com/office/drawing/2014/main" id="{7C3316EF-776A-4147-B115-E84B7EA0B855}"/>
              </a:ext>
            </a:extLst>
          </p:cNvPr>
          <p:cNvSpPr>
            <a:spLocks noGrp="1"/>
          </p:cNvSpPr>
          <p:nvPr/>
        </p:nvSpPr>
        <p:spPr>
          <a:xfrm>
            <a:off x="3095625" y="3095625"/>
            <a:ext cx="1785938" cy="1071563"/>
          </a:xfrm>
          <a:prstGeom prst="rect">
            <a:avLst/>
          </a:prstGeom>
          <a:solidFill>
            <a:srgbClr val="EFF6FF"/>
          </a:solidFill>
          <a:ln w="23813">
            <a:solidFill>
              <a:srgbClr val="1D4ED8"/>
            </a:solidFill>
          </a:ln>
        </p:spPr>
      </p:sp>
      <p:sp>
        <p:nvSpPr>
          <p:cNvPr id="10" name="object-10">
            <a:extLst>
              <a:ext uri="{FF2B5EF4-FFF2-40B4-BE49-F238E27FC236}">
                <a16:creationId xmlns:a16="http://schemas.microsoft.com/office/drawing/2014/main" id="{89309A46-A0F3-4407-842F-0C0E6371C993}"/>
              </a:ext>
            </a:extLst>
          </p:cNvPr>
          <p:cNvSpPr>
            <a:spLocks noGrp="1"/>
          </p:cNvSpPr>
          <p:nvPr/>
        </p:nvSpPr>
        <p:spPr>
          <a:xfrm>
            <a:off x="3095625"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1" name="object-11">
            <a:extLst>
              <a:ext uri="{FF2B5EF4-FFF2-40B4-BE49-F238E27FC236}">
                <a16:creationId xmlns:a16="http://schemas.microsoft.com/office/drawing/2014/main" id="{8CB35AAD-A9EF-4096-9094-502F22DF72B1}"/>
              </a:ext>
            </a:extLst>
          </p:cNvPr>
          <p:cNvSpPr>
            <a:spLocks noGrp="1"/>
          </p:cNvSpPr>
          <p:nvPr/>
        </p:nvSpPr>
        <p:spPr>
          <a:xfrm>
            <a:off x="4881563" y="3095625"/>
            <a:ext cx="1785938" cy="1071563"/>
          </a:xfrm>
          <a:prstGeom prst="rect">
            <a:avLst/>
          </a:prstGeom>
          <a:solidFill>
            <a:srgbClr val="EFF6FF"/>
          </a:solidFill>
          <a:ln w="23813">
            <a:solidFill>
              <a:srgbClr val="1D4ED8"/>
            </a:solidFill>
          </a:ln>
        </p:spPr>
      </p:sp>
      <p:sp>
        <p:nvSpPr>
          <p:cNvPr id="12" name="object-12">
            <a:extLst>
              <a:ext uri="{FF2B5EF4-FFF2-40B4-BE49-F238E27FC236}">
                <a16:creationId xmlns:a16="http://schemas.microsoft.com/office/drawing/2014/main" id="{A8F66F79-C390-4854-9CAC-0A25C198FC9A}"/>
              </a:ext>
            </a:extLst>
          </p:cNvPr>
          <p:cNvSpPr>
            <a:spLocks noGrp="1"/>
          </p:cNvSpPr>
          <p:nvPr/>
        </p:nvSpPr>
        <p:spPr>
          <a:xfrm>
            <a:off x="4881563"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3" name="object-13">
            <a:extLst>
              <a:ext uri="{FF2B5EF4-FFF2-40B4-BE49-F238E27FC236}">
                <a16:creationId xmlns:a16="http://schemas.microsoft.com/office/drawing/2014/main" id="{537D48A3-286C-497F-ADCC-4FB694CDF3B8}"/>
              </a:ext>
            </a:extLst>
          </p:cNvPr>
          <p:cNvSpPr>
            <a:spLocks noGrp="1"/>
          </p:cNvSpPr>
          <p:nvPr/>
        </p:nvSpPr>
        <p:spPr>
          <a:xfrm>
            <a:off x="6667500" y="3095625"/>
            <a:ext cx="1785938" cy="1071563"/>
          </a:xfrm>
          <a:prstGeom prst="rect">
            <a:avLst/>
          </a:prstGeom>
          <a:solidFill>
            <a:srgbClr val="EFF6FF"/>
          </a:solidFill>
          <a:ln w="23813">
            <a:solidFill>
              <a:srgbClr val="1D4ED8"/>
            </a:solidFill>
          </a:ln>
        </p:spPr>
      </p:sp>
      <p:sp>
        <p:nvSpPr>
          <p:cNvPr id="14" name="object-14">
            <a:extLst>
              <a:ext uri="{FF2B5EF4-FFF2-40B4-BE49-F238E27FC236}">
                <a16:creationId xmlns:a16="http://schemas.microsoft.com/office/drawing/2014/main" id="{B8980CD2-F13E-49A5-97AD-85A09B215E5A}"/>
              </a:ext>
            </a:extLst>
          </p:cNvPr>
          <p:cNvSpPr>
            <a:spLocks noGrp="1"/>
          </p:cNvSpPr>
          <p:nvPr/>
        </p:nvSpPr>
        <p:spPr>
          <a:xfrm>
            <a:off x="6667500" y="3178969"/>
            <a:ext cx="1785938"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5" name="object-15">
            <a:extLst>
              <a:ext uri="{FF2B5EF4-FFF2-40B4-BE49-F238E27FC236}">
                <a16:creationId xmlns:a16="http://schemas.microsoft.com/office/drawing/2014/main" id="{974FF1B3-E19C-4149-AA30-8455A17EC0C5}"/>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+ 12</a:t>
            </a:r>
          </a:p>
        </p:txBody>
      </p:sp>
      <p:sp>
        <p:nvSpPr>
          <p:cNvPr id="16" name="object-16">
            <a:extLst>
              <a:ext uri="{FF2B5EF4-FFF2-40B4-BE49-F238E27FC236}">
                <a16:creationId xmlns:a16="http://schemas.microsoft.com/office/drawing/2014/main" id="{069D186F-78FB-4A6A-B495-C3BD5D48A1A0}"/>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64</a:t>
            </a:r>
          </a:p>
        </p:txBody>
      </p:sp>
      <p:sp>
        <p:nvSpPr>
          <p:cNvPr id="17" name="object-17">
            <a:extLst>
              <a:ext uri="{FF2B5EF4-FFF2-40B4-BE49-F238E27FC236}">
                <a16:creationId xmlns:a16="http://schemas.microsoft.com/office/drawing/2014/main" id="{51262AB1-A759-4640-B17F-6FF8F1483ACE}"/>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12 on both sides</a:t>
            </a:r>
          </a:p>
        </p:txBody>
      </p:sp>
      <p:sp>
        <p:nvSpPr>
          <p:cNvPr id="18" name="object-18">
            <a:extLst>
              <a:ext uri="{FF2B5EF4-FFF2-40B4-BE49-F238E27FC236}">
                <a16:creationId xmlns:a16="http://schemas.microsoft.com/office/drawing/2014/main" id="{45EFD348-8406-4466-B91A-9E552D5B06BF}"/>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4x = 52</a:t>
            </a:r>
          </a:p>
        </p:txBody>
      </p:sp>
      <p:sp>
        <p:nvSpPr>
          <p:cNvPr id="19" name="object-19">
            <a:extLst>
              <a:ext uri="{FF2B5EF4-FFF2-40B4-BE49-F238E27FC236}">
                <a16:creationId xmlns:a16="http://schemas.microsoft.com/office/drawing/2014/main" id="{2E4CEAD5-71E8-4C5B-AA40-0D3773505B1B}"/>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13</a:t>
            </a:r>
          </a:p>
        </p:txBody>
      </p:sp>
    </p:spTree>
    <p:extLst>
      <p:ext uri="{BB962C8B-B14F-4D97-AF65-F5344CB8AC3E}">
        <p14:creationId xmlns:p14="http://schemas.microsoft.com/office/powerpoint/2010/main" val="426450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1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19" grpId="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1B701A8E-BB93-48D3-A1CD-129B3B1B4A2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7090691-D43F-495B-9988-A3A96C2E152B}"/>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30A65293-912D-4D3D-A599-3EC5FFD0B22A}"/>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9FC775C7-3BAA-42F2-8D95-6F9E7BF396AE}"/>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412615AB-E8CA-4E07-8817-2A970A4AFB4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about equivalent equations</a:t>
            </a:r>
          </a:p>
        </p:txBody>
      </p:sp>
      <p:sp>
        <p:nvSpPr>
          <p:cNvPr id="6" name="object-6">
            <a:extLst>
              <a:ext uri="{FF2B5EF4-FFF2-40B4-BE49-F238E27FC236}">
                <a16:creationId xmlns:a16="http://schemas.microsoft.com/office/drawing/2014/main" id="{B03D17C1-32FB-486F-B32E-0ACB47013FC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F0AFA6E4-A1BB-4E41-ADC4-A7D7E3B7C4C9}"/>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B9F8C6BA-D000-4F5A-94E3-6E1783246D39}"/>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Do 4x + 12 = 40 and 2x + 6 = 20 have the same solution?</a:t>
            </a:r>
          </a:p>
        </p:txBody>
      </p:sp>
      <p:sp>
        <p:nvSpPr>
          <p:cNvPr id="9" name="object-9">
            <a:extLst>
              <a:ext uri="{FF2B5EF4-FFF2-40B4-BE49-F238E27FC236}">
                <a16:creationId xmlns:a16="http://schemas.microsoft.com/office/drawing/2014/main" id="{ACB50904-6F49-426D-8600-AA66B7A80FA6}"/>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D03CAF65-C312-4EDF-B294-F9DE8EBD5274}"/>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x + 38 = 91.</a:t>
            </a:r>
          </a:p>
        </p:txBody>
      </p:sp>
      <p:sp>
        <p:nvSpPr>
          <p:cNvPr id="11" name="object-11">
            <a:extLst>
              <a:ext uri="{FF2B5EF4-FFF2-40B4-BE49-F238E27FC236}">
                <a16:creationId xmlns:a16="http://schemas.microsoft.com/office/drawing/2014/main" id="{B1B81659-14BF-4A9D-AE62-63CE38A0CC3F}"/>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A7F5F503-AA2F-4C41-84A6-BC76CECB416D}"/>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5x - 7 = 48.</a:t>
            </a:r>
          </a:p>
        </p:txBody>
      </p:sp>
      <p:sp>
        <p:nvSpPr>
          <p:cNvPr id="13" name="object-13">
            <a:extLst>
              <a:ext uri="{FF2B5EF4-FFF2-40B4-BE49-F238E27FC236}">
                <a16:creationId xmlns:a16="http://schemas.microsoft.com/office/drawing/2014/main" id="{E5EDF448-3465-4401-86F5-31A43104EBAC}"/>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FE5B707C-E2BB-49D3-B3F3-589803DE5414}"/>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Do 4x + 12 = 40 and 2x + 6 = 20 have the same solution?</a:t>
            </a:r>
          </a:p>
        </p:txBody>
      </p:sp>
      <p:sp>
        <p:nvSpPr>
          <p:cNvPr id="15" name="object-15">
            <a:extLst>
              <a:ext uri="{FF2B5EF4-FFF2-40B4-BE49-F238E27FC236}">
                <a16:creationId xmlns:a16="http://schemas.microsoft.com/office/drawing/2014/main" id="{86D31624-A98E-46C0-BB7B-83BF0B62D937}"/>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60730D0A-AFC4-4942-9384-AE56DC45EABD}"/>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Solve x + 38 = 91.</a:t>
            </a:r>
          </a:p>
        </p:txBody>
      </p:sp>
      <p:sp>
        <p:nvSpPr>
          <p:cNvPr id="17" name="object-17">
            <a:extLst>
              <a:ext uri="{FF2B5EF4-FFF2-40B4-BE49-F238E27FC236}">
                <a16:creationId xmlns:a16="http://schemas.microsoft.com/office/drawing/2014/main" id="{FD3E139B-116F-44AB-A285-6FCEEAB48B6C}"/>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2B737C2C-D752-47FD-AFEB-7ED2CAC4B412}"/>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Solve 5x - 7 = 48.</a:t>
            </a:r>
          </a:p>
        </p:txBody>
      </p:sp>
      <p:sp>
        <p:nvSpPr>
          <p:cNvPr id="19" name="object-19">
            <a:extLst>
              <a:ext uri="{FF2B5EF4-FFF2-40B4-BE49-F238E27FC236}">
                <a16:creationId xmlns:a16="http://schemas.microsoft.com/office/drawing/2014/main" id="{8B55164A-44D7-4F3A-992A-AA3F96C039C8}"/>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E4AA6FF9-0E18-41A7-93F6-0D063FBC50A5}"/>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Solve 6(x + 4) = 72.</a:t>
            </a:r>
          </a:p>
        </p:txBody>
      </p:sp>
      <p:sp>
        <p:nvSpPr>
          <p:cNvPr id="21" name="object-21">
            <a:extLst>
              <a:ext uri="{FF2B5EF4-FFF2-40B4-BE49-F238E27FC236}">
                <a16:creationId xmlns:a16="http://schemas.microsoft.com/office/drawing/2014/main" id="{EA74BD75-027D-4060-9EA1-1A55C73D0006}"/>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DEAA0C37-4121-400E-B1CC-30F005B4336E}"/>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changes one side of an equation without making the same balanced change to the other side.</a:t>
            </a:r>
          </a:p>
        </p:txBody>
      </p:sp>
      <p:sp>
        <p:nvSpPr>
          <p:cNvPr id="23" name="object-23">
            <a:extLst>
              <a:ext uri="{FF2B5EF4-FFF2-40B4-BE49-F238E27FC236}">
                <a16:creationId xmlns:a16="http://schemas.microsoft.com/office/drawing/2014/main" id="{FC6C02D0-416D-4DF9-A970-E55A4F568CFB}"/>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A91E94DE-8059-4ED1-8946-9DC3DC88E381}"/>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B3F46B2F-F0FE-4042-BC3B-35266A2DD349}"/>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045968F6-43ED-41A4-A9B0-5924495DCDA5}"/>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Solve 5x - 7 = 48.</a:t>
            </a:r>
          </a:p>
        </p:txBody>
      </p:sp>
    </p:spTree>
    <p:extLst>
      <p:ext uri="{BB962C8B-B14F-4D97-AF65-F5344CB8AC3E}">
        <p14:creationId xmlns:p14="http://schemas.microsoft.com/office/powerpoint/2010/main" val="9243606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6E24CCDC-7608-4953-ADAF-DDAB5CF1A9A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FB006CFC-B9E1-4886-9E48-6A3AB52C15A4}"/>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88614940-D6F9-4EAD-AB23-E10802C79EA1}"/>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1854ED34-57A8-486A-95D3-AEAC52D5861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Reason about equivalent equations</a:t>
            </a:r>
          </a:p>
        </p:txBody>
      </p:sp>
      <p:sp>
        <p:nvSpPr>
          <p:cNvPr id="5" name="object-5">
            <a:extLst>
              <a:ext uri="{FF2B5EF4-FFF2-40B4-BE49-F238E27FC236}">
                <a16:creationId xmlns:a16="http://schemas.microsoft.com/office/drawing/2014/main" id="{D7E4CE8F-1C02-4010-820B-57A8E24553B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2CC1D8DA-6137-42A3-8DE7-0818541EEC31}"/>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0847A88E-B45F-4D8C-A90E-7B98E862C14E}"/>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Yes, both give x = 7.</a:t>
            </a:r>
          </a:p>
        </p:txBody>
      </p:sp>
      <p:sp>
        <p:nvSpPr>
          <p:cNvPr id="8" name="object-8">
            <a:extLst>
              <a:ext uri="{FF2B5EF4-FFF2-40B4-BE49-F238E27FC236}">
                <a16:creationId xmlns:a16="http://schemas.microsoft.com/office/drawing/2014/main" id="{BB4C5738-F459-4DB1-96B7-F887497B2040}"/>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B5B812D2-30C0-4736-B3F5-96C6DAAC0FC1}"/>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x = 53.</a:t>
            </a:r>
          </a:p>
        </p:txBody>
      </p:sp>
      <p:sp>
        <p:nvSpPr>
          <p:cNvPr id="10" name="object-10">
            <a:extLst>
              <a:ext uri="{FF2B5EF4-FFF2-40B4-BE49-F238E27FC236}">
                <a16:creationId xmlns:a16="http://schemas.microsoft.com/office/drawing/2014/main" id="{AE07352D-F815-477D-ACAA-2FC0F8FE8FE6}"/>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2DA68AEB-D56F-441B-AE77-641442FCD47D}"/>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x = 11.</a:t>
            </a:r>
          </a:p>
        </p:txBody>
      </p:sp>
      <p:sp>
        <p:nvSpPr>
          <p:cNvPr id="12" name="object-12">
            <a:extLst>
              <a:ext uri="{FF2B5EF4-FFF2-40B4-BE49-F238E27FC236}">
                <a16:creationId xmlns:a16="http://schemas.microsoft.com/office/drawing/2014/main" id="{D9E2F5EA-9A1D-4E0E-80AF-D00E9FE1FBB0}"/>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8B465545-211C-49BB-B73D-95DF2B97068E}"/>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Yes, both give x = 7.</a:t>
            </a:r>
          </a:p>
        </p:txBody>
      </p:sp>
      <p:sp>
        <p:nvSpPr>
          <p:cNvPr id="14" name="object-14">
            <a:extLst>
              <a:ext uri="{FF2B5EF4-FFF2-40B4-BE49-F238E27FC236}">
                <a16:creationId xmlns:a16="http://schemas.microsoft.com/office/drawing/2014/main" id="{ADF5F1E0-188C-4B7B-BAF7-23F5F2CEC1B8}"/>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10D5BD4E-E3E2-4D9E-AF05-6CFB0CDB54F5}"/>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x = 53. Method or representation may vary.</a:t>
            </a:r>
          </a:p>
        </p:txBody>
      </p:sp>
      <p:sp>
        <p:nvSpPr>
          <p:cNvPr id="16" name="object-16">
            <a:extLst>
              <a:ext uri="{FF2B5EF4-FFF2-40B4-BE49-F238E27FC236}">
                <a16:creationId xmlns:a16="http://schemas.microsoft.com/office/drawing/2014/main" id="{71EA2D31-A9F4-4F99-ADD1-8135B58B129B}"/>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0AAEBB7C-1CC1-4D2E-ABC4-B23DCC219B12}"/>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x = 11. A valid check must be shown.</a:t>
            </a:r>
          </a:p>
        </p:txBody>
      </p:sp>
      <p:sp>
        <p:nvSpPr>
          <p:cNvPr id="18" name="object-18">
            <a:extLst>
              <a:ext uri="{FF2B5EF4-FFF2-40B4-BE49-F238E27FC236}">
                <a16:creationId xmlns:a16="http://schemas.microsoft.com/office/drawing/2014/main" id="{BFA33ADF-1A2E-4660-BEED-A9DD6F4D10B1}"/>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DD790DAE-29E5-44D2-92B8-34541BD522B3}"/>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x = 8. The explanation must show why the method works.</a:t>
            </a:r>
          </a:p>
        </p:txBody>
      </p:sp>
      <p:sp>
        <p:nvSpPr>
          <p:cNvPr id="20" name="object-20">
            <a:extLst>
              <a:ext uri="{FF2B5EF4-FFF2-40B4-BE49-F238E27FC236}">
                <a16:creationId xmlns:a16="http://schemas.microsoft.com/office/drawing/2014/main" id="{FFB3978C-833D-41BF-A9C7-8E713BDE465E}"/>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A036FA26-CE37-4495-894C-5E78E81BC0C5}"/>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Use an inverse operation on the whole equation and check by substitution.</a:t>
            </a:r>
          </a:p>
        </p:txBody>
      </p:sp>
      <p:sp>
        <p:nvSpPr>
          <p:cNvPr id="22" name="object-22">
            <a:extLst>
              <a:ext uri="{FF2B5EF4-FFF2-40B4-BE49-F238E27FC236}">
                <a16:creationId xmlns:a16="http://schemas.microsoft.com/office/drawing/2014/main" id="{C0F65723-6957-43E7-87C7-A945D5A6AC07}"/>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6F3666F2-2614-4F05-AD11-5AEA942B2377}"/>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CB9B2BB9-FAD2-48F4-8A3E-C4B84A0405E3}"/>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F09E5B08-0D7B-4DEF-87A5-59EA68F07CBD}"/>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01082909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962</Words>
  <Application>Microsoft Office PowerPoint</Application>
  <DocSecurity>0</DocSecurity>
  <PresentationFormat>Custom</PresentationFormat>
  <Paragraphs>122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2026-09-14T13:14:35Z</dcterms:created>
  <dcterms:modified xsi:type="dcterms:W3CDTF">2026-09-14T13:17:26Z</dcterms:modified>
</cp:coreProperties>
</file>