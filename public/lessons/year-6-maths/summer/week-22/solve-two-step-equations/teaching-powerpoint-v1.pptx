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9"/>
  </p:notesMasterIdLst>
  <p:sldIdLst>
    <p:sldId id="256" r:id="rId2"/>
    <p:sldId id="257" r:id="rId3"/>
    <p:sldId id="258" r:id="rId4"/>
    <p:sldId id="259" r:id="rId5"/>
    <p:sldId id="260" r:id="rId6"/>
    <p:sldId id="261" r:id="rId7"/>
    <p:sldId id="262" r:id="rId8"/>
  </p:sldIdLst>
  <p:sldSz cx="15240000" cy="85725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Solve two-step equations. Solve two-step equations. Introduce the mathematical idea using the first worked example. The lesson can be placed anywhere in the teaching sequence.</a:t>
            </a:r>
          </a:p>
          <a:p>
            <a:r>
              <a:t>All moving objects are editable. Each click advances a mathematical step. The final two slides reproduce the existing expected-level activity questions and answers.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Solve two-step equations. I do. Keep both sides equal. Undo addition or subtraction on both sides, then divide both sides by the coefficient.</a:t>
            </a:r>
          </a:p>
          <a:p>
            <a:r>
              <a:t>All moving objects are editable. Each click advances a mathematical step. The final two slides reproduce the existing expected-level activity questions and answers.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Solve two-step equations. You do. Pause before clicking. Let pupils try independently, then reveal and discuss every step. Keep both sides equal. Undo addition or subtraction on both sides, then divide both sides by the coefficient.</a:t>
            </a:r>
          </a:p>
          <a:p>
            <a:r>
              <a:t>All moving objects are editable. Each click advances a mathematical step. The final two slides reproduce the existing expected-level activity questions and answers.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Solve two-step equations. I do. Keep both sides equal. Undo addition or subtraction on both sides, then divide both sides by the coefficient.</a:t>
            </a:r>
          </a:p>
          <a:p>
            <a:r>
              <a:t>All moving objects are editable. Each click advances a mathematical step. The final two slides reproduce the existing expected-level activity questions and answers.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Solve two-step equations. You do. Pause before clicking. Let pupils try independently, then reveal and discuss every step. Keep both sides equal. Undo addition or subtraction on both sides, then divide both sides by the coefficient.</a:t>
            </a:r>
          </a:p>
          <a:p>
            <a:r>
              <a:t>All moving objects are editable. Each click advances a mathematical step. The final two slides reproduce the existing expected-level activity questions and answers.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Solve two-step equations. You do. Pause before clicking. Let pupils try independently, then reveal and discuss every step. These are the existing expected-level worksheet questions, in their original order. Do not advance to the answer slide until pupils have had time to finish.</a:t>
            </a:r>
          </a:p>
          <a:p>
            <a:r>
              <a:t>All moving objects are editable. Each click advances a mathematical step. The final two slides reproduce the existing expected-level activity questions and answers.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Solve two-step equations. Answers. Answers to the preceding complete activity question set, in matching order. Accept mathematically valid alternatives for open questions.</a:t>
            </a:r>
          </a:p>
          <a:p>
            <a:r>
              <a:t>All moving objects are editable. Each click advances a mathematical step. The final two slides reproduce the existing expected-level activity questions and answers.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 name="object-1">
            <a:extLst>
              <a:ext uri="{FF2B5EF4-FFF2-40B4-BE49-F238E27FC236}">
                <a16:creationId xmlns:a16="http://schemas.microsoft.com/office/drawing/2014/main" id="{C797A12E-096F-421C-9BD3-D74DD58E70CB}"/>
              </a:ext>
            </a:extLst>
          </p:cNvPr>
          <p:cNvSpPr>
            <a:spLocks noGrp="1"/>
          </p:cNvSpPr>
          <p:nvPr/>
        </p:nvSpPr>
        <p:spPr>
          <a:xfrm>
            <a:off x="654844" y="357188"/>
            <a:ext cx="13930313" cy="1547813"/>
          </a:xfrm>
          <a:prstGeom prst="rect">
            <a:avLst/>
          </a:prstGeom>
          <a:noFill/>
          <a:ln w="0">
            <a:noFill/>
          </a:ln>
        </p:spPr>
        <p:txBody>
          <a:bodyPr anchor="ctr">
            <a:noAutofit/>
          </a:bodyPr>
          <a:lstStyle/>
          <a:p>
            <a:pPr algn="l">
              <a:defRPr sz="4125" b="1">
                <a:solidFill>
                  <a:srgbClr val="1D4ED8"/>
                </a:solidFill>
                <a:latin typeface="Arial"/>
                <a:ea typeface="Arial"/>
                <a:cs typeface="Arial"/>
              </a:defRPr>
            </a:pPr>
            <a:r>
              <a:rPr sz="4125" b="1">
                <a:solidFill>
                  <a:srgbClr val="1D4ED8"/>
                </a:solidFill>
                <a:latin typeface="Arial"/>
                <a:ea typeface="Arial"/>
                <a:cs typeface="Arial"/>
              </a:rPr>
              <a:t>Solve two-step equations</a:t>
            </a:r>
          </a:p>
        </p:txBody>
      </p:sp>
      <p:sp>
        <p:nvSpPr>
          <p:cNvPr id="2" name="object-2">
            <a:extLst>
              <a:ext uri="{FF2B5EF4-FFF2-40B4-BE49-F238E27FC236}">
                <a16:creationId xmlns:a16="http://schemas.microsoft.com/office/drawing/2014/main" id="{48D3939A-8BC3-4011-9EA5-3B5C20C3DB6E}"/>
              </a:ext>
            </a:extLst>
          </p:cNvPr>
          <p:cNvSpPr>
            <a:spLocks noGrp="1"/>
          </p:cNvSpPr>
          <p:nvPr/>
        </p:nvSpPr>
        <p:spPr>
          <a:xfrm>
            <a:off x="654844" y="2024063"/>
            <a:ext cx="13930313" cy="1012031"/>
          </a:xfrm>
          <a:prstGeom prst="rect">
            <a:avLst/>
          </a:prstGeom>
          <a:noFill/>
          <a:ln w="0">
            <a:noFill/>
          </a:ln>
        </p:spPr>
        <p:txBody>
          <a:bodyPr anchor="ctr">
            <a:noAutofit/>
          </a:bodyPr>
          <a:lstStyle/>
          <a:p>
            <a:pPr algn="l">
              <a:defRPr sz="2625" b="1">
                <a:solidFill>
                  <a:srgbClr val="172B4D"/>
                </a:solidFill>
                <a:latin typeface="Arial"/>
                <a:ea typeface="Arial"/>
                <a:cs typeface="Arial"/>
              </a:defRPr>
            </a:pPr>
            <a:r>
              <a:rPr sz="2625" b="1">
                <a:solidFill>
                  <a:srgbClr val="172B4D"/>
                </a:solidFill>
                <a:latin typeface="Arial"/>
                <a:ea typeface="Arial"/>
                <a:cs typeface="Arial"/>
              </a:rPr>
              <a:t>Watch the model. Try the next question. Explain what changes.</a:t>
            </a:r>
          </a:p>
        </p:txBody>
      </p:sp>
      <p:sp>
        <p:nvSpPr>
          <p:cNvPr id="3" name="object-3">
            <a:extLst>
              <a:ext uri="{FF2B5EF4-FFF2-40B4-BE49-F238E27FC236}">
                <a16:creationId xmlns:a16="http://schemas.microsoft.com/office/drawing/2014/main" id="{45056720-E65D-49C5-87E9-F63B146F56AF}"/>
              </a:ext>
            </a:extLst>
          </p:cNvPr>
          <p:cNvSpPr>
            <a:spLocks noGrp="1"/>
          </p:cNvSpPr>
          <p:nvPr/>
        </p:nvSpPr>
        <p:spPr>
          <a:xfrm>
            <a:off x="654844" y="8012906"/>
            <a:ext cx="13930313" cy="11906"/>
          </a:xfrm>
          <a:prstGeom prst="rect">
            <a:avLst/>
          </a:prstGeom>
          <a:solidFill>
            <a:srgbClr val="BCD0EA"/>
          </a:solidFill>
          <a:ln w="0">
            <a:noFill/>
          </a:ln>
        </p:spPr>
      </p:sp>
      <p:sp>
        <p:nvSpPr>
          <p:cNvPr id="4" name="object-4">
            <a:extLst>
              <a:ext uri="{FF2B5EF4-FFF2-40B4-BE49-F238E27FC236}">
                <a16:creationId xmlns:a16="http://schemas.microsoft.com/office/drawing/2014/main" id="{1E6BF31B-5066-4DE4-B1F1-9C0E46E44983}"/>
              </a:ext>
            </a:extLst>
          </p:cNvPr>
          <p:cNvSpPr>
            <a:spLocks noGrp="1"/>
          </p:cNvSpPr>
          <p:nvPr/>
        </p:nvSpPr>
        <p:spPr>
          <a:xfrm>
            <a:off x="654844" y="8120063"/>
            <a:ext cx="12977813" cy="285750"/>
          </a:xfrm>
          <a:prstGeom prst="rect">
            <a:avLst/>
          </a:prstGeom>
          <a:noFill/>
          <a:ln w="0">
            <a:noFill/>
          </a:ln>
        </p:spPr>
        <p:txBody>
          <a:bodyPr anchor="ctr">
            <a:noAutofit/>
          </a:bodyPr>
          <a:lstStyle/>
          <a:p>
            <a:pPr algn="l">
              <a:defRPr sz="1219" b="0">
                <a:solidFill>
                  <a:srgbClr val="52647A"/>
                </a:solidFill>
                <a:latin typeface="Arial"/>
                <a:ea typeface="Arial"/>
                <a:cs typeface="Arial"/>
              </a:defRPr>
            </a:pPr>
            <a:r>
              <a:rPr sz="1219" b="0">
                <a:solidFill>
                  <a:srgbClr val="52647A"/>
                </a:solidFill>
                <a:latin typeface="Arial"/>
                <a:ea typeface="Arial"/>
                <a:cs typeface="Arial"/>
              </a:rPr>
              <a:t>BrightPath · Solve two-step equations</a:t>
            </a:r>
          </a:p>
        </p:txBody>
      </p:sp>
      <p:sp>
        <p:nvSpPr>
          <p:cNvPr id="5" name="object-5">
            <a:extLst>
              <a:ext uri="{FF2B5EF4-FFF2-40B4-BE49-F238E27FC236}">
                <a16:creationId xmlns:a16="http://schemas.microsoft.com/office/drawing/2014/main" id="{F1518CB5-96C3-402D-9740-CA7A8389A7DF}"/>
              </a:ext>
            </a:extLst>
          </p:cNvPr>
          <p:cNvSpPr>
            <a:spLocks noGrp="1"/>
          </p:cNvSpPr>
          <p:nvPr/>
        </p:nvSpPr>
        <p:spPr>
          <a:xfrm>
            <a:off x="13811250" y="8120063"/>
            <a:ext cx="773906" cy="285750"/>
          </a:xfrm>
          <a:prstGeom prst="rect">
            <a:avLst/>
          </a:prstGeom>
          <a:noFill/>
          <a:ln w="0">
            <a:noFill/>
          </a:ln>
        </p:spPr>
        <p:txBody>
          <a:bodyPr anchor="ctr">
            <a:noAutofit/>
          </a:bodyPr>
          <a:lstStyle/>
          <a:p>
            <a:pPr algn="r">
              <a:defRPr sz="1219" b="0">
                <a:solidFill>
                  <a:srgbClr val="52647A"/>
                </a:solidFill>
                <a:latin typeface="Arial"/>
                <a:ea typeface="Arial"/>
                <a:cs typeface="Arial"/>
              </a:defRPr>
            </a:pPr>
            <a:r>
              <a:rPr sz="1219" b="0">
                <a:solidFill>
                  <a:srgbClr val="52647A"/>
                </a:solidFill>
                <a:latin typeface="Arial"/>
                <a:ea typeface="Arial"/>
                <a:cs typeface="Arial"/>
              </a:rPr>
              <a:t>1</a:t>
            </a:r>
          </a:p>
        </p:txBody>
      </p:sp>
      <p:sp>
        <p:nvSpPr>
          <p:cNvPr id="6" name="object-6">
            <a:extLst>
              <a:ext uri="{FF2B5EF4-FFF2-40B4-BE49-F238E27FC236}">
                <a16:creationId xmlns:a16="http://schemas.microsoft.com/office/drawing/2014/main" id="{5F3E9509-1486-462A-A02A-A94A660BC579}"/>
              </a:ext>
            </a:extLst>
          </p:cNvPr>
          <p:cNvSpPr>
            <a:spLocks noGrp="1"/>
          </p:cNvSpPr>
          <p:nvPr/>
        </p:nvSpPr>
        <p:spPr>
          <a:xfrm>
            <a:off x="1190625" y="3631406"/>
            <a:ext cx="12858750" cy="2143125"/>
          </a:xfrm>
          <a:prstGeom prst="rect">
            <a:avLst/>
          </a:prstGeom>
          <a:noFill/>
          <a:ln w="0">
            <a:noFill/>
          </a:ln>
        </p:spPr>
        <p:txBody>
          <a:bodyPr anchor="ctr">
            <a:noAutofit/>
          </a:bodyPr>
          <a:lstStyle/>
          <a:p>
            <a:pPr algn="ctr">
              <a:defRPr sz="3375" b="1">
                <a:solidFill>
                  <a:srgbClr val="1D4ED8"/>
                </a:solidFill>
                <a:latin typeface="Arial"/>
                <a:ea typeface="Arial"/>
                <a:cs typeface="Arial"/>
              </a:defRPr>
            </a:pPr>
            <a:r>
              <a:rPr sz="3375" b="1">
                <a:solidFill>
                  <a:srgbClr val="1D4ED8"/>
                </a:solidFill>
                <a:latin typeface="Arial"/>
                <a:ea typeface="Arial"/>
                <a:cs typeface="Arial"/>
              </a:rPr>
              <a:t>To solve two-step equations in a logical order.</a:t>
            </a:r>
          </a:p>
        </p:txBody>
      </p:sp>
    </p:spTree>
    <p:extLst>
      <p:ext uri="{BB962C8B-B14F-4D97-AF65-F5344CB8AC3E}">
        <p14:creationId xmlns:p14="http://schemas.microsoft.com/office/powerpoint/2010/main" val="57148555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1" name="object-1">
            <a:extLst>
              <a:ext uri="{FF2B5EF4-FFF2-40B4-BE49-F238E27FC236}">
                <a16:creationId xmlns:a16="http://schemas.microsoft.com/office/drawing/2014/main" id="{7038D210-8B5D-4F1A-9FD2-CF7B6D9EF114}"/>
              </a:ext>
            </a:extLst>
          </p:cNvPr>
          <p:cNvSpPr>
            <a:spLocks noGrp="1"/>
          </p:cNvSpPr>
          <p:nvPr/>
        </p:nvSpPr>
        <p:spPr>
          <a:xfrm>
            <a:off x="654844" y="357188"/>
            <a:ext cx="13930313" cy="714375"/>
          </a:xfrm>
          <a:prstGeom prst="rect">
            <a:avLst/>
          </a:prstGeom>
          <a:noFill/>
          <a:ln w="0">
            <a:noFill/>
          </a:ln>
        </p:spPr>
        <p:txBody>
          <a:bodyPr anchor="ctr">
            <a:noAutofit/>
          </a:bodyPr>
          <a:lstStyle/>
          <a:p>
            <a:pPr algn="l">
              <a:defRPr sz="4125" b="1">
                <a:solidFill>
                  <a:srgbClr val="1D4ED8"/>
                </a:solidFill>
                <a:latin typeface="Arial"/>
                <a:ea typeface="Arial"/>
                <a:cs typeface="Arial"/>
              </a:defRPr>
            </a:pPr>
            <a:r>
              <a:rPr sz="4125" b="1">
                <a:solidFill>
                  <a:srgbClr val="1D4ED8"/>
                </a:solidFill>
                <a:latin typeface="Arial"/>
                <a:ea typeface="Arial"/>
                <a:cs typeface="Arial"/>
              </a:rPr>
              <a:t>I do</a:t>
            </a:r>
          </a:p>
        </p:txBody>
      </p:sp>
      <p:sp>
        <p:nvSpPr>
          <p:cNvPr id="2" name="object-2">
            <a:extLst>
              <a:ext uri="{FF2B5EF4-FFF2-40B4-BE49-F238E27FC236}">
                <a16:creationId xmlns:a16="http://schemas.microsoft.com/office/drawing/2014/main" id="{5FD3E1C0-D1D0-4916-8BBB-21C7D1F64C70}"/>
              </a:ext>
            </a:extLst>
          </p:cNvPr>
          <p:cNvSpPr>
            <a:spLocks noGrp="1"/>
          </p:cNvSpPr>
          <p:nvPr/>
        </p:nvSpPr>
        <p:spPr>
          <a:xfrm>
            <a:off x="654844" y="1250156"/>
            <a:ext cx="13930313" cy="1190625"/>
          </a:xfrm>
          <a:prstGeom prst="rect">
            <a:avLst/>
          </a:prstGeom>
          <a:noFill/>
          <a:ln w="0">
            <a:noFill/>
          </a:ln>
        </p:spPr>
        <p:txBody>
          <a:bodyPr anchor="ctr">
            <a:noAutofit/>
          </a:bodyPr>
          <a:lstStyle/>
          <a:p>
            <a:pPr algn="l">
              <a:defRPr sz="2625" b="1">
                <a:solidFill>
                  <a:srgbClr val="172B4D"/>
                </a:solidFill>
                <a:latin typeface="Arial"/>
                <a:ea typeface="Arial"/>
                <a:cs typeface="Arial"/>
              </a:defRPr>
            </a:pPr>
            <a:r>
              <a:rPr sz="2625" b="1">
                <a:solidFill>
                  <a:srgbClr val="172B4D"/>
                </a:solidFill>
                <a:latin typeface="Arial"/>
                <a:ea typeface="Arial"/>
                <a:cs typeface="Arial"/>
              </a:rPr>
              <a:t>Solve 5x − 7 = 48.</a:t>
            </a:r>
          </a:p>
        </p:txBody>
      </p:sp>
      <p:sp>
        <p:nvSpPr>
          <p:cNvPr id="3" name="object-3">
            <a:extLst>
              <a:ext uri="{FF2B5EF4-FFF2-40B4-BE49-F238E27FC236}">
                <a16:creationId xmlns:a16="http://schemas.microsoft.com/office/drawing/2014/main" id="{AE6EB415-34F0-4B53-A0BB-C1286F0418F0}"/>
              </a:ext>
            </a:extLst>
          </p:cNvPr>
          <p:cNvSpPr>
            <a:spLocks noGrp="1"/>
          </p:cNvSpPr>
          <p:nvPr/>
        </p:nvSpPr>
        <p:spPr>
          <a:xfrm>
            <a:off x="654844" y="8012906"/>
            <a:ext cx="13930313" cy="11906"/>
          </a:xfrm>
          <a:prstGeom prst="rect">
            <a:avLst/>
          </a:prstGeom>
          <a:solidFill>
            <a:srgbClr val="BCD0EA"/>
          </a:solidFill>
          <a:ln w="0">
            <a:noFill/>
          </a:ln>
        </p:spPr>
      </p:sp>
      <p:sp>
        <p:nvSpPr>
          <p:cNvPr id="4" name="object-4">
            <a:extLst>
              <a:ext uri="{FF2B5EF4-FFF2-40B4-BE49-F238E27FC236}">
                <a16:creationId xmlns:a16="http://schemas.microsoft.com/office/drawing/2014/main" id="{AA4674AE-09F9-43E9-8F36-9C69CB9088BB}"/>
              </a:ext>
            </a:extLst>
          </p:cNvPr>
          <p:cNvSpPr>
            <a:spLocks noGrp="1"/>
          </p:cNvSpPr>
          <p:nvPr/>
        </p:nvSpPr>
        <p:spPr>
          <a:xfrm>
            <a:off x="654844" y="8120063"/>
            <a:ext cx="12977813" cy="285750"/>
          </a:xfrm>
          <a:prstGeom prst="rect">
            <a:avLst/>
          </a:prstGeom>
          <a:noFill/>
          <a:ln w="0">
            <a:noFill/>
          </a:ln>
        </p:spPr>
        <p:txBody>
          <a:bodyPr anchor="ctr">
            <a:noAutofit/>
          </a:bodyPr>
          <a:lstStyle/>
          <a:p>
            <a:pPr algn="l">
              <a:defRPr sz="1219" b="0">
                <a:solidFill>
                  <a:srgbClr val="52647A"/>
                </a:solidFill>
                <a:latin typeface="Arial"/>
                <a:ea typeface="Arial"/>
                <a:cs typeface="Arial"/>
              </a:defRPr>
            </a:pPr>
            <a:r>
              <a:rPr sz="1219" b="0">
                <a:solidFill>
                  <a:srgbClr val="52647A"/>
                </a:solidFill>
                <a:latin typeface="Arial"/>
                <a:ea typeface="Arial"/>
                <a:cs typeface="Arial"/>
              </a:rPr>
              <a:t>BrightPath · Solve two-step equations</a:t>
            </a:r>
          </a:p>
        </p:txBody>
      </p:sp>
      <p:sp>
        <p:nvSpPr>
          <p:cNvPr id="5" name="object-5">
            <a:extLst>
              <a:ext uri="{FF2B5EF4-FFF2-40B4-BE49-F238E27FC236}">
                <a16:creationId xmlns:a16="http://schemas.microsoft.com/office/drawing/2014/main" id="{B3275B26-5B7D-482C-A9EC-703A07624CDF}"/>
              </a:ext>
            </a:extLst>
          </p:cNvPr>
          <p:cNvSpPr>
            <a:spLocks noGrp="1"/>
          </p:cNvSpPr>
          <p:nvPr/>
        </p:nvSpPr>
        <p:spPr>
          <a:xfrm>
            <a:off x="13811250" y="8120063"/>
            <a:ext cx="773906" cy="285750"/>
          </a:xfrm>
          <a:prstGeom prst="rect">
            <a:avLst/>
          </a:prstGeom>
          <a:noFill/>
          <a:ln w="0">
            <a:noFill/>
          </a:ln>
        </p:spPr>
        <p:txBody>
          <a:bodyPr anchor="ctr">
            <a:noAutofit/>
          </a:bodyPr>
          <a:lstStyle/>
          <a:p>
            <a:pPr algn="r">
              <a:defRPr sz="1219" b="0">
                <a:solidFill>
                  <a:srgbClr val="52647A"/>
                </a:solidFill>
                <a:latin typeface="Arial"/>
                <a:ea typeface="Arial"/>
                <a:cs typeface="Arial"/>
              </a:defRPr>
            </a:pPr>
            <a:r>
              <a:rPr sz="1219" b="0">
                <a:solidFill>
                  <a:srgbClr val="52647A"/>
                </a:solidFill>
                <a:latin typeface="Arial"/>
                <a:ea typeface="Arial"/>
                <a:cs typeface="Arial"/>
              </a:rPr>
              <a:t>2</a:t>
            </a:r>
          </a:p>
        </p:txBody>
      </p:sp>
      <p:sp>
        <p:nvSpPr>
          <p:cNvPr id="6" name="object-6">
            <a:extLst>
              <a:ext uri="{FF2B5EF4-FFF2-40B4-BE49-F238E27FC236}">
                <a16:creationId xmlns:a16="http://schemas.microsoft.com/office/drawing/2014/main" id="{7D188D39-654F-47A5-93C1-9C9AC100FCA5}"/>
              </a:ext>
            </a:extLst>
          </p:cNvPr>
          <p:cNvSpPr>
            <a:spLocks noGrp="1"/>
          </p:cNvSpPr>
          <p:nvPr/>
        </p:nvSpPr>
        <p:spPr>
          <a:xfrm>
            <a:off x="1309688" y="3095625"/>
            <a:ext cx="1428750" cy="1071563"/>
          </a:xfrm>
          <a:prstGeom prst="rect">
            <a:avLst/>
          </a:prstGeom>
          <a:solidFill>
            <a:srgbClr val="EFF6FF"/>
          </a:solidFill>
          <a:ln w="23813">
            <a:solidFill>
              <a:srgbClr val="1D4ED8"/>
            </a:solidFill>
          </a:ln>
        </p:spPr>
      </p:sp>
      <p:sp>
        <p:nvSpPr>
          <p:cNvPr id="7" name="object-7">
            <a:extLst>
              <a:ext uri="{FF2B5EF4-FFF2-40B4-BE49-F238E27FC236}">
                <a16:creationId xmlns:a16="http://schemas.microsoft.com/office/drawing/2014/main" id="{34B4946E-31C3-4961-8C3D-58B7B1C822E8}"/>
              </a:ext>
            </a:extLst>
          </p:cNvPr>
          <p:cNvSpPr>
            <a:spLocks noGrp="1"/>
          </p:cNvSpPr>
          <p:nvPr/>
        </p:nvSpPr>
        <p:spPr>
          <a:xfrm>
            <a:off x="1309688" y="3178969"/>
            <a:ext cx="1428750" cy="833438"/>
          </a:xfrm>
          <a:prstGeom prst="rect">
            <a:avLst/>
          </a:prstGeom>
          <a:noFill/>
          <a:ln w="0">
            <a:noFill/>
          </a:ln>
        </p:spPr>
        <p:txBody>
          <a:bodyPr anchor="ctr">
            <a:noAutofit/>
          </a:bodyPr>
          <a:lstStyle/>
          <a:p>
            <a:pPr algn="ctr">
              <a:defRPr sz="4125" b="1">
                <a:solidFill>
                  <a:srgbClr val="1D4ED8"/>
                </a:solidFill>
                <a:latin typeface="Arial"/>
                <a:ea typeface="Arial"/>
                <a:cs typeface="Arial"/>
              </a:defRPr>
            </a:pPr>
            <a:r>
              <a:rPr sz="4125" b="1">
                <a:solidFill>
                  <a:srgbClr val="1D4ED8"/>
                </a:solidFill>
                <a:latin typeface="Arial"/>
                <a:ea typeface="Arial"/>
                <a:cs typeface="Arial"/>
              </a:rPr>
              <a:t>x</a:t>
            </a:r>
          </a:p>
        </p:txBody>
      </p:sp>
      <p:sp>
        <p:nvSpPr>
          <p:cNvPr id="8" name="object-8">
            <a:extLst>
              <a:ext uri="{FF2B5EF4-FFF2-40B4-BE49-F238E27FC236}">
                <a16:creationId xmlns:a16="http://schemas.microsoft.com/office/drawing/2014/main" id="{9582810B-7361-4B96-8191-3EA5BF49178A}"/>
              </a:ext>
            </a:extLst>
          </p:cNvPr>
          <p:cNvSpPr>
            <a:spLocks noGrp="1"/>
          </p:cNvSpPr>
          <p:nvPr/>
        </p:nvSpPr>
        <p:spPr>
          <a:xfrm>
            <a:off x="2738438" y="3095625"/>
            <a:ext cx="1428750" cy="1071563"/>
          </a:xfrm>
          <a:prstGeom prst="rect">
            <a:avLst/>
          </a:prstGeom>
          <a:solidFill>
            <a:srgbClr val="EFF6FF"/>
          </a:solidFill>
          <a:ln w="23813">
            <a:solidFill>
              <a:srgbClr val="1D4ED8"/>
            </a:solidFill>
          </a:ln>
        </p:spPr>
      </p:sp>
      <p:sp>
        <p:nvSpPr>
          <p:cNvPr id="9" name="object-9">
            <a:extLst>
              <a:ext uri="{FF2B5EF4-FFF2-40B4-BE49-F238E27FC236}">
                <a16:creationId xmlns:a16="http://schemas.microsoft.com/office/drawing/2014/main" id="{17B01F7D-34DD-4B52-9EE0-ABDFD9814276}"/>
              </a:ext>
            </a:extLst>
          </p:cNvPr>
          <p:cNvSpPr>
            <a:spLocks noGrp="1"/>
          </p:cNvSpPr>
          <p:nvPr/>
        </p:nvSpPr>
        <p:spPr>
          <a:xfrm>
            <a:off x="2738438" y="3178969"/>
            <a:ext cx="1428750" cy="833438"/>
          </a:xfrm>
          <a:prstGeom prst="rect">
            <a:avLst/>
          </a:prstGeom>
          <a:noFill/>
          <a:ln w="0">
            <a:noFill/>
          </a:ln>
        </p:spPr>
        <p:txBody>
          <a:bodyPr anchor="ctr">
            <a:noAutofit/>
          </a:bodyPr>
          <a:lstStyle/>
          <a:p>
            <a:pPr algn="ctr">
              <a:defRPr sz="4125" b="1">
                <a:solidFill>
                  <a:srgbClr val="1D4ED8"/>
                </a:solidFill>
                <a:latin typeface="Arial"/>
                <a:ea typeface="Arial"/>
                <a:cs typeface="Arial"/>
              </a:defRPr>
            </a:pPr>
            <a:r>
              <a:rPr sz="4125" b="1">
                <a:solidFill>
                  <a:srgbClr val="1D4ED8"/>
                </a:solidFill>
                <a:latin typeface="Arial"/>
                <a:ea typeface="Arial"/>
                <a:cs typeface="Arial"/>
              </a:rPr>
              <a:t>x</a:t>
            </a:r>
          </a:p>
        </p:txBody>
      </p:sp>
      <p:sp>
        <p:nvSpPr>
          <p:cNvPr id="10" name="object-10">
            <a:extLst>
              <a:ext uri="{FF2B5EF4-FFF2-40B4-BE49-F238E27FC236}">
                <a16:creationId xmlns:a16="http://schemas.microsoft.com/office/drawing/2014/main" id="{3E0BB288-64E4-40C4-A1BD-6DBD7C2B0692}"/>
              </a:ext>
            </a:extLst>
          </p:cNvPr>
          <p:cNvSpPr>
            <a:spLocks noGrp="1"/>
          </p:cNvSpPr>
          <p:nvPr/>
        </p:nvSpPr>
        <p:spPr>
          <a:xfrm>
            <a:off x="4167188" y="3095625"/>
            <a:ext cx="1428750" cy="1071563"/>
          </a:xfrm>
          <a:prstGeom prst="rect">
            <a:avLst/>
          </a:prstGeom>
          <a:solidFill>
            <a:srgbClr val="EFF6FF"/>
          </a:solidFill>
          <a:ln w="23813">
            <a:solidFill>
              <a:srgbClr val="1D4ED8"/>
            </a:solidFill>
          </a:ln>
        </p:spPr>
      </p:sp>
      <p:sp>
        <p:nvSpPr>
          <p:cNvPr id="11" name="object-11">
            <a:extLst>
              <a:ext uri="{FF2B5EF4-FFF2-40B4-BE49-F238E27FC236}">
                <a16:creationId xmlns:a16="http://schemas.microsoft.com/office/drawing/2014/main" id="{BD25EC19-3B24-4CF3-9E6D-E60984A62A1D}"/>
              </a:ext>
            </a:extLst>
          </p:cNvPr>
          <p:cNvSpPr>
            <a:spLocks noGrp="1"/>
          </p:cNvSpPr>
          <p:nvPr/>
        </p:nvSpPr>
        <p:spPr>
          <a:xfrm>
            <a:off x="4167188" y="3178969"/>
            <a:ext cx="1428750" cy="833438"/>
          </a:xfrm>
          <a:prstGeom prst="rect">
            <a:avLst/>
          </a:prstGeom>
          <a:noFill/>
          <a:ln w="0">
            <a:noFill/>
          </a:ln>
        </p:spPr>
        <p:txBody>
          <a:bodyPr anchor="ctr">
            <a:noAutofit/>
          </a:bodyPr>
          <a:lstStyle/>
          <a:p>
            <a:pPr algn="ctr">
              <a:defRPr sz="4125" b="1">
                <a:solidFill>
                  <a:srgbClr val="1D4ED8"/>
                </a:solidFill>
                <a:latin typeface="Arial"/>
                <a:ea typeface="Arial"/>
                <a:cs typeface="Arial"/>
              </a:defRPr>
            </a:pPr>
            <a:r>
              <a:rPr sz="4125" b="1">
                <a:solidFill>
                  <a:srgbClr val="1D4ED8"/>
                </a:solidFill>
                <a:latin typeface="Arial"/>
                <a:ea typeface="Arial"/>
                <a:cs typeface="Arial"/>
              </a:rPr>
              <a:t>x</a:t>
            </a:r>
          </a:p>
        </p:txBody>
      </p:sp>
      <p:sp>
        <p:nvSpPr>
          <p:cNvPr id="12" name="object-12">
            <a:extLst>
              <a:ext uri="{FF2B5EF4-FFF2-40B4-BE49-F238E27FC236}">
                <a16:creationId xmlns:a16="http://schemas.microsoft.com/office/drawing/2014/main" id="{DE075E06-2178-4A06-A9B0-D69FB18D6F89}"/>
              </a:ext>
            </a:extLst>
          </p:cNvPr>
          <p:cNvSpPr>
            <a:spLocks noGrp="1"/>
          </p:cNvSpPr>
          <p:nvPr/>
        </p:nvSpPr>
        <p:spPr>
          <a:xfrm>
            <a:off x="5595938" y="3095625"/>
            <a:ext cx="1428750" cy="1071563"/>
          </a:xfrm>
          <a:prstGeom prst="rect">
            <a:avLst/>
          </a:prstGeom>
          <a:solidFill>
            <a:srgbClr val="EFF6FF"/>
          </a:solidFill>
          <a:ln w="23813">
            <a:solidFill>
              <a:srgbClr val="1D4ED8"/>
            </a:solidFill>
          </a:ln>
        </p:spPr>
      </p:sp>
      <p:sp>
        <p:nvSpPr>
          <p:cNvPr id="13" name="object-13">
            <a:extLst>
              <a:ext uri="{FF2B5EF4-FFF2-40B4-BE49-F238E27FC236}">
                <a16:creationId xmlns:a16="http://schemas.microsoft.com/office/drawing/2014/main" id="{5943DB15-46D1-4D42-BBBA-57FABD02505F}"/>
              </a:ext>
            </a:extLst>
          </p:cNvPr>
          <p:cNvSpPr>
            <a:spLocks noGrp="1"/>
          </p:cNvSpPr>
          <p:nvPr/>
        </p:nvSpPr>
        <p:spPr>
          <a:xfrm>
            <a:off x="5595938" y="3178969"/>
            <a:ext cx="1428750" cy="833438"/>
          </a:xfrm>
          <a:prstGeom prst="rect">
            <a:avLst/>
          </a:prstGeom>
          <a:noFill/>
          <a:ln w="0">
            <a:noFill/>
          </a:ln>
        </p:spPr>
        <p:txBody>
          <a:bodyPr anchor="ctr">
            <a:noAutofit/>
          </a:bodyPr>
          <a:lstStyle/>
          <a:p>
            <a:pPr algn="ctr">
              <a:defRPr sz="4125" b="1">
                <a:solidFill>
                  <a:srgbClr val="1D4ED8"/>
                </a:solidFill>
                <a:latin typeface="Arial"/>
                <a:ea typeface="Arial"/>
                <a:cs typeface="Arial"/>
              </a:defRPr>
            </a:pPr>
            <a:r>
              <a:rPr sz="4125" b="1">
                <a:solidFill>
                  <a:srgbClr val="1D4ED8"/>
                </a:solidFill>
                <a:latin typeface="Arial"/>
                <a:ea typeface="Arial"/>
                <a:cs typeface="Arial"/>
              </a:rPr>
              <a:t>x</a:t>
            </a:r>
          </a:p>
        </p:txBody>
      </p:sp>
      <p:sp>
        <p:nvSpPr>
          <p:cNvPr id="14" name="object-14">
            <a:extLst>
              <a:ext uri="{FF2B5EF4-FFF2-40B4-BE49-F238E27FC236}">
                <a16:creationId xmlns:a16="http://schemas.microsoft.com/office/drawing/2014/main" id="{E2B51FCA-73DE-419A-B903-2F0451B0FF75}"/>
              </a:ext>
            </a:extLst>
          </p:cNvPr>
          <p:cNvSpPr>
            <a:spLocks noGrp="1"/>
          </p:cNvSpPr>
          <p:nvPr/>
        </p:nvSpPr>
        <p:spPr>
          <a:xfrm>
            <a:off x="7024688" y="3095625"/>
            <a:ext cx="1428750" cy="1071563"/>
          </a:xfrm>
          <a:prstGeom prst="rect">
            <a:avLst/>
          </a:prstGeom>
          <a:solidFill>
            <a:srgbClr val="EFF6FF"/>
          </a:solidFill>
          <a:ln w="23813">
            <a:solidFill>
              <a:srgbClr val="1D4ED8"/>
            </a:solidFill>
          </a:ln>
        </p:spPr>
      </p:sp>
      <p:sp>
        <p:nvSpPr>
          <p:cNvPr id="15" name="object-15">
            <a:extLst>
              <a:ext uri="{FF2B5EF4-FFF2-40B4-BE49-F238E27FC236}">
                <a16:creationId xmlns:a16="http://schemas.microsoft.com/office/drawing/2014/main" id="{4FE85F42-3ACF-4586-8E00-BDF296C91EC3}"/>
              </a:ext>
            </a:extLst>
          </p:cNvPr>
          <p:cNvSpPr>
            <a:spLocks noGrp="1"/>
          </p:cNvSpPr>
          <p:nvPr/>
        </p:nvSpPr>
        <p:spPr>
          <a:xfrm>
            <a:off x="7024688" y="3178969"/>
            <a:ext cx="1428750" cy="833438"/>
          </a:xfrm>
          <a:prstGeom prst="rect">
            <a:avLst/>
          </a:prstGeom>
          <a:noFill/>
          <a:ln w="0">
            <a:noFill/>
          </a:ln>
        </p:spPr>
        <p:txBody>
          <a:bodyPr anchor="ctr">
            <a:noAutofit/>
          </a:bodyPr>
          <a:lstStyle/>
          <a:p>
            <a:pPr algn="ctr">
              <a:defRPr sz="4125" b="1">
                <a:solidFill>
                  <a:srgbClr val="1D4ED8"/>
                </a:solidFill>
                <a:latin typeface="Arial"/>
                <a:ea typeface="Arial"/>
                <a:cs typeface="Arial"/>
              </a:defRPr>
            </a:pPr>
            <a:r>
              <a:rPr sz="4125" b="1">
                <a:solidFill>
                  <a:srgbClr val="1D4ED8"/>
                </a:solidFill>
                <a:latin typeface="Arial"/>
                <a:ea typeface="Arial"/>
                <a:cs typeface="Arial"/>
              </a:rPr>
              <a:t>x</a:t>
            </a:r>
          </a:p>
        </p:txBody>
      </p:sp>
      <p:sp>
        <p:nvSpPr>
          <p:cNvPr id="16" name="object-16">
            <a:extLst>
              <a:ext uri="{FF2B5EF4-FFF2-40B4-BE49-F238E27FC236}">
                <a16:creationId xmlns:a16="http://schemas.microsoft.com/office/drawing/2014/main" id="{6F57EA0B-35E3-4849-858B-0A4A77C50BC3}"/>
              </a:ext>
            </a:extLst>
          </p:cNvPr>
          <p:cNvSpPr>
            <a:spLocks noGrp="1"/>
          </p:cNvSpPr>
          <p:nvPr/>
        </p:nvSpPr>
        <p:spPr>
          <a:xfrm>
            <a:off x="8870156" y="3155156"/>
            <a:ext cx="2083594" cy="892969"/>
          </a:xfrm>
          <a:prstGeom prst="rect">
            <a:avLst/>
          </a:prstGeom>
          <a:noFill/>
          <a:ln w="0">
            <a:noFill/>
          </a:ln>
        </p:spPr>
        <p:txBody>
          <a:bodyPr anchor="ctr">
            <a:noAutofit/>
          </a:bodyPr>
          <a:lstStyle/>
          <a:p>
            <a:pPr algn="l">
              <a:defRPr sz="3938" b="1">
                <a:solidFill>
                  <a:srgbClr val="9A5800"/>
                </a:solidFill>
                <a:latin typeface="Arial"/>
                <a:ea typeface="Arial"/>
                <a:cs typeface="Arial"/>
              </a:defRPr>
            </a:pPr>
            <a:r>
              <a:rPr sz="3938" b="1">
                <a:solidFill>
                  <a:srgbClr val="9A5800"/>
                </a:solidFill>
                <a:latin typeface="Arial"/>
                <a:ea typeface="Arial"/>
                <a:cs typeface="Arial"/>
              </a:rPr>
              <a:t>− 7</a:t>
            </a:r>
          </a:p>
        </p:txBody>
      </p:sp>
      <p:sp>
        <p:nvSpPr>
          <p:cNvPr id="17" name="object-17">
            <a:extLst>
              <a:ext uri="{FF2B5EF4-FFF2-40B4-BE49-F238E27FC236}">
                <a16:creationId xmlns:a16="http://schemas.microsoft.com/office/drawing/2014/main" id="{30E0EFDA-A082-4FC3-8F74-2547DF881A9A}"/>
              </a:ext>
            </a:extLst>
          </p:cNvPr>
          <p:cNvSpPr>
            <a:spLocks noGrp="1"/>
          </p:cNvSpPr>
          <p:nvPr/>
        </p:nvSpPr>
        <p:spPr>
          <a:xfrm>
            <a:off x="11549063" y="3155156"/>
            <a:ext cx="2857500" cy="892969"/>
          </a:xfrm>
          <a:prstGeom prst="rect">
            <a:avLst/>
          </a:prstGeom>
          <a:noFill/>
          <a:ln w="0">
            <a:noFill/>
          </a:ln>
        </p:spPr>
        <p:txBody>
          <a:bodyPr anchor="ctr">
            <a:noAutofit/>
          </a:bodyPr>
          <a:lstStyle/>
          <a:p>
            <a:pPr algn="l">
              <a:defRPr sz="4031" b="1">
                <a:solidFill>
                  <a:srgbClr val="172B4D"/>
                </a:solidFill>
                <a:latin typeface="Arial"/>
                <a:ea typeface="Arial"/>
                <a:cs typeface="Arial"/>
              </a:defRPr>
            </a:pPr>
            <a:r>
              <a:rPr sz="4031" b="1">
                <a:solidFill>
                  <a:srgbClr val="172B4D"/>
                </a:solidFill>
                <a:latin typeface="Arial"/>
                <a:ea typeface="Arial"/>
                <a:cs typeface="Arial"/>
              </a:rPr>
              <a:t>= 48</a:t>
            </a:r>
          </a:p>
        </p:txBody>
      </p:sp>
      <p:sp>
        <p:nvSpPr>
          <p:cNvPr id="18" name="object-18">
            <a:extLst>
              <a:ext uri="{FF2B5EF4-FFF2-40B4-BE49-F238E27FC236}">
                <a16:creationId xmlns:a16="http://schemas.microsoft.com/office/drawing/2014/main" id="{001E57F8-BFDA-4CA7-9398-FCB2074AD5F7}"/>
              </a:ext>
            </a:extLst>
          </p:cNvPr>
          <p:cNvSpPr>
            <a:spLocks noGrp="1"/>
          </p:cNvSpPr>
          <p:nvPr/>
        </p:nvSpPr>
        <p:spPr>
          <a:xfrm>
            <a:off x="2024063" y="4643438"/>
            <a:ext cx="11191875" cy="714375"/>
          </a:xfrm>
          <a:prstGeom prst="rect">
            <a:avLst/>
          </a:prstGeom>
          <a:noFill/>
          <a:ln w="0">
            <a:noFill/>
          </a:ln>
        </p:spPr>
        <p:txBody>
          <a:bodyPr anchor="ctr">
            <a:noAutofit/>
          </a:bodyPr>
          <a:lstStyle/>
          <a:p>
            <a:pPr algn="ctr">
              <a:defRPr sz="2906" b="1">
                <a:solidFill>
                  <a:srgbClr val="9A5800"/>
                </a:solidFill>
                <a:latin typeface="Arial"/>
                <a:ea typeface="Arial"/>
                <a:cs typeface="Arial"/>
              </a:defRPr>
            </a:pPr>
            <a:r>
              <a:rPr sz="2906" b="1">
                <a:solidFill>
                  <a:srgbClr val="9A5800"/>
                </a:solidFill>
                <a:latin typeface="Arial"/>
                <a:ea typeface="Arial"/>
                <a:cs typeface="Arial"/>
              </a:rPr>
              <a:t>Add 7 on both sides</a:t>
            </a:r>
          </a:p>
        </p:txBody>
      </p:sp>
      <p:sp>
        <p:nvSpPr>
          <p:cNvPr id="19" name="object-19">
            <a:extLst>
              <a:ext uri="{FF2B5EF4-FFF2-40B4-BE49-F238E27FC236}">
                <a16:creationId xmlns:a16="http://schemas.microsoft.com/office/drawing/2014/main" id="{4C7CC49E-0BDE-43D4-AC8E-82388D243F9D}"/>
              </a:ext>
            </a:extLst>
          </p:cNvPr>
          <p:cNvSpPr>
            <a:spLocks noGrp="1"/>
          </p:cNvSpPr>
          <p:nvPr/>
        </p:nvSpPr>
        <p:spPr>
          <a:xfrm>
            <a:off x="2381250" y="5655469"/>
            <a:ext cx="10477500" cy="773906"/>
          </a:xfrm>
          <a:prstGeom prst="rect">
            <a:avLst/>
          </a:prstGeom>
          <a:noFill/>
          <a:ln w="0">
            <a:noFill/>
          </a:ln>
        </p:spPr>
        <p:txBody>
          <a:bodyPr anchor="ctr">
            <a:noAutofit/>
          </a:bodyPr>
          <a:lstStyle/>
          <a:p>
            <a:pPr algn="ctr">
              <a:defRPr sz="4219" b="1">
                <a:solidFill>
                  <a:srgbClr val="1D4ED8"/>
                </a:solidFill>
                <a:latin typeface="Arial"/>
                <a:ea typeface="Arial"/>
                <a:cs typeface="Arial"/>
              </a:defRPr>
            </a:pPr>
            <a:r>
              <a:rPr sz="4219" b="1">
                <a:solidFill>
                  <a:srgbClr val="1D4ED8"/>
                </a:solidFill>
                <a:latin typeface="Arial"/>
                <a:ea typeface="Arial"/>
                <a:cs typeface="Arial"/>
              </a:rPr>
              <a:t>5x = 55</a:t>
            </a:r>
          </a:p>
        </p:txBody>
      </p:sp>
      <p:sp>
        <p:nvSpPr>
          <p:cNvPr id="20" name="object-20">
            <a:extLst>
              <a:ext uri="{FF2B5EF4-FFF2-40B4-BE49-F238E27FC236}">
                <a16:creationId xmlns:a16="http://schemas.microsoft.com/office/drawing/2014/main" id="{5C89479D-260D-460A-8F9C-205210FBA2A0}"/>
              </a:ext>
            </a:extLst>
          </p:cNvPr>
          <p:cNvSpPr>
            <a:spLocks noGrp="1"/>
          </p:cNvSpPr>
          <p:nvPr/>
        </p:nvSpPr>
        <p:spPr>
          <a:xfrm>
            <a:off x="7977188" y="6667500"/>
            <a:ext cx="4286250" cy="773906"/>
          </a:xfrm>
          <a:prstGeom prst="rect">
            <a:avLst/>
          </a:prstGeom>
          <a:noFill/>
          <a:ln w="0">
            <a:noFill/>
          </a:ln>
        </p:spPr>
        <p:txBody>
          <a:bodyPr anchor="ctr">
            <a:noAutofit/>
          </a:bodyPr>
          <a:lstStyle/>
          <a:p>
            <a:pPr algn="ctr">
              <a:defRPr sz="4594" b="1">
                <a:solidFill>
                  <a:srgbClr val="11745A"/>
                </a:solidFill>
                <a:latin typeface="Arial"/>
                <a:ea typeface="Arial"/>
                <a:cs typeface="Arial"/>
              </a:defRPr>
            </a:pPr>
            <a:r>
              <a:rPr sz="4594" b="1">
                <a:solidFill>
                  <a:srgbClr val="11745A"/>
                </a:solidFill>
                <a:latin typeface="Arial"/>
                <a:ea typeface="Arial"/>
                <a:cs typeface="Arial"/>
              </a:rPr>
              <a:t>x = 11</a:t>
            </a:r>
          </a:p>
        </p:txBody>
      </p:sp>
    </p:spTree>
    <p:extLst>
      <p:ext uri="{BB962C8B-B14F-4D97-AF65-F5344CB8AC3E}">
        <p14:creationId xmlns:p14="http://schemas.microsoft.com/office/powerpoint/2010/main" val="21040652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0"/>
                                        </p:tgtEl>
                                        <p:attrNameLst>
                                          <p:attrName>style.visibility</p:attrName>
                                        </p:attrNameLst>
                                      </p:cBhvr>
                                      <p:to>
                                        <p:strVal val="visible"/>
                                      </p:to>
                                    </p:set>
                                  </p:childTnLst>
                                </p:cTn>
                              </p:par>
                            </p:childTnLst>
                          </p:cTn>
                        </p:par>
                        <p:par>
                          <p:cTn id="15" fill="hold">
                            <p:stCondLst>
                              <p:cond delay="0"/>
                            </p:stCondLst>
                            <p:childTnLst>
                              <p:par>
                                <p:cTn id="16" presetID="63" presetClass="path" presetSubtype="0" accel="50000" decel="50000" fill="hold" grpId="1" nodeType="afterEffect">
                                  <p:stCondLst>
                                    <p:cond delay="0"/>
                                  </p:stCondLst>
                                  <p:childTnLst>
                                    <p:animMotion origin="layout" path="M 0 0 L -0.125 0 E" pathEditMode="relative" ptsTypes="">
                                      <p:cBhvr>
                                        <p:cTn id="17" dur="800" fill="hold"/>
                                        <p:tgtEl>
                                          <p:spTgt spid="20"/>
                                        </p:tgtEl>
                                        <p:attrNameLst>
                                          <p:attrName>ppt_x</p:attrName>
                                          <p:attrName>ppt_y</p:attrName>
                                        </p:attrNameLst>
                                      </p:cBhvr>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p:bldP spid="19" grpId="0"/>
      <p:bldP spid="20" grpId="0"/>
      <p:bldP spid="20" grpId="1"/>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2" name="object-1">
            <a:extLst>
              <a:ext uri="{FF2B5EF4-FFF2-40B4-BE49-F238E27FC236}">
                <a16:creationId xmlns:a16="http://schemas.microsoft.com/office/drawing/2014/main" id="{EDD0762F-C878-4DF2-9A2C-9C792D69DA8D}"/>
              </a:ext>
            </a:extLst>
          </p:cNvPr>
          <p:cNvSpPr>
            <a:spLocks noGrp="1"/>
          </p:cNvSpPr>
          <p:nvPr/>
        </p:nvSpPr>
        <p:spPr>
          <a:xfrm>
            <a:off x="654844" y="357188"/>
            <a:ext cx="13930313" cy="714375"/>
          </a:xfrm>
          <a:prstGeom prst="rect">
            <a:avLst/>
          </a:prstGeom>
          <a:noFill/>
          <a:ln w="0">
            <a:noFill/>
          </a:ln>
        </p:spPr>
        <p:txBody>
          <a:bodyPr anchor="ctr">
            <a:noAutofit/>
          </a:bodyPr>
          <a:lstStyle/>
          <a:p>
            <a:pPr algn="l">
              <a:defRPr sz="4125" b="1">
                <a:solidFill>
                  <a:srgbClr val="1D4ED8"/>
                </a:solidFill>
                <a:latin typeface="Arial"/>
                <a:ea typeface="Arial"/>
                <a:cs typeface="Arial"/>
              </a:defRPr>
            </a:pPr>
            <a:r>
              <a:rPr sz="4125" b="1">
                <a:solidFill>
                  <a:srgbClr val="1D4ED8"/>
                </a:solidFill>
                <a:latin typeface="Arial"/>
                <a:ea typeface="Arial"/>
                <a:cs typeface="Arial"/>
              </a:rPr>
              <a:t>You do</a:t>
            </a:r>
          </a:p>
        </p:txBody>
      </p:sp>
      <p:sp>
        <p:nvSpPr>
          <p:cNvPr id="2" name="object-2">
            <a:extLst>
              <a:ext uri="{FF2B5EF4-FFF2-40B4-BE49-F238E27FC236}">
                <a16:creationId xmlns:a16="http://schemas.microsoft.com/office/drawing/2014/main" id="{11344198-4173-46EF-A532-509B9558D456}"/>
              </a:ext>
            </a:extLst>
          </p:cNvPr>
          <p:cNvSpPr>
            <a:spLocks noGrp="1"/>
          </p:cNvSpPr>
          <p:nvPr/>
        </p:nvSpPr>
        <p:spPr>
          <a:xfrm>
            <a:off x="11430000" y="476250"/>
            <a:ext cx="3155156" cy="547688"/>
          </a:xfrm>
          <a:prstGeom prst="rect">
            <a:avLst/>
          </a:prstGeom>
          <a:noFill/>
          <a:ln w="0">
            <a:noFill/>
          </a:ln>
        </p:spPr>
        <p:txBody>
          <a:bodyPr anchor="ctr">
            <a:noAutofit/>
          </a:bodyPr>
          <a:lstStyle/>
          <a:p>
            <a:pPr algn="r">
              <a:defRPr sz="2625" b="0">
                <a:solidFill>
                  <a:srgbClr val="52647A"/>
                </a:solidFill>
                <a:latin typeface="Arial"/>
                <a:ea typeface="Arial"/>
                <a:cs typeface="Arial"/>
              </a:defRPr>
            </a:pPr>
            <a:r>
              <a:rPr sz="2625" b="0">
                <a:solidFill>
                  <a:srgbClr val="52647A"/>
                </a:solidFill>
                <a:latin typeface="Arial"/>
                <a:ea typeface="Arial"/>
                <a:cs typeface="Arial"/>
              </a:rPr>
              <a:t>You try.</a:t>
            </a:r>
          </a:p>
        </p:txBody>
      </p:sp>
      <p:sp>
        <p:nvSpPr>
          <p:cNvPr id="3" name="object-3">
            <a:extLst>
              <a:ext uri="{FF2B5EF4-FFF2-40B4-BE49-F238E27FC236}">
                <a16:creationId xmlns:a16="http://schemas.microsoft.com/office/drawing/2014/main" id="{A1D23A23-C55F-4105-A247-0017BBCE7346}"/>
              </a:ext>
            </a:extLst>
          </p:cNvPr>
          <p:cNvSpPr>
            <a:spLocks noGrp="1"/>
          </p:cNvSpPr>
          <p:nvPr/>
        </p:nvSpPr>
        <p:spPr>
          <a:xfrm>
            <a:off x="654844" y="1250156"/>
            <a:ext cx="13930313" cy="1190625"/>
          </a:xfrm>
          <a:prstGeom prst="rect">
            <a:avLst/>
          </a:prstGeom>
          <a:noFill/>
          <a:ln w="0">
            <a:noFill/>
          </a:ln>
        </p:spPr>
        <p:txBody>
          <a:bodyPr anchor="ctr">
            <a:noAutofit/>
          </a:bodyPr>
          <a:lstStyle/>
          <a:p>
            <a:pPr algn="l">
              <a:defRPr sz="2625" b="1">
                <a:solidFill>
                  <a:srgbClr val="172B4D"/>
                </a:solidFill>
                <a:latin typeface="Arial"/>
                <a:ea typeface="Arial"/>
                <a:cs typeface="Arial"/>
              </a:defRPr>
            </a:pPr>
            <a:r>
              <a:rPr sz="2625" b="1">
                <a:solidFill>
                  <a:srgbClr val="172B4D"/>
                </a:solidFill>
                <a:latin typeface="Arial"/>
                <a:ea typeface="Arial"/>
                <a:cs typeface="Arial"/>
              </a:rPr>
              <a:t>Solve 5x − 7 = 58.</a:t>
            </a:r>
          </a:p>
        </p:txBody>
      </p:sp>
      <p:sp>
        <p:nvSpPr>
          <p:cNvPr id="4" name="object-4">
            <a:extLst>
              <a:ext uri="{FF2B5EF4-FFF2-40B4-BE49-F238E27FC236}">
                <a16:creationId xmlns:a16="http://schemas.microsoft.com/office/drawing/2014/main" id="{EAD3786D-4E57-4CC6-8637-BD9A4619C2B4}"/>
              </a:ext>
            </a:extLst>
          </p:cNvPr>
          <p:cNvSpPr>
            <a:spLocks noGrp="1"/>
          </p:cNvSpPr>
          <p:nvPr/>
        </p:nvSpPr>
        <p:spPr>
          <a:xfrm>
            <a:off x="654844" y="8012906"/>
            <a:ext cx="13930313" cy="11906"/>
          </a:xfrm>
          <a:prstGeom prst="rect">
            <a:avLst/>
          </a:prstGeom>
          <a:solidFill>
            <a:srgbClr val="BCD0EA"/>
          </a:solidFill>
          <a:ln w="0">
            <a:noFill/>
          </a:ln>
        </p:spPr>
      </p:sp>
      <p:sp>
        <p:nvSpPr>
          <p:cNvPr id="5" name="object-5">
            <a:extLst>
              <a:ext uri="{FF2B5EF4-FFF2-40B4-BE49-F238E27FC236}">
                <a16:creationId xmlns:a16="http://schemas.microsoft.com/office/drawing/2014/main" id="{42543E53-85CA-4A6D-BCBA-2FF3CB80483E}"/>
              </a:ext>
            </a:extLst>
          </p:cNvPr>
          <p:cNvSpPr>
            <a:spLocks noGrp="1"/>
          </p:cNvSpPr>
          <p:nvPr/>
        </p:nvSpPr>
        <p:spPr>
          <a:xfrm>
            <a:off x="654844" y="8120063"/>
            <a:ext cx="12977813" cy="285750"/>
          </a:xfrm>
          <a:prstGeom prst="rect">
            <a:avLst/>
          </a:prstGeom>
          <a:noFill/>
          <a:ln w="0">
            <a:noFill/>
          </a:ln>
        </p:spPr>
        <p:txBody>
          <a:bodyPr anchor="ctr">
            <a:noAutofit/>
          </a:bodyPr>
          <a:lstStyle/>
          <a:p>
            <a:pPr algn="l">
              <a:defRPr sz="1219" b="0">
                <a:solidFill>
                  <a:srgbClr val="52647A"/>
                </a:solidFill>
                <a:latin typeface="Arial"/>
                <a:ea typeface="Arial"/>
                <a:cs typeface="Arial"/>
              </a:defRPr>
            </a:pPr>
            <a:r>
              <a:rPr sz="1219" b="0">
                <a:solidFill>
                  <a:srgbClr val="52647A"/>
                </a:solidFill>
                <a:latin typeface="Arial"/>
                <a:ea typeface="Arial"/>
                <a:cs typeface="Arial"/>
              </a:rPr>
              <a:t>BrightPath · Solve two-step equations</a:t>
            </a:r>
          </a:p>
        </p:txBody>
      </p:sp>
      <p:sp>
        <p:nvSpPr>
          <p:cNvPr id="6" name="object-6">
            <a:extLst>
              <a:ext uri="{FF2B5EF4-FFF2-40B4-BE49-F238E27FC236}">
                <a16:creationId xmlns:a16="http://schemas.microsoft.com/office/drawing/2014/main" id="{F9740F48-9ED8-4071-B334-FF74AB7E6460}"/>
              </a:ext>
            </a:extLst>
          </p:cNvPr>
          <p:cNvSpPr>
            <a:spLocks noGrp="1"/>
          </p:cNvSpPr>
          <p:nvPr/>
        </p:nvSpPr>
        <p:spPr>
          <a:xfrm>
            <a:off x="13811250" y="8120063"/>
            <a:ext cx="773906" cy="285750"/>
          </a:xfrm>
          <a:prstGeom prst="rect">
            <a:avLst/>
          </a:prstGeom>
          <a:noFill/>
          <a:ln w="0">
            <a:noFill/>
          </a:ln>
        </p:spPr>
        <p:txBody>
          <a:bodyPr anchor="ctr">
            <a:noAutofit/>
          </a:bodyPr>
          <a:lstStyle/>
          <a:p>
            <a:pPr algn="r">
              <a:defRPr sz="1219" b="0">
                <a:solidFill>
                  <a:srgbClr val="52647A"/>
                </a:solidFill>
                <a:latin typeface="Arial"/>
                <a:ea typeface="Arial"/>
                <a:cs typeface="Arial"/>
              </a:defRPr>
            </a:pPr>
            <a:r>
              <a:rPr sz="1219" b="0">
                <a:solidFill>
                  <a:srgbClr val="52647A"/>
                </a:solidFill>
                <a:latin typeface="Arial"/>
                <a:ea typeface="Arial"/>
                <a:cs typeface="Arial"/>
              </a:rPr>
              <a:t>3</a:t>
            </a:r>
          </a:p>
        </p:txBody>
      </p:sp>
      <p:sp>
        <p:nvSpPr>
          <p:cNvPr id="7" name="object-7">
            <a:extLst>
              <a:ext uri="{FF2B5EF4-FFF2-40B4-BE49-F238E27FC236}">
                <a16:creationId xmlns:a16="http://schemas.microsoft.com/office/drawing/2014/main" id="{146E825D-CD7F-4CDC-AB43-8DC7B9F7BC0B}"/>
              </a:ext>
            </a:extLst>
          </p:cNvPr>
          <p:cNvSpPr>
            <a:spLocks noGrp="1"/>
          </p:cNvSpPr>
          <p:nvPr/>
        </p:nvSpPr>
        <p:spPr>
          <a:xfrm>
            <a:off x="1309688" y="3095625"/>
            <a:ext cx="1428750" cy="1071563"/>
          </a:xfrm>
          <a:prstGeom prst="rect">
            <a:avLst/>
          </a:prstGeom>
          <a:solidFill>
            <a:srgbClr val="EFF6FF"/>
          </a:solidFill>
          <a:ln w="23813">
            <a:solidFill>
              <a:srgbClr val="1D4ED8"/>
            </a:solidFill>
          </a:ln>
        </p:spPr>
      </p:sp>
      <p:sp>
        <p:nvSpPr>
          <p:cNvPr id="8" name="object-8">
            <a:extLst>
              <a:ext uri="{FF2B5EF4-FFF2-40B4-BE49-F238E27FC236}">
                <a16:creationId xmlns:a16="http://schemas.microsoft.com/office/drawing/2014/main" id="{FDEB6656-1667-43B7-9BC9-972BFC2A6DF9}"/>
              </a:ext>
            </a:extLst>
          </p:cNvPr>
          <p:cNvSpPr>
            <a:spLocks noGrp="1"/>
          </p:cNvSpPr>
          <p:nvPr/>
        </p:nvSpPr>
        <p:spPr>
          <a:xfrm>
            <a:off x="1309688" y="3178969"/>
            <a:ext cx="1428750" cy="833438"/>
          </a:xfrm>
          <a:prstGeom prst="rect">
            <a:avLst/>
          </a:prstGeom>
          <a:noFill/>
          <a:ln w="0">
            <a:noFill/>
          </a:ln>
        </p:spPr>
        <p:txBody>
          <a:bodyPr anchor="ctr">
            <a:noAutofit/>
          </a:bodyPr>
          <a:lstStyle/>
          <a:p>
            <a:pPr algn="ctr">
              <a:defRPr sz="4125" b="1">
                <a:solidFill>
                  <a:srgbClr val="1D4ED8"/>
                </a:solidFill>
                <a:latin typeface="Arial"/>
                <a:ea typeface="Arial"/>
                <a:cs typeface="Arial"/>
              </a:defRPr>
            </a:pPr>
            <a:r>
              <a:rPr sz="4125" b="1">
                <a:solidFill>
                  <a:srgbClr val="1D4ED8"/>
                </a:solidFill>
                <a:latin typeface="Arial"/>
                <a:ea typeface="Arial"/>
                <a:cs typeface="Arial"/>
              </a:rPr>
              <a:t>x</a:t>
            </a:r>
          </a:p>
        </p:txBody>
      </p:sp>
      <p:sp>
        <p:nvSpPr>
          <p:cNvPr id="9" name="object-9">
            <a:extLst>
              <a:ext uri="{FF2B5EF4-FFF2-40B4-BE49-F238E27FC236}">
                <a16:creationId xmlns:a16="http://schemas.microsoft.com/office/drawing/2014/main" id="{72F980E7-046E-45BC-B5B5-78886312D517}"/>
              </a:ext>
            </a:extLst>
          </p:cNvPr>
          <p:cNvSpPr>
            <a:spLocks noGrp="1"/>
          </p:cNvSpPr>
          <p:nvPr/>
        </p:nvSpPr>
        <p:spPr>
          <a:xfrm>
            <a:off x="2738438" y="3095625"/>
            <a:ext cx="1428750" cy="1071563"/>
          </a:xfrm>
          <a:prstGeom prst="rect">
            <a:avLst/>
          </a:prstGeom>
          <a:solidFill>
            <a:srgbClr val="EFF6FF"/>
          </a:solidFill>
          <a:ln w="23813">
            <a:solidFill>
              <a:srgbClr val="1D4ED8"/>
            </a:solidFill>
          </a:ln>
        </p:spPr>
      </p:sp>
      <p:sp>
        <p:nvSpPr>
          <p:cNvPr id="10" name="object-10">
            <a:extLst>
              <a:ext uri="{FF2B5EF4-FFF2-40B4-BE49-F238E27FC236}">
                <a16:creationId xmlns:a16="http://schemas.microsoft.com/office/drawing/2014/main" id="{A099F7C5-E581-40AD-811C-0E36787B9F1E}"/>
              </a:ext>
            </a:extLst>
          </p:cNvPr>
          <p:cNvSpPr>
            <a:spLocks noGrp="1"/>
          </p:cNvSpPr>
          <p:nvPr/>
        </p:nvSpPr>
        <p:spPr>
          <a:xfrm>
            <a:off x="2738438" y="3178969"/>
            <a:ext cx="1428750" cy="833438"/>
          </a:xfrm>
          <a:prstGeom prst="rect">
            <a:avLst/>
          </a:prstGeom>
          <a:noFill/>
          <a:ln w="0">
            <a:noFill/>
          </a:ln>
        </p:spPr>
        <p:txBody>
          <a:bodyPr anchor="ctr">
            <a:noAutofit/>
          </a:bodyPr>
          <a:lstStyle/>
          <a:p>
            <a:pPr algn="ctr">
              <a:defRPr sz="4125" b="1">
                <a:solidFill>
                  <a:srgbClr val="1D4ED8"/>
                </a:solidFill>
                <a:latin typeface="Arial"/>
                <a:ea typeface="Arial"/>
                <a:cs typeface="Arial"/>
              </a:defRPr>
            </a:pPr>
            <a:r>
              <a:rPr sz="4125" b="1">
                <a:solidFill>
                  <a:srgbClr val="1D4ED8"/>
                </a:solidFill>
                <a:latin typeface="Arial"/>
                <a:ea typeface="Arial"/>
                <a:cs typeface="Arial"/>
              </a:rPr>
              <a:t>x</a:t>
            </a:r>
          </a:p>
        </p:txBody>
      </p:sp>
      <p:sp>
        <p:nvSpPr>
          <p:cNvPr id="11" name="object-11">
            <a:extLst>
              <a:ext uri="{FF2B5EF4-FFF2-40B4-BE49-F238E27FC236}">
                <a16:creationId xmlns:a16="http://schemas.microsoft.com/office/drawing/2014/main" id="{4735BD93-3A5B-4CC8-8026-7FFA8CC7FB8A}"/>
              </a:ext>
            </a:extLst>
          </p:cNvPr>
          <p:cNvSpPr>
            <a:spLocks noGrp="1"/>
          </p:cNvSpPr>
          <p:nvPr/>
        </p:nvSpPr>
        <p:spPr>
          <a:xfrm>
            <a:off x="4167188" y="3095625"/>
            <a:ext cx="1428750" cy="1071563"/>
          </a:xfrm>
          <a:prstGeom prst="rect">
            <a:avLst/>
          </a:prstGeom>
          <a:solidFill>
            <a:srgbClr val="EFF6FF"/>
          </a:solidFill>
          <a:ln w="23813">
            <a:solidFill>
              <a:srgbClr val="1D4ED8"/>
            </a:solidFill>
          </a:ln>
        </p:spPr>
      </p:sp>
      <p:sp>
        <p:nvSpPr>
          <p:cNvPr id="12" name="object-12">
            <a:extLst>
              <a:ext uri="{FF2B5EF4-FFF2-40B4-BE49-F238E27FC236}">
                <a16:creationId xmlns:a16="http://schemas.microsoft.com/office/drawing/2014/main" id="{01B8BFE1-8C57-4A0E-B69F-2A07C59439D0}"/>
              </a:ext>
            </a:extLst>
          </p:cNvPr>
          <p:cNvSpPr>
            <a:spLocks noGrp="1"/>
          </p:cNvSpPr>
          <p:nvPr/>
        </p:nvSpPr>
        <p:spPr>
          <a:xfrm>
            <a:off x="4167188" y="3178969"/>
            <a:ext cx="1428750" cy="833438"/>
          </a:xfrm>
          <a:prstGeom prst="rect">
            <a:avLst/>
          </a:prstGeom>
          <a:noFill/>
          <a:ln w="0">
            <a:noFill/>
          </a:ln>
        </p:spPr>
        <p:txBody>
          <a:bodyPr anchor="ctr">
            <a:noAutofit/>
          </a:bodyPr>
          <a:lstStyle/>
          <a:p>
            <a:pPr algn="ctr">
              <a:defRPr sz="4125" b="1">
                <a:solidFill>
                  <a:srgbClr val="1D4ED8"/>
                </a:solidFill>
                <a:latin typeface="Arial"/>
                <a:ea typeface="Arial"/>
                <a:cs typeface="Arial"/>
              </a:defRPr>
            </a:pPr>
            <a:r>
              <a:rPr sz="4125" b="1">
                <a:solidFill>
                  <a:srgbClr val="1D4ED8"/>
                </a:solidFill>
                <a:latin typeface="Arial"/>
                <a:ea typeface="Arial"/>
                <a:cs typeface="Arial"/>
              </a:rPr>
              <a:t>x</a:t>
            </a:r>
          </a:p>
        </p:txBody>
      </p:sp>
      <p:sp>
        <p:nvSpPr>
          <p:cNvPr id="13" name="object-13">
            <a:extLst>
              <a:ext uri="{FF2B5EF4-FFF2-40B4-BE49-F238E27FC236}">
                <a16:creationId xmlns:a16="http://schemas.microsoft.com/office/drawing/2014/main" id="{C69CB914-F901-419F-9802-C6A476C8B5FE}"/>
              </a:ext>
            </a:extLst>
          </p:cNvPr>
          <p:cNvSpPr>
            <a:spLocks noGrp="1"/>
          </p:cNvSpPr>
          <p:nvPr/>
        </p:nvSpPr>
        <p:spPr>
          <a:xfrm>
            <a:off x="5595938" y="3095625"/>
            <a:ext cx="1428750" cy="1071563"/>
          </a:xfrm>
          <a:prstGeom prst="rect">
            <a:avLst/>
          </a:prstGeom>
          <a:solidFill>
            <a:srgbClr val="EFF6FF"/>
          </a:solidFill>
          <a:ln w="23813">
            <a:solidFill>
              <a:srgbClr val="1D4ED8"/>
            </a:solidFill>
          </a:ln>
        </p:spPr>
      </p:sp>
      <p:sp>
        <p:nvSpPr>
          <p:cNvPr id="14" name="object-14">
            <a:extLst>
              <a:ext uri="{FF2B5EF4-FFF2-40B4-BE49-F238E27FC236}">
                <a16:creationId xmlns:a16="http://schemas.microsoft.com/office/drawing/2014/main" id="{EBE7A6C7-7674-410F-B455-0804BB2B813B}"/>
              </a:ext>
            </a:extLst>
          </p:cNvPr>
          <p:cNvSpPr>
            <a:spLocks noGrp="1"/>
          </p:cNvSpPr>
          <p:nvPr/>
        </p:nvSpPr>
        <p:spPr>
          <a:xfrm>
            <a:off x="5595938" y="3178969"/>
            <a:ext cx="1428750" cy="833438"/>
          </a:xfrm>
          <a:prstGeom prst="rect">
            <a:avLst/>
          </a:prstGeom>
          <a:noFill/>
          <a:ln w="0">
            <a:noFill/>
          </a:ln>
        </p:spPr>
        <p:txBody>
          <a:bodyPr anchor="ctr">
            <a:noAutofit/>
          </a:bodyPr>
          <a:lstStyle/>
          <a:p>
            <a:pPr algn="ctr">
              <a:defRPr sz="4125" b="1">
                <a:solidFill>
                  <a:srgbClr val="1D4ED8"/>
                </a:solidFill>
                <a:latin typeface="Arial"/>
                <a:ea typeface="Arial"/>
                <a:cs typeface="Arial"/>
              </a:defRPr>
            </a:pPr>
            <a:r>
              <a:rPr sz="4125" b="1">
                <a:solidFill>
                  <a:srgbClr val="1D4ED8"/>
                </a:solidFill>
                <a:latin typeface="Arial"/>
                <a:ea typeface="Arial"/>
                <a:cs typeface="Arial"/>
              </a:rPr>
              <a:t>x</a:t>
            </a:r>
          </a:p>
        </p:txBody>
      </p:sp>
      <p:sp>
        <p:nvSpPr>
          <p:cNvPr id="15" name="object-15">
            <a:extLst>
              <a:ext uri="{FF2B5EF4-FFF2-40B4-BE49-F238E27FC236}">
                <a16:creationId xmlns:a16="http://schemas.microsoft.com/office/drawing/2014/main" id="{C3E79CFB-D5F9-4124-8CA2-E5582F25A5E4}"/>
              </a:ext>
            </a:extLst>
          </p:cNvPr>
          <p:cNvSpPr>
            <a:spLocks noGrp="1"/>
          </p:cNvSpPr>
          <p:nvPr/>
        </p:nvSpPr>
        <p:spPr>
          <a:xfrm>
            <a:off x="7024688" y="3095625"/>
            <a:ext cx="1428750" cy="1071563"/>
          </a:xfrm>
          <a:prstGeom prst="rect">
            <a:avLst/>
          </a:prstGeom>
          <a:solidFill>
            <a:srgbClr val="EFF6FF"/>
          </a:solidFill>
          <a:ln w="23813">
            <a:solidFill>
              <a:srgbClr val="1D4ED8"/>
            </a:solidFill>
          </a:ln>
        </p:spPr>
      </p:sp>
      <p:sp>
        <p:nvSpPr>
          <p:cNvPr id="16" name="object-16">
            <a:extLst>
              <a:ext uri="{FF2B5EF4-FFF2-40B4-BE49-F238E27FC236}">
                <a16:creationId xmlns:a16="http://schemas.microsoft.com/office/drawing/2014/main" id="{1457EFAD-4D44-48CC-98F1-DAA6EAFB5334}"/>
              </a:ext>
            </a:extLst>
          </p:cNvPr>
          <p:cNvSpPr>
            <a:spLocks noGrp="1"/>
          </p:cNvSpPr>
          <p:nvPr/>
        </p:nvSpPr>
        <p:spPr>
          <a:xfrm>
            <a:off x="7024688" y="3178969"/>
            <a:ext cx="1428750" cy="833438"/>
          </a:xfrm>
          <a:prstGeom prst="rect">
            <a:avLst/>
          </a:prstGeom>
          <a:noFill/>
          <a:ln w="0">
            <a:noFill/>
          </a:ln>
        </p:spPr>
        <p:txBody>
          <a:bodyPr anchor="ctr">
            <a:noAutofit/>
          </a:bodyPr>
          <a:lstStyle/>
          <a:p>
            <a:pPr algn="ctr">
              <a:defRPr sz="4125" b="1">
                <a:solidFill>
                  <a:srgbClr val="1D4ED8"/>
                </a:solidFill>
                <a:latin typeface="Arial"/>
                <a:ea typeface="Arial"/>
                <a:cs typeface="Arial"/>
              </a:defRPr>
            </a:pPr>
            <a:r>
              <a:rPr sz="4125" b="1">
                <a:solidFill>
                  <a:srgbClr val="1D4ED8"/>
                </a:solidFill>
                <a:latin typeface="Arial"/>
                <a:ea typeface="Arial"/>
                <a:cs typeface="Arial"/>
              </a:rPr>
              <a:t>x</a:t>
            </a:r>
          </a:p>
        </p:txBody>
      </p:sp>
      <p:sp>
        <p:nvSpPr>
          <p:cNvPr id="17" name="object-17">
            <a:extLst>
              <a:ext uri="{FF2B5EF4-FFF2-40B4-BE49-F238E27FC236}">
                <a16:creationId xmlns:a16="http://schemas.microsoft.com/office/drawing/2014/main" id="{50F76804-21A2-49EB-9208-727F40DE5647}"/>
              </a:ext>
            </a:extLst>
          </p:cNvPr>
          <p:cNvSpPr>
            <a:spLocks noGrp="1"/>
          </p:cNvSpPr>
          <p:nvPr/>
        </p:nvSpPr>
        <p:spPr>
          <a:xfrm>
            <a:off x="8870156" y="3155156"/>
            <a:ext cx="2083594" cy="892969"/>
          </a:xfrm>
          <a:prstGeom prst="rect">
            <a:avLst/>
          </a:prstGeom>
          <a:noFill/>
          <a:ln w="0">
            <a:noFill/>
          </a:ln>
        </p:spPr>
        <p:txBody>
          <a:bodyPr anchor="ctr">
            <a:noAutofit/>
          </a:bodyPr>
          <a:lstStyle/>
          <a:p>
            <a:pPr algn="l">
              <a:defRPr sz="3938" b="1">
                <a:solidFill>
                  <a:srgbClr val="9A5800"/>
                </a:solidFill>
                <a:latin typeface="Arial"/>
                <a:ea typeface="Arial"/>
                <a:cs typeface="Arial"/>
              </a:defRPr>
            </a:pPr>
            <a:r>
              <a:rPr sz="3938" b="1">
                <a:solidFill>
                  <a:srgbClr val="9A5800"/>
                </a:solidFill>
                <a:latin typeface="Arial"/>
                <a:ea typeface="Arial"/>
                <a:cs typeface="Arial"/>
              </a:rPr>
              <a:t>− 7</a:t>
            </a:r>
          </a:p>
        </p:txBody>
      </p:sp>
      <p:sp>
        <p:nvSpPr>
          <p:cNvPr id="18" name="object-18">
            <a:extLst>
              <a:ext uri="{FF2B5EF4-FFF2-40B4-BE49-F238E27FC236}">
                <a16:creationId xmlns:a16="http://schemas.microsoft.com/office/drawing/2014/main" id="{61A9E591-60E7-465F-B092-42CA366491B6}"/>
              </a:ext>
            </a:extLst>
          </p:cNvPr>
          <p:cNvSpPr>
            <a:spLocks noGrp="1"/>
          </p:cNvSpPr>
          <p:nvPr/>
        </p:nvSpPr>
        <p:spPr>
          <a:xfrm>
            <a:off x="11549063" y="3155156"/>
            <a:ext cx="2857500" cy="892969"/>
          </a:xfrm>
          <a:prstGeom prst="rect">
            <a:avLst/>
          </a:prstGeom>
          <a:noFill/>
          <a:ln w="0">
            <a:noFill/>
          </a:ln>
        </p:spPr>
        <p:txBody>
          <a:bodyPr anchor="ctr">
            <a:noAutofit/>
          </a:bodyPr>
          <a:lstStyle/>
          <a:p>
            <a:pPr algn="l">
              <a:defRPr sz="4031" b="1">
                <a:solidFill>
                  <a:srgbClr val="172B4D"/>
                </a:solidFill>
                <a:latin typeface="Arial"/>
                <a:ea typeface="Arial"/>
                <a:cs typeface="Arial"/>
              </a:defRPr>
            </a:pPr>
            <a:r>
              <a:rPr sz="4031" b="1">
                <a:solidFill>
                  <a:srgbClr val="172B4D"/>
                </a:solidFill>
                <a:latin typeface="Arial"/>
                <a:ea typeface="Arial"/>
                <a:cs typeface="Arial"/>
              </a:rPr>
              <a:t>= 58</a:t>
            </a:r>
          </a:p>
        </p:txBody>
      </p:sp>
      <p:sp>
        <p:nvSpPr>
          <p:cNvPr id="19" name="object-19">
            <a:extLst>
              <a:ext uri="{FF2B5EF4-FFF2-40B4-BE49-F238E27FC236}">
                <a16:creationId xmlns:a16="http://schemas.microsoft.com/office/drawing/2014/main" id="{8F28011F-6D1C-444A-BBD9-25C6065D18E1}"/>
              </a:ext>
            </a:extLst>
          </p:cNvPr>
          <p:cNvSpPr>
            <a:spLocks noGrp="1"/>
          </p:cNvSpPr>
          <p:nvPr/>
        </p:nvSpPr>
        <p:spPr>
          <a:xfrm>
            <a:off x="2024063" y="4643438"/>
            <a:ext cx="11191875" cy="714375"/>
          </a:xfrm>
          <a:prstGeom prst="rect">
            <a:avLst/>
          </a:prstGeom>
          <a:noFill/>
          <a:ln w="0">
            <a:noFill/>
          </a:ln>
        </p:spPr>
        <p:txBody>
          <a:bodyPr anchor="ctr">
            <a:noAutofit/>
          </a:bodyPr>
          <a:lstStyle/>
          <a:p>
            <a:pPr algn="ctr">
              <a:defRPr sz="2906" b="1">
                <a:solidFill>
                  <a:srgbClr val="9A5800"/>
                </a:solidFill>
                <a:latin typeface="Arial"/>
                <a:ea typeface="Arial"/>
                <a:cs typeface="Arial"/>
              </a:defRPr>
            </a:pPr>
            <a:r>
              <a:rPr sz="2906" b="1">
                <a:solidFill>
                  <a:srgbClr val="9A5800"/>
                </a:solidFill>
                <a:latin typeface="Arial"/>
                <a:ea typeface="Arial"/>
                <a:cs typeface="Arial"/>
              </a:rPr>
              <a:t>Add 7 on both sides</a:t>
            </a:r>
          </a:p>
        </p:txBody>
      </p:sp>
      <p:sp>
        <p:nvSpPr>
          <p:cNvPr id="20" name="object-20">
            <a:extLst>
              <a:ext uri="{FF2B5EF4-FFF2-40B4-BE49-F238E27FC236}">
                <a16:creationId xmlns:a16="http://schemas.microsoft.com/office/drawing/2014/main" id="{DB0C7089-8222-40D6-89D4-329BD6396E38}"/>
              </a:ext>
            </a:extLst>
          </p:cNvPr>
          <p:cNvSpPr>
            <a:spLocks noGrp="1"/>
          </p:cNvSpPr>
          <p:nvPr/>
        </p:nvSpPr>
        <p:spPr>
          <a:xfrm>
            <a:off x="2381250" y="5655469"/>
            <a:ext cx="10477500" cy="773906"/>
          </a:xfrm>
          <a:prstGeom prst="rect">
            <a:avLst/>
          </a:prstGeom>
          <a:noFill/>
          <a:ln w="0">
            <a:noFill/>
          </a:ln>
        </p:spPr>
        <p:txBody>
          <a:bodyPr anchor="ctr">
            <a:noAutofit/>
          </a:bodyPr>
          <a:lstStyle/>
          <a:p>
            <a:pPr algn="ctr">
              <a:defRPr sz="4219" b="1">
                <a:solidFill>
                  <a:srgbClr val="1D4ED8"/>
                </a:solidFill>
                <a:latin typeface="Arial"/>
                <a:ea typeface="Arial"/>
                <a:cs typeface="Arial"/>
              </a:defRPr>
            </a:pPr>
            <a:r>
              <a:rPr sz="4219" b="1">
                <a:solidFill>
                  <a:srgbClr val="1D4ED8"/>
                </a:solidFill>
                <a:latin typeface="Arial"/>
                <a:ea typeface="Arial"/>
                <a:cs typeface="Arial"/>
              </a:rPr>
              <a:t>5x = 65</a:t>
            </a:r>
          </a:p>
        </p:txBody>
      </p:sp>
      <p:sp>
        <p:nvSpPr>
          <p:cNvPr id="21" name="object-21">
            <a:extLst>
              <a:ext uri="{FF2B5EF4-FFF2-40B4-BE49-F238E27FC236}">
                <a16:creationId xmlns:a16="http://schemas.microsoft.com/office/drawing/2014/main" id="{434E1483-1E5D-44F7-A8D3-379059FC8032}"/>
              </a:ext>
            </a:extLst>
          </p:cNvPr>
          <p:cNvSpPr>
            <a:spLocks noGrp="1"/>
          </p:cNvSpPr>
          <p:nvPr/>
        </p:nvSpPr>
        <p:spPr>
          <a:xfrm>
            <a:off x="7977188" y="6667500"/>
            <a:ext cx="4286250" cy="773906"/>
          </a:xfrm>
          <a:prstGeom prst="rect">
            <a:avLst/>
          </a:prstGeom>
          <a:noFill/>
          <a:ln w="0">
            <a:noFill/>
          </a:ln>
        </p:spPr>
        <p:txBody>
          <a:bodyPr anchor="ctr">
            <a:noAutofit/>
          </a:bodyPr>
          <a:lstStyle/>
          <a:p>
            <a:pPr algn="ctr">
              <a:defRPr sz="4594" b="1">
                <a:solidFill>
                  <a:srgbClr val="11745A"/>
                </a:solidFill>
                <a:latin typeface="Arial"/>
                <a:ea typeface="Arial"/>
                <a:cs typeface="Arial"/>
              </a:defRPr>
            </a:pPr>
            <a:r>
              <a:rPr sz="4594" b="1">
                <a:solidFill>
                  <a:srgbClr val="11745A"/>
                </a:solidFill>
                <a:latin typeface="Arial"/>
                <a:ea typeface="Arial"/>
                <a:cs typeface="Arial"/>
              </a:rPr>
              <a:t>x = 13</a:t>
            </a:r>
          </a:p>
        </p:txBody>
      </p:sp>
    </p:spTree>
    <p:extLst>
      <p:ext uri="{BB962C8B-B14F-4D97-AF65-F5344CB8AC3E}">
        <p14:creationId xmlns:p14="http://schemas.microsoft.com/office/powerpoint/2010/main" val="18356824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1"/>
                                        </p:tgtEl>
                                        <p:attrNameLst>
                                          <p:attrName>style.visibility</p:attrName>
                                        </p:attrNameLst>
                                      </p:cBhvr>
                                      <p:to>
                                        <p:strVal val="visible"/>
                                      </p:to>
                                    </p:set>
                                  </p:childTnLst>
                                </p:cTn>
                              </p:par>
                            </p:childTnLst>
                          </p:cTn>
                        </p:par>
                        <p:par>
                          <p:cTn id="15" fill="hold">
                            <p:stCondLst>
                              <p:cond delay="0"/>
                            </p:stCondLst>
                            <p:childTnLst>
                              <p:par>
                                <p:cTn id="16" presetID="63" presetClass="path" presetSubtype="0" accel="50000" decel="50000" fill="hold" grpId="1" nodeType="afterEffect">
                                  <p:stCondLst>
                                    <p:cond delay="0"/>
                                  </p:stCondLst>
                                  <p:childTnLst>
                                    <p:animMotion origin="layout" path="M 0 0 L -0.125 0 E" pathEditMode="relative" ptsTypes="">
                                      <p:cBhvr>
                                        <p:cTn id="17" dur="800" fill="hold"/>
                                        <p:tgtEl>
                                          <p:spTgt spid="21"/>
                                        </p:tgtEl>
                                        <p:attrNameLst>
                                          <p:attrName>ppt_x</p:attrName>
                                          <p:attrName>ppt_y</p:attrName>
                                        </p:attrNameLst>
                                      </p:cBhvr>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p:bldP spid="20" grpId="0"/>
      <p:bldP spid="21" grpId="0"/>
      <p:bldP spid="21" grpId="1"/>
    </p:bldLst>
  </p:timing>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1" name="object-1">
            <a:extLst>
              <a:ext uri="{FF2B5EF4-FFF2-40B4-BE49-F238E27FC236}">
                <a16:creationId xmlns:a16="http://schemas.microsoft.com/office/drawing/2014/main" id="{9AAD59F7-2959-4F4A-86CC-3820987512CD}"/>
              </a:ext>
            </a:extLst>
          </p:cNvPr>
          <p:cNvSpPr>
            <a:spLocks noGrp="1"/>
          </p:cNvSpPr>
          <p:nvPr/>
        </p:nvSpPr>
        <p:spPr>
          <a:xfrm>
            <a:off x="654844" y="357188"/>
            <a:ext cx="13930313" cy="714375"/>
          </a:xfrm>
          <a:prstGeom prst="rect">
            <a:avLst/>
          </a:prstGeom>
          <a:noFill/>
          <a:ln w="0">
            <a:noFill/>
          </a:ln>
        </p:spPr>
        <p:txBody>
          <a:bodyPr anchor="ctr">
            <a:noAutofit/>
          </a:bodyPr>
          <a:lstStyle/>
          <a:p>
            <a:pPr algn="l">
              <a:defRPr sz="4125" b="1">
                <a:solidFill>
                  <a:srgbClr val="1D4ED8"/>
                </a:solidFill>
                <a:latin typeface="Arial"/>
                <a:ea typeface="Arial"/>
                <a:cs typeface="Arial"/>
              </a:defRPr>
            </a:pPr>
            <a:r>
              <a:rPr sz="4125" b="1">
                <a:solidFill>
                  <a:srgbClr val="1D4ED8"/>
                </a:solidFill>
                <a:latin typeface="Arial"/>
                <a:ea typeface="Arial"/>
                <a:cs typeface="Arial"/>
              </a:rPr>
              <a:t>I do</a:t>
            </a:r>
          </a:p>
        </p:txBody>
      </p:sp>
      <p:sp>
        <p:nvSpPr>
          <p:cNvPr id="2" name="object-2">
            <a:extLst>
              <a:ext uri="{FF2B5EF4-FFF2-40B4-BE49-F238E27FC236}">
                <a16:creationId xmlns:a16="http://schemas.microsoft.com/office/drawing/2014/main" id="{F8DAE977-07A8-414B-A18D-52803C84F840}"/>
              </a:ext>
            </a:extLst>
          </p:cNvPr>
          <p:cNvSpPr>
            <a:spLocks noGrp="1"/>
          </p:cNvSpPr>
          <p:nvPr/>
        </p:nvSpPr>
        <p:spPr>
          <a:xfrm>
            <a:off x="654844" y="1250156"/>
            <a:ext cx="13930313" cy="1190625"/>
          </a:xfrm>
          <a:prstGeom prst="rect">
            <a:avLst/>
          </a:prstGeom>
          <a:noFill/>
          <a:ln w="0">
            <a:noFill/>
          </a:ln>
        </p:spPr>
        <p:txBody>
          <a:bodyPr anchor="ctr">
            <a:noAutofit/>
          </a:bodyPr>
          <a:lstStyle/>
          <a:p>
            <a:pPr algn="l">
              <a:defRPr sz="2625" b="1">
                <a:solidFill>
                  <a:srgbClr val="172B4D"/>
                </a:solidFill>
                <a:latin typeface="Arial"/>
                <a:ea typeface="Arial"/>
                <a:cs typeface="Arial"/>
              </a:defRPr>
            </a:pPr>
            <a:r>
              <a:rPr sz="2625" b="1">
                <a:solidFill>
                  <a:srgbClr val="172B4D"/>
                </a:solidFill>
                <a:latin typeface="Arial"/>
                <a:ea typeface="Arial"/>
                <a:cs typeface="Arial"/>
              </a:rPr>
              <a:t>Solve 5x − 7 = 68.</a:t>
            </a:r>
          </a:p>
        </p:txBody>
      </p:sp>
      <p:sp>
        <p:nvSpPr>
          <p:cNvPr id="3" name="object-3">
            <a:extLst>
              <a:ext uri="{FF2B5EF4-FFF2-40B4-BE49-F238E27FC236}">
                <a16:creationId xmlns:a16="http://schemas.microsoft.com/office/drawing/2014/main" id="{E7BD8942-0921-42EE-84D2-9F54F8B87601}"/>
              </a:ext>
            </a:extLst>
          </p:cNvPr>
          <p:cNvSpPr>
            <a:spLocks noGrp="1"/>
          </p:cNvSpPr>
          <p:nvPr/>
        </p:nvSpPr>
        <p:spPr>
          <a:xfrm>
            <a:off x="654844" y="8012906"/>
            <a:ext cx="13930313" cy="11906"/>
          </a:xfrm>
          <a:prstGeom prst="rect">
            <a:avLst/>
          </a:prstGeom>
          <a:solidFill>
            <a:srgbClr val="BCD0EA"/>
          </a:solidFill>
          <a:ln w="0">
            <a:noFill/>
          </a:ln>
        </p:spPr>
      </p:sp>
      <p:sp>
        <p:nvSpPr>
          <p:cNvPr id="4" name="object-4">
            <a:extLst>
              <a:ext uri="{FF2B5EF4-FFF2-40B4-BE49-F238E27FC236}">
                <a16:creationId xmlns:a16="http://schemas.microsoft.com/office/drawing/2014/main" id="{49FA2672-4AEF-4BC2-BBA9-586F61E6F1AA}"/>
              </a:ext>
            </a:extLst>
          </p:cNvPr>
          <p:cNvSpPr>
            <a:spLocks noGrp="1"/>
          </p:cNvSpPr>
          <p:nvPr/>
        </p:nvSpPr>
        <p:spPr>
          <a:xfrm>
            <a:off x="654844" y="8120063"/>
            <a:ext cx="12977813" cy="285750"/>
          </a:xfrm>
          <a:prstGeom prst="rect">
            <a:avLst/>
          </a:prstGeom>
          <a:noFill/>
          <a:ln w="0">
            <a:noFill/>
          </a:ln>
        </p:spPr>
        <p:txBody>
          <a:bodyPr anchor="ctr">
            <a:noAutofit/>
          </a:bodyPr>
          <a:lstStyle/>
          <a:p>
            <a:pPr algn="l">
              <a:defRPr sz="1219" b="0">
                <a:solidFill>
                  <a:srgbClr val="52647A"/>
                </a:solidFill>
                <a:latin typeface="Arial"/>
                <a:ea typeface="Arial"/>
                <a:cs typeface="Arial"/>
              </a:defRPr>
            </a:pPr>
            <a:r>
              <a:rPr sz="1219" b="0">
                <a:solidFill>
                  <a:srgbClr val="52647A"/>
                </a:solidFill>
                <a:latin typeface="Arial"/>
                <a:ea typeface="Arial"/>
                <a:cs typeface="Arial"/>
              </a:rPr>
              <a:t>BrightPath · Solve two-step equations</a:t>
            </a:r>
          </a:p>
        </p:txBody>
      </p:sp>
      <p:sp>
        <p:nvSpPr>
          <p:cNvPr id="5" name="object-5">
            <a:extLst>
              <a:ext uri="{FF2B5EF4-FFF2-40B4-BE49-F238E27FC236}">
                <a16:creationId xmlns:a16="http://schemas.microsoft.com/office/drawing/2014/main" id="{35783CE4-9254-46F5-8E21-1E4112067AAE}"/>
              </a:ext>
            </a:extLst>
          </p:cNvPr>
          <p:cNvSpPr>
            <a:spLocks noGrp="1"/>
          </p:cNvSpPr>
          <p:nvPr/>
        </p:nvSpPr>
        <p:spPr>
          <a:xfrm>
            <a:off x="13811250" y="8120063"/>
            <a:ext cx="773906" cy="285750"/>
          </a:xfrm>
          <a:prstGeom prst="rect">
            <a:avLst/>
          </a:prstGeom>
          <a:noFill/>
          <a:ln w="0">
            <a:noFill/>
          </a:ln>
        </p:spPr>
        <p:txBody>
          <a:bodyPr anchor="ctr">
            <a:noAutofit/>
          </a:bodyPr>
          <a:lstStyle/>
          <a:p>
            <a:pPr algn="r">
              <a:defRPr sz="1219" b="0">
                <a:solidFill>
                  <a:srgbClr val="52647A"/>
                </a:solidFill>
                <a:latin typeface="Arial"/>
                <a:ea typeface="Arial"/>
                <a:cs typeface="Arial"/>
              </a:defRPr>
            </a:pPr>
            <a:r>
              <a:rPr sz="1219" b="0">
                <a:solidFill>
                  <a:srgbClr val="52647A"/>
                </a:solidFill>
                <a:latin typeface="Arial"/>
                <a:ea typeface="Arial"/>
                <a:cs typeface="Arial"/>
              </a:rPr>
              <a:t>4</a:t>
            </a:r>
          </a:p>
        </p:txBody>
      </p:sp>
      <p:sp>
        <p:nvSpPr>
          <p:cNvPr id="6" name="object-6">
            <a:extLst>
              <a:ext uri="{FF2B5EF4-FFF2-40B4-BE49-F238E27FC236}">
                <a16:creationId xmlns:a16="http://schemas.microsoft.com/office/drawing/2014/main" id="{63C47342-69AA-4193-9C09-BA1576399A2D}"/>
              </a:ext>
            </a:extLst>
          </p:cNvPr>
          <p:cNvSpPr>
            <a:spLocks noGrp="1"/>
          </p:cNvSpPr>
          <p:nvPr/>
        </p:nvSpPr>
        <p:spPr>
          <a:xfrm>
            <a:off x="1309688" y="3095625"/>
            <a:ext cx="1428750" cy="1071563"/>
          </a:xfrm>
          <a:prstGeom prst="rect">
            <a:avLst/>
          </a:prstGeom>
          <a:solidFill>
            <a:srgbClr val="EFF6FF"/>
          </a:solidFill>
          <a:ln w="23813">
            <a:solidFill>
              <a:srgbClr val="1D4ED8"/>
            </a:solidFill>
          </a:ln>
        </p:spPr>
      </p:sp>
      <p:sp>
        <p:nvSpPr>
          <p:cNvPr id="7" name="object-7">
            <a:extLst>
              <a:ext uri="{FF2B5EF4-FFF2-40B4-BE49-F238E27FC236}">
                <a16:creationId xmlns:a16="http://schemas.microsoft.com/office/drawing/2014/main" id="{1501EBA2-52F7-405E-90C7-AF7D58BA24E9}"/>
              </a:ext>
            </a:extLst>
          </p:cNvPr>
          <p:cNvSpPr>
            <a:spLocks noGrp="1"/>
          </p:cNvSpPr>
          <p:nvPr/>
        </p:nvSpPr>
        <p:spPr>
          <a:xfrm>
            <a:off x="1309688" y="3178969"/>
            <a:ext cx="1428750" cy="833438"/>
          </a:xfrm>
          <a:prstGeom prst="rect">
            <a:avLst/>
          </a:prstGeom>
          <a:noFill/>
          <a:ln w="0">
            <a:noFill/>
          </a:ln>
        </p:spPr>
        <p:txBody>
          <a:bodyPr anchor="ctr">
            <a:noAutofit/>
          </a:bodyPr>
          <a:lstStyle/>
          <a:p>
            <a:pPr algn="ctr">
              <a:defRPr sz="4125" b="1">
                <a:solidFill>
                  <a:srgbClr val="1D4ED8"/>
                </a:solidFill>
                <a:latin typeface="Arial"/>
                <a:ea typeface="Arial"/>
                <a:cs typeface="Arial"/>
              </a:defRPr>
            </a:pPr>
            <a:r>
              <a:rPr sz="4125" b="1">
                <a:solidFill>
                  <a:srgbClr val="1D4ED8"/>
                </a:solidFill>
                <a:latin typeface="Arial"/>
                <a:ea typeface="Arial"/>
                <a:cs typeface="Arial"/>
              </a:rPr>
              <a:t>x</a:t>
            </a:r>
          </a:p>
        </p:txBody>
      </p:sp>
      <p:sp>
        <p:nvSpPr>
          <p:cNvPr id="8" name="object-8">
            <a:extLst>
              <a:ext uri="{FF2B5EF4-FFF2-40B4-BE49-F238E27FC236}">
                <a16:creationId xmlns:a16="http://schemas.microsoft.com/office/drawing/2014/main" id="{E9FA5B6B-443F-4252-9A85-7A82D1271158}"/>
              </a:ext>
            </a:extLst>
          </p:cNvPr>
          <p:cNvSpPr>
            <a:spLocks noGrp="1"/>
          </p:cNvSpPr>
          <p:nvPr/>
        </p:nvSpPr>
        <p:spPr>
          <a:xfrm>
            <a:off x="2738438" y="3095625"/>
            <a:ext cx="1428750" cy="1071563"/>
          </a:xfrm>
          <a:prstGeom prst="rect">
            <a:avLst/>
          </a:prstGeom>
          <a:solidFill>
            <a:srgbClr val="EFF6FF"/>
          </a:solidFill>
          <a:ln w="23813">
            <a:solidFill>
              <a:srgbClr val="1D4ED8"/>
            </a:solidFill>
          </a:ln>
        </p:spPr>
      </p:sp>
      <p:sp>
        <p:nvSpPr>
          <p:cNvPr id="9" name="object-9">
            <a:extLst>
              <a:ext uri="{FF2B5EF4-FFF2-40B4-BE49-F238E27FC236}">
                <a16:creationId xmlns:a16="http://schemas.microsoft.com/office/drawing/2014/main" id="{C9D56AA7-6FFF-4E13-B9DE-CEE3853240B0}"/>
              </a:ext>
            </a:extLst>
          </p:cNvPr>
          <p:cNvSpPr>
            <a:spLocks noGrp="1"/>
          </p:cNvSpPr>
          <p:nvPr/>
        </p:nvSpPr>
        <p:spPr>
          <a:xfrm>
            <a:off x="2738438" y="3178969"/>
            <a:ext cx="1428750" cy="833438"/>
          </a:xfrm>
          <a:prstGeom prst="rect">
            <a:avLst/>
          </a:prstGeom>
          <a:noFill/>
          <a:ln w="0">
            <a:noFill/>
          </a:ln>
        </p:spPr>
        <p:txBody>
          <a:bodyPr anchor="ctr">
            <a:noAutofit/>
          </a:bodyPr>
          <a:lstStyle/>
          <a:p>
            <a:pPr algn="ctr">
              <a:defRPr sz="4125" b="1">
                <a:solidFill>
                  <a:srgbClr val="1D4ED8"/>
                </a:solidFill>
                <a:latin typeface="Arial"/>
                <a:ea typeface="Arial"/>
                <a:cs typeface="Arial"/>
              </a:defRPr>
            </a:pPr>
            <a:r>
              <a:rPr sz="4125" b="1">
                <a:solidFill>
                  <a:srgbClr val="1D4ED8"/>
                </a:solidFill>
                <a:latin typeface="Arial"/>
                <a:ea typeface="Arial"/>
                <a:cs typeface="Arial"/>
              </a:rPr>
              <a:t>x</a:t>
            </a:r>
          </a:p>
        </p:txBody>
      </p:sp>
      <p:sp>
        <p:nvSpPr>
          <p:cNvPr id="10" name="object-10">
            <a:extLst>
              <a:ext uri="{FF2B5EF4-FFF2-40B4-BE49-F238E27FC236}">
                <a16:creationId xmlns:a16="http://schemas.microsoft.com/office/drawing/2014/main" id="{DABD2726-F305-4668-BB48-853DFCB5DE98}"/>
              </a:ext>
            </a:extLst>
          </p:cNvPr>
          <p:cNvSpPr>
            <a:spLocks noGrp="1"/>
          </p:cNvSpPr>
          <p:nvPr/>
        </p:nvSpPr>
        <p:spPr>
          <a:xfrm>
            <a:off x="4167188" y="3095625"/>
            <a:ext cx="1428750" cy="1071563"/>
          </a:xfrm>
          <a:prstGeom prst="rect">
            <a:avLst/>
          </a:prstGeom>
          <a:solidFill>
            <a:srgbClr val="EFF6FF"/>
          </a:solidFill>
          <a:ln w="23813">
            <a:solidFill>
              <a:srgbClr val="1D4ED8"/>
            </a:solidFill>
          </a:ln>
        </p:spPr>
      </p:sp>
      <p:sp>
        <p:nvSpPr>
          <p:cNvPr id="11" name="object-11">
            <a:extLst>
              <a:ext uri="{FF2B5EF4-FFF2-40B4-BE49-F238E27FC236}">
                <a16:creationId xmlns:a16="http://schemas.microsoft.com/office/drawing/2014/main" id="{0CDCE7CE-96E6-4808-B520-64F235787A0D}"/>
              </a:ext>
            </a:extLst>
          </p:cNvPr>
          <p:cNvSpPr>
            <a:spLocks noGrp="1"/>
          </p:cNvSpPr>
          <p:nvPr/>
        </p:nvSpPr>
        <p:spPr>
          <a:xfrm>
            <a:off x="4167188" y="3178969"/>
            <a:ext cx="1428750" cy="833438"/>
          </a:xfrm>
          <a:prstGeom prst="rect">
            <a:avLst/>
          </a:prstGeom>
          <a:noFill/>
          <a:ln w="0">
            <a:noFill/>
          </a:ln>
        </p:spPr>
        <p:txBody>
          <a:bodyPr anchor="ctr">
            <a:noAutofit/>
          </a:bodyPr>
          <a:lstStyle/>
          <a:p>
            <a:pPr algn="ctr">
              <a:defRPr sz="4125" b="1">
                <a:solidFill>
                  <a:srgbClr val="1D4ED8"/>
                </a:solidFill>
                <a:latin typeface="Arial"/>
                <a:ea typeface="Arial"/>
                <a:cs typeface="Arial"/>
              </a:defRPr>
            </a:pPr>
            <a:r>
              <a:rPr sz="4125" b="1">
                <a:solidFill>
                  <a:srgbClr val="1D4ED8"/>
                </a:solidFill>
                <a:latin typeface="Arial"/>
                <a:ea typeface="Arial"/>
                <a:cs typeface="Arial"/>
              </a:rPr>
              <a:t>x</a:t>
            </a:r>
          </a:p>
        </p:txBody>
      </p:sp>
      <p:sp>
        <p:nvSpPr>
          <p:cNvPr id="12" name="object-12">
            <a:extLst>
              <a:ext uri="{FF2B5EF4-FFF2-40B4-BE49-F238E27FC236}">
                <a16:creationId xmlns:a16="http://schemas.microsoft.com/office/drawing/2014/main" id="{DBE371F2-4F49-4494-805B-6371A779E90A}"/>
              </a:ext>
            </a:extLst>
          </p:cNvPr>
          <p:cNvSpPr>
            <a:spLocks noGrp="1"/>
          </p:cNvSpPr>
          <p:nvPr/>
        </p:nvSpPr>
        <p:spPr>
          <a:xfrm>
            <a:off x="5595938" y="3095625"/>
            <a:ext cx="1428750" cy="1071563"/>
          </a:xfrm>
          <a:prstGeom prst="rect">
            <a:avLst/>
          </a:prstGeom>
          <a:solidFill>
            <a:srgbClr val="EFF6FF"/>
          </a:solidFill>
          <a:ln w="23813">
            <a:solidFill>
              <a:srgbClr val="1D4ED8"/>
            </a:solidFill>
          </a:ln>
        </p:spPr>
      </p:sp>
      <p:sp>
        <p:nvSpPr>
          <p:cNvPr id="13" name="object-13">
            <a:extLst>
              <a:ext uri="{FF2B5EF4-FFF2-40B4-BE49-F238E27FC236}">
                <a16:creationId xmlns:a16="http://schemas.microsoft.com/office/drawing/2014/main" id="{E38F436E-A8CA-490A-8DD4-C3F6B79BAB6B}"/>
              </a:ext>
            </a:extLst>
          </p:cNvPr>
          <p:cNvSpPr>
            <a:spLocks noGrp="1"/>
          </p:cNvSpPr>
          <p:nvPr/>
        </p:nvSpPr>
        <p:spPr>
          <a:xfrm>
            <a:off x="5595938" y="3178969"/>
            <a:ext cx="1428750" cy="833438"/>
          </a:xfrm>
          <a:prstGeom prst="rect">
            <a:avLst/>
          </a:prstGeom>
          <a:noFill/>
          <a:ln w="0">
            <a:noFill/>
          </a:ln>
        </p:spPr>
        <p:txBody>
          <a:bodyPr anchor="ctr">
            <a:noAutofit/>
          </a:bodyPr>
          <a:lstStyle/>
          <a:p>
            <a:pPr algn="ctr">
              <a:defRPr sz="4125" b="1">
                <a:solidFill>
                  <a:srgbClr val="1D4ED8"/>
                </a:solidFill>
                <a:latin typeface="Arial"/>
                <a:ea typeface="Arial"/>
                <a:cs typeface="Arial"/>
              </a:defRPr>
            </a:pPr>
            <a:r>
              <a:rPr sz="4125" b="1">
                <a:solidFill>
                  <a:srgbClr val="1D4ED8"/>
                </a:solidFill>
                <a:latin typeface="Arial"/>
                <a:ea typeface="Arial"/>
                <a:cs typeface="Arial"/>
              </a:rPr>
              <a:t>x</a:t>
            </a:r>
          </a:p>
        </p:txBody>
      </p:sp>
      <p:sp>
        <p:nvSpPr>
          <p:cNvPr id="14" name="object-14">
            <a:extLst>
              <a:ext uri="{FF2B5EF4-FFF2-40B4-BE49-F238E27FC236}">
                <a16:creationId xmlns:a16="http://schemas.microsoft.com/office/drawing/2014/main" id="{F983F447-BEC1-4B21-87B7-C0AA99DECC7B}"/>
              </a:ext>
            </a:extLst>
          </p:cNvPr>
          <p:cNvSpPr>
            <a:spLocks noGrp="1"/>
          </p:cNvSpPr>
          <p:nvPr/>
        </p:nvSpPr>
        <p:spPr>
          <a:xfrm>
            <a:off x="7024688" y="3095625"/>
            <a:ext cx="1428750" cy="1071563"/>
          </a:xfrm>
          <a:prstGeom prst="rect">
            <a:avLst/>
          </a:prstGeom>
          <a:solidFill>
            <a:srgbClr val="EFF6FF"/>
          </a:solidFill>
          <a:ln w="23813">
            <a:solidFill>
              <a:srgbClr val="1D4ED8"/>
            </a:solidFill>
          </a:ln>
        </p:spPr>
      </p:sp>
      <p:sp>
        <p:nvSpPr>
          <p:cNvPr id="15" name="object-15">
            <a:extLst>
              <a:ext uri="{FF2B5EF4-FFF2-40B4-BE49-F238E27FC236}">
                <a16:creationId xmlns:a16="http://schemas.microsoft.com/office/drawing/2014/main" id="{53262283-3A76-40D2-828B-3469267A6D01}"/>
              </a:ext>
            </a:extLst>
          </p:cNvPr>
          <p:cNvSpPr>
            <a:spLocks noGrp="1"/>
          </p:cNvSpPr>
          <p:nvPr/>
        </p:nvSpPr>
        <p:spPr>
          <a:xfrm>
            <a:off x="7024688" y="3178969"/>
            <a:ext cx="1428750" cy="833438"/>
          </a:xfrm>
          <a:prstGeom prst="rect">
            <a:avLst/>
          </a:prstGeom>
          <a:noFill/>
          <a:ln w="0">
            <a:noFill/>
          </a:ln>
        </p:spPr>
        <p:txBody>
          <a:bodyPr anchor="ctr">
            <a:noAutofit/>
          </a:bodyPr>
          <a:lstStyle/>
          <a:p>
            <a:pPr algn="ctr">
              <a:defRPr sz="4125" b="1">
                <a:solidFill>
                  <a:srgbClr val="1D4ED8"/>
                </a:solidFill>
                <a:latin typeface="Arial"/>
                <a:ea typeface="Arial"/>
                <a:cs typeface="Arial"/>
              </a:defRPr>
            </a:pPr>
            <a:r>
              <a:rPr sz="4125" b="1">
                <a:solidFill>
                  <a:srgbClr val="1D4ED8"/>
                </a:solidFill>
                <a:latin typeface="Arial"/>
                <a:ea typeface="Arial"/>
                <a:cs typeface="Arial"/>
              </a:rPr>
              <a:t>x</a:t>
            </a:r>
          </a:p>
        </p:txBody>
      </p:sp>
      <p:sp>
        <p:nvSpPr>
          <p:cNvPr id="16" name="object-16">
            <a:extLst>
              <a:ext uri="{FF2B5EF4-FFF2-40B4-BE49-F238E27FC236}">
                <a16:creationId xmlns:a16="http://schemas.microsoft.com/office/drawing/2014/main" id="{656AFA75-779C-46CD-85F9-6E8065DF9AC9}"/>
              </a:ext>
            </a:extLst>
          </p:cNvPr>
          <p:cNvSpPr>
            <a:spLocks noGrp="1"/>
          </p:cNvSpPr>
          <p:nvPr/>
        </p:nvSpPr>
        <p:spPr>
          <a:xfrm>
            <a:off x="8870156" y="3155156"/>
            <a:ext cx="2083594" cy="892969"/>
          </a:xfrm>
          <a:prstGeom prst="rect">
            <a:avLst/>
          </a:prstGeom>
          <a:noFill/>
          <a:ln w="0">
            <a:noFill/>
          </a:ln>
        </p:spPr>
        <p:txBody>
          <a:bodyPr anchor="ctr">
            <a:noAutofit/>
          </a:bodyPr>
          <a:lstStyle/>
          <a:p>
            <a:pPr algn="l">
              <a:defRPr sz="3938" b="1">
                <a:solidFill>
                  <a:srgbClr val="9A5800"/>
                </a:solidFill>
                <a:latin typeface="Arial"/>
                <a:ea typeface="Arial"/>
                <a:cs typeface="Arial"/>
              </a:defRPr>
            </a:pPr>
            <a:r>
              <a:rPr sz="3938" b="1">
                <a:solidFill>
                  <a:srgbClr val="9A5800"/>
                </a:solidFill>
                <a:latin typeface="Arial"/>
                <a:ea typeface="Arial"/>
                <a:cs typeface="Arial"/>
              </a:rPr>
              <a:t>− 7</a:t>
            </a:r>
          </a:p>
        </p:txBody>
      </p:sp>
      <p:sp>
        <p:nvSpPr>
          <p:cNvPr id="17" name="object-17">
            <a:extLst>
              <a:ext uri="{FF2B5EF4-FFF2-40B4-BE49-F238E27FC236}">
                <a16:creationId xmlns:a16="http://schemas.microsoft.com/office/drawing/2014/main" id="{4351D7FE-2FEC-45EE-B4A5-E83D5451C2DD}"/>
              </a:ext>
            </a:extLst>
          </p:cNvPr>
          <p:cNvSpPr>
            <a:spLocks noGrp="1"/>
          </p:cNvSpPr>
          <p:nvPr/>
        </p:nvSpPr>
        <p:spPr>
          <a:xfrm>
            <a:off x="11549063" y="3155156"/>
            <a:ext cx="2857500" cy="892969"/>
          </a:xfrm>
          <a:prstGeom prst="rect">
            <a:avLst/>
          </a:prstGeom>
          <a:noFill/>
          <a:ln w="0">
            <a:noFill/>
          </a:ln>
        </p:spPr>
        <p:txBody>
          <a:bodyPr anchor="ctr">
            <a:noAutofit/>
          </a:bodyPr>
          <a:lstStyle/>
          <a:p>
            <a:pPr algn="l">
              <a:defRPr sz="4031" b="1">
                <a:solidFill>
                  <a:srgbClr val="172B4D"/>
                </a:solidFill>
                <a:latin typeface="Arial"/>
                <a:ea typeface="Arial"/>
                <a:cs typeface="Arial"/>
              </a:defRPr>
            </a:pPr>
            <a:r>
              <a:rPr sz="4031" b="1">
                <a:solidFill>
                  <a:srgbClr val="172B4D"/>
                </a:solidFill>
                <a:latin typeface="Arial"/>
                <a:ea typeface="Arial"/>
                <a:cs typeface="Arial"/>
              </a:rPr>
              <a:t>= 68</a:t>
            </a:r>
          </a:p>
        </p:txBody>
      </p:sp>
      <p:sp>
        <p:nvSpPr>
          <p:cNvPr id="18" name="object-18">
            <a:extLst>
              <a:ext uri="{FF2B5EF4-FFF2-40B4-BE49-F238E27FC236}">
                <a16:creationId xmlns:a16="http://schemas.microsoft.com/office/drawing/2014/main" id="{6B3B554A-0E00-4C31-B7A5-D2E1E64B1005}"/>
              </a:ext>
            </a:extLst>
          </p:cNvPr>
          <p:cNvSpPr>
            <a:spLocks noGrp="1"/>
          </p:cNvSpPr>
          <p:nvPr/>
        </p:nvSpPr>
        <p:spPr>
          <a:xfrm>
            <a:off x="2024063" y="4643438"/>
            <a:ext cx="11191875" cy="714375"/>
          </a:xfrm>
          <a:prstGeom prst="rect">
            <a:avLst/>
          </a:prstGeom>
          <a:noFill/>
          <a:ln w="0">
            <a:noFill/>
          </a:ln>
        </p:spPr>
        <p:txBody>
          <a:bodyPr anchor="ctr">
            <a:noAutofit/>
          </a:bodyPr>
          <a:lstStyle/>
          <a:p>
            <a:pPr algn="ctr">
              <a:defRPr sz="2906" b="1">
                <a:solidFill>
                  <a:srgbClr val="9A5800"/>
                </a:solidFill>
                <a:latin typeface="Arial"/>
                <a:ea typeface="Arial"/>
                <a:cs typeface="Arial"/>
              </a:defRPr>
            </a:pPr>
            <a:r>
              <a:rPr sz="2906" b="1">
                <a:solidFill>
                  <a:srgbClr val="9A5800"/>
                </a:solidFill>
                <a:latin typeface="Arial"/>
                <a:ea typeface="Arial"/>
                <a:cs typeface="Arial"/>
              </a:rPr>
              <a:t>Add 7 on both sides</a:t>
            </a:r>
          </a:p>
        </p:txBody>
      </p:sp>
      <p:sp>
        <p:nvSpPr>
          <p:cNvPr id="19" name="object-19">
            <a:extLst>
              <a:ext uri="{FF2B5EF4-FFF2-40B4-BE49-F238E27FC236}">
                <a16:creationId xmlns:a16="http://schemas.microsoft.com/office/drawing/2014/main" id="{116B23E8-F18D-400B-B80C-83BA7BE6C55A}"/>
              </a:ext>
            </a:extLst>
          </p:cNvPr>
          <p:cNvSpPr>
            <a:spLocks noGrp="1"/>
          </p:cNvSpPr>
          <p:nvPr/>
        </p:nvSpPr>
        <p:spPr>
          <a:xfrm>
            <a:off x="2381250" y="5655469"/>
            <a:ext cx="10477500" cy="773906"/>
          </a:xfrm>
          <a:prstGeom prst="rect">
            <a:avLst/>
          </a:prstGeom>
          <a:noFill/>
          <a:ln w="0">
            <a:noFill/>
          </a:ln>
        </p:spPr>
        <p:txBody>
          <a:bodyPr anchor="ctr">
            <a:noAutofit/>
          </a:bodyPr>
          <a:lstStyle/>
          <a:p>
            <a:pPr algn="ctr">
              <a:defRPr sz="4219" b="1">
                <a:solidFill>
                  <a:srgbClr val="1D4ED8"/>
                </a:solidFill>
                <a:latin typeface="Arial"/>
                <a:ea typeface="Arial"/>
                <a:cs typeface="Arial"/>
              </a:defRPr>
            </a:pPr>
            <a:r>
              <a:rPr sz="4219" b="1">
                <a:solidFill>
                  <a:srgbClr val="1D4ED8"/>
                </a:solidFill>
                <a:latin typeface="Arial"/>
                <a:ea typeface="Arial"/>
                <a:cs typeface="Arial"/>
              </a:rPr>
              <a:t>5x = 75</a:t>
            </a:r>
          </a:p>
        </p:txBody>
      </p:sp>
      <p:sp>
        <p:nvSpPr>
          <p:cNvPr id="20" name="object-20">
            <a:extLst>
              <a:ext uri="{FF2B5EF4-FFF2-40B4-BE49-F238E27FC236}">
                <a16:creationId xmlns:a16="http://schemas.microsoft.com/office/drawing/2014/main" id="{F1205884-E2DB-443C-AC62-4F4285CA5B50}"/>
              </a:ext>
            </a:extLst>
          </p:cNvPr>
          <p:cNvSpPr>
            <a:spLocks noGrp="1"/>
          </p:cNvSpPr>
          <p:nvPr/>
        </p:nvSpPr>
        <p:spPr>
          <a:xfrm>
            <a:off x="7977188" y="6667500"/>
            <a:ext cx="4286250" cy="773906"/>
          </a:xfrm>
          <a:prstGeom prst="rect">
            <a:avLst/>
          </a:prstGeom>
          <a:noFill/>
          <a:ln w="0">
            <a:noFill/>
          </a:ln>
        </p:spPr>
        <p:txBody>
          <a:bodyPr anchor="ctr">
            <a:noAutofit/>
          </a:bodyPr>
          <a:lstStyle/>
          <a:p>
            <a:pPr algn="ctr">
              <a:defRPr sz="4594" b="1">
                <a:solidFill>
                  <a:srgbClr val="11745A"/>
                </a:solidFill>
                <a:latin typeface="Arial"/>
                <a:ea typeface="Arial"/>
                <a:cs typeface="Arial"/>
              </a:defRPr>
            </a:pPr>
            <a:r>
              <a:rPr sz="4594" b="1">
                <a:solidFill>
                  <a:srgbClr val="11745A"/>
                </a:solidFill>
                <a:latin typeface="Arial"/>
                <a:ea typeface="Arial"/>
                <a:cs typeface="Arial"/>
              </a:rPr>
              <a:t>x = 15</a:t>
            </a:r>
          </a:p>
        </p:txBody>
      </p:sp>
    </p:spTree>
    <p:extLst>
      <p:ext uri="{BB962C8B-B14F-4D97-AF65-F5344CB8AC3E}">
        <p14:creationId xmlns:p14="http://schemas.microsoft.com/office/powerpoint/2010/main" val="12233775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0"/>
                                        </p:tgtEl>
                                        <p:attrNameLst>
                                          <p:attrName>style.visibility</p:attrName>
                                        </p:attrNameLst>
                                      </p:cBhvr>
                                      <p:to>
                                        <p:strVal val="visible"/>
                                      </p:to>
                                    </p:set>
                                  </p:childTnLst>
                                </p:cTn>
                              </p:par>
                            </p:childTnLst>
                          </p:cTn>
                        </p:par>
                        <p:par>
                          <p:cTn id="15" fill="hold">
                            <p:stCondLst>
                              <p:cond delay="0"/>
                            </p:stCondLst>
                            <p:childTnLst>
                              <p:par>
                                <p:cTn id="16" presetID="63" presetClass="path" presetSubtype="0" accel="50000" decel="50000" fill="hold" grpId="1" nodeType="afterEffect">
                                  <p:stCondLst>
                                    <p:cond delay="0"/>
                                  </p:stCondLst>
                                  <p:childTnLst>
                                    <p:animMotion origin="layout" path="M 0 0 L -0.125 0 E" pathEditMode="relative" ptsTypes="">
                                      <p:cBhvr>
                                        <p:cTn id="17" dur="800" fill="hold"/>
                                        <p:tgtEl>
                                          <p:spTgt spid="20"/>
                                        </p:tgtEl>
                                        <p:attrNameLst>
                                          <p:attrName>ppt_x</p:attrName>
                                          <p:attrName>ppt_y</p:attrName>
                                        </p:attrNameLst>
                                      </p:cBhvr>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p:bldP spid="19" grpId="0"/>
      <p:bldP spid="20" grpId="0"/>
      <p:bldP spid="20" grpId="1"/>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2" name="object-1">
            <a:extLst>
              <a:ext uri="{FF2B5EF4-FFF2-40B4-BE49-F238E27FC236}">
                <a16:creationId xmlns:a16="http://schemas.microsoft.com/office/drawing/2014/main" id="{109B1BFE-1962-4AA2-9F39-E00E18819C73}"/>
              </a:ext>
            </a:extLst>
          </p:cNvPr>
          <p:cNvSpPr>
            <a:spLocks noGrp="1"/>
          </p:cNvSpPr>
          <p:nvPr/>
        </p:nvSpPr>
        <p:spPr>
          <a:xfrm>
            <a:off x="654844" y="357188"/>
            <a:ext cx="13930313" cy="714375"/>
          </a:xfrm>
          <a:prstGeom prst="rect">
            <a:avLst/>
          </a:prstGeom>
          <a:noFill/>
          <a:ln w="0">
            <a:noFill/>
          </a:ln>
        </p:spPr>
        <p:txBody>
          <a:bodyPr anchor="ctr">
            <a:noAutofit/>
          </a:bodyPr>
          <a:lstStyle/>
          <a:p>
            <a:pPr algn="l">
              <a:defRPr sz="4125" b="1">
                <a:solidFill>
                  <a:srgbClr val="1D4ED8"/>
                </a:solidFill>
                <a:latin typeface="Arial"/>
                <a:ea typeface="Arial"/>
                <a:cs typeface="Arial"/>
              </a:defRPr>
            </a:pPr>
            <a:r>
              <a:rPr sz="4125" b="1">
                <a:solidFill>
                  <a:srgbClr val="1D4ED8"/>
                </a:solidFill>
                <a:latin typeface="Arial"/>
                <a:ea typeface="Arial"/>
                <a:cs typeface="Arial"/>
              </a:rPr>
              <a:t>You do</a:t>
            </a:r>
          </a:p>
        </p:txBody>
      </p:sp>
      <p:sp>
        <p:nvSpPr>
          <p:cNvPr id="2" name="object-2">
            <a:extLst>
              <a:ext uri="{FF2B5EF4-FFF2-40B4-BE49-F238E27FC236}">
                <a16:creationId xmlns:a16="http://schemas.microsoft.com/office/drawing/2014/main" id="{A97E8DD6-4EF2-408B-8A7A-05D13ABE006C}"/>
              </a:ext>
            </a:extLst>
          </p:cNvPr>
          <p:cNvSpPr>
            <a:spLocks noGrp="1"/>
          </p:cNvSpPr>
          <p:nvPr/>
        </p:nvSpPr>
        <p:spPr>
          <a:xfrm>
            <a:off x="11430000" y="476250"/>
            <a:ext cx="3155156" cy="547688"/>
          </a:xfrm>
          <a:prstGeom prst="rect">
            <a:avLst/>
          </a:prstGeom>
          <a:noFill/>
          <a:ln w="0">
            <a:noFill/>
          </a:ln>
        </p:spPr>
        <p:txBody>
          <a:bodyPr anchor="ctr">
            <a:noAutofit/>
          </a:bodyPr>
          <a:lstStyle/>
          <a:p>
            <a:pPr algn="r">
              <a:defRPr sz="2625" b="0">
                <a:solidFill>
                  <a:srgbClr val="52647A"/>
                </a:solidFill>
                <a:latin typeface="Arial"/>
                <a:ea typeface="Arial"/>
                <a:cs typeface="Arial"/>
              </a:defRPr>
            </a:pPr>
            <a:r>
              <a:rPr sz="2625" b="0">
                <a:solidFill>
                  <a:srgbClr val="52647A"/>
                </a:solidFill>
                <a:latin typeface="Arial"/>
                <a:ea typeface="Arial"/>
                <a:cs typeface="Arial"/>
              </a:rPr>
              <a:t>You try.</a:t>
            </a:r>
          </a:p>
        </p:txBody>
      </p:sp>
      <p:sp>
        <p:nvSpPr>
          <p:cNvPr id="3" name="object-3">
            <a:extLst>
              <a:ext uri="{FF2B5EF4-FFF2-40B4-BE49-F238E27FC236}">
                <a16:creationId xmlns:a16="http://schemas.microsoft.com/office/drawing/2014/main" id="{A90DF4FC-CCFA-4624-AF38-94F9B17E9354}"/>
              </a:ext>
            </a:extLst>
          </p:cNvPr>
          <p:cNvSpPr>
            <a:spLocks noGrp="1"/>
          </p:cNvSpPr>
          <p:nvPr/>
        </p:nvSpPr>
        <p:spPr>
          <a:xfrm>
            <a:off x="654844" y="1250156"/>
            <a:ext cx="13930313" cy="1190625"/>
          </a:xfrm>
          <a:prstGeom prst="rect">
            <a:avLst/>
          </a:prstGeom>
          <a:noFill/>
          <a:ln w="0">
            <a:noFill/>
          </a:ln>
        </p:spPr>
        <p:txBody>
          <a:bodyPr anchor="ctr">
            <a:noAutofit/>
          </a:bodyPr>
          <a:lstStyle/>
          <a:p>
            <a:pPr algn="l">
              <a:defRPr sz="2625" b="1">
                <a:solidFill>
                  <a:srgbClr val="172B4D"/>
                </a:solidFill>
                <a:latin typeface="Arial"/>
                <a:ea typeface="Arial"/>
                <a:cs typeface="Arial"/>
              </a:defRPr>
            </a:pPr>
            <a:r>
              <a:rPr sz="2625" b="1">
                <a:solidFill>
                  <a:srgbClr val="172B4D"/>
                </a:solidFill>
                <a:latin typeface="Arial"/>
                <a:ea typeface="Arial"/>
                <a:cs typeface="Arial"/>
              </a:rPr>
              <a:t>Solve 5x − 7 = 78.</a:t>
            </a:r>
          </a:p>
        </p:txBody>
      </p:sp>
      <p:sp>
        <p:nvSpPr>
          <p:cNvPr id="4" name="object-4">
            <a:extLst>
              <a:ext uri="{FF2B5EF4-FFF2-40B4-BE49-F238E27FC236}">
                <a16:creationId xmlns:a16="http://schemas.microsoft.com/office/drawing/2014/main" id="{FCAAC4B0-24C7-4CA7-A896-AE6706217654}"/>
              </a:ext>
            </a:extLst>
          </p:cNvPr>
          <p:cNvSpPr>
            <a:spLocks noGrp="1"/>
          </p:cNvSpPr>
          <p:nvPr/>
        </p:nvSpPr>
        <p:spPr>
          <a:xfrm>
            <a:off x="654844" y="8012906"/>
            <a:ext cx="13930313" cy="11906"/>
          </a:xfrm>
          <a:prstGeom prst="rect">
            <a:avLst/>
          </a:prstGeom>
          <a:solidFill>
            <a:srgbClr val="BCD0EA"/>
          </a:solidFill>
          <a:ln w="0">
            <a:noFill/>
          </a:ln>
        </p:spPr>
      </p:sp>
      <p:sp>
        <p:nvSpPr>
          <p:cNvPr id="5" name="object-5">
            <a:extLst>
              <a:ext uri="{FF2B5EF4-FFF2-40B4-BE49-F238E27FC236}">
                <a16:creationId xmlns:a16="http://schemas.microsoft.com/office/drawing/2014/main" id="{F05F9FD5-8FC9-4398-85AF-3194A64FB982}"/>
              </a:ext>
            </a:extLst>
          </p:cNvPr>
          <p:cNvSpPr>
            <a:spLocks noGrp="1"/>
          </p:cNvSpPr>
          <p:nvPr/>
        </p:nvSpPr>
        <p:spPr>
          <a:xfrm>
            <a:off x="654844" y="8120063"/>
            <a:ext cx="12977813" cy="285750"/>
          </a:xfrm>
          <a:prstGeom prst="rect">
            <a:avLst/>
          </a:prstGeom>
          <a:noFill/>
          <a:ln w="0">
            <a:noFill/>
          </a:ln>
        </p:spPr>
        <p:txBody>
          <a:bodyPr anchor="ctr">
            <a:noAutofit/>
          </a:bodyPr>
          <a:lstStyle/>
          <a:p>
            <a:pPr algn="l">
              <a:defRPr sz="1219" b="0">
                <a:solidFill>
                  <a:srgbClr val="52647A"/>
                </a:solidFill>
                <a:latin typeface="Arial"/>
                <a:ea typeface="Arial"/>
                <a:cs typeface="Arial"/>
              </a:defRPr>
            </a:pPr>
            <a:r>
              <a:rPr sz="1219" b="0">
                <a:solidFill>
                  <a:srgbClr val="52647A"/>
                </a:solidFill>
                <a:latin typeface="Arial"/>
                <a:ea typeface="Arial"/>
                <a:cs typeface="Arial"/>
              </a:rPr>
              <a:t>BrightPath · Solve two-step equations</a:t>
            </a:r>
          </a:p>
        </p:txBody>
      </p:sp>
      <p:sp>
        <p:nvSpPr>
          <p:cNvPr id="6" name="object-6">
            <a:extLst>
              <a:ext uri="{FF2B5EF4-FFF2-40B4-BE49-F238E27FC236}">
                <a16:creationId xmlns:a16="http://schemas.microsoft.com/office/drawing/2014/main" id="{7EBF47FE-AFAC-4E9E-93F7-A8F2A72C28B0}"/>
              </a:ext>
            </a:extLst>
          </p:cNvPr>
          <p:cNvSpPr>
            <a:spLocks noGrp="1"/>
          </p:cNvSpPr>
          <p:nvPr/>
        </p:nvSpPr>
        <p:spPr>
          <a:xfrm>
            <a:off x="13811250" y="8120063"/>
            <a:ext cx="773906" cy="285750"/>
          </a:xfrm>
          <a:prstGeom prst="rect">
            <a:avLst/>
          </a:prstGeom>
          <a:noFill/>
          <a:ln w="0">
            <a:noFill/>
          </a:ln>
        </p:spPr>
        <p:txBody>
          <a:bodyPr anchor="ctr">
            <a:noAutofit/>
          </a:bodyPr>
          <a:lstStyle/>
          <a:p>
            <a:pPr algn="r">
              <a:defRPr sz="1219" b="0">
                <a:solidFill>
                  <a:srgbClr val="52647A"/>
                </a:solidFill>
                <a:latin typeface="Arial"/>
                <a:ea typeface="Arial"/>
                <a:cs typeface="Arial"/>
              </a:defRPr>
            </a:pPr>
            <a:r>
              <a:rPr sz="1219" b="0">
                <a:solidFill>
                  <a:srgbClr val="52647A"/>
                </a:solidFill>
                <a:latin typeface="Arial"/>
                <a:ea typeface="Arial"/>
                <a:cs typeface="Arial"/>
              </a:rPr>
              <a:t>5</a:t>
            </a:r>
          </a:p>
        </p:txBody>
      </p:sp>
      <p:sp>
        <p:nvSpPr>
          <p:cNvPr id="7" name="object-7">
            <a:extLst>
              <a:ext uri="{FF2B5EF4-FFF2-40B4-BE49-F238E27FC236}">
                <a16:creationId xmlns:a16="http://schemas.microsoft.com/office/drawing/2014/main" id="{8C2118EA-F7F1-4AD4-AB22-BE20BF5C8926}"/>
              </a:ext>
            </a:extLst>
          </p:cNvPr>
          <p:cNvSpPr>
            <a:spLocks noGrp="1"/>
          </p:cNvSpPr>
          <p:nvPr/>
        </p:nvSpPr>
        <p:spPr>
          <a:xfrm>
            <a:off x="1309688" y="3095625"/>
            <a:ext cx="1428750" cy="1071563"/>
          </a:xfrm>
          <a:prstGeom prst="rect">
            <a:avLst/>
          </a:prstGeom>
          <a:solidFill>
            <a:srgbClr val="EFF6FF"/>
          </a:solidFill>
          <a:ln w="23813">
            <a:solidFill>
              <a:srgbClr val="1D4ED8"/>
            </a:solidFill>
          </a:ln>
        </p:spPr>
      </p:sp>
      <p:sp>
        <p:nvSpPr>
          <p:cNvPr id="8" name="object-8">
            <a:extLst>
              <a:ext uri="{FF2B5EF4-FFF2-40B4-BE49-F238E27FC236}">
                <a16:creationId xmlns:a16="http://schemas.microsoft.com/office/drawing/2014/main" id="{776C1B13-DF7D-420B-A4B1-B616BD75F492}"/>
              </a:ext>
            </a:extLst>
          </p:cNvPr>
          <p:cNvSpPr>
            <a:spLocks noGrp="1"/>
          </p:cNvSpPr>
          <p:nvPr/>
        </p:nvSpPr>
        <p:spPr>
          <a:xfrm>
            <a:off x="1309688" y="3178969"/>
            <a:ext cx="1428750" cy="833438"/>
          </a:xfrm>
          <a:prstGeom prst="rect">
            <a:avLst/>
          </a:prstGeom>
          <a:noFill/>
          <a:ln w="0">
            <a:noFill/>
          </a:ln>
        </p:spPr>
        <p:txBody>
          <a:bodyPr anchor="ctr">
            <a:noAutofit/>
          </a:bodyPr>
          <a:lstStyle/>
          <a:p>
            <a:pPr algn="ctr">
              <a:defRPr sz="4125" b="1">
                <a:solidFill>
                  <a:srgbClr val="1D4ED8"/>
                </a:solidFill>
                <a:latin typeface="Arial"/>
                <a:ea typeface="Arial"/>
                <a:cs typeface="Arial"/>
              </a:defRPr>
            </a:pPr>
            <a:r>
              <a:rPr sz="4125" b="1">
                <a:solidFill>
                  <a:srgbClr val="1D4ED8"/>
                </a:solidFill>
                <a:latin typeface="Arial"/>
                <a:ea typeface="Arial"/>
                <a:cs typeface="Arial"/>
              </a:rPr>
              <a:t>x</a:t>
            </a:r>
          </a:p>
        </p:txBody>
      </p:sp>
      <p:sp>
        <p:nvSpPr>
          <p:cNvPr id="9" name="object-9">
            <a:extLst>
              <a:ext uri="{FF2B5EF4-FFF2-40B4-BE49-F238E27FC236}">
                <a16:creationId xmlns:a16="http://schemas.microsoft.com/office/drawing/2014/main" id="{014EB228-D76A-4182-9D64-84A2477E4F28}"/>
              </a:ext>
            </a:extLst>
          </p:cNvPr>
          <p:cNvSpPr>
            <a:spLocks noGrp="1"/>
          </p:cNvSpPr>
          <p:nvPr/>
        </p:nvSpPr>
        <p:spPr>
          <a:xfrm>
            <a:off x="2738438" y="3095625"/>
            <a:ext cx="1428750" cy="1071563"/>
          </a:xfrm>
          <a:prstGeom prst="rect">
            <a:avLst/>
          </a:prstGeom>
          <a:solidFill>
            <a:srgbClr val="EFF6FF"/>
          </a:solidFill>
          <a:ln w="23813">
            <a:solidFill>
              <a:srgbClr val="1D4ED8"/>
            </a:solidFill>
          </a:ln>
        </p:spPr>
      </p:sp>
      <p:sp>
        <p:nvSpPr>
          <p:cNvPr id="10" name="object-10">
            <a:extLst>
              <a:ext uri="{FF2B5EF4-FFF2-40B4-BE49-F238E27FC236}">
                <a16:creationId xmlns:a16="http://schemas.microsoft.com/office/drawing/2014/main" id="{BA7A2800-45E1-444A-AC1B-468A4ACA463E}"/>
              </a:ext>
            </a:extLst>
          </p:cNvPr>
          <p:cNvSpPr>
            <a:spLocks noGrp="1"/>
          </p:cNvSpPr>
          <p:nvPr/>
        </p:nvSpPr>
        <p:spPr>
          <a:xfrm>
            <a:off x="2738438" y="3178969"/>
            <a:ext cx="1428750" cy="833438"/>
          </a:xfrm>
          <a:prstGeom prst="rect">
            <a:avLst/>
          </a:prstGeom>
          <a:noFill/>
          <a:ln w="0">
            <a:noFill/>
          </a:ln>
        </p:spPr>
        <p:txBody>
          <a:bodyPr anchor="ctr">
            <a:noAutofit/>
          </a:bodyPr>
          <a:lstStyle/>
          <a:p>
            <a:pPr algn="ctr">
              <a:defRPr sz="4125" b="1">
                <a:solidFill>
                  <a:srgbClr val="1D4ED8"/>
                </a:solidFill>
                <a:latin typeface="Arial"/>
                <a:ea typeface="Arial"/>
                <a:cs typeface="Arial"/>
              </a:defRPr>
            </a:pPr>
            <a:r>
              <a:rPr sz="4125" b="1">
                <a:solidFill>
                  <a:srgbClr val="1D4ED8"/>
                </a:solidFill>
                <a:latin typeface="Arial"/>
                <a:ea typeface="Arial"/>
                <a:cs typeface="Arial"/>
              </a:rPr>
              <a:t>x</a:t>
            </a:r>
          </a:p>
        </p:txBody>
      </p:sp>
      <p:sp>
        <p:nvSpPr>
          <p:cNvPr id="11" name="object-11">
            <a:extLst>
              <a:ext uri="{FF2B5EF4-FFF2-40B4-BE49-F238E27FC236}">
                <a16:creationId xmlns:a16="http://schemas.microsoft.com/office/drawing/2014/main" id="{44C6224B-6267-4010-8D3D-B9B2965DAC90}"/>
              </a:ext>
            </a:extLst>
          </p:cNvPr>
          <p:cNvSpPr>
            <a:spLocks noGrp="1"/>
          </p:cNvSpPr>
          <p:nvPr/>
        </p:nvSpPr>
        <p:spPr>
          <a:xfrm>
            <a:off x="4167188" y="3095625"/>
            <a:ext cx="1428750" cy="1071563"/>
          </a:xfrm>
          <a:prstGeom prst="rect">
            <a:avLst/>
          </a:prstGeom>
          <a:solidFill>
            <a:srgbClr val="EFF6FF"/>
          </a:solidFill>
          <a:ln w="23813">
            <a:solidFill>
              <a:srgbClr val="1D4ED8"/>
            </a:solidFill>
          </a:ln>
        </p:spPr>
      </p:sp>
      <p:sp>
        <p:nvSpPr>
          <p:cNvPr id="12" name="object-12">
            <a:extLst>
              <a:ext uri="{FF2B5EF4-FFF2-40B4-BE49-F238E27FC236}">
                <a16:creationId xmlns:a16="http://schemas.microsoft.com/office/drawing/2014/main" id="{82A704C6-AF66-4C36-B525-DD66628FE0D4}"/>
              </a:ext>
            </a:extLst>
          </p:cNvPr>
          <p:cNvSpPr>
            <a:spLocks noGrp="1"/>
          </p:cNvSpPr>
          <p:nvPr/>
        </p:nvSpPr>
        <p:spPr>
          <a:xfrm>
            <a:off x="4167188" y="3178969"/>
            <a:ext cx="1428750" cy="833438"/>
          </a:xfrm>
          <a:prstGeom prst="rect">
            <a:avLst/>
          </a:prstGeom>
          <a:noFill/>
          <a:ln w="0">
            <a:noFill/>
          </a:ln>
        </p:spPr>
        <p:txBody>
          <a:bodyPr anchor="ctr">
            <a:noAutofit/>
          </a:bodyPr>
          <a:lstStyle/>
          <a:p>
            <a:pPr algn="ctr">
              <a:defRPr sz="4125" b="1">
                <a:solidFill>
                  <a:srgbClr val="1D4ED8"/>
                </a:solidFill>
                <a:latin typeface="Arial"/>
                <a:ea typeface="Arial"/>
                <a:cs typeface="Arial"/>
              </a:defRPr>
            </a:pPr>
            <a:r>
              <a:rPr sz="4125" b="1">
                <a:solidFill>
                  <a:srgbClr val="1D4ED8"/>
                </a:solidFill>
                <a:latin typeface="Arial"/>
                <a:ea typeface="Arial"/>
                <a:cs typeface="Arial"/>
              </a:rPr>
              <a:t>x</a:t>
            </a:r>
          </a:p>
        </p:txBody>
      </p:sp>
      <p:sp>
        <p:nvSpPr>
          <p:cNvPr id="13" name="object-13">
            <a:extLst>
              <a:ext uri="{FF2B5EF4-FFF2-40B4-BE49-F238E27FC236}">
                <a16:creationId xmlns:a16="http://schemas.microsoft.com/office/drawing/2014/main" id="{1D16CD27-A83C-461D-90E6-A9B7D2935486}"/>
              </a:ext>
            </a:extLst>
          </p:cNvPr>
          <p:cNvSpPr>
            <a:spLocks noGrp="1"/>
          </p:cNvSpPr>
          <p:nvPr/>
        </p:nvSpPr>
        <p:spPr>
          <a:xfrm>
            <a:off x="5595938" y="3095625"/>
            <a:ext cx="1428750" cy="1071563"/>
          </a:xfrm>
          <a:prstGeom prst="rect">
            <a:avLst/>
          </a:prstGeom>
          <a:solidFill>
            <a:srgbClr val="EFF6FF"/>
          </a:solidFill>
          <a:ln w="23813">
            <a:solidFill>
              <a:srgbClr val="1D4ED8"/>
            </a:solidFill>
          </a:ln>
        </p:spPr>
      </p:sp>
      <p:sp>
        <p:nvSpPr>
          <p:cNvPr id="14" name="object-14">
            <a:extLst>
              <a:ext uri="{FF2B5EF4-FFF2-40B4-BE49-F238E27FC236}">
                <a16:creationId xmlns:a16="http://schemas.microsoft.com/office/drawing/2014/main" id="{30F02567-377A-4855-8B99-7FD17EEEC261}"/>
              </a:ext>
            </a:extLst>
          </p:cNvPr>
          <p:cNvSpPr>
            <a:spLocks noGrp="1"/>
          </p:cNvSpPr>
          <p:nvPr/>
        </p:nvSpPr>
        <p:spPr>
          <a:xfrm>
            <a:off x="5595938" y="3178969"/>
            <a:ext cx="1428750" cy="833438"/>
          </a:xfrm>
          <a:prstGeom prst="rect">
            <a:avLst/>
          </a:prstGeom>
          <a:noFill/>
          <a:ln w="0">
            <a:noFill/>
          </a:ln>
        </p:spPr>
        <p:txBody>
          <a:bodyPr anchor="ctr">
            <a:noAutofit/>
          </a:bodyPr>
          <a:lstStyle/>
          <a:p>
            <a:pPr algn="ctr">
              <a:defRPr sz="4125" b="1">
                <a:solidFill>
                  <a:srgbClr val="1D4ED8"/>
                </a:solidFill>
                <a:latin typeface="Arial"/>
                <a:ea typeface="Arial"/>
                <a:cs typeface="Arial"/>
              </a:defRPr>
            </a:pPr>
            <a:r>
              <a:rPr sz="4125" b="1">
                <a:solidFill>
                  <a:srgbClr val="1D4ED8"/>
                </a:solidFill>
                <a:latin typeface="Arial"/>
                <a:ea typeface="Arial"/>
                <a:cs typeface="Arial"/>
              </a:rPr>
              <a:t>x</a:t>
            </a:r>
          </a:p>
        </p:txBody>
      </p:sp>
      <p:sp>
        <p:nvSpPr>
          <p:cNvPr id="15" name="object-15">
            <a:extLst>
              <a:ext uri="{FF2B5EF4-FFF2-40B4-BE49-F238E27FC236}">
                <a16:creationId xmlns:a16="http://schemas.microsoft.com/office/drawing/2014/main" id="{93C3A0DC-AC67-49A2-81E1-C200D9C82EF6}"/>
              </a:ext>
            </a:extLst>
          </p:cNvPr>
          <p:cNvSpPr>
            <a:spLocks noGrp="1"/>
          </p:cNvSpPr>
          <p:nvPr/>
        </p:nvSpPr>
        <p:spPr>
          <a:xfrm>
            <a:off x="7024688" y="3095625"/>
            <a:ext cx="1428750" cy="1071563"/>
          </a:xfrm>
          <a:prstGeom prst="rect">
            <a:avLst/>
          </a:prstGeom>
          <a:solidFill>
            <a:srgbClr val="EFF6FF"/>
          </a:solidFill>
          <a:ln w="23813">
            <a:solidFill>
              <a:srgbClr val="1D4ED8"/>
            </a:solidFill>
          </a:ln>
        </p:spPr>
      </p:sp>
      <p:sp>
        <p:nvSpPr>
          <p:cNvPr id="16" name="object-16">
            <a:extLst>
              <a:ext uri="{FF2B5EF4-FFF2-40B4-BE49-F238E27FC236}">
                <a16:creationId xmlns:a16="http://schemas.microsoft.com/office/drawing/2014/main" id="{82B4469A-1722-4161-BBE3-F920AC120125}"/>
              </a:ext>
            </a:extLst>
          </p:cNvPr>
          <p:cNvSpPr>
            <a:spLocks noGrp="1"/>
          </p:cNvSpPr>
          <p:nvPr/>
        </p:nvSpPr>
        <p:spPr>
          <a:xfrm>
            <a:off x="7024688" y="3178969"/>
            <a:ext cx="1428750" cy="833438"/>
          </a:xfrm>
          <a:prstGeom prst="rect">
            <a:avLst/>
          </a:prstGeom>
          <a:noFill/>
          <a:ln w="0">
            <a:noFill/>
          </a:ln>
        </p:spPr>
        <p:txBody>
          <a:bodyPr anchor="ctr">
            <a:noAutofit/>
          </a:bodyPr>
          <a:lstStyle/>
          <a:p>
            <a:pPr algn="ctr">
              <a:defRPr sz="4125" b="1">
                <a:solidFill>
                  <a:srgbClr val="1D4ED8"/>
                </a:solidFill>
                <a:latin typeface="Arial"/>
                <a:ea typeface="Arial"/>
                <a:cs typeface="Arial"/>
              </a:defRPr>
            </a:pPr>
            <a:r>
              <a:rPr sz="4125" b="1">
                <a:solidFill>
                  <a:srgbClr val="1D4ED8"/>
                </a:solidFill>
                <a:latin typeface="Arial"/>
                <a:ea typeface="Arial"/>
                <a:cs typeface="Arial"/>
              </a:rPr>
              <a:t>x</a:t>
            </a:r>
          </a:p>
        </p:txBody>
      </p:sp>
      <p:sp>
        <p:nvSpPr>
          <p:cNvPr id="17" name="object-17">
            <a:extLst>
              <a:ext uri="{FF2B5EF4-FFF2-40B4-BE49-F238E27FC236}">
                <a16:creationId xmlns:a16="http://schemas.microsoft.com/office/drawing/2014/main" id="{1EFA55A2-7B3E-47B5-9830-709CCF2DD073}"/>
              </a:ext>
            </a:extLst>
          </p:cNvPr>
          <p:cNvSpPr>
            <a:spLocks noGrp="1"/>
          </p:cNvSpPr>
          <p:nvPr/>
        </p:nvSpPr>
        <p:spPr>
          <a:xfrm>
            <a:off x="8870156" y="3155156"/>
            <a:ext cx="2083594" cy="892969"/>
          </a:xfrm>
          <a:prstGeom prst="rect">
            <a:avLst/>
          </a:prstGeom>
          <a:noFill/>
          <a:ln w="0">
            <a:noFill/>
          </a:ln>
        </p:spPr>
        <p:txBody>
          <a:bodyPr anchor="ctr">
            <a:noAutofit/>
          </a:bodyPr>
          <a:lstStyle/>
          <a:p>
            <a:pPr algn="l">
              <a:defRPr sz="3938" b="1">
                <a:solidFill>
                  <a:srgbClr val="9A5800"/>
                </a:solidFill>
                <a:latin typeface="Arial"/>
                <a:ea typeface="Arial"/>
                <a:cs typeface="Arial"/>
              </a:defRPr>
            </a:pPr>
            <a:r>
              <a:rPr sz="3938" b="1">
                <a:solidFill>
                  <a:srgbClr val="9A5800"/>
                </a:solidFill>
                <a:latin typeface="Arial"/>
                <a:ea typeface="Arial"/>
                <a:cs typeface="Arial"/>
              </a:rPr>
              <a:t>− 7</a:t>
            </a:r>
          </a:p>
        </p:txBody>
      </p:sp>
      <p:sp>
        <p:nvSpPr>
          <p:cNvPr id="18" name="object-18">
            <a:extLst>
              <a:ext uri="{FF2B5EF4-FFF2-40B4-BE49-F238E27FC236}">
                <a16:creationId xmlns:a16="http://schemas.microsoft.com/office/drawing/2014/main" id="{DA3E2C09-4D74-4C29-A94F-59D33EA35AE3}"/>
              </a:ext>
            </a:extLst>
          </p:cNvPr>
          <p:cNvSpPr>
            <a:spLocks noGrp="1"/>
          </p:cNvSpPr>
          <p:nvPr/>
        </p:nvSpPr>
        <p:spPr>
          <a:xfrm>
            <a:off x="11549063" y="3155156"/>
            <a:ext cx="2857500" cy="892969"/>
          </a:xfrm>
          <a:prstGeom prst="rect">
            <a:avLst/>
          </a:prstGeom>
          <a:noFill/>
          <a:ln w="0">
            <a:noFill/>
          </a:ln>
        </p:spPr>
        <p:txBody>
          <a:bodyPr anchor="ctr">
            <a:noAutofit/>
          </a:bodyPr>
          <a:lstStyle/>
          <a:p>
            <a:pPr algn="l">
              <a:defRPr sz="4031" b="1">
                <a:solidFill>
                  <a:srgbClr val="172B4D"/>
                </a:solidFill>
                <a:latin typeface="Arial"/>
                <a:ea typeface="Arial"/>
                <a:cs typeface="Arial"/>
              </a:defRPr>
            </a:pPr>
            <a:r>
              <a:rPr sz="4031" b="1">
                <a:solidFill>
                  <a:srgbClr val="172B4D"/>
                </a:solidFill>
                <a:latin typeface="Arial"/>
                <a:ea typeface="Arial"/>
                <a:cs typeface="Arial"/>
              </a:rPr>
              <a:t>= 78</a:t>
            </a:r>
          </a:p>
        </p:txBody>
      </p:sp>
      <p:sp>
        <p:nvSpPr>
          <p:cNvPr id="19" name="object-19">
            <a:extLst>
              <a:ext uri="{FF2B5EF4-FFF2-40B4-BE49-F238E27FC236}">
                <a16:creationId xmlns:a16="http://schemas.microsoft.com/office/drawing/2014/main" id="{E519AACC-C01F-41B6-8902-392892DCA3F7}"/>
              </a:ext>
            </a:extLst>
          </p:cNvPr>
          <p:cNvSpPr>
            <a:spLocks noGrp="1"/>
          </p:cNvSpPr>
          <p:nvPr/>
        </p:nvSpPr>
        <p:spPr>
          <a:xfrm>
            <a:off x="2024063" y="4643438"/>
            <a:ext cx="11191875" cy="714375"/>
          </a:xfrm>
          <a:prstGeom prst="rect">
            <a:avLst/>
          </a:prstGeom>
          <a:noFill/>
          <a:ln w="0">
            <a:noFill/>
          </a:ln>
        </p:spPr>
        <p:txBody>
          <a:bodyPr anchor="ctr">
            <a:noAutofit/>
          </a:bodyPr>
          <a:lstStyle/>
          <a:p>
            <a:pPr algn="ctr">
              <a:defRPr sz="2906" b="1">
                <a:solidFill>
                  <a:srgbClr val="9A5800"/>
                </a:solidFill>
                <a:latin typeface="Arial"/>
                <a:ea typeface="Arial"/>
                <a:cs typeface="Arial"/>
              </a:defRPr>
            </a:pPr>
            <a:r>
              <a:rPr sz="2906" b="1">
                <a:solidFill>
                  <a:srgbClr val="9A5800"/>
                </a:solidFill>
                <a:latin typeface="Arial"/>
                <a:ea typeface="Arial"/>
                <a:cs typeface="Arial"/>
              </a:rPr>
              <a:t>Add 7 on both sides</a:t>
            </a:r>
          </a:p>
        </p:txBody>
      </p:sp>
      <p:sp>
        <p:nvSpPr>
          <p:cNvPr id="20" name="object-20">
            <a:extLst>
              <a:ext uri="{FF2B5EF4-FFF2-40B4-BE49-F238E27FC236}">
                <a16:creationId xmlns:a16="http://schemas.microsoft.com/office/drawing/2014/main" id="{F7CF5C52-4179-48D4-A8C6-D8B529174C8A}"/>
              </a:ext>
            </a:extLst>
          </p:cNvPr>
          <p:cNvSpPr>
            <a:spLocks noGrp="1"/>
          </p:cNvSpPr>
          <p:nvPr/>
        </p:nvSpPr>
        <p:spPr>
          <a:xfrm>
            <a:off x="2381250" y="5655469"/>
            <a:ext cx="10477500" cy="773906"/>
          </a:xfrm>
          <a:prstGeom prst="rect">
            <a:avLst/>
          </a:prstGeom>
          <a:noFill/>
          <a:ln w="0">
            <a:noFill/>
          </a:ln>
        </p:spPr>
        <p:txBody>
          <a:bodyPr anchor="ctr">
            <a:noAutofit/>
          </a:bodyPr>
          <a:lstStyle/>
          <a:p>
            <a:pPr algn="ctr">
              <a:defRPr sz="4219" b="1">
                <a:solidFill>
                  <a:srgbClr val="1D4ED8"/>
                </a:solidFill>
                <a:latin typeface="Arial"/>
                <a:ea typeface="Arial"/>
                <a:cs typeface="Arial"/>
              </a:defRPr>
            </a:pPr>
            <a:r>
              <a:rPr sz="4219" b="1">
                <a:solidFill>
                  <a:srgbClr val="1D4ED8"/>
                </a:solidFill>
                <a:latin typeface="Arial"/>
                <a:ea typeface="Arial"/>
                <a:cs typeface="Arial"/>
              </a:rPr>
              <a:t>5x = 85</a:t>
            </a:r>
          </a:p>
        </p:txBody>
      </p:sp>
      <p:sp>
        <p:nvSpPr>
          <p:cNvPr id="21" name="object-21">
            <a:extLst>
              <a:ext uri="{FF2B5EF4-FFF2-40B4-BE49-F238E27FC236}">
                <a16:creationId xmlns:a16="http://schemas.microsoft.com/office/drawing/2014/main" id="{871EB776-0458-463D-84CE-0C754CF4C9C3}"/>
              </a:ext>
            </a:extLst>
          </p:cNvPr>
          <p:cNvSpPr>
            <a:spLocks noGrp="1"/>
          </p:cNvSpPr>
          <p:nvPr/>
        </p:nvSpPr>
        <p:spPr>
          <a:xfrm>
            <a:off x="7977188" y="6667500"/>
            <a:ext cx="4286250" cy="773906"/>
          </a:xfrm>
          <a:prstGeom prst="rect">
            <a:avLst/>
          </a:prstGeom>
          <a:noFill/>
          <a:ln w="0">
            <a:noFill/>
          </a:ln>
        </p:spPr>
        <p:txBody>
          <a:bodyPr anchor="ctr">
            <a:noAutofit/>
          </a:bodyPr>
          <a:lstStyle/>
          <a:p>
            <a:pPr algn="ctr">
              <a:defRPr sz="4594" b="1">
                <a:solidFill>
                  <a:srgbClr val="11745A"/>
                </a:solidFill>
                <a:latin typeface="Arial"/>
                <a:ea typeface="Arial"/>
                <a:cs typeface="Arial"/>
              </a:defRPr>
            </a:pPr>
            <a:r>
              <a:rPr sz="4594" b="1">
                <a:solidFill>
                  <a:srgbClr val="11745A"/>
                </a:solidFill>
                <a:latin typeface="Arial"/>
                <a:ea typeface="Arial"/>
                <a:cs typeface="Arial"/>
              </a:rPr>
              <a:t>x = 17</a:t>
            </a:r>
          </a:p>
        </p:txBody>
      </p:sp>
    </p:spTree>
    <p:extLst>
      <p:ext uri="{BB962C8B-B14F-4D97-AF65-F5344CB8AC3E}">
        <p14:creationId xmlns:p14="http://schemas.microsoft.com/office/powerpoint/2010/main" val="4389254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1"/>
                                        </p:tgtEl>
                                        <p:attrNameLst>
                                          <p:attrName>style.visibility</p:attrName>
                                        </p:attrNameLst>
                                      </p:cBhvr>
                                      <p:to>
                                        <p:strVal val="visible"/>
                                      </p:to>
                                    </p:set>
                                  </p:childTnLst>
                                </p:cTn>
                              </p:par>
                            </p:childTnLst>
                          </p:cTn>
                        </p:par>
                        <p:par>
                          <p:cTn id="15" fill="hold">
                            <p:stCondLst>
                              <p:cond delay="0"/>
                            </p:stCondLst>
                            <p:childTnLst>
                              <p:par>
                                <p:cTn id="16" presetID="63" presetClass="path" presetSubtype="0" accel="50000" decel="50000" fill="hold" grpId="1" nodeType="afterEffect">
                                  <p:stCondLst>
                                    <p:cond delay="0"/>
                                  </p:stCondLst>
                                  <p:childTnLst>
                                    <p:animMotion origin="layout" path="M 0 0 L -0.125 0 E" pathEditMode="relative" ptsTypes="">
                                      <p:cBhvr>
                                        <p:cTn id="17" dur="800" fill="hold"/>
                                        <p:tgtEl>
                                          <p:spTgt spid="21"/>
                                        </p:tgtEl>
                                        <p:attrNameLst>
                                          <p:attrName>ppt_x</p:attrName>
                                          <p:attrName>ppt_y</p:attrName>
                                        </p:attrNameLst>
                                      </p:cBhvr>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p:bldP spid="20" grpId="0"/>
      <p:bldP spid="21" grpId="0"/>
      <p:bldP spid="21" grpId="1"/>
    </p:bldLst>
  </p:timing>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7" name="object-1">
            <a:extLst>
              <a:ext uri="{FF2B5EF4-FFF2-40B4-BE49-F238E27FC236}">
                <a16:creationId xmlns:a16="http://schemas.microsoft.com/office/drawing/2014/main" id="{3978C8C0-7071-4DCB-8105-D249274E27C8}"/>
              </a:ext>
            </a:extLst>
          </p:cNvPr>
          <p:cNvSpPr>
            <a:spLocks noGrp="1"/>
          </p:cNvSpPr>
          <p:nvPr/>
        </p:nvSpPr>
        <p:spPr>
          <a:xfrm>
            <a:off x="654844" y="357188"/>
            <a:ext cx="13930313" cy="714375"/>
          </a:xfrm>
          <a:prstGeom prst="rect">
            <a:avLst/>
          </a:prstGeom>
          <a:noFill/>
          <a:ln w="0">
            <a:noFill/>
          </a:ln>
        </p:spPr>
        <p:txBody>
          <a:bodyPr anchor="ctr">
            <a:noAutofit/>
          </a:bodyPr>
          <a:lstStyle/>
          <a:p>
            <a:pPr algn="l">
              <a:defRPr sz="4125" b="1">
                <a:solidFill>
                  <a:srgbClr val="1D4ED8"/>
                </a:solidFill>
                <a:latin typeface="Arial"/>
                <a:ea typeface="Arial"/>
                <a:cs typeface="Arial"/>
              </a:defRPr>
            </a:pPr>
            <a:r>
              <a:rPr sz="4125" b="1">
                <a:solidFill>
                  <a:srgbClr val="1D4ED8"/>
                </a:solidFill>
                <a:latin typeface="Arial"/>
                <a:ea typeface="Arial"/>
                <a:cs typeface="Arial"/>
              </a:rPr>
              <a:t>You do</a:t>
            </a:r>
          </a:p>
        </p:txBody>
      </p:sp>
      <p:sp>
        <p:nvSpPr>
          <p:cNvPr id="2" name="object-2">
            <a:extLst>
              <a:ext uri="{FF2B5EF4-FFF2-40B4-BE49-F238E27FC236}">
                <a16:creationId xmlns:a16="http://schemas.microsoft.com/office/drawing/2014/main" id="{BB0B9CB1-D03A-4915-860C-DBE901494FBD}"/>
              </a:ext>
            </a:extLst>
          </p:cNvPr>
          <p:cNvSpPr>
            <a:spLocks noGrp="1"/>
          </p:cNvSpPr>
          <p:nvPr/>
        </p:nvSpPr>
        <p:spPr>
          <a:xfrm>
            <a:off x="11430000" y="476250"/>
            <a:ext cx="3155156" cy="547688"/>
          </a:xfrm>
          <a:prstGeom prst="rect">
            <a:avLst/>
          </a:prstGeom>
          <a:noFill/>
          <a:ln w="0">
            <a:noFill/>
          </a:ln>
        </p:spPr>
        <p:txBody>
          <a:bodyPr anchor="ctr">
            <a:noAutofit/>
          </a:bodyPr>
          <a:lstStyle/>
          <a:p>
            <a:pPr algn="r">
              <a:defRPr sz="2625" b="0">
                <a:solidFill>
                  <a:srgbClr val="52647A"/>
                </a:solidFill>
                <a:latin typeface="Arial"/>
                <a:ea typeface="Arial"/>
                <a:cs typeface="Arial"/>
              </a:defRPr>
            </a:pPr>
            <a:r>
              <a:rPr sz="2625" b="0">
                <a:solidFill>
                  <a:srgbClr val="52647A"/>
                </a:solidFill>
                <a:latin typeface="Arial"/>
                <a:ea typeface="Arial"/>
                <a:cs typeface="Arial"/>
              </a:rPr>
              <a:t>You try.</a:t>
            </a:r>
          </a:p>
        </p:txBody>
      </p:sp>
      <p:sp>
        <p:nvSpPr>
          <p:cNvPr id="3" name="object-3">
            <a:extLst>
              <a:ext uri="{FF2B5EF4-FFF2-40B4-BE49-F238E27FC236}">
                <a16:creationId xmlns:a16="http://schemas.microsoft.com/office/drawing/2014/main" id="{2684969A-7BB7-4502-B15F-5761FA48BBD2}"/>
              </a:ext>
            </a:extLst>
          </p:cNvPr>
          <p:cNvSpPr>
            <a:spLocks noGrp="1"/>
          </p:cNvSpPr>
          <p:nvPr/>
        </p:nvSpPr>
        <p:spPr>
          <a:xfrm>
            <a:off x="654844" y="1250156"/>
            <a:ext cx="13930313" cy="1190625"/>
          </a:xfrm>
          <a:prstGeom prst="rect">
            <a:avLst/>
          </a:prstGeom>
          <a:noFill/>
          <a:ln w="0">
            <a:noFill/>
          </a:ln>
        </p:spPr>
        <p:txBody>
          <a:bodyPr anchor="ctr">
            <a:noAutofit/>
          </a:bodyPr>
          <a:lstStyle/>
          <a:p>
            <a:pPr algn="l">
              <a:defRPr sz="2625" b="1">
                <a:solidFill>
                  <a:srgbClr val="172B4D"/>
                </a:solidFill>
                <a:latin typeface="Arial"/>
                <a:ea typeface="Arial"/>
                <a:cs typeface="Arial"/>
              </a:defRPr>
            </a:pPr>
            <a:r>
              <a:rPr sz="2625" b="1">
                <a:solidFill>
                  <a:srgbClr val="172B4D"/>
                </a:solidFill>
                <a:latin typeface="Arial"/>
                <a:ea typeface="Arial"/>
                <a:cs typeface="Arial"/>
              </a:rPr>
              <a:t>Try these questions.</a:t>
            </a:r>
          </a:p>
        </p:txBody>
      </p:sp>
      <p:sp>
        <p:nvSpPr>
          <p:cNvPr id="4" name="object-4">
            <a:extLst>
              <a:ext uri="{FF2B5EF4-FFF2-40B4-BE49-F238E27FC236}">
                <a16:creationId xmlns:a16="http://schemas.microsoft.com/office/drawing/2014/main" id="{DDF84D4F-FE4C-4749-A5BA-E52E178C199E}"/>
              </a:ext>
            </a:extLst>
          </p:cNvPr>
          <p:cNvSpPr>
            <a:spLocks noGrp="1"/>
          </p:cNvSpPr>
          <p:nvPr/>
        </p:nvSpPr>
        <p:spPr>
          <a:xfrm>
            <a:off x="654844" y="8012906"/>
            <a:ext cx="13930313" cy="11906"/>
          </a:xfrm>
          <a:prstGeom prst="rect">
            <a:avLst/>
          </a:prstGeom>
          <a:solidFill>
            <a:srgbClr val="BCD0EA"/>
          </a:solidFill>
          <a:ln w="0">
            <a:noFill/>
          </a:ln>
        </p:spPr>
      </p:sp>
      <p:sp>
        <p:nvSpPr>
          <p:cNvPr id="5" name="object-5">
            <a:extLst>
              <a:ext uri="{FF2B5EF4-FFF2-40B4-BE49-F238E27FC236}">
                <a16:creationId xmlns:a16="http://schemas.microsoft.com/office/drawing/2014/main" id="{347382D4-FE65-4200-AF62-489568938085}"/>
              </a:ext>
            </a:extLst>
          </p:cNvPr>
          <p:cNvSpPr>
            <a:spLocks noGrp="1"/>
          </p:cNvSpPr>
          <p:nvPr/>
        </p:nvSpPr>
        <p:spPr>
          <a:xfrm>
            <a:off x="654844" y="8120063"/>
            <a:ext cx="12977813" cy="285750"/>
          </a:xfrm>
          <a:prstGeom prst="rect">
            <a:avLst/>
          </a:prstGeom>
          <a:noFill/>
          <a:ln w="0">
            <a:noFill/>
          </a:ln>
        </p:spPr>
        <p:txBody>
          <a:bodyPr anchor="ctr">
            <a:noAutofit/>
          </a:bodyPr>
          <a:lstStyle/>
          <a:p>
            <a:pPr algn="l">
              <a:defRPr sz="1219" b="0">
                <a:solidFill>
                  <a:srgbClr val="52647A"/>
                </a:solidFill>
                <a:latin typeface="Arial"/>
                <a:ea typeface="Arial"/>
                <a:cs typeface="Arial"/>
              </a:defRPr>
            </a:pPr>
            <a:r>
              <a:rPr sz="1219" b="0">
                <a:solidFill>
                  <a:srgbClr val="52647A"/>
                </a:solidFill>
                <a:latin typeface="Arial"/>
                <a:ea typeface="Arial"/>
                <a:cs typeface="Arial"/>
              </a:rPr>
              <a:t>BrightPath · Solve two-step equations</a:t>
            </a:r>
          </a:p>
        </p:txBody>
      </p:sp>
      <p:sp>
        <p:nvSpPr>
          <p:cNvPr id="6" name="object-6">
            <a:extLst>
              <a:ext uri="{FF2B5EF4-FFF2-40B4-BE49-F238E27FC236}">
                <a16:creationId xmlns:a16="http://schemas.microsoft.com/office/drawing/2014/main" id="{0ECFEACD-31BD-4D77-A0D0-7AEE1AEEFBBC}"/>
              </a:ext>
            </a:extLst>
          </p:cNvPr>
          <p:cNvSpPr>
            <a:spLocks noGrp="1"/>
          </p:cNvSpPr>
          <p:nvPr/>
        </p:nvSpPr>
        <p:spPr>
          <a:xfrm>
            <a:off x="13811250" y="8120063"/>
            <a:ext cx="773906" cy="285750"/>
          </a:xfrm>
          <a:prstGeom prst="rect">
            <a:avLst/>
          </a:prstGeom>
          <a:noFill/>
          <a:ln w="0">
            <a:noFill/>
          </a:ln>
        </p:spPr>
        <p:txBody>
          <a:bodyPr anchor="ctr">
            <a:noAutofit/>
          </a:bodyPr>
          <a:lstStyle/>
          <a:p>
            <a:pPr algn="r">
              <a:defRPr sz="1219" b="0">
                <a:solidFill>
                  <a:srgbClr val="52647A"/>
                </a:solidFill>
                <a:latin typeface="Arial"/>
                <a:ea typeface="Arial"/>
                <a:cs typeface="Arial"/>
              </a:defRPr>
            </a:pPr>
            <a:r>
              <a:rPr sz="1219" b="0">
                <a:solidFill>
                  <a:srgbClr val="52647A"/>
                </a:solidFill>
                <a:latin typeface="Arial"/>
                <a:ea typeface="Arial"/>
                <a:cs typeface="Arial"/>
              </a:rPr>
              <a:t>6</a:t>
            </a:r>
          </a:p>
        </p:txBody>
      </p:sp>
      <p:sp>
        <p:nvSpPr>
          <p:cNvPr id="7" name="object-7">
            <a:extLst>
              <a:ext uri="{FF2B5EF4-FFF2-40B4-BE49-F238E27FC236}">
                <a16:creationId xmlns:a16="http://schemas.microsoft.com/office/drawing/2014/main" id="{B71FCBEC-E948-4AA5-B21F-3392AC9514E1}"/>
              </a:ext>
            </a:extLst>
          </p:cNvPr>
          <p:cNvSpPr>
            <a:spLocks noGrp="1"/>
          </p:cNvSpPr>
          <p:nvPr/>
        </p:nvSpPr>
        <p:spPr>
          <a:xfrm>
            <a:off x="773906" y="2512219"/>
            <a:ext cx="678656" cy="976313"/>
          </a:xfrm>
          <a:prstGeom prst="rect">
            <a:avLst/>
          </a:prstGeom>
          <a:noFill/>
          <a:ln w="0">
            <a:noFill/>
          </a:ln>
        </p:spPr>
        <p:txBody>
          <a:bodyPr anchor="ctr">
            <a:noAutofit/>
          </a:bodyPr>
          <a:lstStyle/>
          <a:p>
            <a:pPr algn="l">
              <a:defRPr sz="1875" b="1">
                <a:solidFill>
                  <a:srgbClr val="1D4ED8"/>
                </a:solidFill>
                <a:latin typeface="Arial"/>
                <a:ea typeface="Arial"/>
                <a:cs typeface="Arial"/>
              </a:defRPr>
            </a:pPr>
            <a:r>
              <a:rPr sz="1875" b="1">
                <a:solidFill>
                  <a:srgbClr val="1D4ED8"/>
                </a:solidFill>
                <a:latin typeface="Arial"/>
                <a:ea typeface="Arial"/>
                <a:cs typeface="Arial"/>
              </a:rPr>
              <a:t>1.</a:t>
            </a:r>
          </a:p>
        </p:txBody>
      </p:sp>
      <p:sp>
        <p:nvSpPr>
          <p:cNvPr id="8" name="object-8">
            <a:extLst>
              <a:ext uri="{FF2B5EF4-FFF2-40B4-BE49-F238E27FC236}">
                <a16:creationId xmlns:a16="http://schemas.microsoft.com/office/drawing/2014/main" id="{41959BAA-CB70-4647-963C-FF18EF7404D3}"/>
              </a:ext>
            </a:extLst>
          </p:cNvPr>
          <p:cNvSpPr>
            <a:spLocks noGrp="1"/>
          </p:cNvSpPr>
          <p:nvPr/>
        </p:nvSpPr>
        <p:spPr>
          <a:xfrm>
            <a:off x="1464469" y="2512219"/>
            <a:ext cx="5917406" cy="976313"/>
          </a:xfrm>
          <a:prstGeom prst="rect">
            <a:avLst/>
          </a:prstGeom>
          <a:noFill/>
          <a:ln w="0">
            <a:noFill/>
          </a:ln>
        </p:spPr>
        <p:txBody>
          <a:bodyPr anchor="ctr">
            <a:noAutofit/>
          </a:bodyPr>
          <a:lstStyle/>
          <a:p>
            <a:pPr algn="l">
              <a:defRPr sz="1800" b="0">
                <a:solidFill>
                  <a:srgbClr val="172B4D"/>
                </a:solidFill>
                <a:latin typeface="Arial"/>
                <a:ea typeface="Arial"/>
                <a:cs typeface="Arial"/>
              </a:defRPr>
            </a:pPr>
            <a:r>
              <a:rPr sz="1800" b="0">
                <a:solidFill>
                  <a:srgbClr val="172B4D"/>
                </a:solidFill>
                <a:latin typeface="Arial"/>
                <a:ea typeface="Arial"/>
                <a:cs typeface="Arial"/>
              </a:rPr>
              <a:t>Solve 5x - 7 = 48.</a:t>
            </a:r>
          </a:p>
        </p:txBody>
      </p:sp>
      <p:sp>
        <p:nvSpPr>
          <p:cNvPr id="9" name="object-9">
            <a:extLst>
              <a:ext uri="{FF2B5EF4-FFF2-40B4-BE49-F238E27FC236}">
                <a16:creationId xmlns:a16="http://schemas.microsoft.com/office/drawing/2014/main" id="{138FF259-431F-42A7-AAB5-FCF23EE07F62}"/>
              </a:ext>
            </a:extLst>
          </p:cNvPr>
          <p:cNvSpPr>
            <a:spLocks noGrp="1"/>
          </p:cNvSpPr>
          <p:nvPr/>
        </p:nvSpPr>
        <p:spPr>
          <a:xfrm>
            <a:off x="773906" y="3559969"/>
            <a:ext cx="678656" cy="976313"/>
          </a:xfrm>
          <a:prstGeom prst="rect">
            <a:avLst/>
          </a:prstGeom>
          <a:noFill/>
          <a:ln w="0">
            <a:noFill/>
          </a:ln>
        </p:spPr>
        <p:txBody>
          <a:bodyPr anchor="ctr">
            <a:noAutofit/>
          </a:bodyPr>
          <a:lstStyle/>
          <a:p>
            <a:pPr algn="l">
              <a:defRPr sz="1875" b="1">
                <a:solidFill>
                  <a:srgbClr val="1D4ED8"/>
                </a:solidFill>
                <a:latin typeface="Arial"/>
                <a:ea typeface="Arial"/>
                <a:cs typeface="Arial"/>
              </a:defRPr>
            </a:pPr>
            <a:r>
              <a:rPr sz="1875" b="1">
                <a:solidFill>
                  <a:srgbClr val="1D4ED8"/>
                </a:solidFill>
                <a:latin typeface="Arial"/>
                <a:ea typeface="Arial"/>
                <a:cs typeface="Arial"/>
              </a:rPr>
              <a:t>2.</a:t>
            </a:r>
          </a:p>
        </p:txBody>
      </p:sp>
      <p:sp>
        <p:nvSpPr>
          <p:cNvPr id="10" name="object-10">
            <a:extLst>
              <a:ext uri="{FF2B5EF4-FFF2-40B4-BE49-F238E27FC236}">
                <a16:creationId xmlns:a16="http://schemas.microsoft.com/office/drawing/2014/main" id="{7947E142-389A-43D7-8AB9-5ECD068E84EE}"/>
              </a:ext>
            </a:extLst>
          </p:cNvPr>
          <p:cNvSpPr>
            <a:spLocks noGrp="1"/>
          </p:cNvSpPr>
          <p:nvPr/>
        </p:nvSpPr>
        <p:spPr>
          <a:xfrm>
            <a:off x="1464469" y="3559969"/>
            <a:ext cx="5917406" cy="976313"/>
          </a:xfrm>
          <a:prstGeom prst="rect">
            <a:avLst/>
          </a:prstGeom>
          <a:noFill/>
          <a:ln w="0">
            <a:noFill/>
          </a:ln>
        </p:spPr>
        <p:txBody>
          <a:bodyPr anchor="ctr">
            <a:noAutofit/>
          </a:bodyPr>
          <a:lstStyle/>
          <a:p>
            <a:pPr algn="l">
              <a:defRPr sz="1800" b="0">
                <a:solidFill>
                  <a:srgbClr val="172B4D"/>
                </a:solidFill>
                <a:latin typeface="Arial"/>
                <a:ea typeface="Arial"/>
                <a:cs typeface="Arial"/>
              </a:defRPr>
            </a:pPr>
            <a:r>
              <a:rPr sz="1800" b="0">
                <a:solidFill>
                  <a:srgbClr val="172B4D"/>
                </a:solidFill>
                <a:latin typeface="Arial"/>
                <a:ea typeface="Arial"/>
                <a:cs typeface="Arial"/>
              </a:rPr>
              <a:t>Solve 6(x + 4) = 72.</a:t>
            </a:r>
          </a:p>
        </p:txBody>
      </p:sp>
      <p:sp>
        <p:nvSpPr>
          <p:cNvPr id="11" name="object-11">
            <a:extLst>
              <a:ext uri="{FF2B5EF4-FFF2-40B4-BE49-F238E27FC236}">
                <a16:creationId xmlns:a16="http://schemas.microsoft.com/office/drawing/2014/main" id="{0B3E66FE-62E1-45FA-94EA-E49261D502AA}"/>
              </a:ext>
            </a:extLst>
          </p:cNvPr>
          <p:cNvSpPr>
            <a:spLocks noGrp="1"/>
          </p:cNvSpPr>
          <p:nvPr/>
        </p:nvSpPr>
        <p:spPr>
          <a:xfrm>
            <a:off x="773906" y="4607719"/>
            <a:ext cx="678656" cy="976313"/>
          </a:xfrm>
          <a:prstGeom prst="rect">
            <a:avLst/>
          </a:prstGeom>
          <a:noFill/>
          <a:ln w="0">
            <a:noFill/>
          </a:ln>
        </p:spPr>
        <p:txBody>
          <a:bodyPr anchor="ctr">
            <a:noAutofit/>
          </a:bodyPr>
          <a:lstStyle/>
          <a:p>
            <a:pPr algn="l">
              <a:defRPr sz="1875" b="1">
                <a:solidFill>
                  <a:srgbClr val="1D4ED8"/>
                </a:solidFill>
                <a:latin typeface="Arial"/>
                <a:ea typeface="Arial"/>
                <a:cs typeface="Arial"/>
              </a:defRPr>
            </a:pPr>
            <a:r>
              <a:rPr sz="1875" b="1">
                <a:solidFill>
                  <a:srgbClr val="1D4ED8"/>
                </a:solidFill>
                <a:latin typeface="Arial"/>
                <a:ea typeface="Arial"/>
                <a:cs typeface="Arial"/>
              </a:rPr>
              <a:t>3.</a:t>
            </a:r>
          </a:p>
        </p:txBody>
      </p:sp>
      <p:sp>
        <p:nvSpPr>
          <p:cNvPr id="12" name="object-12">
            <a:extLst>
              <a:ext uri="{FF2B5EF4-FFF2-40B4-BE49-F238E27FC236}">
                <a16:creationId xmlns:a16="http://schemas.microsoft.com/office/drawing/2014/main" id="{B380C578-9673-4203-BC79-8A4639D42AB5}"/>
              </a:ext>
            </a:extLst>
          </p:cNvPr>
          <p:cNvSpPr>
            <a:spLocks noGrp="1"/>
          </p:cNvSpPr>
          <p:nvPr/>
        </p:nvSpPr>
        <p:spPr>
          <a:xfrm>
            <a:off x="1464469" y="4607719"/>
            <a:ext cx="5917406" cy="976313"/>
          </a:xfrm>
          <a:prstGeom prst="rect">
            <a:avLst/>
          </a:prstGeom>
          <a:noFill/>
          <a:ln w="0">
            <a:noFill/>
          </a:ln>
        </p:spPr>
        <p:txBody>
          <a:bodyPr anchor="ctr">
            <a:noAutofit/>
          </a:bodyPr>
          <a:lstStyle/>
          <a:p>
            <a:pPr algn="l">
              <a:defRPr sz="1800" b="0">
                <a:solidFill>
                  <a:srgbClr val="172B4D"/>
                </a:solidFill>
                <a:latin typeface="Arial"/>
                <a:ea typeface="Arial"/>
                <a:cs typeface="Arial"/>
              </a:defRPr>
            </a:pPr>
            <a:r>
              <a:rPr sz="1800" b="0">
                <a:solidFill>
                  <a:srgbClr val="172B4D"/>
                </a:solidFill>
                <a:latin typeface="Arial"/>
                <a:ea typeface="Arial"/>
                <a:cs typeface="Arial"/>
              </a:rPr>
              <a:t>A number is tripled and 14 is added to make 65. Find the number.</a:t>
            </a:r>
          </a:p>
        </p:txBody>
      </p:sp>
      <p:sp>
        <p:nvSpPr>
          <p:cNvPr id="13" name="object-13">
            <a:extLst>
              <a:ext uri="{FF2B5EF4-FFF2-40B4-BE49-F238E27FC236}">
                <a16:creationId xmlns:a16="http://schemas.microsoft.com/office/drawing/2014/main" id="{63EC70F1-2FAF-46C0-B258-AEBE4868D71E}"/>
              </a:ext>
            </a:extLst>
          </p:cNvPr>
          <p:cNvSpPr>
            <a:spLocks noGrp="1"/>
          </p:cNvSpPr>
          <p:nvPr/>
        </p:nvSpPr>
        <p:spPr>
          <a:xfrm>
            <a:off x="773906" y="5655469"/>
            <a:ext cx="678656" cy="976313"/>
          </a:xfrm>
          <a:prstGeom prst="rect">
            <a:avLst/>
          </a:prstGeom>
          <a:noFill/>
          <a:ln w="0">
            <a:noFill/>
          </a:ln>
        </p:spPr>
        <p:txBody>
          <a:bodyPr anchor="ctr">
            <a:noAutofit/>
          </a:bodyPr>
          <a:lstStyle/>
          <a:p>
            <a:pPr algn="l">
              <a:defRPr sz="1875" b="1">
                <a:solidFill>
                  <a:srgbClr val="1D4ED8"/>
                </a:solidFill>
                <a:latin typeface="Arial"/>
                <a:ea typeface="Arial"/>
                <a:cs typeface="Arial"/>
              </a:defRPr>
            </a:pPr>
            <a:r>
              <a:rPr sz="1875" b="1">
                <a:solidFill>
                  <a:srgbClr val="1D4ED8"/>
                </a:solidFill>
                <a:latin typeface="Arial"/>
                <a:ea typeface="Arial"/>
                <a:cs typeface="Arial"/>
              </a:rPr>
              <a:t>4.</a:t>
            </a:r>
          </a:p>
        </p:txBody>
      </p:sp>
      <p:sp>
        <p:nvSpPr>
          <p:cNvPr id="14" name="object-14">
            <a:extLst>
              <a:ext uri="{FF2B5EF4-FFF2-40B4-BE49-F238E27FC236}">
                <a16:creationId xmlns:a16="http://schemas.microsoft.com/office/drawing/2014/main" id="{7008A03A-3BE9-434D-A9B4-7182BC9451CA}"/>
              </a:ext>
            </a:extLst>
          </p:cNvPr>
          <p:cNvSpPr>
            <a:spLocks noGrp="1"/>
          </p:cNvSpPr>
          <p:nvPr/>
        </p:nvSpPr>
        <p:spPr>
          <a:xfrm>
            <a:off x="1464469" y="5655469"/>
            <a:ext cx="5917406" cy="976313"/>
          </a:xfrm>
          <a:prstGeom prst="rect">
            <a:avLst/>
          </a:prstGeom>
          <a:noFill/>
          <a:ln w="0">
            <a:noFill/>
          </a:ln>
        </p:spPr>
        <p:txBody>
          <a:bodyPr anchor="ctr">
            <a:noAutofit/>
          </a:bodyPr>
          <a:lstStyle/>
          <a:p>
            <a:pPr algn="l">
              <a:defRPr sz="1800" b="0">
                <a:solidFill>
                  <a:srgbClr val="172B4D"/>
                </a:solidFill>
                <a:latin typeface="Arial"/>
                <a:ea typeface="Arial"/>
                <a:cs typeface="Arial"/>
              </a:defRPr>
            </a:pPr>
            <a:r>
              <a:rPr sz="1800" b="0">
                <a:solidFill>
                  <a:srgbClr val="172B4D"/>
                </a:solidFill>
                <a:latin typeface="Arial"/>
                <a:ea typeface="Arial"/>
                <a:cs typeface="Arial"/>
              </a:rPr>
              <a:t>Solve this independently and show every stage: Solve 5x - 7 = 48.</a:t>
            </a:r>
          </a:p>
        </p:txBody>
      </p:sp>
      <p:sp>
        <p:nvSpPr>
          <p:cNvPr id="15" name="object-15">
            <a:extLst>
              <a:ext uri="{FF2B5EF4-FFF2-40B4-BE49-F238E27FC236}">
                <a16:creationId xmlns:a16="http://schemas.microsoft.com/office/drawing/2014/main" id="{30618289-F6B2-4D00-AD75-B39513BF2C17}"/>
              </a:ext>
            </a:extLst>
          </p:cNvPr>
          <p:cNvSpPr>
            <a:spLocks noGrp="1"/>
          </p:cNvSpPr>
          <p:nvPr/>
        </p:nvSpPr>
        <p:spPr>
          <a:xfrm>
            <a:off x="773906" y="6703219"/>
            <a:ext cx="678656" cy="976313"/>
          </a:xfrm>
          <a:prstGeom prst="rect">
            <a:avLst/>
          </a:prstGeom>
          <a:noFill/>
          <a:ln w="0">
            <a:noFill/>
          </a:ln>
        </p:spPr>
        <p:txBody>
          <a:bodyPr anchor="ctr">
            <a:noAutofit/>
          </a:bodyPr>
          <a:lstStyle/>
          <a:p>
            <a:pPr algn="l">
              <a:defRPr sz="1875" b="1">
                <a:solidFill>
                  <a:srgbClr val="1D4ED8"/>
                </a:solidFill>
                <a:latin typeface="Arial"/>
                <a:ea typeface="Arial"/>
                <a:cs typeface="Arial"/>
              </a:defRPr>
            </a:pPr>
            <a:r>
              <a:rPr sz="1875" b="1">
                <a:solidFill>
                  <a:srgbClr val="1D4ED8"/>
                </a:solidFill>
                <a:latin typeface="Arial"/>
                <a:ea typeface="Arial"/>
                <a:cs typeface="Arial"/>
              </a:rPr>
              <a:t>5.</a:t>
            </a:r>
          </a:p>
        </p:txBody>
      </p:sp>
      <p:sp>
        <p:nvSpPr>
          <p:cNvPr id="16" name="object-16">
            <a:extLst>
              <a:ext uri="{FF2B5EF4-FFF2-40B4-BE49-F238E27FC236}">
                <a16:creationId xmlns:a16="http://schemas.microsoft.com/office/drawing/2014/main" id="{E520839A-B719-4D08-AC5D-692D70613008}"/>
              </a:ext>
            </a:extLst>
          </p:cNvPr>
          <p:cNvSpPr>
            <a:spLocks noGrp="1"/>
          </p:cNvSpPr>
          <p:nvPr/>
        </p:nvSpPr>
        <p:spPr>
          <a:xfrm>
            <a:off x="1464469" y="6703219"/>
            <a:ext cx="5917406" cy="976313"/>
          </a:xfrm>
          <a:prstGeom prst="rect">
            <a:avLst/>
          </a:prstGeom>
          <a:noFill/>
          <a:ln w="0">
            <a:noFill/>
          </a:ln>
        </p:spPr>
        <p:txBody>
          <a:bodyPr anchor="ctr">
            <a:noAutofit/>
          </a:bodyPr>
          <a:lstStyle/>
          <a:p>
            <a:pPr algn="l">
              <a:defRPr sz="1800" b="0">
                <a:solidFill>
                  <a:srgbClr val="172B4D"/>
                </a:solidFill>
                <a:latin typeface="Arial"/>
                <a:ea typeface="Arial"/>
                <a:cs typeface="Arial"/>
              </a:defRPr>
            </a:pPr>
            <a:r>
              <a:rPr sz="1800" b="0">
                <a:solidFill>
                  <a:srgbClr val="172B4D"/>
                </a:solidFill>
                <a:latin typeface="Arial"/>
                <a:ea typeface="Arial"/>
                <a:cs typeface="Arial"/>
              </a:rPr>
              <a:t>Use a second method or representation for: Solve 6(x + 4) = 72.</a:t>
            </a:r>
          </a:p>
        </p:txBody>
      </p:sp>
      <p:sp>
        <p:nvSpPr>
          <p:cNvPr id="17" name="object-17">
            <a:extLst>
              <a:ext uri="{FF2B5EF4-FFF2-40B4-BE49-F238E27FC236}">
                <a16:creationId xmlns:a16="http://schemas.microsoft.com/office/drawing/2014/main" id="{39928539-8D51-4F9E-96CD-06E001D3ADFD}"/>
              </a:ext>
            </a:extLst>
          </p:cNvPr>
          <p:cNvSpPr>
            <a:spLocks noGrp="1"/>
          </p:cNvSpPr>
          <p:nvPr/>
        </p:nvSpPr>
        <p:spPr>
          <a:xfrm>
            <a:off x="8215313" y="2512219"/>
            <a:ext cx="678656" cy="976313"/>
          </a:xfrm>
          <a:prstGeom prst="rect">
            <a:avLst/>
          </a:prstGeom>
          <a:noFill/>
          <a:ln w="0">
            <a:noFill/>
          </a:ln>
        </p:spPr>
        <p:txBody>
          <a:bodyPr anchor="ctr">
            <a:noAutofit/>
          </a:bodyPr>
          <a:lstStyle/>
          <a:p>
            <a:pPr algn="l">
              <a:defRPr sz="1875" b="1">
                <a:solidFill>
                  <a:srgbClr val="1D4ED8"/>
                </a:solidFill>
                <a:latin typeface="Arial"/>
                <a:ea typeface="Arial"/>
                <a:cs typeface="Arial"/>
              </a:defRPr>
            </a:pPr>
            <a:r>
              <a:rPr sz="1875" b="1">
                <a:solidFill>
                  <a:srgbClr val="1D4ED8"/>
                </a:solidFill>
                <a:latin typeface="Arial"/>
                <a:ea typeface="Arial"/>
                <a:cs typeface="Arial"/>
              </a:rPr>
              <a:t>6.</a:t>
            </a:r>
          </a:p>
        </p:txBody>
      </p:sp>
      <p:sp>
        <p:nvSpPr>
          <p:cNvPr id="18" name="object-18">
            <a:extLst>
              <a:ext uri="{FF2B5EF4-FFF2-40B4-BE49-F238E27FC236}">
                <a16:creationId xmlns:a16="http://schemas.microsoft.com/office/drawing/2014/main" id="{E9627642-1D08-4599-9AFE-AF32170569DB}"/>
              </a:ext>
            </a:extLst>
          </p:cNvPr>
          <p:cNvSpPr>
            <a:spLocks noGrp="1"/>
          </p:cNvSpPr>
          <p:nvPr/>
        </p:nvSpPr>
        <p:spPr>
          <a:xfrm>
            <a:off x="8905875" y="2512219"/>
            <a:ext cx="5917406" cy="976313"/>
          </a:xfrm>
          <a:prstGeom prst="rect">
            <a:avLst/>
          </a:prstGeom>
          <a:noFill/>
          <a:ln w="0">
            <a:noFill/>
          </a:ln>
        </p:spPr>
        <p:txBody>
          <a:bodyPr anchor="ctr">
            <a:noAutofit/>
          </a:bodyPr>
          <a:lstStyle/>
          <a:p>
            <a:pPr algn="l">
              <a:defRPr sz="1800" b="0">
                <a:solidFill>
                  <a:srgbClr val="172B4D"/>
                </a:solidFill>
                <a:latin typeface="Arial"/>
                <a:ea typeface="Arial"/>
                <a:cs typeface="Arial"/>
              </a:defRPr>
            </a:pPr>
            <a:r>
              <a:rPr sz="1800" b="0">
                <a:solidFill>
                  <a:srgbClr val="172B4D"/>
                </a:solidFill>
                <a:latin typeface="Arial"/>
                <a:ea typeface="Arial"/>
                <a:cs typeface="Arial"/>
              </a:rPr>
              <a:t>Check this result using an inverse, estimate or known fact: A number is tripled and 14 is added to make 65. Find the number.</a:t>
            </a:r>
          </a:p>
        </p:txBody>
      </p:sp>
      <p:sp>
        <p:nvSpPr>
          <p:cNvPr id="19" name="object-19">
            <a:extLst>
              <a:ext uri="{FF2B5EF4-FFF2-40B4-BE49-F238E27FC236}">
                <a16:creationId xmlns:a16="http://schemas.microsoft.com/office/drawing/2014/main" id="{CF9835A6-81F3-4CAE-A4AC-CB1F56D2AECC}"/>
              </a:ext>
            </a:extLst>
          </p:cNvPr>
          <p:cNvSpPr>
            <a:spLocks noGrp="1"/>
          </p:cNvSpPr>
          <p:nvPr/>
        </p:nvSpPr>
        <p:spPr>
          <a:xfrm>
            <a:off x="8215313" y="3559969"/>
            <a:ext cx="678656" cy="976313"/>
          </a:xfrm>
          <a:prstGeom prst="rect">
            <a:avLst/>
          </a:prstGeom>
          <a:noFill/>
          <a:ln w="0">
            <a:noFill/>
          </a:ln>
        </p:spPr>
        <p:txBody>
          <a:bodyPr anchor="ctr">
            <a:noAutofit/>
          </a:bodyPr>
          <a:lstStyle/>
          <a:p>
            <a:pPr algn="l">
              <a:defRPr sz="1875" b="1">
                <a:solidFill>
                  <a:srgbClr val="1D4ED8"/>
                </a:solidFill>
                <a:latin typeface="Arial"/>
                <a:ea typeface="Arial"/>
                <a:cs typeface="Arial"/>
              </a:defRPr>
            </a:pPr>
            <a:r>
              <a:rPr sz="1875" b="1">
                <a:solidFill>
                  <a:srgbClr val="1D4ED8"/>
                </a:solidFill>
                <a:latin typeface="Arial"/>
                <a:ea typeface="Arial"/>
                <a:cs typeface="Arial"/>
              </a:rPr>
              <a:t>7.</a:t>
            </a:r>
          </a:p>
        </p:txBody>
      </p:sp>
      <p:sp>
        <p:nvSpPr>
          <p:cNvPr id="20" name="object-20">
            <a:extLst>
              <a:ext uri="{FF2B5EF4-FFF2-40B4-BE49-F238E27FC236}">
                <a16:creationId xmlns:a16="http://schemas.microsoft.com/office/drawing/2014/main" id="{696AC7F2-38BA-4ACB-A873-DB6BE65FB40F}"/>
              </a:ext>
            </a:extLst>
          </p:cNvPr>
          <p:cNvSpPr>
            <a:spLocks noGrp="1"/>
          </p:cNvSpPr>
          <p:nvPr/>
        </p:nvSpPr>
        <p:spPr>
          <a:xfrm>
            <a:off x="8905875" y="3559969"/>
            <a:ext cx="5917406" cy="976313"/>
          </a:xfrm>
          <a:prstGeom prst="rect">
            <a:avLst/>
          </a:prstGeom>
          <a:noFill/>
          <a:ln w="0">
            <a:noFill/>
          </a:ln>
        </p:spPr>
        <p:txBody>
          <a:bodyPr anchor="ctr">
            <a:noAutofit/>
          </a:bodyPr>
          <a:lstStyle/>
          <a:p>
            <a:pPr algn="l">
              <a:defRPr sz="1800" b="0">
                <a:solidFill>
                  <a:srgbClr val="172B4D"/>
                </a:solidFill>
                <a:latin typeface="Arial"/>
                <a:ea typeface="Arial"/>
                <a:cs typeface="Arial"/>
              </a:defRPr>
            </a:pPr>
            <a:r>
              <a:rPr sz="1800" b="0">
                <a:solidFill>
                  <a:srgbClr val="172B4D"/>
                </a:solidFill>
                <a:latin typeface="Arial"/>
                <a:ea typeface="Arial"/>
                <a:cs typeface="Arial"/>
              </a:rPr>
              <a:t>Prove or explain your reasoning: Do 4x + 12 = 40 and 2x + 6 = 20 have the same solution?</a:t>
            </a:r>
          </a:p>
        </p:txBody>
      </p:sp>
      <p:sp>
        <p:nvSpPr>
          <p:cNvPr id="21" name="object-21">
            <a:extLst>
              <a:ext uri="{FF2B5EF4-FFF2-40B4-BE49-F238E27FC236}">
                <a16:creationId xmlns:a16="http://schemas.microsoft.com/office/drawing/2014/main" id="{BB9A9C08-1F08-4BA2-AFDB-30E983874B82}"/>
              </a:ext>
            </a:extLst>
          </p:cNvPr>
          <p:cNvSpPr>
            <a:spLocks noGrp="1"/>
          </p:cNvSpPr>
          <p:nvPr/>
        </p:nvSpPr>
        <p:spPr>
          <a:xfrm>
            <a:off x="8215313" y="4607719"/>
            <a:ext cx="678656" cy="976313"/>
          </a:xfrm>
          <a:prstGeom prst="rect">
            <a:avLst/>
          </a:prstGeom>
          <a:noFill/>
          <a:ln w="0">
            <a:noFill/>
          </a:ln>
        </p:spPr>
        <p:txBody>
          <a:bodyPr anchor="ctr">
            <a:noAutofit/>
          </a:bodyPr>
          <a:lstStyle/>
          <a:p>
            <a:pPr algn="l">
              <a:defRPr sz="1875" b="1">
                <a:solidFill>
                  <a:srgbClr val="1D4ED8"/>
                </a:solidFill>
                <a:latin typeface="Arial"/>
                <a:ea typeface="Arial"/>
                <a:cs typeface="Arial"/>
              </a:defRPr>
            </a:pPr>
            <a:r>
              <a:rPr sz="1875" b="1">
                <a:solidFill>
                  <a:srgbClr val="1D4ED8"/>
                </a:solidFill>
                <a:latin typeface="Arial"/>
                <a:ea typeface="Arial"/>
                <a:cs typeface="Arial"/>
              </a:rPr>
              <a:t>8.</a:t>
            </a:r>
          </a:p>
        </p:txBody>
      </p:sp>
      <p:sp>
        <p:nvSpPr>
          <p:cNvPr id="22" name="object-22">
            <a:extLst>
              <a:ext uri="{FF2B5EF4-FFF2-40B4-BE49-F238E27FC236}">
                <a16:creationId xmlns:a16="http://schemas.microsoft.com/office/drawing/2014/main" id="{E5165A90-B144-4806-8584-009990EA96D2}"/>
              </a:ext>
            </a:extLst>
          </p:cNvPr>
          <p:cNvSpPr>
            <a:spLocks noGrp="1"/>
          </p:cNvSpPr>
          <p:nvPr/>
        </p:nvSpPr>
        <p:spPr>
          <a:xfrm>
            <a:off x="8905875" y="4607719"/>
            <a:ext cx="5917406" cy="976313"/>
          </a:xfrm>
          <a:prstGeom prst="rect">
            <a:avLst/>
          </a:prstGeom>
          <a:noFill/>
          <a:ln w="0">
            <a:noFill/>
          </a:ln>
        </p:spPr>
        <p:txBody>
          <a:bodyPr anchor="ctr">
            <a:noAutofit/>
          </a:bodyPr>
          <a:lstStyle/>
          <a:p>
            <a:pPr algn="l">
              <a:defRPr sz="1800" b="0">
                <a:solidFill>
                  <a:srgbClr val="172B4D"/>
                </a:solidFill>
                <a:latin typeface="Arial"/>
                <a:ea typeface="Arial"/>
                <a:cs typeface="Arial"/>
              </a:defRPr>
            </a:pPr>
            <a:r>
              <a:rPr sz="1800" b="0">
                <a:solidFill>
                  <a:srgbClr val="172B4D"/>
                </a:solidFill>
                <a:latin typeface="Arial"/>
                <a:ea typeface="Arial"/>
                <a:cs typeface="Arial"/>
              </a:rPr>
              <a:t>Identify and correct this misconception: Miro changes one side of an equation without making the same balanced change to the other side.</a:t>
            </a:r>
          </a:p>
        </p:txBody>
      </p:sp>
      <p:sp>
        <p:nvSpPr>
          <p:cNvPr id="23" name="object-23">
            <a:extLst>
              <a:ext uri="{FF2B5EF4-FFF2-40B4-BE49-F238E27FC236}">
                <a16:creationId xmlns:a16="http://schemas.microsoft.com/office/drawing/2014/main" id="{E4A840D8-C66C-4C22-B789-E56D62031E0E}"/>
              </a:ext>
            </a:extLst>
          </p:cNvPr>
          <p:cNvSpPr>
            <a:spLocks noGrp="1"/>
          </p:cNvSpPr>
          <p:nvPr/>
        </p:nvSpPr>
        <p:spPr>
          <a:xfrm>
            <a:off x="8215313" y="5655469"/>
            <a:ext cx="678656" cy="976313"/>
          </a:xfrm>
          <a:prstGeom prst="rect">
            <a:avLst/>
          </a:prstGeom>
          <a:noFill/>
          <a:ln w="0">
            <a:noFill/>
          </a:ln>
        </p:spPr>
        <p:txBody>
          <a:bodyPr anchor="ctr">
            <a:noAutofit/>
          </a:bodyPr>
          <a:lstStyle/>
          <a:p>
            <a:pPr algn="l">
              <a:defRPr sz="1875" b="1">
                <a:solidFill>
                  <a:srgbClr val="1D4ED8"/>
                </a:solidFill>
                <a:latin typeface="Arial"/>
                <a:ea typeface="Arial"/>
                <a:cs typeface="Arial"/>
              </a:defRPr>
            </a:pPr>
            <a:r>
              <a:rPr sz="1875" b="1">
                <a:solidFill>
                  <a:srgbClr val="1D4ED8"/>
                </a:solidFill>
                <a:latin typeface="Arial"/>
                <a:ea typeface="Arial"/>
                <a:cs typeface="Arial"/>
              </a:rPr>
              <a:t>9.</a:t>
            </a:r>
          </a:p>
        </p:txBody>
      </p:sp>
      <p:sp>
        <p:nvSpPr>
          <p:cNvPr id="24" name="object-24">
            <a:extLst>
              <a:ext uri="{FF2B5EF4-FFF2-40B4-BE49-F238E27FC236}">
                <a16:creationId xmlns:a16="http://schemas.microsoft.com/office/drawing/2014/main" id="{649D14AF-F9B6-4FCA-BBF9-586A4A8B9FAD}"/>
              </a:ext>
            </a:extLst>
          </p:cNvPr>
          <p:cNvSpPr>
            <a:spLocks noGrp="1"/>
          </p:cNvSpPr>
          <p:nvPr/>
        </p:nvSpPr>
        <p:spPr>
          <a:xfrm>
            <a:off x="8905875" y="5655469"/>
            <a:ext cx="5917406" cy="976313"/>
          </a:xfrm>
          <a:prstGeom prst="rect">
            <a:avLst/>
          </a:prstGeom>
          <a:noFill/>
          <a:ln w="0">
            <a:noFill/>
          </a:ln>
        </p:spPr>
        <p:txBody>
          <a:bodyPr anchor="ctr">
            <a:noAutofit/>
          </a:bodyPr>
          <a:lstStyle/>
          <a:p>
            <a:pPr algn="l">
              <a:defRPr sz="1800" b="0">
                <a:solidFill>
                  <a:srgbClr val="172B4D"/>
                </a:solidFill>
                <a:latin typeface="Arial"/>
                <a:ea typeface="Arial"/>
                <a:cs typeface="Arial"/>
              </a:defRPr>
            </a:pPr>
            <a:r>
              <a:rPr sz="1800" b="0">
                <a:solidFill>
                  <a:srgbClr val="172B4D"/>
                </a:solidFill>
                <a:latin typeface="Arial"/>
                <a:ea typeface="Arial"/>
                <a:cs typeface="Arial"/>
              </a:rPr>
              <a:t>Write a complete sentence explaining how you checked one answer.</a:t>
            </a:r>
          </a:p>
        </p:txBody>
      </p:sp>
      <p:sp>
        <p:nvSpPr>
          <p:cNvPr id="25" name="object-25">
            <a:extLst>
              <a:ext uri="{FF2B5EF4-FFF2-40B4-BE49-F238E27FC236}">
                <a16:creationId xmlns:a16="http://schemas.microsoft.com/office/drawing/2014/main" id="{D17B1373-E9B5-48B8-808F-8567DB297469}"/>
              </a:ext>
            </a:extLst>
          </p:cNvPr>
          <p:cNvSpPr>
            <a:spLocks noGrp="1"/>
          </p:cNvSpPr>
          <p:nvPr/>
        </p:nvSpPr>
        <p:spPr>
          <a:xfrm>
            <a:off x="8215313" y="6703219"/>
            <a:ext cx="678656" cy="976313"/>
          </a:xfrm>
          <a:prstGeom prst="rect">
            <a:avLst/>
          </a:prstGeom>
          <a:noFill/>
          <a:ln w="0">
            <a:noFill/>
          </a:ln>
        </p:spPr>
        <p:txBody>
          <a:bodyPr anchor="ctr">
            <a:noAutofit/>
          </a:bodyPr>
          <a:lstStyle/>
          <a:p>
            <a:pPr algn="l">
              <a:defRPr sz="1875" b="1">
                <a:solidFill>
                  <a:srgbClr val="1D4ED8"/>
                </a:solidFill>
                <a:latin typeface="Arial"/>
                <a:ea typeface="Arial"/>
                <a:cs typeface="Arial"/>
              </a:defRPr>
            </a:pPr>
            <a:r>
              <a:rPr sz="1875" b="1">
                <a:solidFill>
                  <a:srgbClr val="1D4ED8"/>
                </a:solidFill>
                <a:latin typeface="Arial"/>
                <a:ea typeface="Arial"/>
                <a:cs typeface="Arial"/>
              </a:rPr>
              <a:t>10.</a:t>
            </a:r>
          </a:p>
        </p:txBody>
      </p:sp>
      <p:sp>
        <p:nvSpPr>
          <p:cNvPr id="26" name="object-26">
            <a:extLst>
              <a:ext uri="{FF2B5EF4-FFF2-40B4-BE49-F238E27FC236}">
                <a16:creationId xmlns:a16="http://schemas.microsoft.com/office/drawing/2014/main" id="{CCFD1FCE-202C-4744-B245-035F06552A77}"/>
              </a:ext>
            </a:extLst>
          </p:cNvPr>
          <p:cNvSpPr>
            <a:spLocks noGrp="1"/>
          </p:cNvSpPr>
          <p:nvPr/>
        </p:nvSpPr>
        <p:spPr>
          <a:xfrm>
            <a:off x="8905875" y="6703219"/>
            <a:ext cx="5917406" cy="976313"/>
          </a:xfrm>
          <a:prstGeom prst="rect">
            <a:avLst/>
          </a:prstGeom>
          <a:noFill/>
          <a:ln w="0">
            <a:noFill/>
          </a:ln>
        </p:spPr>
        <p:txBody>
          <a:bodyPr anchor="ctr">
            <a:noAutofit/>
          </a:bodyPr>
          <a:lstStyle/>
          <a:p>
            <a:pPr algn="l">
              <a:defRPr sz="1800" b="0">
                <a:solidFill>
                  <a:srgbClr val="172B4D"/>
                </a:solidFill>
                <a:latin typeface="Arial"/>
                <a:ea typeface="Arial"/>
                <a:cs typeface="Arial"/>
              </a:defRPr>
            </a:pPr>
            <a:r>
              <a:rPr sz="1800" b="0">
                <a:solidFill>
                  <a:srgbClr val="172B4D"/>
                </a:solidFill>
                <a:latin typeface="Arial"/>
                <a:ea typeface="Arial"/>
                <a:cs typeface="Arial"/>
              </a:rPr>
              <a:t>Write and solve a similar question to: A number is tripled and 14 is added to make 65. Find the number.</a:t>
            </a:r>
          </a:p>
        </p:txBody>
      </p:sp>
    </p:spTree>
    <p:extLst>
      <p:ext uri="{BB962C8B-B14F-4D97-AF65-F5344CB8AC3E}">
        <p14:creationId xmlns:p14="http://schemas.microsoft.com/office/powerpoint/2010/main" val="121674070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6" name="object-1">
            <a:extLst>
              <a:ext uri="{FF2B5EF4-FFF2-40B4-BE49-F238E27FC236}">
                <a16:creationId xmlns:a16="http://schemas.microsoft.com/office/drawing/2014/main" id="{7D6CEECB-C73F-4BEA-86D4-0BB5203DD8DA}"/>
              </a:ext>
            </a:extLst>
          </p:cNvPr>
          <p:cNvSpPr>
            <a:spLocks noGrp="1"/>
          </p:cNvSpPr>
          <p:nvPr/>
        </p:nvSpPr>
        <p:spPr>
          <a:xfrm>
            <a:off x="654844" y="357188"/>
            <a:ext cx="13930313" cy="714375"/>
          </a:xfrm>
          <a:prstGeom prst="rect">
            <a:avLst/>
          </a:prstGeom>
          <a:noFill/>
          <a:ln w="0">
            <a:noFill/>
          </a:ln>
        </p:spPr>
        <p:txBody>
          <a:bodyPr anchor="ctr">
            <a:noAutofit/>
          </a:bodyPr>
          <a:lstStyle/>
          <a:p>
            <a:pPr algn="l">
              <a:defRPr sz="4125" b="1">
                <a:solidFill>
                  <a:srgbClr val="1D4ED8"/>
                </a:solidFill>
                <a:latin typeface="Arial"/>
                <a:ea typeface="Arial"/>
                <a:cs typeface="Arial"/>
              </a:defRPr>
            </a:pPr>
            <a:r>
              <a:rPr sz="4125" b="1">
                <a:solidFill>
                  <a:srgbClr val="1D4ED8"/>
                </a:solidFill>
                <a:latin typeface="Arial"/>
                <a:ea typeface="Arial"/>
                <a:cs typeface="Arial"/>
              </a:rPr>
              <a:t>Answers</a:t>
            </a:r>
          </a:p>
        </p:txBody>
      </p:sp>
      <p:sp>
        <p:nvSpPr>
          <p:cNvPr id="2" name="object-2">
            <a:extLst>
              <a:ext uri="{FF2B5EF4-FFF2-40B4-BE49-F238E27FC236}">
                <a16:creationId xmlns:a16="http://schemas.microsoft.com/office/drawing/2014/main" id="{D597CBEB-EABB-4771-9303-18CE3670C116}"/>
              </a:ext>
            </a:extLst>
          </p:cNvPr>
          <p:cNvSpPr>
            <a:spLocks noGrp="1"/>
          </p:cNvSpPr>
          <p:nvPr/>
        </p:nvSpPr>
        <p:spPr>
          <a:xfrm>
            <a:off x="654844" y="1250156"/>
            <a:ext cx="13930313" cy="1190625"/>
          </a:xfrm>
          <a:prstGeom prst="rect">
            <a:avLst/>
          </a:prstGeom>
          <a:noFill/>
          <a:ln w="0">
            <a:noFill/>
          </a:ln>
        </p:spPr>
        <p:txBody>
          <a:bodyPr anchor="ctr">
            <a:noAutofit/>
          </a:bodyPr>
          <a:lstStyle/>
          <a:p>
            <a:pPr algn="l">
              <a:defRPr sz="2625" b="1">
                <a:solidFill>
                  <a:srgbClr val="172B4D"/>
                </a:solidFill>
                <a:latin typeface="Arial"/>
                <a:ea typeface="Arial"/>
                <a:cs typeface="Arial"/>
              </a:defRPr>
            </a:pPr>
            <a:r>
              <a:rPr sz="2625" b="1">
                <a:solidFill>
                  <a:srgbClr val="172B4D"/>
                </a:solidFill>
                <a:latin typeface="Arial"/>
                <a:ea typeface="Arial"/>
                <a:cs typeface="Arial"/>
              </a:rPr>
              <a:t>Check your answers. Explain any corrections.</a:t>
            </a:r>
          </a:p>
        </p:txBody>
      </p:sp>
      <p:sp>
        <p:nvSpPr>
          <p:cNvPr id="3" name="object-3">
            <a:extLst>
              <a:ext uri="{FF2B5EF4-FFF2-40B4-BE49-F238E27FC236}">
                <a16:creationId xmlns:a16="http://schemas.microsoft.com/office/drawing/2014/main" id="{30952B89-0707-4170-AB4D-1E2B1CEC4A72}"/>
              </a:ext>
            </a:extLst>
          </p:cNvPr>
          <p:cNvSpPr>
            <a:spLocks noGrp="1"/>
          </p:cNvSpPr>
          <p:nvPr/>
        </p:nvSpPr>
        <p:spPr>
          <a:xfrm>
            <a:off x="654844" y="8012906"/>
            <a:ext cx="13930313" cy="11906"/>
          </a:xfrm>
          <a:prstGeom prst="rect">
            <a:avLst/>
          </a:prstGeom>
          <a:solidFill>
            <a:srgbClr val="BCD0EA"/>
          </a:solidFill>
          <a:ln w="0">
            <a:noFill/>
          </a:ln>
        </p:spPr>
      </p:sp>
      <p:sp>
        <p:nvSpPr>
          <p:cNvPr id="4" name="object-4">
            <a:extLst>
              <a:ext uri="{FF2B5EF4-FFF2-40B4-BE49-F238E27FC236}">
                <a16:creationId xmlns:a16="http://schemas.microsoft.com/office/drawing/2014/main" id="{6D4E9573-4472-43EE-A32D-7BB18A3392E3}"/>
              </a:ext>
            </a:extLst>
          </p:cNvPr>
          <p:cNvSpPr>
            <a:spLocks noGrp="1"/>
          </p:cNvSpPr>
          <p:nvPr/>
        </p:nvSpPr>
        <p:spPr>
          <a:xfrm>
            <a:off x="654844" y="8120063"/>
            <a:ext cx="12977813" cy="285750"/>
          </a:xfrm>
          <a:prstGeom prst="rect">
            <a:avLst/>
          </a:prstGeom>
          <a:noFill/>
          <a:ln w="0">
            <a:noFill/>
          </a:ln>
        </p:spPr>
        <p:txBody>
          <a:bodyPr anchor="ctr">
            <a:noAutofit/>
          </a:bodyPr>
          <a:lstStyle/>
          <a:p>
            <a:pPr algn="l">
              <a:defRPr sz="1219" b="0">
                <a:solidFill>
                  <a:srgbClr val="52647A"/>
                </a:solidFill>
                <a:latin typeface="Arial"/>
                <a:ea typeface="Arial"/>
                <a:cs typeface="Arial"/>
              </a:defRPr>
            </a:pPr>
            <a:r>
              <a:rPr sz="1219" b="0">
                <a:solidFill>
                  <a:srgbClr val="52647A"/>
                </a:solidFill>
                <a:latin typeface="Arial"/>
                <a:ea typeface="Arial"/>
                <a:cs typeface="Arial"/>
              </a:rPr>
              <a:t>BrightPath · Solve two-step equations</a:t>
            </a:r>
          </a:p>
        </p:txBody>
      </p:sp>
      <p:sp>
        <p:nvSpPr>
          <p:cNvPr id="5" name="object-5">
            <a:extLst>
              <a:ext uri="{FF2B5EF4-FFF2-40B4-BE49-F238E27FC236}">
                <a16:creationId xmlns:a16="http://schemas.microsoft.com/office/drawing/2014/main" id="{65EF6046-28A6-4904-B622-4A0D9372F0A5}"/>
              </a:ext>
            </a:extLst>
          </p:cNvPr>
          <p:cNvSpPr>
            <a:spLocks noGrp="1"/>
          </p:cNvSpPr>
          <p:nvPr/>
        </p:nvSpPr>
        <p:spPr>
          <a:xfrm>
            <a:off x="13811250" y="8120063"/>
            <a:ext cx="773906" cy="285750"/>
          </a:xfrm>
          <a:prstGeom prst="rect">
            <a:avLst/>
          </a:prstGeom>
          <a:noFill/>
          <a:ln w="0">
            <a:noFill/>
          </a:ln>
        </p:spPr>
        <p:txBody>
          <a:bodyPr anchor="ctr">
            <a:noAutofit/>
          </a:bodyPr>
          <a:lstStyle/>
          <a:p>
            <a:pPr algn="r">
              <a:defRPr sz="1219" b="0">
                <a:solidFill>
                  <a:srgbClr val="52647A"/>
                </a:solidFill>
                <a:latin typeface="Arial"/>
                <a:ea typeface="Arial"/>
                <a:cs typeface="Arial"/>
              </a:defRPr>
            </a:pPr>
            <a:r>
              <a:rPr sz="1219" b="0">
                <a:solidFill>
                  <a:srgbClr val="52647A"/>
                </a:solidFill>
                <a:latin typeface="Arial"/>
                <a:ea typeface="Arial"/>
                <a:cs typeface="Arial"/>
              </a:rPr>
              <a:t>7</a:t>
            </a:r>
          </a:p>
        </p:txBody>
      </p:sp>
      <p:sp>
        <p:nvSpPr>
          <p:cNvPr id="6" name="object-6">
            <a:extLst>
              <a:ext uri="{FF2B5EF4-FFF2-40B4-BE49-F238E27FC236}">
                <a16:creationId xmlns:a16="http://schemas.microsoft.com/office/drawing/2014/main" id="{3F7B06A3-38D1-4C2F-9F7E-B8FB3D293510}"/>
              </a:ext>
            </a:extLst>
          </p:cNvPr>
          <p:cNvSpPr>
            <a:spLocks noGrp="1"/>
          </p:cNvSpPr>
          <p:nvPr/>
        </p:nvSpPr>
        <p:spPr>
          <a:xfrm>
            <a:off x="773906" y="2512219"/>
            <a:ext cx="678656" cy="976313"/>
          </a:xfrm>
          <a:prstGeom prst="rect">
            <a:avLst/>
          </a:prstGeom>
          <a:noFill/>
          <a:ln w="0">
            <a:noFill/>
          </a:ln>
        </p:spPr>
        <p:txBody>
          <a:bodyPr anchor="ctr">
            <a:noAutofit/>
          </a:bodyPr>
          <a:lstStyle/>
          <a:p>
            <a:pPr algn="l">
              <a:defRPr sz="1875" b="1">
                <a:solidFill>
                  <a:srgbClr val="1D4ED8"/>
                </a:solidFill>
                <a:latin typeface="Arial"/>
                <a:ea typeface="Arial"/>
                <a:cs typeface="Arial"/>
              </a:defRPr>
            </a:pPr>
            <a:r>
              <a:rPr sz="1875" b="1">
                <a:solidFill>
                  <a:srgbClr val="1D4ED8"/>
                </a:solidFill>
                <a:latin typeface="Arial"/>
                <a:ea typeface="Arial"/>
                <a:cs typeface="Arial"/>
              </a:rPr>
              <a:t>1.</a:t>
            </a:r>
          </a:p>
        </p:txBody>
      </p:sp>
      <p:sp>
        <p:nvSpPr>
          <p:cNvPr id="7" name="object-7">
            <a:extLst>
              <a:ext uri="{FF2B5EF4-FFF2-40B4-BE49-F238E27FC236}">
                <a16:creationId xmlns:a16="http://schemas.microsoft.com/office/drawing/2014/main" id="{05A7DCD3-618C-4B6E-A6BE-DA70D984C7C1}"/>
              </a:ext>
            </a:extLst>
          </p:cNvPr>
          <p:cNvSpPr>
            <a:spLocks noGrp="1"/>
          </p:cNvSpPr>
          <p:nvPr/>
        </p:nvSpPr>
        <p:spPr>
          <a:xfrm>
            <a:off x="1464469" y="2512219"/>
            <a:ext cx="5917406" cy="976313"/>
          </a:xfrm>
          <a:prstGeom prst="rect">
            <a:avLst/>
          </a:prstGeom>
          <a:noFill/>
          <a:ln w="0">
            <a:noFill/>
          </a:ln>
        </p:spPr>
        <p:txBody>
          <a:bodyPr anchor="ctr">
            <a:noAutofit/>
          </a:bodyPr>
          <a:lstStyle/>
          <a:p>
            <a:pPr algn="l">
              <a:defRPr sz="1800" b="0">
                <a:solidFill>
                  <a:srgbClr val="11745A"/>
                </a:solidFill>
                <a:latin typeface="Arial"/>
                <a:ea typeface="Arial"/>
                <a:cs typeface="Arial"/>
              </a:defRPr>
            </a:pPr>
            <a:r>
              <a:rPr sz="1800" b="0">
                <a:solidFill>
                  <a:srgbClr val="11745A"/>
                </a:solidFill>
                <a:latin typeface="Arial"/>
                <a:ea typeface="Arial"/>
                <a:cs typeface="Arial"/>
              </a:rPr>
              <a:t>x = 11.</a:t>
            </a:r>
          </a:p>
        </p:txBody>
      </p:sp>
      <p:sp>
        <p:nvSpPr>
          <p:cNvPr id="8" name="object-8">
            <a:extLst>
              <a:ext uri="{FF2B5EF4-FFF2-40B4-BE49-F238E27FC236}">
                <a16:creationId xmlns:a16="http://schemas.microsoft.com/office/drawing/2014/main" id="{C2C7B9C7-1F02-42F4-B458-A2B9535CADE4}"/>
              </a:ext>
            </a:extLst>
          </p:cNvPr>
          <p:cNvSpPr>
            <a:spLocks noGrp="1"/>
          </p:cNvSpPr>
          <p:nvPr/>
        </p:nvSpPr>
        <p:spPr>
          <a:xfrm>
            <a:off x="773906" y="3559969"/>
            <a:ext cx="678656" cy="976313"/>
          </a:xfrm>
          <a:prstGeom prst="rect">
            <a:avLst/>
          </a:prstGeom>
          <a:noFill/>
          <a:ln w="0">
            <a:noFill/>
          </a:ln>
        </p:spPr>
        <p:txBody>
          <a:bodyPr anchor="ctr">
            <a:noAutofit/>
          </a:bodyPr>
          <a:lstStyle/>
          <a:p>
            <a:pPr algn="l">
              <a:defRPr sz="1875" b="1">
                <a:solidFill>
                  <a:srgbClr val="1D4ED8"/>
                </a:solidFill>
                <a:latin typeface="Arial"/>
                <a:ea typeface="Arial"/>
                <a:cs typeface="Arial"/>
              </a:defRPr>
            </a:pPr>
            <a:r>
              <a:rPr sz="1875" b="1">
                <a:solidFill>
                  <a:srgbClr val="1D4ED8"/>
                </a:solidFill>
                <a:latin typeface="Arial"/>
                <a:ea typeface="Arial"/>
                <a:cs typeface="Arial"/>
              </a:rPr>
              <a:t>2.</a:t>
            </a:r>
          </a:p>
        </p:txBody>
      </p:sp>
      <p:sp>
        <p:nvSpPr>
          <p:cNvPr id="9" name="object-9">
            <a:extLst>
              <a:ext uri="{FF2B5EF4-FFF2-40B4-BE49-F238E27FC236}">
                <a16:creationId xmlns:a16="http://schemas.microsoft.com/office/drawing/2014/main" id="{34F82636-96E4-4587-B1A4-09E5754F00A6}"/>
              </a:ext>
            </a:extLst>
          </p:cNvPr>
          <p:cNvSpPr>
            <a:spLocks noGrp="1"/>
          </p:cNvSpPr>
          <p:nvPr/>
        </p:nvSpPr>
        <p:spPr>
          <a:xfrm>
            <a:off x="1464469" y="3559969"/>
            <a:ext cx="5917406" cy="976313"/>
          </a:xfrm>
          <a:prstGeom prst="rect">
            <a:avLst/>
          </a:prstGeom>
          <a:noFill/>
          <a:ln w="0">
            <a:noFill/>
          </a:ln>
        </p:spPr>
        <p:txBody>
          <a:bodyPr anchor="ctr">
            <a:noAutofit/>
          </a:bodyPr>
          <a:lstStyle/>
          <a:p>
            <a:pPr algn="l">
              <a:defRPr sz="1800" b="0">
                <a:solidFill>
                  <a:srgbClr val="11745A"/>
                </a:solidFill>
                <a:latin typeface="Arial"/>
                <a:ea typeface="Arial"/>
                <a:cs typeface="Arial"/>
              </a:defRPr>
            </a:pPr>
            <a:r>
              <a:rPr sz="1800" b="0">
                <a:solidFill>
                  <a:srgbClr val="11745A"/>
                </a:solidFill>
                <a:latin typeface="Arial"/>
                <a:ea typeface="Arial"/>
                <a:cs typeface="Arial"/>
              </a:rPr>
              <a:t>x = 8.</a:t>
            </a:r>
          </a:p>
        </p:txBody>
      </p:sp>
      <p:sp>
        <p:nvSpPr>
          <p:cNvPr id="10" name="object-10">
            <a:extLst>
              <a:ext uri="{FF2B5EF4-FFF2-40B4-BE49-F238E27FC236}">
                <a16:creationId xmlns:a16="http://schemas.microsoft.com/office/drawing/2014/main" id="{5D45F051-E5D0-4781-9BAA-7E7147EDEBA8}"/>
              </a:ext>
            </a:extLst>
          </p:cNvPr>
          <p:cNvSpPr>
            <a:spLocks noGrp="1"/>
          </p:cNvSpPr>
          <p:nvPr/>
        </p:nvSpPr>
        <p:spPr>
          <a:xfrm>
            <a:off x="773906" y="4607719"/>
            <a:ext cx="678656" cy="976313"/>
          </a:xfrm>
          <a:prstGeom prst="rect">
            <a:avLst/>
          </a:prstGeom>
          <a:noFill/>
          <a:ln w="0">
            <a:noFill/>
          </a:ln>
        </p:spPr>
        <p:txBody>
          <a:bodyPr anchor="ctr">
            <a:noAutofit/>
          </a:bodyPr>
          <a:lstStyle/>
          <a:p>
            <a:pPr algn="l">
              <a:defRPr sz="1875" b="1">
                <a:solidFill>
                  <a:srgbClr val="1D4ED8"/>
                </a:solidFill>
                <a:latin typeface="Arial"/>
                <a:ea typeface="Arial"/>
                <a:cs typeface="Arial"/>
              </a:defRPr>
            </a:pPr>
            <a:r>
              <a:rPr sz="1875" b="1">
                <a:solidFill>
                  <a:srgbClr val="1D4ED8"/>
                </a:solidFill>
                <a:latin typeface="Arial"/>
                <a:ea typeface="Arial"/>
                <a:cs typeface="Arial"/>
              </a:rPr>
              <a:t>3.</a:t>
            </a:r>
          </a:p>
        </p:txBody>
      </p:sp>
      <p:sp>
        <p:nvSpPr>
          <p:cNvPr id="11" name="object-11">
            <a:extLst>
              <a:ext uri="{FF2B5EF4-FFF2-40B4-BE49-F238E27FC236}">
                <a16:creationId xmlns:a16="http://schemas.microsoft.com/office/drawing/2014/main" id="{035FC810-6121-4911-91D9-4C97BCC99C5C}"/>
              </a:ext>
            </a:extLst>
          </p:cNvPr>
          <p:cNvSpPr>
            <a:spLocks noGrp="1"/>
          </p:cNvSpPr>
          <p:nvPr/>
        </p:nvSpPr>
        <p:spPr>
          <a:xfrm>
            <a:off x="1464469" y="4607719"/>
            <a:ext cx="5917406" cy="976313"/>
          </a:xfrm>
          <a:prstGeom prst="rect">
            <a:avLst/>
          </a:prstGeom>
          <a:noFill/>
          <a:ln w="0">
            <a:noFill/>
          </a:ln>
        </p:spPr>
        <p:txBody>
          <a:bodyPr anchor="ctr">
            <a:noAutofit/>
          </a:bodyPr>
          <a:lstStyle/>
          <a:p>
            <a:pPr algn="l">
              <a:defRPr sz="1800" b="0">
                <a:solidFill>
                  <a:srgbClr val="11745A"/>
                </a:solidFill>
                <a:latin typeface="Arial"/>
                <a:ea typeface="Arial"/>
                <a:cs typeface="Arial"/>
              </a:defRPr>
            </a:pPr>
            <a:r>
              <a:rPr sz="1800" b="0">
                <a:solidFill>
                  <a:srgbClr val="11745A"/>
                </a:solidFill>
                <a:latin typeface="Arial"/>
                <a:ea typeface="Arial"/>
                <a:cs typeface="Arial"/>
              </a:rPr>
              <a:t>17.</a:t>
            </a:r>
          </a:p>
        </p:txBody>
      </p:sp>
      <p:sp>
        <p:nvSpPr>
          <p:cNvPr id="12" name="object-12">
            <a:extLst>
              <a:ext uri="{FF2B5EF4-FFF2-40B4-BE49-F238E27FC236}">
                <a16:creationId xmlns:a16="http://schemas.microsoft.com/office/drawing/2014/main" id="{95A4061B-C563-42C3-99F4-EB2C25E6C27C}"/>
              </a:ext>
            </a:extLst>
          </p:cNvPr>
          <p:cNvSpPr>
            <a:spLocks noGrp="1"/>
          </p:cNvSpPr>
          <p:nvPr/>
        </p:nvSpPr>
        <p:spPr>
          <a:xfrm>
            <a:off x="773906" y="5655469"/>
            <a:ext cx="678656" cy="976313"/>
          </a:xfrm>
          <a:prstGeom prst="rect">
            <a:avLst/>
          </a:prstGeom>
          <a:noFill/>
          <a:ln w="0">
            <a:noFill/>
          </a:ln>
        </p:spPr>
        <p:txBody>
          <a:bodyPr anchor="ctr">
            <a:noAutofit/>
          </a:bodyPr>
          <a:lstStyle/>
          <a:p>
            <a:pPr algn="l">
              <a:defRPr sz="1875" b="1">
                <a:solidFill>
                  <a:srgbClr val="1D4ED8"/>
                </a:solidFill>
                <a:latin typeface="Arial"/>
                <a:ea typeface="Arial"/>
                <a:cs typeface="Arial"/>
              </a:defRPr>
            </a:pPr>
            <a:r>
              <a:rPr sz="1875" b="1">
                <a:solidFill>
                  <a:srgbClr val="1D4ED8"/>
                </a:solidFill>
                <a:latin typeface="Arial"/>
                <a:ea typeface="Arial"/>
                <a:cs typeface="Arial"/>
              </a:rPr>
              <a:t>4.</a:t>
            </a:r>
          </a:p>
        </p:txBody>
      </p:sp>
      <p:sp>
        <p:nvSpPr>
          <p:cNvPr id="13" name="object-13">
            <a:extLst>
              <a:ext uri="{FF2B5EF4-FFF2-40B4-BE49-F238E27FC236}">
                <a16:creationId xmlns:a16="http://schemas.microsoft.com/office/drawing/2014/main" id="{173A307E-5BEC-442C-BB07-440BB29AAF7C}"/>
              </a:ext>
            </a:extLst>
          </p:cNvPr>
          <p:cNvSpPr>
            <a:spLocks noGrp="1"/>
          </p:cNvSpPr>
          <p:nvPr/>
        </p:nvSpPr>
        <p:spPr>
          <a:xfrm>
            <a:off x="1464469" y="5655469"/>
            <a:ext cx="5917406" cy="976313"/>
          </a:xfrm>
          <a:prstGeom prst="rect">
            <a:avLst/>
          </a:prstGeom>
          <a:noFill/>
          <a:ln w="0">
            <a:noFill/>
          </a:ln>
        </p:spPr>
        <p:txBody>
          <a:bodyPr anchor="ctr">
            <a:noAutofit/>
          </a:bodyPr>
          <a:lstStyle/>
          <a:p>
            <a:pPr algn="l">
              <a:defRPr sz="1800" b="0">
                <a:solidFill>
                  <a:srgbClr val="11745A"/>
                </a:solidFill>
                <a:latin typeface="Arial"/>
                <a:ea typeface="Arial"/>
                <a:cs typeface="Arial"/>
              </a:defRPr>
            </a:pPr>
            <a:r>
              <a:rPr sz="1800" b="0">
                <a:solidFill>
                  <a:srgbClr val="11745A"/>
                </a:solidFill>
                <a:latin typeface="Arial"/>
                <a:ea typeface="Arial"/>
                <a:cs typeface="Arial"/>
              </a:rPr>
              <a:t>x = 11.</a:t>
            </a:r>
          </a:p>
        </p:txBody>
      </p:sp>
      <p:sp>
        <p:nvSpPr>
          <p:cNvPr id="14" name="object-14">
            <a:extLst>
              <a:ext uri="{FF2B5EF4-FFF2-40B4-BE49-F238E27FC236}">
                <a16:creationId xmlns:a16="http://schemas.microsoft.com/office/drawing/2014/main" id="{D29AE48A-B0DB-4299-A8AB-850CE4947724}"/>
              </a:ext>
            </a:extLst>
          </p:cNvPr>
          <p:cNvSpPr>
            <a:spLocks noGrp="1"/>
          </p:cNvSpPr>
          <p:nvPr/>
        </p:nvSpPr>
        <p:spPr>
          <a:xfrm>
            <a:off x="773906" y="6703219"/>
            <a:ext cx="678656" cy="976313"/>
          </a:xfrm>
          <a:prstGeom prst="rect">
            <a:avLst/>
          </a:prstGeom>
          <a:noFill/>
          <a:ln w="0">
            <a:noFill/>
          </a:ln>
        </p:spPr>
        <p:txBody>
          <a:bodyPr anchor="ctr">
            <a:noAutofit/>
          </a:bodyPr>
          <a:lstStyle/>
          <a:p>
            <a:pPr algn="l">
              <a:defRPr sz="1875" b="1">
                <a:solidFill>
                  <a:srgbClr val="1D4ED8"/>
                </a:solidFill>
                <a:latin typeface="Arial"/>
                <a:ea typeface="Arial"/>
                <a:cs typeface="Arial"/>
              </a:defRPr>
            </a:pPr>
            <a:r>
              <a:rPr sz="1875" b="1">
                <a:solidFill>
                  <a:srgbClr val="1D4ED8"/>
                </a:solidFill>
                <a:latin typeface="Arial"/>
                <a:ea typeface="Arial"/>
                <a:cs typeface="Arial"/>
              </a:rPr>
              <a:t>5.</a:t>
            </a:r>
          </a:p>
        </p:txBody>
      </p:sp>
      <p:sp>
        <p:nvSpPr>
          <p:cNvPr id="15" name="object-15">
            <a:extLst>
              <a:ext uri="{FF2B5EF4-FFF2-40B4-BE49-F238E27FC236}">
                <a16:creationId xmlns:a16="http://schemas.microsoft.com/office/drawing/2014/main" id="{5B96DF05-52BB-4BEB-99B7-DBA33A8C18BD}"/>
              </a:ext>
            </a:extLst>
          </p:cNvPr>
          <p:cNvSpPr>
            <a:spLocks noGrp="1"/>
          </p:cNvSpPr>
          <p:nvPr/>
        </p:nvSpPr>
        <p:spPr>
          <a:xfrm>
            <a:off x="1464469" y="6703219"/>
            <a:ext cx="5917406" cy="976313"/>
          </a:xfrm>
          <a:prstGeom prst="rect">
            <a:avLst/>
          </a:prstGeom>
          <a:noFill/>
          <a:ln w="0">
            <a:noFill/>
          </a:ln>
        </p:spPr>
        <p:txBody>
          <a:bodyPr anchor="ctr">
            <a:noAutofit/>
          </a:bodyPr>
          <a:lstStyle/>
          <a:p>
            <a:pPr algn="l">
              <a:defRPr sz="1800" b="0">
                <a:solidFill>
                  <a:srgbClr val="11745A"/>
                </a:solidFill>
                <a:latin typeface="Arial"/>
                <a:ea typeface="Arial"/>
                <a:cs typeface="Arial"/>
              </a:defRPr>
            </a:pPr>
            <a:r>
              <a:rPr sz="1800" b="0">
                <a:solidFill>
                  <a:srgbClr val="11745A"/>
                </a:solidFill>
                <a:latin typeface="Arial"/>
                <a:ea typeface="Arial"/>
                <a:cs typeface="Arial"/>
              </a:rPr>
              <a:t>Expected result: x = 8. Method or representation may vary.</a:t>
            </a:r>
          </a:p>
        </p:txBody>
      </p:sp>
      <p:sp>
        <p:nvSpPr>
          <p:cNvPr id="16" name="object-16">
            <a:extLst>
              <a:ext uri="{FF2B5EF4-FFF2-40B4-BE49-F238E27FC236}">
                <a16:creationId xmlns:a16="http://schemas.microsoft.com/office/drawing/2014/main" id="{340B24C7-4FC5-467E-A713-A9560CECF9CF}"/>
              </a:ext>
            </a:extLst>
          </p:cNvPr>
          <p:cNvSpPr>
            <a:spLocks noGrp="1"/>
          </p:cNvSpPr>
          <p:nvPr/>
        </p:nvSpPr>
        <p:spPr>
          <a:xfrm>
            <a:off x="8215313" y="2512219"/>
            <a:ext cx="678656" cy="976313"/>
          </a:xfrm>
          <a:prstGeom prst="rect">
            <a:avLst/>
          </a:prstGeom>
          <a:noFill/>
          <a:ln w="0">
            <a:noFill/>
          </a:ln>
        </p:spPr>
        <p:txBody>
          <a:bodyPr anchor="ctr">
            <a:noAutofit/>
          </a:bodyPr>
          <a:lstStyle/>
          <a:p>
            <a:pPr algn="l">
              <a:defRPr sz="1875" b="1">
                <a:solidFill>
                  <a:srgbClr val="1D4ED8"/>
                </a:solidFill>
                <a:latin typeface="Arial"/>
                <a:ea typeface="Arial"/>
                <a:cs typeface="Arial"/>
              </a:defRPr>
            </a:pPr>
            <a:r>
              <a:rPr sz="1875" b="1">
                <a:solidFill>
                  <a:srgbClr val="1D4ED8"/>
                </a:solidFill>
                <a:latin typeface="Arial"/>
                <a:ea typeface="Arial"/>
                <a:cs typeface="Arial"/>
              </a:rPr>
              <a:t>6.</a:t>
            </a:r>
          </a:p>
        </p:txBody>
      </p:sp>
      <p:sp>
        <p:nvSpPr>
          <p:cNvPr id="17" name="object-17">
            <a:extLst>
              <a:ext uri="{FF2B5EF4-FFF2-40B4-BE49-F238E27FC236}">
                <a16:creationId xmlns:a16="http://schemas.microsoft.com/office/drawing/2014/main" id="{39C643E9-8EAC-4058-8394-3B78D4817B44}"/>
              </a:ext>
            </a:extLst>
          </p:cNvPr>
          <p:cNvSpPr>
            <a:spLocks noGrp="1"/>
          </p:cNvSpPr>
          <p:nvPr/>
        </p:nvSpPr>
        <p:spPr>
          <a:xfrm>
            <a:off x="8905875" y="2512219"/>
            <a:ext cx="5917406" cy="976313"/>
          </a:xfrm>
          <a:prstGeom prst="rect">
            <a:avLst/>
          </a:prstGeom>
          <a:noFill/>
          <a:ln w="0">
            <a:noFill/>
          </a:ln>
        </p:spPr>
        <p:txBody>
          <a:bodyPr anchor="ctr">
            <a:noAutofit/>
          </a:bodyPr>
          <a:lstStyle/>
          <a:p>
            <a:pPr algn="l">
              <a:defRPr sz="1800" b="0">
                <a:solidFill>
                  <a:srgbClr val="11745A"/>
                </a:solidFill>
                <a:latin typeface="Arial"/>
                <a:ea typeface="Arial"/>
                <a:cs typeface="Arial"/>
              </a:defRPr>
            </a:pPr>
            <a:r>
              <a:rPr sz="1800" b="0">
                <a:solidFill>
                  <a:srgbClr val="11745A"/>
                </a:solidFill>
                <a:latin typeface="Arial"/>
                <a:ea typeface="Arial"/>
                <a:cs typeface="Arial"/>
              </a:rPr>
              <a:t>Expected result: 17. A valid check must be shown.</a:t>
            </a:r>
          </a:p>
        </p:txBody>
      </p:sp>
      <p:sp>
        <p:nvSpPr>
          <p:cNvPr id="18" name="object-18">
            <a:extLst>
              <a:ext uri="{FF2B5EF4-FFF2-40B4-BE49-F238E27FC236}">
                <a16:creationId xmlns:a16="http://schemas.microsoft.com/office/drawing/2014/main" id="{34D47C81-2B50-4206-99AC-6F8D413442F9}"/>
              </a:ext>
            </a:extLst>
          </p:cNvPr>
          <p:cNvSpPr>
            <a:spLocks noGrp="1"/>
          </p:cNvSpPr>
          <p:nvPr/>
        </p:nvSpPr>
        <p:spPr>
          <a:xfrm>
            <a:off x="8215313" y="3559969"/>
            <a:ext cx="678656" cy="976313"/>
          </a:xfrm>
          <a:prstGeom prst="rect">
            <a:avLst/>
          </a:prstGeom>
          <a:noFill/>
          <a:ln w="0">
            <a:noFill/>
          </a:ln>
        </p:spPr>
        <p:txBody>
          <a:bodyPr anchor="ctr">
            <a:noAutofit/>
          </a:bodyPr>
          <a:lstStyle/>
          <a:p>
            <a:pPr algn="l">
              <a:defRPr sz="1875" b="1">
                <a:solidFill>
                  <a:srgbClr val="1D4ED8"/>
                </a:solidFill>
                <a:latin typeface="Arial"/>
                <a:ea typeface="Arial"/>
                <a:cs typeface="Arial"/>
              </a:defRPr>
            </a:pPr>
            <a:r>
              <a:rPr sz="1875" b="1">
                <a:solidFill>
                  <a:srgbClr val="1D4ED8"/>
                </a:solidFill>
                <a:latin typeface="Arial"/>
                <a:ea typeface="Arial"/>
                <a:cs typeface="Arial"/>
              </a:rPr>
              <a:t>7.</a:t>
            </a:r>
          </a:p>
        </p:txBody>
      </p:sp>
      <p:sp>
        <p:nvSpPr>
          <p:cNvPr id="19" name="object-19">
            <a:extLst>
              <a:ext uri="{FF2B5EF4-FFF2-40B4-BE49-F238E27FC236}">
                <a16:creationId xmlns:a16="http://schemas.microsoft.com/office/drawing/2014/main" id="{9ECE666F-926F-481A-920F-A73E4510CA2C}"/>
              </a:ext>
            </a:extLst>
          </p:cNvPr>
          <p:cNvSpPr>
            <a:spLocks noGrp="1"/>
          </p:cNvSpPr>
          <p:nvPr/>
        </p:nvSpPr>
        <p:spPr>
          <a:xfrm>
            <a:off x="8905875" y="3559969"/>
            <a:ext cx="5917406" cy="976313"/>
          </a:xfrm>
          <a:prstGeom prst="rect">
            <a:avLst/>
          </a:prstGeom>
          <a:noFill/>
          <a:ln w="0">
            <a:noFill/>
          </a:ln>
        </p:spPr>
        <p:txBody>
          <a:bodyPr anchor="ctr">
            <a:noAutofit/>
          </a:bodyPr>
          <a:lstStyle/>
          <a:p>
            <a:pPr algn="l">
              <a:defRPr sz="1800" b="0">
                <a:solidFill>
                  <a:srgbClr val="11745A"/>
                </a:solidFill>
                <a:latin typeface="Arial"/>
                <a:ea typeface="Arial"/>
                <a:cs typeface="Arial"/>
              </a:defRPr>
            </a:pPr>
            <a:r>
              <a:rPr sz="1800" b="0">
                <a:solidFill>
                  <a:srgbClr val="11745A"/>
                </a:solidFill>
                <a:latin typeface="Arial"/>
                <a:ea typeface="Arial"/>
                <a:cs typeface="Arial"/>
              </a:rPr>
              <a:t>Yes, both give x = 7. The explanation must show why the method works.</a:t>
            </a:r>
          </a:p>
        </p:txBody>
      </p:sp>
      <p:sp>
        <p:nvSpPr>
          <p:cNvPr id="20" name="object-20">
            <a:extLst>
              <a:ext uri="{FF2B5EF4-FFF2-40B4-BE49-F238E27FC236}">
                <a16:creationId xmlns:a16="http://schemas.microsoft.com/office/drawing/2014/main" id="{9E34D177-6855-43E0-A261-84C7273E4378}"/>
              </a:ext>
            </a:extLst>
          </p:cNvPr>
          <p:cNvSpPr>
            <a:spLocks noGrp="1"/>
          </p:cNvSpPr>
          <p:nvPr/>
        </p:nvSpPr>
        <p:spPr>
          <a:xfrm>
            <a:off x="8215313" y="4607719"/>
            <a:ext cx="678656" cy="976313"/>
          </a:xfrm>
          <a:prstGeom prst="rect">
            <a:avLst/>
          </a:prstGeom>
          <a:noFill/>
          <a:ln w="0">
            <a:noFill/>
          </a:ln>
        </p:spPr>
        <p:txBody>
          <a:bodyPr anchor="ctr">
            <a:noAutofit/>
          </a:bodyPr>
          <a:lstStyle/>
          <a:p>
            <a:pPr algn="l">
              <a:defRPr sz="1875" b="1">
                <a:solidFill>
                  <a:srgbClr val="1D4ED8"/>
                </a:solidFill>
                <a:latin typeface="Arial"/>
                <a:ea typeface="Arial"/>
                <a:cs typeface="Arial"/>
              </a:defRPr>
            </a:pPr>
            <a:r>
              <a:rPr sz="1875" b="1">
                <a:solidFill>
                  <a:srgbClr val="1D4ED8"/>
                </a:solidFill>
                <a:latin typeface="Arial"/>
                <a:ea typeface="Arial"/>
                <a:cs typeface="Arial"/>
              </a:rPr>
              <a:t>8.</a:t>
            </a:r>
          </a:p>
        </p:txBody>
      </p:sp>
      <p:sp>
        <p:nvSpPr>
          <p:cNvPr id="21" name="object-21">
            <a:extLst>
              <a:ext uri="{FF2B5EF4-FFF2-40B4-BE49-F238E27FC236}">
                <a16:creationId xmlns:a16="http://schemas.microsoft.com/office/drawing/2014/main" id="{2B447917-BA8C-4493-8426-2DDB9D4F2D02}"/>
              </a:ext>
            </a:extLst>
          </p:cNvPr>
          <p:cNvSpPr>
            <a:spLocks noGrp="1"/>
          </p:cNvSpPr>
          <p:nvPr/>
        </p:nvSpPr>
        <p:spPr>
          <a:xfrm>
            <a:off x="8905875" y="4607719"/>
            <a:ext cx="5917406" cy="976313"/>
          </a:xfrm>
          <a:prstGeom prst="rect">
            <a:avLst/>
          </a:prstGeom>
          <a:noFill/>
          <a:ln w="0">
            <a:noFill/>
          </a:ln>
        </p:spPr>
        <p:txBody>
          <a:bodyPr anchor="ctr">
            <a:noAutofit/>
          </a:bodyPr>
          <a:lstStyle/>
          <a:p>
            <a:pPr algn="l">
              <a:defRPr sz="1800" b="0">
                <a:solidFill>
                  <a:srgbClr val="11745A"/>
                </a:solidFill>
                <a:latin typeface="Arial"/>
                <a:ea typeface="Arial"/>
                <a:cs typeface="Arial"/>
              </a:defRPr>
            </a:pPr>
            <a:r>
              <a:rPr sz="1800" b="0">
                <a:solidFill>
                  <a:srgbClr val="11745A"/>
                </a:solidFill>
                <a:latin typeface="Arial"/>
                <a:ea typeface="Arial"/>
                <a:cs typeface="Arial"/>
              </a:rPr>
              <a:t>Use an inverse operation on the whole equation and check by substitution.</a:t>
            </a:r>
          </a:p>
        </p:txBody>
      </p:sp>
      <p:sp>
        <p:nvSpPr>
          <p:cNvPr id="22" name="object-22">
            <a:extLst>
              <a:ext uri="{FF2B5EF4-FFF2-40B4-BE49-F238E27FC236}">
                <a16:creationId xmlns:a16="http://schemas.microsoft.com/office/drawing/2014/main" id="{7DCC529E-45C4-4944-81D3-CB604809DD58}"/>
              </a:ext>
            </a:extLst>
          </p:cNvPr>
          <p:cNvSpPr>
            <a:spLocks noGrp="1"/>
          </p:cNvSpPr>
          <p:nvPr/>
        </p:nvSpPr>
        <p:spPr>
          <a:xfrm>
            <a:off x="8215313" y="5655469"/>
            <a:ext cx="678656" cy="976313"/>
          </a:xfrm>
          <a:prstGeom prst="rect">
            <a:avLst/>
          </a:prstGeom>
          <a:noFill/>
          <a:ln w="0">
            <a:noFill/>
          </a:ln>
        </p:spPr>
        <p:txBody>
          <a:bodyPr anchor="ctr">
            <a:noAutofit/>
          </a:bodyPr>
          <a:lstStyle/>
          <a:p>
            <a:pPr algn="l">
              <a:defRPr sz="1875" b="1">
                <a:solidFill>
                  <a:srgbClr val="1D4ED8"/>
                </a:solidFill>
                <a:latin typeface="Arial"/>
                <a:ea typeface="Arial"/>
                <a:cs typeface="Arial"/>
              </a:defRPr>
            </a:pPr>
            <a:r>
              <a:rPr sz="1875" b="1">
                <a:solidFill>
                  <a:srgbClr val="1D4ED8"/>
                </a:solidFill>
                <a:latin typeface="Arial"/>
                <a:ea typeface="Arial"/>
                <a:cs typeface="Arial"/>
              </a:rPr>
              <a:t>9.</a:t>
            </a:r>
          </a:p>
        </p:txBody>
      </p:sp>
      <p:sp>
        <p:nvSpPr>
          <p:cNvPr id="23" name="object-23">
            <a:extLst>
              <a:ext uri="{FF2B5EF4-FFF2-40B4-BE49-F238E27FC236}">
                <a16:creationId xmlns:a16="http://schemas.microsoft.com/office/drawing/2014/main" id="{94E966F3-E202-4C4A-B9AE-6CD68C6B7AE1}"/>
              </a:ext>
            </a:extLst>
          </p:cNvPr>
          <p:cNvSpPr>
            <a:spLocks noGrp="1"/>
          </p:cNvSpPr>
          <p:nvPr/>
        </p:nvSpPr>
        <p:spPr>
          <a:xfrm>
            <a:off x="8905875" y="5655469"/>
            <a:ext cx="5917406" cy="976313"/>
          </a:xfrm>
          <a:prstGeom prst="rect">
            <a:avLst/>
          </a:prstGeom>
          <a:noFill/>
          <a:ln w="0">
            <a:noFill/>
          </a:ln>
        </p:spPr>
        <p:txBody>
          <a:bodyPr anchor="ctr">
            <a:noAutofit/>
          </a:bodyPr>
          <a:lstStyle/>
          <a:p>
            <a:pPr algn="l">
              <a:defRPr sz="1800" b="0">
                <a:solidFill>
                  <a:srgbClr val="11745A"/>
                </a:solidFill>
                <a:latin typeface="Arial"/>
                <a:ea typeface="Arial"/>
                <a:cs typeface="Arial"/>
              </a:defRPr>
            </a:pPr>
            <a:r>
              <a:rPr sz="1800" b="0">
                <a:solidFill>
                  <a:srgbClr val="11745A"/>
                </a:solidFill>
                <a:latin typeface="Arial"/>
                <a:ea typeface="Arial"/>
                <a:cs typeface="Arial"/>
              </a:rPr>
              <a:t>Answer should name an inverse, estimate, boundary, known fact or equivalent representation.</a:t>
            </a:r>
          </a:p>
        </p:txBody>
      </p:sp>
      <p:sp>
        <p:nvSpPr>
          <p:cNvPr id="24" name="object-24">
            <a:extLst>
              <a:ext uri="{FF2B5EF4-FFF2-40B4-BE49-F238E27FC236}">
                <a16:creationId xmlns:a16="http://schemas.microsoft.com/office/drawing/2014/main" id="{F9E242FD-B83F-41E7-B982-187FD821F626}"/>
              </a:ext>
            </a:extLst>
          </p:cNvPr>
          <p:cNvSpPr>
            <a:spLocks noGrp="1"/>
          </p:cNvSpPr>
          <p:nvPr/>
        </p:nvSpPr>
        <p:spPr>
          <a:xfrm>
            <a:off x="8215313" y="6703219"/>
            <a:ext cx="678656" cy="976313"/>
          </a:xfrm>
          <a:prstGeom prst="rect">
            <a:avLst/>
          </a:prstGeom>
          <a:noFill/>
          <a:ln w="0">
            <a:noFill/>
          </a:ln>
        </p:spPr>
        <p:txBody>
          <a:bodyPr anchor="ctr">
            <a:noAutofit/>
          </a:bodyPr>
          <a:lstStyle/>
          <a:p>
            <a:pPr algn="l">
              <a:defRPr sz="1875" b="1">
                <a:solidFill>
                  <a:srgbClr val="1D4ED8"/>
                </a:solidFill>
                <a:latin typeface="Arial"/>
                <a:ea typeface="Arial"/>
                <a:cs typeface="Arial"/>
              </a:defRPr>
            </a:pPr>
            <a:r>
              <a:rPr sz="1875" b="1">
                <a:solidFill>
                  <a:srgbClr val="1D4ED8"/>
                </a:solidFill>
                <a:latin typeface="Arial"/>
                <a:ea typeface="Arial"/>
                <a:cs typeface="Arial"/>
              </a:rPr>
              <a:t>10.</a:t>
            </a:r>
          </a:p>
        </p:txBody>
      </p:sp>
      <p:sp>
        <p:nvSpPr>
          <p:cNvPr id="25" name="object-25">
            <a:extLst>
              <a:ext uri="{FF2B5EF4-FFF2-40B4-BE49-F238E27FC236}">
                <a16:creationId xmlns:a16="http://schemas.microsoft.com/office/drawing/2014/main" id="{56E8997B-3799-4763-9EA2-6F4F63271C8F}"/>
              </a:ext>
            </a:extLst>
          </p:cNvPr>
          <p:cNvSpPr>
            <a:spLocks noGrp="1"/>
          </p:cNvSpPr>
          <p:nvPr/>
        </p:nvSpPr>
        <p:spPr>
          <a:xfrm>
            <a:off x="8905875" y="6703219"/>
            <a:ext cx="5917406" cy="976313"/>
          </a:xfrm>
          <a:prstGeom prst="rect">
            <a:avLst/>
          </a:prstGeom>
          <a:noFill/>
          <a:ln w="0">
            <a:noFill/>
          </a:ln>
        </p:spPr>
        <p:txBody>
          <a:bodyPr anchor="ctr">
            <a:noAutofit/>
          </a:bodyPr>
          <a:lstStyle/>
          <a:p>
            <a:pPr algn="l">
              <a:defRPr sz="1800" b="0">
                <a:solidFill>
                  <a:srgbClr val="11745A"/>
                </a:solidFill>
                <a:latin typeface="Arial"/>
                <a:ea typeface="Arial"/>
                <a:cs typeface="Arial"/>
              </a:defRPr>
            </a:pPr>
            <a:r>
              <a:rPr sz="1800" b="0">
                <a:solidFill>
                  <a:srgbClr val="11745A"/>
                </a:solidFill>
                <a:latin typeface="Arial"/>
                <a:ea typeface="Arial"/>
                <a:cs typeface="Arial"/>
              </a:rPr>
              <a:t>Answers vary. The new question must use the same mathematical structure and include a correct solution.</a:t>
            </a:r>
          </a:p>
        </p:txBody>
      </p:sp>
    </p:spTree>
    <p:extLst>
      <p:ext uri="{BB962C8B-B14F-4D97-AF65-F5344CB8AC3E}">
        <p14:creationId xmlns:p14="http://schemas.microsoft.com/office/powerpoint/2010/main" val="93606574"/>
      </p:ext>
    </p:extLst>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959</Words>
  <Application>Microsoft Office PowerPoint</Application>
  <DocSecurity>0</DocSecurity>
  <PresentationFormat>Custom</PresentationFormat>
  <Paragraphs>126</Paragraphs>
  <Slides>7</Slides>
  <Notes>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vt:i4>
      </vt:variant>
    </vt:vector>
  </HeadingPairs>
  <TitlesOfParts>
    <vt:vector size="10" baseType="lpstr">
      <vt:lpstr>Arial</vt:lpstr>
      <vt:lpstr>Calibri</vt:lpstr>
      <vt:lpstr>ChatGPT</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Garima Sharma</cp:lastModifiedBy>
  <cp:revision>1</cp:revision>
  <dcterms:created xsi:type="dcterms:W3CDTF">2026-09-14T13:14:35Z</dcterms:created>
  <dcterms:modified xsi:type="dcterms:W3CDTF">2026-09-14T13:17:24Z</dcterms:modified>
</cp:coreProperties>
</file>