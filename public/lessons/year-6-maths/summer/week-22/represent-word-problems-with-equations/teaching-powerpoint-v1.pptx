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Represent word problems with equations. Represent word problems with equations.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Represent word problems with equations. I do.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Represent word problems with equations. You do. Pause before clicking. Let pupils try independently, then reveal and discuss every step.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Represent word problems with equations. I do.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Represent word problems with equations. You do. Pause before clicking. Let pupils try independently, then reveal and discuss every step.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Represent word problems with equations.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Represent word problems with equations.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C64FFF3F-CA6E-4E43-8320-C6DE1109FE7C}"/>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Represent word problems with equations</a:t>
            </a:r>
          </a:p>
        </p:txBody>
      </p:sp>
      <p:sp>
        <p:nvSpPr>
          <p:cNvPr id="2" name="object-2">
            <a:extLst>
              <a:ext uri="{FF2B5EF4-FFF2-40B4-BE49-F238E27FC236}">
                <a16:creationId xmlns:a16="http://schemas.microsoft.com/office/drawing/2014/main" id="{AC673577-E6F4-42A2-9BAA-30713315F038}"/>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F8AB0387-AD2E-4D5B-BED7-7EFC86C832C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54D7C47D-AD6A-4092-922B-B2CB6F9E9A6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Represent word problems with equations</a:t>
            </a:r>
          </a:p>
        </p:txBody>
      </p:sp>
      <p:sp>
        <p:nvSpPr>
          <p:cNvPr id="5" name="object-5">
            <a:extLst>
              <a:ext uri="{FF2B5EF4-FFF2-40B4-BE49-F238E27FC236}">
                <a16:creationId xmlns:a16="http://schemas.microsoft.com/office/drawing/2014/main" id="{0BD49F00-FE70-42C5-9533-67DF179B0C0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30053A9D-D00A-4195-B5DD-F952ABA911A9}"/>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form and solve equations from contexts.</a:t>
            </a:r>
          </a:p>
        </p:txBody>
      </p:sp>
    </p:spTree>
    <p:extLst>
      <p:ext uri="{BB962C8B-B14F-4D97-AF65-F5344CB8AC3E}">
        <p14:creationId xmlns:p14="http://schemas.microsoft.com/office/powerpoint/2010/main" val="1353403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object-1">
            <a:extLst>
              <a:ext uri="{FF2B5EF4-FFF2-40B4-BE49-F238E27FC236}">
                <a16:creationId xmlns:a16="http://schemas.microsoft.com/office/drawing/2014/main" id="{4FB5C311-FF6E-4BD8-979B-C088A1CD80E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AE280D95-2E8A-45C2-94F4-06385C66895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3x + 14 = 65.</a:t>
            </a:r>
          </a:p>
        </p:txBody>
      </p:sp>
      <p:sp>
        <p:nvSpPr>
          <p:cNvPr id="3" name="object-3">
            <a:extLst>
              <a:ext uri="{FF2B5EF4-FFF2-40B4-BE49-F238E27FC236}">
                <a16:creationId xmlns:a16="http://schemas.microsoft.com/office/drawing/2014/main" id="{7870AB3A-E992-4D1B-B23F-76D44F9E298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D474AE44-A1CD-4CF3-A95C-9666B6874CE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Represent word problems with equations</a:t>
            </a:r>
          </a:p>
        </p:txBody>
      </p:sp>
      <p:sp>
        <p:nvSpPr>
          <p:cNvPr id="5" name="object-5">
            <a:extLst>
              <a:ext uri="{FF2B5EF4-FFF2-40B4-BE49-F238E27FC236}">
                <a16:creationId xmlns:a16="http://schemas.microsoft.com/office/drawing/2014/main" id="{B4CE59C5-1A96-411B-897B-C08D89ABFED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0FEEFAF8-D6D0-4A8A-AED2-59D3F51268D3}"/>
              </a:ext>
            </a:extLst>
          </p:cNvPr>
          <p:cNvSpPr>
            <a:spLocks noGrp="1"/>
          </p:cNvSpPr>
          <p:nvPr/>
        </p:nvSpPr>
        <p:spPr>
          <a:xfrm>
            <a:off x="1309688" y="3095625"/>
            <a:ext cx="2381250" cy="1071563"/>
          </a:xfrm>
          <a:prstGeom prst="rect">
            <a:avLst/>
          </a:prstGeom>
          <a:solidFill>
            <a:srgbClr val="EFF6FF"/>
          </a:solidFill>
          <a:ln w="23813">
            <a:solidFill>
              <a:srgbClr val="1D4ED8"/>
            </a:solidFill>
          </a:ln>
        </p:spPr>
      </p:sp>
      <p:sp>
        <p:nvSpPr>
          <p:cNvPr id="7" name="object-7">
            <a:extLst>
              <a:ext uri="{FF2B5EF4-FFF2-40B4-BE49-F238E27FC236}">
                <a16:creationId xmlns:a16="http://schemas.microsoft.com/office/drawing/2014/main" id="{2521BB7B-D99C-44D8-8A40-1930BB434340}"/>
              </a:ext>
            </a:extLst>
          </p:cNvPr>
          <p:cNvSpPr>
            <a:spLocks noGrp="1"/>
          </p:cNvSpPr>
          <p:nvPr/>
        </p:nvSpPr>
        <p:spPr>
          <a:xfrm>
            <a:off x="130968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8" name="object-8">
            <a:extLst>
              <a:ext uri="{FF2B5EF4-FFF2-40B4-BE49-F238E27FC236}">
                <a16:creationId xmlns:a16="http://schemas.microsoft.com/office/drawing/2014/main" id="{AA571E6D-42B4-4CB1-A1A7-CDC59F1D8888}"/>
              </a:ext>
            </a:extLst>
          </p:cNvPr>
          <p:cNvSpPr>
            <a:spLocks noGrp="1"/>
          </p:cNvSpPr>
          <p:nvPr/>
        </p:nvSpPr>
        <p:spPr>
          <a:xfrm>
            <a:off x="3690938" y="3095625"/>
            <a:ext cx="2381250" cy="1071563"/>
          </a:xfrm>
          <a:prstGeom prst="rect">
            <a:avLst/>
          </a:prstGeom>
          <a:solidFill>
            <a:srgbClr val="EFF6FF"/>
          </a:solidFill>
          <a:ln w="23813">
            <a:solidFill>
              <a:srgbClr val="1D4ED8"/>
            </a:solidFill>
          </a:ln>
        </p:spPr>
      </p:sp>
      <p:sp>
        <p:nvSpPr>
          <p:cNvPr id="9" name="object-9">
            <a:extLst>
              <a:ext uri="{FF2B5EF4-FFF2-40B4-BE49-F238E27FC236}">
                <a16:creationId xmlns:a16="http://schemas.microsoft.com/office/drawing/2014/main" id="{D24F52BA-B7E6-4EC3-A0EF-15F238BAE1A9}"/>
              </a:ext>
            </a:extLst>
          </p:cNvPr>
          <p:cNvSpPr>
            <a:spLocks noGrp="1"/>
          </p:cNvSpPr>
          <p:nvPr/>
        </p:nvSpPr>
        <p:spPr>
          <a:xfrm>
            <a:off x="369093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0" name="object-10">
            <a:extLst>
              <a:ext uri="{FF2B5EF4-FFF2-40B4-BE49-F238E27FC236}">
                <a16:creationId xmlns:a16="http://schemas.microsoft.com/office/drawing/2014/main" id="{AEA27281-7AEF-4170-B662-2B70600A9871}"/>
              </a:ext>
            </a:extLst>
          </p:cNvPr>
          <p:cNvSpPr>
            <a:spLocks noGrp="1"/>
          </p:cNvSpPr>
          <p:nvPr/>
        </p:nvSpPr>
        <p:spPr>
          <a:xfrm>
            <a:off x="6072188" y="3095625"/>
            <a:ext cx="2381250" cy="1071563"/>
          </a:xfrm>
          <a:prstGeom prst="rect">
            <a:avLst/>
          </a:prstGeom>
          <a:solidFill>
            <a:srgbClr val="EFF6FF"/>
          </a:solidFill>
          <a:ln w="23813">
            <a:solidFill>
              <a:srgbClr val="1D4ED8"/>
            </a:solidFill>
          </a:ln>
        </p:spPr>
      </p:sp>
      <p:sp>
        <p:nvSpPr>
          <p:cNvPr id="11" name="object-11">
            <a:extLst>
              <a:ext uri="{FF2B5EF4-FFF2-40B4-BE49-F238E27FC236}">
                <a16:creationId xmlns:a16="http://schemas.microsoft.com/office/drawing/2014/main" id="{CAF2487D-DC81-4CDC-9E74-0665C383D560}"/>
              </a:ext>
            </a:extLst>
          </p:cNvPr>
          <p:cNvSpPr>
            <a:spLocks noGrp="1"/>
          </p:cNvSpPr>
          <p:nvPr/>
        </p:nvSpPr>
        <p:spPr>
          <a:xfrm>
            <a:off x="607218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2" name="object-12">
            <a:extLst>
              <a:ext uri="{FF2B5EF4-FFF2-40B4-BE49-F238E27FC236}">
                <a16:creationId xmlns:a16="http://schemas.microsoft.com/office/drawing/2014/main" id="{CD5739DA-571D-425D-AB2B-6D3BCC7247E9}"/>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+ 14</a:t>
            </a:r>
          </a:p>
        </p:txBody>
      </p:sp>
      <p:sp>
        <p:nvSpPr>
          <p:cNvPr id="13" name="object-13">
            <a:extLst>
              <a:ext uri="{FF2B5EF4-FFF2-40B4-BE49-F238E27FC236}">
                <a16:creationId xmlns:a16="http://schemas.microsoft.com/office/drawing/2014/main" id="{336FAE6D-939E-4872-A07B-3EBE9F58D7D9}"/>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65</a:t>
            </a:r>
          </a:p>
        </p:txBody>
      </p:sp>
      <p:sp>
        <p:nvSpPr>
          <p:cNvPr id="14" name="object-14">
            <a:extLst>
              <a:ext uri="{FF2B5EF4-FFF2-40B4-BE49-F238E27FC236}">
                <a16:creationId xmlns:a16="http://schemas.microsoft.com/office/drawing/2014/main" id="{648B6330-D6FC-4323-AE40-1EAB7845B73F}"/>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14 on both sides</a:t>
            </a:r>
          </a:p>
        </p:txBody>
      </p:sp>
      <p:sp>
        <p:nvSpPr>
          <p:cNvPr id="15" name="object-15">
            <a:extLst>
              <a:ext uri="{FF2B5EF4-FFF2-40B4-BE49-F238E27FC236}">
                <a16:creationId xmlns:a16="http://schemas.microsoft.com/office/drawing/2014/main" id="{8754F309-F518-456E-A472-23DD582CB207}"/>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3x = 51</a:t>
            </a:r>
          </a:p>
        </p:txBody>
      </p:sp>
      <p:sp>
        <p:nvSpPr>
          <p:cNvPr id="16" name="object-16">
            <a:extLst>
              <a:ext uri="{FF2B5EF4-FFF2-40B4-BE49-F238E27FC236}">
                <a16:creationId xmlns:a16="http://schemas.microsoft.com/office/drawing/2014/main" id="{B6EA8FDE-2CB5-4ED8-9016-B62D4376DC75}"/>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17</a:t>
            </a:r>
          </a:p>
        </p:txBody>
      </p:sp>
    </p:spTree>
    <p:extLst>
      <p:ext uri="{BB962C8B-B14F-4D97-AF65-F5344CB8AC3E}">
        <p14:creationId xmlns:p14="http://schemas.microsoft.com/office/powerpoint/2010/main" val="1427463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6"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6AEB5AAD-9DA8-42FC-BD23-C8ECFE003EC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CB2295F6-BC20-4993-ADCF-A17CEBE49432}"/>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4FB8C483-4D5E-4DF3-A98B-0C806712C2BA}"/>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3x + 14 = 71.</a:t>
            </a:r>
          </a:p>
        </p:txBody>
      </p:sp>
      <p:sp>
        <p:nvSpPr>
          <p:cNvPr id="4" name="object-4">
            <a:extLst>
              <a:ext uri="{FF2B5EF4-FFF2-40B4-BE49-F238E27FC236}">
                <a16:creationId xmlns:a16="http://schemas.microsoft.com/office/drawing/2014/main" id="{DD63DF70-6813-414F-8E0E-938A0288CCB5}"/>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0359985A-1894-4F9F-8DAF-7CC42378323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Represent word problems with equations</a:t>
            </a:r>
          </a:p>
        </p:txBody>
      </p:sp>
      <p:sp>
        <p:nvSpPr>
          <p:cNvPr id="6" name="object-6">
            <a:extLst>
              <a:ext uri="{FF2B5EF4-FFF2-40B4-BE49-F238E27FC236}">
                <a16:creationId xmlns:a16="http://schemas.microsoft.com/office/drawing/2014/main" id="{DC466D88-FB42-4F9F-8DBB-F22854D4170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2F52A417-F327-4DE7-86E0-3B74B389217B}"/>
              </a:ext>
            </a:extLst>
          </p:cNvPr>
          <p:cNvSpPr>
            <a:spLocks noGrp="1"/>
          </p:cNvSpPr>
          <p:nvPr/>
        </p:nvSpPr>
        <p:spPr>
          <a:xfrm>
            <a:off x="1309688" y="3095625"/>
            <a:ext cx="2381250" cy="1071563"/>
          </a:xfrm>
          <a:prstGeom prst="rect">
            <a:avLst/>
          </a:prstGeom>
          <a:solidFill>
            <a:srgbClr val="EFF6FF"/>
          </a:solidFill>
          <a:ln w="23813">
            <a:solidFill>
              <a:srgbClr val="1D4ED8"/>
            </a:solidFill>
          </a:ln>
        </p:spPr>
      </p:sp>
      <p:sp>
        <p:nvSpPr>
          <p:cNvPr id="8" name="object-8">
            <a:extLst>
              <a:ext uri="{FF2B5EF4-FFF2-40B4-BE49-F238E27FC236}">
                <a16:creationId xmlns:a16="http://schemas.microsoft.com/office/drawing/2014/main" id="{3F2A7A16-355F-422D-A742-32C744FF867D}"/>
              </a:ext>
            </a:extLst>
          </p:cNvPr>
          <p:cNvSpPr>
            <a:spLocks noGrp="1"/>
          </p:cNvSpPr>
          <p:nvPr/>
        </p:nvSpPr>
        <p:spPr>
          <a:xfrm>
            <a:off x="130968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9" name="object-9">
            <a:extLst>
              <a:ext uri="{FF2B5EF4-FFF2-40B4-BE49-F238E27FC236}">
                <a16:creationId xmlns:a16="http://schemas.microsoft.com/office/drawing/2014/main" id="{D79C3A79-2B7B-4DA9-8981-A19CC986E6E2}"/>
              </a:ext>
            </a:extLst>
          </p:cNvPr>
          <p:cNvSpPr>
            <a:spLocks noGrp="1"/>
          </p:cNvSpPr>
          <p:nvPr/>
        </p:nvSpPr>
        <p:spPr>
          <a:xfrm>
            <a:off x="3690938" y="3095625"/>
            <a:ext cx="2381250" cy="1071563"/>
          </a:xfrm>
          <a:prstGeom prst="rect">
            <a:avLst/>
          </a:prstGeom>
          <a:solidFill>
            <a:srgbClr val="EFF6FF"/>
          </a:solidFill>
          <a:ln w="23813">
            <a:solidFill>
              <a:srgbClr val="1D4ED8"/>
            </a:solidFill>
          </a:ln>
        </p:spPr>
      </p:sp>
      <p:sp>
        <p:nvSpPr>
          <p:cNvPr id="10" name="object-10">
            <a:extLst>
              <a:ext uri="{FF2B5EF4-FFF2-40B4-BE49-F238E27FC236}">
                <a16:creationId xmlns:a16="http://schemas.microsoft.com/office/drawing/2014/main" id="{0DCD0208-DEBC-4A9C-A2AF-97B8FAA145DF}"/>
              </a:ext>
            </a:extLst>
          </p:cNvPr>
          <p:cNvSpPr>
            <a:spLocks noGrp="1"/>
          </p:cNvSpPr>
          <p:nvPr/>
        </p:nvSpPr>
        <p:spPr>
          <a:xfrm>
            <a:off x="369093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1" name="object-11">
            <a:extLst>
              <a:ext uri="{FF2B5EF4-FFF2-40B4-BE49-F238E27FC236}">
                <a16:creationId xmlns:a16="http://schemas.microsoft.com/office/drawing/2014/main" id="{1719431D-95C3-4AC8-A18C-9D46F3B4993B}"/>
              </a:ext>
            </a:extLst>
          </p:cNvPr>
          <p:cNvSpPr>
            <a:spLocks noGrp="1"/>
          </p:cNvSpPr>
          <p:nvPr/>
        </p:nvSpPr>
        <p:spPr>
          <a:xfrm>
            <a:off x="6072188" y="3095625"/>
            <a:ext cx="2381250" cy="1071563"/>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2DBB0066-C717-4493-90D7-6EAA94236238}"/>
              </a:ext>
            </a:extLst>
          </p:cNvPr>
          <p:cNvSpPr>
            <a:spLocks noGrp="1"/>
          </p:cNvSpPr>
          <p:nvPr/>
        </p:nvSpPr>
        <p:spPr>
          <a:xfrm>
            <a:off x="607218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3" name="object-13">
            <a:extLst>
              <a:ext uri="{FF2B5EF4-FFF2-40B4-BE49-F238E27FC236}">
                <a16:creationId xmlns:a16="http://schemas.microsoft.com/office/drawing/2014/main" id="{D9AFAEF8-4602-4628-9C9A-7EA53A1A97E8}"/>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+ 14</a:t>
            </a:r>
          </a:p>
        </p:txBody>
      </p:sp>
      <p:sp>
        <p:nvSpPr>
          <p:cNvPr id="14" name="object-14">
            <a:extLst>
              <a:ext uri="{FF2B5EF4-FFF2-40B4-BE49-F238E27FC236}">
                <a16:creationId xmlns:a16="http://schemas.microsoft.com/office/drawing/2014/main" id="{A8F347B8-5011-40F7-A65B-A4196FE4DF43}"/>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71</a:t>
            </a:r>
          </a:p>
        </p:txBody>
      </p:sp>
      <p:sp>
        <p:nvSpPr>
          <p:cNvPr id="15" name="object-15">
            <a:extLst>
              <a:ext uri="{FF2B5EF4-FFF2-40B4-BE49-F238E27FC236}">
                <a16:creationId xmlns:a16="http://schemas.microsoft.com/office/drawing/2014/main" id="{3EF408E1-0512-4599-93B1-49AD085F52E1}"/>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14 on both sides</a:t>
            </a:r>
          </a:p>
        </p:txBody>
      </p:sp>
      <p:sp>
        <p:nvSpPr>
          <p:cNvPr id="16" name="object-16">
            <a:extLst>
              <a:ext uri="{FF2B5EF4-FFF2-40B4-BE49-F238E27FC236}">
                <a16:creationId xmlns:a16="http://schemas.microsoft.com/office/drawing/2014/main" id="{B0408A70-7C0D-4394-991B-E17FE858CE41}"/>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3x = 57</a:t>
            </a:r>
          </a:p>
        </p:txBody>
      </p:sp>
      <p:sp>
        <p:nvSpPr>
          <p:cNvPr id="17" name="object-17">
            <a:extLst>
              <a:ext uri="{FF2B5EF4-FFF2-40B4-BE49-F238E27FC236}">
                <a16:creationId xmlns:a16="http://schemas.microsoft.com/office/drawing/2014/main" id="{169660A2-A813-435D-AF30-6BCC54F0BDE6}"/>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19</a:t>
            </a:r>
          </a:p>
        </p:txBody>
      </p:sp>
    </p:spTree>
    <p:extLst>
      <p:ext uri="{BB962C8B-B14F-4D97-AF65-F5344CB8AC3E}">
        <p14:creationId xmlns:p14="http://schemas.microsoft.com/office/powerpoint/2010/main" val="2062082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P spid="17"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object-1">
            <a:extLst>
              <a:ext uri="{FF2B5EF4-FFF2-40B4-BE49-F238E27FC236}">
                <a16:creationId xmlns:a16="http://schemas.microsoft.com/office/drawing/2014/main" id="{56CA7E80-1E7F-470A-8C8A-7A0949F26ED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B8BFAC56-33E3-4BB7-A5D4-E3C08846CD8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3x + 14 = 77.</a:t>
            </a:r>
          </a:p>
        </p:txBody>
      </p:sp>
      <p:sp>
        <p:nvSpPr>
          <p:cNvPr id="3" name="object-3">
            <a:extLst>
              <a:ext uri="{FF2B5EF4-FFF2-40B4-BE49-F238E27FC236}">
                <a16:creationId xmlns:a16="http://schemas.microsoft.com/office/drawing/2014/main" id="{9359D414-2DBD-4B41-8436-41C2130DF2B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9AA3FF5-8996-441C-923A-A6AB0819214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Represent word problems with equations</a:t>
            </a:r>
          </a:p>
        </p:txBody>
      </p:sp>
      <p:sp>
        <p:nvSpPr>
          <p:cNvPr id="5" name="object-5">
            <a:extLst>
              <a:ext uri="{FF2B5EF4-FFF2-40B4-BE49-F238E27FC236}">
                <a16:creationId xmlns:a16="http://schemas.microsoft.com/office/drawing/2014/main" id="{A21029FA-0B97-4144-B904-93CCDB953DB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4683437E-5A4F-4063-9DA0-BF3B036685C5}"/>
              </a:ext>
            </a:extLst>
          </p:cNvPr>
          <p:cNvSpPr>
            <a:spLocks noGrp="1"/>
          </p:cNvSpPr>
          <p:nvPr/>
        </p:nvSpPr>
        <p:spPr>
          <a:xfrm>
            <a:off x="1309688" y="3095625"/>
            <a:ext cx="2381250" cy="1071563"/>
          </a:xfrm>
          <a:prstGeom prst="rect">
            <a:avLst/>
          </a:prstGeom>
          <a:solidFill>
            <a:srgbClr val="EFF6FF"/>
          </a:solidFill>
          <a:ln w="23813">
            <a:solidFill>
              <a:srgbClr val="1D4ED8"/>
            </a:solidFill>
          </a:ln>
        </p:spPr>
      </p:sp>
      <p:sp>
        <p:nvSpPr>
          <p:cNvPr id="7" name="object-7">
            <a:extLst>
              <a:ext uri="{FF2B5EF4-FFF2-40B4-BE49-F238E27FC236}">
                <a16:creationId xmlns:a16="http://schemas.microsoft.com/office/drawing/2014/main" id="{B5431C0B-FDB0-4145-B183-3C4A63BD7EDE}"/>
              </a:ext>
            </a:extLst>
          </p:cNvPr>
          <p:cNvSpPr>
            <a:spLocks noGrp="1"/>
          </p:cNvSpPr>
          <p:nvPr/>
        </p:nvSpPr>
        <p:spPr>
          <a:xfrm>
            <a:off x="130968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8" name="object-8">
            <a:extLst>
              <a:ext uri="{FF2B5EF4-FFF2-40B4-BE49-F238E27FC236}">
                <a16:creationId xmlns:a16="http://schemas.microsoft.com/office/drawing/2014/main" id="{6A8157CB-6931-4122-8515-FE5CD26B16A8}"/>
              </a:ext>
            </a:extLst>
          </p:cNvPr>
          <p:cNvSpPr>
            <a:spLocks noGrp="1"/>
          </p:cNvSpPr>
          <p:nvPr/>
        </p:nvSpPr>
        <p:spPr>
          <a:xfrm>
            <a:off x="3690938" y="3095625"/>
            <a:ext cx="2381250" cy="1071563"/>
          </a:xfrm>
          <a:prstGeom prst="rect">
            <a:avLst/>
          </a:prstGeom>
          <a:solidFill>
            <a:srgbClr val="EFF6FF"/>
          </a:solidFill>
          <a:ln w="23813">
            <a:solidFill>
              <a:srgbClr val="1D4ED8"/>
            </a:solidFill>
          </a:ln>
        </p:spPr>
      </p:sp>
      <p:sp>
        <p:nvSpPr>
          <p:cNvPr id="9" name="object-9">
            <a:extLst>
              <a:ext uri="{FF2B5EF4-FFF2-40B4-BE49-F238E27FC236}">
                <a16:creationId xmlns:a16="http://schemas.microsoft.com/office/drawing/2014/main" id="{7A02B5D9-E046-4EDD-87BE-F4F84C7F8EE4}"/>
              </a:ext>
            </a:extLst>
          </p:cNvPr>
          <p:cNvSpPr>
            <a:spLocks noGrp="1"/>
          </p:cNvSpPr>
          <p:nvPr/>
        </p:nvSpPr>
        <p:spPr>
          <a:xfrm>
            <a:off x="369093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0" name="object-10">
            <a:extLst>
              <a:ext uri="{FF2B5EF4-FFF2-40B4-BE49-F238E27FC236}">
                <a16:creationId xmlns:a16="http://schemas.microsoft.com/office/drawing/2014/main" id="{8E8C59AE-D8DF-48A8-8BC0-F5970A240D2F}"/>
              </a:ext>
            </a:extLst>
          </p:cNvPr>
          <p:cNvSpPr>
            <a:spLocks noGrp="1"/>
          </p:cNvSpPr>
          <p:nvPr/>
        </p:nvSpPr>
        <p:spPr>
          <a:xfrm>
            <a:off x="6072188" y="3095625"/>
            <a:ext cx="2381250" cy="1071563"/>
          </a:xfrm>
          <a:prstGeom prst="rect">
            <a:avLst/>
          </a:prstGeom>
          <a:solidFill>
            <a:srgbClr val="EFF6FF"/>
          </a:solidFill>
          <a:ln w="23813">
            <a:solidFill>
              <a:srgbClr val="1D4ED8"/>
            </a:solidFill>
          </a:ln>
        </p:spPr>
      </p:sp>
      <p:sp>
        <p:nvSpPr>
          <p:cNvPr id="11" name="object-11">
            <a:extLst>
              <a:ext uri="{FF2B5EF4-FFF2-40B4-BE49-F238E27FC236}">
                <a16:creationId xmlns:a16="http://schemas.microsoft.com/office/drawing/2014/main" id="{0CE67C7F-E9F3-4F76-BA68-E5EBC1B85618}"/>
              </a:ext>
            </a:extLst>
          </p:cNvPr>
          <p:cNvSpPr>
            <a:spLocks noGrp="1"/>
          </p:cNvSpPr>
          <p:nvPr/>
        </p:nvSpPr>
        <p:spPr>
          <a:xfrm>
            <a:off x="607218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2" name="object-12">
            <a:extLst>
              <a:ext uri="{FF2B5EF4-FFF2-40B4-BE49-F238E27FC236}">
                <a16:creationId xmlns:a16="http://schemas.microsoft.com/office/drawing/2014/main" id="{9320A880-39AF-44AF-91D3-615AC19A9A8D}"/>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+ 14</a:t>
            </a:r>
          </a:p>
        </p:txBody>
      </p:sp>
      <p:sp>
        <p:nvSpPr>
          <p:cNvPr id="13" name="object-13">
            <a:extLst>
              <a:ext uri="{FF2B5EF4-FFF2-40B4-BE49-F238E27FC236}">
                <a16:creationId xmlns:a16="http://schemas.microsoft.com/office/drawing/2014/main" id="{68FF7550-387B-4D03-89E3-38D1D85A1CBA}"/>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77</a:t>
            </a:r>
          </a:p>
        </p:txBody>
      </p:sp>
      <p:sp>
        <p:nvSpPr>
          <p:cNvPr id="14" name="object-14">
            <a:extLst>
              <a:ext uri="{FF2B5EF4-FFF2-40B4-BE49-F238E27FC236}">
                <a16:creationId xmlns:a16="http://schemas.microsoft.com/office/drawing/2014/main" id="{31E6C39A-DB60-4613-839A-BD954691DB08}"/>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14 on both sides</a:t>
            </a:r>
          </a:p>
        </p:txBody>
      </p:sp>
      <p:sp>
        <p:nvSpPr>
          <p:cNvPr id="15" name="object-15">
            <a:extLst>
              <a:ext uri="{FF2B5EF4-FFF2-40B4-BE49-F238E27FC236}">
                <a16:creationId xmlns:a16="http://schemas.microsoft.com/office/drawing/2014/main" id="{7FF5C9E3-AE0C-432B-B0D6-6FD24F164E76}"/>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3x = 63</a:t>
            </a:r>
          </a:p>
        </p:txBody>
      </p:sp>
      <p:sp>
        <p:nvSpPr>
          <p:cNvPr id="16" name="object-16">
            <a:extLst>
              <a:ext uri="{FF2B5EF4-FFF2-40B4-BE49-F238E27FC236}">
                <a16:creationId xmlns:a16="http://schemas.microsoft.com/office/drawing/2014/main" id="{ABB02C86-5E68-4FDA-9BCF-9D72790A6AF7}"/>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21</a:t>
            </a:r>
          </a:p>
        </p:txBody>
      </p:sp>
    </p:spTree>
    <p:extLst>
      <p:ext uri="{BB962C8B-B14F-4D97-AF65-F5344CB8AC3E}">
        <p14:creationId xmlns:p14="http://schemas.microsoft.com/office/powerpoint/2010/main" val="1655791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6"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79841905-0877-4280-8443-F0B1E577BB4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2CB6A99E-81AF-40C8-A1DE-BDFDDAAB994F}"/>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29924994-FD53-498C-B362-D67BDB056AA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3x + 14 = 83.</a:t>
            </a:r>
          </a:p>
        </p:txBody>
      </p:sp>
      <p:sp>
        <p:nvSpPr>
          <p:cNvPr id="4" name="object-4">
            <a:extLst>
              <a:ext uri="{FF2B5EF4-FFF2-40B4-BE49-F238E27FC236}">
                <a16:creationId xmlns:a16="http://schemas.microsoft.com/office/drawing/2014/main" id="{17D77E1D-A717-4C86-B521-0136F54F5D42}"/>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2CF930F-A945-4524-ADB7-9455501B448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Represent word problems with equations</a:t>
            </a:r>
          </a:p>
        </p:txBody>
      </p:sp>
      <p:sp>
        <p:nvSpPr>
          <p:cNvPr id="6" name="object-6">
            <a:extLst>
              <a:ext uri="{FF2B5EF4-FFF2-40B4-BE49-F238E27FC236}">
                <a16:creationId xmlns:a16="http://schemas.microsoft.com/office/drawing/2014/main" id="{2823A46F-2446-410C-966E-86F9EBEEEF7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456D05A2-2699-42D5-B8DC-E2E02D756CC8}"/>
              </a:ext>
            </a:extLst>
          </p:cNvPr>
          <p:cNvSpPr>
            <a:spLocks noGrp="1"/>
          </p:cNvSpPr>
          <p:nvPr/>
        </p:nvSpPr>
        <p:spPr>
          <a:xfrm>
            <a:off x="1309688" y="3095625"/>
            <a:ext cx="2381250" cy="1071563"/>
          </a:xfrm>
          <a:prstGeom prst="rect">
            <a:avLst/>
          </a:prstGeom>
          <a:solidFill>
            <a:srgbClr val="EFF6FF"/>
          </a:solidFill>
          <a:ln w="23813">
            <a:solidFill>
              <a:srgbClr val="1D4ED8"/>
            </a:solidFill>
          </a:ln>
        </p:spPr>
      </p:sp>
      <p:sp>
        <p:nvSpPr>
          <p:cNvPr id="8" name="object-8">
            <a:extLst>
              <a:ext uri="{FF2B5EF4-FFF2-40B4-BE49-F238E27FC236}">
                <a16:creationId xmlns:a16="http://schemas.microsoft.com/office/drawing/2014/main" id="{B5E553D7-ED40-4DD4-AA93-D29507166076}"/>
              </a:ext>
            </a:extLst>
          </p:cNvPr>
          <p:cNvSpPr>
            <a:spLocks noGrp="1"/>
          </p:cNvSpPr>
          <p:nvPr/>
        </p:nvSpPr>
        <p:spPr>
          <a:xfrm>
            <a:off x="130968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9" name="object-9">
            <a:extLst>
              <a:ext uri="{FF2B5EF4-FFF2-40B4-BE49-F238E27FC236}">
                <a16:creationId xmlns:a16="http://schemas.microsoft.com/office/drawing/2014/main" id="{E725A351-2B8F-425F-B69C-C832FE47481D}"/>
              </a:ext>
            </a:extLst>
          </p:cNvPr>
          <p:cNvSpPr>
            <a:spLocks noGrp="1"/>
          </p:cNvSpPr>
          <p:nvPr/>
        </p:nvSpPr>
        <p:spPr>
          <a:xfrm>
            <a:off x="3690938" y="3095625"/>
            <a:ext cx="2381250" cy="1071563"/>
          </a:xfrm>
          <a:prstGeom prst="rect">
            <a:avLst/>
          </a:prstGeom>
          <a:solidFill>
            <a:srgbClr val="EFF6FF"/>
          </a:solidFill>
          <a:ln w="23813">
            <a:solidFill>
              <a:srgbClr val="1D4ED8"/>
            </a:solidFill>
          </a:ln>
        </p:spPr>
      </p:sp>
      <p:sp>
        <p:nvSpPr>
          <p:cNvPr id="10" name="object-10">
            <a:extLst>
              <a:ext uri="{FF2B5EF4-FFF2-40B4-BE49-F238E27FC236}">
                <a16:creationId xmlns:a16="http://schemas.microsoft.com/office/drawing/2014/main" id="{FF9425DF-7304-4C52-85B4-439E226FA805}"/>
              </a:ext>
            </a:extLst>
          </p:cNvPr>
          <p:cNvSpPr>
            <a:spLocks noGrp="1"/>
          </p:cNvSpPr>
          <p:nvPr/>
        </p:nvSpPr>
        <p:spPr>
          <a:xfrm>
            <a:off x="369093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1" name="object-11">
            <a:extLst>
              <a:ext uri="{FF2B5EF4-FFF2-40B4-BE49-F238E27FC236}">
                <a16:creationId xmlns:a16="http://schemas.microsoft.com/office/drawing/2014/main" id="{0D956191-5B4C-47C6-9284-2BEB281D289E}"/>
              </a:ext>
            </a:extLst>
          </p:cNvPr>
          <p:cNvSpPr>
            <a:spLocks noGrp="1"/>
          </p:cNvSpPr>
          <p:nvPr/>
        </p:nvSpPr>
        <p:spPr>
          <a:xfrm>
            <a:off x="6072188" y="3095625"/>
            <a:ext cx="2381250" cy="1071563"/>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52804DF7-C591-48BD-A355-36D40FB87CA6}"/>
              </a:ext>
            </a:extLst>
          </p:cNvPr>
          <p:cNvSpPr>
            <a:spLocks noGrp="1"/>
          </p:cNvSpPr>
          <p:nvPr/>
        </p:nvSpPr>
        <p:spPr>
          <a:xfrm>
            <a:off x="6072188" y="3178969"/>
            <a:ext cx="23812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3" name="object-13">
            <a:extLst>
              <a:ext uri="{FF2B5EF4-FFF2-40B4-BE49-F238E27FC236}">
                <a16:creationId xmlns:a16="http://schemas.microsoft.com/office/drawing/2014/main" id="{8E2A63D0-B546-42FB-9144-F721D8EB57FF}"/>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+ 14</a:t>
            </a:r>
          </a:p>
        </p:txBody>
      </p:sp>
      <p:sp>
        <p:nvSpPr>
          <p:cNvPr id="14" name="object-14">
            <a:extLst>
              <a:ext uri="{FF2B5EF4-FFF2-40B4-BE49-F238E27FC236}">
                <a16:creationId xmlns:a16="http://schemas.microsoft.com/office/drawing/2014/main" id="{34BAC14E-6CDB-4441-BED8-54A5D1359CEF}"/>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83</a:t>
            </a:r>
          </a:p>
        </p:txBody>
      </p:sp>
      <p:sp>
        <p:nvSpPr>
          <p:cNvPr id="15" name="object-15">
            <a:extLst>
              <a:ext uri="{FF2B5EF4-FFF2-40B4-BE49-F238E27FC236}">
                <a16:creationId xmlns:a16="http://schemas.microsoft.com/office/drawing/2014/main" id="{191A7770-B640-4598-95D3-7C59BF677B87}"/>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14 on both sides</a:t>
            </a:r>
          </a:p>
        </p:txBody>
      </p:sp>
      <p:sp>
        <p:nvSpPr>
          <p:cNvPr id="16" name="object-16">
            <a:extLst>
              <a:ext uri="{FF2B5EF4-FFF2-40B4-BE49-F238E27FC236}">
                <a16:creationId xmlns:a16="http://schemas.microsoft.com/office/drawing/2014/main" id="{56FD0A06-36E7-4EB6-93AC-088B52F14EC7}"/>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3x = 69</a:t>
            </a:r>
          </a:p>
        </p:txBody>
      </p:sp>
      <p:sp>
        <p:nvSpPr>
          <p:cNvPr id="17" name="object-17">
            <a:extLst>
              <a:ext uri="{FF2B5EF4-FFF2-40B4-BE49-F238E27FC236}">
                <a16:creationId xmlns:a16="http://schemas.microsoft.com/office/drawing/2014/main" id="{995E6320-2CBC-470B-9957-F95508344870}"/>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23</a:t>
            </a:r>
          </a:p>
        </p:txBody>
      </p:sp>
    </p:spTree>
    <p:extLst>
      <p:ext uri="{BB962C8B-B14F-4D97-AF65-F5344CB8AC3E}">
        <p14:creationId xmlns:p14="http://schemas.microsoft.com/office/powerpoint/2010/main" val="1810877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P spid="17" grpId="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71873326-E99C-4519-9DA5-3D50EBA0A94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33BEA19C-EDDE-46B2-BF28-3E5BFEEC1F9D}"/>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E26556F2-E7FC-4D9F-B18E-F8B979B5759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B1363C92-8126-4009-AAB6-66163E37C31D}"/>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82391587-15A3-43CC-9CFE-F0BD21FCF7D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Represent word problems with equations</a:t>
            </a:r>
          </a:p>
        </p:txBody>
      </p:sp>
      <p:sp>
        <p:nvSpPr>
          <p:cNvPr id="6" name="object-6">
            <a:extLst>
              <a:ext uri="{FF2B5EF4-FFF2-40B4-BE49-F238E27FC236}">
                <a16:creationId xmlns:a16="http://schemas.microsoft.com/office/drawing/2014/main" id="{6F31343F-B6F9-460F-990D-3E36183BC7A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88BDB26F-9FFD-45D1-A53E-8EC87A830D32}"/>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3F448355-F3CB-426A-9E25-2D869B99EA10}"/>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number is tripled and 14 is added to make 65. Find the number.</a:t>
            </a:r>
          </a:p>
        </p:txBody>
      </p:sp>
      <p:sp>
        <p:nvSpPr>
          <p:cNvPr id="9" name="object-9">
            <a:extLst>
              <a:ext uri="{FF2B5EF4-FFF2-40B4-BE49-F238E27FC236}">
                <a16:creationId xmlns:a16="http://schemas.microsoft.com/office/drawing/2014/main" id="{94E48879-6BEA-4812-B374-FC9102A5D4D0}"/>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F4589B9F-27AC-4585-9884-FBD4EADBECFE}"/>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Do 4x + 12 = 40 and 2x + 6 = 20 have the same solution?</a:t>
            </a:r>
          </a:p>
        </p:txBody>
      </p:sp>
      <p:sp>
        <p:nvSpPr>
          <p:cNvPr id="11" name="object-11">
            <a:extLst>
              <a:ext uri="{FF2B5EF4-FFF2-40B4-BE49-F238E27FC236}">
                <a16:creationId xmlns:a16="http://schemas.microsoft.com/office/drawing/2014/main" id="{EA586A6E-76C0-4FAE-995A-6E786164DB5E}"/>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E629CFCE-989E-4DEB-94EE-12C471ED0134}"/>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x + 38 = 91.</a:t>
            </a:r>
          </a:p>
        </p:txBody>
      </p:sp>
      <p:sp>
        <p:nvSpPr>
          <p:cNvPr id="13" name="object-13">
            <a:extLst>
              <a:ext uri="{FF2B5EF4-FFF2-40B4-BE49-F238E27FC236}">
                <a16:creationId xmlns:a16="http://schemas.microsoft.com/office/drawing/2014/main" id="{DFA36ACA-1BC8-40AE-8EF2-69B865A3CC3D}"/>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C389376C-3BE4-43FA-A324-DE2D2F49DBFB}"/>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A number is tripled and 14 is added to make 65. Find the number.</a:t>
            </a:r>
          </a:p>
        </p:txBody>
      </p:sp>
      <p:sp>
        <p:nvSpPr>
          <p:cNvPr id="15" name="object-15">
            <a:extLst>
              <a:ext uri="{FF2B5EF4-FFF2-40B4-BE49-F238E27FC236}">
                <a16:creationId xmlns:a16="http://schemas.microsoft.com/office/drawing/2014/main" id="{71C81DF9-6F4C-4256-9583-E15D6A203883}"/>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C0094D56-AFC7-4CDF-979B-579068163DF6}"/>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Do 4x + 12 = 40 and 2x + 6 = 20 have the same solution?</a:t>
            </a:r>
          </a:p>
        </p:txBody>
      </p:sp>
      <p:sp>
        <p:nvSpPr>
          <p:cNvPr id="17" name="object-17">
            <a:extLst>
              <a:ext uri="{FF2B5EF4-FFF2-40B4-BE49-F238E27FC236}">
                <a16:creationId xmlns:a16="http://schemas.microsoft.com/office/drawing/2014/main" id="{AA02DBC6-6880-4631-A211-0141794E3B10}"/>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51296CDE-04BD-4371-BDD4-65BCC9D94E9C}"/>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Solve x + 38 = 91.</a:t>
            </a:r>
          </a:p>
        </p:txBody>
      </p:sp>
      <p:sp>
        <p:nvSpPr>
          <p:cNvPr id="19" name="object-19">
            <a:extLst>
              <a:ext uri="{FF2B5EF4-FFF2-40B4-BE49-F238E27FC236}">
                <a16:creationId xmlns:a16="http://schemas.microsoft.com/office/drawing/2014/main" id="{11A731CC-19E7-4488-823D-3AF69CCCEAE8}"/>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CB69C2CE-1724-4ABE-9D2A-FA56900DC02C}"/>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Solve 5x - 7 = 48.</a:t>
            </a:r>
          </a:p>
        </p:txBody>
      </p:sp>
      <p:sp>
        <p:nvSpPr>
          <p:cNvPr id="21" name="object-21">
            <a:extLst>
              <a:ext uri="{FF2B5EF4-FFF2-40B4-BE49-F238E27FC236}">
                <a16:creationId xmlns:a16="http://schemas.microsoft.com/office/drawing/2014/main" id="{FC4C6426-EB4F-4043-A73E-F7C3ADA249D9}"/>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CF9B25E2-47E1-4FAC-A44E-4808547DB725}"/>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changes one side of an equation without making the same balanced change to the other side.</a:t>
            </a:r>
          </a:p>
        </p:txBody>
      </p:sp>
      <p:sp>
        <p:nvSpPr>
          <p:cNvPr id="23" name="object-23">
            <a:extLst>
              <a:ext uri="{FF2B5EF4-FFF2-40B4-BE49-F238E27FC236}">
                <a16:creationId xmlns:a16="http://schemas.microsoft.com/office/drawing/2014/main" id="{659FA262-B556-49FD-A6FD-D10045121A4E}"/>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ECC225A7-D72B-4339-94CF-F90F3AEA4DF5}"/>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7DA11139-6944-40E2-BD3F-899A408AB7D3}"/>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35CFF5A0-A7A7-4061-9113-0F1F58DC1C61}"/>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Solve x + 38 = 91.</a:t>
            </a:r>
          </a:p>
        </p:txBody>
      </p:sp>
    </p:spTree>
    <p:extLst>
      <p:ext uri="{BB962C8B-B14F-4D97-AF65-F5344CB8AC3E}">
        <p14:creationId xmlns:p14="http://schemas.microsoft.com/office/powerpoint/2010/main" val="8702465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9A75E8A7-41C6-4499-B379-D1109F4D5C3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84774308-C2A9-4E57-9776-6CAFA444172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35883602-0038-4086-ABBB-AD287CB54045}"/>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C3FFA36-99F7-4F0F-A46B-CF028C5B13C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Represent word problems with equations</a:t>
            </a:r>
          </a:p>
        </p:txBody>
      </p:sp>
      <p:sp>
        <p:nvSpPr>
          <p:cNvPr id="5" name="object-5">
            <a:extLst>
              <a:ext uri="{FF2B5EF4-FFF2-40B4-BE49-F238E27FC236}">
                <a16:creationId xmlns:a16="http://schemas.microsoft.com/office/drawing/2014/main" id="{522B0238-EFFE-49A6-A538-2E22E325099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41B5D36C-6E4B-4286-AA3B-8760457E626D}"/>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8B8E6B4D-E1A1-4D6D-BADC-9404E1DE984A}"/>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17.</a:t>
            </a:r>
          </a:p>
        </p:txBody>
      </p:sp>
      <p:sp>
        <p:nvSpPr>
          <p:cNvPr id="8" name="object-8">
            <a:extLst>
              <a:ext uri="{FF2B5EF4-FFF2-40B4-BE49-F238E27FC236}">
                <a16:creationId xmlns:a16="http://schemas.microsoft.com/office/drawing/2014/main" id="{7F6345CD-047D-4DAF-BC61-0EFD323757C5}"/>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1EBD3291-EFDE-4C74-832D-737916F7343E}"/>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Yes, both give x = 7.</a:t>
            </a:r>
          </a:p>
        </p:txBody>
      </p:sp>
      <p:sp>
        <p:nvSpPr>
          <p:cNvPr id="10" name="object-10">
            <a:extLst>
              <a:ext uri="{FF2B5EF4-FFF2-40B4-BE49-F238E27FC236}">
                <a16:creationId xmlns:a16="http://schemas.microsoft.com/office/drawing/2014/main" id="{43F9D0C1-64A3-4FEB-B1AA-72E80BB66D45}"/>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25300637-A0B1-4B3A-9B6C-627146FDA09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53.</a:t>
            </a:r>
          </a:p>
        </p:txBody>
      </p:sp>
      <p:sp>
        <p:nvSpPr>
          <p:cNvPr id="12" name="object-12">
            <a:extLst>
              <a:ext uri="{FF2B5EF4-FFF2-40B4-BE49-F238E27FC236}">
                <a16:creationId xmlns:a16="http://schemas.microsoft.com/office/drawing/2014/main" id="{BCEBA56B-20A8-4AD4-BAD4-101FCB0FFE9C}"/>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2FFED76E-4853-47AF-B4A1-A68A7AA9F261}"/>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17.</a:t>
            </a:r>
          </a:p>
        </p:txBody>
      </p:sp>
      <p:sp>
        <p:nvSpPr>
          <p:cNvPr id="14" name="object-14">
            <a:extLst>
              <a:ext uri="{FF2B5EF4-FFF2-40B4-BE49-F238E27FC236}">
                <a16:creationId xmlns:a16="http://schemas.microsoft.com/office/drawing/2014/main" id="{C85C70AC-8B4D-462E-82B1-4DF838980262}"/>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3A80FACC-7933-4583-866B-E3C9AFFA030B}"/>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Yes, both give x = 7. Method or representation may vary.</a:t>
            </a:r>
          </a:p>
        </p:txBody>
      </p:sp>
      <p:sp>
        <p:nvSpPr>
          <p:cNvPr id="16" name="object-16">
            <a:extLst>
              <a:ext uri="{FF2B5EF4-FFF2-40B4-BE49-F238E27FC236}">
                <a16:creationId xmlns:a16="http://schemas.microsoft.com/office/drawing/2014/main" id="{2780086A-D5A7-4434-A5A2-2EA22AADE41E}"/>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64569AE8-F22E-4946-AB78-B51EDAD02055}"/>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x = 53. A valid check must be shown.</a:t>
            </a:r>
          </a:p>
        </p:txBody>
      </p:sp>
      <p:sp>
        <p:nvSpPr>
          <p:cNvPr id="18" name="object-18">
            <a:extLst>
              <a:ext uri="{FF2B5EF4-FFF2-40B4-BE49-F238E27FC236}">
                <a16:creationId xmlns:a16="http://schemas.microsoft.com/office/drawing/2014/main" id="{A2A42D14-9E76-4944-93EB-755FBDD0B3A7}"/>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F6657947-1045-4AF9-8ADA-3297D32A4C52}"/>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11. The explanation must show why the method works.</a:t>
            </a:r>
          </a:p>
        </p:txBody>
      </p:sp>
      <p:sp>
        <p:nvSpPr>
          <p:cNvPr id="20" name="object-20">
            <a:extLst>
              <a:ext uri="{FF2B5EF4-FFF2-40B4-BE49-F238E27FC236}">
                <a16:creationId xmlns:a16="http://schemas.microsoft.com/office/drawing/2014/main" id="{F88D3E29-15EB-4875-A4F6-8142769F15AE}"/>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0639952D-4AFE-49DF-8F25-EE4C473F1D88}"/>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Use an inverse operation on the whole equation and check by substitution.</a:t>
            </a:r>
          </a:p>
        </p:txBody>
      </p:sp>
      <p:sp>
        <p:nvSpPr>
          <p:cNvPr id="22" name="object-22">
            <a:extLst>
              <a:ext uri="{FF2B5EF4-FFF2-40B4-BE49-F238E27FC236}">
                <a16:creationId xmlns:a16="http://schemas.microsoft.com/office/drawing/2014/main" id="{18716E31-28D2-4487-A01C-2B0B24EB69E3}"/>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7B656805-5279-4C90-BFDD-BB6FBF9DA3C3}"/>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2A334B3A-E5C2-437A-827F-E8C6D00694A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81628A32-22B9-417A-BF1A-7CEEF74DC923}"/>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52184960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981</Words>
  <Application>Microsoft Office PowerPoint</Application>
  <DocSecurity>0</DocSecurity>
  <PresentationFormat>Custom</PresentationFormat>
  <Paragraphs>118</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2026-09-14T13:14:35Z</dcterms:created>
  <dcterms:modified xsi:type="dcterms:W3CDTF">2026-09-14T13:17:26Z</dcterms:modified>
</cp:coreProperties>
</file>