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Solve equations with brackets.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I do.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You do. Pause before clicking. Let pupils try independently, then reveal and discuss every step.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I do.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You do. Pause before clicking. Let pupils try independently, then reveal and discuss every step. Keep both sides equal. Undo addition or subtraction on both sides, then divide both sides by the coefficient.</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Solve equations with brackets.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28A6B243-D732-455F-A9FB-794F85F331C5}"/>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Solve equations with brackets</a:t>
            </a:r>
          </a:p>
        </p:txBody>
      </p:sp>
      <p:sp>
        <p:nvSpPr>
          <p:cNvPr id="2" name="object-2">
            <a:extLst>
              <a:ext uri="{FF2B5EF4-FFF2-40B4-BE49-F238E27FC236}">
                <a16:creationId xmlns:a16="http://schemas.microsoft.com/office/drawing/2014/main" id="{70A300E1-0219-477A-BF8E-BD207369E430}"/>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602C57AC-F461-4CC3-82E8-576F52378168}"/>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6214EFF-7096-4DA4-B5E6-AB63E719A50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5" name="object-5">
            <a:extLst>
              <a:ext uri="{FF2B5EF4-FFF2-40B4-BE49-F238E27FC236}">
                <a16:creationId xmlns:a16="http://schemas.microsoft.com/office/drawing/2014/main" id="{6E015195-1979-4E5C-8398-8F7C98D99B4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121A8A8C-1DB2-409F-927A-20085CBA72F3}"/>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solve equations containing grouped operations.</a:t>
            </a:r>
          </a:p>
        </p:txBody>
      </p:sp>
    </p:spTree>
    <p:extLst>
      <p:ext uri="{BB962C8B-B14F-4D97-AF65-F5344CB8AC3E}">
        <p14:creationId xmlns:p14="http://schemas.microsoft.com/office/powerpoint/2010/main" val="1061831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object-1">
            <a:extLst>
              <a:ext uri="{FF2B5EF4-FFF2-40B4-BE49-F238E27FC236}">
                <a16:creationId xmlns:a16="http://schemas.microsoft.com/office/drawing/2014/main" id="{5249DFAC-7698-4B45-81C0-9A64D6D9145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65589BB0-1C72-4989-B571-63A8DE445DB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6x + 24 = 72.</a:t>
            </a:r>
          </a:p>
        </p:txBody>
      </p:sp>
      <p:sp>
        <p:nvSpPr>
          <p:cNvPr id="3" name="object-3">
            <a:extLst>
              <a:ext uri="{FF2B5EF4-FFF2-40B4-BE49-F238E27FC236}">
                <a16:creationId xmlns:a16="http://schemas.microsoft.com/office/drawing/2014/main" id="{20725BE6-3CFC-48C1-8A65-9242F6D9B10E}"/>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49526FD0-1F49-43E3-ADC0-78CD85C7019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5" name="object-5">
            <a:extLst>
              <a:ext uri="{FF2B5EF4-FFF2-40B4-BE49-F238E27FC236}">
                <a16:creationId xmlns:a16="http://schemas.microsoft.com/office/drawing/2014/main" id="{58DBD5F9-4E26-4520-A65A-F592E3D494B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69FB1ECF-7B27-440D-BCD4-D5A68E1AD0CF}"/>
              </a:ext>
            </a:extLst>
          </p:cNvPr>
          <p:cNvSpPr>
            <a:spLocks noGrp="1"/>
          </p:cNvSpPr>
          <p:nvPr/>
        </p:nvSpPr>
        <p:spPr>
          <a:xfrm>
            <a:off x="1309688" y="3095625"/>
            <a:ext cx="1190625" cy="1071563"/>
          </a:xfrm>
          <a:prstGeom prst="rect">
            <a:avLst/>
          </a:prstGeom>
          <a:solidFill>
            <a:srgbClr val="EFF6FF"/>
          </a:solidFill>
          <a:ln w="23813">
            <a:solidFill>
              <a:srgbClr val="1D4ED8"/>
            </a:solidFill>
          </a:ln>
        </p:spPr>
      </p:sp>
      <p:sp>
        <p:nvSpPr>
          <p:cNvPr id="7" name="object-7">
            <a:extLst>
              <a:ext uri="{FF2B5EF4-FFF2-40B4-BE49-F238E27FC236}">
                <a16:creationId xmlns:a16="http://schemas.microsoft.com/office/drawing/2014/main" id="{61229B10-4DD1-4694-B93B-55F59A51244A}"/>
              </a:ext>
            </a:extLst>
          </p:cNvPr>
          <p:cNvSpPr>
            <a:spLocks noGrp="1"/>
          </p:cNvSpPr>
          <p:nvPr/>
        </p:nvSpPr>
        <p:spPr>
          <a:xfrm>
            <a:off x="13096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8" name="object-8">
            <a:extLst>
              <a:ext uri="{FF2B5EF4-FFF2-40B4-BE49-F238E27FC236}">
                <a16:creationId xmlns:a16="http://schemas.microsoft.com/office/drawing/2014/main" id="{9EADF955-61C5-4D93-8CDC-7F1FB0B3DAF7}"/>
              </a:ext>
            </a:extLst>
          </p:cNvPr>
          <p:cNvSpPr>
            <a:spLocks noGrp="1"/>
          </p:cNvSpPr>
          <p:nvPr/>
        </p:nvSpPr>
        <p:spPr>
          <a:xfrm>
            <a:off x="2500313" y="3095625"/>
            <a:ext cx="1190625" cy="1071563"/>
          </a:xfrm>
          <a:prstGeom prst="rect">
            <a:avLst/>
          </a:prstGeom>
          <a:solidFill>
            <a:srgbClr val="EFF6FF"/>
          </a:solidFill>
          <a:ln w="23813">
            <a:solidFill>
              <a:srgbClr val="1D4ED8"/>
            </a:solidFill>
          </a:ln>
        </p:spPr>
      </p:sp>
      <p:sp>
        <p:nvSpPr>
          <p:cNvPr id="9" name="object-9">
            <a:extLst>
              <a:ext uri="{FF2B5EF4-FFF2-40B4-BE49-F238E27FC236}">
                <a16:creationId xmlns:a16="http://schemas.microsoft.com/office/drawing/2014/main" id="{DE55B38D-5E4C-4394-BEC9-3DBC8C37F735}"/>
              </a:ext>
            </a:extLst>
          </p:cNvPr>
          <p:cNvSpPr>
            <a:spLocks noGrp="1"/>
          </p:cNvSpPr>
          <p:nvPr/>
        </p:nvSpPr>
        <p:spPr>
          <a:xfrm>
            <a:off x="25003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0" name="object-10">
            <a:extLst>
              <a:ext uri="{FF2B5EF4-FFF2-40B4-BE49-F238E27FC236}">
                <a16:creationId xmlns:a16="http://schemas.microsoft.com/office/drawing/2014/main" id="{B8FBFCCE-01B8-4961-9531-18B01F4939EA}"/>
              </a:ext>
            </a:extLst>
          </p:cNvPr>
          <p:cNvSpPr>
            <a:spLocks noGrp="1"/>
          </p:cNvSpPr>
          <p:nvPr/>
        </p:nvSpPr>
        <p:spPr>
          <a:xfrm>
            <a:off x="3690938" y="3095625"/>
            <a:ext cx="1190625" cy="1071563"/>
          </a:xfrm>
          <a:prstGeom prst="rect">
            <a:avLst/>
          </a:prstGeom>
          <a:solidFill>
            <a:srgbClr val="EFF6FF"/>
          </a:solidFill>
          <a:ln w="23813">
            <a:solidFill>
              <a:srgbClr val="1D4ED8"/>
            </a:solidFill>
          </a:ln>
        </p:spPr>
      </p:sp>
      <p:sp>
        <p:nvSpPr>
          <p:cNvPr id="11" name="object-11">
            <a:extLst>
              <a:ext uri="{FF2B5EF4-FFF2-40B4-BE49-F238E27FC236}">
                <a16:creationId xmlns:a16="http://schemas.microsoft.com/office/drawing/2014/main" id="{F93BBDA1-29BE-44F7-B623-2708EF7D4B5E}"/>
              </a:ext>
            </a:extLst>
          </p:cNvPr>
          <p:cNvSpPr>
            <a:spLocks noGrp="1"/>
          </p:cNvSpPr>
          <p:nvPr/>
        </p:nvSpPr>
        <p:spPr>
          <a:xfrm>
            <a:off x="369093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2" name="object-12">
            <a:extLst>
              <a:ext uri="{FF2B5EF4-FFF2-40B4-BE49-F238E27FC236}">
                <a16:creationId xmlns:a16="http://schemas.microsoft.com/office/drawing/2014/main" id="{39DF1E62-7E4B-48A0-B4D6-9EED64C5D629}"/>
              </a:ext>
            </a:extLst>
          </p:cNvPr>
          <p:cNvSpPr>
            <a:spLocks noGrp="1"/>
          </p:cNvSpPr>
          <p:nvPr/>
        </p:nvSpPr>
        <p:spPr>
          <a:xfrm>
            <a:off x="4881563" y="3095625"/>
            <a:ext cx="1190625" cy="1071563"/>
          </a:xfrm>
          <a:prstGeom prst="rect">
            <a:avLst/>
          </a:prstGeom>
          <a:solidFill>
            <a:srgbClr val="EFF6FF"/>
          </a:solidFill>
          <a:ln w="23813">
            <a:solidFill>
              <a:srgbClr val="1D4ED8"/>
            </a:solidFill>
          </a:ln>
        </p:spPr>
      </p:sp>
      <p:sp>
        <p:nvSpPr>
          <p:cNvPr id="13" name="object-13">
            <a:extLst>
              <a:ext uri="{FF2B5EF4-FFF2-40B4-BE49-F238E27FC236}">
                <a16:creationId xmlns:a16="http://schemas.microsoft.com/office/drawing/2014/main" id="{DDAD6E2A-1A22-43CA-8297-40E8C914D863}"/>
              </a:ext>
            </a:extLst>
          </p:cNvPr>
          <p:cNvSpPr>
            <a:spLocks noGrp="1"/>
          </p:cNvSpPr>
          <p:nvPr/>
        </p:nvSpPr>
        <p:spPr>
          <a:xfrm>
            <a:off x="488156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4" name="object-14">
            <a:extLst>
              <a:ext uri="{FF2B5EF4-FFF2-40B4-BE49-F238E27FC236}">
                <a16:creationId xmlns:a16="http://schemas.microsoft.com/office/drawing/2014/main" id="{0EEA6BC4-FC76-49A6-8240-5D5C0D030195}"/>
              </a:ext>
            </a:extLst>
          </p:cNvPr>
          <p:cNvSpPr>
            <a:spLocks noGrp="1"/>
          </p:cNvSpPr>
          <p:nvPr/>
        </p:nvSpPr>
        <p:spPr>
          <a:xfrm>
            <a:off x="6072188" y="3095625"/>
            <a:ext cx="1190625" cy="1071563"/>
          </a:xfrm>
          <a:prstGeom prst="rect">
            <a:avLst/>
          </a:prstGeom>
          <a:solidFill>
            <a:srgbClr val="EFF6FF"/>
          </a:solidFill>
          <a:ln w="23813">
            <a:solidFill>
              <a:srgbClr val="1D4ED8"/>
            </a:solidFill>
          </a:ln>
        </p:spPr>
      </p:sp>
      <p:sp>
        <p:nvSpPr>
          <p:cNvPr id="15" name="object-15">
            <a:extLst>
              <a:ext uri="{FF2B5EF4-FFF2-40B4-BE49-F238E27FC236}">
                <a16:creationId xmlns:a16="http://schemas.microsoft.com/office/drawing/2014/main" id="{9F060316-B1C7-4CBE-A613-55B4F9DEE5FA}"/>
              </a:ext>
            </a:extLst>
          </p:cNvPr>
          <p:cNvSpPr>
            <a:spLocks noGrp="1"/>
          </p:cNvSpPr>
          <p:nvPr/>
        </p:nvSpPr>
        <p:spPr>
          <a:xfrm>
            <a:off x="60721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6" name="object-16">
            <a:extLst>
              <a:ext uri="{FF2B5EF4-FFF2-40B4-BE49-F238E27FC236}">
                <a16:creationId xmlns:a16="http://schemas.microsoft.com/office/drawing/2014/main" id="{F8E40272-90C5-4F01-AA0B-CD9AF8425638}"/>
              </a:ext>
            </a:extLst>
          </p:cNvPr>
          <p:cNvSpPr>
            <a:spLocks noGrp="1"/>
          </p:cNvSpPr>
          <p:nvPr/>
        </p:nvSpPr>
        <p:spPr>
          <a:xfrm>
            <a:off x="7262813" y="3095625"/>
            <a:ext cx="1190625" cy="1071563"/>
          </a:xfrm>
          <a:prstGeom prst="rect">
            <a:avLst/>
          </a:prstGeom>
          <a:solidFill>
            <a:srgbClr val="EFF6FF"/>
          </a:solidFill>
          <a:ln w="23813">
            <a:solidFill>
              <a:srgbClr val="1D4ED8"/>
            </a:solidFill>
          </a:ln>
        </p:spPr>
      </p:sp>
      <p:sp>
        <p:nvSpPr>
          <p:cNvPr id="17" name="object-17">
            <a:extLst>
              <a:ext uri="{FF2B5EF4-FFF2-40B4-BE49-F238E27FC236}">
                <a16:creationId xmlns:a16="http://schemas.microsoft.com/office/drawing/2014/main" id="{B8F5667A-6308-47BE-A687-239A65F8B1E1}"/>
              </a:ext>
            </a:extLst>
          </p:cNvPr>
          <p:cNvSpPr>
            <a:spLocks noGrp="1"/>
          </p:cNvSpPr>
          <p:nvPr/>
        </p:nvSpPr>
        <p:spPr>
          <a:xfrm>
            <a:off x="72628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8" name="object-18">
            <a:extLst>
              <a:ext uri="{FF2B5EF4-FFF2-40B4-BE49-F238E27FC236}">
                <a16:creationId xmlns:a16="http://schemas.microsoft.com/office/drawing/2014/main" id="{44111205-8A57-4017-9CED-2B03CAAA3E77}"/>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+ 24</a:t>
            </a:r>
          </a:p>
        </p:txBody>
      </p:sp>
      <p:sp>
        <p:nvSpPr>
          <p:cNvPr id="19" name="object-19">
            <a:extLst>
              <a:ext uri="{FF2B5EF4-FFF2-40B4-BE49-F238E27FC236}">
                <a16:creationId xmlns:a16="http://schemas.microsoft.com/office/drawing/2014/main" id="{E9E75801-6475-415D-BB42-275CAB88FF40}"/>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72</a:t>
            </a:r>
          </a:p>
        </p:txBody>
      </p:sp>
      <p:sp>
        <p:nvSpPr>
          <p:cNvPr id="20" name="object-20">
            <a:extLst>
              <a:ext uri="{FF2B5EF4-FFF2-40B4-BE49-F238E27FC236}">
                <a16:creationId xmlns:a16="http://schemas.microsoft.com/office/drawing/2014/main" id="{602F4489-C94A-4EA8-A363-5D6260ACE4C9}"/>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24 on both sides</a:t>
            </a:r>
          </a:p>
        </p:txBody>
      </p:sp>
      <p:sp>
        <p:nvSpPr>
          <p:cNvPr id="21" name="object-21">
            <a:extLst>
              <a:ext uri="{FF2B5EF4-FFF2-40B4-BE49-F238E27FC236}">
                <a16:creationId xmlns:a16="http://schemas.microsoft.com/office/drawing/2014/main" id="{5C74472A-827A-4969-ADDC-1D9AD75AA837}"/>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6x = 48</a:t>
            </a:r>
          </a:p>
        </p:txBody>
      </p:sp>
      <p:sp>
        <p:nvSpPr>
          <p:cNvPr id="22" name="object-22">
            <a:extLst>
              <a:ext uri="{FF2B5EF4-FFF2-40B4-BE49-F238E27FC236}">
                <a16:creationId xmlns:a16="http://schemas.microsoft.com/office/drawing/2014/main" id="{13BADD3C-DA7F-4587-A4B0-A89C8E087757}"/>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8</a:t>
            </a:r>
          </a:p>
        </p:txBody>
      </p:sp>
    </p:spTree>
    <p:extLst>
      <p:ext uri="{BB962C8B-B14F-4D97-AF65-F5344CB8AC3E}">
        <p14:creationId xmlns:p14="http://schemas.microsoft.com/office/powerpoint/2010/main" val="5076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2"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object-1">
            <a:extLst>
              <a:ext uri="{FF2B5EF4-FFF2-40B4-BE49-F238E27FC236}">
                <a16:creationId xmlns:a16="http://schemas.microsoft.com/office/drawing/2014/main" id="{DD16986B-4040-4F72-99A0-467E051B860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7A87571-C404-4A22-9C84-63D050068C2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CA30EB62-CB5D-4A2E-9190-FF76F893178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6x + 24 = 84.</a:t>
            </a:r>
          </a:p>
        </p:txBody>
      </p:sp>
      <p:sp>
        <p:nvSpPr>
          <p:cNvPr id="4" name="object-4">
            <a:extLst>
              <a:ext uri="{FF2B5EF4-FFF2-40B4-BE49-F238E27FC236}">
                <a16:creationId xmlns:a16="http://schemas.microsoft.com/office/drawing/2014/main" id="{C5FE2639-8454-4217-89AA-6BF3B8EFB6C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6A49A46-5491-45EC-9914-1782F31B656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6" name="object-6">
            <a:extLst>
              <a:ext uri="{FF2B5EF4-FFF2-40B4-BE49-F238E27FC236}">
                <a16:creationId xmlns:a16="http://schemas.microsoft.com/office/drawing/2014/main" id="{8CF1F4B6-AF98-4F42-8E46-7016C428E74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4F57A9FB-D377-4A02-A5BA-664638900910}"/>
              </a:ext>
            </a:extLst>
          </p:cNvPr>
          <p:cNvSpPr>
            <a:spLocks noGrp="1"/>
          </p:cNvSpPr>
          <p:nvPr/>
        </p:nvSpPr>
        <p:spPr>
          <a:xfrm>
            <a:off x="1309688" y="3095625"/>
            <a:ext cx="1190625" cy="1071563"/>
          </a:xfrm>
          <a:prstGeom prst="rect">
            <a:avLst/>
          </a:prstGeom>
          <a:solidFill>
            <a:srgbClr val="EFF6FF"/>
          </a:solidFill>
          <a:ln w="23813">
            <a:solidFill>
              <a:srgbClr val="1D4ED8"/>
            </a:solidFill>
          </a:ln>
        </p:spPr>
      </p:sp>
      <p:sp>
        <p:nvSpPr>
          <p:cNvPr id="8" name="object-8">
            <a:extLst>
              <a:ext uri="{FF2B5EF4-FFF2-40B4-BE49-F238E27FC236}">
                <a16:creationId xmlns:a16="http://schemas.microsoft.com/office/drawing/2014/main" id="{86D409FE-A6B0-492C-8C1D-E86663B42DFC}"/>
              </a:ext>
            </a:extLst>
          </p:cNvPr>
          <p:cNvSpPr>
            <a:spLocks noGrp="1"/>
          </p:cNvSpPr>
          <p:nvPr/>
        </p:nvSpPr>
        <p:spPr>
          <a:xfrm>
            <a:off x="13096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9" name="object-9">
            <a:extLst>
              <a:ext uri="{FF2B5EF4-FFF2-40B4-BE49-F238E27FC236}">
                <a16:creationId xmlns:a16="http://schemas.microsoft.com/office/drawing/2014/main" id="{2965CD5F-0113-4978-AE69-CFA16A8D2355}"/>
              </a:ext>
            </a:extLst>
          </p:cNvPr>
          <p:cNvSpPr>
            <a:spLocks noGrp="1"/>
          </p:cNvSpPr>
          <p:nvPr/>
        </p:nvSpPr>
        <p:spPr>
          <a:xfrm>
            <a:off x="2500313" y="3095625"/>
            <a:ext cx="1190625" cy="1071563"/>
          </a:xfrm>
          <a:prstGeom prst="rect">
            <a:avLst/>
          </a:prstGeom>
          <a:solidFill>
            <a:srgbClr val="EFF6FF"/>
          </a:solidFill>
          <a:ln w="23813">
            <a:solidFill>
              <a:srgbClr val="1D4ED8"/>
            </a:solidFill>
          </a:ln>
        </p:spPr>
      </p:sp>
      <p:sp>
        <p:nvSpPr>
          <p:cNvPr id="10" name="object-10">
            <a:extLst>
              <a:ext uri="{FF2B5EF4-FFF2-40B4-BE49-F238E27FC236}">
                <a16:creationId xmlns:a16="http://schemas.microsoft.com/office/drawing/2014/main" id="{BF7E2B8F-7411-4F48-A3AB-5F337AD8843E}"/>
              </a:ext>
            </a:extLst>
          </p:cNvPr>
          <p:cNvSpPr>
            <a:spLocks noGrp="1"/>
          </p:cNvSpPr>
          <p:nvPr/>
        </p:nvSpPr>
        <p:spPr>
          <a:xfrm>
            <a:off x="25003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1" name="object-11">
            <a:extLst>
              <a:ext uri="{FF2B5EF4-FFF2-40B4-BE49-F238E27FC236}">
                <a16:creationId xmlns:a16="http://schemas.microsoft.com/office/drawing/2014/main" id="{CCE18C43-5A20-4F97-BCE4-FB245357D95A}"/>
              </a:ext>
            </a:extLst>
          </p:cNvPr>
          <p:cNvSpPr>
            <a:spLocks noGrp="1"/>
          </p:cNvSpPr>
          <p:nvPr/>
        </p:nvSpPr>
        <p:spPr>
          <a:xfrm>
            <a:off x="3690938" y="3095625"/>
            <a:ext cx="1190625" cy="1071563"/>
          </a:xfrm>
          <a:prstGeom prst="rect">
            <a:avLst/>
          </a:prstGeom>
          <a:solidFill>
            <a:srgbClr val="EFF6FF"/>
          </a:solidFill>
          <a:ln w="23813">
            <a:solidFill>
              <a:srgbClr val="1D4ED8"/>
            </a:solidFill>
          </a:ln>
        </p:spPr>
      </p:sp>
      <p:sp>
        <p:nvSpPr>
          <p:cNvPr id="12" name="object-12">
            <a:extLst>
              <a:ext uri="{FF2B5EF4-FFF2-40B4-BE49-F238E27FC236}">
                <a16:creationId xmlns:a16="http://schemas.microsoft.com/office/drawing/2014/main" id="{1CB3BE35-1CFE-469E-B05A-23EBE81DBC27}"/>
              </a:ext>
            </a:extLst>
          </p:cNvPr>
          <p:cNvSpPr>
            <a:spLocks noGrp="1"/>
          </p:cNvSpPr>
          <p:nvPr/>
        </p:nvSpPr>
        <p:spPr>
          <a:xfrm>
            <a:off x="369093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3" name="object-13">
            <a:extLst>
              <a:ext uri="{FF2B5EF4-FFF2-40B4-BE49-F238E27FC236}">
                <a16:creationId xmlns:a16="http://schemas.microsoft.com/office/drawing/2014/main" id="{BDA1A5DF-E1DF-4626-8C7A-F2D4CF1A8079}"/>
              </a:ext>
            </a:extLst>
          </p:cNvPr>
          <p:cNvSpPr>
            <a:spLocks noGrp="1"/>
          </p:cNvSpPr>
          <p:nvPr/>
        </p:nvSpPr>
        <p:spPr>
          <a:xfrm>
            <a:off x="4881563" y="3095625"/>
            <a:ext cx="1190625" cy="1071563"/>
          </a:xfrm>
          <a:prstGeom prst="rect">
            <a:avLst/>
          </a:prstGeom>
          <a:solidFill>
            <a:srgbClr val="EFF6FF"/>
          </a:solidFill>
          <a:ln w="23813">
            <a:solidFill>
              <a:srgbClr val="1D4ED8"/>
            </a:solidFill>
          </a:ln>
        </p:spPr>
      </p:sp>
      <p:sp>
        <p:nvSpPr>
          <p:cNvPr id="14" name="object-14">
            <a:extLst>
              <a:ext uri="{FF2B5EF4-FFF2-40B4-BE49-F238E27FC236}">
                <a16:creationId xmlns:a16="http://schemas.microsoft.com/office/drawing/2014/main" id="{8795FB72-7CC1-4C38-9AEC-7B53A4F87A21}"/>
              </a:ext>
            </a:extLst>
          </p:cNvPr>
          <p:cNvSpPr>
            <a:spLocks noGrp="1"/>
          </p:cNvSpPr>
          <p:nvPr/>
        </p:nvSpPr>
        <p:spPr>
          <a:xfrm>
            <a:off x="488156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5" name="object-15">
            <a:extLst>
              <a:ext uri="{FF2B5EF4-FFF2-40B4-BE49-F238E27FC236}">
                <a16:creationId xmlns:a16="http://schemas.microsoft.com/office/drawing/2014/main" id="{B5A85A8C-6A50-4347-8FAC-4648B17C9C21}"/>
              </a:ext>
            </a:extLst>
          </p:cNvPr>
          <p:cNvSpPr>
            <a:spLocks noGrp="1"/>
          </p:cNvSpPr>
          <p:nvPr/>
        </p:nvSpPr>
        <p:spPr>
          <a:xfrm>
            <a:off x="6072188" y="3095625"/>
            <a:ext cx="1190625" cy="1071563"/>
          </a:xfrm>
          <a:prstGeom prst="rect">
            <a:avLst/>
          </a:prstGeom>
          <a:solidFill>
            <a:srgbClr val="EFF6FF"/>
          </a:solidFill>
          <a:ln w="23813">
            <a:solidFill>
              <a:srgbClr val="1D4ED8"/>
            </a:solidFill>
          </a:ln>
        </p:spPr>
      </p:sp>
      <p:sp>
        <p:nvSpPr>
          <p:cNvPr id="16" name="object-16">
            <a:extLst>
              <a:ext uri="{FF2B5EF4-FFF2-40B4-BE49-F238E27FC236}">
                <a16:creationId xmlns:a16="http://schemas.microsoft.com/office/drawing/2014/main" id="{136920EB-008D-4E1F-9621-8D368A4199E2}"/>
              </a:ext>
            </a:extLst>
          </p:cNvPr>
          <p:cNvSpPr>
            <a:spLocks noGrp="1"/>
          </p:cNvSpPr>
          <p:nvPr/>
        </p:nvSpPr>
        <p:spPr>
          <a:xfrm>
            <a:off x="60721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7" name="object-17">
            <a:extLst>
              <a:ext uri="{FF2B5EF4-FFF2-40B4-BE49-F238E27FC236}">
                <a16:creationId xmlns:a16="http://schemas.microsoft.com/office/drawing/2014/main" id="{6F382EC9-DBED-4957-A744-634C1B7BD05E}"/>
              </a:ext>
            </a:extLst>
          </p:cNvPr>
          <p:cNvSpPr>
            <a:spLocks noGrp="1"/>
          </p:cNvSpPr>
          <p:nvPr/>
        </p:nvSpPr>
        <p:spPr>
          <a:xfrm>
            <a:off x="7262813" y="3095625"/>
            <a:ext cx="1190625" cy="1071563"/>
          </a:xfrm>
          <a:prstGeom prst="rect">
            <a:avLst/>
          </a:prstGeom>
          <a:solidFill>
            <a:srgbClr val="EFF6FF"/>
          </a:solidFill>
          <a:ln w="23813">
            <a:solidFill>
              <a:srgbClr val="1D4ED8"/>
            </a:solidFill>
          </a:ln>
        </p:spPr>
      </p:sp>
      <p:sp>
        <p:nvSpPr>
          <p:cNvPr id="18" name="object-18">
            <a:extLst>
              <a:ext uri="{FF2B5EF4-FFF2-40B4-BE49-F238E27FC236}">
                <a16:creationId xmlns:a16="http://schemas.microsoft.com/office/drawing/2014/main" id="{3EA7D126-64FB-49E5-A069-D709F3F8DB7A}"/>
              </a:ext>
            </a:extLst>
          </p:cNvPr>
          <p:cNvSpPr>
            <a:spLocks noGrp="1"/>
          </p:cNvSpPr>
          <p:nvPr/>
        </p:nvSpPr>
        <p:spPr>
          <a:xfrm>
            <a:off x="72628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9" name="object-19">
            <a:extLst>
              <a:ext uri="{FF2B5EF4-FFF2-40B4-BE49-F238E27FC236}">
                <a16:creationId xmlns:a16="http://schemas.microsoft.com/office/drawing/2014/main" id="{F499F00B-FBBA-48B7-9D68-46415B3F8810}"/>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+ 24</a:t>
            </a:r>
          </a:p>
        </p:txBody>
      </p:sp>
      <p:sp>
        <p:nvSpPr>
          <p:cNvPr id="20" name="object-20">
            <a:extLst>
              <a:ext uri="{FF2B5EF4-FFF2-40B4-BE49-F238E27FC236}">
                <a16:creationId xmlns:a16="http://schemas.microsoft.com/office/drawing/2014/main" id="{2DA42660-2396-4ECC-B068-80A6F50984A1}"/>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84</a:t>
            </a:r>
          </a:p>
        </p:txBody>
      </p:sp>
      <p:sp>
        <p:nvSpPr>
          <p:cNvPr id="21" name="object-21">
            <a:extLst>
              <a:ext uri="{FF2B5EF4-FFF2-40B4-BE49-F238E27FC236}">
                <a16:creationId xmlns:a16="http://schemas.microsoft.com/office/drawing/2014/main" id="{83938A3C-07F8-46CE-8796-875626826B7D}"/>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24 on both sides</a:t>
            </a:r>
          </a:p>
        </p:txBody>
      </p:sp>
      <p:sp>
        <p:nvSpPr>
          <p:cNvPr id="22" name="object-22">
            <a:extLst>
              <a:ext uri="{FF2B5EF4-FFF2-40B4-BE49-F238E27FC236}">
                <a16:creationId xmlns:a16="http://schemas.microsoft.com/office/drawing/2014/main" id="{A8EBB5E4-3A53-49FC-B287-86AF8994D9DF}"/>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6x = 60</a:t>
            </a:r>
          </a:p>
        </p:txBody>
      </p:sp>
      <p:sp>
        <p:nvSpPr>
          <p:cNvPr id="23" name="object-23">
            <a:extLst>
              <a:ext uri="{FF2B5EF4-FFF2-40B4-BE49-F238E27FC236}">
                <a16:creationId xmlns:a16="http://schemas.microsoft.com/office/drawing/2014/main" id="{ECC65B0E-FA8F-4357-A97C-2D3DA4BDE373}"/>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10</a:t>
            </a:r>
          </a:p>
        </p:txBody>
      </p:sp>
    </p:spTree>
    <p:extLst>
      <p:ext uri="{BB962C8B-B14F-4D97-AF65-F5344CB8AC3E}">
        <p14:creationId xmlns:p14="http://schemas.microsoft.com/office/powerpoint/2010/main" val="36002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3"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object-1">
            <a:extLst>
              <a:ext uri="{FF2B5EF4-FFF2-40B4-BE49-F238E27FC236}">
                <a16:creationId xmlns:a16="http://schemas.microsoft.com/office/drawing/2014/main" id="{44F50A2B-AD53-4AA4-A661-628AA40505A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87F0973-5429-4622-A637-C88AE5A07FDE}"/>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6x + 24 = 96.</a:t>
            </a:r>
          </a:p>
        </p:txBody>
      </p:sp>
      <p:sp>
        <p:nvSpPr>
          <p:cNvPr id="3" name="object-3">
            <a:extLst>
              <a:ext uri="{FF2B5EF4-FFF2-40B4-BE49-F238E27FC236}">
                <a16:creationId xmlns:a16="http://schemas.microsoft.com/office/drawing/2014/main" id="{95BE78FE-0B49-47B9-ACD4-36F5E48F6D4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A6840468-69C6-40F2-B744-C93FCAF1F71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5" name="object-5">
            <a:extLst>
              <a:ext uri="{FF2B5EF4-FFF2-40B4-BE49-F238E27FC236}">
                <a16:creationId xmlns:a16="http://schemas.microsoft.com/office/drawing/2014/main" id="{9CB2438E-B3AF-40DA-B147-4F310658045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5A40078F-ADB2-420B-B0AB-B0B80080B2F0}"/>
              </a:ext>
            </a:extLst>
          </p:cNvPr>
          <p:cNvSpPr>
            <a:spLocks noGrp="1"/>
          </p:cNvSpPr>
          <p:nvPr/>
        </p:nvSpPr>
        <p:spPr>
          <a:xfrm>
            <a:off x="1309688" y="3095625"/>
            <a:ext cx="1190625" cy="1071563"/>
          </a:xfrm>
          <a:prstGeom prst="rect">
            <a:avLst/>
          </a:prstGeom>
          <a:solidFill>
            <a:srgbClr val="EFF6FF"/>
          </a:solidFill>
          <a:ln w="23813">
            <a:solidFill>
              <a:srgbClr val="1D4ED8"/>
            </a:solidFill>
          </a:ln>
        </p:spPr>
      </p:sp>
      <p:sp>
        <p:nvSpPr>
          <p:cNvPr id="7" name="object-7">
            <a:extLst>
              <a:ext uri="{FF2B5EF4-FFF2-40B4-BE49-F238E27FC236}">
                <a16:creationId xmlns:a16="http://schemas.microsoft.com/office/drawing/2014/main" id="{47EED84D-946D-4EB2-890D-E09BA0495EC1}"/>
              </a:ext>
            </a:extLst>
          </p:cNvPr>
          <p:cNvSpPr>
            <a:spLocks noGrp="1"/>
          </p:cNvSpPr>
          <p:nvPr/>
        </p:nvSpPr>
        <p:spPr>
          <a:xfrm>
            <a:off x="13096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8" name="object-8">
            <a:extLst>
              <a:ext uri="{FF2B5EF4-FFF2-40B4-BE49-F238E27FC236}">
                <a16:creationId xmlns:a16="http://schemas.microsoft.com/office/drawing/2014/main" id="{075E0F75-55AD-480F-B2B2-750B51F6368B}"/>
              </a:ext>
            </a:extLst>
          </p:cNvPr>
          <p:cNvSpPr>
            <a:spLocks noGrp="1"/>
          </p:cNvSpPr>
          <p:nvPr/>
        </p:nvSpPr>
        <p:spPr>
          <a:xfrm>
            <a:off x="2500313" y="3095625"/>
            <a:ext cx="1190625" cy="1071563"/>
          </a:xfrm>
          <a:prstGeom prst="rect">
            <a:avLst/>
          </a:prstGeom>
          <a:solidFill>
            <a:srgbClr val="EFF6FF"/>
          </a:solidFill>
          <a:ln w="23813">
            <a:solidFill>
              <a:srgbClr val="1D4ED8"/>
            </a:solidFill>
          </a:ln>
        </p:spPr>
      </p:sp>
      <p:sp>
        <p:nvSpPr>
          <p:cNvPr id="9" name="object-9">
            <a:extLst>
              <a:ext uri="{FF2B5EF4-FFF2-40B4-BE49-F238E27FC236}">
                <a16:creationId xmlns:a16="http://schemas.microsoft.com/office/drawing/2014/main" id="{BE40B9B9-A239-41FD-921F-9459AD7DE218}"/>
              </a:ext>
            </a:extLst>
          </p:cNvPr>
          <p:cNvSpPr>
            <a:spLocks noGrp="1"/>
          </p:cNvSpPr>
          <p:nvPr/>
        </p:nvSpPr>
        <p:spPr>
          <a:xfrm>
            <a:off x="25003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0" name="object-10">
            <a:extLst>
              <a:ext uri="{FF2B5EF4-FFF2-40B4-BE49-F238E27FC236}">
                <a16:creationId xmlns:a16="http://schemas.microsoft.com/office/drawing/2014/main" id="{B3B8C6CD-5915-4009-8515-EA95D70F67A0}"/>
              </a:ext>
            </a:extLst>
          </p:cNvPr>
          <p:cNvSpPr>
            <a:spLocks noGrp="1"/>
          </p:cNvSpPr>
          <p:nvPr/>
        </p:nvSpPr>
        <p:spPr>
          <a:xfrm>
            <a:off x="3690938" y="3095625"/>
            <a:ext cx="1190625" cy="1071563"/>
          </a:xfrm>
          <a:prstGeom prst="rect">
            <a:avLst/>
          </a:prstGeom>
          <a:solidFill>
            <a:srgbClr val="EFF6FF"/>
          </a:solidFill>
          <a:ln w="23813">
            <a:solidFill>
              <a:srgbClr val="1D4ED8"/>
            </a:solidFill>
          </a:ln>
        </p:spPr>
      </p:sp>
      <p:sp>
        <p:nvSpPr>
          <p:cNvPr id="11" name="object-11">
            <a:extLst>
              <a:ext uri="{FF2B5EF4-FFF2-40B4-BE49-F238E27FC236}">
                <a16:creationId xmlns:a16="http://schemas.microsoft.com/office/drawing/2014/main" id="{E79BE850-4CA6-4F7E-A8E1-670E38A91237}"/>
              </a:ext>
            </a:extLst>
          </p:cNvPr>
          <p:cNvSpPr>
            <a:spLocks noGrp="1"/>
          </p:cNvSpPr>
          <p:nvPr/>
        </p:nvSpPr>
        <p:spPr>
          <a:xfrm>
            <a:off x="369093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2" name="object-12">
            <a:extLst>
              <a:ext uri="{FF2B5EF4-FFF2-40B4-BE49-F238E27FC236}">
                <a16:creationId xmlns:a16="http://schemas.microsoft.com/office/drawing/2014/main" id="{2174DCB5-B6CF-4203-A1D1-7AD9BB4636AB}"/>
              </a:ext>
            </a:extLst>
          </p:cNvPr>
          <p:cNvSpPr>
            <a:spLocks noGrp="1"/>
          </p:cNvSpPr>
          <p:nvPr/>
        </p:nvSpPr>
        <p:spPr>
          <a:xfrm>
            <a:off x="4881563" y="3095625"/>
            <a:ext cx="1190625" cy="1071563"/>
          </a:xfrm>
          <a:prstGeom prst="rect">
            <a:avLst/>
          </a:prstGeom>
          <a:solidFill>
            <a:srgbClr val="EFF6FF"/>
          </a:solidFill>
          <a:ln w="23813">
            <a:solidFill>
              <a:srgbClr val="1D4ED8"/>
            </a:solidFill>
          </a:ln>
        </p:spPr>
      </p:sp>
      <p:sp>
        <p:nvSpPr>
          <p:cNvPr id="13" name="object-13">
            <a:extLst>
              <a:ext uri="{FF2B5EF4-FFF2-40B4-BE49-F238E27FC236}">
                <a16:creationId xmlns:a16="http://schemas.microsoft.com/office/drawing/2014/main" id="{CDA9F6A7-C00B-4E02-88BA-88B42FF7D940}"/>
              </a:ext>
            </a:extLst>
          </p:cNvPr>
          <p:cNvSpPr>
            <a:spLocks noGrp="1"/>
          </p:cNvSpPr>
          <p:nvPr/>
        </p:nvSpPr>
        <p:spPr>
          <a:xfrm>
            <a:off x="488156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4" name="object-14">
            <a:extLst>
              <a:ext uri="{FF2B5EF4-FFF2-40B4-BE49-F238E27FC236}">
                <a16:creationId xmlns:a16="http://schemas.microsoft.com/office/drawing/2014/main" id="{62D88DF3-E7FF-4EB2-BCB4-341800EA4175}"/>
              </a:ext>
            </a:extLst>
          </p:cNvPr>
          <p:cNvSpPr>
            <a:spLocks noGrp="1"/>
          </p:cNvSpPr>
          <p:nvPr/>
        </p:nvSpPr>
        <p:spPr>
          <a:xfrm>
            <a:off x="6072188" y="3095625"/>
            <a:ext cx="1190625" cy="1071563"/>
          </a:xfrm>
          <a:prstGeom prst="rect">
            <a:avLst/>
          </a:prstGeom>
          <a:solidFill>
            <a:srgbClr val="EFF6FF"/>
          </a:solidFill>
          <a:ln w="23813">
            <a:solidFill>
              <a:srgbClr val="1D4ED8"/>
            </a:solidFill>
          </a:ln>
        </p:spPr>
      </p:sp>
      <p:sp>
        <p:nvSpPr>
          <p:cNvPr id="15" name="object-15">
            <a:extLst>
              <a:ext uri="{FF2B5EF4-FFF2-40B4-BE49-F238E27FC236}">
                <a16:creationId xmlns:a16="http://schemas.microsoft.com/office/drawing/2014/main" id="{68892105-65F3-4682-9C10-1D41EFFD9E17}"/>
              </a:ext>
            </a:extLst>
          </p:cNvPr>
          <p:cNvSpPr>
            <a:spLocks noGrp="1"/>
          </p:cNvSpPr>
          <p:nvPr/>
        </p:nvSpPr>
        <p:spPr>
          <a:xfrm>
            <a:off x="60721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6" name="object-16">
            <a:extLst>
              <a:ext uri="{FF2B5EF4-FFF2-40B4-BE49-F238E27FC236}">
                <a16:creationId xmlns:a16="http://schemas.microsoft.com/office/drawing/2014/main" id="{9F33C0DB-F974-4A4E-B4B6-52432E2EA227}"/>
              </a:ext>
            </a:extLst>
          </p:cNvPr>
          <p:cNvSpPr>
            <a:spLocks noGrp="1"/>
          </p:cNvSpPr>
          <p:nvPr/>
        </p:nvSpPr>
        <p:spPr>
          <a:xfrm>
            <a:off x="7262813" y="3095625"/>
            <a:ext cx="1190625" cy="1071563"/>
          </a:xfrm>
          <a:prstGeom prst="rect">
            <a:avLst/>
          </a:prstGeom>
          <a:solidFill>
            <a:srgbClr val="EFF6FF"/>
          </a:solidFill>
          <a:ln w="23813">
            <a:solidFill>
              <a:srgbClr val="1D4ED8"/>
            </a:solidFill>
          </a:ln>
        </p:spPr>
      </p:sp>
      <p:sp>
        <p:nvSpPr>
          <p:cNvPr id="17" name="object-17">
            <a:extLst>
              <a:ext uri="{FF2B5EF4-FFF2-40B4-BE49-F238E27FC236}">
                <a16:creationId xmlns:a16="http://schemas.microsoft.com/office/drawing/2014/main" id="{10DFA816-40B8-4C2C-8921-F9DCF61E6685}"/>
              </a:ext>
            </a:extLst>
          </p:cNvPr>
          <p:cNvSpPr>
            <a:spLocks noGrp="1"/>
          </p:cNvSpPr>
          <p:nvPr/>
        </p:nvSpPr>
        <p:spPr>
          <a:xfrm>
            <a:off x="72628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8" name="object-18">
            <a:extLst>
              <a:ext uri="{FF2B5EF4-FFF2-40B4-BE49-F238E27FC236}">
                <a16:creationId xmlns:a16="http://schemas.microsoft.com/office/drawing/2014/main" id="{56650D0A-34A8-4EBD-8A61-9BBB17AEAE22}"/>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+ 24</a:t>
            </a:r>
          </a:p>
        </p:txBody>
      </p:sp>
      <p:sp>
        <p:nvSpPr>
          <p:cNvPr id="19" name="object-19">
            <a:extLst>
              <a:ext uri="{FF2B5EF4-FFF2-40B4-BE49-F238E27FC236}">
                <a16:creationId xmlns:a16="http://schemas.microsoft.com/office/drawing/2014/main" id="{04A1440A-FFA5-4EE6-B642-CE098887FBF5}"/>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96</a:t>
            </a:r>
          </a:p>
        </p:txBody>
      </p:sp>
      <p:sp>
        <p:nvSpPr>
          <p:cNvPr id="20" name="object-20">
            <a:extLst>
              <a:ext uri="{FF2B5EF4-FFF2-40B4-BE49-F238E27FC236}">
                <a16:creationId xmlns:a16="http://schemas.microsoft.com/office/drawing/2014/main" id="{94D771DD-5ECF-4A71-8BA5-1E9E6CEBAF98}"/>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24 on both sides</a:t>
            </a:r>
          </a:p>
        </p:txBody>
      </p:sp>
      <p:sp>
        <p:nvSpPr>
          <p:cNvPr id="21" name="object-21">
            <a:extLst>
              <a:ext uri="{FF2B5EF4-FFF2-40B4-BE49-F238E27FC236}">
                <a16:creationId xmlns:a16="http://schemas.microsoft.com/office/drawing/2014/main" id="{6169892F-736E-4FB4-86A2-4504F46FB209}"/>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6x = 72</a:t>
            </a:r>
          </a:p>
        </p:txBody>
      </p:sp>
      <p:sp>
        <p:nvSpPr>
          <p:cNvPr id="22" name="object-22">
            <a:extLst>
              <a:ext uri="{FF2B5EF4-FFF2-40B4-BE49-F238E27FC236}">
                <a16:creationId xmlns:a16="http://schemas.microsoft.com/office/drawing/2014/main" id="{4148785A-EBCF-43B8-8A4D-EF71DB571944}"/>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12</a:t>
            </a:r>
          </a:p>
        </p:txBody>
      </p:sp>
    </p:spTree>
    <p:extLst>
      <p:ext uri="{BB962C8B-B14F-4D97-AF65-F5344CB8AC3E}">
        <p14:creationId xmlns:p14="http://schemas.microsoft.com/office/powerpoint/2010/main" val="84700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2"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object-1">
            <a:extLst>
              <a:ext uri="{FF2B5EF4-FFF2-40B4-BE49-F238E27FC236}">
                <a16:creationId xmlns:a16="http://schemas.microsoft.com/office/drawing/2014/main" id="{73E1D3CB-EE7D-4E03-BA61-C2F871AC981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DE4DAB23-D147-4881-9A62-C1615CAF38BB}"/>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9798A81-3D9E-488B-8AC8-D52AD82A6AA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Solve 6x + 24 = 108.</a:t>
            </a:r>
          </a:p>
        </p:txBody>
      </p:sp>
      <p:sp>
        <p:nvSpPr>
          <p:cNvPr id="4" name="object-4">
            <a:extLst>
              <a:ext uri="{FF2B5EF4-FFF2-40B4-BE49-F238E27FC236}">
                <a16:creationId xmlns:a16="http://schemas.microsoft.com/office/drawing/2014/main" id="{29DF2854-9C41-4DD2-838D-FD33A0FC9D8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1E284C8B-41C5-4DB1-9F0F-42C15DB1468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6" name="object-6">
            <a:extLst>
              <a:ext uri="{FF2B5EF4-FFF2-40B4-BE49-F238E27FC236}">
                <a16:creationId xmlns:a16="http://schemas.microsoft.com/office/drawing/2014/main" id="{E2F9A4C5-6DF7-4064-9E1C-2257E626AEA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30429899-4A46-4C3F-9A09-92402960C17B}"/>
              </a:ext>
            </a:extLst>
          </p:cNvPr>
          <p:cNvSpPr>
            <a:spLocks noGrp="1"/>
          </p:cNvSpPr>
          <p:nvPr/>
        </p:nvSpPr>
        <p:spPr>
          <a:xfrm>
            <a:off x="1309688" y="3095625"/>
            <a:ext cx="1190625" cy="1071563"/>
          </a:xfrm>
          <a:prstGeom prst="rect">
            <a:avLst/>
          </a:prstGeom>
          <a:solidFill>
            <a:srgbClr val="EFF6FF"/>
          </a:solidFill>
          <a:ln w="23813">
            <a:solidFill>
              <a:srgbClr val="1D4ED8"/>
            </a:solidFill>
          </a:ln>
        </p:spPr>
      </p:sp>
      <p:sp>
        <p:nvSpPr>
          <p:cNvPr id="8" name="object-8">
            <a:extLst>
              <a:ext uri="{FF2B5EF4-FFF2-40B4-BE49-F238E27FC236}">
                <a16:creationId xmlns:a16="http://schemas.microsoft.com/office/drawing/2014/main" id="{3CB98B6D-5F06-4D97-8C6F-C9D5D5586F2F}"/>
              </a:ext>
            </a:extLst>
          </p:cNvPr>
          <p:cNvSpPr>
            <a:spLocks noGrp="1"/>
          </p:cNvSpPr>
          <p:nvPr/>
        </p:nvSpPr>
        <p:spPr>
          <a:xfrm>
            <a:off x="13096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9" name="object-9">
            <a:extLst>
              <a:ext uri="{FF2B5EF4-FFF2-40B4-BE49-F238E27FC236}">
                <a16:creationId xmlns:a16="http://schemas.microsoft.com/office/drawing/2014/main" id="{1E8BBAA2-A759-499B-9F23-D64BAA915DFC}"/>
              </a:ext>
            </a:extLst>
          </p:cNvPr>
          <p:cNvSpPr>
            <a:spLocks noGrp="1"/>
          </p:cNvSpPr>
          <p:nvPr/>
        </p:nvSpPr>
        <p:spPr>
          <a:xfrm>
            <a:off x="2500313" y="3095625"/>
            <a:ext cx="1190625" cy="1071563"/>
          </a:xfrm>
          <a:prstGeom prst="rect">
            <a:avLst/>
          </a:prstGeom>
          <a:solidFill>
            <a:srgbClr val="EFF6FF"/>
          </a:solidFill>
          <a:ln w="23813">
            <a:solidFill>
              <a:srgbClr val="1D4ED8"/>
            </a:solidFill>
          </a:ln>
        </p:spPr>
      </p:sp>
      <p:sp>
        <p:nvSpPr>
          <p:cNvPr id="10" name="object-10">
            <a:extLst>
              <a:ext uri="{FF2B5EF4-FFF2-40B4-BE49-F238E27FC236}">
                <a16:creationId xmlns:a16="http://schemas.microsoft.com/office/drawing/2014/main" id="{638C2D3A-B47E-4FAD-BA71-5C67646B8753}"/>
              </a:ext>
            </a:extLst>
          </p:cNvPr>
          <p:cNvSpPr>
            <a:spLocks noGrp="1"/>
          </p:cNvSpPr>
          <p:nvPr/>
        </p:nvSpPr>
        <p:spPr>
          <a:xfrm>
            <a:off x="25003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1" name="object-11">
            <a:extLst>
              <a:ext uri="{FF2B5EF4-FFF2-40B4-BE49-F238E27FC236}">
                <a16:creationId xmlns:a16="http://schemas.microsoft.com/office/drawing/2014/main" id="{3D71AC30-EDDC-4C35-B5C1-982F332805D5}"/>
              </a:ext>
            </a:extLst>
          </p:cNvPr>
          <p:cNvSpPr>
            <a:spLocks noGrp="1"/>
          </p:cNvSpPr>
          <p:nvPr/>
        </p:nvSpPr>
        <p:spPr>
          <a:xfrm>
            <a:off x="3690938" y="3095625"/>
            <a:ext cx="1190625" cy="1071563"/>
          </a:xfrm>
          <a:prstGeom prst="rect">
            <a:avLst/>
          </a:prstGeom>
          <a:solidFill>
            <a:srgbClr val="EFF6FF"/>
          </a:solidFill>
          <a:ln w="23813">
            <a:solidFill>
              <a:srgbClr val="1D4ED8"/>
            </a:solidFill>
          </a:ln>
        </p:spPr>
      </p:sp>
      <p:sp>
        <p:nvSpPr>
          <p:cNvPr id="12" name="object-12">
            <a:extLst>
              <a:ext uri="{FF2B5EF4-FFF2-40B4-BE49-F238E27FC236}">
                <a16:creationId xmlns:a16="http://schemas.microsoft.com/office/drawing/2014/main" id="{B41EF1E2-5151-4CCC-AA93-0B7E07A57FDC}"/>
              </a:ext>
            </a:extLst>
          </p:cNvPr>
          <p:cNvSpPr>
            <a:spLocks noGrp="1"/>
          </p:cNvSpPr>
          <p:nvPr/>
        </p:nvSpPr>
        <p:spPr>
          <a:xfrm>
            <a:off x="369093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3" name="object-13">
            <a:extLst>
              <a:ext uri="{FF2B5EF4-FFF2-40B4-BE49-F238E27FC236}">
                <a16:creationId xmlns:a16="http://schemas.microsoft.com/office/drawing/2014/main" id="{8E94614D-B676-46C4-B8F1-834114A761FD}"/>
              </a:ext>
            </a:extLst>
          </p:cNvPr>
          <p:cNvSpPr>
            <a:spLocks noGrp="1"/>
          </p:cNvSpPr>
          <p:nvPr/>
        </p:nvSpPr>
        <p:spPr>
          <a:xfrm>
            <a:off x="4881563" y="3095625"/>
            <a:ext cx="1190625" cy="1071563"/>
          </a:xfrm>
          <a:prstGeom prst="rect">
            <a:avLst/>
          </a:prstGeom>
          <a:solidFill>
            <a:srgbClr val="EFF6FF"/>
          </a:solidFill>
          <a:ln w="23813">
            <a:solidFill>
              <a:srgbClr val="1D4ED8"/>
            </a:solidFill>
          </a:ln>
        </p:spPr>
      </p:sp>
      <p:sp>
        <p:nvSpPr>
          <p:cNvPr id="14" name="object-14">
            <a:extLst>
              <a:ext uri="{FF2B5EF4-FFF2-40B4-BE49-F238E27FC236}">
                <a16:creationId xmlns:a16="http://schemas.microsoft.com/office/drawing/2014/main" id="{AC98F0F6-094F-45C2-B46B-8508E813BCA9}"/>
              </a:ext>
            </a:extLst>
          </p:cNvPr>
          <p:cNvSpPr>
            <a:spLocks noGrp="1"/>
          </p:cNvSpPr>
          <p:nvPr/>
        </p:nvSpPr>
        <p:spPr>
          <a:xfrm>
            <a:off x="488156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5" name="object-15">
            <a:extLst>
              <a:ext uri="{FF2B5EF4-FFF2-40B4-BE49-F238E27FC236}">
                <a16:creationId xmlns:a16="http://schemas.microsoft.com/office/drawing/2014/main" id="{98CCBD61-A833-40AA-B128-3277CF64A1D3}"/>
              </a:ext>
            </a:extLst>
          </p:cNvPr>
          <p:cNvSpPr>
            <a:spLocks noGrp="1"/>
          </p:cNvSpPr>
          <p:nvPr/>
        </p:nvSpPr>
        <p:spPr>
          <a:xfrm>
            <a:off x="6072188" y="3095625"/>
            <a:ext cx="1190625" cy="1071563"/>
          </a:xfrm>
          <a:prstGeom prst="rect">
            <a:avLst/>
          </a:prstGeom>
          <a:solidFill>
            <a:srgbClr val="EFF6FF"/>
          </a:solidFill>
          <a:ln w="23813">
            <a:solidFill>
              <a:srgbClr val="1D4ED8"/>
            </a:solidFill>
          </a:ln>
        </p:spPr>
      </p:sp>
      <p:sp>
        <p:nvSpPr>
          <p:cNvPr id="16" name="object-16">
            <a:extLst>
              <a:ext uri="{FF2B5EF4-FFF2-40B4-BE49-F238E27FC236}">
                <a16:creationId xmlns:a16="http://schemas.microsoft.com/office/drawing/2014/main" id="{DEB98E31-D8A9-4EF0-917F-8E91B764E82F}"/>
              </a:ext>
            </a:extLst>
          </p:cNvPr>
          <p:cNvSpPr>
            <a:spLocks noGrp="1"/>
          </p:cNvSpPr>
          <p:nvPr/>
        </p:nvSpPr>
        <p:spPr>
          <a:xfrm>
            <a:off x="6072188"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7" name="object-17">
            <a:extLst>
              <a:ext uri="{FF2B5EF4-FFF2-40B4-BE49-F238E27FC236}">
                <a16:creationId xmlns:a16="http://schemas.microsoft.com/office/drawing/2014/main" id="{61C9BC00-73D5-4A2B-91B9-E3E09CEF6817}"/>
              </a:ext>
            </a:extLst>
          </p:cNvPr>
          <p:cNvSpPr>
            <a:spLocks noGrp="1"/>
          </p:cNvSpPr>
          <p:nvPr/>
        </p:nvSpPr>
        <p:spPr>
          <a:xfrm>
            <a:off x="7262813" y="3095625"/>
            <a:ext cx="1190625" cy="1071563"/>
          </a:xfrm>
          <a:prstGeom prst="rect">
            <a:avLst/>
          </a:prstGeom>
          <a:solidFill>
            <a:srgbClr val="EFF6FF"/>
          </a:solidFill>
          <a:ln w="23813">
            <a:solidFill>
              <a:srgbClr val="1D4ED8"/>
            </a:solidFill>
          </a:ln>
        </p:spPr>
      </p:sp>
      <p:sp>
        <p:nvSpPr>
          <p:cNvPr id="18" name="object-18">
            <a:extLst>
              <a:ext uri="{FF2B5EF4-FFF2-40B4-BE49-F238E27FC236}">
                <a16:creationId xmlns:a16="http://schemas.microsoft.com/office/drawing/2014/main" id="{06782B9B-06BF-4CAE-8445-2DBEE848AF9C}"/>
              </a:ext>
            </a:extLst>
          </p:cNvPr>
          <p:cNvSpPr>
            <a:spLocks noGrp="1"/>
          </p:cNvSpPr>
          <p:nvPr/>
        </p:nvSpPr>
        <p:spPr>
          <a:xfrm>
            <a:off x="7262813" y="3178969"/>
            <a:ext cx="1190625" cy="833438"/>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x</a:t>
            </a:r>
          </a:p>
        </p:txBody>
      </p:sp>
      <p:sp>
        <p:nvSpPr>
          <p:cNvPr id="19" name="object-19">
            <a:extLst>
              <a:ext uri="{FF2B5EF4-FFF2-40B4-BE49-F238E27FC236}">
                <a16:creationId xmlns:a16="http://schemas.microsoft.com/office/drawing/2014/main" id="{E6A8716F-ABB6-46FE-829B-1C5AF8301914}"/>
              </a:ext>
            </a:extLst>
          </p:cNvPr>
          <p:cNvSpPr>
            <a:spLocks noGrp="1"/>
          </p:cNvSpPr>
          <p:nvPr/>
        </p:nvSpPr>
        <p:spPr>
          <a:xfrm>
            <a:off x="8870156" y="3155156"/>
            <a:ext cx="2083594" cy="892969"/>
          </a:xfrm>
          <a:prstGeom prst="rect">
            <a:avLst/>
          </a:prstGeom>
          <a:noFill/>
          <a:ln w="0">
            <a:noFill/>
          </a:ln>
        </p:spPr>
        <p:txBody>
          <a:bodyPr anchor="ctr">
            <a:noAutofit/>
          </a:bodyPr>
          <a:lstStyle/>
          <a:p>
            <a:pPr algn="l">
              <a:defRPr sz="3938" b="1">
                <a:solidFill>
                  <a:srgbClr val="9A5800"/>
                </a:solidFill>
                <a:latin typeface="Arial"/>
                <a:ea typeface="Arial"/>
                <a:cs typeface="Arial"/>
              </a:defRPr>
            </a:pPr>
            <a:r>
              <a:rPr sz="3938" b="1">
                <a:solidFill>
                  <a:srgbClr val="9A5800"/>
                </a:solidFill>
                <a:latin typeface="Arial"/>
                <a:ea typeface="Arial"/>
                <a:cs typeface="Arial"/>
              </a:rPr>
              <a:t>+ 24</a:t>
            </a:r>
          </a:p>
        </p:txBody>
      </p:sp>
      <p:sp>
        <p:nvSpPr>
          <p:cNvPr id="20" name="object-20">
            <a:extLst>
              <a:ext uri="{FF2B5EF4-FFF2-40B4-BE49-F238E27FC236}">
                <a16:creationId xmlns:a16="http://schemas.microsoft.com/office/drawing/2014/main" id="{425B39A4-FE2A-4DC2-A5CA-45E4EF7D2067}"/>
              </a:ext>
            </a:extLst>
          </p:cNvPr>
          <p:cNvSpPr>
            <a:spLocks noGrp="1"/>
          </p:cNvSpPr>
          <p:nvPr/>
        </p:nvSpPr>
        <p:spPr>
          <a:xfrm>
            <a:off x="11549063" y="3155156"/>
            <a:ext cx="2857500" cy="892969"/>
          </a:xfrm>
          <a:prstGeom prst="rect">
            <a:avLst/>
          </a:prstGeom>
          <a:noFill/>
          <a:ln w="0">
            <a:noFill/>
          </a:ln>
        </p:spPr>
        <p:txBody>
          <a:bodyPr anchor="ctr">
            <a:noAutofit/>
          </a:bodyPr>
          <a:lstStyle/>
          <a:p>
            <a:pPr algn="l">
              <a:defRPr sz="4031" b="1">
                <a:solidFill>
                  <a:srgbClr val="172B4D"/>
                </a:solidFill>
                <a:latin typeface="Arial"/>
                <a:ea typeface="Arial"/>
                <a:cs typeface="Arial"/>
              </a:defRPr>
            </a:pPr>
            <a:r>
              <a:rPr sz="4031" b="1">
                <a:solidFill>
                  <a:srgbClr val="172B4D"/>
                </a:solidFill>
                <a:latin typeface="Arial"/>
                <a:ea typeface="Arial"/>
                <a:cs typeface="Arial"/>
              </a:rPr>
              <a:t>= 108</a:t>
            </a:r>
          </a:p>
        </p:txBody>
      </p:sp>
      <p:sp>
        <p:nvSpPr>
          <p:cNvPr id="21" name="object-21">
            <a:extLst>
              <a:ext uri="{FF2B5EF4-FFF2-40B4-BE49-F238E27FC236}">
                <a16:creationId xmlns:a16="http://schemas.microsoft.com/office/drawing/2014/main" id="{4A24946F-567F-4D3E-A13A-0E20E4EA2CDF}"/>
              </a:ext>
            </a:extLst>
          </p:cNvPr>
          <p:cNvSpPr>
            <a:spLocks noGrp="1"/>
          </p:cNvSpPr>
          <p:nvPr/>
        </p:nvSpPr>
        <p:spPr>
          <a:xfrm>
            <a:off x="2024063" y="4643438"/>
            <a:ext cx="11191875" cy="714375"/>
          </a:xfrm>
          <a:prstGeom prst="rect">
            <a:avLst/>
          </a:prstGeom>
          <a:noFill/>
          <a:ln w="0">
            <a:noFill/>
          </a:ln>
        </p:spPr>
        <p:txBody>
          <a:bodyPr anchor="ctr">
            <a:noAutofit/>
          </a:bodyPr>
          <a:lstStyle/>
          <a:p>
            <a:pPr algn="ctr">
              <a:defRPr sz="2906" b="1">
                <a:solidFill>
                  <a:srgbClr val="9A5800"/>
                </a:solidFill>
                <a:latin typeface="Arial"/>
                <a:ea typeface="Arial"/>
                <a:cs typeface="Arial"/>
              </a:defRPr>
            </a:pPr>
            <a:r>
              <a:rPr sz="2906" b="1">
                <a:solidFill>
                  <a:srgbClr val="9A5800"/>
                </a:solidFill>
                <a:latin typeface="Arial"/>
                <a:ea typeface="Arial"/>
                <a:cs typeface="Arial"/>
              </a:rPr>
              <a:t>Subtract 24 on both sides</a:t>
            </a:r>
          </a:p>
        </p:txBody>
      </p:sp>
      <p:sp>
        <p:nvSpPr>
          <p:cNvPr id="22" name="object-22">
            <a:extLst>
              <a:ext uri="{FF2B5EF4-FFF2-40B4-BE49-F238E27FC236}">
                <a16:creationId xmlns:a16="http://schemas.microsoft.com/office/drawing/2014/main" id="{1F5CBD2D-6E07-46E1-8630-82A6C0785404}"/>
              </a:ext>
            </a:extLst>
          </p:cNvPr>
          <p:cNvSpPr>
            <a:spLocks noGrp="1"/>
          </p:cNvSpPr>
          <p:nvPr/>
        </p:nvSpPr>
        <p:spPr>
          <a:xfrm>
            <a:off x="2381250" y="5655469"/>
            <a:ext cx="10477500"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6x = 84</a:t>
            </a:r>
          </a:p>
        </p:txBody>
      </p:sp>
      <p:sp>
        <p:nvSpPr>
          <p:cNvPr id="23" name="object-23">
            <a:extLst>
              <a:ext uri="{FF2B5EF4-FFF2-40B4-BE49-F238E27FC236}">
                <a16:creationId xmlns:a16="http://schemas.microsoft.com/office/drawing/2014/main" id="{E43D4532-93CE-4D1D-A081-CAC7F5E27E96}"/>
              </a:ext>
            </a:extLst>
          </p:cNvPr>
          <p:cNvSpPr>
            <a:spLocks noGrp="1"/>
          </p:cNvSpPr>
          <p:nvPr/>
        </p:nvSpPr>
        <p:spPr>
          <a:xfrm>
            <a:off x="7977188" y="6667500"/>
            <a:ext cx="4286250" cy="773906"/>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x = 14</a:t>
            </a:r>
          </a:p>
        </p:txBody>
      </p:sp>
    </p:spTree>
    <p:extLst>
      <p:ext uri="{BB962C8B-B14F-4D97-AF65-F5344CB8AC3E}">
        <p14:creationId xmlns:p14="http://schemas.microsoft.com/office/powerpoint/2010/main" val="6004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par>
                          <p:cTn id="15" fill="hold">
                            <p:stCondLst>
                              <p:cond delay="0"/>
                            </p:stCondLst>
                            <p:childTnLst>
                              <p:par>
                                <p:cTn id="16" presetID="63" presetClass="path" presetSubtype="0" accel="50000" decel="50000" fill="hold" grpId="1" nodeType="afterEffect">
                                  <p:stCondLst>
                                    <p:cond delay="0"/>
                                  </p:stCondLst>
                                  <p:childTnLst>
                                    <p:animMotion origin="layout" path="M 0 0 L -0.125 0 E" pathEditMode="relative" ptsTypes="">
                                      <p:cBhvr>
                                        <p:cTn id="17" dur="800" fill="hold"/>
                                        <p:tgtEl>
                                          <p:spTgt spid="2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3"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21D3EF1F-3C37-4B80-B5FF-840D8E9CACE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8C889545-DE53-4467-A4DC-BCEF0889849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94524E32-C513-4C2C-A708-1C3482AE1C5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600670DB-4953-4990-96E9-50E7DD8D3AD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ED69FEFA-EDFC-4A01-B44E-CEBC77AB840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6" name="object-6">
            <a:extLst>
              <a:ext uri="{FF2B5EF4-FFF2-40B4-BE49-F238E27FC236}">
                <a16:creationId xmlns:a16="http://schemas.microsoft.com/office/drawing/2014/main" id="{093BE3C1-F331-40B4-BC9F-C9023BC9D6C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89306118-7518-4C76-A036-3AC7CD98AA73}"/>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96D81A6E-D7B1-44EB-A35E-1B598D044E7B}"/>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6(x + 4) = 72.</a:t>
            </a:r>
          </a:p>
        </p:txBody>
      </p:sp>
      <p:sp>
        <p:nvSpPr>
          <p:cNvPr id="9" name="object-9">
            <a:extLst>
              <a:ext uri="{FF2B5EF4-FFF2-40B4-BE49-F238E27FC236}">
                <a16:creationId xmlns:a16="http://schemas.microsoft.com/office/drawing/2014/main" id="{792EBC78-3E96-4297-94A5-8AB48BD2C5EB}"/>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1475FD53-E8EE-4DAD-B14C-E14BA24BCF27}"/>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number is tripled and 14 is added to make 65. Find the number.</a:t>
            </a:r>
          </a:p>
        </p:txBody>
      </p:sp>
      <p:sp>
        <p:nvSpPr>
          <p:cNvPr id="11" name="object-11">
            <a:extLst>
              <a:ext uri="{FF2B5EF4-FFF2-40B4-BE49-F238E27FC236}">
                <a16:creationId xmlns:a16="http://schemas.microsoft.com/office/drawing/2014/main" id="{5F7785CC-7C41-467A-A91C-C16CAAD114E4}"/>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AE872BA6-A586-495F-B0E3-CE37706547F7}"/>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Do 4x + 12 = 40 and 2x + 6 = 20 have the same solution?</a:t>
            </a:r>
          </a:p>
        </p:txBody>
      </p:sp>
      <p:sp>
        <p:nvSpPr>
          <p:cNvPr id="13" name="object-13">
            <a:extLst>
              <a:ext uri="{FF2B5EF4-FFF2-40B4-BE49-F238E27FC236}">
                <a16:creationId xmlns:a16="http://schemas.microsoft.com/office/drawing/2014/main" id="{EFA9EC67-A7FB-4090-8780-D5E5E75EA3F0}"/>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30AD0AB0-A029-436F-8C84-D07B1A628A57}"/>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Solve 6(x + 4) = 72.</a:t>
            </a:r>
          </a:p>
        </p:txBody>
      </p:sp>
      <p:sp>
        <p:nvSpPr>
          <p:cNvPr id="15" name="object-15">
            <a:extLst>
              <a:ext uri="{FF2B5EF4-FFF2-40B4-BE49-F238E27FC236}">
                <a16:creationId xmlns:a16="http://schemas.microsoft.com/office/drawing/2014/main" id="{DF3B2127-243E-4767-85DF-D8C5476342CD}"/>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F2A89A15-FB8D-482C-82F9-419D21E4A0C7}"/>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number is tripled and 14 is added to make 65. Find the number.</a:t>
            </a:r>
          </a:p>
        </p:txBody>
      </p:sp>
      <p:sp>
        <p:nvSpPr>
          <p:cNvPr id="17" name="object-17">
            <a:extLst>
              <a:ext uri="{FF2B5EF4-FFF2-40B4-BE49-F238E27FC236}">
                <a16:creationId xmlns:a16="http://schemas.microsoft.com/office/drawing/2014/main" id="{86046779-F950-4129-8B8C-6F22F974DCB4}"/>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7131B5A2-7348-4CD7-93B9-4FA2D4CDD7C7}"/>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Do 4x + 12 = 40 and 2x + 6 = 20 have the same solution?</a:t>
            </a:r>
          </a:p>
        </p:txBody>
      </p:sp>
      <p:sp>
        <p:nvSpPr>
          <p:cNvPr id="19" name="object-19">
            <a:extLst>
              <a:ext uri="{FF2B5EF4-FFF2-40B4-BE49-F238E27FC236}">
                <a16:creationId xmlns:a16="http://schemas.microsoft.com/office/drawing/2014/main" id="{E0586FF0-AF6E-43C9-AEA9-FA4336040AD5}"/>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0F1E68AB-DFA5-44F6-8838-89FBE80AF9E9}"/>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Prove or explain your reasoning: Solve x + 38 = 91.</a:t>
            </a:r>
          </a:p>
        </p:txBody>
      </p:sp>
      <p:sp>
        <p:nvSpPr>
          <p:cNvPr id="21" name="object-21">
            <a:extLst>
              <a:ext uri="{FF2B5EF4-FFF2-40B4-BE49-F238E27FC236}">
                <a16:creationId xmlns:a16="http://schemas.microsoft.com/office/drawing/2014/main" id="{98A41DEE-58AD-45E6-8A2F-A95E463F280E}"/>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84ECFF82-54B3-4DD1-BE60-E62C6D0C4E99}"/>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changes one side of an equation without making the same balanced change to the other side.</a:t>
            </a:r>
          </a:p>
        </p:txBody>
      </p:sp>
      <p:sp>
        <p:nvSpPr>
          <p:cNvPr id="23" name="object-23">
            <a:extLst>
              <a:ext uri="{FF2B5EF4-FFF2-40B4-BE49-F238E27FC236}">
                <a16:creationId xmlns:a16="http://schemas.microsoft.com/office/drawing/2014/main" id="{70118316-26E3-4164-BD8C-71801483EEA0}"/>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768AA7C9-68FF-4A3C-BFDF-98C3457F976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F8B60C58-8230-47DA-A73E-7B1724FAAF4E}"/>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1FE2DC8E-B57F-481C-BF66-82196187A570}"/>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Do 4x + 12 = 40 and 2x + 6 = 20 have the same solution?</a:t>
            </a:r>
          </a:p>
        </p:txBody>
      </p:sp>
    </p:spTree>
    <p:extLst>
      <p:ext uri="{BB962C8B-B14F-4D97-AF65-F5344CB8AC3E}">
        <p14:creationId xmlns:p14="http://schemas.microsoft.com/office/powerpoint/2010/main" val="1184347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72A877FB-18E2-46E9-8901-CEDE2BE8D93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D02A2014-468B-4048-AC12-1926CA1BBEA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67E4171D-662F-4B6D-83D5-70910529DA36}"/>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A1FA696-8C58-402B-BB6C-6F3AF4C3104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Solve equations with brackets</a:t>
            </a:r>
          </a:p>
        </p:txBody>
      </p:sp>
      <p:sp>
        <p:nvSpPr>
          <p:cNvPr id="5" name="object-5">
            <a:extLst>
              <a:ext uri="{FF2B5EF4-FFF2-40B4-BE49-F238E27FC236}">
                <a16:creationId xmlns:a16="http://schemas.microsoft.com/office/drawing/2014/main" id="{27FE3FE4-89DE-4E80-BB4A-26A896BBB39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F2E309A9-E867-4CC9-A71D-8BFED5E6ED69}"/>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F68DEB2D-6A4A-4FBA-B463-AFA3AC883CFA}"/>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8.</a:t>
            </a:r>
          </a:p>
        </p:txBody>
      </p:sp>
      <p:sp>
        <p:nvSpPr>
          <p:cNvPr id="8" name="object-8">
            <a:extLst>
              <a:ext uri="{FF2B5EF4-FFF2-40B4-BE49-F238E27FC236}">
                <a16:creationId xmlns:a16="http://schemas.microsoft.com/office/drawing/2014/main" id="{5451EDBC-1CC9-4AD6-BFD1-5EFFFF84B79B}"/>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318E2D2B-0D46-4D12-AD87-C2CB811B5CD8}"/>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17.</a:t>
            </a:r>
          </a:p>
        </p:txBody>
      </p:sp>
      <p:sp>
        <p:nvSpPr>
          <p:cNvPr id="10" name="object-10">
            <a:extLst>
              <a:ext uri="{FF2B5EF4-FFF2-40B4-BE49-F238E27FC236}">
                <a16:creationId xmlns:a16="http://schemas.microsoft.com/office/drawing/2014/main" id="{D7EBCB9F-1CBB-4658-B678-3D3C21D742A8}"/>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C64E5817-4FD5-46C1-82B6-F575732236B0}"/>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Yes, both give x = 7.</a:t>
            </a:r>
          </a:p>
        </p:txBody>
      </p:sp>
      <p:sp>
        <p:nvSpPr>
          <p:cNvPr id="12" name="object-12">
            <a:extLst>
              <a:ext uri="{FF2B5EF4-FFF2-40B4-BE49-F238E27FC236}">
                <a16:creationId xmlns:a16="http://schemas.microsoft.com/office/drawing/2014/main" id="{B9F832E1-939D-4524-B709-615CF789A4E3}"/>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F1D40590-B9E4-452F-BBAA-4FB3ED41F8A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8.</a:t>
            </a:r>
          </a:p>
        </p:txBody>
      </p:sp>
      <p:sp>
        <p:nvSpPr>
          <p:cNvPr id="14" name="object-14">
            <a:extLst>
              <a:ext uri="{FF2B5EF4-FFF2-40B4-BE49-F238E27FC236}">
                <a16:creationId xmlns:a16="http://schemas.microsoft.com/office/drawing/2014/main" id="{CC9A0ED9-3285-4626-8B2D-6795D3765F30}"/>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6C623500-33F5-4EFA-9303-7F9C20D3CB2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17. Method or representation may vary.</a:t>
            </a:r>
          </a:p>
        </p:txBody>
      </p:sp>
      <p:sp>
        <p:nvSpPr>
          <p:cNvPr id="16" name="object-16">
            <a:extLst>
              <a:ext uri="{FF2B5EF4-FFF2-40B4-BE49-F238E27FC236}">
                <a16:creationId xmlns:a16="http://schemas.microsoft.com/office/drawing/2014/main" id="{88230765-85F1-481B-A2E9-AB3E131DBAF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50CA83FD-46E7-4BB9-9C34-66D4C1A26B73}"/>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Yes, both give x = 7. A valid check must be shown.</a:t>
            </a:r>
          </a:p>
        </p:txBody>
      </p:sp>
      <p:sp>
        <p:nvSpPr>
          <p:cNvPr id="18" name="object-18">
            <a:extLst>
              <a:ext uri="{FF2B5EF4-FFF2-40B4-BE49-F238E27FC236}">
                <a16:creationId xmlns:a16="http://schemas.microsoft.com/office/drawing/2014/main" id="{23F9184E-27F4-4419-9384-A56081C690FA}"/>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44067820-3679-4925-876E-2E2C79D0517D}"/>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x = 53. The explanation must show why the method works.</a:t>
            </a:r>
          </a:p>
        </p:txBody>
      </p:sp>
      <p:sp>
        <p:nvSpPr>
          <p:cNvPr id="20" name="object-20">
            <a:extLst>
              <a:ext uri="{FF2B5EF4-FFF2-40B4-BE49-F238E27FC236}">
                <a16:creationId xmlns:a16="http://schemas.microsoft.com/office/drawing/2014/main" id="{9BC59AB2-CFFC-4147-BB51-78A5C923707A}"/>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ED1408B1-CFB9-4DD9-BCED-D1A0CF188DB7}"/>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Use an inverse operation on the whole equation and check by substitution.</a:t>
            </a:r>
          </a:p>
        </p:txBody>
      </p:sp>
      <p:sp>
        <p:nvSpPr>
          <p:cNvPr id="22" name="object-22">
            <a:extLst>
              <a:ext uri="{FF2B5EF4-FFF2-40B4-BE49-F238E27FC236}">
                <a16:creationId xmlns:a16="http://schemas.microsoft.com/office/drawing/2014/main" id="{42FC9242-96D8-4E25-9118-03EA83DC5F25}"/>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6C0D83B2-11B6-4F31-B6F0-E221119DE340}"/>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9A46D473-9754-4CDF-8E4D-F6B2ED49359A}"/>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D14D071D-F826-4C68-9F03-7F66D4B76FF9}"/>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39540957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992</Words>
  <Application>Microsoft Office PowerPoint</Application>
  <DocSecurity>0</DocSecurity>
  <PresentationFormat>Custom</PresentationFormat>
  <Paragraphs>130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2026-09-14T13:14:35Z</dcterms:created>
  <dcterms:modified xsi:type="dcterms:W3CDTF">2026-09-14T13:17:25Z</dcterms:modified>
</cp:coreProperties>
</file>