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Distinguish perimeter and area. Distinguish perimeter and area.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Distinguish perimeter and area. I do. Show the perpendicular height. Rearrange the parallelogram into a rectangle or use two equal triangles to make the base-times-height area.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Distinguish perimeter and area. You do. Pause before clicking. Let pupils try independently, then reveal and discuss every step. Show the perpendicular height. Rearrange the parallelogram into a rectangle or use two equal triangles to make the base-times-height area.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Distinguish perimeter and area. I do. Show the perpendicular height. Rearrange the parallelogram into a rectangle or use two equal triangles to make the base-times-height area.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Distinguish perimeter and area. You do. Pause before clicking. Let pupils try independently, then reveal and discuss every step. Show the perpendicular height. Rearrange the parallelogram into a rectangle or use two equal triangles to make the base-times-height area.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Distinguish perimeter and area.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Distinguish perimeter and area.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152FFA4F-B3A6-4A4F-9F7A-0A45E77ED75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Distinguish perimeter and area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DC2CA90-A1B3-4C4A-B08A-5568F217C12B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B5E8827-8975-45CC-BDBF-A29350DCB6B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7B76B79-76A7-4F0E-A9B6-5A0DA2CCE30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Distinguish perimeter and area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12776E3-F0E8-4E2F-A443-35F69E2ED1E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15FE4DD-454D-4426-84A3-B5D3CFB997AF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choose whether a problem requires perimeter or area.</a:t>
            </a:r>
          </a:p>
        </p:txBody>
      </p:sp>
    </p:spTree>
    <p:extLst>
      <p:ext uri="{BB962C8B-B14F-4D97-AF65-F5344CB8AC3E}">
        <p14:creationId xmlns:p14="http://schemas.microsoft.com/office/powerpoint/2010/main" val="1956698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28A9D3D6-BB1D-4BDE-9903-B88C5BB9601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BA783DB-C43C-477A-9E5F-631B51133B0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area and perimeter: base 14 cm, perpendicular height 9 cm.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D2D8229-DB2C-480C-9EAB-6F7431B085B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09DD52F-2847-4C0C-9818-94AF10C582D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Distinguish perimeter and area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10AE07C-9FFA-474E-9B0D-6331504D6D4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A50046B-1969-4022-9E34-84472F10ADD5}"/>
              </a:ext>
            </a:extLst>
          </p:cNvPr>
          <p:cNvSpPr>
            <a:spLocks noGrp="1"/>
          </p:cNvSpPr>
          <p:nvPr/>
        </p:nvSpPr>
        <p:spPr>
          <a:xfrm>
            <a:off x="1547813" y="3333750"/>
            <a:ext cx="6191250" cy="2619375"/>
          </a:xfrm>
          <a:prstGeom prst="rect">
            <a:avLst/>
          </a:prstGeom>
          <a:solidFill>
            <a:srgbClr val="EFF6FF"/>
          </a:solidFill>
          <a:ln w="35719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7B9E85B-87A5-4F09-BA7F-F05934E215FB}"/>
              </a:ext>
            </a:extLst>
          </p:cNvPr>
          <p:cNvSpPr>
            <a:spLocks noGrp="1"/>
          </p:cNvSpPr>
          <p:nvPr/>
        </p:nvSpPr>
        <p:spPr>
          <a:xfrm>
            <a:off x="2262188" y="6155531"/>
            <a:ext cx="4405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14 cm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A2DC7F8-E43B-4EA5-AEF7-BD0B4C7A0672}"/>
              </a:ext>
            </a:extLst>
          </p:cNvPr>
          <p:cNvSpPr>
            <a:spLocks noGrp="1"/>
          </p:cNvSpPr>
          <p:nvPr/>
        </p:nvSpPr>
        <p:spPr>
          <a:xfrm>
            <a:off x="4226719" y="4250531"/>
            <a:ext cx="21431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 cm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D1798E8-A2D3-405B-B7CE-AC20D0D2AFA8}"/>
              </a:ext>
            </a:extLst>
          </p:cNvPr>
          <p:cNvSpPr>
            <a:spLocks noGrp="1"/>
          </p:cNvSpPr>
          <p:nvPr/>
        </p:nvSpPr>
        <p:spPr>
          <a:xfrm>
            <a:off x="4048125" y="3333750"/>
            <a:ext cx="0" cy="2619375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2CC629E-A6E0-43BB-91C2-16559932E232}"/>
              </a:ext>
            </a:extLst>
          </p:cNvPr>
          <p:cNvSpPr>
            <a:spLocks noGrp="1"/>
          </p:cNvSpPr>
          <p:nvPr/>
        </p:nvSpPr>
        <p:spPr>
          <a:xfrm>
            <a:off x="9703594" y="3690938"/>
            <a:ext cx="4405313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14 × 9 = 126 cm²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47CDABDD-399E-41A1-A5E8-6ECADD074326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Perimeter = 2 × (14 + 9) = 46 cm</a:t>
            </a:r>
          </a:p>
        </p:txBody>
      </p:sp>
    </p:spTree>
    <p:extLst>
      <p:ext uri="{BB962C8B-B14F-4D97-AF65-F5344CB8AC3E}">
        <p14:creationId xmlns:p14="http://schemas.microsoft.com/office/powerpoint/2010/main" val="449538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4E36B90B-AB3D-4A26-ABC2-B3A361391FB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BCB70C4-3183-4377-AEA0-E9B99ED7F662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4A25AC3-4C69-4E6B-8E5C-56BCC7AAD98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area and perimeter: base 16 cm, perpendicular height 9 cm.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11FD410-9779-4410-A145-52805532EDC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5FD1325-09E5-4D45-8158-CD228D10514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Distinguish perimeter and area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5330C98-6029-4BED-83D0-3B05FED410C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B9F6F7C-2B47-4F70-856E-13B180B80736}"/>
              </a:ext>
            </a:extLst>
          </p:cNvPr>
          <p:cNvSpPr>
            <a:spLocks noGrp="1"/>
          </p:cNvSpPr>
          <p:nvPr/>
        </p:nvSpPr>
        <p:spPr>
          <a:xfrm>
            <a:off x="1547813" y="3333750"/>
            <a:ext cx="6191250" cy="2619375"/>
          </a:xfrm>
          <a:prstGeom prst="rect">
            <a:avLst/>
          </a:prstGeom>
          <a:solidFill>
            <a:srgbClr val="EFF6FF"/>
          </a:solidFill>
          <a:ln w="35719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CEA90D4-101F-4533-AA6E-8BE81AD19B10}"/>
              </a:ext>
            </a:extLst>
          </p:cNvPr>
          <p:cNvSpPr>
            <a:spLocks noGrp="1"/>
          </p:cNvSpPr>
          <p:nvPr/>
        </p:nvSpPr>
        <p:spPr>
          <a:xfrm>
            <a:off x="2262188" y="6155531"/>
            <a:ext cx="4405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16 cm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8099AAF-CEC1-462B-88B6-5F53526C7DDB}"/>
              </a:ext>
            </a:extLst>
          </p:cNvPr>
          <p:cNvSpPr>
            <a:spLocks noGrp="1"/>
          </p:cNvSpPr>
          <p:nvPr/>
        </p:nvSpPr>
        <p:spPr>
          <a:xfrm>
            <a:off x="4226719" y="4250531"/>
            <a:ext cx="21431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 cm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3CBF859-182E-4E78-A8E6-3A884A2ECBFC}"/>
              </a:ext>
            </a:extLst>
          </p:cNvPr>
          <p:cNvSpPr>
            <a:spLocks noGrp="1"/>
          </p:cNvSpPr>
          <p:nvPr/>
        </p:nvSpPr>
        <p:spPr>
          <a:xfrm>
            <a:off x="4048125" y="3333750"/>
            <a:ext cx="0" cy="2619375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72A4F73-5B74-420E-A450-640FFC8B4842}"/>
              </a:ext>
            </a:extLst>
          </p:cNvPr>
          <p:cNvSpPr>
            <a:spLocks noGrp="1"/>
          </p:cNvSpPr>
          <p:nvPr/>
        </p:nvSpPr>
        <p:spPr>
          <a:xfrm>
            <a:off x="9703594" y="3690938"/>
            <a:ext cx="4405313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16 × 9 = 144 cm²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1B02A97-9C39-4801-B29E-85CB1FE23BF6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Perimeter = 2 × (16 + 9) = 50 cm</a:t>
            </a:r>
          </a:p>
        </p:txBody>
      </p:sp>
    </p:spTree>
    <p:extLst>
      <p:ext uri="{BB962C8B-B14F-4D97-AF65-F5344CB8AC3E}">
        <p14:creationId xmlns:p14="http://schemas.microsoft.com/office/powerpoint/2010/main" val="1152435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3033EB01-5EEB-4A0C-A3F2-96C54F2ED4A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BD3A1E00-8BF1-4A94-8917-7793F1CBCA9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area and perimeter: base 18 cm, perpendicular height 9 cm.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DD6AD13-D9A1-48FF-80A7-1BC97150687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D9A8082-9433-4D9D-B0D3-EDB2CE7384C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Distinguish perimeter and area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8084572-E0B1-4111-8EC7-C2A0CF1CB1A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331A94C-FEE4-4D26-BE92-8EC4D728CD2F}"/>
              </a:ext>
            </a:extLst>
          </p:cNvPr>
          <p:cNvSpPr>
            <a:spLocks noGrp="1"/>
          </p:cNvSpPr>
          <p:nvPr/>
        </p:nvSpPr>
        <p:spPr>
          <a:xfrm>
            <a:off x="1547813" y="3333750"/>
            <a:ext cx="6191250" cy="2619375"/>
          </a:xfrm>
          <a:prstGeom prst="rect">
            <a:avLst/>
          </a:prstGeom>
          <a:solidFill>
            <a:srgbClr val="EFF6FF"/>
          </a:solidFill>
          <a:ln w="35719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5E39793-0619-4FA7-9199-5D08488451DB}"/>
              </a:ext>
            </a:extLst>
          </p:cNvPr>
          <p:cNvSpPr>
            <a:spLocks noGrp="1"/>
          </p:cNvSpPr>
          <p:nvPr/>
        </p:nvSpPr>
        <p:spPr>
          <a:xfrm>
            <a:off x="2262188" y="6155531"/>
            <a:ext cx="4405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18 cm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B8DDF64-6EAB-4E8D-866E-2A819B36CB20}"/>
              </a:ext>
            </a:extLst>
          </p:cNvPr>
          <p:cNvSpPr>
            <a:spLocks noGrp="1"/>
          </p:cNvSpPr>
          <p:nvPr/>
        </p:nvSpPr>
        <p:spPr>
          <a:xfrm>
            <a:off x="4226719" y="4250531"/>
            <a:ext cx="21431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 cm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E164116-9790-4D4B-AA24-67C15AB2D104}"/>
              </a:ext>
            </a:extLst>
          </p:cNvPr>
          <p:cNvSpPr>
            <a:spLocks noGrp="1"/>
          </p:cNvSpPr>
          <p:nvPr/>
        </p:nvSpPr>
        <p:spPr>
          <a:xfrm>
            <a:off x="4048125" y="3333750"/>
            <a:ext cx="0" cy="2619375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968AB2C-0374-44D7-84C6-51E9A3451F76}"/>
              </a:ext>
            </a:extLst>
          </p:cNvPr>
          <p:cNvSpPr>
            <a:spLocks noGrp="1"/>
          </p:cNvSpPr>
          <p:nvPr/>
        </p:nvSpPr>
        <p:spPr>
          <a:xfrm>
            <a:off x="9703594" y="3690938"/>
            <a:ext cx="4405313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18 × 9 = 162 cm²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953FB4F-9EF6-4360-9218-C2C2689E8BB3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Perimeter = 2 × (18 + 9) = 54 cm</a:t>
            </a:r>
          </a:p>
        </p:txBody>
      </p:sp>
    </p:spTree>
    <p:extLst>
      <p:ext uri="{BB962C8B-B14F-4D97-AF65-F5344CB8AC3E}">
        <p14:creationId xmlns:p14="http://schemas.microsoft.com/office/powerpoint/2010/main" val="271144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5B55C279-D969-4E86-8068-D17B6CF3AB8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F614C74-2D50-4971-AFB1-26BE3DE6AE6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2FB1723-ED52-42E7-810B-DB4A62D2BF8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area and perimeter: base 20 cm, perpendicular height 9 cm.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5A66451-452A-4720-A21C-FE4F29B772F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3102711-0DAF-49A1-BE2C-8ECFA72CB9C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Distinguish perimeter and area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5D22BED-138C-4405-86E0-AC7CF4FF618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C3A8928-72A5-4AD1-8CE0-3743F9235124}"/>
              </a:ext>
            </a:extLst>
          </p:cNvPr>
          <p:cNvSpPr>
            <a:spLocks noGrp="1"/>
          </p:cNvSpPr>
          <p:nvPr/>
        </p:nvSpPr>
        <p:spPr>
          <a:xfrm>
            <a:off x="1547813" y="3333750"/>
            <a:ext cx="6191250" cy="2619375"/>
          </a:xfrm>
          <a:prstGeom prst="rect">
            <a:avLst/>
          </a:prstGeom>
          <a:solidFill>
            <a:srgbClr val="EFF6FF"/>
          </a:solidFill>
          <a:ln w="35719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8D4127F-4DB4-4E8C-A36D-361B3974FDA3}"/>
              </a:ext>
            </a:extLst>
          </p:cNvPr>
          <p:cNvSpPr>
            <a:spLocks noGrp="1"/>
          </p:cNvSpPr>
          <p:nvPr/>
        </p:nvSpPr>
        <p:spPr>
          <a:xfrm>
            <a:off x="2262188" y="6155531"/>
            <a:ext cx="4405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20 cm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B1CD5CF-1A0B-46D8-B0CA-5CF843087228}"/>
              </a:ext>
            </a:extLst>
          </p:cNvPr>
          <p:cNvSpPr>
            <a:spLocks noGrp="1"/>
          </p:cNvSpPr>
          <p:nvPr/>
        </p:nvSpPr>
        <p:spPr>
          <a:xfrm>
            <a:off x="4226719" y="4250531"/>
            <a:ext cx="21431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 cm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61E101A-65FA-409A-BE8E-6E87A4CA3C71}"/>
              </a:ext>
            </a:extLst>
          </p:cNvPr>
          <p:cNvSpPr>
            <a:spLocks noGrp="1"/>
          </p:cNvSpPr>
          <p:nvPr/>
        </p:nvSpPr>
        <p:spPr>
          <a:xfrm>
            <a:off x="4048125" y="3333750"/>
            <a:ext cx="0" cy="2619375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BF6966F-D749-44BD-BD83-086E303C1483}"/>
              </a:ext>
            </a:extLst>
          </p:cNvPr>
          <p:cNvSpPr>
            <a:spLocks noGrp="1"/>
          </p:cNvSpPr>
          <p:nvPr/>
        </p:nvSpPr>
        <p:spPr>
          <a:xfrm>
            <a:off x="9703594" y="3690938"/>
            <a:ext cx="4405313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20 × 9 = 180 cm²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7C31C3A2-D4AB-4197-BD49-E99DFF84F089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Perimeter = 2 × (20 + 9) = 58 cm</a:t>
            </a:r>
          </a:p>
        </p:txBody>
      </p:sp>
    </p:spTree>
    <p:extLst>
      <p:ext uri="{BB962C8B-B14F-4D97-AF65-F5344CB8AC3E}">
        <p14:creationId xmlns:p14="http://schemas.microsoft.com/office/powerpoint/2010/main" val="1621616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C5CC0870-9D9D-42A7-86CF-AB936473B1D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AE9F9C4-11A3-46A5-AF0B-C765A572716F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7F69B8E-B4F4-472C-87D3-72FE227D024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0F499E7-7777-4BB7-B724-280DE9A4C6B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ADB6D5C-A0B6-4125-AEC5-ED5D0331904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Distinguish perimeter and area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83948B3-E98E-47ED-A8AD-B26227E0C4E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AF8FAA3-AFE6-4418-A96E-6FC3614F9046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148F67E-DF40-4501-BCB8-F8906CC1CF9A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rectangle is 14 cm by 9 cm. Find its area and perimeter.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014BBDC-DE86-4FC4-B9B9-16E795F4F841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DC6856C-3A71-4D2C-ADD7-5617B5B0A88A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area of a parallelogram with base 12 cm and perpendicular height 7 cm.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355A25D-D7B2-4B74-B19D-95BFC39056EB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CB4DD347-0A04-4900-9AFD-97441A9BFDBE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area of a triangle with base 15 cm and perpendicular height 8 cm.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9C84314-B474-47CA-9A82-64FDD4CAEF94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C585E8A-3363-4459-A016-24552A29166C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A rectangle is 14 cm by 9 cm. Find its area and perimeter.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5A7D868-C374-40E0-9C2C-13D250ABCD63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D5B05F59-CB59-4EE1-AEE1-600181B68FF4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Find the area of a parallelogram with base 12 cm and perpendicular height 7 cm.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68BF5E8-CCA3-4F70-AD84-F3B19F7FB06E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B1652C54-CEC9-4C53-B814-93CC24D84096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Find the area of a triangle with base 15 cm and perpendicular height 8 cm.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96D61EE3-0658-4BAF-A4A9-87EBC91528F2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2299E69-89B8-4F10-8678-02517D8A18C6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A triangle has area 54 cm2 and base 12 cm. Find its perpendicular height.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E8D827C0-5CC4-497C-9AAC-E6C51FF2E52D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46723A33-660F-4091-9F65-8C43921AEBC7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uses the sloping side as the height and forgets to halve a triangle's area.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86968062-1EEA-4704-9FB6-D3D0106FE8D6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1A792856-E100-43D8-B11E-538B22258F46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92DBC40-15CA-4C75-BA0A-37D9C4E0A417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BD91D270-5BBB-4EAF-94C5-CFB958F32040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Find the area of a triangle with base 15 cm and perpendicular height 8 cm.</a:t>
            </a:r>
          </a:p>
        </p:txBody>
      </p:sp>
    </p:spTree>
    <p:extLst>
      <p:ext uri="{BB962C8B-B14F-4D97-AF65-F5344CB8AC3E}">
        <p14:creationId xmlns:p14="http://schemas.microsoft.com/office/powerpoint/2010/main" val="1733186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B9819C18-D0DF-4087-8AE3-0ECE9F2301E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D98EA30-2669-4CDE-B6C9-73D395DD122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B9070EB-1A3E-4E69-B837-5574CC3250F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670E513-F43A-4491-959C-08F2261498D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Distinguish perimeter and area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D21ABFB-2241-460D-B22D-042A000C715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36C92C6-CD56-4412-9A40-448CDC1323B4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C8DE281-D60C-43C3-9188-D079627E43EC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Area 126 cm2; perimeter 46 cm.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3865DE3-6E21-4F54-99AB-82B780D14BE0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183875AE-C0DD-4CC8-A66A-8307859F00AB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84 cm2.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6FF20EB-85EE-4AC8-A8D2-DCC99CE3668C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A8BE8C4-40D9-4708-A2EA-F124AAC47E73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60 cm2.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D04E4A0-F87D-4F68-BFC4-4F9B5C45098B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EF91A14-0A71-4513-A945-E948A31C17CE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Area 126 cm2; perimeter 46 cm.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E6AB072-5197-46DC-AD62-4A5558C78189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2B0D881E-79CE-4D7B-AE9C-D773F0F81B28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84 cm2.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97D2110-81CE-48B3-8033-8931CB4D0E02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4845B07-DE62-42D1-8A58-E52A458BEEDB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60 cm2.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DE068AB-AB58-4110-B738-07486AA731D9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59AA57AC-8D57-43A9-AE2C-D0C057F71870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9 cm.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1733265-2057-480B-9005-6045DA439F30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012BC5E3-DAF6-4F17-825D-0D94C9B19713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Mark the perpendicular height, use base times height, and divide by two only for a triangle.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C2970C9-0F7F-4F2F-B273-8F3938303BBE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629782D3-AE63-43C7-B45F-17EB80D69BA6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05589CEE-A1FC-4241-8984-0076FBB79B5C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BCFCF0DD-FE71-4BCC-B600-5D474A723018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203959991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1054</Words>
  <Application>Microsoft Office PowerPoint</Application>
  <DocSecurity>0</DocSecurity>
  <PresentationFormat>Custom</PresentationFormat>
  <Paragraphs>102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2026-09-14T13:14:36Z</dcterms:created>
  <dcterms:modified xsi:type="dcterms:W3CDTF">2026-09-14T13:17:33Z</dcterms:modified>
</cp:coreProperties>
</file>