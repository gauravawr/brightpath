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Solve compound area problems.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I do.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You do. Pause before clicking. Let pupils try independently, then reveal and discuss every step. Show the perpendicular height. Rearrange the parallelogram into a rectangle or use two equal triangles to make the base-times-height area.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Solve compound area problems.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3AE9E028-D1A8-4979-B15B-A217F453E2C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Solve compound area problems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08ACD18-25E7-4349-933D-7D7E774AA6A7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3D7FBDC-B1D8-4E5F-97DA-CCEB92A3399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031D9FC-A478-4F64-837A-225C91D1CF1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53F9AC1-9911-4FB5-A183-2F7C1E96CE4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1F4D1A3-9940-4645-8608-DDE8B02D94DC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solve problems involving combined triangles and parallelograms.</a:t>
            </a:r>
          </a:p>
        </p:txBody>
      </p:sp>
    </p:spTree>
    <p:extLst>
      <p:ext uri="{BB962C8B-B14F-4D97-AF65-F5344CB8AC3E}">
        <p14:creationId xmlns:p14="http://schemas.microsoft.com/office/powerpoint/2010/main" val="46597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74D70814-9CF7-4249-9EBB-2AFA5EA2975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8DA021A-03C3-4ADC-93B6-EF057999603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10 cm, perpendicular height 6 cm, plus a triangle of height 4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F9A2E03-9DE1-44CF-993A-1EF6294E93E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3235D6E-3084-4C0D-8643-5D0B9DEB30F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DE14D19-D268-4742-9C69-F3F3DDD06EF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00B5F2C-6711-433A-A575-61375A090C8A}"/>
              </a:ext>
            </a:extLst>
          </p:cNvPr>
          <p:cNvSpPr>
            <a:spLocks noGrp="1"/>
          </p:cNvSpPr>
          <p:nvPr/>
        </p:nvSpPr>
        <p:spPr>
          <a:xfrm>
            <a:off x="1547813" y="3333750"/>
            <a:ext cx="6191250" cy="2619375"/>
          </a:xfrm>
          <a:prstGeom prst="rect">
            <a:avLst/>
          </a:prstGeom>
          <a:solidFill>
            <a:srgbClr val="EFF6FF"/>
          </a:solidFill>
          <a:ln w="35719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4C4615C-B8BE-49F3-B720-43997EBB4B24}"/>
              </a:ext>
            </a:extLst>
          </p:cNvPr>
          <p:cNvSpPr>
            <a:spLocks noGrp="1"/>
          </p:cNvSpPr>
          <p:nvPr/>
        </p:nvSpPr>
        <p:spPr>
          <a:xfrm>
            <a:off x="1547813" y="2440781"/>
            <a:ext cx="6191250" cy="892969"/>
          </a:xfrm>
          <a:custGeom>
            <a:avLst/>
            <a:gdLst/>
            <a:ahLst/>
            <a:cxnLst/>
            <a:rect l="0" t="0" r="0" b="0"/>
            <a:pathLst>
              <a:path w="6191250" h="892969">
                <a:moveTo>
                  <a:pt x="0" y="892969"/>
                </a:moveTo>
                <a:lnTo>
                  <a:pt x="6191250" y="892969"/>
                </a:lnTo>
                <a:lnTo>
                  <a:pt x="3095625" y="0"/>
                </a:lnTo>
                <a:close/>
              </a:path>
            </a:pathLst>
          </a:custGeom>
          <a:solidFill>
            <a:srgbClr val="93C5FD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D46AA39-70F9-4B67-944C-1D128E19DEA9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77480F2-4DCF-48D4-BE46-05F4F59B8E17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C3D28F5-0FAD-431F-BBE6-60D7B469CCC6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0" cy="2619375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1B4CF84-F19E-4E2F-954B-20EB3BBAD669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60 + 20 = 80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FC91ACF-015E-493D-8924-E546DF91D1A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23179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99971270-9232-42D9-BBD9-DFA1355A9FB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4E14EE0-9149-4643-A98F-A1E1F7D5B73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6F85CD3-2AB7-4A6E-AC34-056C9A00CCD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12 cm, perpendicular height 6 cm, plus a triangle of height 4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6335CC0-9864-4A3E-A217-6F60862F2F8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D0CBE25-9282-43FC-8573-63B9EEC75FF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532DDCE-A0C1-41C4-B000-5A9F5A36706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79D93B4-D6C5-4DF9-8385-63CC4C364A2A}"/>
              </a:ext>
            </a:extLst>
          </p:cNvPr>
          <p:cNvSpPr>
            <a:spLocks noGrp="1"/>
          </p:cNvSpPr>
          <p:nvPr/>
        </p:nvSpPr>
        <p:spPr>
          <a:xfrm>
            <a:off x="1547813" y="3333750"/>
            <a:ext cx="6191250" cy="2619375"/>
          </a:xfrm>
          <a:prstGeom prst="rect">
            <a:avLst/>
          </a:prstGeom>
          <a:solidFill>
            <a:srgbClr val="EFF6FF"/>
          </a:solidFill>
          <a:ln w="35719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EB213FD-F86F-4D6D-AF73-583E10EEF3EF}"/>
              </a:ext>
            </a:extLst>
          </p:cNvPr>
          <p:cNvSpPr>
            <a:spLocks noGrp="1"/>
          </p:cNvSpPr>
          <p:nvPr/>
        </p:nvSpPr>
        <p:spPr>
          <a:xfrm>
            <a:off x="1547813" y="2440781"/>
            <a:ext cx="6191250" cy="892969"/>
          </a:xfrm>
          <a:custGeom>
            <a:avLst/>
            <a:gdLst/>
            <a:ahLst/>
            <a:cxnLst/>
            <a:rect l="0" t="0" r="0" b="0"/>
            <a:pathLst>
              <a:path w="6191250" h="892969">
                <a:moveTo>
                  <a:pt x="0" y="892969"/>
                </a:moveTo>
                <a:lnTo>
                  <a:pt x="6191250" y="892969"/>
                </a:lnTo>
                <a:lnTo>
                  <a:pt x="3095625" y="0"/>
                </a:lnTo>
                <a:close/>
              </a:path>
            </a:pathLst>
          </a:custGeom>
          <a:solidFill>
            <a:srgbClr val="93C5FD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4F7CD72-304C-4A6E-8CFB-DECDFEF763C7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12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FDE9364-5082-4FF7-9946-3C869D5862F8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cm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961A75E-D673-49CC-ADF5-57F14743DDD3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0" cy="2619375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1D6EACD-AC4F-4334-8813-B57B88E53B9F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72 + 24 = 96 cm²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90DF786-32E3-4B61-812F-81A0C8AF960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44168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5E9FB14B-5372-4E06-A93D-42AAD50472A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A3AFDD5-42FF-4B37-B84D-FEA82FE2318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14 cm, perpendicular height 6 cm, plus a triangle of height 4 cm.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04C1449-BAC7-4752-A15D-AA64EE25B35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2852F21-7A85-40DB-9B45-A0F65448F5D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97214BA-EB91-451F-BB7B-7E35F787426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9A4C6EB-36A1-42C5-AFBB-1538F8D55415}"/>
              </a:ext>
            </a:extLst>
          </p:cNvPr>
          <p:cNvSpPr>
            <a:spLocks noGrp="1"/>
          </p:cNvSpPr>
          <p:nvPr/>
        </p:nvSpPr>
        <p:spPr>
          <a:xfrm>
            <a:off x="1547813" y="3333750"/>
            <a:ext cx="6191250" cy="2619375"/>
          </a:xfrm>
          <a:prstGeom prst="rect">
            <a:avLst/>
          </a:prstGeom>
          <a:solidFill>
            <a:srgbClr val="EFF6FF"/>
          </a:solidFill>
          <a:ln w="35719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FA385F0-7956-4DCC-A0C2-EF0713CF8DF7}"/>
              </a:ext>
            </a:extLst>
          </p:cNvPr>
          <p:cNvSpPr>
            <a:spLocks noGrp="1"/>
          </p:cNvSpPr>
          <p:nvPr/>
        </p:nvSpPr>
        <p:spPr>
          <a:xfrm>
            <a:off x="1547813" y="2440781"/>
            <a:ext cx="6191250" cy="892969"/>
          </a:xfrm>
          <a:custGeom>
            <a:avLst/>
            <a:gdLst/>
            <a:ahLst/>
            <a:cxnLst/>
            <a:rect l="0" t="0" r="0" b="0"/>
            <a:pathLst>
              <a:path w="6191250" h="892969">
                <a:moveTo>
                  <a:pt x="0" y="892969"/>
                </a:moveTo>
                <a:lnTo>
                  <a:pt x="6191250" y="892969"/>
                </a:lnTo>
                <a:lnTo>
                  <a:pt x="3095625" y="0"/>
                </a:lnTo>
                <a:close/>
              </a:path>
            </a:pathLst>
          </a:custGeom>
          <a:solidFill>
            <a:srgbClr val="93C5FD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474B314-00D3-44B3-8C4B-CC2D8AD29DD7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 cm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C6AD8C9-967F-4EA6-AEF2-87958FB8A188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88176AF-8F35-45BB-9E4C-99B4717B7701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0" cy="2619375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12CFA5F5-FC31-4321-A33C-F75E3F31A669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84 + 28 = 112 cm²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80F898D-AED0-4CB3-AE25-A9CB86BA58EB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97984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-1">
            <a:extLst>
              <a:ext uri="{FF2B5EF4-FFF2-40B4-BE49-F238E27FC236}">
                <a16:creationId xmlns:a16="http://schemas.microsoft.com/office/drawing/2014/main" id="{C245F5FE-4F50-4477-A706-E7CF0F6911D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D1A2F80-9A2D-4D4B-8A87-0AEDE1136AC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5AD8F2A-6ABA-4E7D-A631-EE978C73647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area: base 16 cm, perpendicular height 6 cm, plus a triangle of height 4 cm.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6ADB5AB-74E1-4F90-A778-4E0CB3CB7CB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E462EBE-C01C-4F85-8591-5CCC5D2BC2C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5386A4A-345A-4CAD-945F-8358EFC0BE7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EA65ADB-3C35-4847-B8DF-235DB3FF96A4}"/>
              </a:ext>
            </a:extLst>
          </p:cNvPr>
          <p:cNvSpPr>
            <a:spLocks noGrp="1"/>
          </p:cNvSpPr>
          <p:nvPr/>
        </p:nvSpPr>
        <p:spPr>
          <a:xfrm>
            <a:off x="1547813" y="3333750"/>
            <a:ext cx="6191250" cy="2619375"/>
          </a:xfrm>
          <a:prstGeom prst="rect">
            <a:avLst/>
          </a:prstGeom>
          <a:solidFill>
            <a:srgbClr val="EFF6FF"/>
          </a:solidFill>
          <a:ln w="35719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F4A33C8-67A1-484D-9280-F3311EA9DEE8}"/>
              </a:ext>
            </a:extLst>
          </p:cNvPr>
          <p:cNvSpPr>
            <a:spLocks noGrp="1"/>
          </p:cNvSpPr>
          <p:nvPr/>
        </p:nvSpPr>
        <p:spPr>
          <a:xfrm>
            <a:off x="1547813" y="2440781"/>
            <a:ext cx="6191250" cy="892969"/>
          </a:xfrm>
          <a:custGeom>
            <a:avLst/>
            <a:gdLst/>
            <a:ahLst/>
            <a:cxnLst/>
            <a:rect l="0" t="0" r="0" b="0"/>
            <a:pathLst>
              <a:path w="6191250" h="892969">
                <a:moveTo>
                  <a:pt x="0" y="892969"/>
                </a:moveTo>
                <a:lnTo>
                  <a:pt x="6191250" y="892969"/>
                </a:lnTo>
                <a:lnTo>
                  <a:pt x="3095625" y="0"/>
                </a:lnTo>
                <a:close/>
              </a:path>
            </a:pathLst>
          </a:custGeom>
          <a:solidFill>
            <a:srgbClr val="93C5FD"/>
          </a:solidFill>
          <a:ln w="23813">
            <a:solidFill>
              <a:srgbClr val="1D4ED8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CE03D38-8FED-4E3A-9508-8C3ED7A02A03}"/>
              </a:ext>
            </a:extLst>
          </p:cNvPr>
          <p:cNvSpPr>
            <a:spLocks noGrp="1"/>
          </p:cNvSpPr>
          <p:nvPr/>
        </p:nvSpPr>
        <p:spPr>
          <a:xfrm>
            <a:off x="2262188" y="6155531"/>
            <a:ext cx="4405313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16 cm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A73C396-43B3-48E6-9C5C-FF4DCBDB4A22}"/>
              </a:ext>
            </a:extLst>
          </p:cNvPr>
          <p:cNvSpPr>
            <a:spLocks noGrp="1"/>
          </p:cNvSpPr>
          <p:nvPr/>
        </p:nvSpPr>
        <p:spPr>
          <a:xfrm>
            <a:off x="4226719" y="4250531"/>
            <a:ext cx="21431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 cm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98622C9-B0C7-45B4-986F-DBAEA09082BA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0" cy="2619375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8F81161-847A-4603-B1E3-43300EF74C9D}"/>
              </a:ext>
            </a:extLst>
          </p:cNvPr>
          <p:cNvSpPr>
            <a:spLocks noGrp="1"/>
          </p:cNvSpPr>
          <p:nvPr/>
        </p:nvSpPr>
        <p:spPr>
          <a:xfrm>
            <a:off x="9703594" y="3690938"/>
            <a:ext cx="4405313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96 + 32 = 128 cm²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2896413-57DF-4326-85FD-79C4F61CC009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Count square units, not the length around the edge.</a:t>
            </a:r>
          </a:p>
        </p:txBody>
      </p:sp>
    </p:spTree>
    <p:extLst>
      <p:ext uri="{BB962C8B-B14F-4D97-AF65-F5344CB8AC3E}">
        <p14:creationId xmlns:p14="http://schemas.microsoft.com/office/powerpoint/2010/main" val="140052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C52D1187-1144-443C-8F05-6D38401CE33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55ACF8F-6364-45C5-B7D5-58C686F8E24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D991B47-A398-497A-9D7B-1C54E39A3A4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632E279-A62D-4EBE-9496-DC68DAB4EB0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8F5900D-802E-4F3D-855C-19E615ECAFA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0C13291-31B2-49F4-B235-A84B6733C61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F0FF78C-59A0-40C0-A1D4-4C2DE0763CA1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3F5E301-791F-4293-B900-7ABFC6BA88E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shape combines a 10 cm by 6 cm rectangle and a triangle with base 10 cm and height 4 cm. Find total area.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083D920-07EA-4C22-9761-B973916C1D33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502433E-30E6-4E2E-B1AC-0C3BC9FF971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rectangle is 14 cm by 9 cm. Find its area and perimeter.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4E49D71-A896-47C3-9970-A5FB32C3C7B2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BC0668B-8036-477E-8503-9AC711F5E930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area of a parallelogram with base 12 cm and perpendicular height 7 cm.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53BF96C-693C-4804-9631-7180C52A7D2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3EC3FFF-BF6C-4DA4-9BE0-6A020AD8650D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8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shape combines a 10 cm by 6 cm rectangle and a triangle with base 10 cm and height 4 cm. Find total area.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47A0275-239E-4EDB-B0E4-8CD8B6C98005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AE3484E-8A8C-4505-9202-F5C5682D528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rectangle is 14 cm by 9 cm. Find its area and perimeter.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D7CA2F6-7711-4A30-845B-509D02D66B2B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93BF681B-A806-49E7-9715-1A8939795D59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Find the area of a parallelogram with base 12 cm and perpendicular height 7 cm.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9F48D76-7661-4BFB-9217-074173F2B2D1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7D03931-BB74-458B-BC6D-56DA451DDFCE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Find the area of a triangle with base 15 cm and perpendicular height 8 cm.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C6DE4DB-CA40-4712-AA03-EFA5215ADCC7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A1698A9-8479-4543-A37B-BB448A80C33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uses the sloping side as the height and forgets to halve a triangle's area.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2F9F7F6-7C6D-4F24-8C77-682C7F08564F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5D3105D-9630-4191-B9D3-16B717011964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2C1E992-2B94-40C9-AFB4-2857FAA7524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A4FAC220-8DDE-4965-9AE8-C2D09F25AD4F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Find the area of a parallelogram with base 12 cm and perpendicular height 7 cm.</a:t>
            </a:r>
          </a:p>
        </p:txBody>
      </p:sp>
    </p:spTree>
    <p:extLst>
      <p:ext uri="{BB962C8B-B14F-4D97-AF65-F5344CB8AC3E}">
        <p14:creationId xmlns:p14="http://schemas.microsoft.com/office/powerpoint/2010/main" val="98432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D2DE6E7-C49A-414D-847C-D5C8A3BF162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7D455DF-C6E5-4EBC-89A5-19809119B7B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14DA4F4-BD7C-40D5-8D40-7389DF47189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3B8FD3B-ABEC-4B8A-9AAF-6BF2489F83B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Solve compound area problems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331DFD7-DE3D-4BC2-A46A-225B16BFCAC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A4A3EFE-44C2-4A6A-84E9-53B3E7C7911F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D1C38B9-9BF4-48AE-BEAD-DC877AEA3444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80 cm2.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E0DC41D-39D8-49F5-89DE-BD0A26648D7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7932975-13FC-4668-8819-CB045C306E88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Area 126 cm2; perimeter 46 cm.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C328293-348F-4DE1-9948-95B7CBB65FF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FD3E80B-B0D8-4997-9F2A-2821A085003B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84 cm2.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C3E1D2B-EA6A-4999-8F6A-42CD2810085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FC8DEDE-69C0-4754-89ED-F95AC24D99DB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80 cm2.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FF199A0-6757-45BA-B60E-F8DB0CB1405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AA02F32-2F6A-4F5D-8E96-E749A677A7B2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Area 126 cm2; perimeter 46 cm.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BFC3E49-3A9E-4EA1-A5A3-6A121C476388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5292BAB-4318-45E7-A45B-57C616BE12C9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84 cm2.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7B9F622-D68E-46D7-9827-D9840F0A4E49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24E2A36-D567-449E-AC30-58AEAFA3061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60 cm2.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BE87291-67CD-4F58-8299-DC0A296A9E98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40FDEA4-CE8C-44CD-B729-1CBB3575382F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Mark the perpendicular height, use base times height, and divide by two only for a triangle.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56D6FA4-9EFA-4204-8991-FA9FA2D9FCB4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C530413-07A8-4AEA-9C63-1BB28CA30A5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ECF6BF8-722F-46FB-952E-3C569BBFA9C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20CF8186-6CAE-406F-AC2B-65F7959E4082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3765674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2026-09-14T13:19:19Z</dcterms:created>
  <dcterms:modified xsi:type="dcterms:W3CDTF">2026-09-14T13:20:58Z</dcterms:modified>
</cp:coreProperties>
</file>