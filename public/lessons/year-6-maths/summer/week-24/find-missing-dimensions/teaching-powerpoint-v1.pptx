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Find missing dimensions. Find missing dimensions.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Find missing dimensions. I do. Show the perpendicular height. Rearrange the parallelogram into a rectangle or use two equal triangles to make the base-times-height area.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Find missing dimensions. You do. Pause before clicking. Let pupils try independently, then reveal and discuss every step. Show the perpendicular height. Rearrange the parallelogram into a rectangle or use two equal triangles to make the base-times-height area.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Find missing dimensions. I do. Show the perpendicular height. Rearrange the parallelogram into a rectangle or use two equal triangles to make the base-times-height area.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Find missing dimensions. You do. Pause before clicking. Let pupils try independently, then reveal and discuss every step. Show the perpendicular height. Rearrange the parallelogram into a rectangle or use two equal triangles to make the base-times-height area.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Find missing dimensions.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Find missing dimensions.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2C4459CD-7C01-48B9-9AEB-B6642FDFF56E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Find missing dimensions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525F381A-0625-4035-AF6A-194687B81BBE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EDE84831-2669-4A80-9971-39EEEC164356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65A7BD2D-9B44-4E82-A37D-18F6393FFD23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Find missing dimensions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E34A1916-698A-45F9-9504-56C4E4157584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D0962C7E-C602-472B-AC68-2EE30D6FDF55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To use a known area to find a missing base or height.</a:t>
            </a:r>
          </a:p>
        </p:txBody>
      </p:sp>
    </p:spTree>
    <p:extLst>
      <p:ext uri="{BB962C8B-B14F-4D97-AF65-F5344CB8AC3E}">
        <p14:creationId xmlns:p14="http://schemas.microsoft.com/office/powerpoint/2010/main" val="197911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-1">
            <a:extLst>
              <a:ext uri="{FF2B5EF4-FFF2-40B4-BE49-F238E27FC236}">
                <a16:creationId xmlns:a16="http://schemas.microsoft.com/office/drawing/2014/main" id="{AEE043D3-C0F3-4C56-9894-400F4C924C9B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7DC4A684-54A4-462C-A179-84DC2752A0B8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A triangle has area 54 cm² and base 12 cm. Find its height.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78C21811-1DA1-45E1-AB75-00B7328ED13C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4DB9000F-900A-4810-9C0F-223A9DA73475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Find missing dimensions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B2A66B58-DEE2-4206-96F3-1641314AFD51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7C225661-264C-4DE0-A5ED-B2D668DF4FBE}"/>
              </a:ext>
            </a:extLst>
          </p:cNvPr>
          <p:cNvSpPr>
            <a:spLocks noGrp="1"/>
          </p:cNvSpPr>
          <p:nvPr/>
        </p:nvSpPr>
        <p:spPr>
          <a:xfrm>
            <a:off x="1547813" y="3095625"/>
            <a:ext cx="6191250" cy="2857500"/>
          </a:xfrm>
          <a:custGeom>
            <a:avLst/>
            <a:gdLst/>
            <a:ahLst/>
            <a:cxnLst/>
            <a:rect l="0" t="0" r="0" b="0"/>
            <a:pathLst>
              <a:path w="6191250" h="2857500">
                <a:moveTo>
                  <a:pt x="0" y="2857500"/>
                </a:moveTo>
                <a:lnTo>
                  <a:pt x="6191250" y="2857500"/>
                </a:lnTo>
                <a:lnTo>
                  <a:pt x="2500313" y="0"/>
                </a:lnTo>
                <a:close/>
              </a:path>
            </a:pathLst>
          </a:cu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01D98D69-C606-4271-B0BC-9D4E543EBAB3}"/>
              </a:ext>
            </a:extLst>
          </p:cNvPr>
          <p:cNvSpPr>
            <a:spLocks noGrp="1"/>
          </p:cNvSpPr>
          <p:nvPr/>
        </p:nvSpPr>
        <p:spPr>
          <a:xfrm>
            <a:off x="2262188" y="6155531"/>
            <a:ext cx="4405313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12 cm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0BEE4CCD-08BB-48DB-8EBA-6B2698674B3F}"/>
              </a:ext>
            </a:extLst>
          </p:cNvPr>
          <p:cNvSpPr>
            <a:spLocks noGrp="1"/>
          </p:cNvSpPr>
          <p:nvPr/>
        </p:nvSpPr>
        <p:spPr>
          <a:xfrm>
            <a:off x="4226719" y="4250531"/>
            <a:ext cx="21431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? cm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9E396394-D90F-40F0-B7E0-BF83CB495393}"/>
              </a:ext>
            </a:extLst>
          </p:cNvPr>
          <p:cNvSpPr>
            <a:spLocks noGrp="1"/>
          </p:cNvSpPr>
          <p:nvPr/>
        </p:nvSpPr>
        <p:spPr>
          <a:xfrm>
            <a:off x="4048125" y="3095625"/>
            <a:ext cx="0" cy="2857500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F7E532A4-31CD-4D16-A7F7-4C8BE0FFAFD1}"/>
              </a:ext>
            </a:extLst>
          </p:cNvPr>
          <p:cNvSpPr>
            <a:spLocks noGrp="1"/>
          </p:cNvSpPr>
          <p:nvPr/>
        </p:nvSpPr>
        <p:spPr>
          <a:xfrm>
            <a:off x="9703594" y="3690938"/>
            <a:ext cx="4405313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54 × 2 ÷ 12 = 9 cm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EDA0CEC8-AD63-4AA4-AA49-0E3C4F9CA257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Area × 2 ÷ base = perpendicular height.</a:t>
            </a:r>
          </a:p>
        </p:txBody>
      </p:sp>
    </p:spTree>
    <p:extLst>
      <p:ext uri="{BB962C8B-B14F-4D97-AF65-F5344CB8AC3E}">
        <p14:creationId xmlns:p14="http://schemas.microsoft.com/office/powerpoint/2010/main" val="1715528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-1">
            <a:extLst>
              <a:ext uri="{FF2B5EF4-FFF2-40B4-BE49-F238E27FC236}">
                <a16:creationId xmlns:a16="http://schemas.microsoft.com/office/drawing/2014/main" id="{2A3874B8-8542-4F1A-A637-1D6273CF0922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A864420E-0A43-44F6-8EAF-ABA496F89E16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ABCA779B-D0D4-4129-A0FF-5139D7D8F84E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A triangle has area 63 cm² and base 14 cm. Find its height.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8E53AE2C-09BB-438E-B93E-5177E2A8730E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7EF4D74B-DA84-472E-A080-8FAB08122FD0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Find missing dimensions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21BADC35-BF99-4A7B-818B-04C54D959A63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9850A20B-BBDB-4C7F-AA8A-EAF14FA03EE1}"/>
              </a:ext>
            </a:extLst>
          </p:cNvPr>
          <p:cNvSpPr>
            <a:spLocks noGrp="1"/>
          </p:cNvSpPr>
          <p:nvPr/>
        </p:nvSpPr>
        <p:spPr>
          <a:xfrm>
            <a:off x="1547813" y="3095625"/>
            <a:ext cx="6191250" cy="2857500"/>
          </a:xfrm>
          <a:custGeom>
            <a:avLst/>
            <a:gdLst/>
            <a:ahLst/>
            <a:cxnLst/>
            <a:rect l="0" t="0" r="0" b="0"/>
            <a:pathLst>
              <a:path w="6191250" h="2857500">
                <a:moveTo>
                  <a:pt x="0" y="2857500"/>
                </a:moveTo>
                <a:lnTo>
                  <a:pt x="6191250" y="2857500"/>
                </a:lnTo>
                <a:lnTo>
                  <a:pt x="2500313" y="0"/>
                </a:lnTo>
                <a:close/>
              </a:path>
            </a:pathLst>
          </a:cu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0D0F015A-C4EB-4401-BF1B-2FF9C1A0DE7F}"/>
              </a:ext>
            </a:extLst>
          </p:cNvPr>
          <p:cNvSpPr>
            <a:spLocks noGrp="1"/>
          </p:cNvSpPr>
          <p:nvPr/>
        </p:nvSpPr>
        <p:spPr>
          <a:xfrm>
            <a:off x="2262188" y="6155531"/>
            <a:ext cx="4405313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14 cm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ECD3C30D-1FEA-4DBA-968E-843C3EF14F57}"/>
              </a:ext>
            </a:extLst>
          </p:cNvPr>
          <p:cNvSpPr>
            <a:spLocks noGrp="1"/>
          </p:cNvSpPr>
          <p:nvPr/>
        </p:nvSpPr>
        <p:spPr>
          <a:xfrm>
            <a:off x="4226719" y="4250531"/>
            <a:ext cx="21431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? cm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CE65B525-D149-4E95-98D2-4FBBB7D07604}"/>
              </a:ext>
            </a:extLst>
          </p:cNvPr>
          <p:cNvSpPr>
            <a:spLocks noGrp="1"/>
          </p:cNvSpPr>
          <p:nvPr/>
        </p:nvSpPr>
        <p:spPr>
          <a:xfrm>
            <a:off x="4048125" y="3095625"/>
            <a:ext cx="0" cy="2857500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604C45A2-1149-41AA-A96C-3D586AACAB4C}"/>
              </a:ext>
            </a:extLst>
          </p:cNvPr>
          <p:cNvSpPr>
            <a:spLocks noGrp="1"/>
          </p:cNvSpPr>
          <p:nvPr/>
        </p:nvSpPr>
        <p:spPr>
          <a:xfrm>
            <a:off x="9703594" y="3690938"/>
            <a:ext cx="4405313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63 × 2 ÷ 14 = 9 cm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728743AB-107B-4D05-B6BA-BCD3D1F2627F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Area × 2 ÷ base = perpendicular height.</a:t>
            </a:r>
          </a:p>
        </p:txBody>
      </p:sp>
    </p:spTree>
    <p:extLst>
      <p:ext uri="{BB962C8B-B14F-4D97-AF65-F5344CB8AC3E}">
        <p14:creationId xmlns:p14="http://schemas.microsoft.com/office/powerpoint/2010/main" val="1352297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-1">
            <a:extLst>
              <a:ext uri="{FF2B5EF4-FFF2-40B4-BE49-F238E27FC236}">
                <a16:creationId xmlns:a16="http://schemas.microsoft.com/office/drawing/2014/main" id="{CCBBB768-A69F-4C20-A456-A1D20BE5055B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D1BD63D5-189A-4BC9-87BD-537A2D5381EF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A triangle has area 72 cm² and base 16 cm. Find its height.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A94E927A-012E-418C-9485-950CDDA46F7F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758A61D1-944E-4404-8F15-6BAF2E855B08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Find missing dimensions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2A647275-C2CE-41BB-95E5-67D1370C6EDF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20B9EDDE-BEE2-484A-9BB8-8A8C64F5675D}"/>
              </a:ext>
            </a:extLst>
          </p:cNvPr>
          <p:cNvSpPr>
            <a:spLocks noGrp="1"/>
          </p:cNvSpPr>
          <p:nvPr/>
        </p:nvSpPr>
        <p:spPr>
          <a:xfrm>
            <a:off x="1547813" y="3095625"/>
            <a:ext cx="6191250" cy="2857500"/>
          </a:xfrm>
          <a:custGeom>
            <a:avLst/>
            <a:gdLst/>
            <a:ahLst/>
            <a:cxnLst/>
            <a:rect l="0" t="0" r="0" b="0"/>
            <a:pathLst>
              <a:path w="6191250" h="2857500">
                <a:moveTo>
                  <a:pt x="0" y="2857500"/>
                </a:moveTo>
                <a:lnTo>
                  <a:pt x="6191250" y="2857500"/>
                </a:lnTo>
                <a:lnTo>
                  <a:pt x="2500313" y="0"/>
                </a:lnTo>
                <a:close/>
              </a:path>
            </a:pathLst>
          </a:cu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E64551FB-A918-4ED7-9C5B-CF6E7C69E8E4}"/>
              </a:ext>
            </a:extLst>
          </p:cNvPr>
          <p:cNvSpPr>
            <a:spLocks noGrp="1"/>
          </p:cNvSpPr>
          <p:nvPr/>
        </p:nvSpPr>
        <p:spPr>
          <a:xfrm>
            <a:off x="2262188" y="6155531"/>
            <a:ext cx="4405313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16 cm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AE09C853-F163-460F-8AFA-51CFA53490FA}"/>
              </a:ext>
            </a:extLst>
          </p:cNvPr>
          <p:cNvSpPr>
            <a:spLocks noGrp="1"/>
          </p:cNvSpPr>
          <p:nvPr/>
        </p:nvSpPr>
        <p:spPr>
          <a:xfrm>
            <a:off x="4226719" y="4250531"/>
            <a:ext cx="21431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? cm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08A4647E-3550-4D87-A7B8-F976F48D004A}"/>
              </a:ext>
            </a:extLst>
          </p:cNvPr>
          <p:cNvSpPr>
            <a:spLocks noGrp="1"/>
          </p:cNvSpPr>
          <p:nvPr/>
        </p:nvSpPr>
        <p:spPr>
          <a:xfrm>
            <a:off x="4048125" y="3095625"/>
            <a:ext cx="0" cy="2857500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11B673AF-2628-435D-8C3D-80E059474E21}"/>
              </a:ext>
            </a:extLst>
          </p:cNvPr>
          <p:cNvSpPr>
            <a:spLocks noGrp="1"/>
          </p:cNvSpPr>
          <p:nvPr/>
        </p:nvSpPr>
        <p:spPr>
          <a:xfrm>
            <a:off x="9703594" y="3690938"/>
            <a:ext cx="4405313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72 × 2 ÷ 16 = 9 cm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73487366-A423-4204-A26A-29B43FA61FDC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Area × 2 ÷ base = perpendicular height.</a:t>
            </a:r>
          </a:p>
        </p:txBody>
      </p:sp>
    </p:spTree>
    <p:extLst>
      <p:ext uri="{BB962C8B-B14F-4D97-AF65-F5344CB8AC3E}">
        <p14:creationId xmlns:p14="http://schemas.microsoft.com/office/powerpoint/2010/main" val="1602446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-1">
            <a:extLst>
              <a:ext uri="{FF2B5EF4-FFF2-40B4-BE49-F238E27FC236}">
                <a16:creationId xmlns:a16="http://schemas.microsoft.com/office/drawing/2014/main" id="{77A9D4D8-FA24-4DC3-BD08-35D33E3C176E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0939DDC4-143F-4049-A3B1-F3E7B4A91707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E87B68DA-9E01-4439-B19B-FA652D7D0915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A triangle has area 81 cm² and base 18 cm. Find its height.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D64AA771-58E8-4718-BA23-9782347EE010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C987CEF7-59D7-42D6-B3EC-F28EF3FF7115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Find missing dimensions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E2DB8F43-CA0A-461C-9D8F-AD15A97F2B5C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D18BDDAB-893D-45FC-8A05-53918D15C9F1}"/>
              </a:ext>
            </a:extLst>
          </p:cNvPr>
          <p:cNvSpPr>
            <a:spLocks noGrp="1"/>
          </p:cNvSpPr>
          <p:nvPr/>
        </p:nvSpPr>
        <p:spPr>
          <a:xfrm>
            <a:off x="1547813" y="3095625"/>
            <a:ext cx="6191250" cy="2857500"/>
          </a:xfrm>
          <a:custGeom>
            <a:avLst/>
            <a:gdLst/>
            <a:ahLst/>
            <a:cxnLst/>
            <a:rect l="0" t="0" r="0" b="0"/>
            <a:pathLst>
              <a:path w="6191250" h="2857500">
                <a:moveTo>
                  <a:pt x="0" y="2857500"/>
                </a:moveTo>
                <a:lnTo>
                  <a:pt x="6191250" y="2857500"/>
                </a:lnTo>
                <a:lnTo>
                  <a:pt x="2500313" y="0"/>
                </a:lnTo>
                <a:close/>
              </a:path>
            </a:pathLst>
          </a:cu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3E0E586A-953B-4383-A7E5-4AABECC19829}"/>
              </a:ext>
            </a:extLst>
          </p:cNvPr>
          <p:cNvSpPr>
            <a:spLocks noGrp="1"/>
          </p:cNvSpPr>
          <p:nvPr/>
        </p:nvSpPr>
        <p:spPr>
          <a:xfrm>
            <a:off x="2262188" y="6155531"/>
            <a:ext cx="4405313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18 cm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36227A90-AFBB-4145-8B4F-405921AAAAB9}"/>
              </a:ext>
            </a:extLst>
          </p:cNvPr>
          <p:cNvSpPr>
            <a:spLocks noGrp="1"/>
          </p:cNvSpPr>
          <p:nvPr/>
        </p:nvSpPr>
        <p:spPr>
          <a:xfrm>
            <a:off x="4226719" y="4250531"/>
            <a:ext cx="21431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? cm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DC088945-2F65-4BBF-A2C0-BA58A3D561C6}"/>
              </a:ext>
            </a:extLst>
          </p:cNvPr>
          <p:cNvSpPr>
            <a:spLocks noGrp="1"/>
          </p:cNvSpPr>
          <p:nvPr/>
        </p:nvSpPr>
        <p:spPr>
          <a:xfrm>
            <a:off x="4048125" y="3095625"/>
            <a:ext cx="0" cy="2857500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464A2A53-D2D3-47D1-8C14-5B762881F070}"/>
              </a:ext>
            </a:extLst>
          </p:cNvPr>
          <p:cNvSpPr>
            <a:spLocks noGrp="1"/>
          </p:cNvSpPr>
          <p:nvPr/>
        </p:nvSpPr>
        <p:spPr>
          <a:xfrm>
            <a:off x="9703594" y="3690938"/>
            <a:ext cx="4405313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81 × 2 ÷ 18 = 9 cm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4477D566-FF49-4AB7-B3F2-69945F04F8EB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Area × 2 ÷ base = perpendicular height.</a:t>
            </a:r>
          </a:p>
        </p:txBody>
      </p:sp>
    </p:spTree>
    <p:extLst>
      <p:ext uri="{BB962C8B-B14F-4D97-AF65-F5344CB8AC3E}">
        <p14:creationId xmlns:p14="http://schemas.microsoft.com/office/powerpoint/2010/main" val="1564376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A37B6BD0-7BBC-410D-A000-D68F071D5B1B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41157283-AEA3-4474-89A3-5954ADD3634E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B2391A1C-E9BE-4D30-A53C-80CFE75736AC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4A75986C-6AEC-4B34-979F-7A38C2E1863B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32A9FBDC-AF1B-4FAB-962E-FFD37F702F11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Find missing dimensions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12D9EC4C-188C-4E9C-BBB6-4163E3150533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46EBB310-7072-4EAB-A229-A029E015D228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A732EC00-E2E8-4157-8458-02AE98C3693D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 triangle has area 54 cm2 and base 12 cm. Find its perpendicular height.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866CA675-099E-40FF-88C9-04A697020D7A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B7870235-F454-428F-88B4-DD4BF8BD8028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 shape combines a 10 cm by 6 cm rectangle and a triangle with base 10 cm and height 4 cm. Find total area.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195B2D8D-7DA7-4C0B-8040-7EF1BF50F5C3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04BFBEE9-080C-4685-8980-7FA57D2B0D81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 rectangle is 14 cm by 9 cm. Find its area and perimeter.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BE1CE02B-5922-475C-BFA7-F19F32F6BF6B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853EF2DF-5490-40FB-9248-C9391D5C6658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Solve this independently and show every stage: A triangle has area 54 cm2 and base 12 cm. Find its perpendicular height.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7C4D5885-82DE-4EA6-9564-8CD841115324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E216F415-2DA2-4A23-B56D-52348643ABCE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a second method or representation for: A shape combines a 10 cm by 6 cm rectangle and a triangle with base 10 cm and height 4 cm. Find total area.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880DBCD2-A54B-432A-BE30-514AB82F7CB4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2EBB2C96-BCA9-42E7-AD31-35083F34C3A0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this result using an inverse, estimate or known fact: A rectangle is 14 cm by 9 cm. Find its area and perimeter.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FF2AB201-BADE-4A4C-ABCF-1FBA8D087290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11C5B49D-2D04-447A-A68A-F49AB43AA439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Prove or explain your reasoning: Find the area of a parallelogram with base 12 cm and perpendicular height 7 cm.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274A6EB6-4E7A-476F-A61E-55406FEF9855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CCDA6E52-8CCA-4837-9E23-E7262DC58E26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Identify and correct this misconception: Miro uses the sloping side as the height and forgets to halve a triangle's area.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CA447E29-DD05-45B0-8789-3A2FFACF1C44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7B366009-DCE3-4BB5-ABBF-17932AE506F0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complete sentence explaining how you checked one answer.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419D1D97-218A-4D06-B128-91CBAD6FA15D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7B72F289-BF74-4664-B438-D2211999FA89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and solve a similar question to: A rectangle is 14 cm by 9 cm. Find its area and perimeter.</a:t>
            </a:r>
          </a:p>
        </p:txBody>
      </p:sp>
    </p:spTree>
    <p:extLst>
      <p:ext uri="{BB962C8B-B14F-4D97-AF65-F5344CB8AC3E}">
        <p14:creationId xmlns:p14="http://schemas.microsoft.com/office/powerpoint/2010/main" val="140934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948E99D9-9545-4CBE-89D3-D671D214DD84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D5CCDEFA-1A8B-4FDB-8102-87E3386788A2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49497BB8-EAB6-4C72-A80A-20B14907BEFA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FC61D08E-2753-47E6-82CF-BB6CB42D920D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Find missing dimensions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6A3A5CD8-2106-45E0-BF3F-95E02B4D1851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AF933211-80A7-4796-9A82-607C1BBEC6BF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538ADE84-6FFB-4F67-A44D-30506A9E3B52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9 cm.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7A98E840-6A22-490D-A9D6-0E4DF7E8E917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E9F6B4DE-D26B-4F81-AED7-67A076FA92AE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80 cm2.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23DF1888-71FB-48A2-B502-606D290C2D1E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63839406-33F6-44E9-BAC1-04920C35F2B9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Area 126 cm2; perimeter 46 cm.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B3673A1B-324F-4A7C-8FB9-5D0C7EE29BBB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F691F774-796B-46F8-A0A8-05E52FB85BDC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9 cm.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BBA17840-153B-46C3-B473-7C7EA4AFFA44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BCB603B2-5ADB-4938-BB1E-83E8C6EF6D59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80 cm2. Method or representation may vary.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E7A78C9D-948D-45CD-A9C1-DA276C3BF3FB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ADDE3A50-4B1B-49B2-B954-D2BCE77AD9B5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Area 126 cm2; perimeter 46 cm. A valid check must be shown.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54298F3F-234F-45A0-A541-42C2B1542F04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D9295851-1244-4C2C-BC83-25139AC7F5FF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84 cm2. The explanation must show why the method works.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EA0551F0-0712-450E-8834-5EE9620D8FFC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C2BC160B-0821-4A47-833E-975074837016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Mark the perpendicular height, use base times height, and divide by two only for a triangle.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3255C1FC-F094-4457-95D8-4367F875A3B9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461317F8-D84F-44FC-97A7-7EB18FC8C18A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 should name an inverse, estimate, boundary, known fact or equivalent representation.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330CE669-3E99-4069-B83E-89A164768B2F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2975A4AC-8A98-44C0-A09A-C265EF1D368D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new question must use the same mathematical structure and include a correct solution.</a:t>
            </a:r>
          </a:p>
        </p:txBody>
      </p:sp>
    </p:spTree>
    <p:extLst>
      <p:ext uri="{BB962C8B-B14F-4D97-AF65-F5344CB8AC3E}">
        <p14:creationId xmlns:p14="http://schemas.microsoft.com/office/powerpoint/2010/main" val="117412278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1056</Words>
  <Application>Microsoft Office PowerPoint</Application>
  <DocSecurity>0</DocSecurity>
  <PresentationFormat>Custom</PresentationFormat>
  <Paragraphs>102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2026-09-14T13:14:36Z</dcterms:created>
  <dcterms:modified xsi:type="dcterms:W3CDTF">2026-09-14T13:17:36Z</dcterms:modified>
</cp:coreProperties>
</file>