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the area of parallelograms. Find the area of parallelograms.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the area of parallelograms. I do. Show the perpendicular height. Rearrange the parallelogram into a rectangle or use two equal triangles to make the base-times-height area.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the area of parallelograms. You do. Pause before clicking. Let pupils try independently, then reveal and discuss every step. Show the perpendicular height. Rearrange the parallelogram into a rectangle or use two equal triangles to make the base-times-height area.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the area of parallelograms. I do. Show the perpendicular height. Rearrange the parallelogram into a rectangle or use two equal triangles to make the base-times-height area.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the area of parallelograms. You do. Pause before clicking. Let pupils try independently, then reveal and discuss every step. Show the perpendicular height. Rearrange the parallelogram into a rectangle or use two equal triangles to make the base-times-height area.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the area of parallelograms.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the area of parallelograms.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1076123F-859C-47E6-BAD2-E86054A4B9F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Find the area of parallelograms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52BB043-BFF3-4A25-B8D7-CAFAD0A6979C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9ECE388-53AF-47AC-83A5-B27393C5D16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C17B0EFC-B70B-4C12-B4E5-C2F0C316EA1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the area of parallelograms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EC4F507B-BCA5-47DF-8CAD-FFD64833951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7F3ABB1-DB13-41FC-937B-2D9EFAD61B00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calculate the area of parallelograms using base and perpendicular height.</a:t>
            </a:r>
          </a:p>
        </p:txBody>
      </p:sp>
    </p:spTree>
    <p:extLst>
      <p:ext uri="{BB962C8B-B14F-4D97-AF65-F5344CB8AC3E}">
        <p14:creationId xmlns:p14="http://schemas.microsoft.com/office/powerpoint/2010/main" val="18394713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B5E77BC9-BFCE-477C-8532-C9047DBC14F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242E5CF-6DEE-4ED8-B0B3-2D580CAB928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area: base 12 cm, perpendicular height 7 cm.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2A9CC91-6E64-4338-AEB0-CBE6B17A188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7577BDD-D23A-4C37-B9B0-A7B9BC51278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the area of parallelograms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EF946FA7-87A3-4005-8CB7-10CAEC3A4D6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8EF2412-32E9-4A58-A4C2-2FA44B9C8EFA}"/>
              </a:ext>
            </a:extLst>
          </p:cNvPr>
          <p:cNvSpPr>
            <a:spLocks noGrp="1"/>
          </p:cNvSpPr>
          <p:nvPr/>
        </p:nvSpPr>
        <p:spPr>
          <a:xfrm>
            <a:off x="2976563" y="3333750"/>
            <a:ext cx="5715000" cy="2619375"/>
          </a:xfrm>
          <a:custGeom>
            <a:avLst/>
            <a:gdLst/>
            <a:ahLst/>
            <a:cxnLst/>
            <a:rect l="0" t="0" r="0" b="0"/>
            <a:pathLst>
              <a:path w="5715000" h="2619375">
                <a:moveTo>
                  <a:pt x="0" y="2619375"/>
                </a:moveTo>
                <a:lnTo>
                  <a:pt x="4286250" y="2619375"/>
                </a:lnTo>
                <a:lnTo>
                  <a:pt x="5715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E0BB1DA-DCAE-4A84-8E6C-B19B50AF8010}"/>
              </a:ext>
            </a:extLst>
          </p:cNvPr>
          <p:cNvSpPr>
            <a:spLocks noGrp="1"/>
          </p:cNvSpPr>
          <p:nvPr/>
        </p:nvSpPr>
        <p:spPr>
          <a:xfrm>
            <a:off x="1547813" y="3333750"/>
            <a:ext cx="1428750" cy="2619375"/>
          </a:xfrm>
          <a:custGeom>
            <a:avLst/>
            <a:gdLst/>
            <a:ahLst/>
            <a:cxnLst/>
            <a:rect l="0" t="0" r="0" b="0"/>
            <a:pathLst>
              <a:path w="1428750" h="2619375">
                <a:moveTo>
                  <a:pt x="0" y="2619375"/>
                </a:moveTo>
                <a:lnTo>
                  <a:pt x="1428750" y="2619375"/>
                </a:lnTo>
                <a:lnTo>
                  <a:pt x="1428750" y="0"/>
                </a:lnTo>
                <a:close/>
              </a:path>
            </a:pathLst>
          </a:custGeom>
          <a:solidFill>
            <a:srgbClr val="93C5FD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B90F196-D4E6-44D0-94F8-A1C5F2DD462C}"/>
              </a:ext>
            </a:extLst>
          </p:cNvPr>
          <p:cNvSpPr>
            <a:spLocks noGrp="1"/>
          </p:cNvSpPr>
          <p:nvPr/>
        </p:nvSpPr>
        <p:spPr>
          <a:xfrm>
            <a:off x="2262188" y="6155531"/>
            <a:ext cx="4405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 cm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F557890-418A-41D2-9DC8-6139CF03BF10}"/>
              </a:ext>
            </a:extLst>
          </p:cNvPr>
          <p:cNvSpPr>
            <a:spLocks noGrp="1"/>
          </p:cNvSpPr>
          <p:nvPr/>
        </p:nvSpPr>
        <p:spPr>
          <a:xfrm>
            <a:off x="4226719" y="4250531"/>
            <a:ext cx="21431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 cm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177713F-9EA6-4ADA-A1F8-E8B83C33893B}"/>
              </a:ext>
            </a:extLst>
          </p:cNvPr>
          <p:cNvSpPr>
            <a:spLocks noGrp="1"/>
          </p:cNvSpPr>
          <p:nvPr/>
        </p:nvSpPr>
        <p:spPr>
          <a:xfrm>
            <a:off x="4048125" y="3333750"/>
            <a:ext cx="0" cy="2619375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16AA18CD-2403-4F0E-9EE5-336D8A333E76}"/>
              </a:ext>
            </a:extLst>
          </p:cNvPr>
          <p:cNvSpPr>
            <a:spLocks noGrp="1"/>
          </p:cNvSpPr>
          <p:nvPr/>
        </p:nvSpPr>
        <p:spPr>
          <a:xfrm>
            <a:off x="9703594" y="3690938"/>
            <a:ext cx="4405313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12 × 7 = 84 cm²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99E0A36A-2295-4503-BFD7-97971ED4D6B6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Count square units, not the length around the edge.</a:t>
            </a:r>
          </a:p>
        </p:txBody>
      </p:sp>
    </p:spTree>
    <p:extLst>
      <p:ext uri="{BB962C8B-B14F-4D97-AF65-F5344CB8AC3E}">
        <p14:creationId xmlns:p14="http://schemas.microsoft.com/office/powerpoint/2010/main" val="1906041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75 0 E" pathEditMode="relative" ptsTypes="">
                                      <p:cBhvr>
                                        <p:cTn id="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-1">
            <a:extLst>
              <a:ext uri="{FF2B5EF4-FFF2-40B4-BE49-F238E27FC236}">
                <a16:creationId xmlns:a16="http://schemas.microsoft.com/office/drawing/2014/main" id="{16DCAFD3-D91B-4485-B63A-58793A196CA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F78C17E-8302-4625-B00E-8009ECD69706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4EB81CC-D054-4988-8E5F-350A3C36E70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area: base 14 cm, perpendicular height 7 cm.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A3E791B-403B-450C-9EE0-2141DAE6B07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947D10C-B83F-4702-AFE9-F951E8AFF483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the area of parallelograms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7D89367-6DED-4204-B321-C4E2AC45345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F9EE8FA-DFB8-4E8F-9318-B04F7393D7A8}"/>
              </a:ext>
            </a:extLst>
          </p:cNvPr>
          <p:cNvSpPr>
            <a:spLocks noGrp="1"/>
          </p:cNvSpPr>
          <p:nvPr/>
        </p:nvSpPr>
        <p:spPr>
          <a:xfrm>
            <a:off x="2976563" y="3333750"/>
            <a:ext cx="5715000" cy="2619375"/>
          </a:xfrm>
          <a:custGeom>
            <a:avLst/>
            <a:gdLst/>
            <a:ahLst/>
            <a:cxnLst/>
            <a:rect l="0" t="0" r="0" b="0"/>
            <a:pathLst>
              <a:path w="5715000" h="2619375">
                <a:moveTo>
                  <a:pt x="0" y="2619375"/>
                </a:moveTo>
                <a:lnTo>
                  <a:pt x="4286250" y="2619375"/>
                </a:lnTo>
                <a:lnTo>
                  <a:pt x="5715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D281AC2-D0C2-447A-A8AA-04FEC4D6B49B}"/>
              </a:ext>
            </a:extLst>
          </p:cNvPr>
          <p:cNvSpPr>
            <a:spLocks noGrp="1"/>
          </p:cNvSpPr>
          <p:nvPr/>
        </p:nvSpPr>
        <p:spPr>
          <a:xfrm>
            <a:off x="1547813" y="3333750"/>
            <a:ext cx="1428750" cy="2619375"/>
          </a:xfrm>
          <a:custGeom>
            <a:avLst/>
            <a:gdLst/>
            <a:ahLst/>
            <a:cxnLst/>
            <a:rect l="0" t="0" r="0" b="0"/>
            <a:pathLst>
              <a:path w="1428750" h="2619375">
                <a:moveTo>
                  <a:pt x="0" y="2619375"/>
                </a:moveTo>
                <a:lnTo>
                  <a:pt x="1428750" y="2619375"/>
                </a:lnTo>
                <a:lnTo>
                  <a:pt x="1428750" y="0"/>
                </a:lnTo>
                <a:close/>
              </a:path>
            </a:pathLst>
          </a:custGeom>
          <a:solidFill>
            <a:srgbClr val="93C5FD"/>
          </a:solidFill>
          <a:ln w="23813">
            <a:solidFill>
              <a:srgbClr val="1D4ED8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50318FC2-E8AB-4A7A-A227-8BF051BDCF59}"/>
              </a:ext>
            </a:extLst>
          </p:cNvPr>
          <p:cNvSpPr>
            <a:spLocks noGrp="1"/>
          </p:cNvSpPr>
          <p:nvPr/>
        </p:nvSpPr>
        <p:spPr>
          <a:xfrm>
            <a:off x="2262188" y="6155531"/>
            <a:ext cx="4405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14 cm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25BBA90-1515-4878-950A-2CC5D21FB00A}"/>
              </a:ext>
            </a:extLst>
          </p:cNvPr>
          <p:cNvSpPr>
            <a:spLocks noGrp="1"/>
          </p:cNvSpPr>
          <p:nvPr/>
        </p:nvSpPr>
        <p:spPr>
          <a:xfrm>
            <a:off x="4226719" y="4250531"/>
            <a:ext cx="21431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 cm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79A7A1F-E73D-4691-928D-C42D68646ADE}"/>
              </a:ext>
            </a:extLst>
          </p:cNvPr>
          <p:cNvSpPr>
            <a:spLocks noGrp="1"/>
          </p:cNvSpPr>
          <p:nvPr/>
        </p:nvSpPr>
        <p:spPr>
          <a:xfrm>
            <a:off x="4048125" y="3333750"/>
            <a:ext cx="0" cy="2619375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B02D28F-4FB2-435A-90D2-C4255A80A99F}"/>
              </a:ext>
            </a:extLst>
          </p:cNvPr>
          <p:cNvSpPr>
            <a:spLocks noGrp="1"/>
          </p:cNvSpPr>
          <p:nvPr/>
        </p:nvSpPr>
        <p:spPr>
          <a:xfrm>
            <a:off x="9703594" y="3690938"/>
            <a:ext cx="4405313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14 × 7 = 98 cm²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02FBEF7-EE25-4A70-82B4-8DD64354FC49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Count square units, not the length around the edge.</a:t>
            </a:r>
          </a:p>
        </p:txBody>
      </p:sp>
    </p:spTree>
    <p:extLst>
      <p:ext uri="{BB962C8B-B14F-4D97-AF65-F5344CB8AC3E}">
        <p14:creationId xmlns:p14="http://schemas.microsoft.com/office/powerpoint/2010/main" val="1735644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75 0 E" pathEditMode="relative" ptsTypes="">
                                      <p:cBhvr>
                                        <p:cTn id="6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690D6D5B-2B61-413E-91E9-85B5EC2EE1D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8471F9E-465F-4D0A-8AC8-841CBBFC743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area: base 16 cm, perpendicular height 7 cm.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0E13A2B-E676-4133-9200-B524D3C4A47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FB99877-9402-497A-BA9B-004C36322C9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the area of parallelograms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25B356A-85F4-43BE-A17F-FAA2F8C8882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585B096-0D44-4897-A27E-CB949B2FDBD2}"/>
              </a:ext>
            </a:extLst>
          </p:cNvPr>
          <p:cNvSpPr>
            <a:spLocks noGrp="1"/>
          </p:cNvSpPr>
          <p:nvPr/>
        </p:nvSpPr>
        <p:spPr>
          <a:xfrm>
            <a:off x="2976563" y="3333750"/>
            <a:ext cx="5715000" cy="2619375"/>
          </a:xfrm>
          <a:custGeom>
            <a:avLst/>
            <a:gdLst/>
            <a:ahLst/>
            <a:cxnLst/>
            <a:rect l="0" t="0" r="0" b="0"/>
            <a:pathLst>
              <a:path w="5715000" h="2619375">
                <a:moveTo>
                  <a:pt x="0" y="2619375"/>
                </a:moveTo>
                <a:lnTo>
                  <a:pt x="4286250" y="2619375"/>
                </a:lnTo>
                <a:lnTo>
                  <a:pt x="5715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86E94FF-F10B-4A80-9E6E-D69AC84F26EC}"/>
              </a:ext>
            </a:extLst>
          </p:cNvPr>
          <p:cNvSpPr>
            <a:spLocks noGrp="1"/>
          </p:cNvSpPr>
          <p:nvPr/>
        </p:nvSpPr>
        <p:spPr>
          <a:xfrm>
            <a:off x="1547813" y="3333750"/>
            <a:ext cx="1428750" cy="2619375"/>
          </a:xfrm>
          <a:custGeom>
            <a:avLst/>
            <a:gdLst/>
            <a:ahLst/>
            <a:cxnLst/>
            <a:rect l="0" t="0" r="0" b="0"/>
            <a:pathLst>
              <a:path w="1428750" h="2619375">
                <a:moveTo>
                  <a:pt x="0" y="2619375"/>
                </a:moveTo>
                <a:lnTo>
                  <a:pt x="1428750" y="2619375"/>
                </a:lnTo>
                <a:lnTo>
                  <a:pt x="1428750" y="0"/>
                </a:lnTo>
                <a:close/>
              </a:path>
            </a:pathLst>
          </a:custGeom>
          <a:solidFill>
            <a:srgbClr val="93C5FD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6497FE8B-800B-4BA2-B7C4-316A0EA4E3C5}"/>
              </a:ext>
            </a:extLst>
          </p:cNvPr>
          <p:cNvSpPr>
            <a:spLocks noGrp="1"/>
          </p:cNvSpPr>
          <p:nvPr/>
        </p:nvSpPr>
        <p:spPr>
          <a:xfrm>
            <a:off x="2262188" y="6155531"/>
            <a:ext cx="4405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16 cm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CC4FB2B-E4C3-4E64-AA8E-C092C00212CC}"/>
              </a:ext>
            </a:extLst>
          </p:cNvPr>
          <p:cNvSpPr>
            <a:spLocks noGrp="1"/>
          </p:cNvSpPr>
          <p:nvPr/>
        </p:nvSpPr>
        <p:spPr>
          <a:xfrm>
            <a:off x="4226719" y="4250531"/>
            <a:ext cx="21431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 cm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AFF635F-43F9-4628-B0BF-8EB6595CE0CE}"/>
              </a:ext>
            </a:extLst>
          </p:cNvPr>
          <p:cNvSpPr>
            <a:spLocks noGrp="1"/>
          </p:cNvSpPr>
          <p:nvPr/>
        </p:nvSpPr>
        <p:spPr>
          <a:xfrm>
            <a:off x="4048125" y="3333750"/>
            <a:ext cx="0" cy="2619375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A6D638E-B89E-4F3B-9980-C77B3D08C5DE}"/>
              </a:ext>
            </a:extLst>
          </p:cNvPr>
          <p:cNvSpPr>
            <a:spLocks noGrp="1"/>
          </p:cNvSpPr>
          <p:nvPr/>
        </p:nvSpPr>
        <p:spPr>
          <a:xfrm>
            <a:off x="9703594" y="3690938"/>
            <a:ext cx="4405313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16 × 7 = 112 cm²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8F134B3-CDBE-43B4-A09E-870DAFA9AA05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Count square units, not the length around the edge.</a:t>
            </a:r>
          </a:p>
        </p:txBody>
      </p:sp>
    </p:spTree>
    <p:extLst>
      <p:ext uri="{BB962C8B-B14F-4D97-AF65-F5344CB8AC3E}">
        <p14:creationId xmlns:p14="http://schemas.microsoft.com/office/powerpoint/2010/main" val="517649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75 0 E" pathEditMode="relative" ptsTypes="">
                                      <p:cBhvr>
                                        <p:cTn id="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-1">
            <a:extLst>
              <a:ext uri="{FF2B5EF4-FFF2-40B4-BE49-F238E27FC236}">
                <a16:creationId xmlns:a16="http://schemas.microsoft.com/office/drawing/2014/main" id="{A8924E9B-278A-488A-8256-D9CD5F379D3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92E4430-7BFC-4B5E-8932-F6F206F1C777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B1BFA0D-A444-4499-A914-F3B90C9D843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area: base 18 cm, perpendicular height 7 cm.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A9A30B1-A0E8-4D41-B616-5BBF7742BB6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E9D6CCC6-2F03-425A-AFC4-7E3F06DD59D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the area of parallelograms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8A3F402-C04C-46F6-8CA2-803C6F4F160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746E621-1454-45E4-A927-9FB51AF7A636}"/>
              </a:ext>
            </a:extLst>
          </p:cNvPr>
          <p:cNvSpPr>
            <a:spLocks noGrp="1"/>
          </p:cNvSpPr>
          <p:nvPr/>
        </p:nvSpPr>
        <p:spPr>
          <a:xfrm>
            <a:off x="2976563" y="3333750"/>
            <a:ext cx="5715000" cy="2619375"/>
          </a:xfrm>
          <a:custGeom>
            <a:avLst/>
            <a:gdLst/>
            <a:ahLst/>
            <a:cxnLst/>
            <a:rect l="0" t="0" r="0" b="0"/>
            <a:pathLst>
              <a:path w="5715000" h="2619375">
                <a:moveTo>
                  <a:pt x="0" y="2619375"/>
                </a:moveTo>
                <a:lnTo>
                  <a:pt x="4286250" y="2619375"/>
                </a:lnTo>
                <a:lnTo>
                  <a:pt x="5715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DD19236-96F2-4EE9-BF1D-E337000617F8}"/>
              </a:ext>
            </a:extLst>
          </p:cNvPr>
          <p:cNvSpPr>
            <a:spLocks noGrp="1"/>
          </p:cNvSpPr>
          <p:nvPr/>
        </p:nvSpPr>
        <p:spPr>
          <a:xfrm>
            <a:off x="1547813" y="3333750"/>
            <a:ext cx="1428750" cy="2619375"/>
          </a:xfrm>
          <a:custGeom>
            <a:avLst/>
            <a:gdLst/>
            <a:ahLst/>
            <a:cxnLst/>
            <a:rect l="0" t="0" r="0" b="0"/>
            <a:pathLst>
              <a:path w="1428750" h="2619375">
                <a:moveTo>
                  <a:pt x="0" y="2619375"/>
                </a:moveTo>
                <a:lnTo>
                  <a:pt x="1428750" y="2619375"/>
                </a:lnTo>
                <a:lnTo>
                  <a:pt x="1428750" y="0"/>
                </a:lnTo>
                <a:close/>
              </a:path>
            </a:pathLst>
          </a:custGeom>
          <a:solidFill>
            <a:srgbClr val="93C5FD"/>
          </a:solidFill>
          <a:ln w="23813">
            <a:solidFill>
              <a:srgbClr val="1D4ED8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95826BE-D93F-46CE-BB62-2E6CE1C297E9}"/>
              </a:ext>
            </a:extLst>
          </p:cNvPr>
          <p:cNvSpPr>
            <a:spLocks noGrp="1"/>
          </p:cNvSpPr>
          <p:nvPr/>
        </p:nvSpPr>
        <p:spPr>
          <a:xfrm>
            <a:off x="2262188" y="6155531"/>
            <a:ext cx="4405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18 cm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FEBB7B9-1725-462A-AD0C-F690F735FA81}"/>
              </a:ext>
            </a:extLst>
          </p:cNvPr>
          <p:cNvSpPr>
            <a:spLocks noGrp="1"/>
          </p:cNvSpPr>
          <p:nvPr/>
        </p:nvSpPr>
        <p:spPr>
          <a:xfrm>
            <a:off x="4226719" y="4250531"/>
            <a:ext cx="21431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 cm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6B0C4D1-28DB-4975-94CE-787844524AE9}"/>
              </a:ext>
            </a:extLst>
          </p:cNvPr>
          <p:cNvSpPr>
            <a:spLocks noGrp="1"/>
          </p:cNvSpPr>
          <p:nvPr/>
        </p:nvSpPr>
        <p:spPr>
          <a:xfrm>
            <a:off x="4048125" y="3333750"/>
            <a:ext cx="0" cy="2619375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52E4ADF-0829-4349-9A13-21288026E81B}"/>
              </a:ext>
            </a:extLst>
          </p:cNvPr>
          <p:cNvSpPr>
            <a:spLocks noGrp="1"/>
          </p:cNvSpPr>
          <p:nvPr/>
        </p:nvSpPr>
        <p:spPr>
          <a:xfrm>
            <a:off x="9703594" y="3690938"/>
            <a:ext cx="4405313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18 × 7 = 126 cm²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A9C14A3-966E-48BE-881E-E1BA45FE3CA5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Count square units, not the length around the edge.</a:t>
            </a:r>
          </a:p>
        </p:txBody>
      </p:sp>
    </p:spTree>
    <p:extLst>
      <p:ext uri="{BB962C8B-B14F-4D97-AF65-F5344CB8AC3E}">
        <p14:creationId xmlns:p14="http://schemas.microsoft.com/office/powerpoint/2010/main" val="586615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75 0 E" pathEditMode="relative" ptsTypes="">
                                      <p:cBhvr>
                                        <p:cTn id="6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A4EA1372-C33B-4145-85E5-3DC84EBD0A5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DC5E831-7806-40BA-8153-EF6A49DE3CDF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FAF6571-B1EB-4E2E-89E7-BE41210E4C1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DEB7062-ACA6-417C-8844-A9E5FEB431E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0555E07-C51A-40BE-AED6-EE2DA48DDDA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the area of parallelograms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4243FFF-B306-4E3E-ADBB-37919A3FE0B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6806FE5-B792-4007-8582-3225238F74B6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5BC3B1A-056C-4144-9E4D-39C00DD509C9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area of a parallelogram with base 12 cm and perpendicular height 7 cm.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8933F41-45C6-4099-9336-331A734F93B5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7C912F7-C40C-46CC-95D1-C593EAD1E988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area of a triangle with base 15 cm and perpendicular height 8 cm.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140FF464-D3B7-4038-85AF-F7A9DB73D2F8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39F37BA-7208-4C27-81B0-D11D26FC913C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triangle has area 54 cm2 and base 12 cm. Find its perpendicular height.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F948AA2-5004-460F-BCC4-EFBA9EC79CFA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E11EC0B1-6400-4E4D-B7E3-04484831892D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Find the area of a parallelogram with base 12 cm and perpendicular height 7 cm.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01B5BE7B-2AB8-4463-9E05-9749F6EB3493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C61F224A-3473-439A-BDC2-D2A6BA8E3939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Find the area of a triangle with base 15 cm and perpendicular height 8 cm.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A903384-1EEE-490D-B946-78A3F411E749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1BBFBE59-DD7F-4494-B681-BBAB0C261337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A triangle has area 54 cm2 and base 12 cm. Find its perpendicular height.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D482806A-B7BD-46D4-84AE-8D78AACD94FC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8AA46393-B820-476B-8F47-DEB14C2F49FF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A shape combines a 10 cm by 6 cm rectangle and a triangle with base 10 cm and height 4 cm. Find total area.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405C984D-2836-4723-B39B-984901F78413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EAE22754-1284-4F67-A0A7-732EBEB06786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uses the sloping side as the height and forgets to halve a triangle's area.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9617C579-BFB2-489F-B1FF-2E0BB75DEB2D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38623A6B-6CFE-4D73-BAD1-9E2E55A86068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05D266DD-7BC4-46BA-8E47-9D70FE9E99D1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E1EB6D11-1A4F-4386-AA57-83FFE57EF903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A triangle has area 54 cm2 and base 12 cm. Find its perpendicular height.</a:t>
            </a:r>
          </a:p>
        </p:txBody>
      </p:sp>
    </p:spTree>
    <p:extLst>
      <p:ext uri="{BB962C8B-B14F-4D97-AF65-F5344CB8AC3E}">
        <p14:creationId xmlns:p14="http://schemas.microsoft.com/office/powerpoint/2010/main" val="1544910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B6707E68-9155-44C7-A124-6A69452E031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B4A3852-91A1-4E42-A814-E06FE46753C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80F3868-F1B8-451B-8649-D67FA72D6DB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F9EC614-B53C-4928-A8B1-16CCA1CFD36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the area of parallelograms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724B968-04CB-45E9-AE6D-DA18DA58BC7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88419DD-07A6-4607-8C23-712FB1DC17BF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9814522-52FB-4306-89A8-37E0A1A7A890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84 cm2.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DFCDAE0-E731-4836-979B-4E0B7B68B3EA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551F2E19-5C5B-4BA3-A1C6-D1FBA13F5D23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60 cm2.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498D93F-76E7-4F9B-9DCE-556D603333C4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8E2B28A-E2AB-45C3-B445-4CD435011984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9 cm.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5C713E4-3323-43BE-9D28-2DEA3C42DB70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91C90DA-FA1A-4657-AB5B-9D36D4537CDA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84 cm2.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115109CD-8546-497E-8DFA-FB2D967B88D2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20492EB-F898-4A36-842E-48220CAE5D51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60 cm2.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0FE16B7-BF46-469D-B9DA-3C73BEAC82B1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00C6A6C7-32EC-4AB6-8FAF-7722A66B0FC6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9 cm.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A079D241-89C9-4798-8DF9-508D02F6E12C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041EC571-7427-48A4-ACE4-5826C9C2D503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80 cm2.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9287D8EE-6634-4736-A8A8-C8FEAE54386F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8E782C29-D9F0-4547-B0BA-A873B207259E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Mark the perpendicular height, use base times height, and divide by two only for a triangle.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D4E39FB4-3185-4CDF-BC6A-AEE13A130593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98621872-BC51-4B9F-A947-DADB4F137293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2BA6FE21-E950-459F-A05F-83EB09E50203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F394D859-EE10-4941-B5E9-84491553DBC7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51239456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1062</Words>
  <Application>Microsoft Office PowerPoint</Application>
  <DocSecurity>0</DocSecurity>
  <PresentationFormat>Custom</PresentationFormat>
  <Paragraphs>102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2026-09-14T13:14:36Z</dcterms:created>
  <dcterms:modified xsi:type="dcterms:W3CDTF">2026-09-14T13:17:34Z</dcterms:modified>
</cp:coreProperties>
</file>