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statistical problems. Solve statistical problems.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statistical problems. I do. Identify the operation represented by each part. Reveal one calculation at a time, then follow the result into the next step.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statistical problems. You do. Pause before clicking. Let pupils try independently, then reveal and discuss every step. Identify the operation represented by each part. Reveal one calculation at a time, then follow the result into the next step.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statistical problems. I do. Identify the operation represented by each part. Reveal one calculation at a time, then follow the result into the next step.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statistical problems. You do. Pause before clicking. Let pupils try independently, then reveal and discuss every step. Identify the operation represented by each part. Reveal one calculation at a time, then follow the result into the next step.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statistical problems.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statistical problems.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4BB9BC9B-FC3B-45B5-926F-63D0B7AB95CD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Solve statistical problems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27617822-83E7-4190-BA19-4CC447B98742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CFACED9E-89F4-4B9C-939C-E5E5A4A15B35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1F5D5E0-A2F0-412B-A4EC-D41276DDF7C0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statistical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DA808FC2-5E49-4EA4-85AA-C8510112EF22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491C502-B0DA-4DC2-8C52-B525C979BC37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compare datasets and explain conclusions from evidence.</a:t>
            </a:r>
          </a:p>
        </p:txBody>
      </p:sp>
    </p:spTree>
    <p:extLst>
      <p:ext uri="{BB962C8B-B14F-4D97-AF65-F5344CB8AC3E}">
        <p14:creationId xmlns:p14="http://schemas.microsoft.com/office/powerpoint/2010/main" val="920188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-1">
            <a:extLst>
              <a:ext uri="{FF2B5EF4-FFF2-40B4-BE49-F238E27FC236}">
                <a16:creationId xmlns:a16="http://schemas.microsoft.com/office/drawing/2014/main" id="{E4A79C8E-6DCB-4D0E-B85D-7D63EB63350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28C49AC3-935F-4DB2-9731-43D224CABA09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Compare mean 24 with a dataset totalling 207 across 9 values.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2221902-0849-4974-9D9A-9416AB9A1B0D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E77ABE86-C10D-4A2A-B19B-471FBCB12182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statistical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AF72D5D8-5B59-4C4B-8F90-FDB7C3A9AE92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5780D26-A05A-4180-8D4F-98E9BCD8E889}"/>
              </a:ext>
            </a:extLst>
          </p:cNvPr>
          <p:cNvSpPr>
            <a:spLocks noGrp="1"/>
          </p:cNvSpPr>
          <p:nvPr/>
        </p:nvSpPr>
        <p:spPr>
          <a:xfrm>
            <a:off x="1012031" y="271462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207 ÷ 9 =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35688B61-3C3E-4454-9B08-059AA3E08709}"/>
              </a:ext>
            </a:extLst>
          </p:cNvPr>
          <p:cNvSpPr>
            <a:spLocks noGrp="1"/>
          </p:cNvSpPr>
          <p:nvPr/>
        </p:nvSpPr>
        <p:spPr>
          <a:xfrm>
            <a:off x="9346406" y="271462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1B8BCAD8-3761-4C37-B589-6898A78853A6}"/>
              </a:ext>
            </a:extLst>
          </p:cNvPr>
          <p:cNvSpPr>
            <a:spLocks noGrp="1"/>
          </p:cNvSpPr>
          <p:nvPr/>
        </p:nvSpPr>
        <p:spPr>
          <a:xfrm>
            <a:off x="1012031" y="4064000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Difference between means =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7244AE33-4FDA-4623-9377-B69D4C5F12FE}"/>
              </a:ext>
            </a:extLst>
          </p:cNvPr>
          <p:cNvSpPr>
            <a:spLocks noGrp="1"/>
          </p:cNvSpPr>
          <p:nvPr/>
        </p:nvSpPr>
        <p:spPr>
          <a:xfrm>
            <a:off x="9346406" y="4064000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505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12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22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7" grpId="1"/>
      <p:bldP spid="8" grpId="0"/>
      <p:bldP spid="9" grpId="0"/>
      <p:bldP spid="9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-1">
            <a:extLst>
              <a:ext uri="{FF2B5EF4-FFF2-40B4-BE49-F238E27FC236}">
                <a16:creationId xmlns:a16="http://schemas.microsoft.com/office/drawing/2014/main" id="{F7DC3F77-3056-4FF6-968B-34B02CD0906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690D5F2F-276C-4AEE-81AA-161CBFED6536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EB8C89F5-3511-4871-A40A-095CCB741927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Compare mean 25 with a dataset totalling 207 across 9 values.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9A492FF5-77AC-4102-8E1C-6415F009B505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744A164A-6E57-42D0-A882-0D1BEF30F756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statistical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E66243BB-3078-4949-9D0C-17478D7DE74E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FEC04BBC-191A-45CA-B77F-E40B826A6FEC}"/>
              </a:ext>
            </a:extLst>
          </p:cNvPr>
          <p:cNvSpPr>
            <a:spLocks noGrp="1"/>
          </p:cNvSpPr>
          <p:nvPr/>
        </p:nvSpPr>
        <p:spPr>
          <a:xfrm>
            <a:off x="1012031" y="271462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207 ÷ 9 =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1ABD9DB8-E0BA-40BD-A5F4-FD19C53E5D5F}"/>
              </a:ext>
            </a:extLst>
          </p:cNvPr>
          <p:cNvSpPr>
            <a:spLocks noGrp="1"/>
          </p:cNvSpPr>
          <p:nvPr/>
        </p:nvSpPr>
        <p:spPr>
          <a:xfrm>
            <a:off x="9346406" y="271462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5F342F5D-0438-4CFD-BA60-22B773710F71}"/>
              </a:ext>
            </a:extLst>
          </p:cNvPr>
          <p:cNvSpPr>
            <a:spLocks noGrp="1"/>
          </p:cNvSpPr>
          <p:nvPr/>
        </p:nvSpPr>
        <p:spPr>
          <a:xfrm>
            <a:off x="1012031" y="4064000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Difference between means =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440F44AF-FE4B-4E0D-9896-ABD782AE0A8E}"/>
              </a:ext>
            </a:extLst>
          </p:cNvPr>
          <p:cNvSpPr>
            <a:spLocks noGrp="1"/>
          </p:cNvSpPr>
          <p:nvPr/>
        </p:nvSpPr>
        <p:spPr>
          <a:xfrm>
            <a:off x="9346406" y="4064000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5559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12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22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8" grpId="1"/>
      <p:bldP spid="9" grpId="0"/>
      <p:bldP spid="10" grpId="0"/>
      <p:bldP spid="1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-1">
            <a:extLst>
              <a:ext uri="{FF2B5EF4-FFF2-40B4-BE49-F238E27FC236}">
                <a16:creationId xmlns:a16="http://schemas.microsoft.com/office/drawing/2014/main" id="{719D00EE-170C-4CF2-B2D1-B5EE76E86DE5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D9786CF0-AA07-4C23-91BE-DA53AAF3CC0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Compare mean 26 with a dataset totalling 207 across 9 values.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5647221F-066A-4822-9C2E-B073A91C9952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3F8A01B4-B816-43D5-8A27-566B93878617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statistical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546EA93F-8320-42E6-A643-9C9D6DF4D87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F34CC77E-56E4-46A9-8FC8-E0F12C8498CC}"/>
              </a:ext>
            </a:extLst>
          </p:cNvPr>
          <p:cNvSpPr>
            <a:spLocks noGrp="1"/>
          </p:cNvSpPr>
          <p:nvPr/>
        </p:nvSpPr>
        <p:spPr>
          <a:xfrm>
            <a:off x="1012031" y="271462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207 ÷ 9 =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1D9616A9-2149-4749-9BA8-28F10F9CE66F}"/>
              </a:ext>
            </a:extLst>
          </p:cNvPr>
          <p:cNvSpPr>
            <a:spLocks noGrp="1"/>
          </p:cNvSpPr>
          <p:nvPr/>
        </p:nvSpPr>
        <p:spPr>
          <a:xfrm>
            <a:off x="9346406" y="271462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4FC2BE6C-E275-4EFB-9726-44BC0032E3D7}"/>
              </a:ext>
            </a:extLst>
          </p:cNvPr>
          <p:cNvSpPr>
            <a:spLocks noGrp="1"/>
          </p:cNvSpPr>
          <p:nvPr/>
        </p:nvSpPr>
        <p:spPr>
          <a:xfrm>
            <a:off x="1012031" y="4064000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Difference between means =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140176CC-ACC2-4D57-B681-48431D7B08CC}"/>
              </a:ext>
            </a:extLst>
          </p:cNvPr>
          <p:cNvSpPr>
            <a:spLocks noGrp="1"/>
          </p:cNvSpPr>
          <p:nvPr/>
        </p:nvSpPr>
        <p:spPr>
          <a:xfrm>
            <a:off x="9346406" y="4064000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5214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12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22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7" grpId="1"/>
      <p:bldP spid="8" grpId="0"/>
      <p:bldP spid="9" grpId="0"/>
      <p:bldP spid="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-1">
            <a:extLst>
              <a:ext uri="{FF2B5EF4-FFF2-40B4-BE49-F238E27FC236}">
                <a16:creationId xmlns:a16="http://schemas.microsoft.com/office/drawing/2014/main" id="{6A475205-9CC0-433A-9182-7C9F285B765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1FE53F7-FFB6-4EC3-831A-E33C3B60AB41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4B3C8AB-909D-49C8-A869-9DC07DEF55DF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Compare mean 27 with a dataset totalling 207 across 9 values.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B07F4D79-E565-4820-B76C-79AEE186B0C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DE8E46FD-2622-4628-ADF3-54AC1C288360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statistical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0AA0975-CB51-4F20-A0F5-AA072957BE10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A9ECA060-F13F-4D2C-8049-25703315E213}"/>
              </a:ext>
            </a:extLst>
          </p:cNvPr>
          <p:cNvSpPr>
            <a:spLocks noGrp="1"/>
          </p:cNvSpPr>
          <p:nvPr/>
        </p:nvSpPr>
        <p:spPr>
          <a:xfrm>
            <a:off x="1012031" y="271462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207 ÷ 9 =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424CED76-51EE-4F95-AD38-040004D287CE}"/>
              </a:ext>
            </a:extLst>
          </p:cNvPr>
          <p:cNvSpPr>
            <a:spLocks noGrp="1"/>
          </p:cNvSpPr>
          <p:nvPr/>
        </p:nvSpPr>
        <p:spPr>
          <a:xfrm>
            <a:off x="9346406" y="271462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A6692DCF-D847-400B-B108-16E147195F92}"/>
              </a:ext>
            </a:extLst>
          </p:cNvPr>
          <p:cNvSpPr>
            <a:spLocks noGrp="1"/>
          </p:cNvSpPr>
          <p:nvPr/>
        </p:nvSpPr>
        <p:spPr>
          <a:xfrm>
            <a:off x="1012031" y="4064000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Difference between means =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F251D32E-9FE8-47AE-94A6-FB174A0D583F}"/>
              </a:ext>
            </a:extLst>
          </p:cNvPr>
          <p:cNvSpPr>
            <a:spLocks noGrp="1"/>
          </p:cNvSpPr>
          <p:nvPr/>
        </p:nvSpPr>
        <p:spPr>
          <a:xfrm>
            <a:off x="9346406" y="4064000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06974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12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22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8" grpId="1"/>
      <p:bldP spid="9" grpId="0"/>
      <p:bldP spid="10" grpId="0"/>
      <p:bldP spid="1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017268CD-0809-4585-8A14-783376E577D0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5551B46-242A-466A-8890-EB54F8A04836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E9D78E18-81CD-4F55-A364-D33E1376D4B5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5C4883E4-FD89-4DF5-B8DB-370C57EB1AF3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D120B7FF-1403-46E5-A16D-FDAE4177D2AC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statistical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6043FFE-09A7-47DB-8864-27612A46A966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181D18AD-21B7-41C8-9649-224C8B44C1CF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830CC833-DE2F-409C-B941-B350401FDE58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Dataset A has mean 24 over 8 values. Dataset B has total 207 over 9 values. Which mean is greater?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1684F18E-AC32-4B33-9A62-4AF989EEEDAD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0B2B5141-7CA9-4D7C-91B5-60A956FEA02C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line graph rises from 18 to 46. What is the increase?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C63E24BE-5336-4D20-BD25-54ED5CFC7EE3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C367974C-26CA-456E-B72A-50FE5DDA0129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quarter of a 240-pupil pie chart represents walkers. How many pupils walk?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0A8CFCC-5451-4ECD-9E91-DADCAF2482E9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B7264D33-54FA-4566-9831-C57BDA0B1F39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Dataset A has mean 24 over 8 values. Dataset B has total 207 over 9 values. Which mean is greater?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64395027-9D0E-4301-B1A9-9094D25A4D5E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5A5D0514-CBF5-49C8-9C6B-6DD27AABAFA3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A line graph rises from 18 to 46. What is the increase?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A7FA4722-F41B-41A0-916E-6725CC6241D0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9AA5A8E2-9017-4615-AAC5-8BA73644C98A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A quarter of a 240-pupil pie chart represents walkers. How many pupils walk?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7B1CF11E-30C1-4CFF-A441-BB98736E1FE7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3B7A9437-51CE-4545-8DB8-40CE03299F52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In a survey of 60 pupils, 15 choose art. Find the pie-chart angle.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68FC50F4-BD8D-4DC0-8230-BB268CA9D1F2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E3411BE8-3419-476F-B2A0-BB74609B87EB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divides by the largest value instead of the number of values when finding the mean.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D06E6713-B5A1-4A0C-AE2D-13B379C94712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8129B3FA-C868-4DF2-B695-9887D9B216BA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6DA7A9A6-EA78-4C9F-B290-4EDB841019C2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8244DD62-8FA0-4BC7-A40C-142141FB6B6E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A quarter of a 240-pupil pie chart represents walkers. How many pupils walk?</a:t>
            </a:r>
          </a:p>
        </p:txBody>
      </p:sp>
    </p:spTree>
    <p:extLst>
      <p:ext uri="{BB962C8B-B14F-4D97-AF65-F5344CB8AC3E}">
        <p14:creationId xmlns:p14="http://schemas.microsoft.com/office/powerpoint/2010/main" val="1852383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C62F6C59-52FF-4422-954C-3351BADCB72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C621C2EC-BF33-47B1-A956-DCAA5697380F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C8CDA39-EBEC-4211-ACEA-4E75DE8A8DB2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CCC010BD-9FE1-434C-83CD-EA21B5CDD725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statistical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1F95762-3F16-483F-91A1-2D5DB3E13376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6AF09D08-6449-40DA-8D9D-07EC71201C92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03487714-A066-4EF6-9910-A50705FED22B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Dataset A: 24; Dataset B: 23, so A is greater.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EB41913E-B669-4003-A808-6B2A56D162FB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88BAAE5D-BD49-49A1-8FFA-53EF42F72F82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28.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D132E05A-F442-45EC-AD3F-B12D63A3E4CA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FCFE8299-A565-46E2-8FDA-6926E1B15680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60 pupils.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D6440E73-363C-4A3C-A6B0-7F3714FEF31A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611F779E-A8DE-4103-AB5C-B995FBE4FD70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Dataset A: 24; Dataset B: 23, so A is greater.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45B4EBDA-E4F7-4872-A8FC-1B85DBC8305A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341D74FD-AF40-4048-8941-11EDA1437A5C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28.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2A0FEFE5-E57E-4FA8-8DC1-20A41ABA3F41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45A490C7-69CA-4B47-9644-7817791B1174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60 pupils.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55915EF8-5DDA-4EC2-8CE9-39654D74F057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11F7C408-59AA-4C09-9B91-DE9261C28252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90 degrees.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FD1E9CCC-B427-43A1-B062-1C6B1570AF3E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477D5F16-A88B-4D3E-ABE6-E2A649DB2635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Add every value, count how many values there are, then divide the total by that count.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EA79F1FA-0DC9-4BC5-8880-83773569C46C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E818309B-D521-41C9-A330-96B290D806B8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6851D8CC-6D20-4F6A-812E-5E9047556107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8157186D-2670-40AB-AE77-8D532232B561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179359877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1007</Words>
  <Application>Microsoft Office PowerPoint</Application>
  <DocSecurity>0</DocSecurity>
  <PresentationFormat>Custom</PresentationFormat>
  <Paragraphs>102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2026-09-14T13:14:39Z</dcterms:created>
  <dcterms:modified xsi:type="dcterms:W3CDTF">2026-09-14T13:17:59Z</dcterms:modified>
</cp:coreProperties>
</file>