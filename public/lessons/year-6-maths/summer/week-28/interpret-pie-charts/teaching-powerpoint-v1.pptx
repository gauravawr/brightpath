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pie charts. Interpret pie charts.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pie charts. I do. A complete circle represents the whole: 360 degrees or the total number of pupils.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pie charts. You do. Pause before clicking. Let pupils try independently, then reveal and discuss every step. A complete circle represents the whole: 360 degrees or the total number of pupils.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pie charts. I do. A complete circle represents the whole: 360 degrees or the total number of pupils.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pie charts. You do. Pause before clicking. Let pupils try independently, then reveal and discuss every step. A complete circle represents the whole: 360 degrees or the total number of pupils.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pie charts.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pie charts.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886C1209-EB84-4A48-B0D7-7853652D704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Interpret pie charts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9630F5C-95AB-4E29-84FB-25FCCC990E55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5BC066E-E5C6-429F-9202-DDE01E61DEB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4508711-9473-44F9-9E2D-063A88CE771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pie charts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B8B2F7E-5D53-413E-9659-D810A04629C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848A88C-1652-426A-AF80-BEA3D2EBFF11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use fractions and angles to interpret pie charts.</a:t>
            </a:r>
          </a:p>
        </p:txBody>
      </p:sp>
    </p:spTree>
    <p:extLst>
      <p:ext uri="{BB962C8B-B14F-4D97-AF65-F5344CB8AC3E}">
        <p14:creationId xmlns:p14="http://schemas.microsoft.com/office/powerpoint/2010/main" val="1200228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-1">
            <a:extLst>
              <a:ext uri="{FF2B5EF4-FFF2-40B4-BE49-F238E27FC236}">
                <a16:creationId xmlns:a16="http://schemas.microsoft.com/office/drawing/2014/main" id="{571E474B-7EF3-4076-8149-D442912A782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9A9DBFE-8DB8-4F4B-A570-F80846DF5C0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1/4 of 240 pupils walk. How many is that?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4BC4EBC-FC65-4064-8155-E925949F21E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FFB02BF-607C-4E2F-862F-BE0A5DD0772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pie charts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5E98F22-096C-42FE-B799-3E5A328ED56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0E519BD-A7EA-4D0A-8D36-C775F3323CE7}"/>
              </a:ext>
            </a:extLst>
          </p:cNvPr>
          <p:cNvSpPr>
            <a:spLocks noGrp="1"/>
          </p:cNvSpPr>
          <p:nvPr/>
        </p:nvSpPr>
        <p:spPr>
          <a:xfrm>
            <a:off x="1785938" y="2738438"/>
            <a:ext cx="4286250" cy="4286250"/>
          </a:xfrm>
          <a:prstGeom prst="ellipse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9523436-ACA5-438F-8771-67FD6B87137C}"/>
              </a:ext>
            </a:extLst>
          </p:cNvPr>
          <p:cNvSpPr>
            <a:spLocks noGrp="1"/>
          </p:cNvSpPr>
          <p:nvPr/>
        </p:nvSpPr>
        <p:spPr>
          <a:xfrm>
            <a:off x="3929063" y="2738438"/>
            <a:ext cx="2143125" cy="2143125"/>
          </a:xfrm>
          <a:custGeom>
            <a:avLst/>
            <a:gdLst/>
            <a:ahLst/>
            <a:cxnLst/>
            <a:rect l="0" t="0" r="0" b="0"/>
            <a:pathLst>
              <a:path w="2143125" h="2143125">
                <a:moveTo>
                  <a:pt x="0" y="2143125"/>
                </a:moveTo>
                <a:lnTo>
                  <a:pt x="0" y="0"/>
                </a:lnTo>
                <a:lnTo>
                  <a:pt x="84139" y="1652"/>
                </a:lnTo>
                <a:lnTo>
                  <a:pt x="168148" y="6607"/>
                </a:lnTo>
                <a:lnTo>
                  <a:pt x="251897" y="14855"/>
                </a:lnTo>
                <a:lnTo>
                  <a:pt x="335259" y="26385"/>
                </a:lnTo>
                <a:lnTo>
                  <a:pt x="418103" y="41180"/>
                </a:lnTo>
                <a:lnTo>
                  <a:pt x="500303" y="59215"/>
                </a:lnTo>
                <a:lnTo>
                  <a:pt x="581731" y="80463"/>
                </a:lnTo>
                <a:lnTo>
                  <a:pt x="662262" y="104892"/>
                </a:lnTo>
                <a:lnTo>
                  <a:pt x="741772" y="132464"/>
                </a:lnTo>
                <a:lnTo>
                  <a:pt x="820138" y="163136"/>
                </a:lnTo>
                <a:lnTo>
                  <a:pt x="897240" y="196861"/>
                </a:lnTo>
                <a:lnTo>
                  <a:pt x="972958" y="233587"/>
                </a:lnTo>
                <a:lnTo>
                  <a:pt x="1047176" y="273257"/>
                </a:lnTo>
                <a:lnTo>
                  <a:pt x="1119780" y="315811"/>
                </a:lnTo>
                <a:lnTo>
                  <a:pt x="1190656" y="361182"/>
                </a:lnTo>
                <a:lnTo>
                  <a:pt x="1259697" y="409300"/>
                </a:lnTo>
                <a:lnTo>
                  <a:pt x="1326796" y="460093"/>
                </a:lnTo>
                <a:lnTo>
                  <a:pt x="1391848" y="513480"/>
                </a:lnTo>
                <a:lnTo>
                  <a:pt x="1454755" y="569380"/>
                </a:lnTo>
                <a:lnTo>
                  <a:pt x="1515418" y="627707"/>
                </a:lnTo>
                <a:lnTo>
                  <a:pt x="1573745" y="688370"/>
                </a:lnTo>
                <a:lnTo>
                  <a:pt x="1629645" y="751277"/>
                </a:lnTo>
                <a:lnTo>
                  <a:pt x="1683032" y="816329"/>
                </a:lnTo>
                <a:lnTo>
                  <a:pt x="1733825" y="883428"/>
                </a:lnTo>
                <a:lnTo>
                  <a:pt x="1781943" y="952469"/>
                </a:lnTo>
                <a:lnTo>
                  <a:pt x="1827314" y="1023345"/>
                </a:lnTo>
                <a:lnTo>
                  <a:pt x="1869868" y="1095949"/>
                </a:lnTo>
                <a:lnTo>
                  <a:pt x="1909538" y="1170167"/>
                </a:lnTo>
                <a:lnTo>
                  <a:pt x="1946264" y="1245885"/>
                </a:lnTo>
                <a:lnTo>
                  <a:pt x="1979989" y="1322987"/>
                </a:lnTo>
                <a:lnTo>
                  <a:pt x="2010661" y="1401353"/>
                </a:lnTo>
                <a:lnTo>
                  <a:pt x="2038233" y="1480863"/>
                </a:lnTo>
                <a:lnTo>
                  <a:pt x="2062662" y="1561394"/>
                </a:lnTo>
                <a:lnTo>
                  <a:pt x="2083910" y="1642822"/>
                </a:lnTo>
                <a:lnTo>
                  <a:pt x="2101945" y="1725022"/>
                </a:lnTo>
                <a:lnTo>
                  <a:pt x="2116740" y="1807866"/>
                </a:lnTo>
                <a:lnTo>
                  <a:pt x="2128270" y="1891228"/>
                </a:lnTo>
                <a:lnTo>
                  <a:pt x="2136518" y="1974977"/>
                </a:lnTo>
                <a:lnTo>
                  <a:pt x="2141473" y="2058986"/>
                </a:lnTo>
                <a:lnTo>
                  <a:pt x="2143125" y="2143125"/>
                </a:lnTo>
                <a:close/>
              </a:path>
            </a:pathLst>
          </a:custGeom>
          <a:solidFill>
            <a:srgbClr val="1D4ED8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F5299BA-5A2E-43A8-B4A4-DF10E64C882F}"/>
              </a:ext>
            </a:extLst>
          </p:cNvPr>
          <p:cNvSpPr>
            <a:spLocks noGrp="1"/>
          </p:cNvSpPr>
          <p:nvPr/>
        </p:nvSpPr>
        <p:spPr>
          <a:xfrm>
            <a:off x="7739063" y="3214688"/>
            <a:ext cx="6310313" cy="1666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240 × 1/4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0810B46-95C1-4855-9901-5DE095377820}"/>
              </a:ext>
            </a:extLst>
          </p:cNvPr>
          <p:cNvSpPr>
            <a:spLocks noGrp="1"/>
          </p:cNvSpPr>
          <p:nvPr/>
        </p:nvSpPr>
        <p:spPr>
          <a:xfrm>
            <a:off x="8215313" y="5476875"/>
            <a:ext cx="5476875" cy="1309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3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60 pupils</a:t>
            </a:r>
          </a:p>
        </p:txBody>
      </p:sp>
    </p:spTree>
    <p:extLst>
      <p:ext uri="{BB962C8B-B14F-4D97-AF65-F5344CB8AC3E}">
        <p14:creationId xmlns:p14="http://schemas.microsoft.com/office/powerpoint/2010/main" val="181441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-1">
            <a:extLst>
              <a:ext uri="{FF2B5EF4-FFF2-40B4-BE49-F238E27FC236}">
                <a16:creationId xmlns:a16="http://schemas.microsoft.com/office/drawing/2014/main" id="{8F531891-3C5D-4B93-ACCA-F16B2206200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2472671-B549-45A0-8788-E95AA6D33AA4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D8CACBC-2B9F-4383-93D5-688C60D9041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1/4 of 360 pupils walk. How many is that?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348E1AE-FF8C-4D96-860F-D901E3A6407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84BFD33-FF09-4779-9EE2-5A8CF43DAD2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pie charts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B659BE7-4D50-4959-BECD-B1305D1CF32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4DC0E1A-294A-4A81-B925-E1C383C7A127}"/>
              </a:ext>
            </a:extLst>
          </p:cNvPr>
          <p:cNvSpPr>
            <a:spLocks noGrp="1"/>
          </p:cNvSpPr>
          <p:nvPr/>
        </p:nvSpPr>
        <p:spPr>
          <a:xfrm>
            <a:off x="1785938" y="2738438"/>
            <a:ext cx="4286250" cy="4286250"/>
          </a:xfrm>
          <a:prstGeom prst="ellipse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2FEC617-BED0-4406-924A-E986AAA9E3FF}"/>
              </a:ext>
            </a:extLst>
          </p:cNvPr>
          <p:cNvSpPr>
            <a:spLocks noGrp="1"/>
          </p:cNvSpPr>
          <p:nvPr/>
        </p:nvSpPr>
        <p:spPr>
          <a:xfrm>
            <a:off x="3929063" y="2738438"/>
            <a:ext cx="2143125" cy="2143125"/>
          </a:xfrm>
          <a:custGeom>
            <a:avLst/>
            <a:gdLst/>
            <a:ahLst/>
            <a:cxnLst/>
            <a:rect l="0" t="0" r="0" b="0"/>
            <a:pathLst>
              <a:path w="2143125" h="2143125">
                <a:moveTo>
                  <a:pt x="0" y="2143125"/>
                </a:moveTo>
                <a:lnTo>
                  <a:pt x="0" y="0"/>
                </a:lnTo>
                <a:lnTo>
                  <a:pt x="84139" y="1652"/>
                </a:lnTo>
                <a:lnTo>
                  <a:pt x="168148" y="6607"/>
                </a:lnTo>
                <a:lnTo>
                  <a:pt x="251897" y="14855"/>
                </a:lnTo>
                <a:lnTo>
                  <a:pt x="335259" y="26385"/>
                </a:lnTo>
                <a:lnTo>
                  <a:pt x="418103" y="41180"/>
                </a:lnTo>
                <a:lnTo>
                  <a:pt x="500303" y="59215"/>
                </a:lnTo>
                <a:lnTo>
                  <a:pt x="581731" y="80463"/>
                </a:lnTo>
                <a:lnTo>
                  <a:pt x="662262" y="104892"/>
                </a:lnTo>
                <a:lnTo>
                  <a:pt x="741772" y="132464"/>
                </a:lnTo>
                <a:lnTo>
                  <a:pt x="820138" y="163136"/>
                </a:lnTo>
                <a:lnTo>
                  <a:pt x="897240" y="196861"/>
                </a:lnTo>
                <a:lnTo>
                  <a:pt x="972958" y="233587"/>
                </a:lnTo>
                <a:lnTo>
                  <a:pt x="1047176" y="273257"/>
                </a:lnTo>
                <a:lnTo>
                  <a:pt x="1119780" y="315811"/>
                </a:lnTo>
                <a:lnTo>
                  <a:pt x="1190656" y="361182"/>
                </a:lnTo>
                <a:lnTo>
                  <a:pt x="1259697" y="409300"/>
                </a:lnTo>
                <a:lnTo>
                  <a:pt x="1326796" y="460093"/>
                </a:lnTo>
                <a:lnTo>
                  <a:pt x="1391848" y="513480"/>
                </a:lnTo>
                <a:lnTo>
                  <a:pt x="1454755" y="569380"/>
                </a:lnTo>
                <a:lnTo>
                  <a:pt x="1515418" y="627707"/>
                </a:lnTo>
                <a:lnTo>
                  <a:pt x="1573745" y="688370"/>
                </a:lnTo>
                <a:lnTo>
                  <a:pt x="1629645" y="751277"/>
                </a:lnTo>
                <a:lnTo>
                  <a:pt x="1683032" y="816329"/>
                </a:lnTo>
                <a:lnTo>
                  <a:pt x="1733825" y="883428"/>
                </a:lnTo>
                <a:lnTo>
                  <a:pt x="1781943" y="952469"/>
                </a:lnTo>
                <a:lnTo>
                  <a:pt x="1827314" y="1023345"/>
                </a:lnTo>
                <a:lnTo>
                  <a:pt x="1869868" y="1095949"/>
                </a:lnTo>
                <a:lnTo>
                  <a:pt x="1909538" y="1170167"/>
                </a:lnTo>
                <a:lnTo>
                  <a:pt x="1946264" y="1245885"/>
                </a:lnTo>
                <a:lnTo>
                  <a:pt x="1979989" y="1322987"/>
                </a:lnTo>
                <a:lnTo>
                  <a:pt x="2010661" y="1401353"/>
                </a:lnTo>
                <a:lnTo>
                  <a:pt x="2038233" y="1480863"/>
                </a:lnTo>
                <a:lnTo>
                  <a:pt x="2062662" y="1561394"/>
                </a:lnTo>
                <a:lnTo>
                  <a:pt x="2083910" y="1642822"/>
                </a:lnTo>
                <a:lnTo>
                  <a:pt x="2101945" y="1725022"/>
                </a:lnTo>
                <a:lnTo>
                  <a:pt x="2116740" y="1807866"/>
                </a:lnTo>
                <a:lnTo>
                  <a:pt x="2128270" y="1891228"/>
                </a:lnTo>
                <a:lnTo>
                  <a:pt x="2136518" y="1974977"/>
                </a:lnTo>
                <a:lnTo>
                  <a:pt x="2141473" y="2058986"/>
                </a:lnTo>
                <a:lnTo>
                  <a:pt x="2143125" y="2143125"/>
                </a:lnTo>
                <a:close/>
              </a:path>
            </a:pathLst>
          </a:custGeom>
          <a:solidFill>
            <a:srgbClr val="1D4ED8"/>
          </a:solidFill>
          <a:ln w="23813">
            <a:solidFill>
              <a:srgbClr val="1D4ED8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F9E4FD7-AF37-44F5-BD7F-09296E5A8BD7}"/>
              </a:ext>
            </a:extLst>
          </p:cNvPr>
          <p:cNvSpPr>
            <a:spLocks noGrp="1"/>
          </p:cNvSpPr>
          <p:nvPr/>
        </p:nvSpPr>
        <p:spPr>
          <a:xfrm>
            <a:off x="7739063" y="3214688"/>
            <a:ext cx="6310313" cy="1666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360 × 1/4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C656F3E-2F5D-4009-9A9F-68ADDDBBB9EC}"/>
              </a:ext>
            </a:extLst>
          </p:cNvPr>
          <p:cNvSpPr>
            <a:spLocks noGrp="1"/>
          </p:cNvSpPr>
          <p:nvPr/>
        </p:nvSpPr>
        <p:spPr>
          <a:xfrm>
            <a:off x="8215313" y="5476875"/>
            <a:ext cx="5476875" cy="1309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3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90 pupils</a:t>
            </a:r>
          </a:p>
        </p:txBody>
      </p:sp>
    </p:spTree>
    <p:extLst>
      <p:ext uri="{BB962C8B-B14F-4D97-AF65-F5344CB8AC3E}">
        <p14:creationId xmlns:p14="http://schemas.microsoft.com/office/powerpoint/2010/main" val="1494036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-1">
            <a:extLst>
              <a:ext uri="{FF2B5EF4-FFF2-40B4-BE49-F238E27FC236}">
                <a16:creationId xmlns:a16="http://schemas.microsoft.com/office/drawing/2014/main" id="{B3511D6B-2A58-49ED-BB4F-B0C0A83C62E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4B1E1F2-521B-4BC8-81E3-BFEB7392A06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1/4 of 480 pupils walk. How many is that?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D1896A3-319E-4CB6-9489-34159877157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2BAB704-2A93-4A33-83D7-4EB76172EAD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pie charts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2C00846-438F-4277-BDB9-8F3D681552A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D2756FD-CAED-4E4E-BCE2-4F3D57DE3952}"/>
              </a:ext>
            </a:extLst>
          </p:cNvPr>
          <p:cNvSpPr>
            <a:spLocks noGrp="1"/>
          </p:cNvSpPr>
          <p:nvPr/>
        </p:nvSpPr>
        <p:spPr>
          <a:xfrm>
            <a:off x="1785938" y="2738438"/>
            <a:ext cx="4286250" cy="4286250"/>
          </a:xfrm>
          <a:prstGeom prst="ellipse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F8CD1AE-5845-42CD-9930-2234C1A649AD}"/>
              </a:ext>
            </a:extLst>
          </p:cNvPr>
          <p:cNvSpPr>
            <a:spLocks noGrp="1"/>
          </p:cNvSpPr>
          <p:nvPr/>
        </p:nvSpPr>
        <p:spPr>
          <a:xfrm>
            <a:off x="3929063" y="2738438"/>
            <a:ext cx="2143125" cy="2143125"/>
          </a:xfrm>
          <a:custGeom>
            <a:avLst/>
            <a:gdLst/>
            <a:ahLst/>
            <a:cxnLst/>
            <a:rect l="0" t="0" r="0" b="0"/>
            <a:pathLst>
              <a:path w="2143125" h="2143125">
                <a:moveTo>
                  <a:pt x="0" y="2143125"/>
                </a:moveTo>
                <a:lnTo>
                  <a:pt x="0" y="0"/>
                </a:lnTo>
                <a:lnTo>
                  <a:pt x="84139" y="1652"/>
                </a:lnTo>
                <a:lnTo>
                  <a:pt x="168148" y="6607"/>
                </a:lnTo>
                <a:lnTo>
                  <a:pt x="251897" y="14855"/>
                </a:lnTo>
                <a:lnTo>
                  <a:pt x="335259" y="26385"/>
                </a:lnTo>
                <a:lnTo>
                  <a:pt x="418103" y="41180"/>
                </a:lnTo>
                <a:lnTo>
                  <a:pt x="500303" y="59215"/>
                </a:lnTo>
                <a:lnTo>
                  <a:pt x="581731" y="80463"/>
                </a:lnTo>
                <a:lnTo>
                  <a:pt x="662262" y="104892"/>
                </a:lnTo>
                <a:lnTo>
                  <a:pt x="741772" y="132464"/>
                </a:lnTo>
                <a:lnTo>
                  <a:pt x="820138" y="163136"/>
                </a:lnTo>
                <a:lnTo>
                  <a:pt x="897240" y="196861"/>
                </a:lnTo>
                <a:lnTo>
                  <a:pt x="972958" y="233587"/>
                </a:lnTo>
                <a:lnTo>
                  <a:pt x="1047176" y="273257"/>
                </a:lnTo>
                <a:lnTo>
                  <a:pt x="1119780" y="315811"/>
                </a:lnTo>
                <a:lnTo>
                  <a:pt x="1190656" y="361182"/>
                </a:lnTo>
                <a:lnTo>
                  <a:pt x="1259697" y="409300"/>
                </a:lnTo>
                <a:lnTo>
                  <a:pt x="1326796" y="460093"/>
                </a:lnTo>
                <a:lnTo>
                  <a:pt x="1391848" y="513480"/>
                </a:lnTo>
                <a:lnTo>
                  <a:pt x="1454755" y="569380"/>
                </a:lnTo>
                <a:lnTo>
                  <a:pt x="1515418" y="627707"/>
                </a:lnTo>
                <a:lnTo>
                  <a:pt x="1573745" y="688370"/>
                </a:lnTo>
                <a:lnTo>
                  <a:pt x="1629645" y="751277"/>
                </a:lnTo>
                <a:lnTo>
                  <a:pt x="1683032" y="816329"/>
                </a:lnTo>
                <a:lnTo>
                  <a:pt x="1733825" y="883428"/>
                </a:lnTo>
                <a:lnTo>
                  <a:pt x="1781943" y="952469"/>
                </a:lnTo>
                <a:lnTo>
                  <a:pt x="1827314" y="1023345"/>
                </a:lnTo>
                <a:lnTo>
                  <a:pt x="1869868" y="1095949"/>
                </a:lnTo>
                <a:lnTo>
                  <a:pt x="1909538" y="1170167"/>
                </a:lnTo>
                <a:lnTo>
                  <a:pt x="1946264" y="1245885"/>
                </a:lnTo>
                <a:lnTo>
                  <a:pt x="1979989" y="1322987"/>
                </a:lnTo>
                <a:lnTo>
                  <a:pt x="2010661" y="1401353"/>
                </a:lnTo>
                <a:lnTo>
                  <a:pt x="2038233" y="1480863"/>
                </a:lnTo>
                <a:lnTo>
                  <a:pt x="2062662" y="1561394"/>
                </a:lnTo>
                <a:lnTo>
                  <a:pt x="2083910" y="1642822"/>
                </a:lnTo>
                <a:lnTo>
                  <a:pt x="2101945" y="1725022"/>
                </a:lnTo>
                <a:lnTo>
                  <a:pt x="2116740" y="1807866"/>
                </a:lnTo>
                <a:lnTo>
                  <a:pt x="2128270" y="1891228"/>
                </a:lnTo>
                <a:lnTo>
                  <a:pt x="2136518" y="1974977"/>
                </a:lnTo>
                <a:lnTo>
                  <a:pt x="2141473" y="2058986"/>
                </a:lnTo>
                <a:lnTo>
                  <a:pt x="2143125" y="2143125"/>
                </a:lnTo>
                <a:close/>
              </a:path>
            </a:pathLst>
          </a:custGeom>
          <a:solidFill>
            <a:srgbClr val="1D4ED8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7B9A262-6397-449D-83E4-136274B1F2ED}"/>
              </a:ext>
            </a:extLst>
          </p:cNvPr>
          <p:cNvSpPr>
            <a:spLocks noGrp="1"/>
          </p:cNvSpPr>
          <p:nvPr/>
        </p:nvSpPr>
        <p:spPr>
          <a:xfrm>
            <a:off x="7739063" y="3214688"/>
            <a:ext cx="6310313" cy="1666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480 × 1/4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57A9D4B-AC3B-4195-B648-8E67B67EF3FB}"/>
              </a:ext>
            </a:extLst>
          </p:cNvPr>
          <p:cNvSpPr>
            <a:spLocks noGrp="1"/>
          </p:cNvSpPr>
          <p:nvPr/>
        </p:nvSpPr>
        <p:spPr>
          <a:xfrm>
            <a:off x="8215313" y="5476875"/>
            <a:ext cx="5476875" cy="1309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3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120 pupils</a:t>
            </a:r>
          </a:p>
        </p:txBody>
      </p:sp>
    </p:spTree>
    <p:extLst>
      <p:ext uri="{BB962C8B-B14F-4D97-AF65-F5344CB8AC3E}">
        <p14:creationId xmlns:p14="http://schemas.microsoft.com/office/powerpoint/2010/main" val="416630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-1">
            <a:extLst>
              <a:ext uri="{FF2B5EF4-FFF2-40B4-BE49-F238E27FC236}">
                <a16:creationId xmlns:a16="http://schemas.microsoft.com/office/drawing/2014/main" id="{B4C2B482-F9A0-4942-AA02-2DF1AC6CC8D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3F335F9-1634-44C9-8415-8F270829257F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D47B5EB-C3E1-4916-8EF2-50DC1EBBDAC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1/4 of 600 pupils walk. How many is that?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93D3532-ABEA-43E5-AEB7-E165EB8CF17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3D8A6EA-2905-466C-8A1F-EAA5A7E57FB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pie charts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FD2091B-92F8-45F3-BAC2-0C689B5CBDC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1EF0087-8285-45BE-A50E-B8BC8FAC1187}"/>
              </a:ext>
            </a:extLst>
          </p:cNvPr>
          <p:cNvSpPr>
            <a:spLocks noGrp="1"/>
          </p:cNvSpPr>
          <p:nvPr/>
        </p:nvSpPr>
        <p:spPr>
          <a:xfrm>
            <a:off x="1785938" y="2738438"/>
            <a:ext cx="4286250" cy="4286250"/>
          </a:xfrm>
          <a:prstGeom prst="ellipse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3D3CC0A-8B97-404B-B59C-96BF9B52B51E}"/>
              </a:ext>
            </a:extLst>
          </p:cNvPr>
          <p:cNvSpPr>
            <a:spLocks noGrp="1"/>
          </p:cNvSpPr>
          <p:nvPr/>
        </p:nvSpPr>
        <p:spPr>
          <a:xfrm>
            <a:off x="3929063" y="2738438"/>
            <a:ext cx="2143125" cy="2143125"/>
          </a:xfrm>
          <a:custGeom>
            <a:avLst/>
            <a:gdLst/>
            <a:ahLst/>
            <a:cxnLst/>
            <a:rect l="0" t="0" r="0" b="0"/>
            <a:pathLst>
              <a:path w="2143125" h="2143125">
                <a:moveTo>
                  <a:pt x="0" y="2143125"/>
                </a:moveTo>
                <a:lnTo>
                  <a:pt x="0" y="0"/>
                </a:lnTo>
                <a:lnTo>
                  <a:pt x="84139" y="1652"/>
                </a:lnTo>
                <a:lnTo>
                  <a:pt x="168148" y="6607"/>
                </a:lnTo>
                <a:lnTo>
                  <a:pt x="251897" y="14855"/>
                </a:lnTo>
                <a:lnTo>
                  <a:pt x="335259" y="26385"/>
                </a:lnTo>
                <a:lnTo>
                  <a:pt x="418103" y="41180"/>
                </a:lnTo>
                <a:lnTo>
                  <a:pt x="500303" y="59215"/>
                </a:lnTo>
                <a:lnTo>
                  <a:pt x="581731" y="80463"/>
                </a:lnTo>
                <a:lnTo>
                  <a:pt x="662262" y="104892"/>
                </a:lnTo>
                <a:lnTo>
                  <a:pt x="741772" y="132464"/>
                </a:lnTo>
                <a:lnTo>
                  <a:pt x="820138" y="163136"/>
                </a:lnTo>
                <a:lnTo>
                  <a:pt x="897240" y="196861"/>
                </a:lnTo>
                <a:lnTo>
                  <a:pt x="972958" y="233587"/>
                </a:lnTo>
                <a:lnTo>
                  <a:pt x="1047176" y="273257"/>
                </a:lnTo>
                <a:lnTo>
                  <a:pt x="1119780" y="315811"/>
                </a:lnTo>
                <a:lnTo>
                  <a:pt x="1190656" y="361182"/>
                </a:lnTo>
                <a:lnTo>
                  <a:pt x="1259697" y="409300"/>
                </a:lnTo>
                <a:lnTo>
                  <a:pt x="1326796" y="460093"/>
                </a:lnTo>
                <a:lnTo>
                  <a:pt x="1391848" y="513480"/>
                </a:lnTo>
                <a:lnTo>
                  <a:pt x="1454755" y="569380"/>
                </a:lnTo>
                <a:lnTo>
                  <a:pt x="1515418" y="627707"/>
                </a:lnTo>
                <a:lnTo>
                  <a:pt x="1573745" y="688370"/>
                </a:lnTo>
                <a:lnTo>
                  <a:pt x="1629645" y="751277"/>
                </a:lnTo>
                <a:lnTo>
                  <a:pt x="1683032" y="816329"/>
                </a:lnTo>
                <a:lnTo>
                  <a:pt x="1733825" y="883428"/>
                </a:lnTo>
                <a:lnTo>
                  <a:pt x="1781943" y="952469"/>
                </a:lnTo>
                <a:lnTo>
                  <a:pt x="1827314" y="1023345"/>
                </a:lnTo>
                <a:lnTo>
                  <a:pt x="1869868" y="1095949"/>
                </a:lnTo>
                <a:lnTo>
                  <a:pt x="1909538" y="1170167"/>
                </a:lnTo>
                <a:lnTo>
                  <a:pt x="1946264" y="1245885"/>
                </a:lnTo>
                <a:lnTo>
                  <a:pt x="1979989" y="1322987"/>
                </a:lnTo>
                <a:lnTo>
                  <a:pt x="2010661" y="1401353"/>
                </a:lnTo>
                <a:lnTo>
                  <a:pt x="2038233" y="1480863"/>
                </a:lnTo>
                <a:lnTo>
                  <a:pt x="2062662" y="1561394"/>
                </a:lnTo>
                <a:lnTo>
                  <a:pt x="2083910" y="1642822"/>
                </a:lnTo>
                <a:lnTo>
                  <a:pt x="2101945" y="1725022"/>
                </a:lnTo>
                <a:lnTo>
                  <a:pt x="2116740" y="1807866"/>
                </a:lnTo>
                <a:lnTo>
                  <a:pt x="2128270" y="1891228"/>
                </a:lnTo>
                <a:lnTo>
                  <a:pt x="2136518" y="1974977"/>
                </a:lnTo>
                <a:lnTo>
                  <a:pt x="2141473" y="2058986"/>
                </a:lnTo>
                <a:lnTo>
                  <a:pt x="2143125" y="2143125"/>
                </a:lnTo>
                <a:close/>
              </a:path>
            </a:pathLst>
          </a:custGeom>
          <a:solidFill>
            <a:srgbClr val="1D4ED8"/>
          </a:solidFill>
          <a:ln w="23813">
            <a:solidFill>
              <a:srgbClr val="1D4ED8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D702EDF-F9F3-4C38-A685-A83C88B381F0}"/>
              </a:ext>
            </a:extLst>
          </p:cNvPr>
          <p:cNvSpPr>
            <a:spLocks noGrp="1"/>
          </p:cNvSpPr>
          <p:nvPr/>
        </p:nvSpPr>
        <p:spPr>
          <a:xfrm>
            <a:off x="7739063" y="3214688"/>
            <a:ext cx="6310313" cy="1666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600 × 1/4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D7AAB96-19CB-41A6-90D3-61EC9066C7FC}"/>
              </a:ext>
            </a:extLst>
          </p:cNvPr>
          <p:cNvSpPr>
            <a:spLocks noGrp="1"/>
          </p:cNvSpPr>
          <p:nvPr/>
        </p:nvSpPr>
        <p:spPr>
          <a:xfrm>
            <a:off x="8215313" y="5476875"/>
            <a:ext cx="5476875" cy="1309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3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150 pupils</a:t>
            </a:r>
          </a:p>
        </p:txBody>
      </p:sp>
    </p:spTree>
    <p:extLst>
      <p:ext uri="{BB962C8B-B14F-4D97-AF65-F5344CB8AC3E}">
        <p14:creationId xmlns:p14="http://schemas.microsoft.com/office/powerpoint/2010/main" val="296961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098A92BB-E088-4E52-B153-576AB6960C0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7C55BC9-2956-4E22-AAA9-4C61FBD892C3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8A1C830-D37D-46A6-BD16-23EC8A748BB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9AB2674-BBA9-4913-8B98-1C00525A619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8C2BE8E-7253-45EA-BB41-2727C29E7DB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pie charts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45BFED4-6C8D-41BF-B77F-0F5D7E8C072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C2286F0-1B5E-451E-889A-1CCE7A1A970F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ECFE072-BA2A-4432-9F2E-5BC3E187F9B3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quarter of a 240-pupil pie chart represents walkers. How many pupils walk?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78BA986-69D9-4EB8-B2A0-739542A4DC1F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400A458-C94F-4D6B-9EA5-6DF8C47C72CF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In a survey of 60 pupils, 15 choose art. Find the pie-chart angle.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8C9F892-D91B-4566-966D-58910A3D9280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8AC76CF-C757-4D79-9295-BA10030AEA71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mean of 12, 15, 18, 11 and 19.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9028202-38E9-46DF-BB84-4B3278296DD4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5822954-50B9-4B09-BB76-A252ED34277C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quarter of a 240-pupil pie chart represents walkers. How many pupils walk?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5E14FF2-07B8-409E-BFEE-8EE6AC695503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CC65936-7746-428A-A2EF-1C322251B3AE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In a survey of 60 pupils, 15 choose art. Find the pie-chart angle.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89DB8C6-3D02-4233-8459-428E71A6D6DE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3823D38-A616-40DD-9373-752BD95E0DAF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Find the mean of 12, 15, 18, 11 and 19.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1527DDF4-71BC-4B5A-92E3-463496CB283A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A71EFFE-A835-4450-94BD-77421CAC8060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Dataset A has mean 24 over 8 values. Dataset B has total 207 over 9 values. Which mean is greater?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573BEFF1-2D8F-4015-852F-8978C2E78C43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A01C142A-D78F-4892-A287-2332A57A102F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divides by the largest value instead of the number of values when finding the mean.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0C30AD2-63B7-4824-9B64-3B5C612F4957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4E32717-02E6-4314-BEEB-9BA4AF0413DC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EF761EB-A165-46AE-A6F0-61CDA42E475F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084DFB86-578B-47B7-8F95-2F6F51936C92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Find the mean of 12, 15, 18, 11 and 19.</a:t>
            </a:r>
          </a:p>
        </p:txBody>
      </p:sp>
    </p:spTree>
    <p:extLst>
      <p:ext uri="{BB962C8B-B14F-4D97-AF65-F5344CB8AC3E}">
        <p14:creationId xmlns:p14="http://schemas.microsoft.com/office/powerpoint/2010/main" val="360420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E93CB9BD-39C0-4DB8-BA67-BBBB66DB14A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224BA9C-AFF8-4C55-A491-89B018D3261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A83EB32-0905-4A53-BF21-DA880E81C0B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FE4CAE4-426E-4D5F-A313-9F83235727C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pie charts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AB8A42C-B7C7-4F49-B802-07E7890D6F8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76361FC-F811-44A7-A2EB-B15F16B9FED3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FA6E7B1-AC00-4E37-9380-B778505BAD74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60 pupils.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DC87349-11B0-4AC0-8AB7-9B4F873B6CE0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559FA33-285F-4D4C-8DE7-9E9284B1C755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90 degrees.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F984F64-93E2-4731-93C5-5D1208C2CBA1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8C5B50D-3B43-4F6B-BE44-71CBA144ED12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15.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3143E90-8E37-4986-92CE-5ACC983AE8C2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01E6AB3-1B27-4E85-BF50-AA30868E8636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60 pupils.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D1B519F-99A5-4DB0-8632-5A229180C143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1B80BF9-D297-412F-8F55-5BA7AA7CBD79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90 degrees.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F95B240-AC4C-4F19-86EC-14DE2F6F80C8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9F69621-5ED1-42CD-AC1D-81941BF782ED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15.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DB6E984-0CAB-41E0-B34E-67A55ED97EB0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777F8A1B-5BB7-4E54-8362-969704C821AB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Dataset A: 24; Dataset B: 23, so A is greater.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59C8B7FC-A71F-456E-A1E4-9F64F42565ED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7254068E-6A5F-4DA7-B16A-89D96601EE10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Add every value, count how many values there are, then divide the total by that count.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8042D82-3156-4092-9EBF-F74A9676C2EB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7489FD25-4127-41BE-A796-DB2D68C3F909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11724627-E051-4A69-A67B-DB1EC8D484B0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EE4C4B0-8ECA-434A-A8BF-43B92C5C8E47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4496477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932</Words>
  <Application>Microsoft Office PowerPoint</Application>
  <DocSecurity>0</DocSecurity>
  <PresentationFormat>Custom</PresentationFormat>
  <Paragraphs>94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2026-09-14T13:14:39Z</dcterms:created>
  <dcterms:modified xsi:type="dcterms:W3CDTF">2026-09-14T13:17:56Z</dcterms:modified>
</cp:coreProperties>
</file>