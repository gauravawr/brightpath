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the mean. Calculate the mean.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the mean. I do. Combine the total, then share it equally among the original number of values. The level line shows the equal share.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the mean. You do. Pause before clicking. Let pupils try independently, then reveal and discuss every step. Combine the total, then share it equally among the original number of values. The level line shows the equal share.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the mean. I do. Combine the total, then share it equally among the original number of values. The level line shows the equal share.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the mean. You do. Pause before clicking. Let pupils try independently, then reveal and discuss every step. Combine the total, then share it equally among the original number of values. The level line shows the equal share.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the mean.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the mean.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EB259313-52C6-4155-90BA-AC015CBAC045}"/>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Calculate the mean</a:t>
            </a:r>
          </a:p>
        </p:txBody>
      </p:sp>
      <p:sp>
        <p:nvSpPr>
          <p:cNvPr id="2" name="object-2">
            <a:extLst>
              <a:ext uri="{FF2B5EF4-FFF2-40B4-BE49-F238E27FC236}">
                <a16:creationId xmlns:a16="http://schemas.microsoft.com/office/drawing/2014/main" id="{63165F04-8225-4ECE-97C4-49372297CEB0}"/>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03882A29-CEE7-40C0-8FB8-926A16D4930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1595E22-951E-4AC7-9523-04F4A8FF278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the mean</a:t>
            </a:r>
          </a:p>
        </p:txBody>
      </p:sp>
      <p:sp>
        <p:nvSpPr>
          <p:cNvPr id="5" name="object-5">
            <a:extLst>
              <a:ext uri="{FF2B5EF4-FFF2-40B4-BE49-F238E27FC236}">
                <a16:creationId xmlns:a16="http://schemas.microsoft.com/office/drawing/2014/main" id="{6A45B929-D6EA-4B20-9A20-2D5E3A115E9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57D27E56-5E45-486A-94B0-CC0CA32C944B}"/>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calculate and interpret the mean average.</a:t>
            </a:r>
          </a:p>
        </p:txBody>
      </p:sp>
    </p:spTree>
    <p:extLst>
      <p:ext uri="{BB962C8B-B14F-4D97-AF65-F5344CB8AC3E}">
        <p14:creationId xmlns:p14="http://schemas.microsoft.com/office/powerpoint/2010/main" val="1777027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A2E32440-19B4-483C-A26E-A8D5913AC14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6FC1CD38-0F80-4EDB-83BC-9CD3A1C98BE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the mean of 12, 15, 18, 11, 19.</a:t>
            </a:r>
          </a:p>
        </p:txBody>
      </p:sp>
      <p:sp>
        <p:nvSpPr>
          <p:cNvPr id="3" name="object-3">
            <a:extLst>
              <a:ext uri="{FF2B5EF4-FFF2-40B4-BE49-F238E27FC236}">
                <a16:creationId xmlns:a16="http://schemas.microsoft.com/office/drawing/2014/main" id="{D37D19B6-033B-4906-8AFE-3168F084B6A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F1B3296-16B0-46EE-822B-8BA2837EF0A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the mean</a:t>
            </a:r>
          </a:p>
        </p:txBody>
      </p:sp>
      <p:sp>
        <p:nvSpPr>
          <p:cNvPr id="5" name="object-5">
            <a:extLst>
              <a:ext uri="{FF2B5EF4-FFF2-40B4-BE49-F238E27FC236}">
                <a16:creationId xmlns:a16="http://schemas.microsoft.com/office/drawing/2014/main" id="{582D34C6-5F14-444C-B5BF-65397F0CCDF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0EACCE8B-97EB-4DD3-9526-05980819D60F}"/>
              </a:ext>
            </a:extLst>
          </p:cNvPr>
          <p:cNvSpPr>
            <a:spLocks noGrp="1"/>
          </p:cNvSpPr>
          <p:nvPr/>
        </p:nvSpPr>
        <p:spPr>
          <a:xfrm>
            <a:off x="1845469" y="4223586"/>
            <a:ext cx="1785938" cy="1729539"/>
          </a:xfrm>
          <a:prstGeom prst="rect">
            <a:avLst/>
          </a:prstGeom>
          <a:solidFill>
            <a:srgbClr val="1D4ED8"/>
          </a:solidFill>
          <a:ln w="0">
            <a:noFill/>
          </a:ln>
        </p:spPr>
      </p:sp>
      <p:sp>
        <p:nvSpPr>
          <p:cNvPr id="7" name="object-7">
            <a:extLst>
              <a:ext uri="{FF2B5EF4-FFF2-40B4-BE49-F238E27FC236}">
                <a16:creationId xmlns:a16="http://schemas.microsoft.com/office/drawing/2014/main" id="{1FBD9828-D920-4050-918D-BECF32FB6272}"/>
              </a:ext>
            </a:extLst>
          </p:cNvPr>
          <p:cNvSpPr>
            <a:spLocks noGrp="1"/>
          </p:cNvSpPr>
          <p:nvPr/>
        </p:nvSpPr>
        <p:spPr>
          <a:xfrm>
            <a:off x="184546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12</a:t>
            </a:r>
          </a:p>
        </p:txBody>
      </p:sp>
      <p:sp>
        <p:nvSpPr>
          <p:cNvPr id="8" name="object-8">
            <a:extLst>
              <a:ext uri="{FF2B5EF4-FFF2-40B4-BE49-F238E27FC236}">
                <a16:creationId xmlns:a16="http://schemas.microsoft.com/office/drawing/2014/main" id="{7978B22F-2E58-49B1-8C52-F07AB98375F6}"/>
              </a:ext>
            </a:extLst>
          </p:cNvPr>
          <p:cNvSpPr>
            <a:spLocks noGrp="1"/>
          </p:cNvSpPr>
          <p:nvPr/>
        </p:nvSpPr>
        <p:spPr>
          <a:xfrm>
            <a:off x="3917156" y="3791201"/>
            <a:ext cx="1785938" cy="2161924"/>
          </a:xfrm>
          <a:prstGeom prst="rect">
            <a:avLst/>
          </a:prstGeom>
          <a:solidFill>
            <a:srgbClr val="1D4ED8"/>
          </a:solidFill>
          <a:ln w="0">
            <a:noFill/>
          </a:ln>
        </p:spPr>
      </p:sp>
      <p:sp>
        <p:nvSpPr>
          <p:cNvPr id="9" name="object-9">
            <a:extLst>
              <a:ext uri="{FF2B5EF4-FFF2-40B4-BE49-F238E27FC236}">
                <a16:creationId xmlns:a16="http://schemas.microsoft.com/office/drawing/2014/main" id="{3310B1D8-12A4-4794-A8DC-CA8462308683}"/>
              </a:ext>
            </a:extLst>
          </p:cNvPr>
          <p:cNvSpPr>
            <a:spLocks noGrp="1"/>
          </p:cNvSpPr>
          <p:nvPr/>
        </p:nvSpPr>
        <p:spPr>
          <a:xfrm>
            <a:off x="3917156"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15</a:t>
            </a:r>
          </a:p>
        </p:txBody>
      </p:sp>
      <p:sp>
        <p:nvSpPr>
          <p:cNvPr id="10" name="object-10">
            <a:extLst>
              <a:ext uri="{FF2B5EF4-FFF2-40B4-BE49-F238E27FC236}">
                <a16:creationId xmlns:a16="http://schemas.microsoft.com/office/drawing/2014/main" id="{44E67977-5C4F-4A51-9DC4-B578350D2E05}"/>
              </a:ext>
            </a:extLst>
          </p:cNvPr>
          <p:cNvSpPr>
            <a:spLocks noGrp="1"/>
          </p:cNvSpPr>
          <p:nvPr/>
        </p:nvSpPr>
        <p:spPr>
          <a:xfrm>
            <a:off x="5988844" y="3358816"/>
            <a:ext cx="1785938" cy="2594309"/>
          </a:xfrm>
          <a:prstGeom prst="rect">
            <a:avLst/>
          </a:prstGeom>
          <a:solidFill>
            <a:srgbClr val="1D4ED8"/>
          </a:solidFill>
          <a:ln w="0">
            <a:noFill/>
          </a:ln>
        </p:spPr>
      </p:sp>
      <p:sp>
        <p:nvSpPr>
          <p:cNvPr id="11" name="object-11">
            <a:extLst>
              <a:ext uri="{FF2B5EF4-FFF2-40B4-BE49-F238E27FC236}">
                <a16:creationId xmlns:a16="http://schemas.microsoft.com/office/drawing/2014/main" id="{64406964-0FAC-400F-AA87-BCDD0CD11005}"/>
              </a:ext>
            </a:extLst>
          </p:cNvPr>
          <p:cNvSpPr>
            <a:spLocks noGrp="1"/>
          </p:cNvSpPr>
          <p:nvPr/>
        </p:nvSpPr>
        <p:spPr>
          <a:xfrm>
            <a:off x="5988844"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18</a:t>
            </a:r>
          </a:p>
        </p:txBody>
      </p:sp>
      <p:sp>
        <p:nvSpPr>
          <p:cNvPr id="12" name="object-12">
            <a:extLst>
              <a:ext uri="{FF2B5EF4-FFF2-40B4-BE49-F238E27FC236}">
                <a16:creationId xmlns:a16="http://schemas.microsoft.com/office/drawing/2014/main" id="{D8CBE355-DE87-4BC0-8696-A60AE1742850}"/>
              </a:ext>
            </a:extLst>
          </p:cNvPr>
          <p:cNvSpPr>
            <a:spLocks noGrp="1"/>
          </p:cNvSpPr>
          <p:nvPr/>
        </p:nvSpPr>
        <p:spPr>
          <a:xfrm>
            <a:off x="8060531" y="4367714"/>
            <a:ext cx="1785938" cy="1585411"/>
          </a:xfrm>
          <a:prstGeom prst="rect">
            <a:avLst/>
          </a:prstGeom>
          <a:solidFill>
            <a:srgbClr val="1D4ED8"/>
          </a:solidFill>
          <a:ln w="0">
            <a:noFill/>
          </a:ln>
        </p:spPr>
      </p:sp>
      <p:sp>
        <p:nvSpPr>
          <p:cNvPr id="13" name="object-13">
            <a:extLst>
              <a:ext uri="{FF2B5EF4-FFF2-40B4-BE49-F238E27FC236}">
                <a16:creationId xmlns:a16="http://schemas.microsoft.com/office/drawing/2014/main" id="{E09C4DC7-93E9-4308-9735-6B1EEAC1F1A3}"/>
              </a:ext>
            </a:extLst>
          </p:cNvPr>
          <p:cNvSpPr>
            <a:spLocks noGrp="1"/>
          </p:cNvSpPr>
          <p:nvPr/>
        </p:nvSpPr>
        <p:spPr>
          <a:xfrm>
            <a:off x="8060531"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11</a:t>
            </a:r>
          </a:p>
        </p:txBody>
      </p:sp>
      <p:sp>
        <p:nvSpPr>
          <p:cNvPr id="14" name="object-14">
            <a:extLst>
              <a:ext uri="{FF2B5EF4-FFF2-40B4-BE49-F238E27FC236}">
                <a16:creationId xmlns:a16="http://schemas.microsoft.com/office/drawing/2014/main" id="{A195B7BA-BD22-47D1-8A32-12BF8EFF36D7}"/>
              </a:ext>
            </a:extLst>
          </p:cNvPr>
          <p:cNvSpPr>
            <a:spLocks noGrp="1"/>
          </p:cNvSpPr>
          <p:nvPr/>
        </p:nvSpPr>
        <p:spPr>
          <a:xfrm>
            <a:off x="10132219" y="3214688"/>
            <a:ext cx="1785938" cy="2738438"/>
          </a:xfrm>
          <a:prstGeom prst="rect">
            <a:avLst/>
          </a:prstGeom>
          <a:solidFill>
            <a:srgbClr val="1D4ED8"/>
          </a:solidFill>
          <a:ln w="0">
            <a:noFill/>
          </a:ln>
        </p:spPr>
      </p:sp>
      <p:sp>
        <p:nvSpPr>
          <p:cNvPr id="15" name="object-15">
            <a:extLst>
              <a:ext uri="{FF2B5EF4-FFF2-40B4-BE49-F238E27FC236}">
                <a16:creationId xmlns:a16="http://schemas.microsoft.com/office/drawing/2014/main" id="{CC5EE3AA-FD61-422B-A4FC-F7C0D6A0D61A}"/>
              </a:ext>
            </a:extLst>
          </p:cNvPr>
          <p:cNvSpPr>
            <a:spLocks noGrp="1"/>
          </p:cNvSpPr>
          <p:nvPr/>
        </p:nvSpPr>
        <p:spPr>
          <a:xfrm>
            <a:off x="1013221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19</a:t>
            </a:r>
          </a:p>
        </p:txBody>
      </p:sp>
      <p:sp>
        <p:nvSpPr>
          <p:cNvPr id="16" name="object-16">
            <a:extLst>
              <a:ext uri="{FF2B5EF4-FFF2-40B4-BE49-F238E27FC236}">
                <a16:creationId xmlns:a16="http://schemas.microsoft.com/office/drawing/2014/main" id="{7CC2E88C-BABC-48BF-B5A4-94E636A29765}"/>
              </a:ext>
            </a:extLst>
          </p:cNvPr>
          <p:cNvSpPr>
            <a:spLocks noGrp="1"/>
          </p:cNvSpPr>
          <p:nvPr/>
        </p:nvSpPr>
        <p:spPr>
          <a:xfrm>
            <a:off x="1666875" y="3791201"/>
            <a:ext cx="10715625" cy="47625"/>
          </a:xfrm>
          <a:prstGeom prst="rect">
            <a:avLst/>
          </a:prstGeom>
          <a:solidFill>
            <a:srgbClr val="11745A"/>
          </a:solidFill>
          <a:ln w="0">
            <a:noFill/>
          </a:ln>
        </p:spPr>
      </p:sp>
      <p:sp>
        <p:nvSpPr>
          <p:cNvPr id="17" name="object-17">
            <a:extLst>
              <a:ext uri="{FF2B5EF4-FFF2-40B4-BE49-F238E27FC236}">
                <a16:creationId xmlns:a16="http://schemas.microsoft.com/office/drawing/2014/main" id="{3F9063BC-42BE-4E48-A43F-800146B041FC}"/>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12 + 15 + 18 + 11 + 19 = 75; 75 ÷ 5 = 15</a:t>
            </a:r>
          </a:p>
        </p:txBody>
      </p:sp>
    </p:spTree>
    <p:extLst>
      <p:ext uri="{BB962C8B-B14F-4D97-AF65-F5344CB8AC3E}">
        <p14:creationId xmlns:p14="http://schemas.microsoft.com/office/powerpoint/2010/main" val="38340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object-1">
            <a:extLst>
              <a:ext uri="{FF2B5EF4-FFF2-40B4-BE49-F238E27FC236}">
                <a16:creationId xmlns:a16="http://schemas.microsoft.com/office/drawing/2014/main" id="{B07A5830-020F-43A4-A286-38B4C245044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0AE7B82-1865-45E1-A531-24D80E264413}"/>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DFDBE06-78B2-4514-B193-72A13C38016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the mean of 13, 16, 19, 12, 20.</a:t>
            </a:r>
          </a:p>
        </p:txBody>
      </p:sp>
      <p:sp>
        <p:nvSpPr>
          <p:cNvPr id="4" name="object-4">
            <a:extLst>
              <a:ext uri="{FF2B5EF4-FFF2-40B4-BE49-F238E27FC236}">
                <a16:creationId xmlns:a16="http://schemas.microsoft.com/office/drawing/2014/main" id="{D1655597-08F0-4728-98E0-785DBA8F8305}"/>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2274D19-7A3A-4D24-A7EE-9B16AE36AAF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the mean</a:t>
            </a:r>
          </a:p>
        </p:txBody>
      </p:sp>
      <p:sp>
        <p:nvSpPr>
          <p:cNvPr id="6" name="object-6">
            <a:extLst>
              <a:ext uri="{FF2B5EF4-FFF2-40B4-BE49-F238E27FC236}">
                <a16:creationId xmlns:a16="http://schemas.microsoft.com/office/drawing/2014/main" id="{D860B3E9-64DA-49D1-B287-CE2EEE7DBC9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6AA4CDE6-36CE-45B3-99AE-7C19ACF213F1}"/>
              </a:ext>
            </a:extLst>
          </p:cNvPr>
          <p:cNvSpPr>
            <a:spLocks noGrp="1"/>
          </p:cNvSpPr>
          <p:nvPr/>
        </p:nvSpPr>
        <p:spPr>
          <a:xfrm>
            <a:off x="1845469" y="4173141"/>
            <a:ext cx="1785938" cy="1779984"/>
          </a:xfrm>
          <a:prstGeom prst="rect">
            <a:avLst/>
          </a:prstGeom>
          <a:solidFill>
            <a:srgbClr val="1D4ED8"/>
          </a:solidFill>
          <a:ln w="0">
            <a:noFill/>
          </a:ln>
        </p:spPr>
      </p:sp>
      <p:sp>
        <p:nvSpPr>
          <p:cNvPr id="8" name="object-8">
            <a:extLst>
              <a:ext uri="{FF2B5EF4-FFF2-40B4-BE49-F238E27FC236}">
                <a16:creationId xmlns:a16="http://schemas.microsoft.com/office/drawing/2014/main" id="{16582B6B-E8B6-43F0-8544-92B00E965E0E}"/>
              </a:ext>
            </a:extLst>
          </p:cNvPr>
          <p:cNvSpPr>
            <a:spLocks noGrp="1"/>
          </p:cNvSpPr>
          <p:nvPr/>
        </p:nvSpPr>
        <p:spPr>
          <a:xfrm>
            <a:off x="184546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13</a:t>
            </a:r>
          </a:p>
        </p:txBody>
      </p:sp>
      <p:sp>
        <p:nvSpPr>
          <p:cNvPr id="9" name="object-9">
            <a:extLst>
              <a:ext uri="{FF2B5EF4-FFF2-40B4-BE49-F238E27FC236}">
                <a16:creationId xmlns:a16="http://schemas.microsoft.com/office/drawing/2014/main" id="{50907395-6047-4E83-A70B-B325130D1A0F}"/>
              </a:ext>
            </a:extLst>
          </p:cNvPr>
          <p:cNvSpPr>
            <a:spLocks noGrp="1"/>
          </p:cNvSpPr>
          <p:nvPr/>
        </p:nvSpPr>
        <p:spPr>
          <a:xfrm>
            <a:off x="3917156" y="3762375"/>
            <a:ext cx="1785938" cy="2190750"/>
          </a:xfrm>
          <a:prstGeom prst="rect">
            <a:avLst/>
          </a:prstGeom>
          <a:solidFill>
            <a:srgbClr val="1D4ED8"/>
          </a:solidFill>
          <a:ln w="0">
            <a:noFill/>
          </a:ln>
        </p:spPr>
      </p:sp>
      <p:sp>
        <p:nvSpPr>
          <p:cNvPr id="10" name="object-10">
            <a:extLst>
              <a:ext uri="{FF2B5EF4-FFF2-40B4-BE49-F238E27FC236}">
                <a16:creationId xmlns:a16="http://schemas.microsoft.com/office/drawing/2014/main" id="{647D57C2-32B0-40BE-9E86-A8D7BDD3E59D}"/>
              </a:ext>
            </a:extLst>
          </p:cNvPr>
          <p:cNvSpPr>
            <a:spLocks noGrp="1"/>
          </p:cNvSpPr>
          <p:nvPr/>
        </p:nvSpPr>
        <p:spPr>
          <a:xfrm>
            <a:off x="3917156"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16</a:t>
            </a:r>
          </a:p>
        </p:txBody>
      </p:sp>
      <p:sp>
        <p:nvSpPr>
          <p:cNvPr id="11" name="object-11">
            <a:extLst>
              <a:ext uri="{FF2B5EF4-FFF2-40B4-BE49-F238E27FC236}">
                <a16:creationId xmlns:a16="http://schemas.microsoft.com/office/drawing/2014/main" id="{3BA52279-0CB2-4915-B432-22656C315F1D}"/>
              </a:ext>
            </a:extLst>
          </p:cNvPr>
          <p:cNvSpPr>
            <a:spLocks noGrp="1"/>
          </p:cNvSpPr>
          <p:nvPr/>
        </p:nvSpPr>
        <p:spPr>
          <a:xfrm>
            <a:off x="5988844" y="3351609"/>
            <a:ext cx="1785938" cy="2601516"/>
          </a:xfrm>
          <a:prstGeom prst="rect">
            <a:avLst/>
          </a:prstGeom>
          <a:solidFill>
            <a:srgbClr val="1D4ED8"/>
          </a:solidFill>
          <a:ln w="0">
            <a:noFill/>
          </a:ln>
        </p:spPr>
      </p:sp>
      <p:sp>
        <p:nvSpPr>
          <p:cNvPr id="12" name="object-12">
            <a:extLst>
              <a:ext uri="{FF2B5EF4-FFF2-40B4-BE49-F238E27FC236}">
                <a16:creationId xmlns:a16="http://schemas.microsoft.com/office/drawing/2014/main" id="{D9B2BE96-A443-4699-9DBA-6B149C99B575}"/>
              </a:ext>
            </a:extLst>
          </p:cNvPr>
          <p:cNvSpPr>
            <a:spLocks noGrp="1"/>
          </p:cNvSpPr>
          <p:nvPr/>
        </p:nvSpPr>
        <p:spPr>
          <a:xfrm>
            <a:off x="5988844"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19</a:t>
            </a:r>
          </a:p>
        </p:txBody>
      </p:sp>
      <p:sp>
        <p:nvSpPr>
          <p:cNvPr id="13" name="object-13">
            <a:extLst>
              <a:ext uri="{FF2B5EF4-FFF2-40B4-BE49-F238E27FC236}">
                <a16:creationId xmlns:a16="http://schemas.microsoft.com/office/drawing/2014/main" id="{7D3FFCE9-03AC-4B89-A8A9-79226EA2FB8C}"/>
              </a:ext>
            </a:extLst>
          </p:cNvPr>
          <p:cNvSpPr>
            <a:spLocks noGrp="1"/>
          </p:cNvSpPr>
          <p:nvPr/>
        </p:nvSpPr>
        <p:spPr>
          <a:xfrm>
            <a:off x="8060531" y="4310063"/>
            <a:ext cx="1785938" cy="1643063"/>
          </a:xfrm>
          <a:prstGeom prst="rect">
            <a:avLst/>
          </a:prstGeom>
          <a:solidFill>
            <a:srgbClr val="1D4ED8"/>
          </a:solidFill>
          <a:ln w="0">
            <a:noFill/>
          </a:ln>
        </p:spPr>
      </p:sp>
      <p:sp>
        <p:nvSpPr>
          <p:cNvPr id="14" name="object-14">
            <a:extLst>
              <a:ext uri="{FF2B5EF4-FFF2-40B4-BE49-F238E27FC236}">
                <a16:creationId xmlns:a16="http://schemas.microsoft.com/office/drawing/2014/main" id="{F192F6B9-B50F-4D4D-8FCA-B4CA555AE82A}"/>
              </a:ext>
            </a:extLst>
          </p:cNvPr>
          <p:cNvSpPr>
            <a:spLocks noGrp="1"/>
          </p:cNvSpPr>
          <p:nvPr/>
        </p:nvSpPr>
        <p:spPr>
          <a:xfrm>
            <a:off x="8060531"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12</a:t>
            </a:r>
          </a:p>
        </p:txBody>
      </p:sp>
      <p:sp>
        <p:nvSpPr>
          <p:cNvPr id="15" name="object-15">
            <a:extLst>
              <a:ext uri="{FF2B5EF4-FFF2-40B4-BE49-F238E27FC236}">
                <a16:creationId xmlns:a16="http://schemas.microsoft.com/office/drawing/2014/main" id="{C6F069BB-6D51-4291-895C-D1C8F266FB5E}"/>
              </a:ext>
            </a:extLst>
          </p:cNvPr>
          <p:cNvSpPr>
            <a:spLocks noGrp="1"/>
          </p:cNvSpPr>
          <p:nvPr/>
        </p:nvSpPr>
        <p:spPr>
          <a:xfrm>
            <a:off x="10132219" y="3214688"/>
            <a:ext cx="1785938" cy="2738438"/>
          </a:xfrm>
          <a:prstGeom prst="rect">
            <a:avLst/>
          </a:prstGeom>
          <a:solidFill>
            <a:srgbClr val="1D4ED8"/>
          </a:solidFill>
          <a:ln w="0">
            <a:noFill/>
          </a:ln>
        </p:spPr>
      </p:sp>
      <p:sp>
        <p:nvSpPr>
          <p:cNvPr id="16" name="object-16">
            <a:extLst>
              <a:ext uri="{FF2B5EF4-FFF2-40B4-BE49-F238E27FC236}">
                <a16:creationId xmlns:a16="http://schemas.microsoft.com/office/drawing/2014/main" id="{33CFCC7C-FE52-4890-8D0E-1D30FD017F12}"/>
              </a:ext>
            </a:extLst>
          </p:cNvPr>
          <p:cNvSpPr>
            <a:spLocks noGrp="1"/>
          </p:cNvSpPr>
          <p:nvPr/>
        </p:nvSpPr>
        <p:spPr>
          <a:xfrm>
            <a:off x="1013221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20</a:t>
            </a:r>
          </a:p>
        </p:txBody>
      </p:sp>
      <p:sp>
        <p:nvSpPr>
          <p:cNvPr id="17" name="object-17">
            <a:extLst>
              <a:ext uri="{FF2B5EF4-FFF2-40B4-BE49-F238E27FC236}">
                <a16:creationId xmlns:a16="http://schemas.microsoft.com/office/drawing/2014/main" id="{2B719F96-C178-4797-94BC-9AAD6C5F3074}"/>
              </a:ext>
            </a:extLst>
          </p:cNvPr>
          <p:cNvSpPr>
            <a:spLocks noGrp="1"/>
          </p:cNvSpPr>
          <p:nvPr/>
        </p:nvSpPr>
        <p:spPr>
          <a:xfrm>
            <a:off x="1666875" y="3762375"/>
            <a:ext cx="10715625" cy="47625"/>
          </a:xfrm>
          <a:prstGeom prst="rect">
            <a:avLst/>
          </a:prstGeom>
          <a:solidFill>
            <a:srgbClr val="11745A"/>
          </a:solidFill>
          <a:ln w="0">
            <a:noFill/>
          </a:ln>
        </p:spPr>
      </p:sp>
      <p:sp>
        <p:nvSpPr>
          <p:cNvPr id="18" name="object-18">
            <a:extLst>
              <a:ext uri="{FF2B5EF4-FFF2-40B4-BE49-F238E27FC236}">
                <a16:creationId xmlns:a16="http://schemas.microsoft.com/office/drawing/2014/main" id="{694CDED9-43F6-4FBD-8C6D-2D9EF1FAAD71}"/>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13 + 16 + 19 + 12 + 20 = 80; 80 ÷ 5 = 16</a:t>
            </a:r>
          </a:p>
        </p:txBody>
      </p:sp>
    </p:spTree>
    <p:extLst>
      <p:ext uri="{BB962C8B-B14F-4D97-AF65-F5344CB8AC3E}">
        <p14:creationId xmlns:p14="http://schemas.microsoft.com/office/powerpoint/2010/main" val="1311664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149DDB83-AF0C-42F4-8F5E-5689A84B42B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E88C6F4D-1579-4E8F-88B5-C7CA3CC6408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the mean of 14, 17, 20, 13, 21.</a:t>
            </a:r>
          </a:p>
        </p:txBody>
      </p:sp>
      <p:sp>
        <p:nvSpPr>
          <p:cNvPr id="3" name="object-3">
            <a:extLst>
              <a:ext uri="{FF2B5EF4-FFF2-40B4-BE49-F238E27FC236}">
                <a16:creationId xmlns:a16="http://schemas.microsoft.com/office/drawing/2014/main" id="{AAFB37F7-4D40-4FB3-A478-E34C4FFD9906}"/>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DACAB5B-12A3-4C9C-867B-46C17C85943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the mean</a:t>
            </a:r>
          </a:p>
        </p:txBody>
      </p:sp>
      <p:sp>
        <p:nvSpPr>
          <p:cNvPr id="5" name="object-5">
            <a:extLst>
              <a:ext uri="{FF2B5EF4-FFF2-40B4-BE49-F238E27FC236}">
                <a16:creationId xmlns:a16="http://schemas.microsoft.com/office/drawing/2014/main" id="{0AAE4AA5-E926-46CF-B85A-C20B27EEB60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A1FD25AC-EFC3-4262-993F-3E34F7875E5E}"/>
              </a:ext>
            </a:extLst>
          </p:cNvPr>
          <p:cNvSpPr>
            <a:spLocks noGrp="1"/>
          </p:cNvSpPr>
          <p:nvPr/>
        </p:nvSpPr>
        <p:spPr>
          <a:xfrm>
            <a:off x="1845469" y="4127500"/>
            <a:ext cx="1785938" cy="1825625"/>
          </a:xfrm>
          <a:prstGeom prst="rect">
            <a:avLst/>
          </a:prstGeom>
          <a:solidFill>
            <a:srgbClr val="1D4ED8"/>
          </a:solidFill>
          <a:ln w="0">
            <a:noFill/>
          </a:ln>
        </p:spPr>
      </p:sp>
      <p:sp>
        <p:nvSpPr>
          <p:cNvPr id="7" name="object-7">
            <a:extLst>
              <a:ext uri="{FF2B5EF4-FFF2-40B4-BE49-F238E27FC236}">
                <a16:creationId xmlns:a16="http://schemas.microsoft.com/office/drawing/2014/main" id="{D99477E7-5BD6-4B6F-A8AA-B705A185B8D6}"/>
              </a:ext>
            </a:extLst>
          </p:cNvPr>
          <p:cNvSpPr>
            <a:spLocks noGrp="1"/>
          </p:cNvSpPr>
          <p:nvPr/>
        </p:nvSpPr>
        <p:spPr>
          <a:xfrm>
            <a:off x="184546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14</a:t>
            </a:r>
          </a:p>
        </p:txBody>
      </p:sp>
      <p:sp>
        <p:nvSpPr>
          <p:cNvPr id="8" name="object-8">
            <a:extLst>
              <a:ext uri="{FF2B5EF4-FFF2-40B4-BE49-F238E27FC236}">
                <a16:creationId xmlns:a16="http://schemas.microsoft.com/office/drawing/2014/main" id="{F3DAD021-B321-445D-AAC5-9D511E15EAFD}"/>
              </a:ext>
            </a:extLst>
          </p:cNvPr>
          <p:cNvSpPr>
            <a:spLocks noGrp="1"/>
          </p:cNvSpPr>
          <p:nvPr/>
        </p:nvSpPr>
        <p:spPr>
          <a:xfrm>
            <a:off x="3917156" y="3736295"/>
            <a:ext cx="1785938" cy="2216830"/>
          </a:xfrm>
          <a:prstGeom prst="rect">
            <a:avLst/>
          </a:prstGeom>
          <a:solidFill>
            <a:srgbClr val="1D4ED8"/>
          </a:solidFill>
          <a:ln w="0">
            <a:noFill/>
          </a:ln>
        </p:spPr>
      </p:sp>
      <p:sp>
        <p:nvSpPr>
          <p:cNvPr id="9" name="object-9">
            <a:extLst>
              <a:ext uri="{FF2B5EF4-FFF2-40B4-BE49-F238E27FC236}">
                <a16:creationId xmlns:a16="http://schemas.microsoft.com/office/drawing/2014/main" id="{8995819F-0445-4A65-8282-8B745377E039}"/>
              </a:ext>
            </a:extLst>
          </p:cNvPr>
          <p:cNvSpPr>
            <a:spLocks noGrp="1"/>
          </p:cNvSpPr>
          <p:nvPr/>
        </p:nvSpPr>
        <p:spPr>
          <a:xfrm>
            <a:off x="3917156"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17</a:t>
            </a:r>
          </a:p>
        </p:txBody>
      </p:sp>
      <p:sp>
        <p:nvSpPr>
          <p:cNvPr id="10" name="object-10">
            <a:extLst>
              <a:ext uri="{FF2B5EF4-FFF2-40B4-BE49-F238E27FC236}">
                <a16:creationId xmlns:a16="http://schemas.microsoft.com/office/drawing/2014/main" id="{47635ACE-13ED-4247-8D24-4DE3628A5A42}"/>
              </a:ext>
            </a:extLst>
          </p:cNvPr>
          <p:cNvSpPr>
            <a:spLocks noGrp="1"/>
          </p:cNvSpPr>
          <p:nvPr/>
        </p:nvSpPr>
        <p:spPr>
          <a:xfrm>
            <a:off x="5988844" y="3345089"/>
            <a:ext cx="1785938" cy="2608036"/>
          </a:xfrm>
          <a:prstGeom prst="rect">
            <a:avLst/>
          </a:prstGeom>
          <a:solidFill>
            <a:srgbClr val="1D4ED8"/>
          </a:solidFill>
          <a:ln w="0">
            <a:noFill/>
          </a:ln>
        </p:spPr>
      </p:sp>
      <p:sp>
        <p:nvSpPr>
          <p:cNvPr id="11" name="object-11">
            <a:extLst>
              <a:ext uri="{FF2B5EF4-FFF2-40B4-BE49-F238E27FC236}">
                <a16:creationId xmlns:a16="http://schemas.microsoft.com/office/drawing/2014/main" id="{80041940-4949-49D0-916F-419A6B45145A}"/>
              </a:ext>
            </a:extLst>
          </p:cNvPr>
          <p:cNvSpPr>
            <a:spLocks noGrp="1"/>
          </p:cNvSpPr>
          <p:nvPr/>
        </p:nvSpPr>
        <p:spPr>
          <a:xfrm>
            <a:off x="5988844"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20</a:t>
            </a:r>
          </a:p>
        </p:txBody>
      </p:sp>
      <p:sp>
        <p:nvSpPr>
          <p:cNvPr id="12" name="object-12">
            <a:extLst>
              <a:ext uri="{FF2B5EF4-FFF2-40B4-BE49-F238E27FC236}">
                <a16:creationId xmlns:a16="http://schemas.microsoft.com/office/drawing/2014/main" id="{1B19EB1F-B237-4E29-96C0-8D48D4FA0936}"/>
              </a:ext>
            </a:extLst>
          </p:cNvPr>
          <p:cNvSpPr>
            <a:spLocks noGrp="1"/>
          </p:cNvSpPr>
          <p:nvPr/>
        </p:nvSpPr>
        <p:spPr>
          <a:xfrm>
            <a:off x="8060531" y="4257902"/>
            <a:ext cx="1785938" cy="1695223"/>
          </a:xfrm>
          <a:prstGeom prst="rect">
            <a:avLst/>
          </a:prstGeom>
          <a:solidFill>
            <a:srgbClr val="1D4ED8"/>
          </a:solidFill>
          <a:ln w="0">
            <a:noFill/>
          </a:ln>
        </p:spPr>
      </p:sp>
      <p:sp>
        <p:nvSpPr>
          <p:cNvPr id="13" name="object-13">
            <a:extLst>
              <a:ext uri="{FF2B5EF4-FFF2-40B4-BE49-F238E27FC236}">
                <a16:creationId xmlns:a16="http://schemas.microsoft.com/office/drawing/2014/main" id="{CD2108CA-4F46-4190-A19E-CE822C80ED64}"/>
              </a:ext>
            </a:extLst>
          </p:cNvPr>
          <p:cNvSpPr>
            <a:spLocks noGrp="1"/>
          </p:cNvSpPr>
          <p:nvPr/>
        </p:nvSpPr>
        <p:spPr>
          <a:xfrm>
            <a:off x="8060531"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13</a:t>
            </a:r>
          </a:p>
        </p:txBody>
      </p:sp>
      <p:sp>
        <p:nvSpPr>
          <p:cNvPr id="14" name="object-14">
            <a:extLst>
              <a:ext uri="{FF2B5EF4-FFF2-40B4-BE49-F238E27FC236}">
                <a16:creationId xmlns:a16="http://schemas.microsoft.com/office/drawing/2014/main" id="{C99A0BB0-F5E8-44DB-9767-21E2F9F910F7}"/>
              </a:ext>
            </a:extLst>
          </p:cNvPr>
          <p:cNvSpPr>
            <a:spLocks noGrp="1"/>
          </p:cNvSpPr>
          <p:nvPr/>
        </p:nvSpPr>
        <p:spPr>
          <a:xfrm>
            <a:off x="10132219" y="3214688"/>
            <a:ext cx="1785938" cy="2738438"/>
          </a:xfrm>
          <a:prstGeom prst="rect">
            <a:avLst/>
          </a:prstGeom>
          <a:solidFill>
            <a:srgbClr val="1D4ED8"/>
          </a:solidFill>
          <a:ln w="0">
            <a:noFill/>
          </a:ln>
        </p:spPr>
      </p:sp>
      <p:sp>
        <p:nvSpPr>
          <p:cNvPr id="15" name="object-15">
            <a:extLst>
              <a:ext uri="{FF2B5EF4-FFF2-40B4-BE49-F238E27FC236}">
                <a16:creationId xmlns:a16="http://schemas.microsoft.com/office/drawing/2014/main" id="{C696AA74-AF72-4D59-ABD3-BC1066B5170E}"/>
              </a:ext>
            </a:extLst>
          </p:cNvPr>
          <p:cNvSpPr>
            <a:spLocks noGrp="1"/>
          </p:cNvSpPr>
          <p:nvPr/>
        </p:nvSpPr>
        <p:spPr>
          <a:xfrm>
            <a:off x="1013221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21</a:t>
            </a:r>
          </a:p>
        </p:txBody>
      </p:sp>
      <p:sp>
        <p:nvSpPr>
          <p:cNvPr id="16" name="object-16">
            <a:extLst>
              <a:ext uri="{FF2B5EF4-FFF2-40B4-BE49-F238E27FC236}">
                <a16:creationId xmlns:a16="http://schemas.microsoft.com/office/drawing/2014/main" id="{703A1E4C-0AE8-4B13-B013-D589529E24AB}"/>
              </a:ext>
            </a:extLst>
          </p:cNvPr>
          <p:cNvSpPr>
            <a:spLocks noGrp="1"/>
          </p:cNvSpPr>
          <p:nvPr/>
        </p:nvSpPr>
        <p:spPr>
          <a:xfrm>
            <a:off x="1666875" y="3736295"/>
            <a:ext cx="10715625" cy="47625"/>
          </a:xfrm>
          <a:prstGeom prst="rect">
            <a:avLst/>
          </a:prstGeom>
          <a:solidFill>
            <a:srgbClr val="11745A"/>
          </a:solidFill>
          <a:ln w="0">
            <a:noFill/>
          </a:ln>
        </p:spPr>
      </p:sp>
      <p:sp>
        <p:nvSpPr>
          <p:cNvPr id="17" name="object-17">
            <a:extLst>
              <a:ext uri="{FF2B5EF4-FFF2-40B4-BE49-F238E27FC236}">
                <a16:creationId xmlns:a16="http://schemas.microsoft.com/office/drawing/2014/main" id="{C06B398B-22F7-4E40-AB57-7FBEE34CC558}"/>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14 + 17 + 20 + 13 + 21 = 85; 85 ÷ 5 = 17</a:t>
            </a:r>
          </a:p>
        </p:txBody>
      </p:sp>
    </p:spTree>
    <p:extLst>
      <p:ext uri="{BB962C8B-B14F-4D97-AF65-F5344CB8AC3E}">
        <p14:creationId xmlns:p14="http://schemas.microsoft.com/office/powerpoint/2010/main" val="1378114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object-1">
            <a:extLst>
              <a:ext uri="{FF2B5EF4-FFF2-40B4-BE49-F238E27FC236}">
                <a16:creationId xmlns:a16="http://schemas.microsoft.com/office/drawing/2014/main" id="{5E9B4251-AC80-4F2C-BBCA-8DC21EB3FBC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FF2A5184-BA44-4673-8939-8AD9F988CF05}"/>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FE446242-40DA-42F6-9F4E-CC1C0004A32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Find the mean of 15, 18, 21, 14, 22.</a:t>
            </a:r>
          </a:p>
        </p:txBody>
      </p:sp>
      <p:sp>
        <p:nvSpPr>
          <p:cNvPr id="4" name="object-4">
            <a:extLst>
              <a:ext uri="{FF2B5EF4-FFF2-40B4-BE49-F238E27FC236}">
                <a16:creationId xmlns:a16="http://schemas.microsoft.com/office/drawing/2014/main" id="{844C72FA-A6E8-4611-8859-F463D2D39D6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26F3965-BEBC-41E2-AE62-F22612ACAB3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the mean</a:t>
            </a:r>
          </a:p>
        </p:txBody>
      </p:sp>
      <p:sp>
        <p:nvSpPr>
          <p:cNvPr id="6" name="object-6">
            <a:extLst>
              <a:ext uri="{FF2B5EF4-FFF2-40B4-BE49-F238E27FC236}">
                <a16:creationId xmlns:a16="http://schemas.microsoft.com/office/drawing/2014/main" id="{38B22666-415B-4A7F-8D4A-14FCF34E74D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A2B01DE6-649B-48EB-BD98-6125F5B4AE8D}"/>
              </a:ext>
            </a:extLst>
          </p:cNvPr>
          <p:cNvSpPr>
            <a:spLocks noGrp="1"/>
          </p:cNvSpPr>
          <p:nvPr/>
        </p:nvSpPr>
        <p:spPr>
          <a:xfrm>
            <a:off x="1845469" y="4086009"/>
            <a:ext cx="1785938" cy="1867116"/>
          </a:xfrm>
          <a:prstGeom prst="rect">
            <a:avLst/>
          </a:prstGeom>
          <a:solidFill>
            <a:srgbClr val="1D4ED8"/>
          </a:solidFill>
          <a:ln w="0">
            <a:noFill/>
          </a:ln>
        </p:spPr>
      </p:sp>
      <p:sp>
        <p:nvSpPr>
          <p:cNvPr id="8" name="object-8">
            <a:extLst>
              <a:ext uri="{FF2B5EF4-FFF2-40B4-BE49-F238E27FC236}">
                <a16:creationId xmlns:a16="http://schemas.microsoft.com/office/drawing/2014/main" id="{6009225C-1330-4F1A-9A20-AB3033C43937}"/>
              </a:ext>
            </a:extLst>
          </p:cNvPr>
          <p:cNvSpPr>
            <a:spLocks noGrp="1"/>
          </p:cNvSpPr>
          <p:nvPr/>
        </p:nvSpPr>
        <p:spPr>
          <a:xfrm>
            <a:off x="184546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15</a:t>
            </a:r>
          </a:p>
        </p:txBody>
      </p:sp>
      <p:sp>
        <p:nvSpPr>
          <p:cNvPr id="9" name="object-9">
            <a:extLst>
              <a:ext uri="{FF2B5EF4-FFF2-40B4-BE49-F238E27FC236}">
                <a16:creationId xmlns:a16="http://schemas.microsoft.com/office/drawing/2014/main" id="{29D1A485-565D-45EA-9BBF-5E20B660A23F}"/>
              </a:ext>
            </a:extLst>
          </p:cNvPr>
          <p:cNvSpPr>
            <a:spLocks noGrp="1"/>
          </p:cNvSpPr>
          <p:nvPr/>
        </p:nvSpPr>
        <p:spPr>
          <a:xfrm>
            <a:off x="3917156" y="3712585"/>
            <a:ext cx="1785938" cy="2240540"/>
          </a:xfrm>
          <a:prstGeom prst="rect">
            <a:avLst/>
          </a:prstGeom>
          <a:solidFill>
            <a:srgbClr val="1D4ED8"/>
          </a:solidFill>
          <a:ln w="0">
            <a:noFill/>
          </a:ln>
        </p:spPr>
      </p:sp>
      <p:sp>
        <p:nvSpPr>
          <p:cNvPr id="10" name="object-10">
            <a:extLst>
              <a:ext uri="{FF2B5EF4-FFF2-40B4-BE49-F238E27FC236}">
                <a16:creationId xmlns:a16="http://schemas.microsoft.com/office/drawing/2014/main" id="{1ED5CB51-41EC-4FE5-9719-FF6802303FF6}"/>
              </a:ext>
            </a:extLst>
          </p:cNvPr>
          <p:cNvSpPr>
            <a:spLocks noGrp="1"/>
          </p:cNvSpPr>
          <p:nvPr/>
        </p:nvSpPr>
        <p:spPr>
          <a:xfrm>
            <a:off x="3917156"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18</a:t>
            </a:r>
          </a:p>
        </p:txBody>
      </p:sp>
      <p:sp>
        <p:nvSpPr>
          <p:cNvPr id="11" name="object-11">
            <a:extLst>
              <a:ext uri="{FF2B5EF4-FFF2-40B4-BE49-F238E27FC236}">
                <a16:creationId xmlns:a16="http://schemas.microsoft.com/office/drawing/2014/main" id="{62653A77-2214-4AE2-918F-0E86F8D64A7C}"/>
              </a:ext>
            </a:extLst>
          </p:cNvPr>
          <p:cNvSpPr>
            <a:spLocks noGrp="1"/>
          </p:cNvSpPr>
          <p:nvPr/>
        </p:nvSpPr>
        <p:spPr>
          <a:xfrm>
            <a:off x="5988844" y="3339162"/>
            <a:ext cx="1785938" cy="2613963"/>
          </a:xfrm>
          <a:prstGeom prst="rect">
            <a:avLst/>
          </a:prstGeom>
          <a:solidFill>
            <a:srgbClr val="1D4ED8"/>
          </a:solidFill>
          <a:ln w="0">
            <a:noFill/>
          </a:ln>
        </p:spPr>
      </p:sp>
      <p:sp>
        <p:nvSpPr>
          <p:cNvPr id="12" name="object-12">
            <a:extLst>
              <a:ext uri="{FF2B5EF4-FFF2-40B4-BE49-F238E27FC236}">
                <a16:creationId xmlns:a16="http://schemas.microsoft.com/office/drawing/2014/main" id="{5F8157E0-73D4-4809-9D8C-71DD4340739B}"/>
              </a:ext>
            </a:extLst>
          </p:cNvPr>
          <p:cNvSpPr>
            <a:spLocks noGrp="1"/>
          </p:cNvSpPr>
          <p:nvPr/>
        </p:nvSpPr>
        <p:spPr>
          <a:xfrm>
            <a:off x="5988844"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21</a:t>
            </a:r>
          </a:p>
        </p:txBody>
      </p:sp>
      <p:sp>
        <p:nvSpPr>
          <p:cNvPr id="13" name="object-13">
            <a:extLst>
              <a:ext uri="{FF2B5EF4-FFF2-40B4-BE49-F238E27FC236}">
                <a16:creationId xmlns:a16="http://schemas.microsoft.com/office/drawing/2014/main" id="{5454366D-E8EA-42BC-AFF9-77756B4E7458}"/>
              </a:ext>
            </a:extLst>
          </p:cNvPr>
          <p:cNvSpPr>
            <a:spLocks noGrp="1"/>
          </p:cNvSpPr>
          <p:nvPr/>
        </p:nvSpPr>
        <p:spPr>
          <a:xfrm>
            <a:off x="8060531" y="4210483"/>
            <a:ext cx="1785938" cy="1742642"/>
          </a:xfrm>
          <a:prstGeom prst="rect">
            <a:avLst/>
          </a:prstGeom>
          <a:solidFill>
            <a:srgbClr val="1D4ED8"/>
          </a:solidFill>
          <a:ln w="0">
            <a:noFill/>
          </a:ln>
        </p:spPr>
      </p:sp>
      <p:sp>
        <p:nvSpPr>
          <p:cNvPr id="14" name="object-14">
            <a:extLst>
              <a:ext uri="{FF2B5EF4-FFF2-40B4-BE49-F238E27FC236}">
                <a16:creationId xmlns:a16="http://schemas.microsoft.com/office/drawing/2014/main" id="{A0D259E7-3C07-4E79-BD4B-7326C33D883C}"/>
              </a:ext>
            </a:extLst>
          </p:cNvPr>
          <p:cNvSpPr>
            <a:spLocks noGrp="1"/>
          </p:cNvSpPr>
          <p:nvPr/>
        </p:nvSpPr>
        <p:spPr>
          <a:xfrm>
            <a:off x="8060531"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14</a:t>
            </a:r>
          </a:p>
        </p:txBody>
      </p:sp>
      <p:sp>
        <p:nvSpPr>
          <p:cNvPr id="15" name="object-15">
            <a:extLst>
              <a:ext uri="{FF2B5EF4-FFF2-40B4-BE49-F238E27FC236}">
                <a16:creationId xmlns:a16="http://schemas.microsoft.com/office/drawing/2014/main" id="{2802B071-53BF-4D7F-84BA-08575B6D7FD0}"/>
              </a:ext>
            </a:extLst>
          </p:cNvPr>
          <p:cNvSpPr>
            <a:spLocks noGrp="1"/>
          </p:cNvSpPr>
          <p:nvPr/>
        </p:nvSpPr>
        <p:spPr>
          <a:xfrm>
            <a:off x="10132219" y="3214688"/>
            <a:ext cx="1785938" cy="2738438"/>
          </a:xfrm>
          <a:prstGeom prst="rect">
            <a:avLst/>
          </a:prstGeom>
          <a:solidFill>
            <a:srgbClr val="1D4ED8"/>
          </a:solidFill>
          <a:ln w="0">
            <a:noFill/>
          </a:ln>
        </p:spPr>
      </p:sp>
      <p:sp>
        <p:nvSpPr>
          <p:cNvPr id="16" name="object-16">
            <a:extLst>
              <a:ext uri="{FF2B5EF4-FFF2-40B4-BE49-F238E27FC236}">
                <a16:creationId xmlns:a16="http://schemas.microsoft.com/office/drawing/2014/main" id="{6FD47DE7-1065-45E3-964A-BFCC93135C8B}"/>
              </a:ext>
            </a:extLst>
          </p:cNvPr>
          <p:cNvSpPr>
            <a:spLocks noGrp="1"/>
          </p:cNvSpPr>
          <p:nvPr/>
        </p:nvSpPr>
        <p:spPr>
          <a:xfrm>
            <a:off x="10132219" y="6119813"/>
            <a:ext cx="1785938" cy="595313"/>
          </a:xfrm>
          <a:prstGeom prst="rect">
            <a:avLst/>
          </a:prstGeom>
          <a:noFill/>
          <a:ln w="0">
            <a:noFill/>
          </a:ln>
        </p:spPr>
        <p:txBody>
          <a:bodyPr anchor="ctr">
            <a:noAutofit/>
          </a:bodyPr>
          <a:lstStyle/>
          <a:p>
            <a:pPr algn="ctr">
              <a:defRPr sz="2719" b="1">
                <a:solidFill>
                  <a:srgbClr val="1D4ED8"/>
                </a:solidFill>
                <a:latin typeface="Arial"/>
                <a:ea typeface="Arial"/>
                <a:cs typeface="Arial"/>
              </a:defRPr>
            </a:pPr>
            <a:r>
              <a:rPr sz="2719" b="1">
                <a:solidFill>
                  <a:srgbClr val="1D4ED8"/>
                </a:solidFill>
                <a:latin typeface="Arial"/>
                <a:ea typeface="Arial"/>
                <a:cs typeface="Arial"/>
              </a:rPr>
              <a:t>22</a:t>
            </a:r>
          </a:p>
        </p:txBody>
      </p:sp>
      <p:sp>
        <p:nvSpPr>
          <p:cNvPr id="17" name="object-17">
            <a:extLst>
              <a:ext uri="{FF2B5EF4-FFF2-40B4-BE49-F238E27FC236}">
                <a16:creationId xmlns:a16="http://schemas.microsoft.com/office/drawing/2014/main" id="{B44FD56A-99A9-4D6B-9F70-42913F79A3FE}"/>
              </a:ext>
            </a:extLst>
          </p:cNvPr>
          <p:cNvSpPr>
            <a:spLocks noGrp="1"/>
          </p:cNvSpPr>
          <p:nvPr/>
        </p:nvSpPr>
        <p:spPr>
          <a:xfrm>
            <a:off x="1666875" y="3712585"/>
            <a:ext cx="10715625" cy="47625"/>
          </a:xfrm>
          <a:prstGeom prst="rect">
            <a:avLst/>
          </a:prstGeom>
          <a:solidFill>
            <a:srgbClr val="11745A"/>
          </a:solidFill>
          <a:ln w="0">
            <a:noFill/>
          </a:ln>
        </p:spPr>
      </p:sp>
      <p:sp>
        <p:nvSpPr>
          <p:cNvPr id="18" name="object-18">
            <a:extLst>
              <a:ext uri="{FF2B5EF4-FFF2-40B4-BE49-F238E27FC236}">
                <a16:creationId xmlns:a16="http://schemas.microsoft.com/office/drawing/2014/main" id="{89EE5979-53B6-4736-8349-6A0508BED6BE}"/>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15 + 18 + 21 + 14 + 22 = 90; 90 ÷ 5 = 18</a:t>
            </a:r>
          </a:p>
        </p:txBody>
      </p:sp>
    </p:spTree>
    <p:extLst>
      <p:ext uri="{BB962C8B-B14F-4D97-AF65-F5344CB8AC3E}">
        <p14:creationId xmlns:p14="http://schemas.microsoft.com/office/powerpoint/2010/main" val="193637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E0DDBB6D-4C3D-4CE1-9BD1-EE49A1D48C4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EB0B7CE2-6135-4CE9-AFE3-BC0F1E660159}"/>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B3AA1A7A-579B-49EC-A93A-D64B98FF06E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828C2E8D-6E6C-485D-8EBB-CD80FDB55B48}"/>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0A4810D-1E83-44CE-A56A-359C0A56892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the mean</a:t>
            </a:r>
          </a:p>
        </p:txBody>
      </p:sp>
      <p:sp>
        <p:nvSpPr>
          <p:cNvPr id="6" name="object-6">
            <a:extLst>
              <a:ext uri="{FF2B5EF4-FFF2-40B4-BE49-F238E27FC236}">
                <a16:creationId xmlns:a16="http://schemas.microsoft.com/office/drawing/2014/main" id="{FE8FE113-352D-41EB-8359-CE3BBB4F2F8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00B629EF-4709-42DB-8239-1ADA73EDCA3F}"/>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696B6C91-65D9-4DD2-AB3C-37F964C75007}"/>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Find the mean of 12, 15, 18, 11 and 19.</a:t>
            </a:r>
          </a:p>
        </p:txBody>
      </p:sp>
      <p:sp>
        <p:nvSpPr>
          <p:cNvPr id="9" name="object-9">
            <a:extLst>
              <a:ext uri="{FF2B5EF4-FFF2-40B4-BE49-F238E27FC236}">
                <a16:creationId xmlns:a16="http://schemas.microsoft.com/office/drawing/2014/main" id="{AF180BFA-24A7-4426-A02A-D39FC476B0F4}"/>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69B113A9-5C8B-4B3D-A854-C8359FE55BD9}"/>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Dataset A has mean 24 over 8 values. Dataset B has total 207 over 9 values. Which mean is greater?</a:t>
            </a:r>
          </a:p>
        </p:txBody>
      </p:sp>
      <p:sp>
        <p:nvSpPr>
          <p:cNvPr id="11" name="object-11">
            <a:extLst>
              <a:ext uri="{FF2B5EF4-FFF2-40B4-BE49-F238E27FC236}">
                <a16:creationId xmlns:a16="http://schemas.microsoft.com/office/drawing/2014/main" id="{5BA08B79-6899-4D76-9491-B166AFC570A4}"/>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21E0CF5F-6B9C-42E1-BA69-CDDA90CEDB6C}"/>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line graph rises from 18 to 46. What is the increase?</a:t>
            </a:r>
          </a:p>
        </p:txBody>
      </p:sp>
      <p:sp>
        <p:nvSpPr>
          <p:cNvPr id="13" name="object-13">
            <a:extLst>
              <a:ext uri="{FF2B5EF4-FFF2-40B4-BE49-F238E27FC236}">
                <a16:creationId xmlns:a16="http://schemas.microsoft.com/office/drawing/2014/main" id="{4A3A67AA-7E54-45E1-82A0-82E65EC82F0A}"/>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0100D275-73B1-435D-9C5E-E4082AF4CF9B}"/>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Find the mean of 12, 15, 18, 11 and 19.</a:t>
            </a:r>
          </a:p>
        </p:txBody>
      </p:sp>
      <p:sp>
        <p:nvSpPr>
          <p:cNvPr id="15" name="object-15">
            <a:extLst>
              <a:ext uri="{FF2B5EF4-FFF2-40B4-BE49-F238E27FC236}">
                <a16:creationId xmlns:a16="http://schemas.microsoft.com/office/drawing/2014/main" id="{A16C054D-4542-4412-A2CC-809ECBA4CC8C}"/>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8DD6DA85-3530-43D9-925C-142DD5F9707A}"/>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Dataset A has mean 24 over 8 values. Dataset B has total 207 over 9 values. Which mean is greater?</a:t>
            </a:r>
          </a:p>
        </p:txBody>
      </p:sp>
      <p:sp>
        <p:nvSpPr>
          <p:cNvPr id="17" name="object-17">
            <a:extLst>
              <a:ext uri="{FF2B5EF4-FFF2-40B4-BE49-F238E27FC236}">
                <a16:creationId xmlns:a16="http://schemas.microsoft.com/office/drawing/2014/main" id="{D811F660-8C94-49D6-B531-62DBC501FBFB}"/>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7F4E9EB2-7A39-4CEC-B3EF-C35F17C56954}"/>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A line graph rises from 18 to 46. What is the increase?</a:t>
            </a:r>
          </a:p>
        </p:txBody>
      </p:sp>
      <p:sp>
        <p:nvSpPr>
          <p:cNvPr id="19" name="object-19">
            <a:extLst>
              <a:ext uri="{FF2B5EF4-FFF2-40B4-BE49-F238E27FC236}">
                <a16:creationId xmlns:a16="http://schemas.microsoft.com/office/drawing/2014/main" id="{FAD61158-5356-41B9-BF08-631BD1076674}"/>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93A975A7-9E21-49CE-BD5D-D4731105D7A2}"/>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A quarter of a 240-pupil pie chart represents walkers. How many pupils walk?</a:t>
            </a:r>
          </a:p>
        </p:txBody>
      </p:sp>
      <p:sp>
        <p:nvSpPr>
          <p:cNvPr id="21" name="object-21">
            <a:extLst>
              <a:ext uri="{FF2B5EF4-FFF2-40B4-BE49-F238E27FC236}">
                <a16:creationId xmlns:a16="http://schemas.microsoft.com/office/drawing/2014/main" id="{380B5C86-8F0A-4A68-B3AB-2B494D74AD97}"/>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F27928AD-716B-4856-9C16-160ECC1EBABF}"/>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divides by the largest value instead of the number of values when finding the mean.</a:t>
            </a:r>
          </a:p>
        </p:txBody>
      </p:sp>
      <p:sp>
        <p:nvSpPr>
          <p:cNvPr id="23" name="object-23">
            <a:extLst>
              <a:ext uri="{FF2B5EF4-FFF2-40B4-BE49-F238E27FC236}">
                <a16:creationId xmlns:a16="http://schemas.microsoft.com/office/drawing/2014/main" id="{8BAA0486-CDC2-4376-A330-3524935445C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BC0F62FA-CD7F-4D8E-9DE0-0D214369AE41}"/>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510AC0F9-F1BE-48EF-B1F8-BE129B469279}"/>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D2F6F5EC-42EA-40E6-835D-33E3F8D0A9EA}"/>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A line graph rises from 18 to 46. What is the increase?</a:t>
            </a:r>
          </a:p>
        </p:txBody>
      </p:sp>
    </p:spTree>
    <p:extLst>
      <p:ext uri="{BB962C8B-B14F-4D97-AF65-F5344CB8AC3E}">
        <p14:creationId xmlns:p14="http://schemas.microsoft.com/office/powerpoint/2010/main" val="671864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AC7E0A20-C950-4469-B9C5-4BD89C8F8A0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1D472418-3715-44AD-BE8D-E0F08E65613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7260EC42-C9BB-4242-A268-7B599FDD7B3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662FC66-3647-4050-B781-A1BC05F13770}"/>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the mean</a:t>
            </a:r>
          </a:p>
        </p:txBody>
      </p:sp>
      <p:sp>
        <p:nvSpPr>
          <p:cNvPr id="5" name="object-5">
            <a:extLst>
              <a:ext uri="{FF2B5EF4-FFF2-40B4-BE49-F238E27FC236}">
                <a16:creationId xmlns:a16="http://schemas.microsoft.com/office/drawing/2014/main" id="{849AC032-7D1E-4B23-84EC-9843385557D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851A64C8-6244-44C0-A804-71806CAAB106}"/>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9B23B938-BE42-4004-8CC7-20375BD8C86B}"/>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15.</a:t>
            </a:r>
          </a:p>
        </p:txBody>
      </p:sp>
      <p:sp>
        <p:nvSpPr>
          <p:cNvPr id="8" name="object-8">
            <a:extLst>
              <a:ext uri="{FF2B5EF4-FFF2-40B4-BE49-F238E27FC236}">
                <a16:creationId xmlns:a16="http://schemas.microsoft.com/office/drawing/2014/main" id="{F36300BD-7E72-4A23-B825-2C9934FF6CDD}"/>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576809EA-1CFE-48E3-839D-CF683383B5D7}"/>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Dataset A: 24; Dataset B: 23, so A is greater.</a:t>
            </a:r>
          </a:p>
        </p:txBody>
      </p:sp>
      <p:sp>
        <p:nvSpPr>
          <p:cNvPr id="10" name="object-10">
            <a:extLst>
              <a:ext uri="{FF2B5EF4-FFF2-40B4-BE49-F238E27FC236}">
                <a16:creationId xmlns:a16="http://schemas.microsoft.com/office/drawing/2014/main" id="{FE10FDBA-E734-4AD9-83CB-0A46C6279546}"/>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879C7D42-0D8C-4916-A80B-522772CDC7D1}"/>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28.</a:t>
            </a:r>
          </a:p>
        </p:txBody>
      </p:sp>
      <p:sp>
        <p:nvSpPr>
          <p:cNvPr id="12" name="object-12">
            <a:extLst>
              <a:ext uri="{FF2B5EF4-FFF2-40B4-BE49-F238E27FC236}">
                <a16:creationId xmlns:a16="http://schemas.microsoft.com/office/drawing/2014/main" id="{6B761983-0A07-4FB6-BA9E-CD16ADB5A570}"/>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E693E7D4-50CE-42A1-9491-F370FB8595A4}"/>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15.</a:t>
            </a:r>
          </a:p>
        </p:txBody>
      </p:sp>
      <p:sp>
        <p:nvSpPr>
          <p:cNvPr id="14" name="object-14">
            <a:extLst>
              <a:ext uri="{FF2B5EF4-FFF2-40B4-BE49-F238E27FC236}">
                <a16:creationId xmlns:a16="http://schemas.microsoft.com/office/drawing/2014/main" id="{B10CCC4F-6B41-41DC-BEF9-21C48B4F2062}"/>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EBCD1363-11F6-4846-83F9-F6C2F763D971}"/>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Dataset A: 24; Dataset B: 23, so A is greater. Method or representation may vary.</a:t>
            </a:r>
          </a:p>
        </p:txBody>
      </p:sp>
      <p:sp>
        <p:nvSpPr>
          <p:cNvPr id="16" name="object-16">
            <a:extLst>
              <a:ext uri="{FF2B5EF4-FFF2-40B4-BE49-F238E27FC236}">
                <a16:creationId xmlns:a16="http://schemas.microsoft.com/office/drawing/2014/main" id="{2F878D8B-250F-4313-9AE5-790830B89B48}"/>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7C7ACB21-686D-4B81-AEDC-E855D621715D}"/>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28. A valid check must be shown.</a:t>
            </a:r>
          </a:p>
        </p:txBody>
      </p:sp>
      <p:sp>
        <p:nvSpPr>
          <p:cNvPr id="18" name="object-18">
            <a:extLst>
              <a:ext uri="{FF2B5EF4-FFF2-40B4-BE49-F238E27FC236}">
                <a16:creationId xmlns:a16="http://schemas.microsoft.com/office/drawing/2014/main" id="{26E0C3FC-162C-4138-9D2E-2AFFABE123CD}"/>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B423798E-A9E9-442C-BEFA-F9AA1A98FF2F}"/>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60 pupils. The explanation must show why the method works.</a:t>
            </a:r>
          </a:p>
        </p:txBody>
      </p:sp>
      <p:sp>
        <p:nvSpPr>
          <p:cNvPr id="20" name="object-20">
            <a:extLst>
              <a:ext uri="{FF2B5EF4-FFF2-40B4-BE49-F238E27FC236}">
                <a16:creationId xmlns:a16="http://schemas.microsoft.com/office/drawing/2014/main" id="{839E9C70-B680-4056-A950-FADF28334713}"/>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36DC50F6-67C4-49B1-92F7-2B7B00DE19E2}"/>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Add every value, count how many values there are, then divide the total by that count.</a:t>
            </a:r>
          </a:p>
        </p:txBody>
      </p:sp>
      <p:sp>
        <p:nvSpPr>
          <p:cNvPr id="22" name="object-22">
            <a:extLst>
              <a:ext uri="{FF2B5EF4-FFF2-40B4-BE49-F238E27FC236}">
                <a16:creationId xmlns:a16="http://schemas.microsoft.com/office/drawing/2014/main" id="{B53FF420-C028-4E1C-8A2C-50CB9221622A}"/>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9937EEE8-B0D3-4D69-A816-DF61084E3CD8}"/>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4A708C94-6879-40E3-9C47-5EB1EEBB73E8}"/>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75D79307-426A-4F31-93AC-8684D472987E}"/>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3566164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1052</Words>
  <Application>Microsoft Office PowerPoint</Application>
  <DocSecurity>0</DocSecurity>
  <PresentationFormat>Custom</PresentationFormat>
  <Paragraphs>110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2026-09-14T13:14:39Z</dcterms:created>
  <dcterms:modified xsi:type="dcterms:W3CDTF">2026-09-14T13:17:58Z</dcterms:modified>
</cp:coreProperties>
</file>