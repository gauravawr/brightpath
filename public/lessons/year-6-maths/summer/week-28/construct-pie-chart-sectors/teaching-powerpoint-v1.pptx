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 pie chart sectors. Construct pie chart sectors.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 pie chart sectors. I do. A complete circle represents the whole: 360 degrees or the total number of pupils.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 pie chart sectors. You do. Pause before clicking. Let pupils try independently, then reveal and discuss every step. A complete circle represents the whole: 360 degrees or the total number of pupils.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 pie chart sectors. I do. A complete circle represents the whole: 360 degrees or the total number of pupils.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 pie chart sectors. You do. Pause before clicking. Let pupils try independently, then reveal and discuss every step. A complete circle represents the whole: 360 degrees or the total number of pupils.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 pie chart sectors.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 pie chart sectors.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51B605E3-2569-4A2E-9695-56B5775B07F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Construct pie chart sectors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E4A784D-B723-4469-A1FF-D7A3A17A1ADA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6495055-821D-4904-B57B-E7089162F3A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0AC028D-E7AD-4C7D-AAA7-C494C546834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Construct pie chart sectors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F320C0C-D142-44F7-8CAB-3C635100724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D38945B-FBD1-489B-9F5F-8501FA210ACB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calculate sector angles from frequencies.</a:t>
            </a:r>
          </a:p>
        </p:txBody>
      </p:sp>
    </p:spTree>
    <p:extLst>
      <p:ext uri="{BB962C8B-B14F-4D97-AF65-F5344CB8AC3E}">
        <p14:creationId xmlns:p14="http://schemas.microsoft.com/office/powerpoint/2010/main" val="35594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-1">
            <a:extLst>
              <a:ext uri="{FF2B5EF4-FFF2-40B4-BE49-F238E27FC236}">
                <a16:creationId xmlns:a16="http://schemas.microsoft.com/office/drawing/2014/main" id="{25A9B0F9-5DBA-44C0-B0CB-BDC44783E53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F583119-6DAC-4B15-911F-F0C57CE4978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15 out of 60 pupils choose art. Find the pie-chart angle.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6BA97CC-7FA0-4F8B-B33B-240F026D119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9540B5B-3498-4747-8D6E-B8E6E8ABFFA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Construct pie chart sectors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F2D0924-E6EE-403A-B3BA-AC21765DBEA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754453F-E0AB-44E0-A2A5-90669EBFF3D7}"/>
              </a:ext>
            </a:extLst>
          </p:cNvPr>
          <p:cNvSpPr>
            <a:spLocks noGrp="1"/>
          </p:cNvSpPr>
          <p:nvPr/>
        </p:nvSpPr>
        <p:spPr>
          <a:xfrm>
            <a:off x="1785938" y="2738438"/>
            <a:ext cx="4286250" cy="4286250"/>
          </a:xfrm>
          <a:prstGeom prst="ellipse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E558512-75C0-4E6A-88A0-2A3936F6945C}"/>
              </a:ext>
            </a:extLst>
          </p:cNvPr>
          <p:cNvSpPr>
            <a:spLocks noGrp="1"/>
          </p:cNvSpPr>
          <p:nvPr/>
        </p:nvSpPr>
        <p:spPr>
          <a:xfrm>
            <a:off x="3929063" y="2738438"/>
            <a:ext cx="2143125" cy="2143125"/>
          </a:xfrm>
          <a:custGeom>
            <a:avLst/>
            <a:gdLst/>
            <a:ahLst/>
            <a:cxnLst/>
            <a:rect l="0" t="0" r="0" b="0"/>
            <a:pathLst>
              <a:path w="2143125" h="2143125">
                <a:moveTo>
                  <a:pt x="0" y="2143125"/>
                </a:moveTo>
                <a:lnTo>
                  <a:pt x="0" y="0"/>
                </a:lnTo>
                <a:lnTo>
                  <a:pt x="84139" y="1652"/>
                </a:lnTo>
                <a:lnTo>
                  <a:pt x="168148" y="6607"/>
                </a:lnTo>
                <a:lnTo>
                  <a:pt x="251897" y="14855"/>
                </a:lnTo>
                <a:lnTo>
                  <a:pt x="335259" y="26385"/>
                </a:lnTo>
                <a:lnTo>
                  <a:pt x="418103" y="41180"/>
                </a:lnTo>
                <a:lnTo>
                  <a:pt x="500303" y="59215"/>
                </a:lnTo>
                <a:lnTo>
                  <a:pt x="581731" y="80463"/>
                </a:lnTo>
                <a:lnTo>
                  <a:pt x="662262" y="104892"/>
                </a:lnTo>
                <a:lnTo>
                  <a:pt x="741772" y="132464"/>
                </a:lnTo>
                <a:lnTo>
                  <a:pt x="820138" y="163136"/>
                </a:lnTo>
                <a:lnTo>
                  <a:pt x="897240" y="196861"/>
                </a:lnTo>
                <a:lnTo>
                  <a:pt x="972958" y="233587"/>
                </a:lnTo>
                <a:lnTo>
                  <a:pt x="1047176" y="273257"/>
                </a:lnTo>
                <a:lnTo>
                  <a:pt x="1119780" y="315811"/>
                </a:lnTo>
                <a:lnTo>
                  <a:pt x="1190656" y="361182"/>
                </a:lnTo>
                <a:lnTo>
                  <a:pt x="1259697" y="409300"/>
                </a:lnTo>
                <a:lnTo>
                  <a:pt x="1326796" y="460093"/>
                </a:lnTo>
                <a:lnTo>
                  <a:pt x="1391848" y="513480"/>
                </a:lnTo>
                <a:lnTo>
                  <a:pt x="1454755" y="569380"/>
                </a:lnTo>
                <a:lnTo>
                  <a:pt x="1515418" y="627707"/>
                </a:lnTo>
                <a:lnTo>
                  <a:pt x="1573745" y="688370"/>
                </a:lnTo>
                <a:lnTo>
                  <a:pt x="1629645" y="751277"/>
                </a:lnTo>
                <a:lnTo>
                  <a:pt x="1683032" y="816329"/>
                </a:lnTo>
                <a:lnTo>
                  <a:pt x="1733825" y="883428"/>
                </a:lnTo>
                <a:lnTo>
                  <a:pt x="1781943" y="952469"/>
                </a:lnTo>
                <a:lnTo>
                  <a:pt x="1827314" y="1023345"/>
                </a:lnTo>
                <a:lnTo>
                  <a:pt x="1869868" y="1095949"/>
                </a:lnTo>
                <a:lnTo>
                  <a:pt x="1909538" y="1170167"/>
                </a:lnTo>
                <a:lnTo>
                  <a:pt x="1946264" y="1245885"/>
                </a:lnTo>
                <a:lnTo>
                  <a:pt x="1979989" y="1322987"/>
                </a:lnTo>
                <a:lnTo>
                  <a:pt x="2010661" y="1401353"/>
                </a:lnTo>
                <a:lnTo>
                  <a:pt x="2038233" y="1480863"/>
                </a:lnTo>
                <a:lnTo>
                  <a:pt x="2062662" y="1561394"/>
                </a:lnTo>
                <a:lnTo>
                  <a:pt x="2083910" y="1642822"/>
                </a:lnTo>
                <a:lnTo>
                  <a:pt x="2101945" y="1725022"/>
                </a:lnTo>
                <a:lnTo>
                  <a:pt x="2116740" y="1807866"/>
                </a:lnTo>
                <a:lnTo>
                  <a:pt x="2128270" y="1891228"/>
                </a:lnTo>
                <a:lnTo>
                  <a:pt x="2136518" y="1974977"/>
                </a:lnTo>
                <a:lnTo>
                  <a:pt x="2141473" y="2058986"/>
                </a:lnTo>
                <a:lnTo>
                  <a:pt x="2143125" y="2143125"/>
                </a:lnTo>
                <a:close/>
              </a:path>
            </a:pathLst>
          </a:custGeom>
          <a:solidFill>
            <a:srgbClr val="1D4ED8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899C424-7E39-4DB9-A607-8D7D1355D2EA}"/>
              </a:ext>
            </a:extLst>
          </p:cNvPr>
          <p:cNvSpPr>
            <a:spLocks noGrp="1"/>
          </p:cNvSpPr>
          <p:nvPr/>
        </p:nvSpPr>
        <p:spPr>
          <a:xfrm>
            <a:off x="7739063" y="3214688"/>
            <a:ext cx="6310313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360 × 15/60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65CC13C-FB08-40F3-8381-5952CC4E3A80}"/>
              </a:ext>
            </a:extLst>
          </p:cNvPr>
          <p:cNvSpPr>
            <a:spLocks noGrp="1"/>
          </p:cNvSpPr>
          <p:nvPr/>
        </p:nvSpPr>
        <p:spPr>
          <a:xfrm>
            <a:off x="8215313" y="5476875"/>
            <a:ext cx="5476875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3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3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75006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-1">
            <a:extLst>
              <a:ext uri="{FF2B5EF4-FFF2-40B4-BE49-F238E27FC236}">
                <a16:creationId xmlns:a16="http://schemas.microsoft.com/office/drawing/2014/main" id="{B76B1CDF-4173-4067-B6E7-82F53C234AD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9BD9569-2BC0-4AD3-94DD-A48AD0BAC3F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5E4DAD3-B788-44AC-8E6C-C5CE9A3248B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 out of 60 pupils choose art. Find the pie-chart angle.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9BCA183-509B-43D8-8254-12C152DF324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CDDE59C-6887-4339-86C6-DA3C757AC36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Construct pie chart sectors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F9AF333-C224-4083-BF46-F4543E6CEF9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82D9C5B-E7F4-4125-A9B1-A7DB4F1F4269}"/>
              </a:ext>
            </a:extLst>
          </p:cNvPr>
          <p:cNvSpPr>
            <a:spLocks noGrp="1"/>
          </p:cNvSpPr>
          <p:nvPr/>
        </p:nvSpPr>
        <p:spPr>
          <a:xfrm>
            <a:off x="1785938" y="2738438"/>
            <a:ext cx="4286250" cy="4286250"/>
          </a:xfrm>
          <a:prstGeom prst="ellipse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F878632-2A01-46D8-82F2-AD93D49D3E1F}"/>
              </a:ext>
            </a:extLst>
          </p:cNvPr>
          <p:cNvSpPr>
            <a:spLocks noGrp="1"/>
          </p:cNvSpPr>
          <p:nvPr/>
        </p:nvSpPr>
        <p:spPr>
          <a:xfrm>
            <a:off x="3929063" y="2738438"/>
            <a:ext cx="2142861" cy="2805387"/>
          </a:xfrm>
          <a:custGeom>
            <a:avLst/>
            <a:gdLst/>
            <a:ahLst/>
            <a:cxnLst/>
            <a:rect l="0" t="0" r="0" b="0"/>
            <a:pathLst>
              <a:path w="2142861" h="2805387">
                <a:moveTo>
                  <a:pt x="0" y="2143125"/>
                </a:moveTo>
                <a:lnTo>
                  <a:pt x="0" y="0"/>
                </a:lnTo>
                <a:lnTo>
                  <a:pt x="100955" y="2379"/>
                </a:lnTo>
                <a:lnTo>
                  <a:pt x="201686" y="9511"/>
                </a:lnTo>
                <a:lnTo>
                  <a:pt x="301969" y="21381"/>
                </a:lnTo>
                <a:lnTo>
                  <a:pt x="401582" y="37961"/>
                </a:lnTo>
                <a:lnTo>
                  <a:pt x="500303" y="59215"/>
                </a:lnTo>
                <a:lnTo>
                  <a:pt x="597913" y="85096"/>
                </a:lnTo>
                <a:lnTo>
                  <a:pt x="694196" y="115546"/>
                </a:lnTo>
                <a:lnTo>
                  <a:pt x="788937" y="150498"/>
                </a:lnTo>
                <a:lnTo>
                  <a:pt x="881927" y="189874"/>
                </a:lnTo>
                <a:lnTo>
                  <a:pt x="972958" y="233587"/>
                </a:lnTo>
                <a:lnTo>
                  <a:pt x="1061830" y="281539"/>
                </a:lnTo>
                <a:lnTo>
                  <a:pt x="1148344" y="333625"/>
                </a:lnTo>
                <a:lnTo>
                  <a:pt x="1232308" y="389728"/>
                </a:lnTo>
                <a:lnTo>
                  <a:pt x="1313536" y="449724"/>
                </a:lnTo>
                <a:lnTo>
                  <a:pt x="1391848" y="513480"/>
                </a:lnTo>
                <a:lnTo>
                  <a:pt x="1467070" y="580854"/>
                </a:lnTo>
                <a:lnTo>
                  <a:pt x="1539034" y="651697"/>
                </a:lnTo>
                <a:lnTo>
                  <a:pt x="1607582" y="725851"/>
                </a:lnTo>
                <a:lnTo>
                  <a:pt x="1672560" y="803152"/>
                </a:lnTo>
                <a:lnTo>
                  <a:pt x="1733825" y="883428"/>
                </a:lnTo>
                <a:lnTo>
                  <a:pt x="1791240" y="966500"/>
                </a:lnTo>
                <a:lnTo>
                  <a:pt x="1844678" y="1052186"/>
                </a:lnTo>
                <a:lnTo>
                  <a:pt x="1894020" y="1140293"/>
                </a:lnTo>
                <a:lnTo>
                  <a:pt x="1939157" y="1230627"/>
                </a:lnTo>
                <a:lnTo>
                  <a:pt x="1979989" y="1322987"/>
                </a:lnTo>
                <a:lnTo>
                  <a:pt x="2016425" y="1417167"/>
                </a:lnTo>
                <a:lnTo>
                  <a:pt x="2048384" y="1512960"/>
                </a:lnTo>
                <a:lnTo>
                  <a:pt x="2075795" y="1610151"/>
                </a:lnTo>
                <a:lnTo>
                  <a:pt x="2098597" y="1708526"/>
                </a:lnTo>
                <a:lnTo>
                  <a:pt x="2116740" y="1807866"/>
                </a:lnTo>
                <a:lnTo>
                  <a:pt x="2130183" y="1907951"/>
                </a:lnTo>
                <a:lnTo>
                  <a:pt x="2138896" y="2008557"/>
                </a:lnTo>
                <a:lnTo>
                  <a:pt x="2142861" y="2109462"/>
                </a:lnTo>
                <a:lnTo>
                  <a:pt x="2142067" y="2210442"/>
                </a:lnTo>
                <a:lnTo>
                  <a:pt x="2136518" y="2311273"/>
                </a:lnTo>
                <a:lnTo>
                  <a:pt x="2126226" y="2411730"/>
                </a:lnTo>
                <a:lnTo>
                  <a:pt x="2111212" y="2511591"/>
                </a:lnTo>
                <a:lnTo>
                  <a:pt x="2091512" y="2610633"/>
                </a:lnTo>
                <a:lnTo>
                  <a:pt x="2067167" y="2708638"/>
                </a:lnTo>
                <a:lnTo>
                  <a:pt x="2038233" y="2805387"/>
                </a:lnTo>
                <a:close/>
              </a:path>
            </a:pathLst>
          </a:custGeom>
          <a:solidFill>
            <a:srgbClr val="1D4ED8"/>
          </a:solidFill>
          <a:ln w="23813">
            <a:solidFill>
              <a:srgbClr val="1D4ED8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9E2411D-57A9-4640-A938-9FC3B56FF70A}"/>
              </a:ext>
            </a:extLst>
          </p:cNvPr>
          <p:cNvSpPr>
            <a:spLocks noGrp="1"/>
          </p:cNvSpPr>
          <p:nvPr/>
        </p:nvSpPr>
        <p:spPr>
          <a:xfrm>
            <a:off x="7739063" y="3214688"/>
            <a:ext cx="6310313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360 × 18/60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FB04147-4084-4FC8-AA52-D457F05C4DB4}"/>
              </a:ext>
            </a:extLst>
          </p:cNvPr>
          <p:cNvSpPr>
            <a:spLocks noGrp="1"/>
          </p:cNvSpPr>
          <p:nvPr/>
        </p:nvSpPr>
        <p:spPr>
          <a:xfrm>
            <a:off x="8215313" y="5476875"/>
            <a:ext cx="5476875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3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3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108°</a:t>
            </a:r>
          </a:p>
        </p:txBody>
      </p:sp>
    </p:spTree>
    <p:extLst>
      <p:ext uri="{BB962C8B-B14F-4D97-AF65-F5344CB8AC3E}">
        <p14:creationId xmlns:p14="http://schemas.microsoft.com/office/powerpoint/2010/main" val="152587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-1">
            <a:extLst>
              <a:ext uri="{FF2B5EF4-FFF2-40B4-BE49-F238E27FC236}">
                <a16:creationId xmlns:a16="http://schemas.microsoft.com/office/drawing/2014/main" id="{8642B499-8994-4089-91DF-096B9977654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A5D74B9-0937-4CD4-9F27-82CFBA4D883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21 out of 60 pupils choose art. Find the pie-chart angle.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4BF1A76-401C-46E7-A4B0-564E21E1F14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7B377CD-CDC7-4718-A79D-3AA7615FC3C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Construct pie chart sectors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92229A0-4767-49A6-858B-ED0F679384A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5F2E2D9-532B-4EA1-8421-E59C9B893257}"/>
              </a:ext>
            </a:extLst>
          </p:cNvPr>
          <p:cNvSpPr>
            <a:spLocks noGrp="1"/>
          </p:cNvSpPr>
          <p:nvPr/>
        </p:nvSpPr>
        <p:spPr>
          <a:xfrm>
            <a:off x="1785938" y="2738438"/>
            <a:ext cx="4286250" cy="4286250"/>
          </a:xfrm>
          <a:prstGeom prst="ellipse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51BDFA2-A1B3-47EF-BF7E-5D6885073465}"/>
              </a:ext>
            </a:extLst>
          </p:cNvPr>
          <p:cNvSpPr>
            <a:spLocks noGrp="1"/>
          </p:cNvSpPr>
          <p:nvPr/>
        </p:nvSpPr>
        <p:spPr>
          <a:xfrm>
            <a:off x="3929063" y="2738438"/>
            <a:ext cx="2142530" cy="3402822"/>
          </a:xfrm>
          <a:custGeom>
            <a:avLst/>
            <a:gdLst/>
            <a:ahLst/>
            <a:cxnLst/>
            <a:rect l="0" t="0" r="0" b="0"/>
            <a:pathLst>
              <a:path w="2142530" h="3402822">
                <a:moveTo>
                  <a:pt x="0" y="2143125"/>
                </a:moveTo>
                <a:lnTo>
                  <a:pt x="0" y="0"/>
                </a:lnTo>
                <a:lnTo>
                  <a:pt x="117765" y="3238"/>
                </a:lnTo>
                <a:lnTo>
                  <a:pt x="235174" y="12942"/>
                </a:lnTo>
                <a:lnTo>
                  <a:pt x="351873" y="29084"/>
                </a:lnTo>
                <a:lnTo>
                  <a:pt x="467508" y="51613"/>
                </a:lnTo>
                <a:lnTo>
                  <a:pt x="581731" y="80463"/>
                </a:lnTo>
                <a:lnTo>
                  <a:pt x="694196" y="115546"/>
                </a:lnTo>
                <a:lnTo>
                  <a:pt x="804562" y="156755"/>
                </a:lnTo>
                <a:lnTo>
                  <a:pt x="912498" y="203968"/>
                </a:lnTo>
                <a:lnTo>
                  <a:pt x="1017677" y="257039"/>
                </a:lnTo>
                <a:lnTo>
                  <a:pt x="1119780" y="315811"/>
                </a:lnTo>
                <a:lnTo>
                  <a:pt x="1218499" y="380104"/>
                </a:lnTo>
                <a:lnTo>
                  <a:pt x="1313536" y="449724"/>
                </a:lnTo>
                <a:lnTo>
                  <a:pt x="1404604" y="524462"/>
                </a:lnTo>
                <a:lnTo>
                  <a:pt x="1491428" y="604091"/>
                </a:lnTo>
                <a:lnTo>
                  <a:pt x="1573745" y="688370"/>
                </a:lnTo>
                <a:lnTo>
                  <a:pt x="1651306" y="777046"/>
                </a:lnTo>
                <a:lnTo>
                  <a:pt x="1723878" y="869849"/>
                </a:lnTo>
                <a:lnTo>
                  <a:pt x="1791240" y="966500"/>
                </a:lnTo>
                <a:lnTo>
                  <a:pt x="1853189" y="1066707"/>
                </a:lnTo>
                <a:lnTo>
                  <a:pt x="1909538" y="1170167"/>
                </a:lnTo>
                <a:lnTo>
                  <a:pt x="1960117" y="1276566"/>
                </a:lnTo>
                <a:lnTo>
                  <a:pt x="2004773" y="1385584"/>
                </a:lnTo>
                <a:lnTo>
                  <a:pt x="2043371" y="1496891"/>
                </a:lnTo>
                <a:lnTo>
                  <a:pt x="2075795" y="1610151"/>
                </a:lnTo>
                <a:lnTo>
                  <a:pt x="2101945" y="1725022"/>
                </a:lnTo>
                <a:lnTo>
                  <a:pt x="2121744" y="1841156"/>
                </a:lnTo>
                <a:lnTo>
                  <a:pt x="2135132" y="1958203"/>
                </a:lnTo>
                <a:lnTo>
                  <a:pt x="2142067" y="2075808"/>
                </a:lnTo>
                <a:lnTo>
                  <a:pt x="2142530" y="2193617"/>
                </a:lnTo>
                <a:lnTo>
                  <a:pt x="2136518" y="2311273"/>
                </a:lnTo>
                <a:lnTo>
                  <a:pt x="2124051" y="2428421"/>
                </a:lnTo>
                <a:lnTo>
                  <a:pt x="2105164" y="2544707"/>
                </a:lnTo>
                <a:lnTo>
                  <a:pt x="2079917" y="2659779"/>
                </a:lnTo>
                <a:lnTo>
                  <a:pt x="2048384" y="2773290"/>
                </a:lnTo>
                <a:lnTo>
                  <a:pt x="2010661" y="2884897"/>
                </a:lnTo>
                <a:lnTo>
                  <a:pt x="1966863" y="2994263"/>
                </a:lnTo>
                <a:lnTo>
                  <a:pt x="1917121" y="3101056"/>
                </a:lnTo>
                <a:lnTo>
                  <a:pt x="1861586" y="3204955"/>
                </a:lnTo>
                <a:lnTo>
                  <a:pt x="1800425" y="3305645"/>
                </a:lnTo>
                <a:lnTo>
                  <a:pt x="1733825" y="3402822"/>
                </a:lnTo>
                <a:close/>
              </a:path>
            </a:pathLst>
          </a:custGeom>
          <a:solidFill>
            <a:srgbClr val="1D4ED8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A10047A-B52F-4354-88BB-0A0A06E09882}"/>
              </a:ext>
            </a:extLst>
          </p:cNvPr>
          <p:cNvSpPr>
            <a:spLocks noGrp="1"/>
          </p:cNvSpPr>
          <p:nvPr/>
        </p:nvSpPr>
        <p:spPr>
          <a:xfrm>
            <a:off x="7739063" y="3214688"/>
            <a:ext cx="6310313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360 × 21/60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C13FC4A-102F-4650-8798-970F95DA50FA}"/>
              </a:ext>
            </a:extLst>
          </p:cNvPr>
          <p:cNvSpPr>
            <a:spLocks noGrp="1"/>
          </p:cNvSpPr>
          <p:nvPr/>
        </p:nvSpPr>
        <p:spPr>
          <a:xfrm>
            <a:off x="8215313" y="5476875"/>
            <a:ext cx="5476875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3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3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126°</a:t>
            </a:r>
          </a:p>
        </p:txBody>
      </p:sp>
    </p:spTree>
    <p:extLst>
      <p:ext uri="{BB962C8B-B14F-4D97-AF65-F5344CB8AC3E}">
        <p14:creationId xmlns:p14="http://schemas.microsoft.com/office/powerpoint/2010/main" val="129403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-1">
            <a:extLst>
              <a:ext uri="{FF2B5EF4-FFF2-40B4-BE49-F238E27FC236}">
                <a16:creationId xmlns:a16="http://schemas.microsoft.com/office/drawing/2014/main" id="{2CC340D5-D11D-4570-AC28-63F2C1B38D6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65F6386-EDFA-4936-BB58-B8B3B4B53AF3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CA7F391-C71F-462A-BE97-049887365DF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24 out of 60 pupils choose art. Find the pie-chart angle.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2535383-9700-4739-A8F8-E0AD3601DDA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2B571C7-C8C8-47AE-AEA1-57A44BF6E07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Construct pie chart sectors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8FEDC81-E4CB-4E1F-B619-495121AA293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7FF0699-5A82-4D5D-AFDF-561625A70ABE}"/>
              </a:ext>
            </a:extLst>
          </p:cNvPr>
          <p:cNvSpPr>
            <a:spLocks noGrp="1"/>
          </p:cNvSpPr>
          <p:nvPr/>
        </p:nvSpPr>
        <p:spPr>
          <a:xfrm>
            <a:off x="1785938" y="2738438"/>
            <a:ext cx="4286250" cy="4286250"/>
          </a:xfrm>
          <a:prstGeom prst="ellipse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86ECC0B-9957-4861-80F1-096DE64138D0}"/>
              </a:ext>
            </a:extLst>
          </p:cNvPr>
          <p:cNvSpPr>
            <a:spLocks noGrp="1"/>
          </p:cNvSpPr>
          <p:nvPr/>
        </p:nvSpPr>
        <p:spPr>
          <a:xfrm>
            <a:off x="3929063" y="2738438"/>
            <a:ext cx="2143125" cy="3876950"/>
          </a:xfrm>
          <a:custGeom>
            <a:avLst/>
            <a:gdLst/>
            <a:ahLst/>
            <a:cxnLst/>
            <a:rect l="0" t="0" r="0" b="0"/>
            <a:pathLst>
              <a:path w="2143125" h="3876950">
                <a:moveTo>
                  <a:pt x="0" y="2143125"/>
                </a:moveTo>
                <a:lnTo>
                  <a:pt x="0" y="0"/>
                </a:lnTo>
                <a:lnTo>
                  <a:pt x="134568" y="4229"/>
                </a:lnTo>
                <a:lnTo>
                  <a:pt x="268605" y="16899"/>
                </a:lnTo>
                <a:lnTo>
                  <a:pt x="401582" y="37961"/>
                </a:lnTo>
                <a:lnTo>
                  <a:pt x="532974" y="67330"/>
                </a:lnTo>
                <a:lnTo>
                  <a:pt x="662262" y="104892"/>
                </a:lnTo>
                <a:lnTo>
                  <a:pt x="788937" y="150498"/>
                </a:lnTo>
                <a:lnTo>
                  <a:pt x="912498" y="203968"/>
                </a:lnTo>
                <a:lnTo>
                  <a:pt x="1032458" y="265090"/>
                </a:lnTo>
                <a:lnTo>
                  <a:pt x="1148344" y="333625"/>
                </a:lnTo>
                <a:lnTo>
                  <a:pt x="1259697" y="409300"/>
                </a:lnTo>
                <a:lnTo>
                  <a:pt x="1366079" y="491819"/>
                </a:lnTo>
                <a:lnTo>
                  <a:pt x="1467070" y="580854"/>
                </a:lnTo>
                <a:lnTo>
                  <a:pt x="1562271" y="676055"/>
                </a:lnTo>
                <a:lnTo>
                  <a:pt x="1651306" y="777046"/>
                </a:lnTo>
                <a:lnTo>
                  <a:pt x="1733825" y="883428"/>
                </a:lnTo>
                <a:lnTo>
                  <a:pt x="1809500" y="994781"/>
                </a:lnTo>
                <a:lnTo>
                  <a:pt x="1878035" y="1110667"/>
                </a:lnTo>
                <a:lnTo>
                  <a:pt x="1939157" y="1230627"/>
                </a:lnTo>
                <a:lnTo>
                  <a:pt x="1992627" y="1354188"/>
                </a:lnTo>
                <a:lnTo>
                  <a:pt x="2038233" y="1480863"/>
                </a:lnTo>
                <a:lnTo>
                  <a:pt x="2075795" y="1610151"/>
                </a:lnTo>
                <a:lnTo>
                  <a:pt x="2105164" y="1741543"/>
                </a:lnTo>
                <a:lnTo>
                  <a:pt x="2126226" y="1874520"/>
                </a:lnTo>
                <a:lnTo>
                  <a:pt x="2138896" y="2008557"/>
                </a:lnTo>
                <a:lnTo>
                  <a:pt x="2143125" y="2143125"/>
                </a:lnTo>
                <a:lnTo>
                  <a:pt x="2138896" y="2277693"/>
                </a:lnTo>
                <a:lnTo>
                  <a:pt x="2126226" y="2411730"/>
                </a:lnTo>
                <a:lnTo>
                  <a:pt x="2105164" y="2544707"/>
                </a:lnTo>
                <a:lnTo>
                  <a:pt x="2075795" y="2676099"/>
                </a:lnTo>
                <a:lnTo>
                  <a:pt x="2038233" y="2805387"/>
                </a:lnTo>
                <a:lnTo>
                  <a:pt x="1992627" y="2932062"/>
                </a:lnTo>
                <a:lnTo>
                  <a:pt x="1939157" y="3055623"/>
                </a:lnTo>
                <a:lnTo>
                  <a:pt x="1878035" y="3175583"/>
                </a:lnTo>
                <a:lnTo>
                  <a:pt x="1809500" y="3291469"/>
                </a:lnTo>
                <a:lnTo>
                  <a:pt x="1733825" y="3402822"/>
                </a:lnTo>
                <a:lnTo>
                  <a:pt x="1651306" y="3509204"/>
                </a:lnTo>
                <a:lnTo>
                  <a:pt x="1562271" y="3610195"/>
                </a:lnTo>
                <a:lnTo>
                  <a:pt x="1467070" y="3705396"/>
                </a:lnTo>
                <a:lnTo>
                  <a:pt x="1366079" y="3794431"/>
                </a:lnTo>
                <a:lnTo>
                  <a:pt x="1259697" y="3876950"/>
                </a:lnTo>
                <a:close/>
              </a:path>
            </a:pathLst>
          </a:custGeom>
          <a:solidFill>
            <a:srgbClr val="1D4ED8"/>
          </a:solidFill>
          <a:ln w="23813">
            <a:solidFill>
              <a:srgbClr val="1D4ED8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8482AC4-343F-4149-9421-B8ECB46E8DCE}"/>
              </a:ext>
            </a:extLst>
          </p:cNvPr>
          <p:cNvSpPr>
            <a:spLocks noGrp="1"/>
          </p:cNvSpPr>
          <p:nvPr/>
        </p:nvSpPr>
        <p:spPr>
          <a:xfrm>
            <a:off x="7739063" y="3214688"/>
            <a:ext cx="6310313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360 × 24/60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0E3D5FF-FE0A-426C-84AF-18F1BC0DFB12}"/>
              </a:ext>
            </a:extLst>
          </p:cNvPr>
          <p:cNvSpPr>
            <a:spLocks noGrp="1"/>
          </p:cNvSpPr>
          <p:nvPr/>
        </p:nvSpPr>
        <p:spPr>
          <a:xfrm>
            <a:off x="8215313" y="5476875"/>
            <a:ext cx="5476875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3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3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144°</a:t>
            </a:r>
          </a:p>
        </p:txBody>
      </p:sp>
    </p:spTree>
    <p:extLst>
      <p:ext uri="{BB962C8B-B14F-4D97-AF65-F5344CB8AC3E}">
        <p14:creationId xmlns:p14="http://schemas.microsoft.com/office/powerpoint/2010/main" val="4854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285ADA60-7119-4F16-BAE4-A6658999A0E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1711F1D-491F-4D41-A33C-916F75E1E9B5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87ECEE0-5FEF-4CB8-8718-447DB770E67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8CAC2F2-7AEC-4E2A-BF09-F27FAE3ACB2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E79CC3D-C70F-495F-8397-8734D03A84D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Construct pie chart sectors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E7B9B0E-C558-4B25-8BB9-FDF6E33DF5B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6D5BC82-FA21-4DD8-AE03-64C808309FE7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59F6C21-8FBD-45E4-9BEF-D196F28860BC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In a survey of 60 pupils, 15 choose art. Find the pie-chart angle.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7C15269-2D47-4BFA-9B1C-D9A974A0264A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1F42DB9-68FC-4FCB-9D1F-7A464700B440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mean of 12, 15, 18, 11 and 19.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6184ADA-A1A2-4B47-B99B-C4E18DC4CA84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0F8EC0E-F04B-4810-9EF8-8D3CEBD08850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Dataset A has mean 24 over 8 values. Dataset B has total 207 over 9 values. Which mean is greater?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05AB983-618C-466B-B749-1621A360D6EE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C26A9E5-8DE2-412F-81A1-A6135D990406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In a survey of 60 pupils, 15 choose art. Find the pie-chart angle.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AF12C62-CCB5-4AA9-8484-10856BE81944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8B1A8D8-7651-4C0A-A629-2BBB26EECCCC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Find the mean of 12, 15, 18, 11 and 19.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609B47E-2EB1-45E1-890D-C3F28C79EFEC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F6A95F1-07CA-4359-97A1-4A2A0C492CC1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8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Dataset A has mean 24 over 8 values. Dataset B has total 207 over 9 values. Which mean is greater?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46B9470-8540-4160-9931-9603CB1E4E1A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050F91A2-815C-4AE3-9C2B-F97FE7FDE727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A line graph rises from 18 to 46. What is the increase?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661997A-8523-4B20-8870-A8306A49D1A7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5C4B7E7-4569-49DD-96B9-C0DE66B02769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divides by the largest value instead of the number of values when finding the mean.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3A610BB-12FD-49D4-B666-0D35D6633A52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DC13F8A6-F240-4272-8926-62E6E6202810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09AA2AE-AF6B-4828-957A-7A3476289678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52DEA598-9F0C-4FD1-893A-E9110E29E54E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Dataset A has mean 24 over 8 values. Dataset B has total 207 over 9 values. Which mean is greater?</a:t>
            </a:r>
          </a:p>
        </p:txBody>
      </p:sp>
    </p:spTree>
    <p:extLst>
      <p:ext uri="{BB962C8B-B14F-4D97-AF65-F5344CB8AC3E}">
        <p14:creationId xmlns:p14="http://schemas.microsoft.com/office/powerpoint/2010/main" val="36262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582AD47E-050E-43D5-800B-4F55F694F43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EAEADC4-B2A3-4C9C-9461-C29BAD8E218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3A1D559-E8CB-4215-8C3B-133028A4C54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8B3E88B-F7D1-4765-BC76-566AFD4FD62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Construct pie chart sectors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4ED73BF-C1EF-49B5-B209-EF579E44BAA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569DC60-B45A-487F-A68B-CFAAE7D4E8BF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672E6F4-6D0D-4621-90E2-C9AE59395EFC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90 degrees.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42D81EF-D98B-4BB8-A828-C618295449F1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2311DA0-A31F-484A-B78B-96FE52CD54FD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15.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CD2666A-5784-45CB-B5B5-D21E81BB351A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2102DE5-C6C2-4A5A-8DE1-7BE71B5F390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Dataset A: 24; Dataset B: 23, so A is greater.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C3878B0-6D45-4851-88E8-11E07F0B9C5B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9C29BC8-C2DD-477F-97B2-6FA6A2B05742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90 degrees.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7A27E70-2305-4F50-ADAD-622E27D66E5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58546BB-E304-45DA-968A-1395D1AF8B04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15.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BCA6CC2-610E-4F2C-AB2A-335BBB81A368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0EA6871-245C-4007-81C5-C5E4B4C0563F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Dataset A: 24; Dataset B: 23, so A is greater.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EBB457F-E560-42E6-97DB-1511CE81CD72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C1EECC79-A423-46CA-8CDA-159C1DA59DC2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28.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74EA68E-2BAA-4946-9FB0-7A969FB5F34D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026B76AE-FDA8-404C-ACDE-6E84BFDCE164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Add every value, count how many values there are, then divide the total by that count.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B4EBE27-74D8-4F97-918F-6593B497EAFF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09A9153-751B-4C0E-806F-C730F649FEEB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4175C340-22F5-4FC9-92BA-DBD7E4A7F6FB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B0701F6-7EC3-4EBE-9C61-3B5E71187208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539725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Office PowerPoint</Application>
  <DocSecurity>0</DocSecurity>
  <PresentationFormat>Custom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2026-09-14T13:19:21Z</dcterms:created>
  <dcterms:modified xsi:type="dcterms:W3CDTF">2026-09-14T13:21:10Z</dcterms:modified>
</cp:coreProperties>
</file>