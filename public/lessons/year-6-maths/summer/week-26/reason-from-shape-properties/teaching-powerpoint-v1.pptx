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Reason from shape properties.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I do.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You do. Pause before clicking. Let pupils try independently, then reveal and discuss every step.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I do.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You do. Pause before clicking. Let pupils try independently, then reveal and discuss every step.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from shape properties.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C16A7B94-844E-415F-AF8D-E83D4A730197}"/>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Reason from shape properties</a:t>
            </a:r>
          </a:p>
        </p:txBody>
      </p:sp>
      <p:sp>
        <p:nvSpPr>
          <p:cNvPr id="2" name="object-2">
            <a:extLst>
              <a:ext uri="{FF2B5EF4-FFF2-40B4-BE49-F238E27FC236}">
                <a16:creationId xmlns:a16="http://schemas.microsoft.com/office/drawing/2014/main" id="{9ADC6D03-46DA-4752-9DA5-A34C4E0C5BA9}"/>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8730C25E-ED1A-4A69-ACCA-9B36C12CA88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2480D8E-1304-4C68-9328-0255516BB14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5" name="object-5">
            <a:extLst>
              <a:ext uri="{FF2B5EF4-FFF2-40B4-BE49-F238E27FC236}">
                <a16:creationId xmlns:a16="http://schemas.microsoft.com/office/drawing/2014/main" id="{B348E3B9-D2F5-4454-BC75-C2FC57935FF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8178D23B-3B14-423F-BFF5-DCD7AA12D53E}"/>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classify shapes and solve problems using their properties.</a:t>
            </a:r>
          </a:p>
        </p:txBody>
      </p:sp>
    </p:spTree>
    <p:extLst>
      <p:ext uri="{BB962C8B-B14F-4D97-AF65-F5344CB8AC3E}">
        <p14:creationId xmlns:p14="http://schemas.microsoft.com/office/powerpoint/2010/main" val="1893134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object-1">
            <a:extLst>
              <a:ext uri="{FF2B5EF4-FFF2-40B4-BE49-F238E27FC236}">
                <a16:creationId xmlns:a16="http://schemas.microsoft.com/office/drawing/2014/main" id="{32A429BB-CB8F-49BB-B803-AC7A211650E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20308DA9-2179-419D-BA02-B261F1226AD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92°, 88°, 105°. Find the missing angle in the quadrilateral.</a:t>
            </a:r>
          </a:p>
        </p:txBody>
      </p:sp>
      <p:sp>
        <p:nvSpPr>
          <p:cNvPr id="3" name="object-3">
            <a:extLst>
              <a:ext uri="{FF2B5EF4-FFF2-40B4-BE49-F238E27FC236}">
                <a16:creationId xmlns:a16="http://schemas.microsoft.com/office/drawing/2014/main" id="{FD7314C0-1A9F-4694-B52E-09F3E218BA7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1B3EF3A-9DC0-4793-A25C-2BE5C86E67F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5" name="object-5">
            <a:extLst>
              <a:ext uri="{FF2B5EF4-FFF2-40B4-BE49-F238E27FC236}">
                <a16:creationId xmlns:a16="http://schemas.microsoft.com/office/drawing/2014/main" id="{1047844F-483C-4A80-A3E7-A8F92370F20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66F12C6D-1E03-45B6-A9AD-4F4328AA3FE4}"/>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7" name="object-7">
            <a:extLst>
              <a:ext uri="{FF2B5EF4-FFF2-40B4-BE49-F238E27FC236}">
                <a16:creationId xmlns:a16="http://schemas.microsoft.com/office/drawing/2014/main" id="{9DB2792F-361D-4E2C-AD6D-D63C641C96A9}"/>
              </a:ext>
            </a:extLst>
          </p:cNvPr>
          <p:cNvSpPr>
            <a:spLocks noGrp="1"/>
          </p:cNvSpPr>
          <p:nvPr/>
        </p:nvSpPr>
        <p:spPr>
          <a:xfrm>
            <a:off x="1547813" y="2797969"/>
            <a:ext cx="6548438" cy="2857500"/>
          </a:xfrm>
          <a:custGeom>
            <a:avLst/>
            <a:gdLst/>
            <a:ahLst/>
            <a:cxnLst/>
            <a:rect l="0" t="0" r="0" b="0"/>
            <a:pathLst>
              <a:path w="6548438" h="2857500">
                <a:moveTo>
                  <a:pt x="0" y="2857500"/>
                </a:moveTo>
                <a:lnTo>
                  <a:pt x="5715000" y="2857500"/>
                </a:lnTo>
                <a:lnTo>
                  <a:pt x="6548438" y="416719"/>
                </a:lnTo>
                <a:lnTo>
                  <a:pt x="1309688" y="0"/>
                </a:lnTo>
                <a:close/>
              </a:path>
            </a:pathLst>
          </a:custGeom>
          <a:solidFill>
            <a:srgbClr val="FFFFFF"/>
          </a:solidFill>
          <a:ln w="23813">
            <a:solidFill>
              <a:srgbClr val="1D4ED8"/>
            </a:solidFill>
          </a:ln>
        </p:spPr>
      </p:sp>
      <p:sp>
        <p:nvSpPr>
          <p:cNvPr id="8" name="object-8">
            <a:extLst>
              <a:ext uri="{FF2B5EF4-FFF2-40B4-BE49-F238E27FC236}">
                <a16:creationId xmlns:a16="http://schemas.microsoft.com/office/drawing/2014/main" id="{4247AC16-FA02-4C08-A697-C4A0CD77CB50}"/>
              </a:ext>
            </a:extLst>
          </p:cNvPr>
          <p:cNvSpPr>
            <a:spLocks noGrp="1"/>
          </p:cNvSpPr>
          <p:nvPr/>
        </p:nvSpPr>
        <p:spPr>
          <a:xfrm>
            <a:off x="2262188"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92°</a:t>
            </a:r>
          </a:p>
        </p:txBody>
      </p:sp>
      <p:sp>
        <p:nvSpPr>
          <p:cNvPr id="9" name="object-9">
            <a:extLst>
              <a:ext uri="{FF2B5EF4-FFF2-40B4-BE49-F238E27FC236}">
                <a16:creationId xmlns:a16="http://schemas.microsoft.com/office/drawing/2014/main" id="{29F3097E-14AA-4D0D-864A-3460DB743974}"/>
              </a:ext>
            </a:extLst>
          </p:cNvPr>
          <p:cNvSpPr>
            <a:spLocks noGrp="1"/>
          </p:cNvSpPr>
          <p:nvPr/>
        </p:nvSpPr>
        <p:spPr>
          <a:xfrm>
            <a:off x="5476875"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88°</a:t>
            </a:r>
          </a:p>
        </p:txBody>
      </p:sp>
      <p:sp>
        <p:nvSpPr>
          <p:cNvPr id="10" name="object-10">
            <a:extLst>
              <a:ext uri="{FF2B5EF4-FFF2-40B4-BE49-F238E27FC236}">
                <a16:creationId xmlns:a16="http://schemas.microsoft.com/office/drawing/2014/main" id="{BA6D791A-466A-47B9-8753-8FB55E864B39}"/>
              </a:ext>
            </a:extLst>
          </p:cNvPr>
          <p:cNvSpPr>
            <a:spLocks noGrp="1"/>
          </p:cNvSpPr>
          <p:nvPr/>
        </p:nvSpPr>
        <p:spPr>
          <a:xfrm>
            <a:off x="6131719" y="3393281"/>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105°</a:t>
            </a:r>
          </a:p>
        </p:txBody>
      </p:sp>
      <p:sp>
        <p:nvSpPr>
          <p:cNvPr id="11" name="object-11">
            <a:extLst>
              <a:ext uri="{FF2B5EF4-FFF2-40B4-BE49-F238E27FC236}">
                <a16:creationId xmlns:a16="http://schemas.microsoft.com/office/drawing/2014/main" id="{5C9B3096-F3FB-4F09-95DD-951653520C2D}"/>
              </a:ext>
            </a:extLst>
          </p:cNvPr>
          <p:cNvSpPr>
            <a:spLocks noGrp="1"/>
          </p:cNvSpPr>
          <p:nvPr/>
        </p:nvSpPr>
        <p:spPr>
          <a:xfrm>
            <a:off x="3036094" y="315515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2" name="object-12">
            <a:extLst>
              <a:ext uri="{FF2B5EF4-FFF2-40B4-BE49-F238E27FC236}">
                <a16:creationId xmlns:a16="http://schemas.microsoft.com/office/drawing/2014/main" id="{A263F62B-90A4-4FA6-A656-C9A12A2DC51F}"/>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360°</a:t>
            </a:r>
          </a:p>
        </p:txBody>
      </p:sp>
      <p:sp>
        <p:nvSpPr>
          <p:cNvPr id="13" name="object-13">
            <a:extLst>
              <a:ext uri="{FF2B5EF4-FFF2-40B4-BE49-F238E27FC236}">
                <a16:creationId xmlns:a16="http://schemas.microsoft.com/office/drawing/2014/main" id="{F66C2C95-FAF7-4177-9ED3-C53D7D1DAF7C}"/>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360 − 285 = 75°</a:t>
            </a:r>
          </a:p>
        </p:txBody>
      </p:sp>
    </p:spTree>
    <p:extLst>
      <p:ext uri="{BB962C8B-B14F-4D97-AF65-F5344CB8AC3E}">
        <p14:creationId xmlns:p14="http://schemas.microsoft.com/office/powerpoint/2010/main" val="1507296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object-1">
            <a:extLst>
              <a:ext uri="{FF2B5EF4-FFF2-40B4-BE49-F238E27FC236}">
                <a16:creationId xmlns:a16="http://schemas.microsoft.com/office/drawing/2014/main" id="{5672A065-7125-49B6-BA53-5F01C2812FE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09D54BC0-BA68-46FC-B778-1994E936656D}"/>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F9762C0-065F-41AF-AAC2-F8D970A2DB8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95°, 88°, 105°. Find the missing angle in the quadrilateral.</a:t>
            </a:r>
          </a:p>
        </p:txBody>
      </p:sp>
      <p:sp>
        <p:nvSpPr>
          <p:cNvPr id="4" name="object-4">
            <a:extLst>
              <a:ext uri="{FF2B5EF4-FFF2-40B4-BE49-F238E27FC236}">
                <a16:creationId xmlns:a16="http://schemas.microsoft.com/office/drawing/2014/main" id="{7D4FF924-E2DB-4865-8625-A0E8BB015337}"/>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353556B-A464-4797-8849-5C1EB5996BC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6" name="object-6">
            <a:extLst>
              <a:ext uri="{FF2B5EF4-FFF2-40B4-BE49-F238E27FC236}">
                <a16:creationId xmlns:a16="http://schemas.microsoft.com/office/drawing/2014/main" id="{8A658B51-C6A8-4A81-A9D5-00CDEB9DB82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87C1FBE8-46EA-47CB-9FFA-9A6D52DEF72D}"/>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8" name="object-8">
            <a:extLst>
              <a:ext uri="{FF2B5EF4-FFF2-40B4-BE49-F238E27FC236}">
                <a16:creationId xmlns:a16="http://schemas.microsoft.com/office/drawing/2014/main" id="{F2620B16-BCCD-4D4C-9779-A236140096BC}"/>
              </a:ext>
            </a:extLst>
          </p:cNvPr>
          <p:cNvSpPr>
            <a:spLocks noGrp="1"/>
          </p:cNvSpPr>
          <p:nvPr/>
        </p:nvSpPr>
        <p:spPr>
          <a:xfrm>
            <a:off x="1547813" y="2797969"/>
            <a:ext cx="6548438" cy="2857500"/>
          </a:xfrm>
          <a:custGeom>
            <a:avLst/>
            <a:gdLst/>
            <a:ahLst/>
            <a:cxnLst/>
            <a:rect l="0" t="0" r="0" b="0"/>
            <a:pathLst>
              <a:path w="6548438" h="2857500">
                <a:moveTo>
                  <a:pt x="0" y="2857500"/>
                </a:moveTo>
                <a:lnTo>
                  <a:pt x="5715000" y="2857500"/>
                </a:lnTo>
                <a:lnTo>
                  <a:pt x="6548438" y="416719"/>
                </a:lnTo>
                <a:lnTo>
                  <a:pt x="1309688" y="0"/>
                </a:lnTo>
                <a:close/>
              </a:path>
            </a:pathLst>
          </a:custGeom>
          <a:solidFill>
            <a:srgbClr val="FFFFFF"/>
          </a:solidFill>
          <a:ln w="23813">
            <a:solidFill>
              <a:srgbClr val="1D4ED8"/>
            </a:solidFill>
          </a:ln>
        </p:spPr>
      </p:sp>
      <p:sp>
        <p:nvSpPr>
          <p:cNvPr id="9" name="object-9">
            <a:extLst>
              <a:ext uri="{FF2B5EF4-FFF2-40B4-BE49-F238E27FC236}">
                <a16:creationId xmlns:a16="http://schemas.microsoft.com/office/drawing/2014/main" id="{BF2CA340-CED5-402E-A678-449AF00FFA0B}"/>
              </a:ext>
            </a:extLst>
          </p:cNvPr>
          <p:cNvSpPr>
            <a:spLocks noGrp="1"/>
          </p:cNvSpPr>
          <p:nvPr/>
        </p:nvSpPr>
        <p:spPr>
          <a:xfrm>
            <a:off x="2262188"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95°</a:t>
            </a:r>
          </a:p>
        </p:txBody>
      </p:sp>
      <p:sp>
        <p:nvSpPr>
          <p:cNvPr id="10" name="object-10">
            <a:extLst>
              <a:ext uri="{FF2B5EF4-FFF2-40B4-BE49-F238E27FC236}">
                <a16:creationId xmlns:a16="http://schemas.microsoft.com/office/drawing/2014/main" id="{97871955-B820-4C4F-A7E5-F752D2AC670D}"/>
              </a:ext>
            </a:extLst>
          </p:cNvPr>
          <p:cNvSpPr>
            <a:spLocks noGrp="1"/>
          </p:cNvSpPr>
          <p:nvPr/>
        </p:nvSpPr>
        <p:spPr>
          <a:xfrm>
            <a:off x="5476875"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88°</a:t>
            </a:r>
          </a:p>
        </p:txBody>
      </p:sp>
      <p:sp>
        <p:nvSpPr>
          <p:cNvPr id="11" name="object-11">
            <a:extLst>
              <a:ext uri="{FF2B5EF4-FFF2-40B4-BE49-F238E27FC236}">
                <a16:creationId xmlns:a16="http://schemas.microsoft.com/office/drawing/2014/main" id="{BE51F348-7F24-4C0A-BF39-F4677586B67C}"/>
              </a:ext>
            </a:extLst>
          </p:cNvPr>
          <p:cNvSpPr>
            <a:spLocks noGrp="1"/>
          </p:cNvSpPr>
          <p:nvPr/>
        </p:nvSpPr>
        <p:spPr>
          <a:xfrm>
            <a:off x="6131719" y="3393281"/>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105°</a:t>
            </a:r>
          </a:p>
        </p:txBody>
      </p:sp>
      <p:sp>
        <p:nvSpPr>
          <p:cNvPr id="12" name="object-12">
            <a:extLst>
              <a:ext uri="{FF2B5EF4-FFF2-40B4-BE49-F238E27FC236}">
                <a16:creationId xmlns:a16="http://schemas.microsoft.com/office/drawing/2014/main" id="{3BA82FAE-FEAA-4304-B912-D58B36A2A29F}"/>
              </a:ext>
            </a:extLst>
          </p:cNvPr>
          <p:cNvSpPr>
            <a:spLocks noGrp="1"/>
          </p:cNvSpPr>
          <p:nvPr/>
        </p:nvSpPr>
        <p:spPr>
          <a:xfrm>
            <a:off x="3036094" y="315515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3" name="object-13">
            <a:extLst>
              <a:ext uri="{FF2B5EF4-FFF2-40B4-BE49-F238E27FC236}">
                <a16:creationId xmlns:a16="http://schemas.microsoft.com/office/drawing/2014/main" id="{3005231B-3D61-4F86-81F1-392BF4A52B23}"/>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360°</a:t>
            </a:r>
          </a:p>
        </p:txBody>
      </p:sp>
      <p:sp>
        <p:nvSpPr>
          <p:cNvPr id="14" name="object-14">
            <a:extLst>
              <a:ext uri="{FF2B5EF4-FFF2-40B4-BE49-F238E27FC236}">
                <a16:creationId xmlns:a16="http://schemas.microsoft.com/office/drawing/2014/main" id="{5FF5E6B7-4143-4AC0-AC4B-303AA13F0F83}"/>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360 − 288 = 72°</a:t>
            </a:r>
          </a:p>
        </p:txBody>
      </p:sp>
    </p:spTree>
    <p:extLst>
      <p:ext uri="{BB962C8B-B14F-4D97-AF65-F5344CB8AC3E}">
        <p14:creationId xmlns:p14="http://schemas.microsoft.com/office/powerpoint/2010/main" val="100934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object-1">
            <a:extLst>
              <a:ext uri="{FF2B5EF4-FFF2-40B4-BE49-F238E27FC236}">
                <a16:creationId xmlns:a16="http://schemas.microsoft.com/office/drawing/2014/main" id="{2BFB1CF3-8560-4C2C-ADD9-B120A2636B9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62F6E68-225A-4903-BFD5-DD5957CE778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98°, 88°, 105°. Find the missing angle in the quadrilateral.</a:t>
            </a:r>
          </a:p>
        </p:txBody>
      </p:sp>
      <p:sp>
        <p:nvSpPr>
          <p:cNvPr id="3" name="object-3">
            <a:extLst>
              <a:ext uri="{FF2B5EF4-FFF2-40B4-BE49-F238E27FC236}">
                <a16:creationId xmlns:a16="http://schemas.microsoft.com/office/drawing/2014/main" id="{2FA81084-301B-4421-B901-8948CE9E08B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14B4F4F-EAB0-4D96-97A6-B0BFAA5E4B2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5" name="object-5">
            <a:extLst>
              <a:ext uri="{FF2B5EF4-FFF2-40B4-BE49-F238E27FC236}">
                <a16:creationId xmlns:a16="http://schemas.microsoft.com/office/drawing/2014/main" id="{4987B937-8605-4153-8403-B89A1FA7CDA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517C5B0D-A43D-4FE7-BB2B-4E60490186B8}"/>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7" name="object-7">
            <a:extLst>
              <a:ext uri="{FF2B5EF4-FFF2-40B4-BE49-F238E27FC236}">
                <a16:creationId xmlns:a16="http://schemas.microsoft.com/office/drawing/2014/main" id="{6532BC6A-A604-4BC8-A5E4-958C3C714B0D}"/>
              </a:ext>
            </a:extLst>
          </p:cNvPr>
          <p:cNvSpPr>
            <a:spLocks noGrp="1"/>
          </p:cNvSpPr>
          <p:nvPr/>
        </p:nvSpPr>
        <p:spPr>
          <a:xfrm>
            <a:off x="1547813" y="2797969"/>
            <a:ext cx="6548438" cy="2857500"/>
          </a:xfrm>
          <a:custGeom>
            <a:avLst/>
            <a:gdLst/>
            <a:ahLst/>
            <a:cxnLst/>
            <a:rect l="0" t="0" r="0" b="0"/>
            <a:pathLst>
              <a:path w="6548438" h="2857500">
                <a:moveTo>
                  <a:pt x="0" y="2857500"/>
                </a:moveTo>
                <a:lnTo>
                  <a:pt x="5715000" y="2857500"/>
                </a:lnTo>
                <a:lnTo>
                  <a:pt x="6548438" y="416719"/>
                </a:lnTo>
                <a:lnTo>
                  <a:pt x="1309688" y="0"/>
                </a:lnTo>
                <a:close/>
              </a:path>
            </a:pathLst>
          </a:custGeom>
          <a:solidFill>
            <a:srgbClr val="FFFFFF"/>
          </a:solidFill>
          <a:ln w="23813">
            <a:solidFill>
              <a:srgbClr val="1D4ED8"/>
            </a:solidFill>
          </a:ln>
        </p:spPr>
      </p:sp>
      <p:sp>
        <p:nvSpPr>
          <p:cNvPr id="8" name="object-8">
            <a:extLst>
              <a:ext uri="{FF2B5EF4-FFF2-40B4-BE49-F238E27FC236}">
                <a16:creationId xmlns:a16="http://schemas.microsoft.com/office/drawing/2014/main" id="{CF91911B-AE83-4577-AD9B-6F484579790F}"/>
              </a:ext>
            </a:extLst>
          </p:cNvPr>
          <p:cNvSpPr>
            <a:spLocks noGrp="1"/>
          </p:cNvSpPr>
          <p:nvPr/>
        </p:nvSpPr>
        <p:spPr>
          <a:xfrm>
            <a:off x="2262188"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98°</a:t>
            </a:r>
          </a:p>
        </p:txBody>
      </p:sp>
      <p:sp>
        <p:nvSpPr>
          <p:cNvPr id="9" name="object-9">
            <a:extLst>
              <a:ext uri="{FF2B5EF4-FFF2-40B4-BE49-F238E27FC236}">
                <a16:creationId xmlns:a16="http://schemas.microsoft.com/office/drawing/2014/main" id="{A874CA2D-858E-4372-B080-806FBF21BA36}"/>
              </a:ext>
            </a:extLst>
          </p:cNvPr>
          <p:cNvSpPr>
            <a:spLocks noGrp="1"/>
          </p:cNvSpPr>
          <p:nvPr/>
        </p:nvSpPr>
        <p:spPr>
          <a:xfrm>
            <a:off x="5476875"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88°</a:t>
            </a:r>
          </a:p>
        </p:txBody>
      </p:sp>
      <p:sp>
        <p:nvSpPr>
          <p:cNvPr id="10" name="object-10">
            <a:extLst>
              <a:ext uri="{FF2B5EF4-FFF2-40B4-BE49-F238E27FC236}">
                <a16:creationId xmlns:a16="http://schemas.microsoft.com/office/drawing/2014/main" id="{C6FC7EA2-4390-40FA-B995-6D01FE96124B}"/>
              </a:ext>
            </a:extLst>
          </p:cNvPr>
          <p:cNvSpPr>
            <a:spLocks noGrp="1"/>
          </p:cNvSpPr>
          <p:nvPr/>
        </p:nvSpPr>
        <p:spPr>
          <a:xfrm>
            <a:off x="6131719" y="3393281"/>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105°</a:t>
            </a:r>
          </a:p>
        </p:txBody>
      </p:sp>
      <p:sp>
        <p:nvSpPr>
          <p:cNvPr id="11" name="object-11">
            <a:extLst>
              <a:ext uri="{FF2B5EF4-FFF2-40B4-BE49-F238E27FC236}">
                <a16:creationId xmlns:a16="http://schemas.microsoft.com/office/drawing/2014/main" id="{DE95358C-5252-45B1-BDD6-73F519D00F2B}"/>
              </a:ext>
            </a:extLst>
          </p:cNvPr>
          <p:cNvSpPr>
            <a:spLocks noGrp="1"/>
          </p:cNvSpPr>
          <p:nvPr/>
        </p:nvSpPr>
        <p:spPr>
          <a:xfrm>
            <a:off x="3036094" y="315515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2" name="object-12">
            <a:extLst>
              <a:ext uri="{FF2B5EF4-FFF2-40B4-BE49-F238E27FC236}">
                <a16:creationId xmlns:a16="http://schemas.microsoft.com/office/drawing/2014/main" id="{CD960E12-B565-41F0-9FF7-63C7000CE12A}"/>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360°</a:t>
            </a:r>
          </a:p>
        </p:txBody>
      </p:sp>
      <p:sp>
        <p:nvSpPr>
          <p:cNvPr id="13" name="object-13">
            <a:extLst>
              <a:ext uri="{FF2B5EF4-FFF2-40B4-BE49-F238E27FC236}">
                <a16:creationId xmlns:a16="http://schemas.microsoft.com/office/drawing/2014/main" id="{CE962811-A073-4944-8C17-15BEC1A51BED}"/>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360 − 291 = 69°</a:t>
            </a:r>
          </a:p>
        </p:txBody>
      </p:sp>
    </p:spTree>
    <p:extLst>
      <p:ext uri="{BB962C8B-B14F-4D97-AF65-F5344CB8AC3E}">
        <p14:creationId xmlns:p14="http://schemas.microsoft.com/office/powerpoint/2010/main" val="346435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object-1">
            <a:extLst>
              <a:ext uri="{FF2B5EF4-FFF2-40B4-BE49-F238E27FC236}">
                <a16:creationId xmlns:a16="http://schemas.microsoft.com/office/drawing/2014/main" id="{F6982731-CB44-4F80-A093-6BB720B00C4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E8EC601C-5164-40AF-9B55-3BFD3F49992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3702BEF8-0873-44F3-9654-59D3A0E9071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101°, 88°, 105°. Find the missing angle in the quadrilateral.</a:t>
            </a:r>
          </a:p>
        </p:txBody>
      </p:sp>
      <p:sp>
        <p:nvSpPr>
          <p:cNvPr id="4" name="object-4">
            <a:extLst>
              <a:ext uri="{FF2B5EF4-FFF2-40B4-BE49-F238E27FC236}">
                <a16:creationId xmlns:a16="http://schemas.microsoft.com/office/drawing/2014/main" id="{EB11FA13-2AA4-41CD-977D-377613F559E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97C2BFB-BEF9-46EF-B5DA-C7DFA43285C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6" name="object-6">
            <a:extLst>
              <a:ext uri="{FF2B5EF4-FFF2-40B4-BE49-F238E27FC236}">
                <a16:creationId xmlns:a16="http://schemas.microsoft.com/office/drawing/2014/main" id="{ED5E8E7D-0BF5-44A2-8B98-914C8A24B3C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7A4574BD-553E-4593-894B-42532D4A0F08}"/>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8" name="object-8">
            <a:extLst>
              <a:ext uri="{FF2B5EF4-FFF2-40B4-BE49-F238E27FC236}">
                <a16:creationId xmlns:a16="http://schemas.microsoft.com/office/drawing/2014/main" id="{EEEC62CC-EBBE-4E8C-ABEA-EEED80E55391}"/>
              </a:ext>
            </a:extLst>
          </p:cNvPr>
          <p:cNvSpPr>
            <a:spLocks noGrp="1"/>
          </p:cNvSpPr>
          <p:nvPr/>
        </p:nvSpPr>
        <p:spPr>
          <a:xfrm>
            <a:off x="1547813" y="2797969"/>
            <a:ext cx="6548438" cy="2857500"/>
          </a:xfrm>
          <a:custGeom>
            <a:avLst/>
            <a:gdLst/>
            <a:ahLst/>
            <a:cxnLst/>
            <a:rect l="0" t="0" r="0" b="0"/>
            <a:pathLst>
              <a:path w="6548438" h="2857500">
                <a:moveTo>
                  <a:pt x="0" y="2857500"/>
                </a:moveTo>
                <a:lnTo>
                  <a:pt x="5715000" y="2857500"/>
                </a:lnTo>
                <a:lnTo>
                  <a:pt x="6548438" y="416719"/>
                </a:lnTo>
                <a:lnTo>
                  <a:pt x="1309688" y="0"/>
                </a:lnTo>
                <a:close/>
              </a:path>
            </a:pathLst>
          </a:custGeom>
          <a:solidFill>
            <a:srgbClr val="FFFFFF"/>
          </a:solidFill>
          <a:ln w="23813">
            <a:solidFill>
              <a:srgbClr val="1D4ED8"/>
            </a:solidFill>
          </a:ln>
        </p:spPr>
      </p:sp>
      <p:sp>
        <p:nvSpPr>
          <p:cNvPr id="9" name="object-9">
            <a:extLst>
              <a:ext uri="{FF2B5EF4-FFF2-40B4-BE49-F238E27FC236}">
                <a16:creationId xmlns:a16="http://schemas.microsoft.com/office/drawing/2014/main" id="{B1DDC3C3-7A87-42BF-BD77-F9432ADCE36E}"/>
              </a:ext>
            </a:extLst>
          </p:cNvPr>
          <p:cNvSpPr>
            <a:spLocks noGrp="1"/>
          </p:cNvSpPr>
          <p:nvPr/>
        </p:nvSpPr>
        <p:spPr>
          <a:xfrm>
            <a:off x="2262188"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101°</a:t>
            </a:r>
          </a:p>
        </p:txBody>
      </p:sp>
      <p:sp>
        <p:nvSpPr>
          <p:cNvPr id="10" name="object-10">
            <a:extLst>
              <a:ext uri="{FF2B5EF4-FFF2-40B4-BE49-F238E27FC236}">
                <a16:creationId xmlns:a16="http://schemas.microsoft.com/office/drawing/2014/main" id="{3FA44579-FF5C-4935-A19E-3BA81297CDAB}"/>
              </a:ext>
            </a:extLst>
          </p:cNvPr>
          <p:cNvSpPr>
            <a:spLocks noGrp="1"/>
          </p:cNvSpPr>
          <p:nvPr/>
        </p:nvSpPr>
        <p:spPr>
          <a:xfrm>
            <a:off x="5476875" y="4583906"/>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88°</a:t>
            </a:r>
          </a:p>
        </p:txBody>
      </p:sp>
      <p:sp>
        <p:nvSpPr>
          <p:cNvPr id="11" name="object-11">
            <a:extLst>
              <a:ext uri="{FF2B5EF4-FFF2-40B4-BE49-F238E27FC236}">
                <a16:creationId xmlns:a16="http://schemas.microsoft.com/office/drawing/2014/main" id="{F9F11EED-3A9A-411A-BA97-38CC92B8F3CB}"/>
              </a:ext>
            </a:extLst>
          </p:cNvPr>
          <p:cNvSpPr>
            <a:spLocks noGrp="1"/>
          </p:cNvSpPr>
          <p:nvPr/>
        </p:nvSpPr>
        <p:spPr>
          <a:xfrm>
            <a:off x="6131719" y="3393281"/>
            <a:ext cx="1488281" cy="714375"/>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105°</a:t>
            </a:r>
          </a:p>
        </p:txBody>
      </p:sp>
      <p:sp>
        <p:nvSpPr>
          <p:cNvPr id="12" name="object-12">
            <a:extLst>
              <a:ext uri="{FF2B5EF4-FFF2-40B4-BE49-F238E27FC236}">
                <a16:creationId xmlns:a16="http://schemas.microsoft.com/office/drawing/2014/main" id="{1BAA87E3-5426-41BB-AEF9-8B6311B9D32C}"/>
              </a:ext>
            </a:extLst>
          </p:cNvPr>
          <p:cNvSpPr>
            <a:spLocks noGrp="1"/>
          </p:cNvSpPr>
          <p:nvPr/>
        </p:nvSpPr>
        <p:spPr>
          <a:xfrm>
            <a:off x="3036094" y="315515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3" name="object-13">
            <a:extLst>
              <a:ext uri="{FF2B5EF4-FFF2-40B4-BE49-F238E27FC236}">
                <a16:creationId xmlns:a16="http://schemas.microsoft.com/office/drawing/2014/main" id="{4C101454-03CB-47DE-8D0F-04E660735C79}"/>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360°</a:t>
            </a:r>
          </a:p>
        </p:txBody>
      </p:sp>
      <p:sp>
        <p:nvSpPr>
          <p:cNvPr id="14" name="object-14">
            <a:extLst>
              <a:ext uri="{FF2B5EF4-FFF2-40B4-BE49-F238E27FC236}">
                <a16:creationId xmlns:a16="http://schemas.microsoft.com/office/drawing/2014/main" id="{310EE3DB-08BF-4939-8893-29B249B42A35}"/>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360 − 294 = 66°</a:t>
            </a:r>
          </a:p>
        </p:txBody>
      </p:sp>
    </p:spTree>
    <p:extLst>
      <p:ext uri="{BB962C8B-B14F-4D97-AF65-F5344CB8AC3E}">
        <p14:creationId xmlns:p14="http://schemas.microsoft.com/office/powerpoint/2010/main" val="960643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292B2F91-2EAA-4AAE-9636-629B7BD7668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C1BD9D7-1DC3-4FB6-B45C-E3E8BC7B08F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F8BD750-75A4-469D-897D-9605DFCCAE3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DD109D81-E77A-4020-8A4C-1CB9D2ADDE36}"/>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7E96095-8949-403C-8527-E204FF53456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6" name="object-6">
            <a:extLst>
              <a:ext uri="{FF2B5EF4-FFF2-40B4-BE49-F238E27FC236}">
                <a16:creationId xmlns:a16="http://schemas.microsoft.com/office/drawing/2014/main" id="{6408FFE7-E6C3-4307-8FC4-AEEE4939CCD5}"/>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14454147-48B9-4E7F-8072-5ED7FFC61ED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150BC7AA-B213-4999-AD73-3AA7F74EB63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quadrilateral has three angles of 92 degrees, 88 degrees and 105 degrees. Find the fourth.</a:t>
            </a:r>
          </a:p>
        </p:txBody>
      </p:sp>
      <p:sp>
        <p:nvSpPr>
          <p:cNvPr id="9" name="object-9">
            <a:extLst>
              <a:ext uri="{FF2B5EF4-FFF2-40B4-BE49-F238E27FC236}">
                <a16:creationId xmlns:a16="http://schemas.microsoft.com/office/drawing/2014/main" id="{F03B411D-F43D-4E01-842F-BA09346A40D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A9AEEA74-557F-45BA-8E19-C488C2BF4352}"/>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Angles around a point are 85 degrees, 140 degrees and x. Find x.</a:t>
            </a:r>
          </a:p>
        </p:txBody>
      </p:sp>
      <p:sp>
        <p:nvSpPr>
          <p:cNvPr id="11" name="object-11">
            <a:extLst>
              <a:ext uri="{FF2B5EF4-FFF2-40B4-BE49-F238E27FC236}">
                <a16:creationId xmlns:a16="http://schemas.microsoft.com/office/drawing/2014/main" id="{E708E54B-C0C2-4BCA-9E25-64B0FF50AFAE}"/>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80C09835-AE47-405E-A4FA-8194BC6F8CA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One angle where two straight lines cross is 68 degrees. Find the vertically opposite angle.</a:t>
            </a:r>
          </a:p>
        </p:txBody>
      </p:sp>
      <p:sp>
        <p:nvSpPr>
          <p:cNvPr id="13" name="object-13">
            <a:extLst>
              <a:ext uri="{FF2B5EF4-FFF2-40B4-BE49-F238E27FC236}">
                <a16:creationId xmlns:a16="http://schemas.microsoft.com/office/drawing/2014/main" id="{FAAD73F7-0374-4E3B-BD86-14DC930AC95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2B10817D-6E5A-47F7-8164-7D51FE3C7C15}"/>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quadrilateral has three angles of 92 degrees, 88 degrees and 105 degrees. Find the fourth.</a:t>
            </a:r>
          </a:p>
        </p:txBody>
      </p:sp>
      <p:sp>
        <p:nvSpPr>
          <p:cNvPr id="15" name="object-15">
            <a:extLst>
              <a:ext uri="{FF2B5EF4-FFF2-40B4-BE49-F238E27FC236}">
                <a16:creationId xmlns:a16="http://schemas.microsoft.com/office/drawing/2014/main" id="{9DFA2EBE-4EEF-4EF0-A694-59D31517B50A}"/>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9EE3C9FD-1FC3-4349-BFFC-567BF9BAAEE7}"/>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Angles around a point are 85 degrees, 140 degrees and x. Find x.</a:t>
            </a:r>
          </a:p>
        </p:txBody>
      </p:sp>
      <p:sp>
        <p:nvSpPr>
          <p:cNvPr id="17" name="object-17">
            <a:extLst>
              <a:ext uri="{FF2B5EF4-FFF2-40B4-BE49-F238E27FC236}">
                <a16:creationId xmlns:a16="http://schemas.microsoft.com/office/drawing/2014/main" id="{6628EFDF-CFA1-4BF1-BC9F-0D4DB8A7BB36}"/>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AB1B3871-45AB-4DA8-B0D9-51BA41F49D6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688" b="0">
                <a:solidFill>
                  <a:srgbClr val="172B4D"/>
                </a:solidFill>
                <a:latin typeface="Arial"/>
                <a:ea typeface="Arial"/>
                <a:cs typeface="Arial"/>
              </a:defRPr>
            </a:pPr>
            <a:r>
              <a:rPr sz="1688" b="0">
                <a:solidFill>
                  <a:srgbClr val="172B4D"/>
                </a:solidFill>
                <a:latin typeface="Arial"/>
                <a:ea typeface="Arial"/>
                <a:cs typeface="Arial"/>
              </a:rPr>
              <a:t>Check this result using an inverse, estimate or known fact: One angle where two straight lines cross is 68 degrees. Find the vertically opposite angle.</a:t>
            </a:r>
          </a:p>
        </p:txBody>
      </p:sp>
      <p:sp>
        <p:nvSpPr>
          <p:cNvPr id="19" name="object-19">
            <a:extLst>
              <a:ext uri="{FF2B5EF4-FFF2-40B4-BE49-F238E27FC236}">
                <a16:creationId xmlns:a16="http://schemas.microsoft.com/office/drawing/2014/main" id="{53E64249-88AC-453C-ACDF-F412ABA86AF3}"/>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6EE5AA03-05EC-4466-A310-A0EA43963E3B}"/>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 triangle has angles 47 degrees and 68 degrees. Find the third angle.</a:t>
            </a:r>
          </a:p>
        </p:txBody>
      </p:sp>
      <p:sp>
        <p:nvSpPr>
          <p:cNvPr id="21" name="object-21">
            <a:extLst>
              <a:ext uri="{FF2B5EF4-FFF2-40B4-BE49-F238E27FC236}">
                <a16:creationId xmlns:a16="http://schemas.microsoft.com/office/drawing/2014/main" id="{F0309340-EE05-4736-B2B0-7D3B9C2ACFCD}"/>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941696DE-3BFB-40D2-BD1C-2A4D4CB0D2D4}"/>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estimates from the drawing even when the diagram is not to scale.</a:t>
            </a:r>
          </a:p>
        </p:txBody>
      </p:sp>
      <p:sp>
        <p:nvSpPr>
          <p:cNvPr id="23" name="object-23">
            <a:extLst>
              <a:ext uri="{FF2B5EF4-FFF2-40B4-BE49-F238E27FC236}">
                <a16:creationId xmlns:a16="http://schemas.microsoft.com/office/drawing/2014/main" id="{57D44258-B433-4B6F-AAF0-6E83C9C8C95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529D36C4-8155-4E3B-A330-60A8D52EE22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04C308D4-25E0-4A89-9BE2-E7304C2A259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F42D3406-DBF8-4CD0-B999-95E4E75A24B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One angle where two straight lines cross is 68 degrees. Find the vertically opposite angle.</a:t>
            </a:r>
          </a:p>
        </p:txBody>
      </p:sp>
    </p:spTree>
    <p:extLst>
      <p:ext uri="{BB962C8B-B14F-4D97-AF65-F5344CB8AC3E}">
        <p14:creationId xmlns:p14="http://schemas.microsoft.com/office/powerpoint/2010/main" val="33391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A0222F82-6FA5-4CB2-A365-DB45C4477E3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4A7A60B5-E6FD-40C3-BBB0-CE0FFC17436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36BB1342-81E2-4B92-A390-1BC326E53509}"/>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E3EC99F-1AE0-4A85-9044-D2843397853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from shape properties</a:t>
            </a:r>
          </a:p>
        </p:txBody>
      </p:sp>
      <p:sp>
        <p:nvSpPr>
          <p:cNvPr id="5" name="object-5">
            <a:extLst>
              <a:ext uri="{FF2B5EF4-FFF2-40B4-BE49-F238E27FC236}">
                <a16:creationId xmlns:a16="http://schemas.microsoft.com/office/drawing/2014/main" id="{AFEDD54F-3BC2-4C9F-8929-F3F9E988BE9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D648F0FB-E045-4E5F-BCFF-A2615A84BD7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10170144-C9CB-4753-9B76-A6CC293A3A79}"/>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75 degrees.</a:t>
            </a:r>
          </a:p>
        </p:txBody>
      </p:sp>
      <p:sp>
        <p:nvSpPr>
          <p:cNvPr id="8" name="object-8">
            <a:extLst>
              <a:ext uri="{FF2B5EF4-FFF2-40B4-BE49-F238E27FC236}">
                <a16:creationId xmlns:a16="http://schemas.microsoft.com/office/drawing/2014/main" id="{B3F025E5-2EA2-4B92-8B97-77BAC9C0106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F347F4C4-0EE1-4CA3-BD2B-97C7C1A6407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135 degrees.</a:t>
            </a:r>
          </a:p>
        </p:txBody>
      </p:sp>
      <p:sp>
        <p:nvSpPr>
          <p:cNvPr id="10" name="object-10">
            <a:extLst>
              <a:ext uri="{FF2B5EF4-FFF2-40B4-BE49-F238E27FC236}">
                <a16:creationId xmlns:a16="http://schemas.microsoft.com/office/drawing/2014/main" id="{DA8D6595-0593-42D6-A347-30298D4BECE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95C287CA-7844-4941-8DC4-F576510C290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68 degrees.</a:t>
            </a:r>
          </a:p>
        </p:txBody>
      </p:sp>
      <p:sp>
        <p:nvSpPr>
          <p:cNvPr id="12" name="object-12">
            <a:extLst>
              <a:ext uri="{FF2B5EF4-FFF2-40B4-BE49-F238E27FC236}">
                <a16:creationId xmlns:a16="http://schemas.microsoft.com/office/drawing/2014/main" id="{C96236F8-4880-4C82-93FB-1AAB383BF2C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A72DC992-46DB-4FEC-A63A-5D216367FC20}"/>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75 degrees.</a:t>
            </a:r>
          </a:p>
        </p:txBody>
      </p:sp>
      <p:sp>
        <p:nvSpPr>
          <p:cNvPr id="14" name="object-14">
            <a:extLst>
              <a:ext uri="{FF2B5EF4-FFF2-40B4-BE49-F238E27FC236}">
                <a16:creationId xmlns:a16="http://schemas.microsoft.com/office/drawing/2014/main" id="{E0518B48-C103-4547-AA40-714D49374861}"/>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B0CCFDA1-BD95-4BBB-B1E0-7F5AC9E537FA}"/>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135 degrees. Method or representation may vary.</a:t>
            </a:r>
          </a:p>
        </p:txBody>
      </p:sp>
      <p:sp>
        <p:nvSpPr>
          <p:cNvPr id="16" name="object-16">
            <a:extLst>
              <a:ext uri="{FF2B5EF4-FFF2-40B4-BE49-F238E27FC236}">
                <a16:creationId xmlns:a16="http://schemas.microsoft.com/office/drawing/2014/main" id="{BC6E51F5-179E-4688-8F47-EDC2750AB1D6}"/>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588ABE8F-6226-4367-AB5E-791DEA6C048B}"/>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68 degrees. A valid check must be shown.</a:t>
            </a:r>
          </a:p>
        </p:txBody>
      </p:sp>
      <p:sp>
        <p:nvSpPr>
          <p:cNvPr id="18" name="object-18">
            <a:extLst>
              <a:ext uri="{FF2B5EF4-FFF2-40B4-BE49-F238E27FC236}">
                <a16:creationId xmlns:a16="http://schemas.microsoft.com/office/drawing/2014/main" id="{A54D6352-D5AC-446E-A56D-C6F9FA3995D7}"/>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C7E812AB-C541-4764-8CF3-0F383A9E08A7}"/>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65 degrees. The explanation must show why the method works.</a:t>
            </a:r>
          </a:p>
        </p:txBody>
      </p:sp>
      <p:sp>
        <p:nvSpPr>
          <p:cNvPr id="20" name="object-20">
            <a:extLst>
              <a:ext uri="{FF2B5EF4-FFF2-40B4-BE49-F238E27FC236}">
                <a16:creationId xmlns:a16="http://schemas.microsoft.com/office/drawing/2014/main" id="{EEEADCBF-F4CB-4B06-8F70-98CE396B147E}"/>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B141B424-DF8D-482E-8331-B50757CADCAC}"/>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labelled values and known geometric facts, then check the total angle relationship.</a:t>
            </a:r>
          </a:p>
        </p:txBody>
      </p:sp>
      <p:sp>
        <p:nvSpPr>
          <p:cNvPr id="22" name="object-22">
            <a:extLst>
              <a:ext uri="{FF2B5EF4-FFF2-40B4-BE49-F238E27FC236}">
                <a16:creationId xmlns:a16="http://schemas.microsoft.com/office/drawing/2014/main" id="{4F276429-6CEB-4D36-B13F-ED2CA9D7D234}"/>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CC50DC48-D365-4A16-A24D-AA4B6B579A93}"/>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4AA38AAF-55C0-4A07-A9DB-E0A1CF9E4454}"/>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156918DF-EBE1-4C1F-BB70-567C954A591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23617495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1024</Words>
  <Application>Microsoft Office PowerPoint</Application>
  <DocSecurity>0</DocSecurity>
  <PresentationFormat>Custom</PresentationFormat>
  <Paragraphs>114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2026-09-14T13:19:20Z</dcterms:created>
  <dcterms:modified xsi:type="dcterms:W3CDTF">2026-09-14T13:21:01Z</dcterms:modified>
</cp:coreProperties>
</file>