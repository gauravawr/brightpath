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Find angles in triangles and quadrilaterals. Find angles in triangles and quadrilaterals. Introduce the mathematical idea using the first worked example. The lesson can be placed anywhere in the teaching sequence.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Find angles in triangles and quadrilaterals. I do. Identify the angle fact before calculating. Each highlighted part contributes to the total.</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Find angles in triangles and quadrilaterals. You do. Pause before clicking. Let pupils try independently, then reveal and discuss every step. Identify the angle fact before calculating. Each highlighted part contributes to the total.</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Find angles in triangles and quadrilaterals. I do. Identify the angle fact before calculating. Each highlighted part contributes to the total.</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Find angles in triangles and quadrilaterals. You do. Pause before clicking. Let pupils try independently, then reveal and discuss every step. Identify the angle fact before calculating. Each highlighted part contributes to the total.</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Find angles in triangles and quadrilaterals. You do. Pause before clicking. Let pupils try independently, then reveal and discuss every step. These are the existing expected-level worksheet questions, in their original order. Do not advance to the answer slide until pupils have had time to finish.</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Find angles in triangles and quadrilaterals. Answers. Answers to the preceding complete activity question set, in matching order. Accept mathematically valid alternatives for open questions.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object-1">
            <a:extLst>
              <a:ext uri="{FF2B5EF4-FFF2-40B4-BE49-F238E27FC236}">
                <a16:creationId xmlns:a16="http://schemas.microsoft.com/office/drawing/2014/main" id="{22BCB4B4-6541-4CE7-BBA2-5E0D5CC5B8F7}"/>
              </a:ext>
            </a:extLst>
          </p:cNvPr>
          <p:cNvSpPr>
            <a:spLocks noGrp="1"/>
          </p:cNvSpPr>
          <p:nvPr/>
        </p:nvSpPr>
        <p:spPr>
          <a:xfrm>
            <a:off x="654844" y="357188"/>
            <a:ext cx="13930313" cy="1547813"/>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Find angles in triangles and quadrilaterals</a:t>
            </a:r>
          </a:p>
        </p:txBody>
      </p:sp>
      <p:sp>
        <p:nvSpPr>
          <p:cNvPr id="2" name="object-2">
            <a:extLst>
              <a:ext uri="{FF2B5EF4-FFF2-40B4-BE49-F238E27FC236}">
                <a16:creationId xmlns:a16="http://schemas.microsoft.com/office/drawing/2014/main" id="{71ECB897-AE03-4A08-AD66-BD6D48DEF8AF}"/>
              </a:ext>
            </a:extLst>
          </p:cNvPr>
          <p:cNvSpPr>
            <a:spLocks noGrp="1"/>
          </p:cNvSpPr>
          <p:nvPr/>
        </p:nvSpPr>
        <p:spPr>
          <a:xfrm>
            <a:off x="654844" y="2024063"/>
            <a:ext cx="13930313" cy="1012031"/>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Watch the model. Try the next question. Explain what changes.</a:t>
            </a:r>
          </a:p>
        </p:txBody>
      </p:sp>
      <p:sp>
        <p:nvSpPr>
          <p:cNvPr id="3" name="object-3">
            <a:extLst>
              <a:ext uri="{FF2B5EF4-FFF2-40B4-BE49-F238E27FC236}">
                <a16:creationId xmlns:a16="http://schemas.microsoft.com/office/drawing/2014/main" id="{633C7225-14DF-44A0-B37F-A4CF95537554}"/>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1A3FF706-A0C8-4CA8-8F0F-5909799FF720}"/>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Find angles in triangles and quadrilaterals</a:t>
            </a:r>
          </a:p>
        </p:txBody>
      </p:sp>
      <p:sp>
        <p:nvSpPr>
          <p:cNvPr id="5" name="object-5">
            <a:extLst>
              <a:ext uri="{FF2B5EF4-FFF2-40B4-BE49-F238E27FC236}">
                <a16:creationId xmlns:a16="http://schemas.microsoft.com/office/drawing/2014/main" id="{259619BB-3DEC-4E2A-8055-E9A06A6365C1}"/>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a:t>
            </a:r>
          </a:p>
        </p:txBody>
      </p:sp>
      <p:sp>
        <p:nvSpPr>
          <p:cNvPr id="6" name="object-6">
            <a:extLst>
              <a:ext uri="{FF2B5EF4-FFF2-40B4-BE49-F238E27FC236}">
                <a16:creationId xmlns:a16="http://schemas.microsoft.com/office/drawing/2014/main" id="{59D9F9F4-ACC2-4E70-889D-9E08CB1A46CF}"/>
              </a:ext>
            </a:extLst>
          </p:cNvPr>
          <p:cNvSpPr>
            <a:spLocks noGrp="1"/>
          </p:cNvSpPr>
          <p:nvPr/>
        </p:nvSpPr>
        <p:spPr>
          <a:xfrm>
            <a:off x="1190625" y="3631406"/>
            <a:ext cx="12858750" cy="2143125"/>
          </a:xfrm>
          <a:prstGeom prst="rect">
            <a:avLst/>
          </a:prstGeom>
          <a:noFill/>
          <a:ln w="0">
            <a:noFill/>
          </a:ln>
        </p:spPr>
        <p:txBody>
          <a:bodyPr anchor="ctr">
            <a:noAutofit/>
          </a:bodyPr>
          <a:lstStyle/>
          <a:p>
            <a:pPr algn="ctr">
              <a:defRPr sz="3375" b="1">
                <a:solidFill>
                  <a:srgbClr val="1D4ED8"/>
                </a:solidFill>
                <a:latin typeface="Arial"/>
                <a:ea typeface="Arial"/>
                <a:cs typeface="Arial"/>
              </a:defRPr>
            </a:pPr>
            <a:r>
              <a:rPr sz="3375" b="1">
                <a:solidFill>
                  <a:srgbClr val="1D4ED8"/>
                </a:solidFill>
                <a:latin typeface="Arial"/>
                <a:ea typeface="Arial"/>
                <a:cs typeface="Arial"/>
              </a:rPr>
              <a:t>To calculate missing interior angles in polygons.</a:t>
            </a:r>
          </a:p>
        </p:txBody>
      </p:sp>
    </p:spTree>
    <p:extLst>
      <p:ext uri="{BB962C8B-B14F-4D97-AF65-F5344CB8AC3E}">
        <p14:creationId xmlns:p14="http://schemas.microsoft.com/office/powerpoint/2010/main" val="11430396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object-1">
            <a:extLst>
              <a:ext uri="{FF2B5EF4-FFF2-40B4-BE49-F238E27FC236}">
                <a16:creationId xmlns:a16="http://schemas.microsoft.com/office/drawing/2014/main" id="{E5BB7D23-5483-49E4-8796-F41DF341BF72}"/>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4FDB87E3-745F-4E47-B36D-9A563299BAF7}"/>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Known angles: 47°, 68°. Find the missing angle in the triangle.</a:t>
            </a:r>
          </a:p>
        </p:txBody>
      </p:sp>
      <p:sp>
        <p:nvSpPr>
          <p:cNvPr id="3" name="object-3">
            <a:extLst>
              <a:ext uri="{FF2B5EF4-FFF2-40B4-BE49-F238E27FC236}">
                <a16:creationId xmlns:a16="http://schemas.microsoft.com/office/drawing/2014/main" id="{BD5BFD3F-36E2-4879-998F-D84CAF19E532}"/>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07082C22-113E-4F68-9509-B1F3D9F7F8D9}"/>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Find angles in triangles and quadrilaterals</a:t>
            </a:r>
          </a:p>
        </p:txBody>
      </p:sp>
      <p:sp>
        <p:nvSpPr>
          <p:cNvPr id="5" name="object-5">
            <a:extLst>
              <a:ext uri="{FF2B5EF4-FFF2-40B4-BE49-F238E27FC236}">
                <a16:creationId xmlns:a16="http://schemas.microsoft.com/office/drawing/2014/main" id="{8AE464F6-E1F6-4B9B-8CBE-9B61C90689F8}"/>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2</a:t>
            </a:r>
          </a:p>
        </p:txBody>
      </p:sp>
      <p:sp>
        <p:nvSpPr>
          <p:cNvPr id="6" name="object-6">
            <a:extLst>
              <a:ext uri="{FF2B5EF4-FFF2-40B4-BE49-F238E27FC236}">
                <a16:creationId xmlns:a16="http://schemas.microsoft.com/office/drawing/2014/main" id="{00AA57A5-395D-4A00-B818-D3362CD15EAD}"/>
              </a:ext>
            </a:extLst>
          </p:cNvPr>
          <p:cNvSpPr>
            <a:spLocks noGrp="1"/>
          </p:cNvSpPr>
          <p:nvPr/>
        </p:nvSpPr>
        <p:spPr>
          <a:xfrm>
            <a:off x="1547813" y="7084219"/>
            <a:ext cx="6548438" cy="500063"/>
          </a:xfrm>
          <a:prstGeom prst="rect">
            <a:avLst/>
          </a:prstGeom>
          <a:noFill/>
          <a:ln w="0">
            <a:noFill/>
          </a:ln>
        </p:spPr>
        <p:txBody>
          <a:bodyPr anchor="ctr">
            <a:noAutofit/>
          </a:bodyPr>
          <a:lstStyle/>
          <a:p>
            <a:pPr algn="ctr">
              <a:defRPr sz="1969" b="0">
                <a:solidFill>
                  <a:srgbClr val="52647A"/>
                </a:solidFill>
                <a:latin typeface="Arial"/>
                <a:ea typeface="Arial"/>
                <a:cs typeface="Arial"/>
              </a:defRPr>
            </a:pPr>
            <a:r>
              <a:rPr sz="1969" b="0">
                <a:solidFill>
                  <a:srgbClr val="52647A"/>
                </a:solidFill>
                <a:latin typeface="Arial"/>
                <a:ea typeface="Arial"/>
                <a:cs typeface="Arial"/>
              </a:rPr>
              <a:t>Diagram not to scale</a:t>
            </a:r>
          </a:p>
        </p:txBody>
      </p:sp>
      <p:sp>
        <p:nvSpPr>
          <p:cNvPr id="7" name="object-7">
            <a:extLst>
              <a:ext uri="{FF2B5EF4-FFF2-40B4-BE49-F238E27FC236}">
                <a16:creationId xmlns:a16="http://schemas.microsoft.com/office/drawing/2014/main" id="{1677C2F8-2A3A-4E8B-B67A-EE369ADEB8FC}"/>
              </a:ext>
            </a:extLst>
          </p:cNvPr>
          <p:cNvSpPr>
            <a:spLocks noGrp="1"/>
          </p:cNvSpPr>
          <p:nvPr/>
        </p:nvSpPr>
        <p:spPr>
          <a:xfrm>
            <a:off x="1666875" y="3214688"/>
            <a:ext cx="6072188" cy="2738438"/>
          </a:xfrm>
          <a:custGeom>
            <a:avLst/>
            <a:gdLst/>
            <a:ahLst/>
            <a:cxnLst/>
            <a:rect l="0" t="0" r="0" b="0"/>
            <a:pathLst>
              <a:path w="6072188" h="2738438">
                <a:moveTo>
                  <a:pt x="0" y="2738438"/>
                </a:moveTo>
                <a:lnTo>
                  <a:pt x="6072188" y="2738438"/>
                </a:lnTo>
                <a:lnTo>
                  <a:pt x="2381250" y="0"/>
                </a:lnTo>
                <a:close/>
              </a:path>
            </a:pathLst>
          </a:custGeom>
          <a:solidFill>
            <a:srgbClr val="FFFFFF"/>
          </a:solidFill>
          <a:ln w="23813">
            <a:solidFill>
              <a:srgbClr val="1D4ED8"/>
            </a:solidFill>
          </a:ln>
        </p:spPr>
      </p:sp>
      <p:sp>
        <p:nvSpPr>
          <p:cNvPr id="8" name="object-8">
            <a:extLst>
              <a:ext uri="{FF2B5EF4-FFF2-40B4-BE49-F238E27FC236}">
                <a16:creationId xmlns:a16="http://schemas.microsoft.com/office/drawing/2014/main" id="{89BDECDB-8BEF-4251-9780-D4AD62284D05}"/>
              </a:ext>
            </a:extLst>
          </p:cNvPr>
          <p:cNvSpPr>
            <a:spLocks noGrp="1"/>
          </p:cNvSpPr>
          <p:nvPr/>
        </p:nvSpPr>
        <p:spPr>
          <a:xfrm>
            <a:off x="2143125" y="5012531"/>
            <a:ext cx="1607344"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47°</a:t>
            </a:r>
          </a:p>
        </p:txBody>
      </p:sp>
      <p:sp>
        <p:nvSpPr>
          <p:cNvPr id="9" name="object-9">
            <a:extLst>
              <a:ext uri="{FF2B5EF4-FFF2-40B4-BE49-F238E27FC236}">
                <a16:creationId xmlns:a16="http://schemas.microsoft.com/office/drawing/2014/main" id="{DA6A127B-C89F-44E4-AB9C-529149D4F429}"/>
              </a:ext>
            </a:extLst>
          </p:cNvPr>
          <p:cNvSpPr>
            <a:spLocks noGrp="1"/>
          </p:cNvSpPr>
          <p:nvPr/>
        </p:nvSpPr>
        <p:spPr>
          <a:xfrm>
            <a:off x="5595938" y="5012531"/>
            <a:ext cx="1607344"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68°</a:t>
            </a:r>
          </a:p>
        </p:txBody>
      </p:sp>
      <p:sp>
        <p:nvSpPr>
          <p:cNvPr id="10" name="object-10">
            <a:extLst>
              <a:ext uri="{FF2B5EF4-FFF2-40B4-BE49-F238E27FC236}">
                <a16:creationId xmlns:a16="http://schemas.microsoft.com/office/drawing/2014/main" id="{43806F3C-D6BA-49E6-8289-94A8B850F32F}"/>
              </a:ext>
            </a:extLst>
          </p:cNvPr>
          <p:cNvSpPr>
            <a:spLocks noGrp="1"/>
          </p:cNvSpPr>
          <p:nvPr/>
        </p:nvSpPr>
        <p:spPr>
          <a:xfrm>
            <a:off x="3393281" y="3631406"/>
            <a:ext cx="1190625" cy="833438"/>
          </a:xfrm>
          <a:prstGeom prst="rect">
            <a:avLst/>
          </a:prstGeom>
          <a:noFill/>
          <a:ln w="0">
            <a:noFill/>
          </a:ln>
        </p:spPr>
        <p:txBody>
          <a:bodyPr anchor="ctr">
            <a:noAutofit/>
          </a:bodyPr>
          <a:lstStyle/>
          <a:p>
            <a:pPr algn="l">
              <a:defRPr sz="4219" b="1">
                <a:solidFill>
                  <a:srgbClr val="11745A"/>
                </a:solidFill>
                <a:latin typeface="Arial"/>
                <a:ea typeface="Arial"/>
                <a:cs typeface="Arial"/>
              </a:defRPr>
            </a:pPr>
            <a:r>
              <a:rPr sz="4219" b="1">
                <a:solidFill>
                  <a:srgbClr val="11745A"/>
                </a:solidFill>
                <a:latin typeface="Arial"/>
                <a:ea typeface="Arial"/>
                <a:cs typeface="Arial"/>
              </a:rPr>
              <a:t>?</a:t>
            </a:r>
          </a:p>
        </p:txBody>
      </p:sp>
      <p:sp>
        <p:nvSpPr>
          <p:cNvPr id="11" name="object-11">
            <a:extLst>
              <a:ext uri="{FF2B5EF4-FFF2-40B4-BE49-F238E27FC236}">
                <a16:creationId xmlns:a16="http://schemas.microsoft.com/office/drawing/2014/main" id="{E5DA4075-C5FC-4DFC-9C20-B485F01C84BC}"/>
              </a:ext>
            </a:extLst>
          </p:cNvPr>
          <p:cNvSpPr>
            <a:spLocks noGrp="1"/>
          </p:cNvSpPr>
          <p:nvPr/>
        </p:nvSpPr>
        <p:spPr>
          <a:xfrm>
            <a:off x="9048750" y="3214688"/>
            <a:ext cx="5060156" cy="1309688"/>
          </a:xfrm>
          <a:prstGeom prst="rect">
            <a:avLst/>
          </a:prstGeom>
          <a:noFill/>
          <a:ln w="0">
            <a:noFill/>
          </a:ln>
        </p:spPr>
        <p:txBody>
          <a:bodyPr anchor="ctr">
            <a:noAutofit/>
          </a:bodyPr>
          <a:lstStyle/>
          <a:p>
            <a:pPr algn="l">
              <a:defRPr sz="3000" b="1">
                <a:solidFill>
                  <a:srgbClr val="172B4D"/>
                </a:solidFill>
                <a:latin typeface="Arial"/>
                <a:ea typeface="Arial"/>
                <a:cs typeface="Arial"/>
              </a:defRPr>
            </a:pPr>
            <a:r>
              <a:rPr sz="3000" b="1">
                <a:solidFill>
                  <a:srgbClr val="172B4D"/>
                </a:solidFill>
                <a:latin typeface="Arial"/>
                <a:ea typeface="Arial"/>
                <a:cs typeface="Arial"/>
              </a:rPr>
              <a:t>Total = 180°</a:t>
            </a:r>
          </a:p>
        </p:txBody>
      </p:sp>
      <p:sp>
        <p:nvSpPr>
          <p:cNvPr id="12" name="object-12">
            <a:extLst>
              <a:ext uri="{FF2B5EF4-FFF2-40B4-BE49-F238E27FC236}">
                <a16:creationId xmlns:a16="http://schemas.microsoft.com/office/drawing/2014/main" id="{4D0BDF6E-C2E4-457A-BA81-8DC1719A0C9E}"/>
              </a:ext>
            </a:extLst>
          </p:cNvPr>
          <p:cNvSpPr>
            <a:spLocks noGrp="1"/>
          </p:cNvSpPr>
          <p:nvPr/>
        </p:nvSpPr>
        <p:spPr>
          <a:xfrm>
            <a:off x="8929688" y="5250656"/>
            <a:ext cx="5357813" cy="1190625"/>
          </a:xfrm>
          <a:prstGeom prst="rect">
            <a:avLst/>
          </a:prstGeom>
          <a:noFill/>
          <a:ln w="0">
            <a:noFill/>
          </a:ln>
        </p:spPr>
        <p:txBody>
          <a:bodyPr anchor="ctr">
            <a:noAutofit/>
          </a:bodyPr>
          <a:lstStyle/>
          <a:p>
            <a:pPr algn="l">
              <a:defRPr sz="3469" b="1">
                <a:solidFill>
                  <a:srgbClr val="11745A"/>
                </a:solidFill>
                <a:latin typeface="Arial"/>
                <a:ea typeface="Arial"/>
                <a:cs typeface="Arial"/>
              </a:defRPr>
            </a:pPr>
            <a:r>
              <a:rPr sz="3469" b="1">
                <a:solidFill>
                  <a:srgbClr val="11745A"/>
                </a:solidFill>
                <a:latin typeface="Arial"/>
                <a:ea typeface="Arial"/>
                <a:cs typeface="Arial"/>
              </a:rPr>
              <a:t>180 − 115 = 65°</a:t>
            </a:r>
          </a:p>
        </p:txBody>
      </p:sp>
    </p:spTree>
    <p:extLst>
      <p:ext uri="{BB962C8B-B14F-4D97-AF65-F5344CB8AC3E}">
        <p14:creationId xmlns:p14="http://schemas.microsoft.com/office/powerpoint/2010/main" val="2264503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object-1">
            <a:extLst>
              <a:ext uri="{FF2B5EF4-FFF2-40B4-BE49-F238E27FC236}">
                <a16:creationId xmlns:a16="http://schemas.microsoft.com/office/drawing/2014/main" id="{0B7B1E6A-5163-4DD0-846D-AE3EC51E0444}"/>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53B07AA8-A31C-4759-B893-207C8B9CE9C6}"/>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9E1086C5-3A7B-42EE-9C93-FFC71C5FF786}"/>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Known angles: 50°, 68°. Find the missing angle in the triangle.</a:t>
            </a:r>
          </a:p>
        </p:txBody>
      </p:sp>
      <p:sp>
        <p:nvSpPr>
          <p:cNvPr id="4" name="object-4">
            <a:extLst>
              <a:ext uri="{FF2B5EF4-FFF2-40B4-BE49-F238E27FC236}">
                <a16:creationId xmlns:a16="http://schemas.microsoft.com/office/drawing/2014/main" id="{7EFEDCE4-38D2-4D70-92A4-9D4646675A89}"/>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52C8451F-CC94-45E6-BCFD-119DE8B913B0}"/>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Find angles in triangles and quadrilaterals</a:t>
            </a:r>
          </a:p>
        </p:txBody>
      </p:sp>
      <p:sp>
        <p:nvSpPr>
          <p:cNvPr id="6" name="object-6">
            <a:extLst>
              <a:ext uri="{FF2B5EF4-FFF2-40B4-BE49-F238E27FC236}">
                <a16:creationId xmlns:a16="http://schemas.microsoft.com/office/drawing/2014/main" id="{439B281E-D1D1-4CD4-ACE8-5A47EDC8072C}"/>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3</a:t>
            </a:r>
          </a:p>
        </p:txBody>
      </p:sp>
      <p:sp>
        <p:nvSpPr>
          <p:cNvPr id="7" name="object-7">
            <a:extLst>
              <a:ext uri="{FF2B5EF4-FFF2-40B4-BE49-F238E27FC236}">
                <a16:creationId xmlns:a16="http://schemas.microsoft.com/office/drawing/2014/main" id="{99135C79-2731-4876-ACAF-02F12136118E}"/>
              </a:ext>
            </a:extLst>
          </p:cNvPr>
          <p:cNvSpPr>
            <a:spLocks noGrp="1"/>
          </p:cNvSpPr>
          <p:nvPr/>
        </p:nvSpPr>
        <p:spPr>
          <a:xfrm>
            <a:off x="1547813" y="7084219"/>
            <a:ext cx="6548438" cy="500063"/>
          </a:xfrm>
          <a:prstGeom prst="rect">
            <a:avLst/>
          </a:prstGeom>
          <a:noFill/>
          <a:ln w="0">
            <a:noFill/>
          </a:ln>
        </p:spPr>
        <p:txBody>
          <a:bodyPr anchor="ctr">
            <a:noAutofit/>
          </a:bodyPr>
          <a:lstStyle/>
          <a:p>
            <a:pPr algn="ctr">
              <a:defRPr sz="1969" b="0">
                <a:solidFill>
                  <a:srgbClr val="52647A"/>
                </a:solidFill>
                <a:latin typeface="Arial"/>
                <a:ea typeface="Arial"/>
                <a:cs typeface="Arial"/>
              </a:defRPr>
            </a:pPr>
            <a:r>
              <a:rPr sz="1969" b="0">
                <a:solidFill>
                  <a:srgbClr val="52647A"/>
                </a:solidFill>
                <a:latin typeface="Arial"/>
                <a:ea typeface="Arial"/>
                <a:cs typeface="Arial"/>
              </a:rPr>
              <a:t>Diagram not to scale</a:t>
            </a:r>
          </a:p>
        </p:txBody>
      </p:sp>
      <p:sp>
        <p:nvSpPr>
          <p:cNvPr id="8" name="object-8">
            <a:extLst>
              <a:ext uri="{FF2B5EF4-FFF2-40B4-BE49-F238E27FC236}">
                <a16:creationId xmlns:a16="http://schemas.microsoft.com/office/drawing/2014/main" id="{432EAF84-0FE1-45E3-9D89-7ABC2B068E4B}"/>
              </a:ext>
            </a:extLst>
          </p:cNvPr>
          <p:cNvSpPr>
            <a:spLocks noGrp="1"/>
          </p:cNvSpPr>
          <p:nvPr/>
        </p:nvSpPr>
        <p:spPr>
          <a:xfrm>
            <a:off x="1666875" y="3214688"/>
            <a:ext cx="6072188" cy="2738438"/>
          </a:xfrm>
          <a:custGeom>
            <a:avLst/>
            <a:gdLst/>
            <a:ahLst/>
            <a:cxnLst/>
            <a:rect l="0" t="0" r="0" b="0"/>
            <a:pathLst>
              <a:path w="6072188" h="2738438">
                <a:moveTo>
                  <a:pt x="0" y="2738438"/>
                </a:moveTo>
                <a:lnTo>
                  <a:pt x="6072188" y="2738438"/>
                </a:lnTo>
                <a:lnTo>
                  <a:pt x="2381250" y="0"/>
                </a:lnTo>
                <a:close/>
              </a:path>
            </a:pathLst>
          </a:custGeom>
          <a:solidFill>
            <a:srgbClr val="FFFFFF"/>
          </a:solidFill>
          <a:ln w="23813">
            <a:solidFill>
              <a:srgbClr val="1D4ED8"/>
            </a:solidFill>
          </a:ln>
        </p:spPr>
      </p:sp>
      <p:sp>
        <p:nvSpPr>
          <p:cNvPr id="9" name="object-9">
            <a:extLst>
              <a:ext uri="{FF2B5EF4-FFF2-40B4-BE49-F238E27FC236}">
                <a16:creationId xmlns:a16="http://schemas.microsoft.com/office/drawing/2014/main" id="{2A3BA173-D43F-4825-BD7A-0759049B0EB2}"/>
              </a:ext>
            </a:extLst>
          </p:cNvPr>
          <p:cNvSpPr>
            <a:spLocks noGrp="1"/>
          </p:cNvSpPr>
          <p:nvPr/>
        </p:nvSpPr>
        <p:spPr>
          <a:xfrm>
            <a:off x="2143125" y="5012531"/>
            <a:ext cx="1607344"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50°</a:t>
            </a:r>
          </a:p>
        </p:txBody>
      </p:sp>
      <p:sp>
        <p:nvSpPr>
          <p:cNvPr id="10" name="object-10">
            <a:extLst>
              <a:ext uri="{FF2B5EF4-FFF2-40B4-BE49-F238E27FC236}">
                <a16:creationId xmlns:a16="http://schemas.microsoft.com/office/drawing/2014/main" id="{0F14B4CD-0505-4E9C-BB0A-346927F66DE0}"/>
              </a:ext>
            </a:extLst>
          </p:cNvPr>
          <p:cNvSpPr>
            <a:spLocks noGrp="1"/>
          </p:cNvSpPr>
          <p:nvPr/>
        </p:nvSpPr>
        <p:spPr>
          <a:xfrm>
            <a:off x="5595938" y="5012531"/>
            <a:ext cx="1607344"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68°</a:t>
            </a:r>
          </a:p>
        </p:txBody>
      </p:sp>
      <p:sp>
        <p:nvSpPr>
          <p:cNvPr id="11" name="object-11">
            <a:extLst>
              <a:ext uri="{FF2B5EF4-FFF2-40B4-BE49-F238E27FC236}">
                <a16:creationId xmlns:a16="http://schemas.microsoft.com/office/drawing/2014/main" id="{476031F3-BD61-4872-818C-606A876132A0}"/>
              </a:ext>
            </a:extLst>
          </p:cNvPr>
          <p:cNvSpPr>
            <a:spLocks noGrp="1"/>
          </p:cNvSpPr>
          <p:nvPr/>
        </p:nvSpPr>
        <p:spPr>
          <a:xfrm>
            <a:off x="3393281" y="3631406"/>
            <a:ext cx="1190625" cy="833438"/>
          </a:xfrm>
          <a:prstGeom prst="rect">
            <a:avLst/>
          </a:prstGeom>
          <a:noFill/>
          <a:ln w="0">
            <a:noFill/>
          </a:ln>
        </p:spPr>
        <p:txBody>
          <a:bodyPr anchor="ctr">
            <a:noAutofit/>
          </a:bodyPr>
          <a:lstStyle/>
          <a:p>
            <a:pPr algn="l">
              <a:defRPr sz="4219" b="1">
                <a:solidFill>
                  <a:srgbClr val="11745A"/>
                </a:solidFill>
                <a:latin typeface="Arial"/>
                <a:ea typeface="Arial"/>
                <a:cs typeface="Arial"/>
              </a:defRPr>
            </a:pPr>
            <a:r>
              <a:rPr sz="4219" b="1">
                <a:solidFill>
                  <a:srgbClr val="11745A"/>
                </a:solidFill>
                <a:latin typeface="Arial"/>
                <a:ea typeface="Arial"/>
                <a:cs typeface="Arial"/>
              </a:rPr>
              <a:t>?</a:t>
            </a:r>
          </a:p>
        </p:txBody>
      </p:sp>
      <p:sp>
        <p:nvSpPr>
          <p:cNvPr id="12" name="object-12">
            <a:extLst>
              <a:ext uri="{FF2B5EF4-FFF2-40B4-BE49-F238E27FC236}">
                <a16:creationId xmlns:a16="http://schemas.microsoft.com/office/drawing/2014/main" id="{5C9BA140-3782-4CEA-95D3-43FCF13E300B}"/>
              </a:ext>
            </a:extLst>
          </p:cNvPr>
          <p:cNvSpPr>
            <a:spLocks noGrp="1"/>
          </p:cNvSpPr>
          <p:nvPr/>
        </p:nvSpPr>
        <p:spPr>
          <a:xfrm>
            <a:off x="9048750" y="3214688"/>
            <a:ext cx="5060156" cy="1309688"/>
          </a:xfrm>
          <a:prstGeom prst="rect">
            <a:avLst/>
          </a:prstGeom>
          <a:noFill/>
          <a:ln w="0">
            <a:noFill/>
          </a:ln>
        </p:spPr>
        <p:txBody>
          <a:bodyPr anchor="ctr">
            <a:noAutofit/>
          </a:bodyPr>
          <a:lstStyle/>
          <a:p>
            <a:pPr algn="l">
              <a:defRPr sz="3000" b="1">
                <a:solidFill>
                  <a:srgbClr val="172B4D"/>
                </a:solidFill>
                <a:latin typeface="Arial"/>
                <a:ea typeface="Arial"/>
                <a:cs typeface="Arial"/>
              </a:defRPr>
            </a:pPr>
            <a:r>
              <a:rPr sz="3000" b="1">
                <a:solidFill>
                  <a:srgbClr val="172B4D"/>
                </a:solidFill>
                <a:latin typeface="Arial"/>
                <a:ea typeface="Arial"/>
                <a:cs typeface="Arial"/>
              </a:rPr>
              <a:t>Total = 180°</a:t>
            </a:r>
          </a:p>
        </p:txBody>
      </p:sp>
      <p:sp>
        <p:nvSpPr>
          <p:cNvPr id="13" name="object-13">
            <a:extLst>
              <a:ext uri="{FF2B5EF4-FFF2-40B4-BE49-F238E27FC236}">
                <a16:creationId xmlns:a16="http://schemas.microsoft.com/office/drawing/2014/main" id="{97357CC8-F53F-48FE-A790-E51B974B9C0A}"/>
              </a:ext>
            </a:extLst>
          </p:cNvPr>
          <p:cNvSpPr>
            <a:spLocks noGrp="1"/>
          </p:cNvSpPr>
          <p:nvPr/>
        </p:nvSpPr>
        <p:spPr>
          <a:xfrm>
            <a:off x="8929688" y="5250656"/>
            <a:ext cx="5357813" cy="1190625"/>
          </a:xfrm>
          <a:prstGeom prst="rect">
            <a:avLst/>
          </a:prstGeom>
          <a:noFill/>
          <a:ln w="0">
            <a:noFill/>
          </a:ln>
        </p:spPr>
        <p:txBody>
          <a:bodyPr anchor="ctr">
            <a:noAutofit/>
          </a:bodyPr>
          <a:lstStyle/>
          <a:p>
            <a:pPr algn="l">
              <a:defRPr sz="3469" b="1">
                <a:solidFill>
                  <a:srgbClr val="11745A"/>
                </a:solidFill>
                <a:latin typeface="Arial"/>
                <a:ea typeface="Arial"/>
                <a:cs typeface="Arial"/>
              </a:defRPr>
            </a:pPr>
            <a:r>
              <a:rPr sz="3469" b="1">
                <a:solidFill>
                  <a:srgbClr val="11745A"/>
                </a:solidFill>
                <a:latin typeface="Arial"/>
                <a:ea typeface="Arial"/>
                <a:cs typeface="Arial"/>
              </a:rPr>
              <a:t>180 − 118 = 62°</a:t>
            </a:r>
          </a:p>
        </p:txBody>
      </p:sp>
    </p:spTree>
    <p:extLst>
      <p:ext uri="{BB962C8B-B14F-4D97-AF65-F5344CB8AC3E}">
        <p14:creationId xmlns:p14="http://schemas.microsoft.com/office/powerpoint/2010/main" val="1093389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object-1">
            <a:extLst>
              <a:ext uri="{FF2B5EF4-FFF2-40B4-BE49-F238E27FC236}">
                <a16:creationId xmlns:a16="http://schemas.microsoft.com/office/drawing/2014/main" id="{26352715-3E59-40BF-B1E9-BDC941FFF0C6}"/>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5A00E60D-9061-4590-956D-031EDD966FED}"/>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Known angles: 53°, 68°. Find the missing angle in the triangle.</a:t>
            </a:r>
          </a:p>
        </p:txBody>
      </p:sp>
      <p:sp>
        <p:nvSpPr>
          <p:cNvPr id="3" name="object-3">
            <a:extLst>
              <a:ext uri="{FF2B5EF4-FFF2-40B4-BE49-F238E27FC236}">
                <a16:creationId xmlns:a16="http://schemas.microsoft.com/office/drawing/2014/main" id="{D3C0D20B-5757-468F-969B-5C660B6C63B8}"/>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0E923AC6-4787-49D5-ACC5-A52ADE216F5B}"/>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Find angles in triangles and quadrilaterals</a:t>
            </a:r>
          </a:p>
        </p:txBody>
      </p:sp>
      <p:sp>
        <p:nvSpPr>
          <p:cNvPr id="5" name="object-5">
            <a:extLst>
              <a:ext uri="{FF2B5EF4-FFF2-40B4-BE49-F238E27FC236}">
                <a16:creationId xmlns:a16="http://schemas.microsoft.com/office/drawing/2014/main" id="{7F6975D1-E476-406D-994C-94B23E749A46}"/>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4</a:t>
            </a:r>
          </a:p>
        </p:txBody>
      </p:sp>
      <p:sp>
        <p:nvSpPr>
          <p:cNvPr id="6" name="object-6">
            <a:extLst>
              <a:ext uri="{FF2B5EF4-FFF2-40B4-BE49-F238E27FC236}">
                <a16:creationId xmlns:a16="http://schemas.microsoft.com/office/drawing/2014/main" id="{F5EEC79F-1110-4FF1-ADE1-0AAAA87877C1}"/>
              </a:ext>
            </a:extLst>
          </p:cNvPr>
          <p:cNvSpPr>
            <a:spLocks noGrp="1"/>
          </p:cNvSpPr>
          <p:nvPr/>
        </p:nvSpPr>
        <p:spPr>
          <a:xfrm>
            <a:off x="1547813" y="7084219"/>
            <a:ext cx="6548438" cy="500063"/>
          </a:xfrm>
          <a:prstGeom prst="rect">
            <a:avLst/>
          </a:prstGeom>
          <a:noFill/>
          <a:ln w="0">
            <a:noFill/>
          </a:ln>
        </p:spPr>
        <p:txBody>
          <a:bodyPr anchor="ctr">
            <a:noAutofit/>
          </a:bodyPr>
          <a:lstStyle/>
          <a:p>
            <a:pPr algn="ctr">
              <a:defRPr sz="1969" b="0">
                <a:solidFill>
                  <a:srgbClr val="52647A"/>
                </a:solidFill>
                <a:latin typeface="Arial"/>
                <a:ea typeface="Arial"/>
                <a:cs typeface="Arial"/>
              </a:defRPr>
            </a:pPr>
            <a:r>
              <a:rPr sz="1969" b="0">
                <a:solidFill>
                  <a:srgbClr val="52647A"/>
                </a:solidFill>
                <a:latin typeface="Arial"/>
                <a:ea typeface="Arial"/>
                <a:cs typeface="Arial"/>
              </a:rPr>
              <a:t>Diagram not to scale</a:t>
            </a:r>
          </a:p>
        </p:txBody>
      </p:sp>
      <p:sp>
        <p:nvSpPr>
          <p:cNvPr id="7" name="object-7">
            <a:extLst>
              <a:ext uri="{FF2B5EF4-FFF2-40B4-BE49-F238E27FC236}">
                <a16:creationId xmlns:a16="http://schemas.microsoft.com/office/drawing/2014/main" id="{2B9DDF58-C700-45FA-8A4E-BED09E88D961}"/>
              </a:ext>
            </a:extLst>
          </p:cNvPr>
          <p:cNvSpPr>
            <a:spLocks noGrp="1"/>
          </p:cNvSpPr>
          <p:nvPr/>
        </p:nvSpPr>
        <p:spPr>
          <a:xfrm>
            <a:off x="1666875" y="3214688"/>
            <a:ext cx="6072188" cy="2738438"/>
          </a:xfrm>
          <a:custGeom>
            <a:avLst/>
            <a:gdLst/>
            <a:ahLst/>
            <a:cxnLst/>
            <a:rect l="0" t="0" r="0" b="0"/>
            <a:pathLst>
              <a:path w="6072188" h="2738438">
                <a:moveTo>
                  <a:pt x="0" y="2738438"/>
                </a:moveTo>
                <a:lnTo>
                  <a:pt x="6072188" y="2738438"/>
                </a:lnTo>
                <a:lnTo>
                  <a:pt x="2381250" y="0"/>
                </a:lnTo>
                <a:close/>
              </a:path>
            </a:pathLst>
          </a:custGeom>
          <a:solidFill>
            <a:srgbClr val="FFFFFF"/>
          </a:solidFill>
          <a:ln w="23813">
            <a:solidFill>
              <a:srgbClr val="1D4ED8"/>
            </a:solidFill>
          </a:ln>
        </p:spPr>
      </p:sp>
      <p:sp>
        <p:nvSpPr>
          <p:cNvPr id="8" name="object-8">
            <a:extLst>
              <a:ext uri="{FF2B5EF4-FFF2-40B4-BE49-F238E27FC236}">
                <a16:creationId xmlns:a16="http://schemas.microsoft.com/office/drawing/2014/main" id="{3B06E065-B3A3-4620-92E4-462C6632BC6C}"/>
              </a:ext>
            </a:extLst>
          </p:cNvPr>
          <p:cNvSpPr>
            <a:spLocks noGrp="1"/>
          </p:cNvSpPr>
          <p:nvPr/>
        </p:nvSpPr>
        <p:spPr>
          <a:xfrm>
            <a:off x="2143125" y="5012531"/>
            <a:ext cx="1607344"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53°</a:t>
            </a:r>
          </a:p>
        </p:txBody>
      </p:sp>
      <p:sp>
        <p:nvSpPr>
          <p:cNvPr id="9" name="object-9">
            <a:extLst>
              <a:ext uri="{FF2B5EF4-FFF2-40B4-BE49-F238E27FC236}">
                <a16:creationId xmlns:a16="http://schemas.microsoft.com/office/drawing/2014/main" id="{F32A97B4-084E-4AB4-914F-E1BC9778C855}"/>
              </a:ext>
            </a:extLst>
          </p:cNvPr>
          <p:cNvSpPr>
            <a:spLocks noGrp="1"/>
          </p:cNvSpPr>
          <p:nvPr/>
        </p:nvSpPr>
        <p:spPr>
          <a:xfrm>
            <a:off x="5595938" y="5012531"/>
            <a:ext cx="1607344"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68°</a:t>
            </a:r>
          </a:p>
        </p:txBody>
      </p:sp>
      <p:sp>
        <p:nvSpPr>
          <p:cNvPr id="10" name="object-10">
            <a:extLst>
              <a:ext uri="{FF2B5EF4-FFF2-40B4-BE49-F238E27FC236}">
                <a16:creationId xmlns:a16="http://schemas.microsoft.com/office/drawing/2014/main" id="{9320CC7F-AE4D-447E-BC1C-EFF934F644B1}"/>
              </a:ext>
            </a:extLst>
          </p:cNvPr>
          <p:cNvSpPr>
            <a:spLocks noGrp="1"/>
          </p:cNvSpPr>
          <p:nvPr/>
        </p:nvSpPr>
        <p:spPr>
          <a:xfrm>
            <a:off x="3393281" y="3631406"/>
            <a:ext cx="1190625" cy="833438"/>
          </a:xfrm>
          <a:prstGeom prst="rect">
            <a:avLst/>
          </a:prstGeom>
          <a:noFill/>
          <a:ln w="0">
            <a:noFill/>
          </a:ln>
        </p:spPr>
        <p:txBody>
          <a:bodyPr anchor="ctr">
            <a:noAutofit/>
          </a:bodyPr>
          <a:lstStyle/>
          <a:p>
            <a:pPr algn="l">
              <a:defRPr sz="4219" b="1">
                <a:solidFill>
                  <a:srgbClr val="11745A"/>
                </a:solidFill>
                <a:latin typeface="Arial"/>
                <a:ea typeface="Arial"/>
                <a:cs typeface="Arial"/>
              </a:defRPr>
            </a:pPr>
            <a:r>
              <a:rPr sz="4219" b="1">
                <a:solidFill>
                  <a:srgbClr val="11745A"/>
                </a:solidFill>
                <a:latin typeface="Arial"/>
                <a:ea typeface="Arial"/>
                <a:cs typeface="Arial"/>
              </a:rPr>
              <a:t>?</a:t>
            </a:r>
          </a:p>
        </p:txBody>
      </p:sp>
      <p:sp>
        <p:nvSpPr>
          <p:cNvPr id="11" name="object-11">
            <a:extLst>
              <a:ext uri="{FF2B5EF4-FFF2-40B4-BE49-F238E27FC236}">
                <a16:creationId xmlns:a16="http://schemas.microsoft.com/office/drawing/2014/main" id="{90E0DD98-F310-4E13-A6A6-42DF9709B287}"/>
              </a:ext>
            </a:extLst>
          </p:cNvPr>
          <p:cNvSpPr>
            <a:spLocks noGrp="1"/>
          </p:cNvSpPr>
          <p:nvPr/>
        </p:nvSpPr>
        <p:spPr>
          <a:xfrm>
            <a:off x="9048750" y="3214688"/>
            <a:ext cx="5060156" cy="1309688"/>
          </a:xfrm>
          <a:prstGeom prst="rect">
            <a:avLst/>
          </a:prstGeom>
          <a:noFill/>
          <a:ln w="0">
            <a:noFill/>
          </a:ln>
        </p:spPr>
        <p:txBody>
          <a:bodyPr anchor="ctr">
            <a:noAutofit/>
          </a:bodyPr>
          <a:lstStyle/>
          <a:p>
            <a:pPr algn="l">
              <a:defRPr sz="3000" b="1">
                <a:solidFill>
                  <a:srgbClr val="172B4D"/>
                </a:solidFill>
                <a:latin typeface="Arial"/>
                <a:ea typeface="Arial"/>
                <a:cs typeface="Arial"/>
              </a:defRPr>
            </a:pPr>
            <a:r>
              <a:rPr sz="3000" b="1">
                <a:solidFill>
                  <a:srgbClr val="172B4D"/>
                </a:solidFill>
                <a:latin typeface="Arial"/>
                <a:ea typeface="Arial"/>
                <a:cs typeface="Arial"/>
              </a:rPr>
              <a:t>Total = 180°</a:t>
            </a:r>
          </a:p>
        </p:txBody>
      </p:sp>
      <p:sp>
        <p:nvSpPr>
          <p:cNvPr id="12" name="object-12">
            <a:extLst>
              <a:ext uri="{FF2B5EF4-FFF2-40B4-BE49-F238E27FC236}">
                <a16:creationId xmlns:a16="http://schemas.microsoft.com/office/drawing/2014/main" id="{2CA125FD-0FBF-467C-BF1C-B65FB9AD6E3B}"/>
              </a:ext>
            </a:extLst>
          </p:cNvPr>
          <p:cNvSpPr>
            <a:spLocks noGrp="1"/>
          </p:cNvSpPr>
          <p:nvPr/>
        </p:nvSpPr>
        <p:spPr>
          <a:xfrm>
            <a:off x="8929688" y="5250656"/>
            <a:ext cx="5357813" cy="1190625"/>
          </a:xfrm>
          <a:prstGeom prst="rect">
            <a:avLst/>
          </a:prstGeom>
          <a:noFill/>
          <a:ln w="0">
            <a:noFill/>
          </a:ln>
        </p:spPr>
        <p:txBody>
          <a:bodyPr anchor="ctr">
            <a:noAutofit/>
          </a:bodyPr>
          <a:lstStyle/>
          <a:p>
            <a:pPr algn="l">
              <a:defRPr sz="3469" b="1">
                <a:solidFill>
                  <a:srgbClr val="11745A"/>
                </a:solidFill>
                <a:latin typeface="Arial"/>
                <a:ea typeface="Arial"/>
                <a:cs typeface="Arial"/>
              </a:defRPr>
            </a:pPr>
            <a:r>
              <a:rPr sz="3469" b="1">
                <a:solidFill>
                  <a:srgbClr val="11745A"/>
                </a:solidFill>
                <a:latin typeface="Arial"/>
                <a:ea typeface="Arial"/>
                <a:cs typeface="Arial"/>
              </a:rPr>
              <a:t>180 − 121 = 59°</a:t>
            </a:r>
          </a:p>
        </p:txBody>
      </p:sp>
    </p:spTree>
    <p:extLst>
      <p:ext uri="{BB962C8B-B14F-4D97-AF65-F5344CB8AC3E}">
        <p14:creationId xmlns:p14="http://schemas.microsoft.com/office/powerpoint/2010/main" val="1300885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object-1">
            <a:extLst>
              <a:ext uri="{FF2B5EF4-FFF2-40B4-BE49-F238E27FC236}">
                <a16:creationId xmlns:a16="http://schemas.microsoft.com/office/drawing/2014/main" id="{71445186-BA1B-4C7A-933A-E857C9BD9ACD}"/>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51DECF47-BD98-4EBE-BCD2-B0D83BB966CE}"/>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F8E1C55B-536B-4587-AA91-7F424F2AB207}"/>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Known angles: 56°, 68°. Find the missing angle in the triangle.</a:t>
            </a:r>
          </a:p>
        </p:txBody>
      </p:sp>
      <p:sp>
        <p:nvSpPr>
          <p:cNvPr id="4" name="object-4">
            <a:extLst>
              <a:ext uri="{FF2B5EF4-FFF2-40B4-BE49-F238E27FC236}">
                <a16:creationId xmlns:a16="http://schemas.microsoft.com/office/drawing/2014/main" id="{5F4B9D9F-B3A3-4634-9D55-1ABB3FDABA50}"/>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AA44233E-9208-44D1-A143-C6027D2FAE06}"/>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Find angles in triangles and quadrilaterals</a:t>
            </a:r>
          </a:p>
        </p:txBody>
      </p:sp>
      <p:sp>
        <p:nvSpPr>
          <p:cNvPr id="6" name="object-6">
            <a:extLst>
              <a:ext uri="{FF2B5EF4-FFF2-40B4-BE49-F238E27FC236}">
                <a16:creationId xmlns:a16="http://schemas.microsoft.com/office/drawing/2014/main" id="{3129871A-F7F3-49B0-9472-C4D7B980A256}"/>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5</a:t>
            </a:r>
          </a:p>
        </p:txBody>
      </p:sp>
      <p:sp>
        <p:nvSpPr>
          <p:cNvPr id="7" name="object-7">
            <a:extLst>
              <a:ext uri="{FF2B5EF4-FFF2-40B4-BE49-F238E27FC236}">
                <a16:creationId xmlns:a16="http://schemas.microsoft.com/office/drawing/2014/main" id="{BB1AA555-1644-42AB-918A-106A5BF0DC93}"/>
              </a:ext>
            </a:extLst>
          </p:cNvPr>
          <p:cNvSpPr>
            <a:spLocks noGrp="1"/>
          </p:cNvSpPr>
          <p:nvPr/>
        </p:nvSpPr>
        <p:spPr>
          <a:xfrm>
            <a:off x="1547813" y="7084219"/>
            <a:ext cx="6548438" cy="500063"/>
          </a:xfrm>
          <a:prstGeom prst="rect">
            <a:avLst/>
          </a:prstGeom>
          <a:noFill/>
          <a:ln w="0">
            <a:noFill/>
          </a:ln>
        </p:spPr>
        <p:txBody>
          <a:bodyPr anchor="ctr">
            <a:noAutofit/>
          </a:bodyPr>
          <a:lstStyle/>
          <a:p>
            <a:pPr algn="ctr">
              <a:defRPr sz="1969" b="0">
                <a:solidFill>
                  <a:srgbClr val="52647A"/>
                </a:solidFill>
                <a:latin typeface="Arial"/>
                <a:ea typeface="Arial"/>
                <a:cs typeface="Arial"/>
              </a:defRPr>
            </a:pPr>
            <a:r>
              <a:rPr sz="1969" b="0">
                <a:solidFill>
                  <a:srgbClr val="52647A"/>
                </a:solidFill>
                <a:latin typeface="Arial"/>
                <a:ea typeface="Arial"/>
                <a:cs typeface="Arial"/>
              </a:rPr>
              <a:t>Diagram not to scale</a:t>
            </a:r>
          </a:p>
        </p:txBody>
      </p:sp>
      <p:sp>
        <p:nvSpPr>
          <p:cNvPr id="8" name="object-8">
            <a:extLst>
              <a:ext uri="{FF2B5EF4-FFF2-40B4-BE49-F238E27FC236}">
                <a16:creationId xmlns:a16="http://schemas.microsoft.com/office/drawing/2014/main" id="{8D25BB79-1C7E-4F00-8607-72AC1208F542}"/>
              </a:ext>
            </a:extLst>
          </p:cNvPr>
          <p:cNvSpPr>
            <a:spLocks noGrp="1"/>
          </p:cNvSpPr>
          <p:nvPr/>
        </p:nvSpPr>
        <p:spPr>
          <a:xfrm>
            <a:off x="1666875" y="3214688"/>
            <a:ext cx="6072188" cy="2738438"/>
          </a:xfrm>
          <a:custGeom>
            <a:avLst/>
            <a:gdLst/>
            <a:ahLst/>
            <a:cxnLst/>
            <a:rect l="0" t="0" r="0" b="0"/>
            <a:pathLst>
              <a:path w="6072188" h="2738438">
                <a:moveTo>
                  <a:pt x="0" y="2738438"/>
                </a:moveTo>
                <a:lnTo>
                  <a:pt x="6072188" y="2738438"/>
                </a:lnTo>
                <a:lnTo>
                  <a:pt x="2381250" y="0"/>
                </a:lnTo>
                <a:close/>
              </a:path>
            </a:pathLst>
          </a:custGeom>
          <a:solidFill>
            <a:srgbClr val="FFFFFF"/>
          </a:solidFill>
          <a:ln w="23813">
            <a:solidFill>
              <a:srgbClr val="1D4ED8"/>
            </a:solidFill>
          </a:ln>
        </p:spPr>
      </p:sp>
      <p:sp>
        <p:nvSpPr>
          <p:cNvPr id="9" name="object-9">
            <a:extLst>
              <a:ext uri="{FF2B5EF4-FFF2-40B4-BE49-F238E27FC236}">
                <a16:creationId xmlns:a16="http://schemas.microsoft.com/office/drawing/2014/main" id="{CE5DC814-A6CE-4AA9-AC93-170D1F42945B}"/>
              </a:ext>
            </a:extLst>
          </p:cNvPr>
          <p:cNvSpPr>
            <a:spLocks noGrp="1"/>
          </p:cNvSpPr>
          <p:nvPr/>
        </p:nvSpPr>
        <p:spPr>
          <a:xfrm>
            <a:off x="2143125" y="5012531"/>
            <a:ext cx="1607344"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56°</a:t>
            </a:r>
          </a:p>
        </p:txBody>
      </p:sp>
      <p:sp>
        <p:nvSpPr>
          <p:cNvPr id="10" name="object-10">
            <a:extLst>
              <a:ext uri="{FF2B5EF4-FFF2-40B4-BE49-F238E27FC236}">
                <a16:creationId xmlns:a16="http://schemas.microsoft.com/office/drawing/2014/main" id="{29B98DFC-B1E4-494F-BD78-9EBFA4B90B1C}"/>
              </a:ext>
            </a:extLst>
          </p:cNvPr>
          <p:cNvSpPr>
            <a:spLocks noGrp="1"/>
          </p:cNvSpPr>
          <p:nvPr/>
        </p:nvSpPr>
        <p:spPr>
          <a:xfrm>
            <a:off x="5595938" y="5012531"/>
            <a:ext cx="1607344"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68°</a:t>
            </a:r>
          </a:p>
        </p:txBody>
      </p:sp>
      <p:sp>
        <p:nvSpPr>
          <p:cNvPr id="11" name="object-11">
            <a:extLst>
              <a:ext uri="{FF2B5EF4-FFF2-40B4-BE49-F238E27FC236}">
                <a16:creationId xmlns:a16="http://schemas.microsoft.com/office/drawing/2014/main" id="{BF3C79AB-EADD-472C-A814-1A373FA46DAC}"/>
              </a:ext>
            </a:extLst>
          </p:cNvPr>
          <p:cNvSpPr>
            <a:spLocks noGrp="1"/>
          </p:cNvSpPr>
          <p:nvPr/>
        </p:nvSpPr>
        <p:spPr>
          <a:xfrm>
            <a:off x="3393281" y="3631406"/>
            <a:ext cx="1190625" cy="833438"/>
          </a:xfrm>
          <a:prstGeom prst="rect">
            <a:avLst/>
          </a:prstGeom>
          <a:noFill/>
          <a:ln w="0">
            <a:noFill/>
          </a:ln>
        </p:spPr>
        <p:txBody>
          <a:bodyPr anchor="ctr">
            <a:noAutofit/>
          </a:bodyPr>
          <a:lstStyle/>
          <a:p>
            <a:pPr algn="l">
              <a:defRPr sz="4219" b="1">
                <a:solidFill>
                  <a:srgbClr val="11745A"/>
                </a:solidFill>
                <a:latin typeface="Arial"/>
                <a:ea typeface="Arial"/>
                <a:cs typeface="Arial"/>
              </a:defRPr>
            </a:pPr>
            <a:r>
              <a:rPr sz="4219" b="1">
                <a:solidFill>
                  <a:srgbClr val="11745A"/>
                </a:solidFill>
                <a:latin typeface="Arial"/>
                <a:ea typeface="Arial"/>
                <a:cs typeface="Arial"/>
              </a:rPr>
              <a:t>?</a:t>
            </a:r>
          </a:p>
        </p:txBody>
      </p:sp>
      <p:sp>
        <p:nvSpPr>
          <p:cNvPr id="12" name="object-12">
            <a:extLst>
              <a:ext uri="{FF2B5EF4-FFF2-40B4-BE49-F238E27FC236}">
                <a16:creationId xmlns:a16="http://schemas.microsoft.com/office/drawing/2014/main" id="{DF14693E-FA30-4CB5-9D8C-D143E996B808}"/>
              </a:ext>
            </a:extLst>
          </p:cNvPr>
          <p:cNvSpPr>
            <a:spLocks noGrp="1"/>
          </p:cNvSpPr>
          <p:nvPr/>
        </p:nvSpPr>
        <p:spPr>
          <a:xfrm>
            <a:off x="9048750" y="3214688"/>
            <a:ext cx="5060156" cy="1309688"/>
          </a:xfrm>
          <a:prstGeom prst="rect">
            <a:avLst/>
          </a:prstGeom>
          <a:noFill/>
          <a:ln w="0">
            <a:noFill/>
          </a:ln>
        </p:spPr>
        <p:txBody>
          <a:bodyPr anchor="ctr">
            <a:noAutofit/>
          </a:bodyPr>
          <a:lstStyle/>
          <a:p>
            <a:pPr algn="l">
              <a:defRPr sz="3000" b="1">
                <a:solidFill>
                  <a:srgbClr val="172B4D"/>
                </a:solidFill>
                <a:latin typeface="Arial"/>
                <a:ea typeface="Arial"/>
                <a:cs typeface="Arial"/>
              </a:defRPr>
            </a:pPr>
            <a:r>
              <a:rPr sz="3000" b="1">
                <a:solidFill>
                  <a:srgbClr val="172B4D"/>
                </a:solidFill>
                <a:latin typeface="Arial"/>
                <a:ea typeface="Arial"/>
                <a:cs typeface="Arial"/>
              </a:rPr>
              <a:t>Total = 180°</a:t>
            </a:r>
          </a:p>
        </p:txBody>
      </p:sp>
      <p:sp>
        <p:nvSpPr>
          <p:cNvPr id="13" name="object-13">
            <a:extLst>
              <a:ext uri="{FF2B5EF4-FFF2-40B4-BE49-F238E27FC236}">
                <a16:creationId xmlns:a16="http://schemas.microsoft.com/office/drawing/2014/main" id="{760239A6-6466-4B6A-B5CB-4D7D8732FF86}"/>
              </a:ext>
            </a:extLst>
          </p:cNvPr>
          <p:cNvSpPr>
            <a:spLocks noGrp="1"/>
          </p:cNvSpPr>
          <p:nvPr/>
        </p:nvSpPr>
        <p:spPr>
          <a:xfrm>
            <a:off x="8929688" y="5250656"/>
            <a:ext cx="5357813" cy="1190625"/>
          </a:xfrm>
          <a:prstGeom prst="rect">
            <a:avLst/>
          </a:prstGeom>
          <a:noFill/>
          <a:ln w="0">
            <a:noFill/>
          </a:ln>
        </p:spPr>
        <p:txBody>
          <a:bodyPr anchor="ctr">
            <a:noAutofit/>
          </a:bodyPr>
          <a:lstStyle/>
          <a:p>
            <a:pPr algn="l">
              <a:defRPr sz="3469" b="1">
                <a:solidFill>
                  <a:srgbClr val="11745A"/>
                </a:solidFill>
                <a:latin typeface="Arial"/>
                <a:ea typeface="Arial"/>
                <a:cs typeface="Arial"/>
              </a:defRPr>
            </a:pPr>
            <a:r>
              <a:rPr sz="3469" b="1">
                <a:solidFill>
                  <a:srgbClr val="11745A"/>
                </a:solidFill>
                <a:latin typeface="Arial"/>
                <a:ea typeface="Arial"/>
                <a:cs typeface="Arial"/>
              </a:rPr>
              <a:t>180 − 124 = 56°</a:t>
            </a:r>
          </a:p>
        </p:txBody>
      </p:sp>
    </p:spTree>
    <p:extLst>
      <p:ext uri="{BB962C8B-B14F-4D97-AF65-F5344CB8AC3E}">
        <p14:creationId xmlns:p14="http://schemas.microsoft.com/office/powerpoint/2010/main" val="425166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0FAC4360-F115-43FA-8805-FB205134FF80}"/>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7D77EE36-08B6-442D-9DAA-1425E2D99342}"/>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8675C646-701D-46B4-AA32-0649A8F8532B}"/>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Try these questions.</a:t>
            </a:r>
          </a:p>
        </p:txBody>
      </p:sp>
      <p:sp>
        <p:nvSpPr>
          <p:cNvPr id="4" name="object-4">
            <a:extLst>
              <a:ext uri="{FF2B5EF4-FFF2-40B4-BE49-F238E27FC236}">
                <a16:creationId xmlns:a16="http://schemas.microsoft.com/office/drawing/2014/main" id="{8E0CE0B7-8E52-47A3-AA69-EF2978B58110}"/>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D6F669EE-5254-4C6D-B0F1-174FFCCCD219}"/>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Find angles in triangles and quadrilaterals</a:t>
            </a:r>
          </a:p>
        </p:txBody>
      </p:sp>
      <p:sp>
        <p:nvSpPr>
          <p:cNvPr id="6" name="object-6">
            <a:extLst>
              <a:ext uri="{FF2B5EF4-FFF2-40B4-BE49-F238E27FC236}">
                <a16:creationId xmlns:a16="http://schemas.microsoft.com/office/drawing/2014/main" id="{02B1B05D-017F-4E76-9102-73214DB6B561}"/>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6</a:t>
            </a:r>
          </a:p>
        </p:txBody>
      </p:sp>
      <p:sp>
        <p:nvSpPr>
          <p:cNvPr id="7" name="object-7">
            <a:extLst>
              <a:ext uri="{FF2B5EF4-FFF2-40B4-BE49-F238E27FC236}">
                <a16:creationId xmlns:a16="http://schemas.microsoft.com/office/drawing/2014/main" id="{3C33A5D0-86CE-4371-82C9-CE01B3806A19}"/>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413553D4-73A8-4D09-9A1C-B2FF363FB7C1}"/>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A triangle has angles 47 degrees and 68 degrees. Find the third angle.</a:t>
            </a:r>
          </a:p>
        </p:txBody>
      </p:sp>
      <p:sp>
        <p:nvSpPr>
          <p:cNvPr id="9" name="object-9">
            <a:extLst>
              <a:ext uri="{FF2B5EF4-FFF2-40B4-BE49-F238E27FC236}">
                <a16:creationId xmlns:a16="http://schemas.microsoft.com/office/drawing/2014/main" id="{F9E77673-F5DA-49D8-80A2-C73F65DBE59D}"/>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D829B748-7E77-4271-944D-D831B4F75AC9}"/>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A circle has radius 4.5 cm. What is its diameter?</a:t>
            </a:r>
          </a:p>
        </p:txBody>
      </p:sp>
      <p:sp>
        <p:nvSpPr>
          <p:cNvPr id="11" name="object-11">
            <a:extLst>
              <a:ext uri="{FF2B5EF4-FFF2-40B4-BE49-F238E27FC236}">
                <a16:creationId xmlns:a16="http://schemas.microsoft.com/office/drawing/2014/main" id="{A280731E-4087-49A4-814D-8D252823568A}"/>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A8169FDE-5EA4-4071-AE34-E8D33844F0A2}"/>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A quadrilateral has three angles of 92 degrees, 88 degrees and 105 degrees. Find the fourth.</a:t>
            </a:r>
          </a:p>
        </p:txBody>
      </p:sp>
      <p:sp>
        <p:nvSpPr>
          <p:cNvPr id="13" name="object-13">
            <a:extLst>
              <a:ext uri="{FF2B5EF4-FFF2-40B4-BE49-F238E27FC236}">
                <a16:creationId xmlns:a16="http://schemas.microsoft.com/office/drawing/2014/main" id="{E4476114-DB17-4031-B324-DDA7D9B64E8E}"/>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4" name="object-14">
            <a:extLst>
              <a:ext uri="{FF2B5EF4-FFF2-40B4-BE49-F238E27FC236}">
                <a16:creationId xmlns:a16="http://schemas.microsoft.com/office/drawing/2014/main" id="{C34BD567-848A-4366-B74C-CE0629995944}"/>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this independently and show every stage: A triangle has angles 47 degrees and 68 degrees. Find the third angle.</a:t>
            </a:r>
          </a:p>
        </p:txBody>
      </p:sp>
      <p:sp>
        <p:nvSpPr>
          <p:cNvPr id="15" name="object-15">
            <a:extLst>
              <a:ext uri="{FF2B5EF4-FFF2-40B4-BE49-F238E27FC236}">
                <a16:creationId xmlns:a16="http://schemas.microsoft.com/office/drawing/2014/main" id="{211E70DF-B7A0-435D-9652-7AE5DD402136}"/>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6" name="object-16">
            <a:extLst>
              <a:ext uri="{FF2B5EF4-FFF2-40B4-BE49-F238E27FC236}">
                <a16:creationId xmlns:a16="http://schemas.microsoft.com/office/drawing/2014/main" id="{8347BB7B-5027-4D1A-AB99-C3C33EB16135}"/>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a second method or representation for: A circle has radius 4.5 cm. What is its diameter?</a:t>
            </a:r>
          </a:p>
        </p:txBody>
      </p:sp>
      <p:sp>
        <p:nvSpPr>
          <p:cNvPr id="17" name="object-17">
            <a:extLst>
              <a:ext uri="{FF2B5EF4-FFF2-40B4-BE49-F238E27FC236}">
                <a16:creationId xmlns:a16="http://schemas.microsoft.com/office/drawing/2014/main" id="{E9DAEBE9-D53C-4588-8C9F-365C07698304}"/>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7BE28C91-3D78-45DD-A33E-B37E8D457E4E}"/>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688" b="0">
                <a:solidFill>
                  <a:srgbClr val="172B4D"/>
                </a:solidFill>
                <a:latin typeface="Arial"/>
                <a:ea typeface="Arial"/>
                <a:cs typeface="Arial"/>
              </a:defRPr>
            </a:pPr>
            <a:r>
              <a:rPr sz="1688" b="0">
                <a:solidFill>
                  <a:srgbClr val="172B4D"/>
                </a:solidFill>
                <a:latin typeface="Arial"/>
                <a:ea typeface="Arial"/>
                <a:cs typeface="Arial"/>
              </a:rPr>
              <a:t>Check this result using an inverse, estimate or known fact: A quadrilateral has three angles of 92 degrees, 88 degrees and 105 degrees. Find the fourth.</a:t>
            </a:r>
          </a:p>
        </p:txBody>
      </p:sp>
      <p:sp>
        <p:nvSpPr>
          <p:cNvPr id="19" name="object-19">
            <a:extLst>
              <a:ext uri="{FF2B5EF4-FFF2-40B4-BE49-F238E27FC236}">
                <a16:creationId xmlns:a16="http://schemas.microsoft.com/office/drawing/2014/main" id="{1FCF9BC2-FC8D-430B-8002-0C746DE95882}"/>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20" name="object-20">
            <a:extLst>
              <a:ext uri="{FF2B5EF4-FFF2-40B4-BE49-F238E27FC236}">
                <a16:creationId xmlns:a16="http://schemas.microsoft.com/office/drawing/2014/main" id="{7545F773-224B-4193-A8F1-543FC6C5C981}"/>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Prove or explain your reasoning: Angles around a point are 85 degrees, 140 degrees and x. Find x.</a:t>
            </a:r>
          </a:p>
        </p:txBody>
      </p:sp>
      <p:sp>
        <p:nvSpPr>
          <p:cNvPr id="21" name="object-21">
            <a:extLst>
              <a:ext uri="{FF2B5EF4-FFF2-40B4-BE49-F238E27FC236}">
                <a16:creationId xmlns:a16="http://schemas.microsoft.com/office/drawing/2014/main" id="{B2EC551C-A0B4-4866-A789-FFDD59EA1618}"/>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2" name="object-22">
            <a:extLst>
              <a:ext uri="{FF2B5EF4-FFF2-40B4-BE49-F238E27FC236}">
                <a16:creationId xmlns:a16="http://schemas.microsoft.com/office/drawing/2014/main" id="{7598B72D-06EF-4F50-BAAA-A4E0A27860C8}"/>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Identify and correct this misconception: Miro estimates from the drawing even when the diagram is not to scale.</a:t>
            </a:r>
          </a:p>
        </p:txBody>
      </p:sp>
      <p:sp>
        <p:nvSpPr>
          <p:cNvPr id="23" name="object-23">
            <a:extLst>
              <a:ext uri="{FF2B5EF4-FFF2-40B4-BE49-F238E27FC236}">
                <a16:creationId xmlns:a16="http://schemas.microsoft.com/office/drawing/2014/main" id="{4B1A3D27-014F-4D08-87CA-6AE929B25C99}"/>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4" name="object-24">
            <a:extLst>
              <a:ext uri="{FF2B5EF4-FFF2-40B4-BE49-F238E27FC236}">
                <a16:creationId xmlns:a16="http://schemas.microsoft.com/office/drawing/2014/main" id="{5C80E06C-D4DF-42D6-AF38-0E29CEDFD75A}"/>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 complete sentence explaining how you checked one answer.</a:t>
            </a:r>
          </a:p>
        </p:txBody>
      </p:sp>
      <p:sp>
        <p:nvSpPr>
          <p:cNvPr id="25" name="object-25">
            <a:extLst>
              <a:ext uri="{FF2B5EF4-FFF2-40B4-BE49-F238E27FC236}">
                <a16:creationId xmlns:a16="http://schemas.microsoft.com/office/drawing/2014/main" id="{2FD2B15F-3CD5-4F31-AF67-2DBB347B8BBC}"/>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6" name="object-26">
            <a:extLst>
              <a:ext uri="{FF2B5EF4-FFF2-40B4-BE49-F238E27FC236}">
                <a16:creationId xmlns:a16="http://schemas.microsoft.com/office/drawing/2014/main" id="{28CB8DF8-4838-4942-A811-2670F066CEE9}"/>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and solve a similar question to: A quadrilateral has three angles of 92 degrees, 88 degrees and 105 degrees. Find the fourth.</a:t>
            </a:r>
          </a:p>
        </p:txBody>
      </p:sp>
    </p:spTree>
    <p:extLst>
      <p:ext uri="{BB962C8B-B14F-4D97-AF65-F5344CB8AC3E}">
        <p14:creationId xmlns:p14="http://schemas.microsoft.com/office/powerpoint/2010/main" val="21293878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7E743005-7E2E-454E-B99D-F1F9A800BCDC}"/>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Answers</a:t>
            </a:r>
          </a:p>
        </p:txBody>
      </p:sp>
      <p:sp>
        <p:nvSpPr>
          <p:cNvPr id="2" name="object-2">
            <a:extLst>
              <a:ext uri="{FF2B5EF4-FFF2-40B4-BE49-F238E27FC236}">
                <a16:creationId xmlns:a16="http://schemas.microsoft.com/office/drawing/2014/main" id="{193AC530-E587-4608-A485-146D891D6C15}"/>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Check your answers. Explain any corrections.</a:t>
            </a:r>
          </a:p>
        </p:txBody>
      </p:sp>
      <p:sp>
        <p:nvSpPr>
          <p:cNvPr id="3" name="object-3">
            <a:extLst>
              <a:ext uri="{FF2B5EF4-FFF2-40B4-BE49-F238E27FC236}">
                <a16:creationId xmlns:a16="http://schemas.microsoft.com/office/drawing/2014/main" id="{5B986013-B0BF-43EB-8C1E-DDFAEBF6A922}"/>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6ADCB34A-EBCC-4649-AFAA-446CC6FB84F3}"/>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Find angles in triangles and quadrilaterals</a:t>
            </a:r>
          </a:p>
        </p:txBody>
      </p:sp>
      <p:sp>
        <p:nvSpPr>
          <p:cNvPr id="5" name="object-5">
            <a:extLst>
              <a:ext uri="{FF2B5EF4-FFF2-40B4-BE49-F238E27FC236}">
                <a16:creationId xmlns:a16="http://schemas.microsoft.com/office/drawing/2014/main" id="{E6DC95EA-0394-499B-9664-393B0719EADB}"/>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7</a:t>
            </a:r>
          </a:p>
        </p:txBody>
      </p:sp>
      <p:sp>
        <p:nvSpPr>
          <p:cNvPr id="6" name="object-6">
            <a:extLst>
              <a:ext uri="{FF2B5EF4-FFF2-40B4-BE49-F238E27FC236}">
                <a16:creationId xmlns:a16="http://schemas.microsoft.com/office/drawing/2014/main" id="{97008096-347C-4B4B-91C3-761F4BB2ADE4}"/>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EE8A5165-6AD8-4B16-93BD-32F980CCABA6}"/>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65 degrees.</a:t>
            </a:r>
          </a:p>
        </p:txBody>
      </p:sp>
      <p:sp>
        <p:nvSpPr>
          <p:cNvPr id="8" name="object-8">
            <a:extLst>
              <a:ext uri="{FF2B5EF4-FFF2-40B4-BE49-F238E27FC236}">
                <a16:creationId xmlns:a16="http://schemas.microsoft.com/office/drawing/2014/main" id="{D896F6AB-127D-454F-A090-DF89C239FADA}"/>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D46A9609-9D63-4621-9EFB-670FEE2B3508}"/>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9 cm.</a:t>
            </a:r>
          </a:p>
        </p:txBody>
      </p:sp>
      <p:sp>
        <p:nvSpPr>
          <p:cNvPr id="10" name="object-10">
            <a:extLst>
              <a:ext uri="{FF2B5EF4-FFF2-40B4-BE49-F238E27FC236}">
                <a16:creationId xmlns:a16="http://schemas.microsoft.com/office/drawing/2014/main" id="{64A04788-34C3-4DF0-ADFC-C8734E3F11D8}"/>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1" name="object-11">
            <a:extLst>
              <a:ext uri="{FF2B5EF4-FFF2-40B4-BE49-F238E27FC236}">
                <a16:creationId xmlns:a16="http://schemas.microsoft.com/office/drawing/2014/main" id="{DB536D45-A513-4A81-B347-31CCA6B8EA69}"/>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75 degrees.</a:t>
            </a:r>
          </a:p>
        </p:txBody>
      </p:sp>
      <p:sp>
        <p:nvSpPr>
          <p:cNvPr id="12" name="object-12">
            <a:extLst>
              <a:ext uri="{FF2B5EF4-FFF2-40B4-BE49-F238E27FC236}">
                <a16:creationId xmlns:a16="http://schemas.microsoft.com/office/drawing/2014/main" id="{33B5AD1B-0124-4AFD-903E-FAF848669D41}"/>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B1ADE8EE-6CB8-481A-891D-27A9EBD0EEF7}"/>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65 degrees.</a:t>
            </a:r>
          </a:p>
        </p:txBody>
      </p:sp>
      <p:sp>
        <p:nvSpPr>
          <p:cNvPr id="14" name="object-14">
            <a:extLst>
              <a:ext uri="{FF2B5EF4-FFF2-40B4-BE49-F238E27FC236}">
                <a16:creationId xmlns:a16="http://schemas.microsoft.com/office/drawing/2014/main" id="{3BC1AFA1-556F-4A1A-8768-8E4DAB06C6BE}"/>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5" name="object-15">
            <a:extLst>
              <a:ext uri="{FF2B5EF4-FFF2-40B4-BE49-F238E27FC236}">
                <a16:creationId xmlns:a16="http://schemas.microsoft.com/office/drawing/2014/main" id="{C4032D88-0802-44C6-BE09-772D215D1A6B}"/>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9 cm. Method or representation may vary.</a:t>
            </a:r>
          </a:p>
        </p:txBody>
      </p:sp>
      <p:sp>
        <p:nvSpPr>
          <p:cNvPr id="16" name="object-16">
            <a:extLst>
              <a:ext uri="{FF2B5EF4-FFF2-40B4-BE49-F238E27FC236}">
                <a16:creationId xmlns:a16="http://schemas.microsoft.com/office/drawing/2014/main" id="{DBC90950-5424-4015-AEDF-4796F92AB2A0}"/>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7" name="object-17">
            <a:extLst>
              <a:ext uri="{FF2B5EF4-FFF2-40B4-BE49-F238E27FC236}">
                <a16:creationId xmlns:a16="http://schemas.microsoft.com/office/drawing/2014/main" id="{BDFD2313-F1D8-4CBD-972A-8906B8F89260}"/>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75 degrees. A valid check must be shown.</a:t>
            </a:r>
          </a:p>
        </p:txBody>
      </p:sp>
      <p:sp>
        <p:nvSpPr>
          <p:cNvPr id="18" name="object-18">
            <a:extLst>
              <a:ext uri="{FF2B5EF4-FFF2-40B4-BE49-F238E27FC236}">
                <a16:creationId xmlns:a16="http://schemas.microsoft.com/office/drawing/2014/main" id="{6C2B70D4-98F2-44BE-9E19-F620468D0EF8}"/>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19" name="object-19">
            <a:extLst>
              <a:ext uri="{FF2B5EF4-FFF2-40B4-BE49-F238E27FC236}">
                <a16:creationId xmlns:a16="http://schemas.microsoft.com/office/drawing/2014/main" id="{EFEA89F7-D21F-441A-B783-83590F0B2977}"/>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135 degrees. The explanation must show why the method works.</a:t>
            </a:r>
          </a:p>
        </p:txBody>
      </p:sp>
      <p:sp>
        <p:nvSpPr>
          <p:cNvPr id="20" name="object-20">
            <a:extLst>
              <a:ext uri="{FF2B5EF4-FFF2-40B4-BE49-F238E27FC236}">
                <a16:creationId xmlns:a16="http://schemas.microsoft.com/office/drawing/2014/main" id="{A2796EB7-C375-4F71-80EB-D61906794CFE}"/>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89879EA1-1BDA-4FA8-8835-ADF524CA9AE6}"/>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Use labelled values and known geometric facts, then check the total angle relationship.</a:t>
            </a:r>
          </a:p>
        </p:txBody>
      </p:sp>
      <p:sp>
        <p:nvSpPr>
          <p:cNvPr id="22" name="object-22">
            <a:extLst>
              <a:ext uri="{FF2B5EF4-FFF2-40B4-BE49-F238E27FC236}">
                <a16:creationId xmlns:a16="http://schemas.microsoft.com/office/drawing/2014/main" id="{0A01BA63-4D2A-4D37-B66C-0C1A17191598}"/>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3" name="object-23">
            <a:extLst>
              <a:ext uri="{FF2B5EF4-FFF2-40B4-BE49-F238E27FC236}">
                <a16:creationId xmlns:a16="http://schemas.microsoft.com/office/drawing/2014/main" id="{F93F1CFE-668A-41D2-B698-E88238229488}"/>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 should name an inverse, estimate, boundary, known fact or equivalent representation.</a:t>
            </a:r>
          </a:p>
        </p:txBody>
      </p:sp>
      <p:sp>
        <p:nvSpPr>
          <p:cNvPr id="24" name="object-24">
            <a:extLst>
              <a:ext uri="{FF2B5EF4-FFF2-40B4-BE49-F238E27FC236}">
                <a16:creationId xmlns:a16="http://schemas.microsoft.com/office/drawing/2014/main" id="{C75D4F60-5FBF-44D1-ADFF-4BC9ACDD455F}"/>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5" name="object-25">
            <a:extLst>
              <a:ext uri="{FF2B5EF4-FFF2-40B4-BE49-F238E27FC236}">
                <a16:creationId xmlns:a16="http://schemas.microsoft.com/office/drawing/2014/main" id="{C021814A-217D-4346-BB92-0B65E665ECC7}"/>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The new question must use the same mathematical structure and include a correct solution.</a:t>
            </a:r>
          </a:p>
        </p:txBody>
      </p:sp>
    </p:spTree>
    <p:extLst>
      <p:ext uri="{BB962C8B-B14F-4D97-AF65-F5344CB8AC3E}">
        <p14:creationId xmlns:p14="http://schemas.microsoft.com/office/powerpoint/2010/main" val="1477715070"/>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1029</Words>
  <Application>Microsoft Office PowerPoint</Application>
  <DocSecurity>0</DocSecurity>
  <PresentationFormat>Custom</PresentationFormat>
  <Paragraphs>110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2026-09-14T13:19:20Z</dcterms:created>
  <dcterms:modified xsi:type="dcterms:W3CDTF">2026-09-14T13:21:00Z</dcterms:modified>
</cp:coreProperties>
</file>