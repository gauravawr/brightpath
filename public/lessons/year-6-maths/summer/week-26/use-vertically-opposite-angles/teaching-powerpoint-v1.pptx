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vertically opposite angles. Use vertically opposite angles.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vertically opposite angles. I do. Identify the angle fact before calculating. Each highlighted part contributes to the total.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vertically opposite angles. You do. Pause before clicking. Let pupils try independently, then reveal and discuss every step. Identify the angle fact before calculating. Each highlighted part contributes to the total.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vertically opposite angles. I do. Identify the angle fact before calculating. Each highlighted part contributes to the total.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vertically opposite angles. You do. Pause before clicking. Let pupils try independently, then reveal and discuss every step. Identify the angle fact before calculating. Each highlighted part contributes to the total.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vertically opposite angles.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vertically opposite angles.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1E2652FB-4FD4-41A4-85BD-067188BAFF43}"/>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Use vertically opposite angles</a:t>
            </a:r>
          </a:p>
        </p:txBody>
      </p:sp>
      <p:sp>
        <p:nvSpPr>
          <p:cNvPr id="2" name="object-2">
            <a:extLst>
              <a:ext uri="{FF2B5EF4-FFF2-40B4-BE49-F238E27FC236}">
                <a16:creationId xmlns:a16="http://schemas.microsoft.com/office/drawing/2014/main" id="{F641A717-2E19-477B-A839-A9F7996ABAE0}"/>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95460AB2-706D-445E-AAEF-C16CAD8747B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A5A5E6D-EC45-46CE-9722-C190918B9C2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vertically opposite angles</a:t>
            </a:r>
          </a:p>
        </p:txBody>
      </p:sp>
      <p:sp>
        <p:nvSpPr>
          <p:cNvPr id="5" name="object-5">
            <a:extLst>
              <a:ext uri="{FF2B5EF4-FFF2-40B4-BE49-F238E27FC236}">
                <a16:creationId xmlns:a16="http://schemas.microsoft.com/office/drawing/2014/main" id="{885BCE1F-CAA5-488E-9247-AFD80F09E70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3C6C3352-E6D0-4D32-B24D-00CC2BD020FB}"/>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identify and use vertically opposite angles.</a:t>
            </a:r>
          </a:p>
        </p:txBody>
      </p:sp>
    </p:spTree>
    <p:extLst>
      <p:ext uri="{BB962C8B-B14F-4D97-AF65-F5344CB8AC3E}">
        <p14:creationId xmlns:p14="http://schemas.microsoft.com/office/powerpoint/2010/main" val="1715824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object-1">
            <a:extLst>
              <a:ext uri="{FF2B5EF4-FFF2-40B4-BE49-F238E27FC236}">
                <a16:creationId xmlns:a16="http://schemas.microsoft.com/office/drawing/2014/main" id="{A9E6F4AD-E688-4EE1-81A3-4CD19F799E9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BDF23A91-1A82-4B04-A47F-D7975EE4E21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Two straight lines cross. One angle is 68°. Find the opposite angle.</a:t>
            </a:r>
          </a:p>
        </p:txBody>
      </p:sp>
      <p:sp>
        <p:nvSpPr>
          <p:cNvPr id="3" name="object-3">
            <a:extLst>
              <a:ext uri="{FF2B5EF4-FFF2-40B4-BE49-F238E27FC236}">
                <a16:creationId xmlns:a16="http://schemas.microsoft.com/office/drawing/2014/main" id="{304FAA83-12FE-4F9E-B244-6F5E9B2B8235}"/>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13523FB-6D1F-4940-AF90-18050058CEE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vertically opposite angles</a:t>
            </a:r>
          </a:p>
        </p:txBody>
      </p:sp>
      <p:sp>
        <p:nvSpPr>
          <p:cNvPr id="5" name="object-5">
            <a:extLst>
              <a:ext uri="{FF2B5EF4-FFF2-40B4-BE49-F238E27FC236}">
                <a16:creationId xmlns:a16="http://schemas.microsoft.com/office/drawing/2014/main" id="{615A4D82-224D-4EFD-BD08-628849E7A55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FC0BA120-EE9D-432F-9033-108C0290DADE}"/>
              </a:ext>
            </a:extLst>
          </p:cNvPr>
          <p:cNvSpPr>
            <a:spLocks noGrp="1"/>
          </p:cNvSpPr>
          <p:nvPr/>
        </p:nvSpPr>
        <p:spPr>
          <a:xfrm>
            <a:off x="1547813" y="7084219"/>
            <a:ext cx="6548438" cy="500063"/>
          </a:xfrm>
          <a:prstGeom prst="rect">
            <a:avLst/>
          </a:prstGeom>
          <a:noFill/>
          <a:ln w="0">
            <a:noFill/>
          </a:ln>
        </p:spPr>
        <p:txBody>
          <a:bodyPr anchor="ctr">
            <a:noAutofit/>
          </a:bodyPr>
          <a:lstStyle/>
          <a:p>
            <a:pPr algn="ctr">
              <a:defRPr sz="1969" b="0">
                <a:solidFill>
                  <a:srgbClr val="52647A"/>
                </a:solidFill>
                <a:latin typeface="Arial"/>
                <a:ea typeface="Arial"/>
                <a:cs typeface="Arial"/>
              </a:defRPr>
            </a:pPr>
            <a:r>
              <a:rPr sz="1969" b="0">
                <a:solidFill>
                  <a:srgbClr val="52647A"/>
                </a:solidFill>
                <a:latin typeface="Arial"/>
                <a:ea typeface="Arial"/>
                <a:cs typeface="Arial"/>
              </a:rPr>
              <a:t>Diagram not to scale</a:t>
            </a:r>
          </a:p>
        </p:txBody>
      </p:sp>
      <p:sp>
        <p:nvSpPr>
          <p:cNvPr id="7" name="object-7">
            <a:extLst>
              <a:ext uri="{FF2B5EF4-FFF2-40B4-BE49-F238E27FC236}">
                <a16:creationId xmlns:a16="http://schemas.microsoft.com/office/drawing/2014/main" id="{448FDE65-571A-424C-83EE-34027A6D9A6C}"/>
              </a:ext>
            </a:extLst>
          </p:cNvPr>
          <p:cNvSpPr>
            <a:spLocks noGrp="1"/>
          </p:cNvSpPr>
          <p:nvPr/>
        </p:nvSpPr>
        <p:spPr>
          <a:xfrm>
            <a:off x="2024063" y="4822031"/>
            <a:ext cx="5476875" cy="0"/>
          </a:xfrm>
          <a:prstGeom prst="line">
            <a:avLst/>
          </a:prstGeom>
          <a:noFill/>
          <a:ln w="35719">
            <a:solidFill>
              <a:srgbClr val="172B4D"/>
            </a:solidFill>
          </a:ln>
        </p:spPr>
      </p:sp>
      <p:sp>
        <p:nvSpPr>
          <p:cNvPr id="8" name="object-8">
            <a:extLst>
              <a:ext uri="{FF2B5EF4-FFF2-40B4-BE49-F238E27FC236}">
                <a16:creationId xmlns:a16="http://schemas.microsoft.com/office/drawing/2014/main" id="{0ADC93D8-AAF1-4818-96DF-883E283B32F3}"/>
              </a:ext>
            </a:extLst>
          </p:cNvPr>
          <p:cNvSpPr>
            <a:spLocks noGrp="1"/>
          </p:cNvSpPr>
          <p:nvPr/>
        </p:nvSpPr>
        <p:spPr>
          <a:xfrm flipV="1">
            <a:off x="2738438" y="3155156"/>
            <a:ext cx="4048125" cy="3333750"/>
          </a:xfrm>
          <a:prstGeom prst="line">
            <a:avLst/>
          </a:prstGeom>
          <a:noFill/>
          <a:ln w="35719">
            <a:solidFill>
              <a:srgbClr val="172B4D"/>
            </a:solidFill>
          </a:ln>
        </p:spPr>
      </p:sp>
      <p:sp>
        <p:nvSpPr>
          <p:cNvPr id="9" name="object-9">
            <a:extLst>
              <a:ext uri="{FF2B5EF4-FFF2-40B4-BE49-F238E27FC236}">
                <a16:creationId xmlns:a16="http://schemas.microsoft.com/office/drawing/2014/main" id="{F10F7D7C-1B70-43AD-9113-50FA86129D55}"/>
              </a:ext>
            </a:extLst>
          </p:cNvPr>
          <p:cNvSpPr>
            <a:spLocks noGrp="1"/>
          </p:cNvSpPr>
          <p:nvPr/>
        </p:nvSpPr>
        <p:spPr>
          <a:xfrm>
            <a:off x="5179219" y="3988594"/>
            <a:ext cx="1607344" cy="654844"/>
          </a:xfrm>
          <a:prstGeom prst="rect">
            <a:avLst/>
          </a:prstGeom>
          <a:noFill/>
          <a:ln w="0">
            <a:noFill/>
          </a:ln>
        </p:spPr>
        <p:txBody>
          <a:bodyPr anchor="ctr">
            <a:noAutofit/>
          </a:bodyPr>
          <a:lstStyle/>
          <a:p>
            <a:pPr algn="l">
              <a:defRPr sz="2906" b="1">
                <a:solidFill>
                  <a:srgbClr val="1D4ED8"/>
                </a:solidFill>
                <a:latin typeface="Arial"/>
                <a:ea typeface="Arial"/>
                <a:cs typeface="Arial"/>
              </a:defRPr>
            </a:pPr>
            <a:r>
              <a:rPr sz="2906" b="1">
                <a:solidFill>
                  <a:srgbClr val="1D4ED8"/>
                </a:solidFill>
                <a:latin typeface="Arial"/>
                <a:ea typeface="Arial"/>
                <a:cs typeface="Arial"/>
              </a:rPr>
              <a:t>68°</a:t>
            </a:r>
          </a:p>
        </p:txBody>
      </p:sp>
      <p:sp>
        <p:nvSpPr>
          <p:cNvPr id="10" name="object-10">
            <a:extLst>
              <a:ext uri="{FF2B5EF4-FFF2-40B4-BE49-F238E27FC236}">
                <a16:creationId xmlns:a16="http://schemas.microsoft.com/office/drawing/2014/main" id="{18228F1D-1E68-4A19-9310-CA03B43F828A}"/>
              </a:ext>
            </a:extLst>
          </p:cNvPr>
          <p:cNvSpPr>
            <a:spLocks noGrp="1"/>
          </p:cNvSpPr>
          <p:nvPr/>
        </p:nvSpPr>
        <p:spPr>
          <a:xfrm>
            <a:off x="3155156" y="5000625"/>
            <a:ext cx="1190625" cy="714375"/>
          </a:xfrm>
          <a:prstGeom prst="rect">
            <a:avLst/>
          </a:prstGeom>
          <a:noFill/>
          <a:ln w="0">
            <a:noFill/>
          </a:ln>
        </p:spPr>
        <p:txBody>
          <a:bodyPr anchor="ctr">
            <a:noAutofit/>
          </a:bodyPr>
          <a:lstStyle/>
          <a:p>
            <a:pPr algn="l">
              <a:defRPr sz="4219" b="1">
                <a:solidFill>
                  <a:srgbClr val="11745A"/>
                </a:solidFill>
                <a:latin typeface="Arial"/>
                <a:ea typeface="Arial"/>
                <a:cs typeface="Arial"/>
              </a:defRPr>
            </a:pPr>
            <a:r>
              <a:rPr sz="4219" b="1">
                <a:solidFill>
                  <a:srgbClr val="11745A"/>
                </a:solidFill>
                <a:latin typeface="Arial"/>
                <a:ea typeface="Arial"/>
                <a:cs typeface="Arial"/>
              </a:rPr>
              <a:t>?</a:t>
            </a:r>
          </a:p>
        </p:txBody>
      </p:sp>
      <p:sp>
        <p:nvSpPr>
          <p:cNvPr id="11" name="object-11">
            <a:extLst>
              <a:ext uri="{FF2B5EF4-FFF2-40B4-BE49-F238E27FC236}">
                <a16:creationId xmlns:a16="http://schemas.microsoft.com/office/drawing/2014/main" id="{2D1D723B-0220-435B-95B1-FBB9F0462700}"/>
              </a:ext>
            </a:extLst>
          </p:cNvPr>
          <p:cNvSpPr>
            <a:spLocks noGrp="1"/>
          </p:cNvSpPr>
          <p:nvPr/>
        </p:nvSpPr>
        <p:spPr>
          <a:xfrm>
            <a:off x="9048750" y="3214688"/>
            <a:ext cx="5060156" cy="1309688"/>
          </a:xfrm>
          <a:prstGeom prst="rect">
            <a:avLst/>
          </a:prstGeom>
          <a:noFill/>
          <a:ln w="0">
            <a:noFill/>
          </a:ln>
        </p:spPr>
        <p:txBody>
          <a:bodyPr anchor="ctr">
            <a:noAutofit/>
          </a:bodyPr>
          <a:lstStyle/>
          <a:p>
            <a:pPr algn="l">
              <a:defRPr sz="3000" b="1">
                <a:solidFill>
                  <a:srgbClr val="172B4D"/>
                </a:solidFill>
                <a:latin typeface="Arial"/>
                <a:ea typeface="Arial"/>
                <a:cs typeface="Arial"/>
              </a:defRPr>
            </a:pPr>
            <a:r>
              <a:rPr sz="3000" b="1">
                <a:solidFill>
                  <a:srgbClr val="172B4D"/>
                </a:solidFill>
                <a:latin typeface="Arial"/>
                <a:ea typeface="Arial"/>
                <a:cs typeface="Arial"/>
              </a:rPr>
              <a:t>Vertically opposite angles are equal.</a:t>
            </a:r>
          </a:p>
        </p:txBody>
      </p:sp>
      <p:sp>
        <p:nvSpPr>
          <p:cNvPr id="12" name="object-12">
            <a:extLst>
              <a:ext uri="{FF2B5EF4-FFF2-40B4-BE49-F238E27FC236}">
                <a16:creationId xmlns:a16="http://schemas.microsoft.com/office/drawing/2014/main" id="{BB0CD4E6-AC10-4B41-8DE0-3C196EEB6BE9}"/>
              </a:ext>
            </a:extLst>
          </p:cNvPr>
          <p:cNvSpPr>
            <a:spLocks noGrp="1"/>
          </p:cNvSpPr>
          <p:nvPr/>
        </p:nvSpPr>
        <p:spPr>
          <a:xfrm>
            <a:off x="8929688" y="5250656"/>
            <a:ext cx="5357813" cy="1190625"/>
          </a:xfrm>
          <a:prstGeom prst="rect">
            <a:avLst/>
          </a:prstGeom>
          <a:noFill/>
          <a:ln w="0">
            <a:noFill/>
          </a:ln>
        </p:spPr>
        <p:txBody>
          <a:bodyPr anchor="ctr">
            <a:noAutofit/>
          </a:bodyPr>
          <a:lstStyle/>
          <a:p>
            <a:pPr algn="l">
              <a:defRPr sz="3469" b="1">
                <a:solidFill>
                  <a:srgbClr val="11745A"/>
                </a:solidFill>
                <a:latin typeface="Arial"/>
                <a:ea typeface="Arial"/>
                <a:cs typeface="Arial"/>
              </a:defRPr>
            </a:pPr>
            <a:r>
              <a:rPr sz="3469" b="1">
                <a:solidFill>
                  <a:srgbClr val="11745A"/>
                </a:solidFill>
                <a:latin typeface="Arial"/>
                <a:ea typeface="Arial"/>
                <a:cs typeface="Arial"/>
              </a:rPr>
              <a:t>68°</a:t>
            </a:r>
          </a:p>
        </p:txBody>
      </p:sp>
    </p:spTree>
    <p:extLst>
      <p:ext uri="{BB962C8B-B14F-4D97-AF65-F5344CB8AC3E}">
        <p14:creationId xmlns:p14="http://schemas.microsoft.com/office/powerpoint/2010/main" val="186063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object-1">
            <a:extLst>
              <a:ext uri="{FF2B5EF4-FFF2-40B4-BE49-F238E27FC236}">
                <a16:creationId xmlns:a16="http://schemas.microsoft.com/office/drawing/2014/main" id="{5783EC72-5974-4152-B7BD-5D73F95DA4D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6C8E53AC-FE46-4FCA-9A22-52E5319035D6}"/>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7129FA8-4429-47EC-BEFE-8A851276AFD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Two straight lines cross. One angle is 71°. Find the opposite angle.</a:t>
            </a:r>
          </a:p>
        </p:txBody>
      </p:sp>
      <p:sp>
        <p:nvSpPr>
          <p:cNvPr id="4" name="object-4">
            <a:extLst>
              <a:ext uri="{FF2B5EF4-FFF2-40B4-BE49-F238E27FC236}">
                <a16:creationId xmlns:a16="http://schemas.microsoft.com/office/drawing/2014/main" id="{B13DF3C9-98A3-438B-9CDF-84DB3BB9571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4C8C698F-19F2-4AD1-A54C-3BDD7A8087D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vertically opposite angles</a:t>
            </a:r>
          </a:p>
        </p:txBody>
      </p:sp>
      <p:sp>
        <p:nvSpPr>
          <p:cNvPr id="6" name="object-6">
            <a:extLst>
              <a:ext uri="{FF2B5EF4-FFF2-40B4-BE49-F238E27FC236}">
                <a16:creationId xmlns:a16="http://schemas.microsoft.com/office/drawing/2014/main" id="{DCEBB3BB-3520-41A4-851F-46C560F9512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E8F602FF-EC07-4F28-934A-71DEE042485F}"/>
              </a:ext>
            </a:extLst>
          </p:cNvPr>
          <p:cNvSpPr>
            <a:spLocks noGrp="1"/>
          </p:cNvSpPr>
          <p:nvPr/>
        </p:nvSpPr>
        <p:spPr>
          <a:xfrm>
            <a:off x="1547813" y="7084219"/>
            <a:ext cx="6548438" cy="500063"/>
          </a:xfrm>
          <a:prstGeom prst="rect">
            <a:avLst/>
          </a:prstGeom>
          <a:noFill/>
          <a:ln w="0">
            <a:noFill/>
          </a:ln>
        </p:spPr>
        <p:txBody>
          <a:bodyPr anchor="ctr">
            <a:noAutofit/>
          </a:bodyPr>
          <a:lstStyle/>
          <a:p>
            <a:pPr algn="ctr">
              <a:defRPr sz="1969" b="0">
                <a:solidFill>
                  <a:srgbClr val="52647A"/>
                </a:solidFill>
                <a:latin typeface="Arial"/>
                <a:ea typeface="Arial"/>
                <a:cs typeface="Arial"/>
              </a:defRPr>
            </a:pPr>
            <a:r>
              <a:rPr sz="1969" b="0">
                <a:solidFill>
                  <a:srgbClr val="52647A"/>
                </a:solidFill>
                <a:latin typeface="Arial"/>
                <a:ea typeface="Arial"/>
                <a:cs typeface="Arial"/>
              </a:rPr>
              <a:t>Diagram not to scale</a:t>
            </a:r>
          </a:p>
        </p:txBody>
      </p:sp>
      <p:sp>
        <p:nvSpPr>
          <p:cNvPr id="8" name="object-8">
            <a:extLst>
              <a:ext uri="{FF2B5EF4-FFF2-40B4-BE49-F238E27FC236}">
                <a16:creationId xmlns:a16="http://schemas.microsoft.com/office/drawing/2014/main" id="{1FA9D96A-6B7C-4884-AA3B-9018D4D29418}"/>
              </a:ext>
            </a:extLst>
          </p:cNvPr>
          <p:cNvSpPr>
            <a:spLocks noGrp="1"/>
          </p:cNvSpPr>
          <p:nvPr/>
        </p:nvSpPr>
        <p:spPr>
          <a:xfrm>
            <a:off x="2024063" y="4822031"/>
            <a:ext cx="5476875" cy="0"/>
          </a:xfrm>
          <a:prstGeom prst="line">
            <a:avLst/>
          </a:prstGeom>
          <a:noFill/>
          <a:ln w="35719">
            <a:solidFill>
              <a:srgbClr val="172B4D"/>
            </a:solidFill>
          </a:ln>
        </p:spPr>
      </p:sp>
      <p:sp>
        <p:nvSpPr>
          <p:cNvPr id="9" name="object-9">
            <a:extLst>
              <a:ext uri="{FF2B5EF4-FFF2-40B4-BE49-F238E27FC236}">
                <a16:creationId xmlns:a16="http://schemas.microsoft.com/office/drawing/2014/main" id="{33838FB7-40DD-43A0-903C-5E31E0BCE5D2}"/>
              </a:ext>
            </a:extLst>
          </p:cNvPr>
          <p:cNvSpPr>
            <a:spLocks noGrp="1"/>
          </p:cNvSpPr>
          <p:nvPr/>
        </p:nvSpPr>
        <p:spPr>
          <a:xfrm flipV="1">
            <a:off x="2738438" y="3155156"/>
            <a:ext cx="4048125" cy="3333750"/>
          </a:xfrm>
          <a:prstGeom prst="line">
            <a:avLst/>
          </a:prstGeom>
          <a:noFill/>
          <a:ln w="35719">
            <a:solidFill>
              <a:srgbClr val="172B4D"/>
            </a:solidFill>
          </a:ln>
        </p:spPr>
      </p:sp>
      <p:sp>
        <p:nvSpPr>
          <p:cNvPr id="10" name="object-10">
            <a:extLst>
              <a:ext uri="{FF2B5EF4-FFF2-40B4-BE49-F238E27FC236}">
                <a16:creationId xmlns:a16="http://schemas.microsoft.com/office/drawing/2014/main" id="{9D973898-E1FF-4E18-8B5C-2532AA5207EE}"/>
              </a:ext>
            </a:extLst>
          </p:cNvPr>
          <p:cNvSpPr>
            <a:spLocks noGrp="1"/>
          </p:cNvSpPr>
          <p:nvPr/>
        </p:nvSpPr>
        <p:spPr>
          <a:xfrm>
            <a:off x="5179219" y="3988594"/>
            <a:ext cx="1607344" cy="654844"/>
          </a:xfrm>
          <a:prstGeom prst="rect">
            <a:avLst/>
          </a:prstGeom>
          <a:noFill/>
          <a:ln w="0">
            <a:noFill/>
          </a:ln>
        </p:spPr>
        <p:txBody>
          <a:bodyPr anchor="ctr">
            <a:noAutofit/>
          </a:bodyPr>
          <a:lstStyle/>
          <a:p>
            <a:pPr algn="l">
              <a:defRPr sz="2906" b="1">
                <a:solidFill>
                  <a:srgbClr val="1D4ED8"/>
                </a:solidFill>
                <a:latin typeface="Arial"/>
                <a:ea typeface="Arial"/>
                <a:cs typeface="Arial"/>
              </a:defRPr>
            </a:pPr>
            <a:r>
              <a:rPr sz="2906" b="1">
                <a:solidFill>
                  <a:srgbClr val="1D4ED8"/>
                </a:solidFill>
                <a:latin typeface="Arial"/>
                <a:ea typeface="Arial"/>
                <a:cs typeface="Arial"/>
              </a:rPr>
              <a:t>71°</a:t>
            </a:r>
          </a:p>
        </p:txBody>
      </p:sp>
      <p:sp>
        <p:nvSpPr>
          <p:cNvPr id="11" name="object-11">
            <a:extLst>
              <a:ext uri="{FF2B5EF4-FFF2-40B4-BE49-F238E27FC236}">
                <a16:creationId xmlns:a16="http://schemas.microsoft.com/office/drawing/2014/main" id="{2306E46F-1284-497B-BBAD-CBEA291BA253}"/>
              </a:ext>
            </a:extLst>
          </p:cNvPr>
          <p:cNvSpPr>
            <a:spLocks noGrp="1"/>
          </p:cNvSpPr>
          <p:nvPr/>
        </p:nvSpPr>
        <p:spPr>
          <a:xfrm>
            <a:off x="3155156" y="5000625"/>
            <a:ext cx="1190625" cy="714375"/>
          </a:xfrm>
          <a:prstGeom prst="rect">
            <a:avLst/>
          </a:prstGeom>
          <a:noFill/>
          <a:ln w="0">
            <a:noFill/>
          </a:ln>
        </p:spPr>
        <p:txBody>
          <a:bodyPr anchor="ctr">
            <a:noAutofit/>
          </a:bodyPr>
          <a:lstStyle/>
          <a:p>
            <a:pPr algn="l">
              <a:defRPr sz="4219" b="1">
                <a:solidFill>
                  <a:srgbClr val="11745A"/>
                </a:solidFill>
                <a:latin typeface="Arial"/>
                <a:ea typeface="Arial"/>
                <a:cs typeface="Arial"/>
              </a:defRPr>
            </a:pPr>
            <a:r>
              <a:rPr sz="4219" b="1">
                <a:solidFill>
                  <a:srgbClr val="11745A"/>
                </a:solidFill>
                <a:latin typeface="Arial"/>
                <a:ea typeface="Arial"/>
                <a:cs typeface="Arial"/>
              </a:rPr>
              <a:t>?</a:t>
            </a:r>
          </a:p>
        </p:txBody>
      </p:sp>
      <p:sp>
        <p:nvSpPr>
          <p:cNvPr id="12" name="object-12">
            <a:extLst>
              <a:ext uri="{FF2B5EF4-FFF2-40B4-BE49-F238E27FC236}">
                <a16:creationId xmlns:a16="http://schemas.microsoft.com/office/drawing/2014/main" id="{935EE9FB-1A9F-4164-B641-EAA25A34C769}"/>
              </a:ext>
            </a:extLst>
          </p:cNvPr>
          <p:cNvSpPr>
            <a:spLocks noGrp="1"/>
          </p:cNvSpPr>
          <p:nvPr/>
        </p:nvSpPr>
        <p:spPr>
          <a:xfrm>
            <a:off x="9048750" y="3214688"/>
            <a:ext cx="5060156" cy="1309688"/>
          </a:xfrm>
          <a:prstGeom prst="rect">
            <a:avLst/>
          </a:prstGeom>
          <a:noFill/>
          <a:ln w="0">
            <a:noFill/>
          </a:ln>
        </p:spPr>
        <p:txBody>
          <a:bodyPr anchor="ctr">
            <a:noAutofit/>
          </a:bodyPr>
          <a:lstStyle/>
          <a:p>
            <a:pPr algn="l">
              <a:defRPr sz="3000" b="1">
                <a:solidFill>
                  <a:srgbClr val="172B4D"/>
                </a:solidFill>
                <a:latin typeface="Arial"/>
                <a:ea typeface="Arial"/>
                <a:cs typeface="Arial"/>
              </a:defRPr>
            </a:pPr>
            <a:r>
              <a:rPr sz="3000" b="1">
                <a:solidFill>
                  <a:srgbClr val="172B4D"/>
                </a:solidFill>
                <a:latin typeface="Arial"/>
                <a:ea typeface="Arial"/>
                <a:cs typeface="Arial"/>
              </a:rPr>
              <a:t>Vertically opposite angles are equal.</a:t>
            </a:r>
          </a:p>
        </p:txBody>
      </p:sp>
      <p:sp>
        <p:nvSpPr>
          <p:cNvPr id="13" name="object-13">
            <a:extLst>
              <a:ext uri="{FF2B5EF4-FFF2-40B4-BE49-F238E27FC236}">
                <a16:creationId xmlns:a16="http://schemas.microsoft.com/office/drawing/2014/main" id="{59EF3FEE-7033-4A05-8FFD-34AB6D5C59FD}"/>
              </a:ext>
            </a:extLst>
          </p:cNvPr>
          <p:cNvSpPr>
            <a:spLocks noGrp="1"/>
          </p:cNvSpPr>
          <p:nvPr/>
        </p:nvSpPr>
        <p:spPr>
          <a:xfrm>
            <a:off x="8929688" y="5250656"/>
            <a:ext cx="5357813" cy="1190625"/>
          </a:xfrm>
          <a:prstGeom prst="rect">
            <a:avLst/>
          </a:prstGeom>
          <a:noFill/>
          <a:ln w="0">
            <a:noFill/>
          </a:ln>
        </p:spPr>
        <p:txBody>
          <a:bodyPr anchor="ctr">
            <a:noAutofit/>
          </a:bodyPr>
          <a:lstStyle/>
          <a:p>
            <a:pPr algn="l">
              <a:defRPr sz="3469" b="1">
                <a:solidFill>
                  <a:srgbClr val="11745A"/>
                </a:solidFill>
                <a:latin typeface="Arial"/>
                <a:ea typeface="Arial"/>
                <a:cs typeface="Arial"/>
              </a:defRPr>
            </a:pPr>
            <a:r>
              <a:rPr sz="3469" b="1">
                <a:solidFill>
                  <a:srgbClr val="11745A"/>
                </a:solidFill>
                <a:latin typeface="Arial"/>
                <a:ea typeface="Arial"/>
                <a:cs typeface="Arial"/>
              </a:rPr>
              <a:t>71°</a:t>
            </a:r>
          </a:p>
        </p:txBody>
      </p:sp>
    </p:spTree>
    <p:extLst>
      <p:ext uri="{BB962C8B-B14F-4D97-AF65-F5344CB8AC3E}">
        <p14:creationId xmlns:p14="http://schemas.microsoft.com/office/powerpoint/2010/main" val="1747360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object-1">
            <a:extLst>
              <a:ext uri="{FF2B5EF4-FFF2-40B4-BE49-F238E27FC236}">
                <a16:creationId xmlns:a16="http://schemas.microsoft.com/office/drawing/2014/main" id="{D1B7775F-7512-4E8A-8899-126AF53AA5D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C9828183-7F41-4E43-830E-5E2969EC562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Two straight lines cross. One angle is 74°. Find the opposite angle.</a:t>
            </a:r>
          </a:p>
        </p:txBody>
      </p:sp>
      <p:sp>
        <p:nvSpPr>
          <p:cNvPr id="3" name="object-3">
            <a:extLst>
              <a:ext uri="{FF2B5EF4-FFF2-40B4-BE49-F238E27FC236}">
                <a16:creationId xmlns:a16="http://schemas.microsoft.com/office/drawing/2014/main" id="{B99EE859-DB0B-4A44-AEDB-E31B9A065C1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0A3A118-7615-46EF-8E31-9141396A6BC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vertically opposite angles</a:t>
            </a:r>
          </a:p>
        </p:txBody>
      </p:sp>
      <p:sp>
        <p:nvSpPr>
          <p:cNvPr id="5" name="object-5">
            <a:extLst>
              <a:ext uri="{FF2B5EF4-FFF2-40B4-BE49-F238E27FC236}">
                <a16:creationId xmlns:a16="http://schemas.microsoft.com/office/drawing/2014/main" id="{711D7C45-976C-4632-B236-405F3FD116A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090BAB69-36AD-4CFB-900B-A1D97646D067}"/>
              </a:ext>
            </a:extLst>
          </p:cNvPr>
          <p:cNvSpPr>
            <a:spLocks noGrp="1"/>
          </p:cNvSpPr>
          <p:nvPr/>
        </p:nvSpPr>
        <p:spPr>
          <a:xfrm>
            <a:off x="1547813" y="7084219"/>
            <a:ext cx="6548438" cy="500063"/>
          </a:xfrm>
          <a:prstGeom prst="rect">
            <a:avLst/>
          </a:prstGeom>
          <a:noFill/>
          <a:ln w="0">
            <a:noFill/>
          </a:ln>
        </p:spPr>
        <p:txBody>
          <a:bodyPr anchor="ctr">
            <a:noAutofit/>
          </a:bodyPr>
          <a:lstStyle/>
          <a:p>
            <a:pPr algn="ctr">
              <a:defRPr sz="1969" b="0">
                <a:solidFill>
                  <a:srgbClr val="52647A"/>
                </a:solidFill>
                <a:latin typeface="Arial"/>
                <a:ea typeface="Arial"/>
                <a:cs typeface="Arial"/>
              </a:defRPr>
            </a:pPr>
            <a:r>
              <a:rPr sz="1969" b="0">
                <a:solidFill>
                  <a:srgbClr val="52647A"/>
                </a:solidFill>
                <a:latin typeface="Arial"/>
                <a:ea typeface="Arial"/>
                <a:cs typeface="Arial"/>
              </a:rPr>
              <a:t>Diagram not to scale</a:t>
            </a:r>
          </a:p>
        </p:txBody>
      </p:sp>
      <p:sp>
        <p:nvSpPr>
          <p:cNvPr id="7" name="object-7">
            <a:extLst>
              <a:ext uri="{FF2B5EF4-FFF2-40B4-BE49-F238E27FC236}">
                <a16:creationId xmlns:a16="http://schemas.microsoft.com/office/drawing/2014/main" id="{CC4DD67E-CD2A-4080-9742-34B4F0DB9366}"/>
              </a:ext>
            </a:extLst>
          </p:cNvPr>
          <p:cNvSpPr>
            <a:spLocks noGrp="1"/>
          </p:cNvSpPr>
          <p:nvPr/>
        </p:nvSpPr>
        <p:spPr>
          <a:xfrm>
            <a:off x="2024063" y="4822031"/>
            <a:ext cx="5476875" cy="0"/>
          </a:xfrm>
          <a:prstGeom prst="line">
            <a:avLst/>
          </a:prstGeom>
          <a:noFill/>
          <a:ln w="35719">
            <a:solidFill>
              <a:srgbClr val="172B4D"/>
            </a:solidFill>
          </a:ln>
        </p:spPr>
      </p:sp>
      <p:sp>
        <p:nvSpPr>
          <p:cNvPr id="8" name="object-8">
            <a:extLst>
              <a:ext uri="{FF2B5EF4-FFF2-40B4-BE49-F238E27FC236}">
                <a16:creationId xmlns:a16="http://schemas.microsoft.com/office/drawing/2014/main" id="{9D3C286C-4BA0-400F-8BEF-31C4C2955196}"/>
              </a:ext>
            </a:extLst>
          </p:cNvPr>
          <p:cNvSpPr>
            <a:spLocks noGrp="1"/>
          </p:cNvSpPr>
          <p:nvPr/>
        </p:nvSpPr>
        <p:spPr>
          <a:xfrm flipV="1">
            <a:off x="2738438" y="3155156"/>
            <a:ext cx="4048125" cy="3333750"/>
          </a:xfrm>
          <a:prstGeom prst="line">
            <a:avLst/>
          </a:prstGeom>
          <a:noFill/>
          <a:ln w="35719">
            <a:solidFill>
              <a:srgbClr val="172B4D"/>
            </a:solidFill>
          </a:ln>
        </p:spPr>
      </p:sp>
      <p:sp>
        <p:nvSpPr>
          <p:cNvPr id="9" name="object-9">
            <a:extLst>
              <a:ext uri="{FF2B5EF4-FFF2-40B4-BE49-F238E27FC236}">
                <a16:creationId xmlns:a16="http://schemas.microsoft.com/office/drawing/2014/main" id="{0F2BCE89-C09B-4C24-A6F7-8E8841AD00E9}"/>
              </a:ext>
            </a:extLst>
          </p:cNvPr>
          <p:cNvSpPr>
            <a:spLocks noGrp="1"/>
          </p:cNvSpPr>
          <p:nvPr/>
        </p:nvSpPr>
        <p:spPr>
          <a:xfrm>
            <a:off x="5179219" y="3988594"/>
            <a:ext cx="1607344" cy="654844"/>
          </a:xfrm>
          <a:prstGeom prst="rect">
            <a:avLst/>
          </a:prstGeom>
          <a:noFill/>
          <a:ln w="0">
            <a:noFill/>
          </a:ln>
        </p:spPr>
        <p:txBody>
          <a:bodyPr anchor="ctr">
            <a:noAutofit/>
          </a:bodyPr>
          <a:lstStyle/>
          <a:p>
            <a:pPr algn="l">
              <a:defRPr sz="2906" b="1">
                <a:solidFill>
                  <a:srgbClr val="1D4ED8"/>
                </a:solidFill>
                <a:latin typeface="Arial"/>
                <a:ea typeface="Arial"/>
                <a:cs typeface="Arial"/>
              </a:defRPr>
            </a:pPr>
            <a:r>
              <a:rPr sz="2906" b="1">
                <a:solidFill>
                  <a:srgbClr val="1D4ED8"/>
                </a:solidFill>
                <a:latin typeface="Arial"/>
                <a:ea typeface="Arial"/>
                <a:cs typeface="Arial"/>
              </a:rPr>
              <a:t>74°</a:t>
            </a:r>
          </a:p>
        </p:txBody>
      </p:sp>
      <p:sp>
        <p:nvSpPr>
          <p:cNvPr id="10" name="object-10">
            <a:extLst>
              <a:ext uri="{FF2B5EF4-FFF2-40B4-BE49-F238E27FC236}">
                <a16:creationId xmlns:a16="http://schemas.microsoft.com/office/drawing/2014/main" id="{1071B1F3-57F9-4732-AA02-BD65176744FA}"/>
              </a:ext>
            </a:extLst>
          </p:cNvPr>
          <p:cNvSpPr>
            <a:spLocks noGrp="1"/>
          </p:cNvSpPr>
          <p:nvPr/>
        </p:nvSpPr>
        <p:spPr>
          <a:xfrm>
            <a:off x="3155156" y="5000625"/>
            <a:ext cx="1190625" cy="714375"/>
          </a:xfrm>
          <a:prstGeom prst="rect">
            <a:avLst/>
          </a:prstGeom>
          <a:noFill/>
          <a:ln w="0">
            <a:noFill/>
          </a:ln>
        </p:spPr>
        <p:txBody>
          <a:bodyPr anchor="ctr">
            <a:noAutofit/>
          </a:bodyPr>
          <a:lstStyle/>
          <a:p>
            <a:pPr algn="l">
              <a:defRPr sz="4219" b="1">
                <a:solidFill>
                  <a:srgbClr val="11745A"/>
                </a:solidFill>
                <a:latin typeface="Arial"/>
                <a:ea typeface="Arial"/>
                <a:cs typeface="Arial"/>
              </a:defRPr>
            </a:pPr>
            <a:r>
              <a:rPr sz="4219" b="1">
                <a:solidFill>
                  <a:srgbClr val="11745A"/>
                </a:solidFill>
                <a:latin typeface="Arial"/>
                <a:ea typeface="Arial"/>
                <a:cs typeface="Arial"/>
              </a:rPr>
              <a:t>?</a:t>
            </a:r>
          </a:p>
        </p:txBody>
      </p:sp>
      <p:sp>
        <p:nvSpPr>
          <p:cNvPr id="11" name="object-11">
            <a:extLst>
              <a:ext uri="{FF2B5EF4-FFF2-40B4-BE49-F238E27FC236}">
                <a16:creationId xmlns:a16="http://schemas.microsoft.com/office/drawing/2014/main" id="{28A8C4B9-B63A-4595-8455-C8CFF6975A86}"/>
              </a:ext>
            </a:extLst>
          </p:cNvPr>
          <p:cNvSpPr>
            <a:spLocks noGrp="1"/>
          </p:cNvSpPr>
          <p:nvPr/>
        </p:nvSpPr>
        <p:spPr>
          <a:xfrm>
            <a:off x="9048750" y="3214688"/>
            <a:ext cx="5060156" cy="1309688"/>
          </a:xfrm>
          <a:prstGeom prst="rect">
            <a:avLst/>
          </a:prstGeom>
          <a:noFill/>
          <a:ln w="0">
            <a:noFill/>
          </a:ln>
        </p:spPr>
        <p:txBody>
          <a:bodyPr anchor="ctr">
            <a:noAutofit/>
          </a:bodyPr>
          <a:lstStyle/>
          <a:p>
            <a:pPr algn="l">
              <a:defRPr sz="3000" b="1">
                <a:solidFill>
                  <a:srgbClr val="172B4D"/>
                </a:solidFill>
                <a:latin typeface="Arial"/>
                <a:ea typeface="Arial"/>
                <a:cs typeface="Arial"/>
              </a:defRPr>
            </a:pPr>
            <a:r>
              <a:rPr sz="3000" b="1">
                <a:solidFill>
                  <a:srgbClr val="172B4D"/>
                </a:solidFill>
                <a:latin typeface="Arial"/>
                <a:ea typeface="Arial"/>
                <a:cs typeface="Arial"/>
              </a:rPr>
              <a:t>Vertically opposite angles are equal.</a:t>
            </a:r>
          </a:p>
        </p:txBody>
      </p:sp>
      <p:sp>
        <p:nvSpPr>
          <p:cNvPr id="12" name="object-12">
            <a:extLst>
              <a:ext uri="{FF2B5EF4-FFF2-40B4-BE49-F238E27FC236}">
                <a16:creationId xmlns:a16="http://schemas.microsoft.com/office/drawing/2014/main" id="{5D35041D-E328-4A28-BCD9-E2AFA3B6D85A}"/>
              </a:ext>
            </a:extLst>
          </p:cNvPr>
          <p:cNvSpPr>
            <a:spLocks noGrp="1"/>
          </p:cNvSpPr>
          <p:nvPr/>
        </p:nvSpPr>
        <p:spPr>
          <a:xfrm>
            <a:off x="8929688" y="5250656"/>
            <a:ext cx="5357813" cy="1190625"/>
          </a:xfrm>
          <a:prstGeom prst="rect">
            <a:avLst/>
          </a:prstGeom>
          <a:noFill/>
          <a:ln w="0">
            <a:noFill/>
          </a:ln>
        </p:spPr>
        <p:txBody>
          <a:bodyPr anchor="ctr">
            <a:noAutofit/>
          </a:bodyPr>
          <a:lstStyle/>
          <a:p>
            <a:pPr algn="l">
              <a:defRPr sz="3469" b="1">
                <a:solidFill>
                  <a:srgbClr val="11745A"/>
                </a:solidFill>
                <a:latin typeface="Arial"/>
                <a:ea typeface="Arial"/>
                <a:cs typeface="Arial"/>
              </a:defRPr>
            </a:pPr>
            <a:r>
              <a:rPr sz="3469" b="1">
                <a:solidFill>
                  <a:srgbClr val="11745A"/>
                </a:solidFill>
                <a:latin typeface="Arial"/>
                <a:ea typeface="Arial"/>
                <a:cs typeface="Arial"/>
              </a:rPr>
              <a:t>74°</a:t>
            </a:r>
          </a:p>
        </p:txBody>
      </p:sp>
    </p:spTree>
    <p:extLst>
      <p:ext uri="{BB962C8B-B14F-4D97-AF65-F5344CB8AC3E}">
        <p14:creationId xmlns:p14="http://schemas.microsoft.com/office/powerpoint/2010/main" val="98538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object-1">
            <a:extLst>
              <a:ext uri="{FF2B5EF4-FFF2-40B4-BE49-F238E27FC236}">
                <a16:creationId xmlns:a16="http://schemas.microsoft.com/office/drawing/2014/main" id="{6BCE33CE-9843-497E-8F3E-AC0AEE5606B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4008A478-DAAF-496D-919C-DA6655CE6358}"/>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8C689D38-F5AB-45B4-A3E4-DC21B7A5DF1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Two straight lines cross. One angle is 77°. Find the opposite angle.</a:t>
            </a:r>
          </a:p>
        </p:txBody>
      </p:sp>
      <p:sp>
        <p:nvSpPr>
          <p:cNvPr id="4" name="object-4">
            <a:extLst>
              <a:ext uri="{FF2B5EF4-FFF2-40B4-BE49-F238E27FC236}">
                <a16:creationId xmlns:a16="http://schemas.microsoft.com/office/drawing/2014/main" id="{F13FE86E-D056-4FC7-A6DA-EE8AD1B05356}"/>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09AEDE41-6DEA-4B17-A6BB-41A17A901DB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vertically opposite angles</a:t>
            </a:r>
          </a:p>
        </p:txBody>
      </p:sp>
      <p:sp>
        <p:nvSpPr>
          <p:cNvPr id="6" name="object-6">
            <a:extLst>
              <a:ext uri="{FF2B5EF4-FFF2-40B4-BE49-F238E27FC236}">
                <a16:creationId xmlns:a16="http://schemas.microsoft.com/office/drawing/2014/main" id="{490394ED-A171-48FF-8978-B9C511C3098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FAB0B8D8-7536-4963-8F1D-DEEFF1AB8643}"/>
              </a:ext>
            </a:extLst>
          </p:cNvPr>
          <p:cNvSpPr>
            <a:spLocks noGrp="1"/>
          </p:cNvSpPr>
          <p:nvPr/>
        </p:nvSpPr>
        <p:spPr>
          <a:xfrm>
            <a:off x="1547813" y="7084219"/>
            <a:ext cx="6548438" cy="500063"/>
          </a:xfrm>
          <a:prstGeom prst="rect">
            <a:avLst/>
          </a:prstGeom>
          <a:noFill/>
          <a:ln w="0">
            <a:noFill/>
          </a:ln>
        </p:spPr>
        <p:txBody>
          <a:bodyPr anchor="ctr">
            <a:noAutofit/>
          </a:bodyPr>
          <a:lstStyle/>
          <a:p>
            <a:pPr algn="ctr">
              <a:defRPr sz="1969" b="0">
                <a:solidFill>
                  <a:srgbClr val="52647A"/>
                </a:solidFill>
                <a:latin typeface="Arial"/>
                <a:ea typeface="Arial"/>
                <a:cs typeface="Arial"/>
              </a:defRPr>
            </a:pPr>
            <a:r>
              <a:rPr sz="1969" b="0">
                <a:solidFill>
                  <a:srgbClr val="52647A"/>
                </a:solidFill>
                <a:latin typeface="Arial"/>
                <a:ea typeface="Arial"/>
                <a:cs typeface="Arial"/>
              </a:rPr>
              <a:t>Diagram not to scale</a:t>
            </a:r>
          </a:p>
        </p:txBody>
      </p:sp>
      <p:sp>
        <p:nvSpPr>
          <p:cNvPr id="8" name="object-8">
            <a:extLst>
              <a:ext uri="{FF2B5EF4-FFF2-40B4-BE49-F238E27FC236}">
                <a16:creationId xmlns:a16="http://schemas.microsoft.com/office/drawing/2014/main" id="{02410134-CC13-44FD-B1CC-A748BB0D117A}"/>
              </a:ext>
            </a:extLst>
          </p:cNvPr>
          <p:cNvSpPr>
            <a:spLocks noGrp="1"/>
          </p:cNvSpPr>
          <p:nvPr/>
        </p:nvSpPr>
        <p:spPr>
          <a:xfrm>
            <a:off x="2024063" y="4822031"/>
            <a:ext cx="5476875" cy="0"/>
          </a:xfrm>
          <a:prstGeom prst="line">
            <a:avLst/>
          </a:prstGeom>
          <a:noFill/>
          <a:ln w="35719">
            <a:solidFill>
              <a:srgbClr val="172B4D"/>
            </a:solidFill>
          </a:ln>
        </p:spPr>
      </p:sp>
      <p:sp>
        <p:nvSpPr>
          <p:cNvPr id="9" name="object-9">
            <a:extLst>
              <a:ext uri="{FF2B5EF4-FFF2-40B4-BE49-F238E27FC236}">
                <a16:creationId xmlns:a16="http://schemas.microsoft.com/office/drawing/2014/main" id="{DFCDCDBF-8073-474C-B15E-3378A7566700}"/>
              </a:ext>
            </a:extLst>
          </p:cNvPr>
          <p:cNvSpPr>
            <a:spLocks noGrp="1"/>
          </p:cNvSpPr>
          <p:nvPr/>
        </p:nvSpPr>
        <p:spPr>
          <a:xfrm flipV="1">
            <a:off x="2738438" y="3155156"/>
            <a:ext cx="4048125" cy="3333750"/>
          </a:xfrm>
          <a:prstGeom prst="line">
            <a:avLst/>
          </a:prstGeom>
          <a:noFill/>
          <a:ln w="35719">
            <a:solidFill>
              <a:srgbClr val="172B4D"/>
            </a:solidFill>
          </a:ln>
        </p:spPr>
      </p:sp>
      <p:sp>
        <p:nvSpPr>
          <p:cNvPr id="10" name="object-10">
            <a:extLst>
              <a:ext uri="{FF2B5EF4-FFF2-40B4-BE49-F238E27FC236}">
                <a16:creationId xmlns:a16="http://schemas.microsoft.com/office/drawing/2014/main" id="{CCEAF020-382C-40C4-95B2-AD4F4C7BF039}"/>
              </a:ext>
            </a:extLst>
          </p:cNvPr>
          <p:cNvSpPr>
            <a:spLocks noGrp="1"/>
          </p:cNvSpPr>
          <p:nvPr/>
        </p:nvSpPr>
        <p:spPr>
          <a:xfrm>
            <a:off x="5179219" y="3988594"/>
            <a:ext cx="1607344" cy="654844"/>
          </a:xfrm>
          <a:prstGeom prst="rect">
            <a:avLst/>
          </a:prstGeom>
          <a:noFill/>
          <a:ln w="0">
            <a:noFill/>
          </a:ln>
        </p:spPr>
        <p:txBody>
          <a:bodyPr anchor="ctr">
            <a:noAutofit/>
          </a:bodyPr>
          <a:lstStyle/>
          <a:p>
            <a:pPr algn="l">
              <a:defRPr sz="2906" b="1">
                <a:solidFill>
                  <a:srgbClr val="1D4ED8"/>
                </a:solidFill>
                <a:latin typeface="Arial"/>
                <a:ea typeface="Arial"/>
                <a:cs typeface="Arial"/>
              </a:defRPr>
            </a:pPr>
            <a:r>
              <a:rPr sz="2906" b="1">
                <a:solidFill>
                  <a:srgbClr val="1D4ED8"/>
                </a:solidFill>
                <a:latin typeface="Arial"/>
                <a:ea typeface="Arial"/>
                <a:cs typeface="Arial"/>
              </a:rPr>
              <a:t>77°</a:t>
            </a:r>
          </a:p>
        </p:txBody>
      </p:sp>
      <p:sp>
        <p:nvSpPr>
          <p:cNvPr id="11" name="object-11">
            <a:extLst>
              <a:ext uri="{FF2B5EF4-FFF2-40B4-BE49-F238E27FC236}">
                <a16:creationId xmlns:a16="http://schemas.microsoft.com/office/drawing/2014/main" id="{706A3E0B-8E33-4F3F-864C-EAF90905C0D7}"/>
              </a:ext>
            </a:extLst>
          </p:cNvPr>
          <p:cNvSpPr>
            <a:spLocks noGrp="1"/>
          </p:cNvSpPr>
          <p:nvPr/>
        </p:nvSpPr>
        <p:spPr>
          <a:xfrm>
            <a:off x="3155156" y="5000625"/>
            <a:ext cx="1190625" cy="714375"/>
          </a:xfrm>
          <a:prstGeom prst="rect">
            <a:avLst/>
          </a:prstGeom>
          <a:noFill/>
          <a:ln w="0">
            <a:noFill/>
          </a:ln>
        </p:spPr>
        <p:txBody>
          <a:bodyPr anchor="ctr">
            <a:noAutofit/>
          </a:bodyPr>
          <a:lstStyle/>
          <a:p>
            <a:pPr algn="l">
              <a:defRPr sz="4219" b="1">
                <a:solidFill>
                  <a:srgbClr val="11745A"/>
                </a:solidFill>
                <a:latin typeface="Arial"/>
                <a:ea typeface="Arial"/>
                <a:cs typeface="Arial"/>
              </a:defRPr>
            </a:pPr>
            <a:r>
              <a:rPr sz="4219" b="1">
                <a:solidFill>
                  <a:srgbClr val="11745A"/>
                </a:solidFill>
                <a:latin typeface="Arial"/>
                <a:ea typeface="Arial"/>
                <a:cs typeface="Arial"/>
              </a:rPr>
              <a:t>?</a:t>
            </a:r>
          </a:p>
        </p:txBody>
      </p:sp>
      <p:sp>
        <p:nvSpPr>
          <p:cNvPr id="12" name="object-12">
            <a:extLst>
              <a:ext uri="{FF2B5EF4-FFF2-40B4-BE49-F238E27FC236}">
                <a16:creationId xmlns:a16="http://schemas.microsoft.com/office/drawing/2014/main" id="{AEBF2731-F4AF-4956-B812-454EDE691CBE}"/>
              </a:ext>
            </a:extLst>
          </p:cNvPr>
          <p:cNvSpPr>
            <a:spLocks noGrp="1"/>
          </p:cNvSpPr>
          <p:nvPr/>
        </p:nvSpPr>
        <p:spPr>
          <a:xfrm>
            <a:off x="9048750" y="3214688"/>
            <a:ext cx="5060156" cy="1309688"/>
          </a:xfrm>
          <a:prstGeom prst="rect">
            <a:avLst/>
          </a:prstGeom>
          <a:noFill/>
          <a:ln w="0">
            <a:noFill/>
          </a:ln>
        </p:spPr>
        <p:txBody>
          <a:bodyPr anchor="ctr">
            <a:noAutofit/>
          </a:bodyPr>
          <a:lstStyle/>
          <a:p>
            <a:pPr algn="l">
              <a:defRPr sz="3000" b="1">
                <a:solidFill>
                  <a:srgbClr val="172B4D"/>
                </a:solidFill>
                <a:latin typeface="Arial"/>
                <a:ea typeface="Arial"/>
                <a:cs typeface="Arial"/>
              </a:defRPr>
            </a:pPr>
            <a:r>
              <a:rPr sz="3000" b="1">
                <a:solidFill>
                  <a:srgbClr val="172B4D"/>
                </a:solidFill>
                <a:latin typeface="Arial"/>
                <a:ea typeface="Arial"/>
                <a:cs typeface="Arial"/>
              </a:rPr>
              <a:t>Vertically opposite angles are equal.</a:t>
            </a:r>
          </a:p>
        </p:txBody>
      </p:sp>
      <p:sp>
        <p:nvSpPr>
          <p:cNvPr id="13" name="object-13">
            <a:extLst>
              <a:ext uri="{FF2B5EF4-FFF2-40B4-BE49-F238E27FC236}">
                <a16:creationId xmlns:a16="http://schemas.microsoft.com/office/drawing/2014/main" id="{7CD85B4E-D7EC-4DEF-8536-5544A8A18DEA}"/>
              </a:ext>
            </a:extLst>
          </p:cNvPr>
          <p:cNvSpPr>
            <a:spLocks noGrp="1"/>
          </p:cNvSpPr>
          <p:nvPr/>
        </p:nvSpPr>
        <p:spPr>
          <a:xfrm>
            <a:off x="8929688" y="5250656"/>
            <a:ext cx="5357813" cy="1190625"/>
          </a:xfrm>
          <a:prstGeom prst="rect">
            <a:avLst/>
          </a:prstGeom>
          <a:noFill/>
          <a:ln w="0">
            <a:noFill/>
          </a:ln>
        </p:spPr>
        <p:txBody>
          <a:bodyPr anchor="ctr">
            <a:noAutofit/>
          </a:bodyPr>
          <a:lstStyle/>
          <a:p>
            <a:pPr algn="l">
              <a:defRPr sz="3469" b="1">
                <a:solidFill>
                  <a:srgbClr val="11745A"/>
                </a:solidFill>
                <a:latin typeface="Arial"/>
                <a:ea typeface="Arial"/>
                <a:cs typeface="Arial"/>
              </a:defRPr>
            </a:pPr>
            <a:r>
              <a:rPr sz="3469" b="1">
                <a:solidFill>
                  <a:srgbClr val="11745A"/>
                </a:solidFill>
                <a:latin typeface="Arial"/>
                <a:ea typeface="Arial"/>
                <a:cs typeface="Arial"/>
              </a:rPr>
              <a:t>77°</a:t>
            </a:r>
          </a:p>
        </p:txBody>
      </p:sp>
    </p:spTree>
    <p:extLst>
      <p:ext uri="{BB962C8B-B14F-4D97-AF65-F5344CB8AC3E}">
        <p14:creationId xmlns:p14="http://schemas.microsoft.com/office/powerpoint/2010/main" val="136648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0B7F1670-E5B1-42DC-99DA-708E367A228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692D6D56-096C-4E19-A685-7912EEB66366}"/>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EF9ED4BC-FE16-4398-AC01-343EB46DECA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15B98432-B0C0-43EC-8EFA-59AEB58173E1}"/>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82FCDFF1-7AF2-4BA1-A0C4-80B2A79B03C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vertically opposite angles</a:t>
            </a:r>
          </a:p>
        </p:txBody>
      </p:sp>
      <p:sp>
        <p:nvSpPr>
          <p:cNvPr id="6" name="object-6">
            <a:extLst>
              <a:ext uri="{FF2B5EF4-FFF2-40B4-BE49-F238E27FC236}">
                <a16:creationId xmlns:a16="http://schemas.microsoft.com/office/drawing/2014/main" id="{94D25284-B578-4248-8F33-6540DDA7FAB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AB053F31-25F5-4C82-81FD-460F83F1B5D9}"/>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0F81CD6C-99E7-41FC-8411-0E7298DC7C8C}"/>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One angle where two straight lines cross is 68 degrees. Find the vertically opposite angle.</a:t>
            </a:r>
          </a:p>
        </p:txBody>
      </p:sp>
      <p:sp>
        <p:nvSpPr>
          <p:cNvPr id="9" name="object-9">
            <a:extLst>
              <a:ext uri="{FF2B5EF4-FFF2-40B4-BE49-F238E27FC236}">
                <a16:creationId xmlns:a16="http://schemas.microsoft.com/office/drawing/2014/main" id="{45FDD082-F397-46B9-A3ED-0EE238BD52BF}"/>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BB611F3C-A507-40F7-B388-E0DB787CD29C}"/>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triangle has angles 47 degrees and 68 degrees. Find the third angle.</a:t>
            </a:r>
          </a:p>
        </p:txBody>
      </p:sp>
      <p:sp>
        <p:nvSpPr>
          <p:cNvPr id="11" name="object-11">
            <a:extLst>
              <a:ext uri="{FF2B5EF4-FFF2-40B4-BE49-F238E27FC236}">
                <a16:creationId xmlns:a16="http://schemas.microsoft.com/office/drawing/2014/main" id="{9675DBEC-D8D3-40F0-A617-DCF43B6ECE4F}"/>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FD0DE786-B287-4DCC-B02B-E67F460EF198}"/>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circle has radius 4.5 cm. What is its diameter?</a:t>
            </a:r>
          </a:p>
        </p:txBody>
      </p:sp>
      <p:sp>
        <p:nvSpPr>
          <p:cNvPr id="13" name="object-13">
            <a:extLst>
              <a:ext uri="{FF2B5EF4-FFF2-40B4-BE49-F238E27FC236}">
                <a16:creationId xmlns:a16="http://schemas.microsoft.com/office/drawing/2014/main" id="{65B1F2C4-E469-47C5-A7C8-EB8AAE695F24}"/>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FC53E7F1-9772-45C3-B707-0064B2C4EA3D}"/>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One angle where two straight lines cross is 68 degrees. Find the vertically opposite angle.</a:t>
            </a:r>
          </a:p>
        </p:txBody>
      </p:sp>
      <p:sp>
        <p:nvSpPr>
          <p:cNvPr id="15" name="object-15">
            <a:extLst>
              <a:ext uri="{FF2B5EF4-FFF2-40B4-BE49-F238E27FC236}">
                <a16:creationId xmlns:a16="http://schemas.microsoft.com/office/drawing/2014/main" id="{6F89164A-5A82-472E-A488-C7CA4F0AEFFD}"/>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6761CB35-3BD7-42E0-BC3C-9E1E344B429E}"/>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A triangle has angles 47 degrees and 68 degrees. Find the third angle.</a:t>
            </a:r>
          </a:p>
        </p:txBody>
      </p:sp>
      <p:sp>
        <p:nvSpPr>
          <p:cNvPr id="17" name="object-17">
            <a:extLst>
              <a:ext uri="{FF2B5EF4-FFF2-40B4-BE49-F238E27FC236}">
                <a16:creationId xmlns:a16="http://schemas.microsoft.com/office/drawing/2014/main" id="{C7489219-5E87-481A-AF7A-694B0A783CB8}"/>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8867AD71-EC00-46E2-9A75-F5B0684C5654}"/>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A circle has radius 4.5 cm. What is its diameter?</a:t>
            </a:r>
          </a:p>
        </p:txBody>
      </p:sp>
      <p:sp>
        <p:nvSpPr>
          <p:cNvPr id="19" name="object-19">
            <a:extLst>
              <a:ext uri="{FF2B5EF4-FFF2-40B4-BE49-F238E27FC236}">
                <a16:creationId xmlns:a16="http://schemas.microsoft.com/office/drawing/2014/main" id="{58EABCFC-3E30-4A94-9E27-55CB8B26F131}"/>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0B7E450E-59EE-4AE9-AD9D-AC8F015F3615}"/>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A quadrilateral has three angles of 92 degrees, 88 degrees and 105 degrees. Find the fourth.</a:t>
            </a:r>
          </a:p>
        </p:txBody>
      </p:sp>
      <p:sp>
        <p:nvSpPr>
          <p:cNvPr id="21" name="object-21">
            <a:extLst>
              <a:ext uri="{FF2B5EF4-FFF2-40B4-BE49-F238E27FC236}">
                <a16:creationId xmlns:a16="http://schemas.microsoft.com/office/drawing/2014/main" id="{CA6E712A-DB16-4244-AB6D-8E8D0478637E}"/>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BFB0BB6C-FE6A-463C-94AA-65E98426B50A}"/>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estimates from the drawing even when the diagram is not to scale.</a:t>
            </a:r>
          </a:p>
        </p:txBody>
      </p:sp>
      <p:sp>
        <p:nvSpPr>
          <p:cNvPr id="23" name="object-23">
            <a:extLst>
              <a:ext uri="{FF2B5EF4-FFF2-40B4-BE49-F238E27FC236}">
                <a16:creationId xmlns:a16="http://schemas.microsoft.com/office/drawing/2014/main" id="{015C464B-ABD7-4AD8-9CBD-F7B738AB5988}"/>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CE1A0762-CD58-4A8F-95EF-C76F68796A6D}"/>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5C8D3DF8-73EF-442A-B4C3-D4C0147EC1FC}"/>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AB66C069-7395-432D-B30E-BBE902D189D8}"/>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A circle has radius 4.5 cm. What is its diameter?</a:t>
            </a:r>
          </a:p>
        </p:txBody>
      </p:sp>
    </p:spTree>
    <p:extLst>
      <p:ext uri="{BB962C8B-B14F-4D97-AF65-F5344CB8AC3E}">
        <p14:creationId xmlns:p14="http://schemas.microsoft.com/office/powerpoint/2010/main" val="195972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9062FD76-FF76-4C12-B5FF-E6949D84FB04}"/>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B30D01A6-5AF1-43CA-9A59-0D7D3F5355A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75F82548-3439-4B66-B9C2-4B16AF4779DE}"/>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860CCB3-6A96-42AA-B821-7CDE41366DC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vertically opposite angles</a:t>
            </a:r>
          </a:p>
        </p:txBody>
      </p:sp>
      <p:sp>
        <p:nvSpPr>
          <p:cNvPr id="5" name="object-5">
            <a:extLst>
              <a:ext uri="{FF2B5EF4-FFF2-40B4-BE49-F238E27FC236}">
                <a16:creationId xmlns:a16="http://schemas.microsoft.com/office/drawing/2014/main" id="{DE1DC3E6-A57E-4CD9-A1C3-9BF0D3ACF3C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1B245618-8A2C-4615-B427-5876DD7CBFC3}"/>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A01A3844-886B-4237-A44F-AD70BCA578E2}"/>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68 degrees.</a:t>
            </a:r>
          </a:p>
        </p:txBody>
      </p:sp>
      <p:sp>
        <p:nvSpPr>
          <p:cNvPr id="8" name="object-8">
            <a:extLst>
              <a:ext uri="{FF2B5EF4-FFF2-40B4-BE49-F238E27FC236}">
                <a16:creationId xmlns:a16="http://schemas.microsoft.com/office/drawing/2014/main" id="{8B1D2B83-95AF-40EA-B1E2-A1DEF277E2EC}"/>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8494B35A-5A76-472B-A613-6731D5A79151}"/>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65 degrees.</a:t>
            </a:r>
          </a:p>
        </p:txBody>
      </p:sp>
      <p:sp>
        <p:nvSpPr>
          <p:cNvPr id="10" name="object-10">
            <a:extLst>
              <a:ext uri="{FF2B5EF4-FFF2-40B4-BE49-F238E27FC236}">
                <a16:creationId xmlns:a16="http://schemas.microsoft.com/office/drawing/2014/main" id="{0E215C15-449B-4169-8611-E8B35030452B}"/>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722475E5-F963-4AFB-B5AA-63BADD4CBC8E}"/>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 cm.</a:t>
            </a:r>
          </a:p>
        </p:txBody>
      </p:sp>
      <p:sp>
        <p:nvSpPr>
          <p:cNvPr id="12" name="object-12">
            <a:extLst>
              <a:ext uri="{FF2B5EF4-FFF2-40B4-BE49-F238E27FC236}">
                <a16:creationId xmlns:a16="http://schemas.microsoft.com/office/drawing/2014/main" id="{7B5578F3-CCFB-447D-A620-580C69AB7A9E}"/>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42785260-0301-443C-9E49-8AE877007D2A}"/>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68 degrees.</a:t>
            </a:r>
          </a:p>
        </p:txBody>
      </p:sp>
      <p:sp>
        <p:nvSpPr>
          <p:cNvPr id="14" name="object-14">
            <a:extLst>
              <a:ext uri="{FF2B5EF4-FFF2-40B4-BE49-F238E27FC236}">
                <a16:creationId xmlns:a16="http://schemas.microsoft.com/office/drawing/2014/main" id="{704AC297-8F13-41B0-B725-9E4B51D7E01D}"/>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F64792DA-802C-473D-AE5F-341722126FEC}"/>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65 degrees. Method or representation may vary.</a:t>
            </a:r>
          </a:p>
        </p:txBody>
      </p:sp>
      <p:sp>
        <p:nvSpPr>
          <p:cNvPr id="16" name="object-16">
            <a:extLst>
              <a:ext uri="{FF2B5EF4-FFF2-40B4-BE49-F238E27FC236}">
                <a16:creationId xmlns:a16="http://schemas.microsoft.com/office/drawing/2014/main" id="{3B46E25A-5D92-481C-B4F2-8E655F70C7B6}"/>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E1FB7A35-1489-4B52-9B24-ED99C3D0390B}"/>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9 cm. A valid check must be shown.</a:t>
            </a:r>
          </a:p>
        </p:txBody>
      </p:sp>
      <p:sp>
        <p:nvSpPr>
          <p:cNvPr id="18" name="object-18">
            <a:extLst>
              <a:ext uri="{FF2B5EF4-FFF2-40B4-BE49-F238E27FC236}">
                <a16:creationId xmlns:a16="http://schemas.microsoft.com/office/drawing/2014/main" id="{031D4E08-CB53-4F37-B665-4FDFC7B2814C}"/>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09622823-C88A-443F-B772-E0672DE5179C}"/>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75 degrees. The explanation must show why the method works.</a:t>
            </a:r>
          </a:p>
        </p:txBody>
      </p:sp>
      <p:sp>
        <p:nvSpPr>
          <p:cNvPr id="20" name="object-20">
            <a:extLst>
              <a:ext uri="{FF2B5EF4-FFF2-40B4-BE49-F238E27FC236}">
                <a16:creationId xmlns:a16="http://schemas.microsoft.com/office/drawing/2014/main" id="{D24C0D13-7780-4916-9A5A-DD6629955C9E}"/>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1F7B5AC3-C1FA-438F-9D40-CDD225CA3CE3}"/>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Use labelled values and known geometric facts, then check the total angle relationship.</a:t>
            </a:r>
          </a:p>
        </p:txBody>
      </p:sp>
      <p:sp>
        <p:nvSpPr>
          <p:cNvPr id="22" name="object-22">
            <a:extLst>
              <a:ext uri="{FF2B5EF4-FFF2-40B4-BE49-F238E27FC236}">
                <a16:creationId xmlns:a16="http://schemas.microsoft.com/office/drawing/2014/main" id="{41B986E1-A5DC-4503-B4B5-F9C7FBBF832C}"/>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3F9390C3-9743-47D3-A7D8-BE5DDF55FE9E}"/>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BDFDBA7B-972B-4211-99F8-26578F8BCA53}"/>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F239896D-496C-4A4E-9DBF-18212BECE92E}"/>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50255374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973</Words>
  <Application>Microsoft Office PowerPoint</Application>
  <DocSecurity>0</DocSecurity>
  <PresentationFormat>Custom</PresentationFormat>
  <Paragraphs>106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2026-09-14T13:19:20Z</dcterms:created>
  <dcterms:modified xsi:type="dcterms:W3CDTF">2026-09-14T13:21:00Z</dcterms:modified>
</cp:coreProperties>
</file>