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transition. Assess learning and plan transition.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transition.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transition.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transition.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transition.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transition.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transition.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8F80BB47-46E1-4593-A1E3-7C03A40CFFA8}"/>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Assess learning and plan transition</a:t>
            </a:r>
          </a:p>
        </p:txBody>
      </p:sp>
      <p:sp>
        <p:nvSpPr>
          <p:cNvPr id="2" name="object-2">
            <a:extLst>
              <a:ext uri="{FF2B5EF4-FFF2-40B4-BE49-F238E27FC236}">
                <a16:creationId xmlns:a16="http://schemas.microsoft.com/office/drawing/2014/main" id="{FE7668AD-2F7F-4390-BF5B-845A863A81D5}"/>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F85F0096-A4C9-4566-8114-07300FA1E9C3}"/>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F12C18AB-0EDA-4EE6-BE9C-0E556E877EB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transition</a:t>
            </a:r>
          </a:p>
        </p:txBody>
      </p:sp>
      <p:sp>
        <p:nvSpPr>
          <p:cNvPr id="5" name="object-5">
            <a:extLst>
              <a:ext uri="{FF2B5EF4-FFF2-40B4-BE49-F238E27FC236}">
                <a16:creationId xmlns:a16="http://schemas.microsoft.com/office/drawing/2014/main" id="{1B774025-9CC7-4428-87FF-EF45EBEC6B4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00148C6D-798B-4C9C-8D9A-9CB9E2AD447B}"/>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demonstrate Year 6 learning and identify a secondary transition target.</a:t>
            </a:r>
          </a:p>
        </p:txBody>
      </p:sp>
    </p:spTree>
    <p:extLst>
      <p:ext uri="{BB962C8B-B14F-4D97-AF65-F5344CB8AC3E}">
        <p14:creationId xmlns:p14="http://schemas.microsoft.com/office/powerpoint/2010/main" val="1905777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object-1">
            <a:extLst>
              <a:ext uri="{FF2B5EF4-FFF2-40B4-BE49-F238E27FC236}">
                <a16:creationId xmlns:a16="http://schemas.microsoft.com/office/drawing/2014/main" id="{59D04FA1-BC1F-4FD8-B01A-73B584FD2C15}"/>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65C7BE4A-D3CE-4AB0-BDE7-AE82AA0D76BA}"/>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Volume 756 cm³, length 12 cm, width 7 cm. Find the height.</a:t>
            </a:r>
          </a:p>
        </p:txBody>
      </p:sp>
      <p:sp>
        <p:nvSpPr>
          <p:cNvPr id="3" name="object-3">
            <a:extLst>
              <a:ext uri="{FF2B5EF4-FFF2-40B4-BE49-F238E27FC236}">
                <a16:creationId xmlns:a16="http://schemas.microsoft.com/office/drawing/2014/main" id="{74BC9474-1F31-439C-9428-248F56CAD991}"/>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BC2364C-E06B-4A3B-A6B0-C7B22985127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transition</a:t>
            </a:r>
          </a:p>
        </p:txBody>
      </p:sp>
      <p:sp>
        <p:nvSpPr>
          <p:cNvPr id="5" name="object-5">
            <a:extLst>
              <a:ext uri="{FF2B5EF4-FFF2-40B4-BE49-F238E27FC236}">
                <a16:creationId xmlns:a16="http://schemas.microsoft.com/office/drawing/2014/main" id="{0737306D-1F44-4BEB-90C3-01539CC0096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06CCF072-39C5-4041-B5F1-BA062E960D43}"/>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164E96A3-8375-47E8-8942-5DC5075A60C5}"/>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E3CE0176-C98D-45A7-AACB-4DF0ECE3A221}"/>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C838D7EA-0F5A-4629-B8C4-A12910A82E73}"/>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07F5B271-C1B5-4CD1-97E6-AE24A545A4D7}"/>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CDE893FE-7FE8-4F8B-B50B-2C9ACBA3B145}"/>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2" name="object-12">
            <a:extLst>
              <a:ext uri="{FF2B5EF4-FFF2-40B4-BE49-F238E27FC236}">
                <a16:creationId xmlns:a16="http://schemas.microsoft.com/office/drawing/2014/main" id="{11360E25-AC95-4B46-ABE5-85793F35B005}"/>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3" name="object-13">
            <a:extLst>
              <a:ext uri="{FF2B5EF4-FFF2-40B4-BE49-F238E27FC236}">
                <a16:creationId xmlns:a16="http://schemas.microsoft.com/office/drawing/2014/main" id="{0A473575-14B8-4C59-8D6B-62DCC49CE773}"/>
              </a:ext>
            </a:extLst>
          </p:cNvPr>
          <p:cNvSpPr>
            <a:spLocks noGrp="1"/>
          </p:cNvSpPr>
          <p:nvPr/>
        </p:nvSpPr>
        <p:spPr>
          <a:xfrm>
            <a:off x="1666875" y="3405188"/>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4" name="object-14">
            <a:extLst>
              <a:ext uri="{FF2B5EF4-FFF2-40B4-BE49-F238E27FC236}">
                <a16:creationId xmlns:a16="http://schemas.microsoft.com/office/drawing/2014/main" id="{4E7D79EC-11C2-40BA-9B5B-AC8B7F733FF3}"/>
              </a:ext>
            </a:extLst>
          </p:cNvPr>
          <p:cNvSpPr>
            <a:spLocks noGrp="1"/>
          </p:cNvSpPr>
          <p:nvPr/>
        </p:nvSpPr>
        <p:spPr>
          <a:xfrm>
            <a:off x="1666875" y="320278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5" name="object-15">
            <a:extLst>
              <a:ext uri="{FF2B5EF4-FFF2-40B4-BE49-F238E27FC236}">
                <a16:creationId xmlns:a16="http://schemas.microsoft.com/office/drawing/2014/main" id="{89D73013-A091-4411-862B-5913DB0259F1}"/>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6" name="object-16">
            <a:extLst>
              <a:ext uri="{FF2B5EF4-FFF2-40B4-BE49-F238E27FC236}">
                <a16:creationId xmlns:a16="http://schemas.microsoft.com/office/drawing/2014/main" id="{67C00C3B-54BB-4B7E-8134-8BD05B7C3061}"/>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7 cm</a:t>
            </a:r>
          </a:p>
        </p:txBody>
      </p:sp>
      <p:sp>
        <p:nvSpPr>
          <p:cNvPr id="17" name="object-17">
            <a:extLst>
              <a:ext uri="{FF2B5EF4-FFF2-40B4-BE49-F238E27FC236}">
                <a16:creationId xmlns:a16="http://schemas.microsoft.com/office/drawing/2014/main" id="{07DB49B3-01CA-4FD9-B701-3AA80AB381F1}"/>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7 = 84 cm² per layer</a:t>
            </a:r>
          </a:p>
        </p:txBody>
      </p:sp>
      <p:sp>
        <p:nvSpPr>
          <p:cNvPr id="18" name="object-18">
            <a:extLst>
              <a:ext uri="{FF2B5EF4-FFF2-40B4-BE49-F238E27FC236}">
                <a16:creationId xmlns:a16="http://schemas.microsoft.com/office/drawing/2014/main" id="{DB8BD5A9-8483-4217-8A8D-A7C56BDAF9DB}"/>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756 ÷ 84 = 9 cm</a:t>
            </a:r>
          </a:p>
        </p:txBody>
      </p:sp>
    </p:spTree>
    <p:extLst>
      <p:ext uri="{BB962C8B-B14F-4D97-AF65-F5344CB8AC3E}">
        <p14:creationId xmlns:p14="http://schemas.microsoft.com/office/powerpoint/2010/main" val="673407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object-1">
            <a:extLst>
              <a:ext uri="{FF2B5EF4-FFF2-40B4-BE49-F238E27FC236}">
                <a16:creationId xmlns:a16="http://schemas.microsoft.com/office/drawing/2014/main" id="{B64F9919-8688-4083-B8F8-E9F05D98E9B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138EB43-8E0A-4862-BED6-CCAC0F85E18E}"/>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9308C00A-5A68-4C0F-A5EA-6C7DB10D45A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Volume 840 cm³, length 12 cm, width 7 cm. Find the height.</a:t>
            </a:r>
          </a:p>
        </p:txBody>
      </p:sp>
      <p:sp>
        <p:nvSpPr>
          <p:cNvPr id="4" name="object-4">
            <a:extLst>
              <a:ext uri="{FF2B5EF4-FFF2-40B4-BE49-F238E27FC236}">
                <a16:creationId xmlns:a16="http://schemas.microsoft.com/office/drawing/2014/main" id="{A05949D4-E3BD-4D15-A3BE-D4F82BE9B6F5}"/>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FE2DFD60-9CEF-49D2-A8ED-C102C2918C4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transition</a:t>
            </a:r>
          </a:p>
        </p:txBody>
      </p:sp>
      <p:sp>
        <p:nvSpPr>
          <p:cNvPr id="6" name="object-6">
            <a:extLst>
              <a:ext uri="{FF2B5EF4-FFF2-40B4-BE49-F238E27FC236}">
                <a16:creationId xmlns:a16="http://schemas.microsoft.com/office/drawing/2014/main" id="{B6A02F39-9F67-4CB2-AFD7-76C8AC26A96B}"/>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90E65C56-EF7F-49D2-AC44-9035D8A969A9}"/>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628FCFEB-2927-4B93-A1C5-E3A9E54483B1}"/>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0049B6B8-2CEA-49B0-BCA7-53EB305B4FF0}"/>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526A3ED2-782E-45AE-B541-2E5990153029}"/>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E2902442-9990-45D9-9286-2631A7557272}"/>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4ABB7797-EB7A-4334-8F44-89D993B2A762}"/>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D2C99485-3788-43B6-82BF-167AF92A6157}"/>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4" name="object-14">
            <a:extLst>
              <a:ext uri="{FF2B5EF4-FFF2-40B4-BE49-F238E27FC236}">
                <a16:creationId xmlns:a16="http://schemas.microsoft.com/office/drawing/2014/main" id="{71BED2C0-12D7-4E07-ACAA-D1129A3CF172}"/>
              </a:ext>
            </a:extLst>
          </p:cNvPr>
          <p:cNvSpPr>
            <a:spLocks noGrp="1"/>
          </p:cNvSpPr>
          <p:nvPr/>
        </p:nvSpPr>
        <p:spPr>
          <a:xfrm>
            <a:off x="1666875" y="3405188"/>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5" name="object-15">
            <a:extLst>
              <a:ext uri="{FF2B5EF4-FFF2-40B4-BE49-F238E27FC236}">
                <a16:creationId xmlns:a16="http://schemas.microsoft.com/office/drawing/2014/main" id="{9B7C2368-8A7B-4785-8D45-12D46C90466A}"/>
              </a:ext>
            </a:extLst>
          </p:cNvPr>
          <p:cNvSpPr>
            <a:spLocks noGrp="1"/>
          </p:cNvSpPr>
          <p:nvPr/>
        </p:nvSpPr>
        <p:spPr>
          <a:xfrm>
            <a:off x="1666875" y="320278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6" name="object-16">
            <a:extLst>
              <a:ext uri="{FF2B5EF4-FFF2-40B4-BE49-F238E27FC236}">
                <a16:creationId xmlns:a16="http://schemas.microsoft.com/office/drawing/2014/main" id="{55C7EA08-D028-4532-970B-E1684404EFA8}"/>
              </a:ext>
            </a:extLst>
          </p:cNvPr>
          <p:cNvSpPr>
            <a:spLocks noGrp="1"/>
          </p:cNvSpPr>
          <p:nvPr/>
        </p:nvSpPr>
        <p:spPr>
          <a:xfrm>
            <a:off x="1666875" y="300037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7" name="object-17">
            <a:extLst>
              <a:ext uri="{FF2B5EF4-FFF2-40B4-BE49-F238E27FC236}">
                <a16:creationId xmlns:a16="http://schemas.microsoft.com/office/drawing/2014/main" id="{225D9423-7BE7-44B7-8358-D15FA5E6EF39}"/>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8" name="object-18">
            <a:extLst>
              <a:ext uri="{FF2B5EF4-FFF2-40B4-BE49-F238E27FC236}">
                <a16:creationId xmlns:a16="http://schemas.microsoft.com/office/drawing/2014/main" id="{BE501D67-BBF6-4FEB-BF90-B93F3B453AFF}"/>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7 cm</a:t>
            </a:r>
          </a:p>
        </p:txBody>
      </p:sp>
      <p:sp>
        <p:nvSpPr>
          <p:cNvPr id="19" name="object-19">
            <a:extLst>
              <a:ext uri="{FF2B5EF4-FFF2-40B4-BE49-F238E27FC236}">
                <a16:creationId xmlns:a16="http://schemas.microsoft.com/office/drawing/2014/main" id="{49EC712A-A5C2-4CC1-AE19-D54F5DD94402}"/>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7 = 84 cm² per layer</a:t>
            </a:r>
          </a:p>
        </p:txBody>
      </p:sp>
      <p:sp>
        <p:nvSpPr>
          <p:cNvPr id="20" name="object-20">
            <a:extLst>
              <a:ext uri="{FF2B5EF4-FFF2-40B4-BE49-F238E27FC236}">
                <a16:creationId xmlns:a16="http://schemas.microsoft.com/office/drawing/2014/main" id="{1B44DA73-36D3-4D2F-A7CE-0D92492E88B4}"/>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840 ÷ 84 = 10 cm</a:t>
            </a:r>
          </a:p>
        </p:txBody>
      </p:sp>
    </p:spTree>
    <p:extLst>
      <p:ext uri="{BB962C8B-B14F-4D97-AF65-F5344CB8AC3E}">
        <p14:creationId xmlns:p14="http://schemas.microsoft.com/office/powerpoint/2010/main" val="2106656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object-1">
            <a:extLst>
              <a:ext uri="{FF2B5EF4-FFF2-40B4-BE49-F238E27FC236}">
                <a16:creationId xmlns:a16="http://schemas.microsoft.com/office/drawing/2014/main" id="{45D81C35-5F34-45F1-99BC-EDA5F69BDA4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905181E7-3D1C-40BA-933E-78651D8F473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Volume 924 cm³, length 12 cm, width 7 cm. Find the height.</a:t>
            </a:r>
          </a:p>
        </p:txBody>
      </p:sp>
      <p:sp>
        <p:nvSpPr>
          <p:cNvPr id="3" name="object-3">
            <a:extLst>
              <a:ext uri="{FF2B5EF4-FFF2-40B4-BE49-F238E27FC236}">
                <a16:creationId xmlns:a16="http://schemas.microsoft.com/office/drawing/2014/main" id="{E586709E-F502-4C73-B592-82E33AE81CCE}"/>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415EFF3-0D1D-4DFA-B28C-36DC32DAB5B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transition</a:t>
            </a:r>
          </a:p>
        </p:txBody>
      </p:sp>
      <p:sp>
        <p:nvSpPr>
          <p:cNvPr id="5" name="object-5">
            <a:extLst>
              <a:ext uri="{FF2B5EF4-FFF2-40B4-BE49-F238E27FC236}">
                <a16:creationId xmlns:a16="http://schemas.microsoft.com/office/drawing/2014/main" id="{C7349C5A-6EAB-4B0B-84A8-4A7063A0E04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1F1D8C09-3010-408E-8E7B-84FAC84A00DB}"/>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E2FE9BB9-9F75-4408-B26C-603D5ADE1AD5}"/>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CBAF6EE5-6797-4B31-948F-746FDA7D6A5B}"/>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3F2C4065-5F3B-42EE-8680-DCE7E9C15397}"/>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B78D25FF-8275-4508-8FF5-67EBF2DDB6DE}"/>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CBD86EF3-D842-4156-911A-D9071C0809B6}"/>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2" name="object-12">
            <a:extLst>
              <a:ext uri="{FF2B5EF4-FFF2-40B4-BE49-F238E27FC236}">
                <a16:creationId xmlns:a16="http://schemas.microsoft.com/office/drawing/2014/main" id="{AD62B284-2745-4E3C-9DB3-735B6D5E133D}"/>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3" name="object-13">
            <a:extLst>
              <a:ext uri="{FF2B5EF4-FFF2-40B4-BE49-F238E27FC236}">
                <a16:creationId xmlns:a16="http://schemas.microsoft.com/office/drawing/2014/main" id="{BD166BAE-BEE4-4DFA-9BD3-5E18A2215E9E}"/>
              </a:ext>
            </a:extLst>
          </p:cNvPr>
          <p:cNvSpPr>
            <a:spLocks noGrp="1"/>
          </p:cNvSpPr>
          <p:nvPr/>
        </p:nvSpPr>
        <p:spPr>
          <a:xfrm>
            <a:off x="1666875" y="3405188"/>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4" name="object-14">
            <a:extLst>
              <a:ext uri="{FF2B5EF4-FFF2-40B4-BE49-F238E27FC236}">
                <a16:creationId xmlns:a16="http://schemas.microsoft.com/office/drawing/2014/main" id="{BF02CC07-BB27-43E1-8371-77CD3F208A14}"/>
              </a:ext>
            </a:extLst>
          </p:cNvPr>
          <p:cNvSpPr>
            <a:spLocks noGrp="1"/>
          </p:cNvSpPr>
          <p:nvPr/>
        </p:nvSpPr>
        <p:spPr>
          <a:xfrm>
            <a:off x="1666875" y="320278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5" name="object-15">
            <a:extLst>
              <a:ext uri="{FF2B5EF4-FFF2-40B4-BE49-F238E27FC236}">
                <a16:creationId xmlns:a16="http://schemas.microsoft.com/office/drawing/2014/main" id="{DFA64E70-6F1D-46CB-936D-08A49BC731A8}"/>
              </a:ext>
            </a:extLst>
          </p:cNvPr>
          <p:cNvSpPr>
            <a:spLocks noGrp="1"/>
          </p:cNvSpPr>
          <p:nvPr/>
        </p:nvSpPr>
        <p:spPr>
          <a:xfrm>
            <a:off x="1666875" y="300037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6" name="object-16">
            <a:extLst>
              <a:ext uri="{FF2B5EF4-FFF2-40B4-BE49-F238E27FC236}">
                <a16:creationId xmlns:a16="http://schemas.microsoft.com/office/drawing/2014/main" id="{DBF6BD73-805F-4E9D-8A09-694E4A228C02}"/>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7" name="object-17">
            <a:extLst>
              <a:ext uri="{FF2B5EF4-FFF2-40B4-BE49-F238E27FC236}">
                <a16:creationId xmlns:a16="http://schemas.microsoft.com/office/drawing/2014/main" id="{067C4E1C-1A61-4596-B06A-8433C429713B}"/>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7 cm</a:t>
            </a:r>
          </a:p>
        </p:txBody>
      </p:sp>
      <p:sp>
        <p:nvSpPr>
          <p:cNvPr id="18" name="object-18">
            <a:extLst>
              <a:ext uri="{FF2B5EF4-FFF2-40B4-BE49-F238E27FC236}">
                <a16:creationId xmlns:a16="http://schemas.microsoft.com/office/drawing/2014/main" id="{CBBFFE70-2AAB-4149-B0CE-E5C513E20BBF}"/>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7 = 84 cm² per layer</a:t>
            </a:r>
          </a:p>
        </p:txBody>
      </p:sp>
      <p:sp>
        <p:nvSpPr>
          <p:cNvPr id="19" name="object-19">
            <a:extLst>
              <a:ext uri="{FF2B5EF4-FFF2-40B4-BE49-F238E27FC236}">
                <a16:creationId xmlns:a16="http://schemas.microsoft.com/office/drawing/2014/main" id="{F98B8EDD-1545-48A3-9709-414B06DAC15F}"/>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924 ÷ 84 = 11 cm</a:t>
            </a:r>
          </a:p>
        </p:txBody>
      </p:sp>
    </p:spTree>
    <p:extLst>
      <p:ext uri="{BB962C8B-B14F-4D97-AF65-F5344CB8AC3E}">
        <p14:creationId xmlns:p14="http://schemas.microsoft.com/office/powerpoint/2010/main" val="542502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object-1">
            <a:extLst>
              <a:ext uri="{FF2B5EF4-FFF2-40B4-BE49-F238E27FC236}">
                <a16:creationId xmlns:a16="http://schemas.microsoft.com/office/drawing/2014/main" id="{C5AF5FFD-E389-44BA-862E-B3923338AFA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E98E25D6-AC05-4396-A82E-A21BDA6F0E5C}"/>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E8F109CA-7F2C-4D3F-9EDA-FE1AA7AF4FE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Volume 1008 cm³, length 12 cm, width 7 cm. Find the height.</a:t>
            </a:r>
          </a:p>
        </p:txBody>
      </p:sp>
      <p:sp>
        <p:nvSpPr>
          <p:cNvPr id="4" name="object-4">
            <a:extLst>
              <a:ext uri="{FF2B5EF4-FFF2-40B4-BE49-F238E27FC236}">
                <a16:creationId xmlns:a16="http://schemas.microsoft.com/office/drawing/2014/main" id="{0F64B53A-603E-4DAA-BD1E-44F4D3C9B375}"/>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0BB8B218-6CFB-4726-8C5D-ADC2417CD1B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transition</a:t>
            </a:r>
          </a:p>
        </p:txBody>
      </p:sp>
      <p:sp>
        <p:nvSpPr>
          <p:cNvPr id="6" name="object-6">
            <a:extLst>
              <a:ext uri="{FF2B5EF4-FFF2-40B4-BE49-F238E27FC236}">
                <a16:creationId xmlns:a16="http://schemas.microsoft.com/office/drawing/2014/main" id="{5165F940-3E9C-464C-9CCD-63602227930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88536D55-C1C3-429D-BC8B-56927C3CC8DF}"/>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0917E813-AB03-4880-B972-C49CC402131C}"/>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3AE33AA2-59BB-4CCC-BDAC-651507B5323F}"/>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79A7EF68-3983-4045-A935-90B330AC78BB}"/>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6386983A-1CCD-4CEC-BD6B-BC84D786C91F}"/>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A4CB817C-0D9C-423F-8AB1-3312C2938AEA}"/>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2658D239-A641-47FD-B7CC-0C0FE2E4C9CF}"/>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4" name="object-14">
            <a:extLst>
              <a:ext uri="{FF2B5EF4-FFF2-40B4-BE49-F238E27FC236}">
                <a16:creationId xmlns:a16="http://schemas.microsoft.com/office/drawing/2014/main" id="{DA4106A5-013E-4500-B224-7EDC1B32A8E0}"/>
              </a:ext>
            </a:extLst>
          </p:cNvPr>
          <p:cNvSpPr>
            <a:spLocks noGrp="1"/>
          </p:cNvSpPr>
          <p:nvPr/>
        </p:nvSpPr>
        <p:spPr>
          <a:xfrm>
            <a:off x="1666875" y="3405188"/>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5" name="object-15">
            <a:extLst>
              <a:ext uri="{FF2B5EF4-FFF2-40B4-BE49-F238E27FC236}">
                <a16:creationId xmlns:a16="http://schemas.microsoft.com/office/drawing/2014/main" id="{C013231D-E681-4BD3-8A75-FCAE755CD16D}"/>
              </a:ext>
            </a:extLst>
          </p:cNvPr>
          <p:cNvSpPr>
            <a:spLocks noGrp="1"/>
          </p:cNvSpPr>
          <p:nvPr/>
        </p:nvSpPr>
        <p:spPr>
          <a:xfrm>
            <a:off x="1666875" y="320278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6" name="object-16">
            <a:extLst>
              <a:ext uri="{FF2B5EF4-FFF2-40B4-BE49-F238E27FC236}">
                <a16:creationId xmlns:a16="http://schemas.microsoft.com/office/drawing/2014/main" id="{7C588FEB-CC24-4DE9-B712-246B969B5863}"/>
              </a:ext>
            </a:extLst>
          </p:cNvPr>
          <p:cNvSpPr>
            <a:spLocks noGrp="1"/>
          </p:cNvSpPr>
          <p:nvPr/>
        </p:nvSpPr>
        <p:spPr>
          <a:xfrm>
            <a:off x="1666875" y="300037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7" name="object-17">
            <a:extLst>
              <a:ext uri="{FF2B5EF4-FFF2-40B4-BE49-F238E27FC236}">
                <a16:creationId xmlns:a16="http://schemas.microsoft.com/office/drawing/2014/main" id="{E7377847-2984-4505-98A1-811BD4FCA7E8}"/>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8" name="object-18">
            <a:extLst>
              <a:ext uri="{FF2B5EF4-FFF2-40B4-BE49-F238E27FC236}">
                <a16:creationId xmlns:a16="http://schemas.microsoft.com/office/drawing/2014/main" id="{9C91765A-8136-4358-A3D2-B5AC6DFBFE0B}"/>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7 cm</a:t>
            </a:r>
          </a:p>
        </p:txBody>
      </p:sp>
      <p:sp>
        <p:nvSpPr>
          <p:cNvPr id="19" name="object-19">
            <a:extLst>
              <a:ext uri="{FF2B5EF4-FFF2-40B4-BE49-F238E27FC236}">
                <a16:creationId xmlns:a16="http://schemas.microsoft.com/office/drawing/2014/main" id="{A0582A8F-5D0A-4617-A43C-B60F50E657C9}"/>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7 = 84 cm² per layer</a:t>
            </a:r>
          </a:p>
        </p:txBody>
      </p:sp>
      <p:sp>
        <p:nvSpPr>
          <p:cNvPr id="20" name="object-20">
            <a:extLst>
              <a:ext uri="{FF2B5EF4-FFF2-40B4-BE49-F238E27FC236}">
                <a16:creationId xmlns:a16="http://schemas.microsoft.com/office/drawing/2014/main" id="{37CF6078-4158-47F2-8512-2733B039BD2C}"/>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1008 ÷ 84 = 12 cm</a:t>
            </a:r>
          </a:p>
        </p:txBody>
      </p:sp>
    </p:spTree>
    <p:extLst>
      <p:ext uri="{BB962C8B-B14F-4D97-AF65-F5344CB8AC3E}">
        <p14:creationId xmlns:p14="http://schemas.microsoft.com/office/powerpoint/2010/main" val="1735097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D826A38E-5CA4-4EFF-A8D7-EBA1723C058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CA06B52-C5AB-426F-BAD9-7C691143F4B3}"/>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77B0526A-D79E-4FC4-8114-258217EC3FA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0FDA9994-47C5-42F6-BA22-0F13186DAB7F}"/>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9103C76E-D966-4894-A016-9F14F7E45BA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transition</a:t>
            </a:r>
          </a:p>
        </p:txBody>
      </p:sp>
      <p:sp>
        <p:nvSpPr>
          <p:cNvPr id="6" name="object-6">
            <a:extLst>
              <a:ext uri="{FF2B5EF4-FFF2-40B4-BE49-F238E27FC236}">
                <a16:creationId xmlns:a16="http://schemas.microsoft.com/office/drawing/2014/main" id="{38295480-DD7E-4A0A-9343-FBA3114590C4}"/>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E077CAA4-2B8F-4FE4-98B9-33775F292F42}"/>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3FB4A94D-C311-414B-93E7-1517C7F94874}"/>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cuboid has volume 756 cm3, length 12 cm and width 7 cm. Find its height.</a:t>
            </a:r>
          </a:p>
        </p:txBody>
      </p:sp>
      <p:sp>
        <p:nvSpPr>
          <p:cNvPr id="9" name="object-9">
            <a:extLst>
              <a:ext uri="{FF2B5EF4-FFF2-40B4-BE49-F238E27FC236}">
                <a16:creationId xmlns:a16="http://schemas.microsoft.com/office/drawing/2014/main" id="{AC76AF7A-FF47-43C3-94F3-015918C342B5}"/>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B10AAB81-FE9B-47E2-A16A-AAF397AC7114}"/>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2 1/4 divided by 3, then write the answer as a decimal.</a:t>
            </a:r>
          </a:p>
        </p:txBody>
      </p:sp>
      <p:sp>
        <p:nvSpPr>
          <p:cNvPr id="11" name="object-11">
            <a:extLst>
              <a:ext uri="{FF2B5EF4-FFF2-40B4-BE49-F238E27FC236}">
                <a16:creationId xmlns:a16="http://schemas.microsoft.com/office/drawing/2014/main" id="{043C83E6-9D84-4FCE-A36B-4760C47C7FC9}"/>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DE79ED57-B59F-4BCA-A834-A0DB3C1122E0}"/>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5x + 8 = 73 and convert 3.45 km to metres.</a:t>
            </a:r>
          </a:p>
        </p:txBody>
      </p:sp>
      <p:sp>
        <p:nvSpPr>
          <p:cNvPr id="13" name="object-13">
            <a:extLst>
              <a:ext uri="{FF2B5EF4-FFF2-40B4-BE49-F238E27FC236}">
                <a16:creationId xmlns:a16="http://schemas.microsoft.com/office/drawing/2014/main" id="{8241D1CC-CE56-4788-86F2-D4B244DD80B8}"/>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8B383B73-3141-4BF1-B007-4A9175A1AE48}"/>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A cuboid has volume 756 cm3, length 12 cm and width 7 cm. Find its height.</a:t>
            </a:r>
          </a:p>
        </p:txBody>
      </p:sp>
      <p:sp>
        <p:nvSpPr>
          <p:cNvPr id="15" name="object-15">
            <a:extLst>
              <a:ext uri="{FF2B5EF4-FFF2-40B4-BE49-F238E27FC236}">
                <a16:creationId xmlns:a16="http://schemas.microsoft.com/office/drawing/2014/main" id="{46ACA3BB-538F-4F7A-9028-738D1A4063A1}"/>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6FC7C306-6496-443A-84C7-CDE0BFBFCFA3}"/>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Calculate 2 1/4 divided by 3, then write the answer as a decimal.</a:t>
            </a:r>
          </a:p>
        </p:txBody>
      </p:sp>
      <p:sp>
        <p:nvSpPr>
          <p:cNvPr id="17" name="object-17">
            <a:extLst>
              <a:ext uri="{FF2B5EF4-FFF2-40B4-BE49-F238E27FC236}">
                <a16:creationId xmlns:a16="http://schemas.microsoft.com/office/drawing/2014/main" id="{5C2830FE-D26D-4410-9015-198F4AE40843}"/>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890C0040-29C5-4D93-802E-DD549864A130}"/>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Solve 5x + 8 = 73 and convert 3.45 km to metres.</a:t>
            </a:r>
          </a:p>
        </p:txBody>
      </p:sp>
      <p:sp>
        <p:nvSpPr>
          <p:cNvPr id="19" name="object-19">
            <a:extLst>
              <a:ext uri="{FF2B5EF4-FFF2-40B4-BE49-F238E27FC236}">
                <a16:creationId xmlns:a16="http://schemas.microsoft.com/office/drawing/2014/main" id="{3961FA52-93E4-4F63-BC5A-E557763F05B3}"/>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EA42021B-BAEC-4EB8-9E04-D0F8462F3A48}"/>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Find the area of a triangle with base 18 cm and height 11 cm, then find the mean of 18, 22, 25 and 15.</a:t>
            </a:r>
          </a:p>
        </p:txBody>
      </p:sp>
      <p:sp>
        <p:nvSpPr>
          <p:cNvPr id="21" name="object-21">
            <a:extLst>
              <a:ext uri="{FF2B5EF4-FFF2-40B4-BE49-F238E27FC236}">
                <a16:creationId xmlns:a16="http://schemas.microsoft.com/office/drawing/2014/main" id="{1CA3F03C-08CA-45B4-94FD-2DC64F93D2B8}"/>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0870E735-72D6-4AA0-900C-F2F0491312D4}"/>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records a general target such as 'get better at maths'.</a:t>
            </a:r>
          </a:p>
        </p:txBody>
      </p:sp>
      <p:sp>
        <p:nvSpPr>
          <p:cNvPr id="23" name="object-23">
            <a:extLst>
              <a:ext uri="{FF2B5EF4-FFF2-40B4-BE49-F238E27FC236}">
                <a16:creationId xmlns:a16="http://schemas.microsoft.com/office/drawing/2014/main" id="{D1B5CA44-326A-4B8A-A35A-AB8C830F7B42}"/>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9B0C819B-BC43-4191-8B00-2A91AF8D5327}"/>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64AE19B7-A404-4D14-8B0F-15D9E6805E7D}"/>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5BE19F58-F006-4668-89C5-1CA3D9C88269}"/>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Solve 5x + 8 = 73 and convert 3.45 km to metres.</a:t>
            </a:r>
          </a:p>
        </p:txBody>
      </p:sp>
    </p:spTree>
    <p:extLst>
      <p:ext uri="{BB962C8B-B14F-4D97-AF65-F5344CB8AC3E}">
        <p14:creationId xmlns:p14="http://schemas.microsoft.com/office/powerpoint/2010/main" val="5681072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26C65811-D8D8-41E0-AD77-65B33EAFB2A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0AF588CE-D4D4-40BB-AFE5-7E3F3722EC7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62E23A08-5927-4E49-8E1F-379441293930}"/>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DFDBD17B-8B92-48C1-BD24-92220670C7F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transition</a:t>
            </a:r>
          </a:p>
        </p:txBody>
      </p:sp>
      <p:sp>
        <p:nvSpPr>
          <p:cNvPr id="5" name="object-5">
            <a:extLst>
              <a:ext uri="{FF2B5EF4-FFF2-40B4-BE49-F238E27FC236}">
                <a16:creationId xmlns:a16="http://schemas.microsoft.com/office/drawing/2014/main" id="{81472CB2-8D9D-4CD1-975E-D90D1062497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075DB78A-3253-4D26-987F-AC4929D7EC61}"/>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4C57F0B2-5C22-434A-8142-760B351C4907}"/>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9 cm.</a:t>
            </a:r>
          </a:p>
        </p:txBody>
      </p:sp>
      <p:sp>
        <p:nvSpPr>
          <p:cNvPr id="8" name="object-8">
            <a:extLst>
              <a:ext uri="{FF2B5EF4-FFF2-40B4-BE49-F238E27FC236}">
                <a16:creationId xmlns:a16="http://schemas.microsoft.com/office/drawing/2014/main" id="{A91AE473-F24C-4E0E-A312-C8810F28AE3C}"/>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A4C91F58-7F93-4E65-94A7-C1A46D132B3B}"/>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3/4 or 0.75.</a:t>
            </a:r>
          </a:p>
        </p:txBody>
      </p:sp>
      <p:sp>
        <p:nvSpPr>
          <p:cNvPr id="10" name="object-10">
            <a:extLst>
              <a:ext uri="{FF2B5EF4-FFF2-40B4-BE49-F238E27FC236}">
                <a16:creationId xmlns:a16="http://schemas.microsoft.com/office/drawing/2014/main" id="{C1E5B4E0-BA00-4AF2-B4BB-CC52EA914493}"/>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2EE1BC96-E580-4615-B545-E026445E4689}"/>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x = 13 and 3,450 m.</a:t>
            </a:r>
          </a:p>
        </p:txBody>
      </p:sp>
      <p:sp>
        <p:nvSpPr>
          <p:cNvPr id="12" name="object-12">
            <a:extLst>
              <a:ext uri="{FF2B5EF4-FFF2-40B4-BE49-F238E27FC236}">
                <a16:creationId xmlns:a16="http://schemas.microsoft.com/office/drawing/2014/main" id="{2C7FB41B-4867-4736-BBAB-8054CB853F35}"/>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64CF5480-CD02-4822-9BF8-0D894019AAF2}"/>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9 cm.</a:t>
            </a:r>
          </a:p>
        </p:txBody>
      </p:sp>
      <p:sp>
        <p:nvSpPr>
          <p:cNvPr id="14" name="object-14">
            <a:extLst>
              <a:ext uri="{FF2B5EF4-FFF2-40B4-BE49-F238E27FC236}">
                <a16:creationId xmlns:a16="http://schemas.microsoft.com/office/drawing/2014/main" id="{D1EBFFDC-BBA7-4D9C-93EE-461B655D1D87}"/>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07C0CCD8-2436-49BA-9E52-94458123BE33}"/>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3/4 or 0.75. Method or representation may vary.</a:t>
            </a:r>
          </a:p>
        </p:txBody>
      </p:sp>
      <p:sp>
        <p:nvSpPr>
          <p:cNvPr id="16" name="object-16">
            <a:extLst>
              <a:ext uri="{FF2B5EF4-FFF2-40B4-BE49-F238E27FC236}">
                <a16:creationId xmlns:a16="http://schemas.microsoft.com/office/drawing/2014/main" id="{F993FC53-67D2-4DBE-9C68-778FC7F1677D}"/>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E83E76C6-F5E1-44B8-85DC-C6186DBD36AB}"/>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x = 13 and 3,450 m. A valid check must be shown.</a:t>
            </a:r>
          </a:p>
        </p:txBody>
      </p:sp>
      <p:sp>
        <p:nvSpPr>
          <p:cNvPr id="18" name="object-18">
            <a:extLst>
              <a:ext uri="{FF2B5EF4-FFF2-40B4-BE49-F238E27FC236}">
                <a16:creationId xmlns:a16="http://schemas.microsoft.com/office/drawing/2014/main" id="{A09BCA65-0303-4EDA-BE36-F0B96469BDF2}"/>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20D3222A-A306-4419-A159-8F59CAA11044}"/>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99 cm2 and 20. The explanation must show why the method works.</a:t>
            </a:r>
          </a:p>
        </p:txBody>
      </p:sp>
      <p:sp>
        <p:nvSpPr>
          <p:cNvPr id="20" name="object-20">
            <a:extLst>
              <a:ext uri="{FF2B5EF4-FFF2-40B4-BE49-F238E27FC236}">
                <a16:creationId xmlns:a16="http://schemas.microsoft.com/office/drawing/2014/main" id="{77C9CB7A-E44C-4FDD-B41F-7A7191AD07F2}"/>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6F5622F6-E2E8-43A4-815A-D199BAA0A963}"/>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Use assessment evidence to name the exact concept, method, example and support required next.</a:t>
            </a:r>
          </a:p>
        </p:txBody>
      </p:sp>
      <p:sp>
        <p:nvSpPr>
          <p:cNvPr id="22" name="object-22">
            <a:extLst>
              <a:ext uri="{FF2B5EF4-FFF2-40B4-BE49-F238E27FC236}">
                <a16:creationId xmlns:a16="http://schemas.microsoft.com/office/drawing/2014/main" id="{068A182B-17DF-464E-91C2-58B61516E6A0}"/>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B30D9901-AA62-4E9A-A205-E3380EE382D7}"/>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C5567390-D5AF-4A77-A4DF-65F3948445D1}"/>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D79D8B1C-93DB-4A7F-83AD-F9AB5D1E67C1}"/>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69197692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1041</Words>
  <Application>Microsoft Office PowerPoint</Application>
  <DocSecurity>0</DocSecurity>
  <PresentationFormat>Custom</PresentationFormat>
  <Paragraphs>102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2026-09-14T13:14:40Z</dcterms:created>
  <dcterms:modified xsi:type="dcterms:W3CDTF">2026-09-14T13:18:19Z</dcterms:modified>
</cp:coreProperties>
</file>