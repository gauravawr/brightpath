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e4588236d02453a" /><Relationship Type="http://schemas.openxmlformats.org/officeDocument/2006/relationships/extended-properties" Target="/docProps/app.xml" Id="Ra52dac73598744e8" /><Relationship Type="http://schemas.openxmlformats.org/officeDocument/2006/relationships/officeDocument" Target="/ppt/presentation.xml" Id="Re5db5e7d8079474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0cb26e7e3884551"/>
  </p:sldMasterIdLst>
  <p:notesMasterIdLst>
    <p:notesMasterId xmlns:r="http://schemas.openxmlformats.org/officeDocument/2006/relationships" r:id="R3b04a05f33af4820"/>
  </p:notesMasterIdLst>
  <p:sldIdLst>
    <p:sldId xmlns:r="http://schemas.openxmlformats.org/officeDocument/2006/relationships" id="256" r:id="Re72a7c18ec6b41a8"/>
    <p:sldId xmlns:r="http://schemas.openxmlformats.org/officeDocument/2006/relationships" id="257" r:id="Rdaaf125c9ec44636"/>
    <p:sldId xmlns:r="http://schemas.openxmlformats.org/officeDocument/2006/relationships" id="258" r:id="Rbd807520b05f47d1"/>
    <p:sldId xmlns:r="http://schemas.openxmlformats.org/officeDocument/2006/relationships" id="259" r:id="R01da8d01de5d4f94"/>
    <p:sldId xmlns:r="http://schemas.openxmlformats.org/officeDocument/2006/relationships" id="260" r:id="Rf9d7982755e14662"/>
    <p:sldId xmlns:r="http://schemas.openxmlformats.org/officeDocument/2006/relationships" id="261" r:id="R0d2367b62712486e"/>
    <p:sldId xmlns:r="http://schemas.openxmlformats.org/officeDocument/2006/relationships" id="262" r:id="R9a4ddff51f4d4609"/>
    <p:sldId xmlns:r="http://schemas.openxmlformats.org/officeDocument/2006/relationships" id="263" r:id="Rd252a5b2ed6347c9"/>
    <p:sldId xmlns:r="http://schemas.openxmlformats.org/officeDocument/2006/relationships" id="264" r:id="R0763402b4ca04a59"/>
    <p:sldId xmlns:r="http://schemas.openxmlformats.org/officeDocument/2006/relationships" id="265" r:id="R30577e5034f34fd6"/>
    <p:sldId xmlns:r="http://schemas.openxmlformats.org/officeDocument/2006/relationships" id="266" r:id="R404db1bad6ca448d"/>
    <p:sldId xmlns:r="http://schemas.openxmlformats.org/officeDocument/2006/relationships" id="267" r:id="R3720926913f4450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9a746a3f6d244a5" /><Relationship Type="http://schemas.openxmlformats.org/officeDocument/2006/relationships/slideMaster" Target="/ppt/slideMasters/slideMaster1.xml" Id="R00cb26e7e3884551" /><Relationship Type="http://schemas.openxmlformats.org/officeDocument/2006/relationships/notesMaster" Target="/ppt/notesMasters/notesMaster1.xml" Id="R3b04a05f33af4820" /><Relationship Type="http://schemas.openxmlformats.org/officeDocument/2006/relationships/presProps" Target="/ppt/presProps.xml" Id="Rbc44e4e811fa494e" /><Relationship Type="http://schemas.openxmlformats.org/officeDocument/2006/relationships/tableStyles" Target="/ppt/tableStyles.xml" Id="R80d55d471d9e43a8" /><Relationship Type="http://schemas.openxmlformats.org/officeDocument/2006/relationships/slide" Target="/ppt/slides/slide1.xml" Id="Re72a7c18ec6b41a8" /><Relationship Type="http://schemas.openxmlformats.org/officeDocument/2006/relationships/slide" Target="/ppt/slides/slide2.xml" Id="Rdaaf125c9ec44636" /><Relationship Type="http://schemas.openxmlformats.org/officeDocument/2006/relationships/slide" Target="/ppt/slides/slide3.xml" Id="Rbd807520b05f47d1" /><Relationship Type="http://schemas.openxmlformats.org/officeDocument/2006/relationships/slide" Target="/ppt/slides/slide4.xml" Id="R01da8d01de5d4f94" /><Relationship Type="http://schemas.openxmlformats.org/officeDocument/2006/relationships/slide" Target="/ppt/slides/slide5.xml" Id="Rf9d7982755e14662" /><Relationship Type="http://schemas.openxmlformats.org/officeDocument/2006/relationships/slide" Target="/ppt/slides/slide6.xml" Id="R0d2367b62712486e" /><Relationship Type="http://schemas.openxmlformats.org/officeDocument/2006/relationships/slide" Target="/ppt/slides/slide7.xml" Id="R9a4ddff51f4d4609" /><Relationship Type="http://schemas.openxmlformats.org/officeDocument/2006/relationships/slide" Target="/ppt/slides/slide8.xml" Id="Rd252a5b2ed6347c9" /><Relationship Type="http://schemas.openxmlformats.org/officeDocument/2006/relationships/slide" Target="/ppt/slides/slide9.xml" Id="R0763402b4ca04a59" /><Relationship Type="http://schemas.openxmlformats.org/officeDocument/2006/relationships/slide" Target="/ppt/slides/slide10.xml" Id="R30577e5034f34fd6" /><Relationship Type="http://schemas.openxmlformats.org/officeDocument/2006/relationships/slide" Target="/ppt/slides/slide11.xml" Id="R404db1bad6ca448d" /><Relationship Type="http://schemas.openxmlformats.org/officeDocument/2006/relationships/slide" Target="/ppt/slides/slide12.xml" Id="R3720926913f4450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5a93bbe67c6447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59e0589bfff444f" /><Relationship Type="http://schemas.openxmlformats.org/officeDocument/2006/relationships/notesMaster" Target="/ppt/notesMasters/notesMaster1.xml" Id="R30ee206ca171410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fab694ae6d94553" /><Relationship Type="http://schemas.openxmlformats.org/officeDocument/2006/relationships/notesMaster" Target="/ppt/notesMasters/notesMaster1.xml" Id="R4b6ea5634d914f6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983e3acb1c441d5" /><Relationship Type="http://schemas.openxmlformats.org/officeDocument/2006/relationships/notesMaster" Target="/ppt/notesMasters/notesMaster1.xml" Id="R69195359287e468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14539c9eaf640a3" /><Relationship Type="http://schemas.openxmlformats.org/officeDocument/2006/relationships/notesMaster" Target="/ppt/notesMasters/notesMaster1.xml" Id="R8ea2ab9cfe0d408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48e711513bb4699" /><Relationship Type="http://schemas.openxmlformats.org/officeDocument/2006/relationships/notesMaster" Target="/ppt/notesMasters/notesMaster1.xml" Id="R604a4587c019480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9fac6a6ed1f4dd6" /><Relationship Type="http://schemas.openxmlformats.org/officeDocument/2006/relationships/notesMaster" Target="/ppt/notesMasters/notesMaster1.xml" Id="R486fb9d6ba9f449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949408d98b746a9" /><Relationship Type="http://schemas.openxmlformats.org/officeDocument/2006/relationships/notesMaster" Target="/ppt/notesMasters/notesMaster1.xml" Id="Rc584ec8b679a493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133b1983a5a4e3f" /><Relationship Type="http://schemas.openxmlformats.org/officeDocument/2006/relationships/notesMaster" Target="/ppt/notesMasters/notesMaster1.xml" Id="Raf10f1f870f44b1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0913f2abc404a50" /><Relationship Type="http://schemas.openxmlformats.org/officeDocument/2006/relationships/notesMaster" Target="/ppt/notesMasters/notesMaster1.xml" Id="R92c37f0b1d7b430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c071f8e03374c45" /><Relationship Type="http://schemas.openxmlformats.org/officeDocument/2006/relationships/notesMaster" Target="/ppt/notesMasters/notesMaster1.xml" Id="R4ab2c97e398d453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a20908970c442d3" /><Relationship Type="http://schemas.openxmlformats.org/officeDocument/2006/relationships/notesMaster" Target="/ppt/notesMasters/notesMaster1.xml" Id="Rc0d87b85e9604e7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e3a20422e7647c7" /><Relationship Type="http://schemas.openxmlformats.org/officeDocument/2006/relationships/notesMaster" Target="/ppt/notesMasters/notesMaster1.xml" Id="R427f9bec5dd14ba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Change the date before teaching. Check resources. Read the learning intention aloud and clarify success. Resources: Mini whiteboards, assessment questions, formula reminders, reflection and transition sheet.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Reveal each prompt on click. Use responses to identify pupils who need immediate rehearsal. Suggested responses: Pupil identifies a relevant fact, representation or method. | 9 cm. | Retrieve the relevant fact, representation or formula. | Use assessment evidence to name the exact concept, method, example and support required next.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 the mathematical idea before asking pupils to solve. Define the vocabulary in context: retrieve, apply, justify, review, transition, next step. Reveal the three statements one at a time.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 do. Reveal the question, then reveal each mathematical change one click at a time. Point to the numbers and operation that changed before moving to the next line. Final answer: £560.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Reveal the answer only after completing the method. Check it against the estimate, inverse or representation. Ask pupils to explain why the answer is reasonable.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We do. Give silent thinking time before paired talk. Take one step at a time. Do not reveal the answer until every pupil has committed. Answer: 9 cm.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Miro is a deliberate misconception prompt. Reveal his claim, let pupils identify the error, then reveal the correction. Do not present Miro as lacking ability. Correction: Use assessment evidence to name the exact concept, method, example and support required next.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whole-class response routines. Reveal each prompt separately. Expected answer: 9 cm.. Insist on a reason, not only a numerical response.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You do. Pupils complete the core question independently before discussion. Answer: 3/4 or 0.75.. Circulate and note methods as well as accuracy.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after secure fluency or as the higher worksheet route. Accept different correct approaches when fully justified. Expected response: x = 13 and 3,450 m. The explanation must show why the method works.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only the core independent-practice example. Give pupils time to solve and check before revealing the answer at the side. Answer: 3/4 or 0.75.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Reveal one exit question at a time. Answers: 3/4 or 0.75. | Use assessment evidence to name the exact concept, method, example and support required next. | A relevant inverse, estimate, boundary, known fact or equivalent representation.. Record a specific next step from pupil work and explanation.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05bb8bf7e774c6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46ce7cbf82341d2" /><Relationship Type="http://schemas.openxmlformats.org/officeDocument/2006/relationships/slideLayout" Target="/ppt/slideLayouts/slideLayout1.xml" Id="R109d53c46c29486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09d53c46c29486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43c65639324c16" /><Relationship Type="http://schemas.openxmlformats.org/officeDocument/2006/relationships/notesSlide" Target="/ppt/notesSlides/notesSlide1.xml" Id="R51b43a0096d242b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0333de2dc74974" /><Relationship Type="http://schemas.openxmlformats.org/officeDocument/2006/relationships/notesSlide" Target="/ppt/notesSlides/notesSlide2.xml" Id="R643177cd646349c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5810a106094aff" /><Relationship Type="http://schemas.openxmlformats.org/officeDocument/2006/relationships/notesSlide" Target="/ppt/notesSlides/notesSlide3.xml" Id="R4b5cd03f21494a1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0a5441bcbf4b8e" /><Relationship Type="http://schemas.openxmlformats.org/officeDocument/2006/relationships/notesSlide" Target="/ppt/notesSlides/notesSlide4.xml" Id="R81ae6cc47b2f442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6cae5c27904d0e" /><Relationship Type="http://schemas.openxmlformats.org/officeDocument/2006/relationships/notesSlide" Target="/ppt/notesSlides/notesSlide5.xml" Id="R0cc4e00d0e0c403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04dfcb59c54a0e" /><Relationship Type="http://schemas.openxmlformats.org/officeDocument/2006/relationships/notesSlide" Target="/ppt/notesSlides/notesSlide6.xml" Id="R54bd71a76b65489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7db27d03404f91" /><Relationship Type="http://schemas.openxmlformats.org/officeDocument/2006/relationships/image" Target="/ppt/media/image.png" Id="R4bcfc81cd2c44c9f" /><Relationship Type="http://schemas.openxmlformats.org/officeDocument/2006/relationships/notesSlide" Target="/ppt/notesSlides/notesSlide7.xml" Id="Ra9d23762de7f41b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f2d84a61164ce8" /><Relationship Type="http://schemas.openxmlformats.org/officeDocument/2006/relationships/notesSlide" Target="/ppt/notesSlides/notesSlide8.xml" Id="Rada6c07bba4f4cd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2e13e5a4bb48a0" /><Relationship Type="http://schemas.openxmlformats.org/officeDocument/2006/relationships/notesSlide" Target="/ppt/notesSlides/notesSlide9.xml" Id="Rfadfe1274b2c4cb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7fb659096948b5" /><Relationship Type="http://schemas.openxmlformats.org/officeDocument/2006/relationships/notesSlide" Target="/ppt/notesSlides/notesSlide10.xml" Id="Re0769bf3d84f4a7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fb7d0f62c64cdc" /><Relationship Type="http://schemas.openxmlformats.org/officeDocument/2006/relationships/notesSlide" Target="/ppt/notesSlides/notesSlide11.xml" Id="Rb84a483b9f70437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159233147646a3" /><Relationship Type="http://schemas.openxmlformats.org/officeDocument/2006/relationships/notesSlide" Target="/ppt/notesSlides/notesSlide12.xml" Id="R0732797e62474d7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9A5C5B-5BFD-4D62-B5AC-EF9F16F91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64AA5A-F0DA-4134-A995-1CB704FE9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542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3DBB1E-AB30-4712-B885-6E8F27694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81000"/>
            <a:ext cx="2952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8324A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C93645-2645-4C30-AB9F-E81C3C847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23875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452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7253A"/>
                </a:solidFill>
                <a:latin typeface="Segoe Print"/>
                <a:ea typeface="Segoe Print"/>
                <a:cs typeface="Segoe Print"/>
              </a:defRPr>
            </a:pPr>
            <a:r>
              <a:rPr sz="1650" b="0">
                <a:solidFill>
                  <a:srgbClr val="17253A"/>
                </a:solidFill>
                <a:latin typeface="Segoe Print"/>
                <a:ea typeface="Segoe Print"/>
                <a:cs typeface="Segoe Print"/>
              </a:rPr>
              <a:t>Date:  ____ / ____ / ______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3CB2F6-09FD-4AF5-9944-25D84F885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8572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Apply Year 6 reasoning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9CC7F0-02BF-4392-B9BF-34413258D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8096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8324A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F7EA5B-3BBC-479C-906B-E77FF66D9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62300"/>
            <a:ext cx="95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667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B4232B"/>
                </a:solidFill>
                <a:latin typeface="Segoe Print"/>
                <a:ea typeface="Segoe Print"/>
                <a:cs typeface="Segoe Print"/>
              </a:defRPr>
            </a:pPr>
            <a:r>
              <a:rPr sz="1875" b="1">
                <a:solidFill>
                  <a:srgbClr val="B4232B"/>
                </a:solidFill>
                <a:latin typeface="Segoe Print"/>
                <a:ea typeface="Segoe Print"/>
                <a:cs typeface="Segoe Print"/>
              </a:rPr>
              <a:t>L.I.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CACBF6-285D-423E-AE7E-AED5AEBA3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71875"/>
            <a:ext cx="7524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To solve mixed Year 6 reasoning problems.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ACF843-484B-418D-AE73-DEA4F3664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815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Ready for learning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681174-43CE-4B84-AB27-7F87146A4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Pencil and ruler ready  |  Mini whiteboard ready  |  Mini whiteboards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479322-1D74-4E93-AB9D-D2120731B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571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Today: I do  |  We do  |  You do</a:t>
            </a:r>
          </a:p>
        </p:txBody>
      </p:sp>
    </p:spTree>
    <p:extLst>
      <p:ext uri="{BB962C8B-B14F-4D97-AF65-F5344CB8AC3E}">
        <p14:creationId xmlns:p14="http://schemas.microsoft.com/office/powerpoint/2010/main" val="54896428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68A62E5-738E-413B-9036-F3DC8E8C2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CFAC26-80EA-4854-80BD-CC6C5EB72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RETRIEVE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581EB9-6B81-4338-916C-0749AED72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602F88-194A-41A9-8CF8-D82B0F777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RETRIEVE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093CC9-480D-4D22-9050-3A9DF1F04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Previous learning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903973-5878-47E7-BB66-9B614DACB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2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8CF976-8A95-493F-8FE6-39198428B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97090C-B229-435A-937A-A2D9671A8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0C6F31-6D8E-4E89-A250-941475890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Apply Year 6 reasoning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483D61-8788-4017-AA33-7F6FC82B6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FF629F-AE94-4F47-93C7-CD9E0E193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B95F5E-5490-4627-8C69-A0BA6C357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335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1AC684-4D87-4C40-B386-9EE8385C7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1925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Which part of this prior learning is secure? Year 6 learning across number, ratio, algebra, measure, geometry and statistics.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77B28A-FEEA-4967-833C-7AFA23316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FB8B34-00A6-4857-B36D-0110AC1B7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3FE515-60EC-40B1-B4D0-52056863F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19425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12484B4-1389-427F-BEE4-9DC6B4BE0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05125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A cuboid has volume 756 cm3, length 12 cm and width 7 cm. Find its height.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3F6434E-FCE3-4F7F-AD27-754595FAC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E3B83E1-F559-4E8B-9C79-8F65A12A7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3871370-02E2-41EB-9CD5-9150D83E4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AD3BCE4-5974-4C47-9600-7CE208E18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9100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Explain the first step you would take for: A £640 item is reduced by 12.5%. Find the sale price.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8DF9C47-1819-4524-8618-BEF18645D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476875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Commit on your whiteboard before discussing.</a:t>
            </a:r>
          </a:p>
        </p:txBody>
      </p:sp>
    </p:spTree>
    <p:extLst>
      <p:ext uri="{BB962C8B-B14F-4D97-AF65-F5344CB8AC3E}">
        <p14:creationId xmlns:p14="http://schemas.microsoft.com/office/powerpoint/2010/main" val="1112824358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21" grpId="0"/>
    </p:bldLst>
  </p:timing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DADDB0-066A-41CB-9A65-252E602B0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AF2B5D-3837-433E-A15D-512BF1654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LEARN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E2A96E-60E7-4EF0-BAB3-4324571D7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C14FFC-3D82-4F86-8B16-99E981AB3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LEARN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1517F7-05D0-4706-AB4F-76A823C4B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New learning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11E639-DB32-4117-8C96-B5BC20E7E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3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6BB8D2-0CE7-43B8-A80B-43661F2BA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48F9D8-E951-42E1-88E8-A512CC208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3FBB58-8E25-4733-BB8C-150D6ACDB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Apply Year 6 reasoning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90E433-A0B5-432A-AA1F-7FD9D0A68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2875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To solve mixed Year 6 reasoning problems.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B7C6F3-91F6-440C-A51C-467B392C9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00300"/>
            <a:ext cx="1009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4E68CC-2535-4B1A-8935-6158EE1FA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667000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Key idea: Retrieve the relevant fact, representation or formula.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EE9E95-5E4C-4730-8522-8B302A37A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571875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Then: Show a complete method and explain the mathematical decision.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7F5DEE-F984-43AF-B7EB-425B040CD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476750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Check: Check the result and record a precise transition target.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B3D23D-9D67-4B86-963F-9B2F35E8D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572125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Vocabulary: retrieve  |  apply  |  justify  |  review  |  transition  |  next step</a:t>
            </a:r>
          </a:p>
        </p:txBody>
      </p:sp>
    </p:spTree>
    <p:extLst>
      <p:ext uri="{BB962C8B-B14F-4D97-AF65-F5344CB8AC3E}">
        <p14:creationId xmlns:p14="http://schemas.microsoft.com/office/powerpoint/2010/main" val="371095785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</p:bldLst>
  </p:timing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3B42A76-E7E6-431C-B77A-1F7F46A65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9BD0D7-2A5D-4208-A86A-63F9081EE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FB94E4-3BBA-4525-AC59-3CBE3E04B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8324A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47F989-C7B8-48B2-9FD7-05D131422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D23FDE-7567-491C-A24E-A8FA9374E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3038F9-5EF1-4439-BDA9-86EB9EA03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4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6F79DD-7968-47E2-8382-5353E2AD5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EF6CE8-4102-4923-BA14-AA47FA06C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C4F003-2612-4976-883A-F22781BD5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Apply Year 6 reasoning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2C39C4-D7F5-4A1C-AAB6-56F2AAB28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219200"/>
            <a:ext cx="10477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A £640 item is reduced by 12.5%. Find the sale price.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65D29A-F1C6-4D6B-B4C5-9D25EB6F8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24075"/>
            <a:ext cx="381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A3E01C-48A9-4B40-8BFF-7FFAE0BAA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2002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A54253-B945-4FCC-952E-A66717652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114550"/>
            <a:ext cx="9525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12.5% of £640 = 1/8 of £640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B725DC-6680-4530-8267-A30809387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94322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2B63D3-C560-4CA5-A88B-0919C6452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0765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2CD785-49EA-4857-A0F3-762ACA4E7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990850"/>
            <a:ext cx="9525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£640 ÷ 8 = £80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58D9C8-D3F4-4BE7-924B-1FB0AA683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81952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C1CDC1D-0A00-42FC-8F12-63E73A979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9528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911E1C8-7C26-4AC4-AF59-B3179A523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867150"/>
            <a:ext cx="9525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£640 - £80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69FB14E-4987-4CBF-8057-70E3CEB53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69582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50239CC-E66F-48ED-966D-88AFE2BF4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8291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8728375-7E6B-4521-A569-9CEA0FE76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743450"/>
            <a:ext cx="9525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Sale price = £560</a:t>
            </a:r>
          </a:p>
        </p:txBody>
      </p:sp>
    </p:spTree>
    <p:extLst>
      <p:ext uri="{BB962C8B-B14F-4D97-AF65-F5344CB8AC3E}">
        <p14:creationId xmlns:p14="http://schemas.microsoft.com/office/powerpoint/2010/main" val="188383166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3" grpId="0"/>
      <p:bldP spid="16" grpId="0"/>
      <p:bldP spid="19" grpId="0"/>
      <p:bldP spid="22" grpId="0"/>
    </p:bldLst>
  </p:timing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C40453-2360-4F6C-AD9E-A3B71FE54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ACBDFB-5901-4DF5-9C34-CE0A55E44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95332B-EFC0-4710-8CD9-239DAB48D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8324A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804EEB-F649-4299-ADC5-DA5689CD3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E54701-26C8-4677-B9FB-ED5B7A132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Worked answer and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B9E7C9-B67C-4D3C-9CEB-732F267D4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5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55C67D-5769-4E9D-BBD0-A0B9FBA93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AA10A7-7B3C-4B59-A886-CAD825B41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AEC1F4-477D-4A3E-8D5A-6EED64F6F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Apply Year 6 reasoning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2D3AA6-3D13-43B3-8D4A-827972E6E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524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Model answer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896949-052F-4FC8-A0BA-3B3A22950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047875"/>
            <a:ext cx="10191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£560.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E436E4-51EA-4221-B968-5F1E2B6CC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638550"/>
            <a:ext cx="10191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DC1A29-BC7E-4142-9B83-9F8652F1F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000500"/>
            <a:ext cx="9429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Reasonableness check: Check the result and record a precise transition target.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D03FCF-DC58-451F-9738-6AC4F018A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000625"/>
            <a:ext cx="942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Explain which step carries the mathematical meaning and why.</a:t>
            </a:r>
          </a:p>
        </p:txBody>
      </p:sp>
    </p:spTree>
    <p:extLst>
      <p:ext uri="{BB962C8B-B14F-4D97-AF65-F5344CB8AC3E}">
        <p14:creationId xmlns:p14="http://schemas.microsoft.com/office/powerpoint/2010/main" val="1576334464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3" grpId="0"/>
      <p:bldP spid="14" grpId="0"/>
    </p:bldLst>
  </p:timing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E18B0B-21BD-4E09-9CB0-389B29504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956889-A111-48F0-A3E5-DD83F46D4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C0024E-2FE5-484D-A612-BCA6D48B6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C6E7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9BCD19-D094-4917-91B9-C23D56862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6BA385-6B24-4B93-BCE7-C60DDF3E7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Guided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235B57-D632-4FAC-9107-D43B3B16E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6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7D6D7D-A259-416B-AB26-26418689A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615E6F-529B-440A-BE57-1FDC08297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6923D5-42AE-4B5C-8832-A3B09BC4B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Apply Year 6 reasoning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629ED3-2907-4939-A674-907D8FF29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524000"/>
            <a:ext cx="10287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A cuboid has volume 756 cm3, length 12 cm and width 7 cm. Find its height.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E96DBB-F0AF-48FE-B067-767289077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048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Think alone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18EE38-C25A-4E28-A1A6-01F17A60C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048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Compare a step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3CD5BC-6D8A-4D91-B23F-E25FEA227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048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Commit together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972CF8-747A-452C-B3E7-5C6F2B41E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857625"/>
            <a:ext cx="876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Which representation or operation will we use first?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DFBF12-C325-4310-9540-A69586204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810125"/>
            <a:ext cx="8763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Answer: 9 cm.</a:t>
            </a:r>
          </a:p>
        </p:txBody>
      </p:sp>
    </p:spTree>
    <p:extLst>
      <p:ext uri="{BB962C8B-B14F-4D97-AF65-F5344CB8AC3E}">
        <p14:creationId xmlns:p14="http://schemas.microsoft.com/office/powerpoint/2010/main" val="1601562386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</p:bldLst>
  </p:timing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BEE178-6A7B-4178-A589-903E1326D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C746B4-F40B-44DF-801F-87841B1D2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CHECK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1AD9C1-2C45-46B8-897F-7780B63E7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28C3E4-3C6A-4A33-B9D2-1FBD3E03B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CHECK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2FC4C1-E0D0-4095-A4D9-741C1429A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Miro's misconception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55CFE7-1149-4F3C-97C6-4A0DB41AD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7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D76827-21C1-4859-8027-C5F10830B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12C173-2975-48E0-9B22-0CE74EC0E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4ED0B8-E3E6-4B10-A4AF-DCEC3F14F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Apply Year 6 reasoning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cfc81cd2c44c9f"/>
          <a:stretch xmlns:a="http://schemas.openxmlformats.org/drawingml/2006/main"/>
        </p:blipFill>
        <p:spPr>
          <a:xfrm xmlns:a="http://schemas.openxmlformats.org/drawingml/2006/main">
            <a:off x="8056563" y="1381125"/>
            <a:ext cx="2984500" cy="44767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9D2BC6-FE1F-46D0-9A85-98828A080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52400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B423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B4232B"/>
                </a:solidFill>
                <a:latin typeface="Arial"/>
                <a:ea typeface="Arial"/>
                <a:cs typeface="Arial"/>
              </a:rPr>
              <a:t>Miro thinks...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82F56A-B780-48B0-BF85-803EBE534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095500"/>
            <a:ext cx="6477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Miro records a general target such as 'get better at maths'.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B4A3D4-9B31-4A13-834B-47BD64C32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857625"/>
            <a:ext cx="647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C397FE-B2C6-487C-A3A2-ED86EEF17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171950"/>
            <a:ext cx="5905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What should Miro change?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D2AA54-7B8C-4E9F-AC02-8874E0ECC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714875"/>
            <a:ext cx="6477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Use assessment evidence to name the exact concept, method, example and support required next.</a:t>
            </a:r>
          </a:p>
        </p:txBody>
      </p:sp>
    </p:spTree>
    <p:extLst>
      <p:ext uri="{BB962C8B-B14F-4D97-AF65-F5344CB8AC3E}">
        <p14:creationId xmlns:p14="http://schemas.microsoft.com/office/powerpoint/2010/main" val="740312412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5" grpId="0"/>
    </p:bldLst>
  </p:timing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EA3F603-0D3D-49FA-B733-6EF839D49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0B21AC-0763-4512-8E44-29D25F637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29A966-753F-48A0-B542-698F87908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C6E7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4D3C86-1BC7-4E25-90D5-58E95DFEE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A1AD8C-9350-488D-BCFB-6645E4CE7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Guided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7D466B-3FB5-40D7-A416-09EC99EFD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8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06B37F-AD32-4E6B-8E99-C2C6C7A89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05BBEA-BD02-4B93-AC73-51C9E9829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4935FA-6B65-4834-8916-A366AF340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Apply Year 6 reasoning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5E0195-E103-44D8-BFB0-D598DB9F0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AC6B09-A434-4716-982B-56C3425A9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657071-8CCF-4798-84FE-566A14988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335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A116A0-2F88-43FC-AAED-0DFCBA094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1925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A cuboid has volume 756 cm3, length 12 cm and width 7 cm. Find its height.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F4A66A-83DC-4626-9DD3-84C77C8C2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5DFCA3-305A-421B-BF63-92C10FF0F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36B528-83AE-4633-AA54-CDD1356A2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19425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46C02ED-AE1A-4269-B841-BC3D6EC69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05125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Show the first step and explain why it comes first.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4231456-E8EB-4A36-9A86-4FBA0E449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6586C93-7C5F-45F7-8967-C68139A67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794F841-021A-4E90-B62D-085745E01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DAEF560-C4E2-49B1-859A-DA1AE2AAC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9100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Compare with the answer: 9 cm.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FD9BEED-1854-4912-B47C-E0B5BD7E7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476875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Agree, disagree or improve the explanation.</a:t>
            </a:r>
          </a:p>
        </p:txBody>
      </p:sp>
    </p:spTree>
    <p:extLst>
      <p:ext uri="{BB962C8B-B14F-4D97-AF65-F5344CB8AC3E}">
        <p14:creationId xmlns:p14="http://schemas.microsoft.com/office/powerpoint/2010/main" val="1294735484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21" grpId="0"/>
    </p:bldLst>
  </p:timing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09A7307-33BB-47BD-AE80-01A7FF7D5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6DC72D-3497-4AC2-8DD4-F7ED9F37D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2F333D-2B18-4125-9253-1C47DD985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F785D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F08039-DDF6-472E-89D5-41184C4BB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181CCA-346E-47F8-9772-FEDB13443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Independent fluency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B6FA5E-D75F-4ACA-AD03-CC93FC766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9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88D6CB-CC8A-484D-9A76-37F553C25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FE373E-C2C2-4757-B8A3-6476B4594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C404BA-68FC-415C-B59C-76BA2216E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Apply Year 6 reasoning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CDF2EA-7AEB-46A5-91B3-9766D1E6F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F8F79B-53BE-4315-94DE-5682EB2DC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C7F676-38EA-4CA9-B4BF-1B09165A3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335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0D1620-D3F8-42E7-8443-323985131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1925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Calculate 2 1/4 divided by 3, then write the answer as a decimal.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8DC5E9-6A98-4635-A990-8959F765B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EBF5B3-5CBC-483B-8C04-F16EC509F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389CDFA-3B3E-4EF6-A086-3F8D958B7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19425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A36D23-46D1-4C56-B722-F73D0E8FC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05125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Record every stage clearly. Mark the place value, operation or boundary that matters.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FE76D0-85CC-47B4-8385-D990D0644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411648B-E57C-4230-AD89-1B23B83BB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C0F86DA-8068-421F-875B-AF24BB622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7E08FF4-25E5-49B3-82BC-2DD606D99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9100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Use an inverse, estimate or equivalent representation to check.</a:t>
            </a:r>
          </a:p>
        </p:txBody>
      </p:sp>
    </p:spTree>
    <p:extLst>
      <p:ext uri="{BB962C8B-B14F-4D97-AF65-F5344CB8AC3E}">
        <p14:creationId xmlns:p14="http://schemas.microsoft.com/office/powerpoint/2010/main" val="550139779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21" grpId="0"/>
    </p:bldLst>
  </p:timing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F28BEF-FF09-4734-9EDD-E4522988D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1B7E52-3783-42E4-BFE6-30CA6820E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DE7AC5-27B7-4F51-A9DD-269D5CBED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F785D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9CA8E3-5B6C-455C-BC82-B3EBF9B89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13605E-D983-4F19-A270-3604B7662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Reasoning and depth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90F7C6-A239-4B28-B7DD-D41CED7F3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10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9D2169-71D5-4807-96C3-88E0A678E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BABF33-35C2-406C-B0A3-05C38E6B1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E55C7B-BA2C-4B47-84A5-2FDF475B3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Apply Year 6 reasoning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B79377-58E0-4597-A537-E74A6863F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524000"/>
            <a:ext cx="10191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Prove or explain your reasoning: Solve 5x + 8 = 73 and convert 3.45 km to metres.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FA7C2C-54F2-4220-BAC3-9731D2973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43250"/>
            <a:ext cx="9334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Show enough evidence for another pupil to follow your reasoning.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897893-F267-4FD2-AD52-2564AB170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43375"/>
            <a:ext cx="9334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Can you find a second method, example or counterexample?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FFFCBB-ACE0-4C08-8188-F2D2D5F84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143500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9242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Teacher check: x = 13 and 3,450 m. The explanation must show why the method works.</a:t>
            </a:r>
          </a:p>
        </p:txBody>
      </p:sp>
    </p:spTree>
    <p:extLst>
      <p:ext uri="{BB962C8B-B14F-4D97-AF65-F5344CB8AC3E}">
        <p14:creationId xmlns:p14="http://schemas.microsoft.com/office/powerpoint/2010/main" val="1240125255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</p:bldLst>
  </p:timing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44B0288-ADBC-4C74-A231-ADB7B32FF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3C2F06-9E0A-4E5F-9952-2D3D1CD34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PRACTISE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457066-824A-41E3-B558-C71E1BBEF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2B9CB8-13E2-4754-9ADA-D0240B152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PRACTISE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C3BECE-7927-4F49-AFB0-D3EF686E2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Independent practice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3B7640-E889-46A4-9462-0CD5059B6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11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192F61-DBE4-45CC-BC00-FCFE58484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14D968-4E54-4574-B83E-E0B6DFC75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51B48B-CD97-4D44-B1F7-9A552B926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Apply Year 6 reasoning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725C9B-9B04-47CA-8570-955D0A028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76375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Try this example independently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35C33F-FEA9-46B9-9FAF-0F4F732BB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47875"/>
            <a:ext cx="68580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0E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06B795-4F36-413D-830C-B9ECCDB3B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00300"/>
            <a:ext cx="61150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Calculate 2 1/4 divided by 3, then write the answer as a decimal.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CDD21C-5E3A-4506-80DE-52C7C902C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095750"/>
            <a:ext cx="581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Show your method and check your answer.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49B3E7-14EC-4E11-94E5-8B7FD1837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666875"/>
            <a:ext cx="2619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Answer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302BBD-60CF-453C-A744-FCF1D60EE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190750"/>
            <a:ext cx="3048000" cy="2714625"/>
          </a:xfrm>
          <a:prstGeom xmlns:a="http://schemas.openxmlformats.org/drawingml/2006/main" prst="roundRect">
            <a:avLst>
              <a:gd name="adj" fmla="val 280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F33669-991C-4AE8-B07E-53DAE0D3D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619375"/>
            <a:ext cx="2381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3/4 or 0.75.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321D0A-2630-469B-A982-38AC01510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000500"/>
            <a:ext cx="238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825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Explain how you know.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724455-4A31-4299-A07F-95E17D30C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334000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The answer appears on click after pupils have committed.</a:t>
            </a:r>
          </a:p>
        </p:txBody>
      </p:sp>
    </p:spTree>
    <p:extLst>
      <p:ext uri="{BB962C8B-B14F-4D97-AF65-F5344CB8AC3E}">
        <p14:creationId xmlns:p14="http://schemas.microsoft.com/office/powerpoint/2010/main" val="836242353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</p:bldLst>
  </p:timing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2B86673-CDC7-419C-9A4A-748359A28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79DF30-7E87-4B19-A97B-B76292995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ASSESS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380FA1-84A7-4381-8210-09B745210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81CB6A-7804-4536-89DF-D8ED6AF65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ASSESS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4F05A8-FF93-47E0-B887-24829269D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Exit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F34977-0B09-4BB4-9012-788FF9726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12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5A8EA6-6613-4976-9E50-EBA382E6F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770D85-B7BC-431A-8040-9B8492150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033DFB-979B-4CFA-9E05-B7B654E1C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Apply Year 6 reasoning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1E5B8B-37AF-472A-AC8D-96A1995B2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073D37-6E93-4DC2-B5CE-EA3BB07E6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7931D6-3C3B-431A-A912-55804D512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335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6CBBF0-A5EE-4600-8897-88FDB3F8D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1925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Calculate 2 1/4 divided by 3, then write the answer as a decimal.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26C0E0-8C9A-4C17-8450-7A141E37E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F0CB83-19A9-4C8C-BFE8-75BF6B819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6131C5-818A-44FB-A26C-09F486F2F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19425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ACF8F54-C6A6-43F0-8B73-CE8BF0EAA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05125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What should Miro correct? Miro records a general target such as 'get better at maths'.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92D301D-3F1A-4BF7-A6B7-1ED48FCC3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90F9E2A-7C0A-4F67-86D7-F16484078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8A2125A-CD3A-4F4A-9ABD-36CCAB3FD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11CDB10-7F37-4778-8C66-C360D94A7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9100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Name the check you used today.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55D4ACF-27C3-4198-8250-0366C587A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476875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Teacher records: secure  |  revisit  |  pre-teach next</a:t>
            </a:r>
          </a:p>
        </p:txBody>
      </p:sp>
    </p:spTree>
    <p:extLst>
      <p:ext uri="{BB962C8B-B14F-4D97-AF65-F5344CB8AC3E}">
        <p14:creationId xmlns:p14="http://schemas.microsoft.com/office/powerpoint/2010/main" val="1929802517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21" grpId="0"/>
    </p:bldLst>
  </p:timing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2026-09-09T22:14:35.7710000Z</dcterms:created>
  <dcterms:modified xsi:type="dcterms:W3CDTF">2026-09-09T22:14:35.7710000Z</dcterms:modified>
</coreProperties>
</file>