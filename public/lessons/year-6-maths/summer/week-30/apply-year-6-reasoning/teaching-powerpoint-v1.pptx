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Apply Year 6 reasoning. Apply Year 6 reasoning.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Apply Year 6 reasoning. I do. The complete bar represents 100%. Find 1%, then build the required percentage. For a reduction, subtract the discount from the original whole.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Apply Year 6 reasoning. You do. Pause before clicking. Let pupils try independently, then reveal and discuss every step. The complete bar represents 100%. Find 1%, then build the required percentage. For a reduction, subtract the discount from the original whole.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Apply Year 6 reasoning. I do. The complete bar represents 100%. Find 1%, then build the required percentage. For a reduction, subtract the discount from the original whole.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Apply Year 6 reasoning. You do. Pause before clicking. Let pupils try independently, then reveal and discuss every step. The complete bar represents 100%. Find 1%, then build the required percentage. For a reduction, subtract the discount from the original whole.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Apply Year 6 reasoning.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Apply Year 6 reasoning.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A718C0A9-1273-4AB5-A696-267778FB2963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Apply Year 6 reasoning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164A2F0-F51D-4545-B1B3-80DD78DF42D8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C596D5B-FC36-4ADC-9559-2FA5676D4A3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DB2BA183-9DC1-4962-A0F1-43A7F574669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Apply Year 6 reasoning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526BC9CE-CAE6-4337-B74D-24AD6BC123FD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852720B-8817-4151-B8F0-F81F1DF69CCA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solve mixed Year 6 reasoning problems.</a:t>
            </a:r>
          </a:p>
        </p:txBody>
      </p:sp>
    </p:spTree>
    <p:extLst>
      <p:ext uri="{BB962C8B-B14F-4D97-AF65-F5344CB8AC3E}">
        <p14:creationId xmlns:p14="http://schemas.microsoft.com/office/powerpoint/2010/main" val="7340828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-1">
            <a:extLst>
              <a:ext uri="{FF2B5EF4-FFF2-40B4-BE49-F238E27FC236}">
                <a16:creationId xmlns:a16="http://schemas.microsoft.com/office/drawing/2014/main" id="{9A5E07F7-7563-4A86-A752-16051F79E8D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4170AD69-349D-41AB-9726-95677D6010C2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Reduce 640 by 12.5%.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256D1B9-CFA6-476C-9272-56D7B596E284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D2BE37B-F797-495F-B168-3B843ADBF7B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Apply Year 6 reasoning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C8052534-5D0D-4957-85BD-D22A29AFADD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8D4A991-0BAE-4C41-99D9-552FC426C6A5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1906250" cy="892969"/>
          </a:xfrm>
          <a:prstGeom prst="rect">
            <a:avLst/>
          </a:prstGeom>
          <a:solidFill>
            <a:srgbClr val="FFFFFF"/>
          </a:solidFill>
          <a:ln w="23813">
            <a:solidFill>
              <a:srgbClr val="1D4ED8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057B84F1-A34E-4DA2-BC03-5A7D45EBA838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488281" cy="89296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4766DD24-9B59-490F-9ED3-689F7D90C564}"/>
              </a:ext>
            </a:extLst>
          </p:cNvPr>
          <p:cNvSpPr>
            <a:spLocks noGrp="1"/>
          </p:cNvSpPr>
          <p:nvPr/>
        </p:nvSpPr>
        <p:spPr>
          <a:xfrm>
            <a:off x="11906250" y="4429125"/>
            <a:ext cx="19050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8DD8D6B8-EA8D-4B6D-8E6A-2F288A553137}"/>
              </a:ext>
            </a:extLst>
          </p:cNvPr>
          <p:cNvSpPr>
            <a:spLocks noGrp="1"/>
          </p:cNvSpPr>
          <p:nvPr/>
        </p:nvSpPr>
        <p:spPr>
          <a:xfrm>
            <a:off x="1547813" y="4429125"/>
            <a:ext cx="3571875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12.5%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E6A87CA6-DD17-41C4-A13B-0FEDBC030522}"/>
              </a:ext>
            </a:extLst>
          </p:cNvPr>
          <p:cNvSpPr>
            <a:spLocks noGrp="1"/>
          </p:cNvSpPr>
          <p:nvPr/>
        </p:nvSpPr>
        <p:spPr>
          <a:xfrm>
            <a:off x="1428750" y="5345906"/>
            <a:ext cx="12739688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640 ÷ 100 = 6.4 (1%)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39E8A679-82F1-4230-8582-2DE8889F5082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640 − 80 = 560</a:t>
            </a:r>
          </a:p>
        </p:txBody>
      </p:sp>
    </p:spTree>
    <p:extLst>
      <p:ext uri="{BB962C8B-B14F-4D97-AF65-F5344CB8AC3E}">
        <p14:creationId xmlns:p14="http://schemas.microsoft.com/office/powerpoint/2010/main" val="453877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bject-1">
            <a:extLst>
              <a:ext uri="{FF2B5EF4-FFF2-40B4-BE49-F238E27FC236}">
                <a16:creationId xmlns:a16="http://schemas.microsoft.com/office/drawing/2014/main" id="{9B6A2FFC-8B9C-460D-9D26-43BE2A325B8A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884DCFD-7E7B-4EF7-9821-3C61FC3982C0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72E57A1-7885-4A31-8CB5-ABD0D76DE4AA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Reduce 720 by 12.5%.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FA931293-D812-405F-A07F-37319A5BCF6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3E6DFDB-BD49-46FD-AB62-5FA99225F1BD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Apply Year 6 reasoning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F695B6F-0940-477E-8257-F398AC6D527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F4D68151-EFEB-42F6-A33E-22BD40A98521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1906250" cy="892969"/>
          </a:xfrm>
          <a:prstGeom prst="rect">
            <a:avLst/>
          </a:prstGeom>
          <a:solidFill>
            <a:srgbClr val="FFFFFF"/>
          </a:solidFill>
          <a:ln w="23813">
            <a:solidFill>
              <a:srgbClr val="1D4ED8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1E87AD6B-EC5E-4911-9F7D-AB12CC0FE23F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488281" cy="89296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2188BA67-27E7-4E3C-B80F-3DE1ED420484}"/>
              </a:ext>
            </a:extLst>
          </p:cNvPr>
          <p:cNvSpPr>
            <a:spLocks noGrp="1"/>
          </p:cNvSpPr>
          <p:nvPr/>
        </p:nvSpPr>
        <p:spPr>
          <a:xfrm>
            <a:off x="11906250" y="4429125"/>
            <a:ext cx="19050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7D16470E-9A84-494D-9112-C8F0CA7EF34F}"/>
              </a:ext>
            </a:extLst>
          </p:cNvPr>
          <p:cNvSpPr>
            <a:spLocks noGrp="1"/>
          </p:cNvSpPr>
          <p:nvPr/>
        </p:nvSpPr>
        <p:spPr>
          <a:xfrm>
            <a:off x="1547813" y="4429125"/>
            <a:ext cx="3571875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12.5%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CEA1C0F1-F392-4E89-859D-F57ACA9342B7}"/>
              </a:ext>
            </a:extLst>
          </p:cNvPr>
          <p:cNvSpPr>
            <a:spLocks noGrp="1"/>
          </p:cNvSpPr>
          <p:nvPr/>
        </p:nvSpPr>
        <p:spPr>
          <a:xfrm>
            <a:off x="1428750" y="5345906"/>
            <a:ext cx="12739688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720 ÷ 100 = 7.2 (1%)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DC501729-6148-40B1-BE05-6FA356FEC19B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720 − 90 = 630</a:t>
            </a:r>
          </a:p>
        </p:txBody>
      </p:sp>
    </p:spTree>
    <p:extLst>
      <p:ext uri="{BB962C8B-B14F-4D97-AF65-F5344CB8AC3E}">
        <p14:creationId xmlns:p14="http://schemas.microsoft.com/office/powerpoint/2010/main" val="1939379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-1">
            <a:extLst>
              <a:ext uri="{FF2B5EF4-FFF2-40B4-BE49-F238E27FC236}">
                <a16:creationId xmlns:a16="http://schemas.microsoft.com/office/drawing/2014/main" id="{65436886-FD2F-46FF-97DF-5A6E718B99A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BAFE4793-C8F5-490B-B9DB-460A735F1DA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Reduce 800 by 12.5%.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EE44F6B2-1FAB-4AEA-9AD9-80EFB36C5F82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43557DA-3B7E-4FCE-AB36-61258AD8D494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Apply Year 6 reasoning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3F15A4C-D122-46D6-BDB8-E15D2C62A2D8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8D37E40-ECB9-49FF-90BE-4DBABD40AEC7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1906250" cy="892969"/>
          </a:xfrm>
          <a:prstGeom prst="rect">
            <a:avLst/>
          </a:prstGeom>
          <a:solidFill>
            <a:srgbClr val="FFFFFF"/>
          </a:solidFill>
          <a:ln w="23813">
            <a:solidFill>
              <a:srgbClr val="1D4ED8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3F53C837-5DCE-49B5-A60B-5928FEB55169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488281" cy="89296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B1789C4E-AE28-489A-9570-982842B767F2}"/>
              </a:ext>
            </a:extLst>
          </p:cNvPr>
          <p:cNvSpPr>
            <a:spLocks noGrp="1"/>
          </p:cNvSpPr>
          <p:nvPr/>
        </p:nvSpPr>
        <p:spPr>
          <a:xfrm>
            <a:off x="11906250" y="4429125"/>
            <a:ext cx="19050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31BDEE42-34D2-42F3-8A68-44C36A5E0623}"/>
              </a:ext>
            </a:extLst>
          </p:cNvPr>
          <p:cNvSpPr>
            <a:spLocks noGrp="1"/>
          </p:cNvSpPr>
          <p:nvPr/>
        </p:nvSpPr>
        <p:spPr>
          <a:xfrm>
            <a:off x="1547813" y="4429125"/>
            <a:ext cx="3571875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12.5%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06229EEA-6C5F-4AC7-9BE4-7799A776327A}"/>
              </a:ext>
            </a:extLst>
          </p:cNvPr>
          <p:cNvSpPr>
            <a:spLocks noGrp="1"/>
          </p:cNvSpPr>
          <p:nvPr/>
        </p:nvSpPr>
        <p:spPr>
          <a:xfrm>
            <a:off x="1428750" y="5345906"/>
            <a:ext cx="12739688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800 ÷ 100 = 8 (1%)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2E34F008-E567-472B-B9B4-B729DD855E0E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800 − 100 = 700</a:t>
            </a:r>
          </a:p>
        </p:txBody>
      </p:sp>
    </p:spTree>
    <p:extLst>
      <p:ext uri="{BB962C8B-B14F-4D97-AF65-F5344CB8AC3E}">
        <p14:creationId xmlns:p14="http://schemas.microsoft.com/office/powerpoint/2010/main" val="139179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bject-1">
            <a:extLst>
              <a:ext uri="{FF2B5EF4-FFF2-40B4-BE49-F238E27FC236}">
                <a16:creationId xmlns:a16="http://schemas.microsoft.com/office/drawing/2014/main" id="{92B01963-38F2-4660-BBCE-A6EB60C74065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60ACD4E1-647E-4E2D-AF75-F5C4332B9A0A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7802E0A-CA41-43C5-B213-AA262FD49170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Reduce 880 by 12.5%.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8A870F14-E774-431F-A737-F84F83C9346D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23A5063-1134-45A8-B70B-6C5EF63D0C85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Apply Year 6 reasoning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20378950-6AF2-4A36-B4D3-CC0A09D90561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168B546-DB86-4ABE-A0C3-796CF2927EEA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1906250" cy="892969"/>
          </a:xfrm>
          <a:prstGeom prst="rect">
            <a:avLst/>
          </a:prstGeom>
          <a:solidFill>
            <a:srgbClr val="FFFFFF"/>
          </a:solidFill>
          <a:ln w="23813">
            <a:solidFill>
              <a:srgbClr val="1D4ED8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E4B4C96-06AC-4F36-964E-8655B4A8240B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488281" cy="89296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0964C75-3B72-4EBB-8DEB-AB5041FB1644}"/>
              </a:ext>
            </a:extLst>
          </p:cNvPr>
          <p:cNvSpPr>
            <a:spLocks noGrp="1"/>
          </p:cNvSpPr>
          <p:nvPr/>
        </p:nvSpPr>
        <p:spPr>
          <a:xfrm>
            <a:off x="11906250" y="4429125"/>
            <a:ext cx="19050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B0BB6844-DB01-48E8-9395-090200198A60}"/>
              </a:ext>
            </a:extLst>
          </p:cNvPr>
          <p:cNvSpPr>
            <a:spLocks noGrp="1"/>
          </p:cNvSpPr>
          <p:nvPr/>
        </p:nvSpPr>
        <p:spPr>
          <a:xfrm>
            <a:off x="1547813" y="4429125"/>
            <a:ext cx="3571875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12.5%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EA448643-E9BF-4B65-87D6-2C7047FFFABA}"/>
              </a:ext>
            </a:extLst>
          </p:cNvPr>
          <p:cNvSpPr>
            <a:spLocks noGrp="1"/>
          </p:cNvSpPr>
          <p:nvPr/>
        </p:nvSpPr>
        <p:spPr>
          <a:xfrm>
            <a:off x="1428750" y="5345906"/>
            <a:ext cx="12739688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880 ÷ 100 = 8.8 (1%)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386AC533-1C9D-40E3-9F55-3DD126640D0A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880 − 110 = 770</a:t>
            </a:r>
          </a:p>
        </p:txBody>
      </p:sp>
    </p:spTree>
    <p:extLst>
      <p:ext uri="{BB962C8B-B14F-4D97-AF65-F5344CB8AC3E}">
        <p14:creationId xmlns:p14="http://schemas.microsoft.com/office/powerpoint/2010/main" val="789907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73FA8622-1174-41A9-B1A2-8B60E62AC527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36298C2-4266-44D9-9088-12EE767544ED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FA6E0FD-DC47-4A34-803C-08C42BFB9D62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87918953-EF06-42A6-8C0B-671F26FDD32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C4CD0DC-6336-4FD0-87FD-AB25288EE5C9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Apply Year 6 reasoning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EC02125F-0CB2-49C8-9B71-BFD8D0C3E2FD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98DAEEA8-68DB-4DF9-A714-70A2D0E39C44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0BE4014A-AAD6-4DEB-9B37-7BDB5D1B580C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£640 item is reduced by 12.5%. Find the sale price.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33C47E03-1354-4C09-83D0-B8BD94833505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0401F312-7D2E-4505-A53C-D6EB3E150B5A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cuboid has volume 756 cm3, length 12 cm and width 7 cm. Find its height.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CADF293-B3C2-4594-AF82-02243C97C4BD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688EAE46-0305-4FBC-98FC-6DD3705D5791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1/4 divided by 3, then write the answer as a decimal.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2DC38B5A-9D64-4FD6-B69B-FFB244A46B54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5C584D51-1CEB-4008-8202-46FA32153FB0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A £640 item is reduced by 12.5%. Find the sale price.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83ACCC26-5164-468A-988F-411780B91528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8769AB61-ABF8-452F-A25D-A08239108FF7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A cuboid has volume 756 cm3, length 12 cm and width 7 cm. Find its height.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1D86916F-DA1A-4877-982B-8CE58F973EAE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748647DE-B230-4ADD-B24F-8A3A8F2EE86E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Calculate 2 1/4 divided by 3, then write the answer as a decimal.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860473A7-73BC-4333-B532-418CB566472A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7985D53F-DFAE-45D4-968F-B79FA7101B81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Solve 5x + 8 = 73 and convert 3.45 km to metres.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48A61654-ADC5-4941-96A9-CEF32AEF4B38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EFE0A0E6-4A82-4A32-B80D-3DBB6ECC529E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records a general target such as 'get better at maths'.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42F9B1AC-BD34-404B-81B4-EB4B7B00BF98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8B091678-88B8-48C9-96C0-B3E6FA0D3572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59D78B33-C5C2-468E-A929-0D6499C5FABB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62464638-E05B-4E22-B722-381A38860C68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Calculate 2 1/4 divided by 3, then write the answer as a decimal.</a:t>
            </a:r>
          </a:p>
        </p:txBody>
      </p:sp>
    </p:spTree>
    <p:extLst>
      <p:ext uri="{BB962C8B-B14F-4D97-AF65-F5344CB8AC3E}">
        <p14:creationId xmlns:p14="http://schemas.microsoft.com/office/powerpoint/2010/main" val="9928709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4921D037-C29D-4B55-8E94-3E05AC55CA5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C4B400EF-9E7A-456E-930C-7143620EBC46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62C1887D-9217-4831-82D7-4C71B9B07154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4ED18603-A873-4A39-8FFC-D6651F7671C4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Apply Year 6 reasoning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CDF001A-9AD4-4AAF-9119-2B3A10FAEC87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CF95BE87-A3E0-41FE-AF77-0790B726E48C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14619CB9-3837-4C61-B60F-5E49C56A55AF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£560.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8D14643C-6DD4-47D0-BE93-A177C9F56588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F89098EC-69F9-485F-81A3-BDF05A2F26F5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9 cm.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CB38F1DA-3DB6-4CEA-86DC-F1E9339653F7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C502A75-240E-4057-BC96-6C16716BC5BA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3/4 or 0.75.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3D344962-648D-4EA7-B9D1-FE8F015F385F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4B881477-0066-4978-9470-F4DDE14390D4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£560.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92E4FD47-64A8-4919-93D3-68BA7AD32891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4399FAE1-621F-4EC8-8EDB-5AF0C14C87F6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9 cm.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49C55298-7B7C-4CA8-99E7-26378E78D643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4ADE8921-7362-4FA1-84B4-F8B1D170519F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3/4 or 0.75.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14E59132-E772-42DD-94D4-BA2B157C756F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8A5AD9EC-02DE-4EF9-AE01-F9C9253FF23F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x = 13 and 3,450 m.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FF0197C2-EA07-4435-A9FE-A525910B7900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A9719808-DBF6-435B-AEE8-A7E77F461C25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Use assessment evidence to name the exact concept, method, example and support required next.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36F121C6-16D4-4C1D-AF00-D8F615918AF5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AFE519D4-7FF2-4330-9D3B-0232B0682758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04C79066-D472-40A8-8A20-56B649FCD27E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8F7220B7-EA16-40CF-BBBC-C475D3822D53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125538297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1000</Words>
  <Application>Microsoft Office PowerPoint</Application>
  <DocSecurity>0</DocSecurity>
  <PresentationFormat>Custom</PresentationFormat>
  <Paragraphs>102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2026-09-14T13:14:40Z</dcterms:created>
  <dcterms:modified xsi:type="dcterms:W3CDTF">2026-09-14T13:18:18Z</dcterms:modified>
</cp:coreProperties>
</file>