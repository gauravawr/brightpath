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5240000" cy="85725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Retrieve algebra and measure. Retrieve algebra and measure. Introduce the mathematical idea using the first worked example. The lesson can be placed anywhere in the teaching sequence.</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Retrieve algebra and measure. I do. Keep both sides equal. Undo addition or subtraction on both sides, then divide both sides by the coefficient.</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Retrieve algebra and measure. You do. Pause before clicking. Let pupils try independently, then reveal and discuss every step. Keep both sides equal. Undo addition or subtraction on both sides, then divide both sides by the coefficient.</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Retrieve algebra and measure. I do. Keep both sides equal. Undo addition or subtraction on both sides, then divide both sides by the coefficient.</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Retrieve algebra and measure. You do. Pause before clicking. Let pupils try independently, then reveal and discuss every step. Keep both sides equal. Undo addition or subtraction on both sides, then divide both sides by the coefficient.</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Retrieve algebra and measure. You do. Pause before clicking. Let pupils try independently, then reveal and discuss every step. These are the existing expected-level worksheet questions, in their original order. Do not advance to the answer slide until pupils have had time to finish.</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Retrieve algebra and measure. Answers. Answers to the preceding complete activity question set, in matching order. Accept mathematically valid alternatives for open questions.</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object-1">
            <a:extLst>
              <a:ext uri="{FF2B5EF4-FFF2-40B4-BE49-F238E27FC236}">
                <a16:creationId xmlns:a16="http://schemas.microsoft.com/office/drawing/2014/main" id="{7B9F080B-BEC6-439E-8C31-6B28895A8538}"/>
              </a:ext>
            </a:extLst>
          </p:cNvPr>
          <p:cNvSpPr>
            <a:spLocks noGrp="1"/>
          </p:cNvSpPr>
          <p:nvPr/>
        </p:nvSpPr>
        <p:spPr>
          <a:xfrm>
            <a:off x="654844" y="357188"/>
            <a:ext cx="13930313" cy="1547813"/>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Retrieve algebra and measure</a:t>
            </a:r>
          </a:p>
        </p:txBody>
      </p:sp>
      <p:sp>
        <p:nvSpPr>
          <p:cNvPr id="2" name="object-2">
            <a:extLst>
              <a:ext uri="{FF2B5EF4-FFF2-40B4-BE49-F238E27FC236}">
                <a16:creationId xmlns:a16="http://schemas.microsoft.com/office/drawing/2014/main" id="{0E47A8DA-1113-410A-9F38-6C558D3D995C}"/>
              </a:ext>
            </a:extLst>
          </p:cNvPr>
          <p:cNvSpPr>
            <a:spLocks noGrp="1"/>
          </p:cNvSpPr>
          <p:nvPr/>
        </p:nvSpPr>
        <p:spPr>
          <a:xfrm>
            <a:off x="654844" y="2024063"/>
            <a:ext cx="13930313" cy="1012031"/>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Watch the model. Try the next question. Explain what changes.</a:t>
            </a:r>
          </a:p>
        </p:txBody>
      </p:sp>
      <p:sp>
        <p:nvSpPr>
          <p:cNvPr id="3" name="object-3">
            <a:extLst>
              <a:ext uri="{FF2B5EF4-FFF2-40B4-BE49-F238E27FC236}">
                <a16:creationId xmlns:a16="http://schemas.microsoft.com/office/drawing/2014/main" id="{5800F668-8339-495F-82B3-FF8D9C838FE8}"/>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2BCFB8D5-D837-4B8B-95C5-D1F7EE57F505}"/>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Retrieve algebra and measure</a:t>
            </a:r>
          </a:p>
        </p:txBody>
      </p:sp>
      <p:sp>
        <p:nvSpPr>
          <p:cNvPr id="5" name="object-5">
            <a:extLst>
              <a:ext uri="{FF2B5EF4-FFF2-40B4-BE49-F238E27FC236}">
                <a16:creationId xmlns:a16="http://schemas.microsoft.com/office/drawing/2014/main" id="{F57E18A3-B5E7-44BA-9E8A-2F3FFE974556}"/>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1</a:t>
            </a:r>
          </a:p>
        </p:txBody>
      </p:sp>
      <p:sp>
        <p:nvSpPr>
          <p:cNvPr id="6" name="object-6">
            <a:extLst>
              <a:ext uri="{FF2B5EF4-FFF2-40B4-BE49-F238E27FC236}">
                <a16:creationId xmlns:a16="http://schemas.microsoft.com/office/drawing/2014/main" id="{0F7C08C6-2B6F-4F7E-8F1D-B5FC70F8902C}"/>
              </a:ext>
            </a:extLst>
          </p:cNvPr>
          <p:cNvSpPr>
            <a:spLocks noGrp="1"/>
          </p:cNvSpPr>
          <p:nvPr/>
        </p:nvSpPr>
        <p:spPr>
          <a:xfrm>
            <a:off x="1190625" y="3631406"/>
            <a:ext cx="12858750" cy="2143125"/>
          </a:xfrm>
          <a:prstGeom prst="rect">
            <a:avLst/>
          </a:prstGeom>
          <a:noFill/>
          <a:ln w="0">
            <a:noFill/>
          </a:ln>
        </p:spPr>
        <p:txBody>
          <a:bodyPr anchor="ctr">
            <a:noAutofit/>
          </a:bodyPr>
          <a:lstStyle/>
          <a:p>
            <a:pPr algn="ctr">
              <a:defRPr sz="3375" b="1">
                <a:solidFill>
                  <a:srgbClr val="1D4ED8"/>
                </a:solidFill>
                <a:latin typeface="Arial"/>
                <a:ea typeface="Arial"/>
                <a:cs typeface="Arial"/>
              </a:defRPr>
            </a:pPr>
            <a:r>
              <a:rPr sz="3375" b="1">
                <a:solidFill>
                  <a:srgbClr val="1D4ED8"/>
                </a:solidFill>
                <a:latin typeface="Arial"/>
                <a:ea typeface="Arial"/>
                <a:cs typeface="Arial"/>
              </a:rPr>
              <a:t>To retrieve algebraic and measurement methods.</a:t>
            </a:r>
          </a:p>
        </p:txBody>
      </p:sp>
    </p:spTree>
    <p:extLst>
      <p:ext uri="{BB962C8B-B14F-4D97-AF65-F5344CB8AC3E}">
        <p14:creationId xmlns:p14="http://schemas.microsoft.com/office/powerpoint/2010/main" val="411240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object-1">
            <a:extLst>
              <a:ext uri="{FF2B5EF4-FFF2-40B4-BE49-F238E27FC236}">
                <a16:creationId xmlns:a16="http://schemas.microsoft.com/office/drawing/2014/main" id="{5F666101-DEF4-4F8B-B0E7-62C0CC55A48B}"/>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86A0A50D-2D85-4C5B-8B01-F29CFB5F4EC7}"/>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Solve 5x + 8 = 73.</a:t>
            </a:r>
          </a:p>
        </p:txBody>
      </p:sp>
      <p:sp>
        <p:nvSpPr>
          <p:cNvPr id="3" name="object-3">
            <a:extLst>
              <a:ext uri="{FF2B5EF4-FFF2-40B4-BE49-F238E27FC236}">
                <a16:creationId xmlns:a16="http://schemas.microsoft.com/office/drawing/2014/main" id="{EA63023C-D3D0-4EAE-8DE1-6DEFB56EAB80}"/>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565ED4ED-F068-4999-BCA2-DCBC233EA4C0}"/>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Retrieve algebra and measure</a:t>
            </a:r>
          </a:p>
        </p:txBody>
      </p:sp>
      <p:sp>
        <p:nvSpPr>
          <p:cNvPr id="5" name="object-5">
            <a:extLst>
              <a:ext uri="{FF2B5EF4-FFF2-40B4-BE49-F238E27FC236}">
                <a16:creationId xmlns:a16="http://schemas.microsoft.com/office/drawing/2014/main" id="{BE08BD78-D256-4E19-93A8-9957DD5F66B5}"/>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2</a:t>
            </a:r>
          </a:p>
        </p:txBody>
      </p:sp>
      <p:sp>
        <p:nvSpPr>
          <p:cNvPr id="6" name="object-6">
            <a:extLst>
              <a:ext uri="{FF2B5EF4-FFF2-40B4-BE49-F238E27FC236}">
                <a16:creationId xmlns:a16="http://schemas.microsoft.com/office/drawing/2014/main" id="{79A80483-5EB6-4ADD-A746-F0044C65E21A}"/>
              </a:ext>
            </a:extLst>
          </p:cNvPr>
          <p:cNvSpPr>
            <a:spLocks noGrp="1"/>
          </p:cNvSpPr>
          <p:nvPr/>
        </p:nvSpPr>
        <p:spPr>
          <a:xfrm>
            <a:off x="1309688" y="3095625"/>
            <a:ext cx="1428750" cy="1071563"/>
          </a:xfrm>
          <a:prstGeom prst="rect">
            <a:avLst/>
          </a:prstGeom>
          <a:solidFill>
            <a:srgbClr val="EFF6FF"/>
          </a:solidFill>
          <a:ln w="23813">
            <a:solidFill>
              <a:srgbClr val="1D4ED8"/>
            </a:solidFill>
          </a:ln>
        </p:spPr>
      </p:sp>
      <p:sp>
        <p:nvSpPr>
          <p:cNvPr id="7" name="object-7">
            <a:extLst>
              <a:ext uri="{FF2B5EF4-FFF2-40B4-BE49-F238E27FC236}">
                <a16:creationId xmlns:a16="http://schemas.microsoft.com/office/drawing/2014/main" id="{3A0039CD-BAA1-47A5-B222-E9E9B1F7B68D}"/>
              </a:ext>
            </a:extLst>
          </p:cNvPr>
          <p:cNvSpPr>
            <a:spLocks noGrp="1"/>
          </p:cNvSpPr>
          <p:nvPr/>
        </p:nvSpPr>
        <p:spPr>
          <a:xfrm>
            <a:off x="1309688" y="3178969"/>
            <a:ext cx="1428750" cy="833438"/>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x</a:t>
            </a:r>
          </a:p>
        </p:txBody>
      </p:sp>
      <p:sp>
        <p:nvSpPr>
          <p:cNvPr id="8" name="object-8">
            <a:extLst>
              <a:ext uri="{FF2B5EF4-FFF2-40B4-BE49-F238E27FC236}">
                <a16:creationId xmlns:a16="http://schemas.microsoft.com/office/drawing/2014/main" id="{CABFBF35-9DD3-491C-A08A-436170205FDD}"/>
              </a:ext>
            </a:extLst>
          </p:cNvPr>
          <p:cNvSpPr>
            <a:spLocks noGrp="1"/>
          </p:cNvSpPr>
          <p:nvPr/>
        </p:nvSpPr>
        <p:spPr>
          <a:xfrm>
            <a:off x="2738438" y="3095625"/>
            <a:ext cx="1428750" cy="1071563"/>
          </a:xfrm>
          <a:prstGeom prst="rect">
            <a:avLst/>
          </a:prstGeom>
          <a:solidFill>
            <a:srgbClr val="EFF6FF"/>
          </a:solidFill>
          <a:ln w="23813">
            <a:solidFill>
              <a:srgbClr val="1D4ED8"/>
            </a:solidFill>
          </a:ln>
        </p:spPr>
      </p:sp>
      <p:sp>
        <p:nvSpPr>
          <p:cNvPr id="9" name="object-9">
            <a:extLst>
              <a:ext uri="{FF2B5EF4-FFF2-40B4-BE49-F238E27FC236}">
                <a16:creationId xmlns:a16="http://schemas.microsoft.com/office/drawing/2014/main" id="{6A6F3665-4088-48A2-AC9F-587B3E6BC69F}"/>
              </a:ext>
            </a:extLst>
          </p:cNvPr>
          <p:cNvSpPr>
            <a:spLocks noGrp="1"/>
          </p:cNvSpPr>
          <p:nvPr/>
        </p:nvSpPr>
        <p:spPr>
          <a:xfrm>
            <a:off x="2738438" y="3178969"/>
            <a:ext cx="1428750" cy="833438"/>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x</a:t>
            </a:r>
          </a:p>
        </p:txBody>
      </p:sp>
      <p:sp>
        <p:nvSpPr>
          <p:cNvPr id="10" name="object-10">
            <a:extLst>
              <a:ext uri="{FF2B5EF4-FFF2-40B4-BE49-F238E27FC236}">
                <a16:creationId xmlns:a16="http://schemas.microsoft.com/office/drawing/2014/main" id="{7944108A-5D01-454C-BF64-84E468DD21A9}"/>
              </a:ext>
            </a:extLst>
          </p:cNvPr>
          <p:cNvSpPr>
            <a:spLocks noGrp="1"/>
          </p:cNvSpPr>
          <p:nvPr/>
        </p:nvSpPr>
        <p:spPr>
          <a:xfrm>
            <a:off x="4167188" y="3095625"/>
            <a:ext cx="1428750" cy="1071563"/>
          </a:xfrm>
          <a:prstGeom prst="rect">
            <a:avLst/>
          </a:prstGeom>
          <a:solidFill>
            <a:srgbClr val="EFF6FF"/>
          </a:solidFill>
          <a:ln w="23813">
            <a:solidFill>
              <a:srgbClr val="1D4ED8"/>
            </a:solidFill>
          </a:ln>
        </p:spPr>
      </p:sp>
      <p:sp>
        <p:nvSpPr>
          <p:cNvPr id="11" name="object-11">
            <a:extLst>
              <a:ext uri="{FF2B5EF4-FFF2-40B4-BE49-F238E27FC236}">
                <a16:creationId xmlns:a16="http://schemas.microsoft.com/office/drawing/2014/main" id="{399FB386-E361-47A1-B5A9-06D09F00701D}"/>
              </a:ext>
            </a:extLst>
          </p:cNvPr>
          <p:cNvSpPr>
            <a:spLocks noGrp="1"/>
          </p:cNvSpPr>
          <p:nvPr/>
        </p:nvSpPr>
        <p:spPr>
          <a:xfrm>
            <a:off x="4167188" y="3178969"/>
            <a:ext cx="1428750" cy="833438"/>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x</a:t>
            </a:r>
          </a:p>
        </p:txBody>
      </p:sp>
      <p:sp>
        <p:nvSpPr>
          <p:cNvPr id="12" name="object-12">
            <a:extLst>
              <a:ext uri="{FF2B5EF4-FFF2-40B4-BE49-F238E27FC236}">
                <a16:creationId xmlns:a16="http://schemas.microsoft.com/office/drawing/2014/main" id="{FCCEE85B-9BE3-4368-A30B-574D5C915D6E}"/>
              </a:ext>
            </a:extLst>
          </p:cNvPr>
          <p:cNvSpPr>
            <a:spLocks noGrp="1"/>
          </p:cNvSpPr>
          <p:nvPr/>
        </p:nvSpPr>
        <p:spPr>
          <a:xfrm>
            <a:off x="5595938" y="3095625"/>
            <a:ext cx="1428750" cy="1071563"/>
          </a:xfrm>
          <a:prstGeom prst="rect">
            <a:avLst/>
          </a:prstGeom>
          <a:solidFill>
            <a:srgbClr val="EFF6FF"/>
          </a:solidFill>
          <a:ln w="23813">
            <a:solidFill>
              <a:srgbClr val="1D4ED8"/>
            </a:solidFill>
          </a:ln>
        </p:spPr>
      </p:sp>
      <p:sp>
        <p:nvSpPr>
          <p:cNvPr id="13" name="object-13">
            <a:extLst>
              <a:ext uri="{FF2B5EF4-FFF2-40B4-BE49-F238E27FC236}">
                <a16:creationId xmlns:a16="http://schemas.microsoft.com/office/drawing/2014/main" id="{48CBBC54-7EA4-44BB-82B6-01CBCDD6772A}"/>
              </a:ext>
            </a:extLst>
          </p:cNvPr>
          <p:cNvSpPr>
            <a:spLocks noGrp="1"/>
          </p:cNvSpPr>
          <p:nvPr/>
        </p:nvSpPr>
        <p:spPr>
          <a:xfrm>
            <a:off x="5595938" y="3178969"/>
            <a:ext cx="1428750" cy="833438"/>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x</a:t>
            </a:r>
          </a:p>
        </p:txBody>
      </p:sp>
      <p:sp>
        <p:nvSpPr>
          <p:cNvPr id="14" name="object-14">
            <a:extLst>
              <a:ext uri="{FF2B5EF4-FFF2-40B4-BE49-F238E27FC236}">
                <a16:creationId xmlns:a16="http://schemas.microsoft.com/office/drawing/2014/main" id="{068F3CE1-D77A-4B4B-8AEC-D37DF37BA978}"/>
              </a:ext>
            </a:extLst>
          </p:cNvPr>
          <p:cNvSpPr>
            <a:spLocks noGrp="1"/>
          </p:cNvSpPr>
          <p:nvPr/>
        </p:nvSpPr>
        <p:spPr>
          <a:xfrm>
            <a:off x="7024688" y="3095625"/>
            <a:ext cx="1428750" cy="1071563"/>
          </a:xfrm>
          <a:prstGeom prst="rect">
            <a:avLst/>
          </a:prstGeom>
          <a:solidFill>
            <a:srgbClr val="EFF6FF"/>
          </a:solidFill>
          <a:ln w="23813">
            <a:solidFill>
              <a:srgbClr val="1D4ED8"/>
            </a:solidFill>
          </a:ln>
        </p:spPr>
      </p:sp>
      <p:sp>
        <p:nvSpPr>
          <p:cNvPr id="15" name="object-15">
            <a:extLst>
              <a:ext uri="{FF2B5EF4-FFF2-40B4-BE49-F238E27FC236}">
                <a16:creationId xmlns:a16="http://schemas.microsoft.com/office/drawing/2014/main" id="{2628529B-A9B2-4717-A162-DB8CBA054206}"/>
              </a:ext>
            </a:extLst>
          </p:cNvPr>
          <p:cNvSpPr>
            <a:spLocks noGrp="1"/>
          </p:cNvSpPr>
          <p:nvPr/>
        </p:nvSpPr>
        <p:spPr>
          <a:xfrm>
            <a:off x="7024688" y="3178969"/>
            <a:ext cx="1428750" cy="833438"/>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x</a:t>
            </a:r>
          </a:p>
        </p:txBody>
      </p:sp>
      <p:sp>
        <p:nvSpPr>
          <p:cNvPr id="16" name="object-16">
            <a:extLst>
              <a:ext uri="{FF2B5EF4-FFF2-40B4-BE49-F238E27FC236}">
                <a16:creationId xmlns:a16="http://schemas.microsoft.com/office/drawing/2014/main" id="{308F65AA-9C7E-4BF1-B75E-8E795821FC57}"/>
              </a:ext>
            </a:extLst>
          </p:cNvPr>
          <p:cNvSpPr>
            <a:spLocks noGrp="1"/>
          </p:cNvSpPr>
          <p:nvPr/>
        </p:nvSpPr>
        <p:spPr>
          <a:xfrm>
            <a:off x="8870156" y="3155156"/>
            <a:ext cx="2083594" cy="892969"/>
          </a:xfrm>
          <a:prstGeom prst="rect">
            <a:avLst/>
          </a:prstGeom>
          <a:noFill/>
          <a:ln w="0">
            <a:noFill/>
          </a:ln>
        </p:spPr>
        <p:txBody>
          <a:bodyPr anchor="ctr">
            <a:noAutofit/>
          </a:bodyPr>
          <a:lstStyle/>
          <a:p>
            <a:pPr algn="l">
              <a:defRPr sz="3938" b="1">
                <a:solidFill>
                  <a:srgbClr val="9A5800"/>
                </a:solidFill>
                <a:latin typeface="Arial"/>
                <a:ea typeface="Arial"/>
                <a:cs typeface="Arial"/>
              </a:defRPr>
            </a:pPr>
            <a:r>
              <a:rPr sz="3938" b="1">
                <a:solidFill>
                  <a:srgbClr val="9A5800"/>
                </a:solidFill>
                <a:latin typeface="Arial"/>
                <a:ea typeface="Arial"/>
                <a:cs typeface="Arial"/>
              </a:rPr>
              <a:t>+ 8</a:t>
            </a:r>
          </a:p>
        </p:txBody>
      </p:sp>
      <p:sp>
        <p:nvSpPr>
          <p:cNvPr id="17" name="object-17">
            <a:extLst>
              <a:ext uri="{FF2B5EF4-FFF2-40B4-BE49-F238E27FC236}">
                <a16:creationId xmlns:a16="http://schemas.microsoft.com/office/drawing/2014/main" id="{BF9E113F-9493-4F5A-8ED0-BF1719A67D45}"/>
              </a:ext>
            </a:extLst>
          </p:cNvPr>
          <p:cNvSpPr>
            <a:spLocks noGrp="1"/>
          </p:cNvSpPr>
          <p:nvPr/>
        </p:nvSpPr>
        <p:spPr>
          <a:xfrm>
            <a:off x="11549063" y="3155156"/>
            <a:ext cx="2857500" cy="892969"/>
          </a:xfrm>
          <a:prstGeom prst="rect">
            <a:avLst/>
          </a:prstGeom>
          <a:noFill/>
          <a:ln w="0">
            <a:noFill/>
          </a:ln>
        </p:spPr>
        <p:txBody>
          <a:bodyPr anchor="ctr">
            <a:noAutofit/>
          </a:bodyPr>
          <a:lstStyle/>
          <a:p>
            <a:pPr algn="l">
              <a:defRPr sz="4031" b="1">
                <a:solidFill>
                  <a:srgbClr val="172B4D"/>
                </a:solidFill>
                <a:latin typeface="Arial"/>
                <a:ea typeface="Arial"/>
                <a:cs typeface="Arial"/>
              </a:defRPr>
            </a:pPr>
            <a:r>
              <a:rPr sz="4031" b="1">
                <a:solidFill>
                  <a:srgbClr val="172B4D"/>
                </a:solidFill>
                <a:latin typeface="Arial"/>
                <a:ea typeface="Arial"/>
                <a:cs typeface="Arial"/>
              </a:rPr>
              <a:t>= 73</a:t>
            </a:r>
          </a:p>
        </p:txBody>
      </p:sp>
      <p:sp>
        <p:nvSpPr>
          <p:cNvPr id="18" name="object-18">
            <a:extLst>
              <a:ext uri="{FF2B5EF4-FFF2-40B4-BE49-F238E27FC236}">
                <a16:creationId xmlns:a16="http://schemas.microsoft.com/office/drawing/2014/main" id="{BABAFCF9-1C56-407F-AD6C-ADE1580B59E3}"/>
              </a:ext>
            </a:extLst>
          </p:cNvPr>
          <p:cNvSpPr>
            <a:spLocks noGrp="1"/>
          </p:cNvSpPr>
          <p:nvPr/>
        </p:nvSpPr>
        <p:spPr>
          <a:xfrm>
            <a:off x="2024063" y="4643438"/>
            <a:ext cx="11191875" cy="714375"/>
          </a:xfrm>
          <a:prstGeom prst="rect">
            <a:avLst/>
          </a:prstGeom>
          <a:noFill/>
          <a:ln w="0">
            <a:noFill/>
          </a:ln>
        </p:spPr>
        <p:txBody>
          <a:bodyPr anchor="ctr">
            <a:noAutofit/>
          </a:bodyPr>
          <a:lstStyle/>
          <a:p>
            <a:pPr algn="ctr">
              <a:defRPr sz="2906" b="1">
                <a:solidFill>
                  <a:srgbClr val="9A5800"/>
                </a:solidFill>
                <a:latin typeface="Arial"/>
                <a:ea typeface="Arial"/>
                <a:cs typeface="Arial"/>
              </a:defRPr>
            </a:pPr>
            <a:r>
              <a:rPr sz="2906" b="1">
                <a:solidFill>
                  <a:srgbClr val="9A5800"/>
                </a:solidFill>
                <a:latin typeface="Arial"/>
                <a:ea typeface="Arial"/>
                <a:cs typeface="Arial"/>
              </a:rPr>
              <a:t>Subtract 8 on both sides</a:t>
            </a:r>
          </a:p>
        </p:txBody>
      </p:sp>
      <p:sp>
        <p:nvSpPr>
          <p:cNvPr id="19" name="object-19">
            <a:extLst>
              <a:ext uri="{FF2B5EF4-FFF2-40B4-BE49-F238E27FC236}">
                <a16:creationId xmlns:a16="http://schemas.microsoft.com/office/drawing/2014/main" id="{DD67A9E9-C844-4B2B-8890-AD341E8F717D}"/>
              </a:ext>
            </a:extLst>
          </p:cNvPr>
          <p:cNvSpPr>
            <a:spLocks noGrp="1"/>
          </p:cNvSpPr>
          <p:nvPr/>
        </p:nvSpPr>
        <p:spPr>
          <a:xfrm>
            <a:off x="2381250" y="5655469"/>
            <a:ext cx="10477500"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5x = 65</a:t>
            </a:r>
          </a:p>
        </p:txBody>
      </p:sp>
      <p:sp>
        <p:nvSpPr>
          <p:cNvPr id="20" name="object-20">
            <a:extLst>
              <a:ext uri="{FF2B5EF4-FFF2-40B4-BE49-F238E27FC236}">
                <a16:creationId xmlns:a16="http://schemas.microsoft.com/office/drawing/2014/main" id="{180F010C-C40F-4A7B-B189-42B8463E76FF}"/>
              </a:ext>
            </a:extLst>
          </p:cNvPr>
          <p:cNvSpPr>
            <a:spLocks noGrp="1"/>
          </p:cNvSpPr>
          <p:nvPr/>
        </p:nvSpPr>
        <p:spPr>
          <a:xfrm>
            <a:off x="7977188" y="6667500"/>
            <a:ext cx="4286250" cy="773906"/>
          </a:xfrm>
          <a:prstGeom prst="rect">
            <a:avLst/>
          </a:prstGeom>
          <a:noFill/>
          <a:ln w="0">
            <a:noFill/>
          </a:ln>
        </p:spPr>
        <p:txBody>
          <a:bodyPr anchor="ctr">
            <a:noAutofit/>
          </a:bodyPr>
          <a:lstStyle/>
          <a:p>
            <a:pPr algn="ctr">
              <a:defRPr sz="4594" b="1">
                <a:solidFill>
                  <a:srgbClr val="11745A"/>
                </a:solidFill>
                <a:latin typeface="Arial"/>
                <a:ea typeface="Arial"/>
                <a:cs typeface="Arial"/>
              </a:defRPr>
            </a:pPr>
            <a:r>
              <a:rPr sz="4594" b="1">
                <a:solidFill>
                  <a:srgbClr val="11745A"/>
                </a:solidFill>
                <a:latin typeface="Arial"/>
                <a:ea typeface="Arial"/>
                <a:cs typeface="Arial"/>
              </a:rPr>
              <a:t>x = 13</a:t>
            </a:r>
          </a:p>
        </p:txBody>
      </p:sp>
    </p:spTree>
    <p:extLst>
      <p:ext uri="{BB962C8B-B14F-4D97-AF65-F5344CB8AC3E}">
        <p14:creationId xmlns:p14="http://schemas.microsoft.com/office/powerpoint/2010/main" val="1590536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par>
                          <p:cTn id="15" fill="hold">
                            <p:stCondLst>
                              <p:cond delay="0"/>
                            </p:stCondLst>
                            <p:childTnLst>
                              <p:par>
                                <p:cTn id="16" presetID="63" presetClass="path" presetSubtype="0" accel="50000" decel="50000" fill="hold" grpId="1" nodeType="afterEffect">
                                  <p:stCondLst>
                                    <p:cond delay="0"/>
                                  </p:stCondLst>
                                  <p:childTnLst>
                                    <p:animMotion origin="layout" path="M 0 0 L -0.125 0 E" pathEditMode="relative" ptsTypes="">
                                      <p:cBhvr>
                                        <p:cTn id="17" dur="800" fill="hold"/>
                                        <p:tgtEl>
                                          <p:spTgt spid="20"/>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P spid="20" grpId="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object-1">
            <a:extLst>
              <a:ext uri="{FF2B5EF4-FFF2-40B4-BE49-F238E27FC236}">
                <a16:creationId xmlns:a16="http://schemas.microsoft.com/office/drawing/2014/main" id="{43C5EBFC-3E8D-4F8F-B966-DDB2F0C8FA46}"/>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8569E9B5-6552-4FEA-8293-1C62CC977820}"/>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408FD96E-1037-4F75-99CC-269A64D67829}"/>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Solve 5x + 8 = 83.</a:t>
            </a:r>
          </a:p>
        </p:txBody>
      </p:sp>
      <p:sp>
        <p:nvSpPr>
          <p:cNvPr id="4" name="object-4">
            <a:extLst>
              <a:ext uri="{FF2B5EF4-FFF2-40B4-BE49-F238E27FC236}">
                <a16:creationId xmlns:a16="http://schemas.microsoft.com/office/drawing/2014/main" id="{56491415-3906-4A9B-B7F4-C0848E12EE5A}"/>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38E10302-AF00-4954-8483-05051822EF06}"/>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Retrieve algebra and measure</a:t>
            </a:r>
          </a:p>
        </p:txBody>
      </p:sp>
      <p:sp>
        <p:nvSpPr>
          <p:cNvPr id="6" name="object-6">
            <a:extLst>
              <a:ext uri="{FF2B5EF4-FFF2-40B4-BE49-F238E27FC236}">
                <a16:creationId xmlns:a16="http://schemas.microsoft.com/office/drawing/2014/main" id="{9C884060-1177-4D22-B95D-DC2F98604079}"/>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3</a:t>
            </a:r>
          </a:p>
        </p:txBody>
      </p:sp>
      <p:sp>
        <p:nvSpPr>
          <p:cNvPr id="7" name="object-7">
            <a:extLst>
              <a:ext uri="{FF2B5EF4-FFF2-40B4-BE49-F238E27FC236}">
                <a16:creationId xmlns:a16="http://schemas.microsoft.com/office/drawing/2014/main" id="{90E1BB48-61FA-432C-9647-FED959855C36}"/>
              </a:ext>
            </a:extLst>
          </p:cNvPr>
          <p:cNvSpPr>
            <a:spLocks noGrp="1"/>
          </p:cNvSpPr>
          <p:nvPr/>
        </p:nvSpPr>
        <p:spPr>
          <a:xfrm>
            <a:off x="1309688" y="3095625"/>
            <a:ext cx="1428750" cy="1071563"/>
          </a:xfrm>
          <a:prstGeom prst="rect">
            <a:avLst/>
          </a:prstGeom>
          <a:solidFill>
            <a:srgbClr val="EFF6FF"/>
          </a:solidFill>
          <a:ln w="23813">
            <a:solidFill>
              <a:srgbClr val="1D4ED8"/>
            </a:solidFill>
          </a:ln>
        </p:spPr>
      </p:sp>
      <p:sp>
        <p:nvSpPr>
          <p:cNvPr id="8" name="object-8">
            <a:extLst>
              <a:ext uri="{FF2B5EF4-FFF2-40B4-BE49-F238E27FC236}">
                <a16:creationId xmlns:a16="http://schemas.microsoft.com/office/drawing/2014/main" id="{36E618F5-BD9A-40FE-A0A3-824B7D6DF8AB}"/>
              </a:ext>
            </a:extLst>
          </p:cNvPr>
          <p:cNvSpPr>
            <a:spLocks noGrp="1"/>
          </p:cNvSpPr>
          <p:nvPr/>
        </p:nvSpPr>
        <p:spPr>
          <a:xfrm>
            <a:off x="1309688" y="3178969"/>
            <a:ext cx="1428750" cy="833438"/>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x</a:t>
            </a:r>
          </a:p>
        </p:txBody>
      </p:sp>
      <p:sp>
        <p:nvSpPr>
          <p:cNvPr id="9" name="object-9">
            <a:extLst>
              <a:ext uri="{FF2B5EF4-FFF2-40B4-BE49-F238E27FC236}">
                <a16:creationId xmlns:a16="http://schemas.microsoft.com/office/drawing/2014/main" id="{6ADA4F70-092E-4EB4-9AF4-BE0C09C32C45}"/>
              </a:ext>
            </a:extLst>
          </p:cNvPr>
          <p:cNvSpPr>
            <a:spLocks noGrp="1"/>
          </p:cNvSpPr>
          <p:nvPr/>
        </p:nvSpPr>
        <p:spPr>
          <a:xfrm>
            <a:off x="2738438" y="3095625"/>
            <a:ext cx="1428750" cy="1071563"/>
          </a:xfrm>
          <a:prstGeom prst="rect">
            <a:avLst/>
          </a:prstGeom>
          <a:solidFill>
            <a:srgbClr val="EFF6FF"/>
          </a:solidFill>
          <a:ln w="23813">
            <a:solidFill>
              <a:srgbClr val="1D4ED8"/>
            </a:solidFill>
          </a:ln>
        </p:spPr>
      </p:sp>
      <p:sp>
        <p:nvSpPr>
          <p:cNvPr id="10" name="object-10">
            <a:extLst>
              <a:ext uri="{FF2B5EF4-FFF2-40B4-BE49-F238E27FC236}">
                <a16:creationId xmlns:a16="http://schemas.microsoft.com/office/drawing/2014/main" id="{6DF37780-655E-4771-A052-40A7D7E79FCF}"/>
              </a:ext>
            </a:extLst>
          </p:cNvPr>
          <p:cNvSpPr>
            <a:spLocks noGrp="1"/>
          </p:cNvSpPr>
          <p:nvPr/>
        </p:nvSpPr>
        <p:spPr>
          <a:xfrm>
            <a:off x="2738438" y="3178969"/>
            <a:ext cx="1428750" cy="833438"/>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x</a:t>
            </a:r>
          </a:p>
        </p:txBody>
      </p:sp>
      <p:sp>
        <p:nvSpPr>
          <p:cNvPr id="11" name="object-11">
            <a:extLst>
              <a:ext uri="{FF2B5EF4-FFF2-40B4-BE49-F238E27FC236}">
                <a16:creationId xmlns:a16="http://schemas.microsoft.com/office/drawing/2014/main" id="{F32974B8-BCBE-4114-96D5-4B84CBF931EB}"/>
              </a:ext>
            </a:extLst>
          </p:cNvPr>
          <p:cNvSpPr>
            <a:spLocks noGrp="1"/>
          </p:cNvSpPr>
          <p:nvPr/>
        </p:nvSpPr>
        <p:spPr>
          <a:xfrm>
            <a:off x="4167188" y="3095625"/>
            <a:ext cx="1428750" cy="1071563"/>
          </a:xfrm>
          <a:prstGeom prst="rect">
            <a:avLst/>
          </a:prstGeom>
          <a:solidFill>
            <a:srgbClr val="EFF6FF"/>
          </a:solidFill>
          <a:ln w="23813">
            <a:solidFill>
              <a:srgbClr val="1D4ED8"/>
            </a:solidFill>
          </a:ln>
        </p:spPr>
      </p:sp>
      <p:sp>
        <p:nvSpPr>
          <p:cNvPr id="12" name="object-12">
            <a:extLst>
              <a:ext uri="{FF2B5EF4-FFF2-40B4-BE49-F238E27FC236}">
                <a16:creationId xmlns:a16="http://schemas.microsoft.com/office/drawing/2014/main" id="{089588FB-5C68-44EB-A542-E94955B5DFF0}"/>
              </a:ext>
            </a:extLst>
          </p:cNvPr>
          <p:cNvSpPr>
            <a:spLocks noGrp="1"/>
          </p:cNvSpPr>
          <p:nvPr/>
        </p:nvSpPr>
        <p:spPr>
          <a:xfrm>
            <a:off x="4167188" y="3178969"/>
            <a:ext cx="1428750" cy="833438"/>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x</a:t>
            </a:r>
          </a:p>
        </p:txBody>
      </p:sp>
      <p:sp>
        <p:nvSpPr>
          <p:cNvPr id="13" name="object-13">
            <a:extLst>
              <a:ext uri="{FF2B5EF4-FFF2-40B4-BE49-F238E27FC236}">
                <a16:creationId xmlns:a16="http://schemas.microsoft.com/office/drawing/2014/main" id="{3DDED41B-72D0-4936-8D23-0859CA3B9CCC}"/>
              </a:ext>
            </a:extLst>
          </p:cNvPr>
          <p:cNvSpPr>
            <a:spLocks noGrp="1"/>
          </p:cNvSpPr>
          <p:nvPr/>
        </p:nvSpPr>
        <p:spPr>
          <a:xfrm>
            <a:off x="5595938" y="3095625"/>
            <a:ext cx="1428750" cy="1071563"/>
          </a:xfrm>
          <a:prstGeom prst="rect">
            <a:avLst/>
          </a:prstGeom>
          <a:solidFill>
            <a:srgbClr val="EFF6FF"/>
          </a:solidFill>
          <a:ln w="23813">
            <a:solidFill>
              <a:srgbClr val="1D4ED8"/>
            </a:solidFill>
          </a:ln>
        </p:spPr>
      </p:sp>
      <p:sp>
        <p:nvSpPr>
          <p:cNvPr id="14" name="object-14">
            <a:extLst>
              <a:ext uri="{FF2B5EF4-FFF2-40B4-BE49-F238E27FC236}">
                <a16:creationId xmlns:a16="http://schemas.microsoft.com/office/drawing/2014/main" id="{005DC29B-1FC3-4A6D-B8F3-29C38A758A96}"/>
              </a:ext>
            </a:extLst>
          </p:cNvPr>
          <p:cNvSpPr>
            <a:spLocks noGrp="1"/>
          </p:cNvSpPr>
          <p:nvPr/>
        </p:nvSpPr>
        <p:spPr>
          <a:xfrm>
            <a:off x="5595938" y="3178969"/>
            <a:ext cx="1428750" cy="833438"/>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x</a:t>
            </a:r>
          </a:p>
        </p:txBody>
      </p:sp>
      <p:sp>
        <p:nvSpPr>
          <p:cNvPr id="15" name="object-15">
            <a:extLst>
              <a:ext uri="{FF2B5EF4-FFF2-40B4-BE49-F238E27FC236}">
                <a16:creationId xmlns:a16="http://schemas.microsoft.com/office/drawing/2014/main" id="{A710ACFB-6DC0-4418-94EB-EAC448B44F70}"/>
              </a:ext>
            </a:extLst>
          </p:cNvPr>
          <p:cNvSpPr>
            <a:spLocks noGrp="1"/>
          </p:cNvSpPr>
          <p:nvPr/>
        </p:nvSpPr>
        <p:spPr>
          <a:xfrm>
            <a:off x="7024688" y="3095625"/>
            <a:ext cx="1428750" cy="1071563"/>
          </a:xfrm>
          <a:prstGeom prst="rect">
            <a:avLst/>
          </a:prstGeom>
          <a:solidFill>
            <a:srgbClr val="EFF6FF"/>
          </a:solidFill>
          <a:ln w="23813">
            <a:solidFill>
              <a:srgbClr val="1D4ED8"/>
            </a:solidFill>
          </a:ln>
        </p:spPr>
      </p:sp>
      <p:sp>
        <p:nvSpPr>
          <p:cNvPr id="16" name="object-16">
            <a:extLst>
              <a:ext uri="{FF2B5EF4-FFF2-40B4-BE49-F238E27FC236}">
                <a16:creationId xmlns:a16="http://schemas.microsoft.com/office/drawing/2014/main" id="{52039EB0-D05B-4C57-9CA6-C3386CF0ED4C}"/>
              </a:ext>
            </a:extLst>
          </p:cNvPr>
          <p:cNvSpPr>
            <a:spLocks noGrp="1"/>
          </p:cNvSpPr>
          <p:nvPr/>
        </p:nvSpPr>
        <p:spPr>
          <a:xfrm>
            <a:off x="7024688" y="3178969"/>
            <a:ext cx="1428750" cy="833438"/>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x</a:t>
            </a:r>
          </a:p>
        </p:txBody>
      </p:sp>
      <p:sp>
        <p:nvSpPr>
          <p:cNvPr id="17" name="object-17">
            <a:extLst>
              <a:ext uri="{FF2B5EF4-FFF2-40B4-BE49-F238E27FC236}">
                <a16:creationId xmlns:a16="http://schemas.microsoft.com/office/drawing/2014/main" id="{112DF025-BE07-44BD-B2CD-47E739A6E12B}"/>
              </a:ext>
            </a:extLst>
          </p:cNvPr>
          <p:cNvSpPr>
            <a:spLocks noGrp="1"/>
          </p:cNvSpPr>
          <p:nvPr/>
        </p:nvSpPr>
        <p:spPr>
          <a:xfrm>
            <a:off x="8870156" y="3155156"/>
            <a:ext cx="2083594" cy="892969"/>
          </a:xfrm>
          <a:prstGeom prst="rect">
            <a:avLst/>
          </a:prstGeom>
          <a:noFill/>
          <a:ln w="0">
            <a:noFill/>
          </a:ln>
        </p:spPr>
        <p:txBody>
          <a:bodyPr anchor="ctr">
            <a:noAutofit/>
          </a:bodyPr>
          <a:lstStyle/>
          <a:p>
            <a:pPr algn="l">
              <a:defRPr sz="3938" b="1">
                <a:solidFill>
                  <a:srgbClr val="9A5800"/>
                </a:solidFill>
                <a:latin typeface="Arial"/>
                <a:ea typeface="Arial"/>
                <a:cs typeface="Arial"/>
              </a:defRPr>
            </a:pPr>
            <a:r>
              <a:rPr sz="3938" b="1">
                <a:solidFill>
                  <a:srgbClr val="9A5800"/>
                </a:solidFill>
                <a:latin typeface="Arial"/>
                <a:ea typeface="Arial"/>
                <a:cs typeface="Arial"/>
              </a:rPr>
              <a:t>+ 8</a:t>
            </a:r>
          </a:p>
        </p:txBody>
      </p:sp>
      <p:sp>
        <p:nvSpPr>
          <p:cNvPr id="18" name="object-18">
            <a:extLst>
              <a:ext uri="{FF2B5EF4-FFF2-40B4-BE49-F238E27FC236}">
                <a16:creationId xmlns:a16="http://schemas.microsoft.com/office/drawing/2014/main" id="{498D1A48-54B1-45D3-9C6F-803F3DADE6A5}"/>
              </a:ext>
            </a:extLst>
          </p:cNvPr>
          <p:cNvSpPr>
            <a:spLocks noGrp="1"/>
          </p:cNvSpPr>
          <p:nvPr/>
        </p:nvSpPr>
        <p:spPr>
          <a:xfrm>
            <a:off x="11549063" y="3155156"/>
            <a:ext cx="2857500" cy="892969"/>
          </a:xfrm>
          <a:prstGeom prst="rect">
            <a:avLst/>
          </a:prstGeom>
          <a:noFill/>
          <a:ln w="0">
            <a:noFill/>
          </a:ln>
        </p:spPr>
        <p:txBody>
          <a:bodyPr anchor="ctr">
            <a:noAutofit/>
          </a:bodyPr>
          <a:lstStyle/>
          <a:p>
            <a:pPr algn="l">
              <a:defRPr sz="4031" b="1">
                <a:solidFill>
                  <a:srgbClr val="172B4D"/>
                </a:solidFill>
                <a:latin typeface="Arial"/>
                <a:ea typeface="Arial"/>
                <a:cs typeface="Arial"/>
              </a:defRPr>
            </a:pPr>
            <a:r>
              <a:rPr sz="4031" b="1">
                <a:solidFill>
                  <a:srgbClr val="172B4D"/>
                </a:solidFill>
                <a:latin typeface="Arial"/>
                <a:ea typeface="Arial"/>
                <a:cs typeface="Arial"/>
              </a:rPr>
              <a:t>= 83</a:t>
            </a:r>
          </a:p>
        </p:txBody>
      </p:sp>
      <p:sp>
        <p:nvSpPr>
          <p:cNvPr id="19" name="object-19">
            <a:extLst>
              <a:ext uri="{FF2B5EF4-FFF2-40B4-BE49-F238E27FC236}">
                <a16:creationId xmlns:a16="http://schemas.microsoft.com/office/drawing/2014/main" id="{B5F7B3CF-27F2-4D4A-A47F-933315FC38A6}"/>
              </a:ext>
            </a:extLst>
          </p:cNvPr>
          <p:cNvSpPr>
            <a:spLocks noGrp="1"/>
          </p:cNvSpPr>
          <p:nvPr/>
        </p:nvSpPr>
        <p:spPr>
          <a:xfrm>
            <a:off x="2024063" y="4643438"/>
            <a:ext cx="11191875" cy="714375"/>
          </a:xfrm>
          <a:prstGeom prst="rect">
            <a:avLst/>
          </a:prstGeom>
          <a:noFill/>
          <a:ln w="0">
            <a:noFill/>
          </a:ln>
        </p:spPr>
        <p:txBody>
          <a:bodyPr anchor="ctr">
            <a:noAutofit/>
          </a:bodyPr>
          <a:lstStyle/>
          <a:p>
            <a:pPr algn="ctr">
              <a:defRPr sz="2906" b="1">
                <a:solidFill>
                  <a:srgbClr val="9A5800"/>
                </a:solidFill>
                <a:latin typeface="Arial"/>
                <a:ea typeface="Arial"/>
                <a:cs typeface="Arial"/>
              </a:defRPr>
            </a:pPr>
            <a:r>
              <a:rPr sz="2906" b="1">
                <a:solidFill>
                  <a:srgbClr val="9A5800"/>
                </a:solidFill>
                <a:latin typeface="Arial"/>
                <a:ea typeface="Arial"/>
                <a:cs typeface="Arial"/>
              </a:rPr>
              <a:t>Subtract 8 on both sides</a:t>
            </a:r>
          </a:p>
        </p:txBody>
      </p:sp>
      <p:sp>
        <p:nvSpPr>
          <p:cNvPr id="20" name="object-20">
            <a:extLst>
              <a:ext uri="{FF2B5EF4-FFF2-40B4-BE49-F238E27FC236}">
                <a16:creationId xmlns:a16="http://schemas.microsoft.com/office/drawing/2014/main" id="{C9068425-8B39-4F3B-853C-FB85D4C891F4}"/>
              </a:ext>
            </a:extLst>
          </p:cNvPr>
          <p:cNvSpPr>
            <a:spLocks noGrp="1"/>
          </p:cNvSpPr>
          <p:nvPr/>
        </p:nvSpPr>
        <p:spPr>
          <a:xfrm>
            <a:off x="2381250" y="5655469"/>
            <a:ext cx="10477500"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5x = 75</a:t>
            </a:r>
          </a:p>
        </p:txBody>
      </p:sp>
      <p:sp>
        <p:nvSpPr>
          <p:cNvPr id="21" name="object-21">
            <a:extLst>
              <a:ext uri="{FF2B5EF4-FFF2-40B4-BE49-F238E27FC236}">
                <a16:creationId xmlns:a16="http://schemas.microsoft.com/office/drawing/2014/main" id="{08F3EF2A-2B70-46C9-8432-67E7AB02EED6}"/>
              </a:ext>
            </a:extLst>
          </p:cNvPr>
          <p:cNvSpPr>
            <a:spLocks noGrp="1"/>
          </p:cNvSpPr>
          <p:nvPr/>
        </p:nvSpPr>
        <p:spPr>
          <a:xfrm>
            <a:off x="7977188" y="6667500"/>
            <a:ext cx="4286250" cy="773906"/>
          </a:xfrm>
          <a:prstGeom prst="rect">
            <a:avLst/>
          </a:prstGeom>
          <a:noFill/>
          <a:ln w="0">
            <a:noFill/>
          </a:ln>
        </p:spPr>
        <p:txBody>
          <a:bodyPr anchor="ctr">
            <a:noAutofit/>
          </a:bodyPr>
          <a:lstStyle/>
          <a:p>
            <a:pPr algn="ctr">
              <a:defRPr sz="4594" b="1">
                <a:solidFill>
                  <a:srgbClr val="11745A"/>
                </a:solidFill>
                <a:latin typeface="Arial"/>
                <a:ea typeface="Arial"/>
                <a:cs typeface="Arial"/>
              </a:defRPr>
            </a:pPr>
            <a:r>
              <a:rPr sz="4594" b="1">
                <a:solidFill>
                  <a:srgbClr val="11745A"/>
                </a:solidFill>
                <a:latin typeface="Arial"/>
                <a:ea typeface="Arial"/>
                <a:cs typeface="Arial"/>
              </a:rPr>
              <a:t>x = 15</a:t>
            </a:r>
          </a:p>
        </p:txBody>
      </p:sp>
    </p:spTree>
    <p:extLst>
      <p:ext uri="{BB962C8B-B14F-4D97-AF65-F5344CB8AC3E}">
        <p14:creationId xmlns:p14="http://schemas.microsoft.com/office/powerpoint/2010/main" val="1963740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par>
                          <p:cTn id="15" fill="hold">
                            <p:stCondLst>
                              <p:cond delay="0"/>
                            </p:stCondLst>
                            <p:childTnLst>
                              <p:par>
                                <p:cTn id="16" presetID="63" presetClass="path" presetSubtype="0" accel="50000" decel="50000" fill="hold" grpId="1" nodeType="afterEffect">
                                  <p:stCondLst>
                                    <p:cond delay="0"/>
                                  </p:stCondLst>
                                  <p:childTnLst>
                                    <p:animMotion origin="layout" path="M 0 0 L -0.125 0 E" pathEditMode="relative" ptsTypes="">
                                      <p:cBhvr>
                                        <p:cTn id="17" dur="800" fill="hold"/>
                                        <p:tgtEl>
                                          <p:spTgt spid="21"/>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p:bldP spid="21" grpId="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object-1">
            <a:extLst>
              <a:ext uri="{FF2B5EF4-FFF2-40B4-BE49-F238E27FC236}">
                <a16:creationId xmlns:a16="http://schemas.microsoft.com/office/drawing/2014/main" id="{B3E4B8D8-E24A-4F01-A611-C3B3ED402448}"/>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91FE1718-1F1B-4F7F-B5F0-4372EC6803F3}"/>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Solve 5x + 8 = 93.</a:t>
            </a:r>
          </a:p>
        </p:txBody>
      </p:sp>
      <p:sp>
        <p:nvSpPr>
          <p:cNvPr id="3" name="object-3">
            <a:extLst>
              <a:ext uri="{FF2B5EF4-FFF2-40B4-BE49-F238E27FC236}">
                <a16:creationId xmlns:a16="http://schemas.microsoft.com/office/drawing/2014/main" id="{5054A495-A1AC-49EB-8727-25B656159282}"/>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3FD9A42F-B131-43AD-A58D-ED27D82C239F}"/>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Retrieve algebra and measure</a:t>
            </a:r>
          </a:p>
        </p:txBody>
      </p:sp>
      <p:sp>
        <p:nvSpPr>
          <p:cNvPr id="5" name="object-5">
            <a:extLst>
              <a:ext uri="{FF2B5EF4-FFF2-40B4-BE49-F238E27FC236}">
                <a16:creationId xmlns:a16="http://schemas.microsoft.com/office/drawing/2014/main" id="{EF70E978-0CFF-4256-8238-8F0064959DB0}"/>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4</a:t>
            </a:r>
          </a:p>
        </p:txBody>
      </p:sp>
      <p:sp>
        <p:nvSpPr>
          <p:cNvPr id="6" name="object-6">
            <a:extLst>
              <a:ext uri="{FF2B5EF4-FFF2-40B4-BE49-F238E27FC236}">
                <a16:creationId xmlns:a16="http://schemas.microsoft.com/office/drawing/2014/main" id="{163A48BA-F549-401E-B913-31AB733A174D}"/>
              </a:ext>
            </a:extLst>
          </p:cNvPr>
          <p:cNvSpPr>
            <a:spLocks noGrp="1"/>
          </p:cNvSpPr>
          <p:nvPr/>
        </p:nvSpPr>
        <p:spPr>
          <a:xfrm>
            <a:off x="1309688" y="3095625"/>
            <a:ext cx="1428750" cy="1071563"/>
          </a:xfrm>
          <a:prstGeom prst="rect">
            <a:avLst/>
          </a:prstGeom>
          <a:solidFill>
            <a:srgbClr val="EFF6FF"/>
          </a:solidFill>
          <a:ln w="23813">
            <a:solidFill>
              <a:srgbClr val="1D4ED8"/>
            </a:solidFill>
          </a:ln>
        </p:spPr>
      </p:sp>
      <p:sp>
        <p:nvSpPr>
          <p:cNvPr id="7" name="object-7">
            <a:extLst>
              <a:ext uri="{FF2B5EF4-FFF2-40B4-BE49-F238E27FC236}">
                <a16:creationId xmlns:a16="http://schemas.microsoft.com/office/drawing/2014/main" id="{15C0FA72-F34A-44F0-8018-42571A82F290}"/>
              </a:ext>
            </a:extLst>
          </p:cNvPr>
          <p:cNvSpPr>
            <a:spLocks noGrp="1"/>
          </p:cNvSpPr>
          <p:nvPr/>
        </p:nvSpPr>
        <p:spPr>
          <a:xfrm>
            <a:off x="1309688" y="3178969"/>
            <a:ext cx="1428750" cy="833438"/>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x</a:t>
            </a:r>
          </a:p>
        </p:txBody>
      </p:sp>
      <p:sp>
        <p:nvSpPr>
          <p:cNvPr id="8" name="object-8">
            <a:extLst>
              <a:ext uri="{FF2B5EF4-FFF2-40B4-BE49-F238E27FC236}">
                <a16:creationId xmlns:a16="http://schemas.microsoft.com/office/drawing/2014/main" id="{7C323394-3390-4C2E-B351-EBCA7B0F1398}"/>
              </a:ext>
            </a:extLst>
          </p:cNvPr>
          <p:cNvSpPr>
            <a:spLocks noGrp="1"/>
          </p:cNvSpPr>
          <p:nvPr/>
        </p:nvSpPr>
        <p:spPr>
          <a:xfrm>
            <a:off x="2738438" y="3095625"/>
            <a:ext cx="1428750" cy="1071563"/>
          </a:xfrm>
          <a:prstGeom prst="rect">
            <a:avLst/>
          </a:prstGeom>
          <a:solidFill>
            <a:srgbClr val="EFF6FF"/>
          </a:solidFill>
          <a:ln w="23813">
            <a:solidFill>
              <a:srgbClr val="1D4ED8"/>
            </a:solidFill>
          </a:ln>
        </p:spPr>
      </p:sp>
      <p:sp>
        <p:nvSpPr>
          <p:cNvPr id="9" name="object-9">
            <a:extLst>
              <a:ext uri="{FF2B5EF4-FFF2-40B4-BE49-F238E27FC236}">
                <a16:creationId xmlns:a16="http://schemas.microsoft.com/office/drawing/2014/main" id="{5DCB73B1-BAC8-4031-AF30-EB31F4C93578}"/>
              </a:ext>
            </a:extLst>
          </p:cNvPr>
          <p:cNvSpPr>
            <a:spLocks noGrp="1"/>
          </p:cNvSpPr>
          <p:nvPr/>
        </p:nvSpPr>
        <p:spPr>
          <a:xfrm>
            <a:off x="2738438" y="3178969"/>
            <a:ext cx="1428750" cy="833438"/>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x</a:t>
            </a:r>
          </a:p>
        </p:txBody>
      </p:sp>
      <p:sp>
        <p:nvSpPr>
          <p:cNvPr id="10" name="object-10">
            <a:extLst>
              <a:ext uri="{FF2B5EF4-FFF2-40B4-BE49-F238E27FC236}">
                <a16:creationId xmlns:a16="http://schemas.microsoft.com/office/drawing/2014/main" id="{14A8632A-84E9-48DB-8BEE-A2446F612CD1}"/>
              </a:ext>
            </a:extLst>
          </p:cNvPr>
          <p:cNvSpPr>
            <a:spLocks noGrp="1"/>
          </p:cNvSpPr>
          <p:nvPr/>
        </p:nvSpPr>
        <p:spPr>
          <a:xfrm>
            <a:off x="4167188" y="3095625"/>
            <a:ext cx="1428750" cy="1071563"/>
          </a:xfrm>
          <a:prstGeom prst="rect">
            <a:avLst/>
          </a:prstGeom>
          <a:solidFill>
            <a:srgbClr val="EFF6FF"/>
          </a:solidFill>
          <a:ln w="23813">
            <a:solidFill>
              <a:srgbClr val="1D4ED8"/>
            </a:solidFill>
          </a:ln>
        </p:spPr>
      </p:sp>
      <p:sp>
        <p:nvSpPr>
          <p:cNvPr id="11" name="object-11">
            <a:extLst>
              <a:ext uri="{FF2B5EF4-FFF2-40B4-BE49-F238E27FC236}">
                <a16:creationId xmlns:a16="http://schemas.microsoft.com/office/drawing/2014/main" id="{CC3AA47A-1D0F-478E-834B-3FC0B8AD32D4}"/>
              </a:ext>
            </a:extLst>
          </p:cNvPr>
          <p:cNvSpPr>
            <a:spLocks noGrp="1"/>
          </p:cNvSpPr>
          <p:nvPr/>
        </p:nvSpPr>
        <p:spPr>
          <a:xfrm>
            <a:off x="4167188" y="3178969"/>
            <a:ext cx="1428750" cy="833438"/>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x</a:t>
            </a:r>
          </a:p>
        </p:txBody>
      </p:sp>
      <p:sp>
        <p:nvSpPr>
          <p:cNvPr id="12" name="object-12">
            <a:extLst>
              <a:ext uri="{FF2B5EF4-FFF2-40B4-BE49-F238E27FC236}">
                <a16:creationId xmlns:a16="http://schemas.microsoft.com/office/drawing/2014/main" id="{831DD4D7-2A74-4607-B884-C6F55D8BF308}"/>
              </a:ext>
            </a:extLst>
          </p:cNvPr>
          <p:cNvSpPr>
            <a:spLocks noGrp="1"/>
          </p:cNvSpPr>
          <p:nvPr/>
        </p:nvSpPr>
        <p:spPr>
          <a:xfrm>
            <a:off x="5595938" y="3095625"/>
            <a:ext cx="1428750" cy="1071563"/>
          </a:xfrm>
          <a:prstGeom prst="rect">
            <a:avLst/>
          </a:prstGeom>
          <a:solidFill>
            <a:srgbClr val="EFF6FF"/>
          </a:solidFill>
          <a:ln w="23813">
            <a:solidFill>
              <a:srgbClr val="1D4ED8"/>
            </a:solidFill>
          </a:ln>
        </p:spPr>
      </p:sp>
      <p:sp>
        <p:nvSpPr>
          <p:cNvPr id="13" name="object-13">
            <a:extLst>
              <a:ext uri="{FF2B5EF4-FFF2-40B4-BE49-F238E27FC236}">
                <a16:creationId xmlns:a16="http://schemas.microsoft.com/office/drawing/2014/main" id="{17E49BAA-409E-4A68-8068-2E4C2145BB81}"/>
              </a:ext>
            </a:extLst>
          </p:cNvPr>
          <p:cNvSpPr>
            <a:spLocks noGrp="1"/>
          </p:cNvSpPr>
          <p:nvPr/>
        </p:nvSpPr>
        <p:spPr>
          <a:xfrm>
            <a:off x="5595938" y="3178969"/>
            <a:ext cx="1428750" cy="833438"/>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x</a:t>
            </a:r>
          </a:p>
        </p:txBody>
      </p:sp>
      <p:sp>
        <p:nvSpPr>
          <p:cNvPr id="14" name="object-14">
            <a:extLst>
              <a:ext uri="{FF2B5EF4-FFF2-40B4-BE49-F238E27FC236}">
                <a16:creationId xmlns:a16="http://schemas.microsoft.com/office/drawing/2014/main" id="{CE45FC33-D8A3-4F48-BD03-E8BD2B0C70C2}"/>
              </a:ext>
            </a:extLst>
          </p:cNvPr>
          <p:cNvSpPr>
            <a:spLocks noGrp="1"/>
          </p:cNvSpPr>
          <p:nvPr/>
        </p:nvSpPr>
        <p:spPr>
          <a:xfrm>
            <a:off x="7024688" y="3095625"/>
            <a:ext cx="1428750" cy="1071563"/>
          </a:xfrm>
          <a:prstGeom prst="rect">
            <a:avLst/>
          </a:prstGeom>
          <a:solidFill>
            <a:srgbClr val="EFF6FF"/>
          </a:solidFill>
          <a:ln w="23813">
            <a:solidFill>
              <a:srgbClr val="1D4ED8"/>
            </a:solidFill>
          </a:ln>
        </p:spPr>
      </p:sp>
      <p:sp>
        <p:nvSpPr>
          <p:cNvPr id="15" name="object-15">
            <a:extLst>
              <a:ext uri="{FF2B5EF4-FFF2-40B4-BE49-F238E27FC236}">
                <a16:creationId xmlns:a16="http://schemas.microsoft.com/office/drawing/2014/main" id="{7754D48D-0D75-4235-BBD2-658E39E254C1}"/>
              </a:ext>
            </a:extLst>
          </p:cNvPr>
          <p:cNvSpPr>
            <a:spLocks noGrp="1"/>
          </p:cNvSpPr>
          <p:nvPr/>
        </p:nvSpPr>
        <p:spPr>
          <a:xfrm>
            <a:off x="7024688" y="3178969"/>
            <a:ext cx="1428750" cy="833438"/>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x</a:t>
            </a:r>
          </a:p>
        </p:txBody>
      </p:sp>
      <p:sp>
        <p:nvSpPr>
          <p:cNvPr id="16" name="object-16">
            <a:extLst>
              <a:ext uri="{FF2B5EF4-FFF2-40B4-BE49-F238E27FC236}">
                <a16:creationId xmlns:a16="http://schemas.microsoft.com/office/drawing/2014/main" id="{19A70D4D-E67C-48DD-A6CD-2A1211B4CA60}"/>
              </a:ext>
            </a:extLst>
          </p:cNvPr>
          <p:cNvSpPr>
            <a:spLocks noGrp="1"/>
          </p:cNvSpPr>
          <p:nvPr/>
        </p:nvSpPr>
        <p:spPr>
          <a:xfrm>
            <a:off x="8870156" y="3155156"/>
            <a:ext cx="2083594" cy="892969"/>
          </a:xfrm>
          <a:prstGeom prst="rect">
            <a:avLst/>
          </a:prstGeom>
          <a:noFill/>
          <a:ln w="0">
            <a:noFill/>
          </a:ln>
        </p:spPr>
        <p:txBody>
          <a:bodyPr anchor="ctr">
            <a:noAutofit/>
          </a:bodyPr>
          <a:lstStyle/>
          <a:p>
            <a:pPr algn="l">
              <a:defRPr sz="3938" b="1">
                <a:solidFill>
                  <a:srgbClr val="9A5800"/>
                </a:solidFill>
                <a:latin typeface="Arial"/>
                <a:ea typeface="Arial"/>
                <a:cs typeface="Arial"/>
              </a:defRPr>
            </a:pPr>
            <a:r>
              <a:rPr sz="3938" b="1">
                <a:solidFill>
                  <a:srgbClr val="9A5800"/>
                </a:solidFill>
                <a:latin typeface="Arial"/>
                <a:ea typeface="Arial"/>
                <a:cs typeface="Arial"/>
              </a:rPr>
              <a:t>+ 8</a:t>
            </a:r>
          </a:p>
        </p:txBody>
      </p:sp>
      <p:sp>
        <p:nvSpPr>
          <p:cNvPr id="17" name="object-17">
            <a:extLst>
              <a:ext uri="{FF2B5EF4-FFF2-40B4-BE49-F238E27FC236}">
                <a16:creationId xmlns:a16="http://schemas.microsoft.com/office/drawing/2014/main" id="{32BB2B8C-4DB1-4015-9EB3-FF4CD684851C}"/>
              </a:ext>
            </a:extLst>
          </p:cNvPr>
          <p:cNvSpPr>
            <a:spLocks noGrp="1"/>
          </p:cNvSpPr>
          <p:nvPr/>
        </p:nvSpPr>
        <p:spPr>
          <a:xfrm>
            <a:off x="11549063" y="3155156"/>
            <a:ext cx="2857500" cy="892969"/>
          </a:xfrm>
          <a:prstGeom prst="rect">
            <a:avLst/>
          </a:prstGeom>
          <a:noFill/>
          <a:ln w="0">
            <a:noFill/>
          </a:ln>
        </p:spPr>
        <p:txBody>
          <a:bodyPr anchor="ctr">
            <a:noAutofit/>
          </a:bodyPr>
          <a:lstStyle/>
          <a:p>
            <a:pPr algn="l">
              <a:defRPr sz="4031" b="1">
                <a:solidFill>
                  <a:srgbClr val="172B4D"/>
                </a:solidFill>
                <a:latin typeface="Arial"/>
                <a:ea typeface="Arial"/>
                <a:cs typeface="Arial"/>
              </a:defRPr>
            </a:pPr>
            <a:r>
              <a:rPr sz="4031" b="1">
                <a:solidFill>
                  <a:srgbClr val="172B4D"/>
                </a:solidFill>
                <a:latin typeface="Arial"/>
                <a:ea typeface="Arial"/>
                <a:cs typeface="Arial"/>
              </a:rPr>
              <a:t>= 93</a:t>
            </a:r>
          </a:p>
        </p:txBody>
      </p:sp>
      <p:sp>
        <p:nvSpPr>
          <p:cNvPr id="18" name="object-18">
            <a:extLst>
              <a:ext uri="{FF2B5EF4-FFF2-40B4-BE49-F238E27FC236}">
                <a16:creationId xmlns:a16="http://schemas.microsoft.com/office/drawing/2014/main" id="{561F086C-39FC-4207-867C-520E150EE9D4}"/>
              </a:ext>
            </a:extLst>
          </p:cNvPr>
          <p:cNvSpPr>
            <a:spLocks noGrp="1"/>
          </p:cNvSpPr>
          <p:nvPr/>
        </p:nvSpPr>
        <p:spPr>
          <a:xfrm>
            <a:off x="2024063" y="4643438"/>
            <a:ext cx="11191875" cy="714375"/>
          </a:xfrm>
          <a:prstGeom prst="rect">
            <a:avLst/>
          </a:prstGeom>
          <a:noFill/>
          <a:ln w="0">
            <a:noFill/>
          </a:ln>
        </p:spPr>
        <p:txBody>
          <a:bodyPr anchor="ctr">
            <a:noAutofit/>
          </a:bodyPr>
          <a:lstStyle/>
          <a:p>
            <a:pPr algn="ctr">
              <a:defRPr sz="2906" b="1">
                <a:solidFill>
                  <a:srgbClr val="9A5800"/>
                </a:solidFill>
                <a:latin typeface="Arial"/>
                <a:ea typeface="Arial"/>
                <a:cs typeface="Arial"/>
              </a:defRPr>
            </a:pPr>
            <a:r>
              <a:rPr sz="2906" b="1">
                <a:solidFill>
                  <a:srgbClr val="9A5800"/>
                </a:solidFill>
                <a:latin typeface="Arial"/>
                <a:ea typeface="Arial"/>
                <a:cs typeface="Arial"/>
              </a:rPr>
              <a:t>Subtract 8 on both sides</a:t>
            </a:r>
          </a:p>
        </p:txBody>
      </p:sp>
      <p:sp>
        <p:nvSpPr>
          <p:cNvPr id="19" name="object-19">
            <a:extLst>
              <a:ext uri="{FF2B5EF4-FFF2-40B4-BE49-F238E27FC236}">
                <a16:creationId xmlns:a16="http://schemas.microsoft.com/office/drawing/2014/main" id="{24B689E8-6FFD-4A52-9C92-09D5D5855821}"/>
              </a:ext>
            </a:extLst>
          </p:cNvPr>
          <p:cNvSpPr>
            <a:spLocks noGrp="1"/>
          </p:cNvSpPr>
          <p:nvPr/>
        </p:nvSpPr>
        <p:spPr>
          <a:xfrm>
            <a:off x="2381250" y="5655469"/>
            <a:ext cx="10477500"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5x = 85</a:t>
            </a:r>
          </a:p>
        </p:txBody>
      </p:sp>
      <p:sp>
        <p:nvSpPr>
          <p:cNvPr id="20" name="object-20">
            <a:extLst>
              <a:ext uri="{FF2B5EF4-FFF2-40B4-BE49-F238E27FC236}">
                <a16:creationId xmlns:a16="http://schemas.microsoft.com/office/drawing/2014/main" id="{119131F0-09F3-4DB8-B7C0-545D9F49D787}"/>
              </a:ext>
            </a:extLst>
          </p:cNvPr>
          <p:cNvSpPr>
            <a:spLocks noGrp="1"/>
          </p:cNvSpPr>
          <p:nvPr/>
        </p:nvSpPr>
        <p:spPr>
          <a:xfrm>
            <a:off x="7977188" y="6667500"/>
            <a:ext cx="4286250" cy="773906"/>
          </a:xfrm>
          <a:prstGeom prst="rect">
            <a:avLst/>
          </a:prstGeom>
          <a:noFill/>
          <a:ln w="0">
            <a:noFill/>
          </a:ln>
        </p:spPr>
        <p:txBody>
          <a:bodyPr anchor="ctr">
            <a:noAutofit/>
          </a:bodyPr>
          <a:lstStyle/>
          <a:p>
            <a:pPr algn="ctr">
              <a:defRPr sz="4594" b="1">
                <a:solidFill>
                  <a:srgbClr val="11745A"/>
                </a:solidFill>
                <a:latin typeface="Arial"/>
                <a:ea typeface="Arial"/>
                <a:cs typeface="Arial"/>
              </a:defRPr>
            </a:pPr>
            <a:r>
              <a:rPr sz="4594" b="1">
                <a:solidFill>
                  <a:srgbClr val="11745A"/>
                </a:solidFill>
                <a:latin typeface="Arial"/>
                <a:ea typeface="Arial"/>
                <a:cs typeface="Arial"/>
              </a:rPr>
              <a:t>x = 17</a:t>
            </a:r>
          </a:p>
        </p:txBody>
      </p:sp>
    </p:spTree>
    <p:extLst>
      <p:ext uri="{BB962C8B-B14F-4D97-AF65-F5344CB8AC3E}">
        <p14:creationId xmlns:p14="http://schemas.microsoft.com/office/powerpoint/2010/main" val="658687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par>
                          <p:cTn id="15" fill="hold">
                            <p:stCondLst>
                              <p:cond delay="0"/>
                            </p:stCondLst>
                            <p:childTnLst>
                              <p:par>
                                <p:cTn id="16" presetID="63" presetClass="path" presetSubtype="0" accel="50000" decel="50000" fill="hold" grpId="1" nodeType="afterEffect">
                                  <p:stCondLst>
                                    <p:cond delay="0"/>
                                  </p:stCondLst>
                                  <p:childTnLst>
                                    <p:animMotion origin="layout" path="M 0 0 L -0.125 0 E" pathEditMode="relative" ptsTypes="">
                                      <p:cBhvr>
                                        <p:cTn id="17" dur="800" fill="hold"/>
                                        <p:tgtEl>
                                          <p:spTgt spid="20"/>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P spid="20" grpId="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object-1">
            <a:extLst>
              <a:ext uri="{FF2B5EF4-FFF2-40B4-BE49-F238E27FC236}">
                <a16:creationId xmlns:a16="http://schemas.microsoft.com/office/drawing/2014/main" id="{581CF9E2-C09D-4195-87C0-29A483E93ED9}"/>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C8270435-57E5-42E4-975A-B71885BC96D9}"/>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D1CC2A9D-2D96-4DF3-A918-D1CAC924B21A}"/>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Solve 5x + 8 = 103.</a:t>
            </a:r>
          </a:p>
        </p:txBody>
      </p:sp>
      <p:sp>
        <p:nvSpPr>
          <p:cNvPr id="4" name="object-4">
            <a:extLst>
              <a:ext uri="{FF2B5EF4-FFF2-40B4-BE49-F238E27FC236}">
                <a16:creationId xmlns:a16="http://schemas.microsoft.com/office/drawing/2014/main" id="{3CA36518-5212-4AE0-B35F-894EBED75948}"/>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F1A5789B-4C05-4BEA-BA89-D66982E7A5BF}"/>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Retrieve algebra and measure</a:t>
            </a:r>
          </a:p>
        </p:txBody>
      </p:sp>
      <p:sp>
        <p:nvSpPr>
          <p:cNvPr id="6" name="object-6">
            <a:extLst>
              <a:ext uri="{FF2B5EF4-FFF2-40B4-BE49-F238E27FC236}">
                <a16:creationId xmlns:a16="http://schemas.microsoft.com/office/drawing/2014/main" id="{527CC860-4919-4AF9-9812-45EC15892E0C}"/>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5</a:t>
            </a:r>
          </a:p>
        </p:txBody>
      </p:sp>
      <p:sp>
        <p:nvSpPr>
          <p:cNvPr id="7" name="object-7">
            <a:extLst>
              <a:ext uri="{FF2B5EF4-FFF2-40B4-BE49-F238E27FC236}">
                <a16:creationId xmlns:a16="http://schemas.microsoft.com/office/drawing/2014/main" id="{095C5C35-32E2-4959-AA53-CC803696B908}"/>
              </a:ext>
            </a:extLst>
          </p:cNvPr>
          <p:cNvSpPr>
            <a:spLocks noGrp="1"/>
          </p:cNvSpPr>
          <p:nvPr/>
        </p:nvSpPr>
        <p:spPr>
          <a:xfrm>
            <a:off x="1309688" y="3095625"/>
            <a:ext cx="1428750" cy="1071563"/>
          </a:xfrm>
          <a:prstGeom prst="rect">
            <a:avLst/>
          </a:prstGeom>
          <a:solidFill>
            <a:srgbClr val="EFF6FF"/>
          </a:solidFill>
          <a:ln w="23813">
            <a:solidFill>
              <a:srgbClr val="1D4ED8"/>
            </a:solidFill>
          </a:ln>
        </p:spPr>
      </p:sp>
      <p:sp>
        <p:nvSpPr>
          <p:cNvPr id="8" name="object-8">
            <a:extLst>
              <a:ext uri="{FF2B5EF4-FFF2-40B4-BE49-F238E27FC236}">
                <a16:creationId xmlns:a16="http://schemas.microsoft.com/office/drawing/2014/main" id="{416C4260-C0A7-4E51-8942-E019EF5A9144}"/>
              </a:ext>
            </a:extLst>
          </p:cNvPr>
          <p:cNvSpPr>
            <a:spLocks noGrp="1"/>
          </p:cNvSpPr>
          <p:nvPr/>
        </p:nvSpPr>
        <p:spPr>
          <a:xfrm>
            <a:off x="1309688" y="3178969"/>
            <a:ext cx="1428750" cy="833438"/>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x</a:t>
            </a:r>
          </a:p>
        </p:txBody>
      </p:sp>
      <p:sp>
        <p:nvSpPr>
          <p:cNvPr id="9" name="object-9">
            <a:extLst>
              <a:ext uri="{FF2B5EF4-FFF2-40B4-BE49-F238E27FC236}">
                <a16:creationId xmlns:a16="http://schemas.microsoft.com/office/drawing/2014/main" id="{90DC1D43-15E7-45F1-B0CD-5A0FF523F5F2}"/>
              </a:ext>
            </a:extLst>
          </p:cNvPr>
          <p:cNvSpPr>
            <a:spLocks noGrp="1"/>
          </p:cNvSpPr>
          <p:nvPr/>
        </p:nvSpPr>
        <p:spPr>
          <a:xfrm>
            <a:off x="2738438" y="3095625"/>
            <a:ext cx="1428750" cy="1071563"/>
          </a:xfrm>
          <a:prstGeom prst="rect">
            <a:avLst/>
          </a:prstGeom>
          <a:solidFill>
            <a:srgbClr val="EFF6FF"/>
          </a:solidFill>
          <a:ln w="23813">
            <a:solidFill>
              <a:srgbClr val="1D4ED8"/>
            </a:solidFill>
          </a:ln>
        </p:spPr>
      </p:sp>
      <p:sp>
        <p:nvSpPr>
          <p:cNvPr id="10" name="object-10">
            <a:extLst>
              <a:ext uri="{FF2B5EF4-FFF2-40B4-BE49-F238E27FC236}">
                <a16:creationId xmlns:a16="http://schemas.microsoft.com/office/drawing/2014/main" id="{B2EF6B29-63DA-4D1F-812A-1B8F2F84DDC2}"/>
              </a:ext>
            </a:extLst>
          </p:cNvPr>
          <p:cNvSpPr>
            <a:spLocks noGrp="1"/>
          </p:cNvSpPr>
          <p:nvPr/>
        </p:nvSpPr>
        <p:spPr>
          <a:xfrm>
            <a:off x="2738438" y="3178969"/>
            <a:ext cx="1428750" cy="833438"/>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x</a:t>
            </a:r>
          </a:p>
        </p:txBody>
      </p:sp>
      <p:sp>
        <p:nvSpPr>
          <p:cNvPr id="11" name="object-11">
            <a:extLst>
              <a:ext uri="{FF2B5EF4-FFF2-40B4-BE49-F238E27FC236}">
                <a16:creationId xmlns:a16="http://schemas.microsoft.com/office/drawing/2014/main" id="{810E13EC-8D2E-4996-AEE3-31318222685B}"/>
              </a:ext>
            </a:extLst>
          </p:cNvPr>
          <p:cNvSpPr>
            <a:spLocks noGrp="1"/>
          </p:cNvSpPr>
          <p:nvPr/>
        </p:nvSpPr>
        <p:spPr>
          <a:xfrm>
            <a:off x="4167188" y="3095625"/>
            <a:ext cx="1428750" cy="1071563"/>
          </a:xfrm>
          <a:prstGeom prst="rect">
            <a:avLst/>
          </a:prstGeom>
          <a:solidFill>
            <a:srgbClr val="EFF6FF"/>
          </a:solidFill>
          <a:ln w="23813">
            <a:solidFill>
              <a:srgbClr val="1D4ED8"/>
            </a:solidFill>
          </a:ln>
        </p:spPr>
      </p:sp>
      <p:sp>
        <p:nvSpPr>
          <p:cNvPr id="12" name="object-12">
            <a:extLst>
              <a:ext uri="{FF2B5EF4-FFF2-40B4-BE49-F238E27FC236}">
                <a16:creationId xmlns:a16="http://schemas.microsoft.com/office/drawing/2014/main" id="{FECEB3D5-954B-48FB-AC54-621B62EF8991}"/>
              </a:ext>
            </a:extLst>
          </p:cNvPr>
          <p:cNvSpPr>
            <a:spLocks noGrp="1"/>
          </p:cNvSpPr>
          <p:nvPr/>
        </p:nvSpPr>
        <p:spPr>
          <a:xfrm>
            <a:off x="4167188" y="3178969"/>
            <a:ext cx="1428750" cy="833438"/>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x</a:t>
            </a:r>
          </a:p>
        </p:txBody>
      </p:sp>
      <p:sp>
        <p:nvSpPr>
          <p:cNvPr id="13" name="object-13">
            <a:extLst>
              <a:ext uri="{FF2B5EF4-FFF2-40B4-BE49-F238E27FC236}">
                <a16:creationId xmlns:a16="http://schemas.microsoft.com/office/drawing/2014/main" id="{EA3EBCBA-C4A2-49CC-A662-618F75A63A54}"/>
              </a:ext>
            </a:extLst>
          </p:cNvPr>
          <p:cNvSpPr>
            <a:spLocks noGrp="1"/>
          </p:cNvSpPr>
          <p:nvPr/>
        </p:nvSpPr>
        <p:spPr>
          <a:xfrm>
            <a:off x="5595938" y="3095625"/>
            <a:ext cx="1428750" cy="1071563"/>
          </a:xfrm>
          <a:prstGeom prst="rect">
            <a:avLst/>
          </a:prstGeom>
          <a:solidFill>
            <a:srgbClr val="EFF6FF"/>
          </a:solidFill>
          <a:ln w="23813">
            <a:solidFill>
              <a:srgbClr val="1D4ED8"/>
            </a:solidFill>
          </a:ln>
        </p:spPr>
      </p:sp>
      <p:sp>
        <p:nvSpPr>
          <p:cNvPr id="14" name="object-14">
            <a:extLst>
              <a:ext uri="{FF2B5EF4-FFF2-40B4-BE49-F238E27FC236}">
                <a16:creationId xmlns:a16="http://schemas.microsoft.com/office/drawing/2014/main" id="{A03D7D2B-B134-4DE4-9809-FA66630FABC1}"/>
              </a:ext>
            </a:extLst>
          </p:cNvPr>
          <p:cNvSpPr>
            <a:spLocks noGrp="1"/>
          </p:cNvSpPr>
          <p:nvPr/>
        </p:nvSpPr>
        <p:spPr>
          <a:xfrm>
            <a:off x="5595938" y="3178969"/>
            <a:ext cx="1428750" cy="833438"/>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x</a:t>
            </a:r>
          </a:p>
        </p:txBody>
      </p:sp>
      <p:sp>
        <p:nvSpPr>
          <p:cNvPr id="15" name="object-15">
            <a:extLst>
              <a:ext uri="{FF2B5EF4-FFF2-40B4-BE49-F238E27FC236}">
                <a16:creationId xmlns:a16="http://schemas.microsoft.com/office/drawing/2014/main" id="{5EC30428-C791-470E-A02E-C358DAB36B82}"/>
              </a:ext>
            </a:extLst>
          </p:cNvPr>
          <p:cNvSpPr>
            <a:spLocks noGrp="1"/>
          </p:cNvSpPr>
          <p:nvPr/>
        </p:nvSpPr>
        <p:spPr>
          <a:xfrm>
            <a:off x="7024688" y="3095625"/>
            <a:ext cx="1428750" cy="1071563"/>
          </a:xfrm>
          <a:prstGeom prst="rect">
            <a:avLst/>
          </a:prstGeom>
          <a:solidFill>
            <a:srgbClr val="EFF6FF"/>
          </a:solidFill>
          <a:ln w="23813">
            <a:solidFill>
              <a:srgbClr val="1D4ED8"/>
            </a:solidFill>
          </a:ln>
        </p:spPr>
      </p:sp>
      <p:sp>
        <p:nvSpPr>
          <p:cNvPr id="16" name="object-16">
            <a:extLst>
              <a:ext uri="{FF2B5EF4-FFF2-40B4-BE49-F238E27FC236}">
                <a16:creationId xmlns:a16="http://schemas.microsoft.com/office/drawing/2014/main" id="{95D22700-909C-4700-81ED-668D7CC8EE22}"/>
              </a:ext>
            </a:extLst>
          </p:cNvPr>
          <p:cNvSpPr>
            <a:spLocks noGrp="1"/>
          </p:cNvSpPr>
          <p:nvPr/>
        </p:nvSpPr>
        <p:spPr>
          <a:xfrm>
            <a:off x="7024688" y="3178969"/>
            <a:ext cx="1428750" cy="833438"/>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x</a:t>
            </a:r>
          </a:p>
        </p:txBody>
      </p:sp>
      <p:sp>
        <p:nvSpPr>
          <p:cNvPr id="17" name="object-17">
            <a:extLst>
              <a:ext uri="{FF2B5EF4-FFF2-40B4-BE49-F238E27FC236}">
                <a16:creationId xmlns:a16="http://schemas.microsoft.com/office/drawing/2014/main" id="{A02AC4CF-1996-4C06-AE8C-F0AE5A89F3D7}"/>
              </a:ext>
            </a:extLst>
          </p:cNvPr>
          <p:cNvSpPr>
            <a:spLocks noGrp="1"/>
          </p:cNvSpPr>
          <p:nvPr/>
        </p:nvSpPr>
        <p:spPr>
          <a:xfrm>
            <a:off x="8870156" y="3155156"/>
            <a:ext cx="2083594" cy="892969"/>
          </a:xfrm>
          <a:prstGeom prst="rect">
            <a:avLst/>
          </a:prstGeom>
          <a:noFill/>
          <a:ln w="0">
            <a:noFill/>
          </a:ln>
        </p:spPr>
        <p:txBody>
          <a:bodyPr anchor="ctr">
            <a:noAutofit/>
          </a:bodyPr>
          <a:lstStyle/>
          <a:p>
            <a:pPr algn="l">
              <a:defRPr sz="3938" b="1">
                <a:solidFill>
                  <a:srgbClr val="9A5800"/>
                </a:solidFill>
                <a:latin typeface="Arial"/>
                <a:ea typeface="Arial"/>
                <a:cs typeface="Arial"/>
              </a:defRPr>
            </a:pPr>
            <a:r>
              <a:rPr sz="3938" b="1">
                <a:solidFill>
                  <a:srgbClr val="9A5800"/>
                </a:solidFill>
                <a:latin typeface="Arial"/>
                <a:ea typeface="Arial"/>
                <a:cs typeface="Arial"/>
              </a:rPr>
              <a:t>+ 8</a:t>
            </a:r>
          </a:p>
        </p:txBody>
      </p:sp>
      <p:sp>
        <p:nvSpPr>
          <p:cNvPr id="18" name="object-18">
            <a:extLst>
              <a:ext uri="{FF2B5EF4-FFF2-40B4-BE49-F238E27FC236}">
                <a16:creationId xmlns:a16="http://schemas.microsoft.com/office/drawing/2014/main" id="{CE02C6A2-CA72-41BC-AE61-2F76F0769380}"/>
              </a:ext>
            </a:extLst>
          </p:cNvPr>
          <p:cNvSpPr>
            <a:spLocks noGrp="1"/>
          </p:cNvSpPr>
          <p:nvPr/>
        </p:nvSpPr>
        <p:spPr>
          <a:xfrm>
            <a:off x="11549063" y="3155156"/>
            <a:ext cx="2857500" cy="892969"/>
          </a:xfrm>
          <a:prstGeom prst="rect">
            <a:avLst/>
          </a:prstGeom>
          <a:noFill/>
          <a:ln w="0">
            <a:noFill/>
          </a:ln>
        </p:spPr>
        <p:txBody>
          <a:bodyPr anchor="ctr">
            <a:noAutofit/>
          </a:bodyPr>
          <a:lstStyle/>
          <a:p>
            <a:pPr algn="l">
              <a:defRPr sz="4031" b="1">
                <a:solidFill>
                  <a:srgbClr val="172B4D"/>
                </a:solidFill>
                <a:latin typeface="Arial"/>
                <a:ea typeface="Arial"/>
                <a:cs typeface="Arial"/>
              </a:defRPr>
            </a:pPr>
            <a:r>
              <a:rPr sz="4031" b="1">
                <a:solidFill>
                  <a:srgbClr val="172B4D"/>
                </a:solidFill>
                <a:latin typeface="Arial"/>
                <a:ea typeface="Arial"/>
                <a:cs typeface="Arial"/>
              </a:rPr>
              <a:t>= 103</a:t>
            </a:r>
          </a:p>
        </p:txBody>
      </p:sp>
      <p:sp>
        <p:nvSpPr>
          <p:cNvPr id="19" name="object-19">
            <a:extLst>
              <a:ext uri="{FF2B5EF4-FFF2-40B4-BE49-F238E27FC236}">
                <a16:creationId xmlns:a16="http://schemas.microsoft.com/office/drawing/2014/main" id="{EED17463-8C94-4DF4-9B0E-D4A617749CF7}"/>
              </a:ext>
            </a:extLst>
          </p:cNvPr>
          <p:cNvSpPr>
            <a:spLocks noGrp="1"/>
          </p:cNvSpPr>
          <p:nvPr/>
        </p:nvSpPr>
        <p:spPr>
          <a:xfrm>
            <a:off x="2024063" y="4643438"/>
            <a:ext cx="11191875" cy="714375"/>
          </a:xfrm>
          <a:prstGeom prst="rect">
            <a:avLst/>
          </a:prstGeom>
          <a:noFill/>
          <a:ln w="0">
            <a:noFill/>
          </a:ln>
        </p:spPr>
        <p:txBody>
          <a:bodyPr anchor="ctr">
            <a:noAutofit/>
          </a:bodyPr>
          <a:lstStyle/>
          <a:p>
            <a:pPr algn="ctr">
              <a:defRPr sz="2906" b="1">
                <a:solidFill>
                  <a:srgbClr val="9A5800"/>
                </a:solidFill>
                <a:latin typeface="Arial"/>
                <a:ea typeface="Arial"/>
                <a:cs typeface="Arial"/>
              </a:defRPr>
            </a:pPr>
            <a:r>
              <a:rPr sz="2906" b="1">
                <a:solidFill>
                  <a:srgbClr val="9A5800"/>
                </a:solidFill>
                <a:latin typeface="Arial"/>
                <a:ea typeface="Arial"/>
                <a:cs typeface="Arial"/>
              </a:rPr>
              <a:t>Subtract 8 on both sides</a:t>
            </a:r>
          </a:p>
        </p:txBody>
      </p:sp>
      <p:sp>
        <p:nvSpPr>
          <p:cNvPr id="20" name="object-20">
            <a:extLst>
              <a:ext uri="{FF2B5EF4-FFF2-40B4-BE49-F238E27FC236}">
                <a16:creationId xmlns:a16="http://schemas.microsoft.com/office/drawing/2014/main" id="{C580FA41-A7BB-4927-A815-C0A88DA2A82A}"/>
              </a:ext>
            </a:extLst>
          </p:cNvPr>
          <p:cNvSpPr>
            <a:spLocks noGrp="1"/>
          </p:cNvSpPr>
          <p:nvPr/>
        </p:nvSpPr>
        <p:spPr>
          <a:xfrm>
            <a:off x="2381250" y="5655469"/>
            <a:ext cx="10477500"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5x = 95</a:t>
            </a:r>
          </a:p>
        </p:txBody>
      </p:sp>
      <p:sp>
        <p:nvSpPr>
          <p:cNvPr id="21" name="object-21">
            <a:extLst>
              <a:ext uri="{FF2B5EF4-FFF2-40B4-BE49-F238E27FC236}">
                <a16:creationId xmlns:a16="http://schemas.microsoft.com/office/drawing/2014/main" id="{F73C0563-E03D-478C-8D63-61E6C729E594}"/>
              </a:ext>
            </a:extLst>
          </p:cNvPr>
          <p:cNvSpPr>
            <a:spLocks noGrp="1"/>
          </p:cNvSpPr>
          <p:nvPr/>
        </p:nvSpPr>
        <p:spPr>
          <a:xfrm>
            <a:off x="7977188" y="6667500"/>
            <a:ext cx="4286250" cy="773906"/>
          </a:xfrm>
          <a:prstGeom prst="rect">
            <a:avLst/>
          </a:prstGeom>
          <a:noFill/>
          <a:ln w="0">
            <a:noFill/>
          </a:ln>
        </p:spPr>
        <p:txBody>
          <a:bodyPr anchor="ctr">
            <a:noAutofit/>
          </a:bodyPr>
          <a:lstStyle/>
          <a:p>
            <a:pPr algn="ctr">
              <a:defRPr sz="4594" b="1">
                <a:solidFill>
                  <a:srgbClr val="11745A"/>
                </a:solidFill>
                <a:latin typeface="Arial"/>
                <a:ea typeface="Arial"/>
                <a:cs typeface="Arial"/>
              </a:defRPr>
            </a:pPr>
            <a:r>
              <a:rPr sz="4594" b="1">
                <a:solidFill>
                  <a:srgbClr val="11745A"/>
                </a:solidFill>
                <a:latin typeface="Arial"/>
                <a:ea typeface="Arial"/>
                <a:cs typeface="Arial"/>
              </a:rPr>
              <a:t>x = 19</a:t>
            </a:r>
          </a:p>
        </p:txBody>
      </p:sp>
    </p:spTree>
    <p:extLst>
      <p:ext uri="{BB962C8B-B14F-4D97-AF65-F5344CB8AC3E}">
        <p14:creationId xmlns:p14="http://schemas.microsoft.com/office/powerpoint/2010/main" val="567701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par>
                          <p:cTn id="15" fill="hold">
                            <p:stCondLst>
                              <p:cond delay="0"/>
                            </p:stCondLst>
                            <p:childTnLst>
                              <p:par>
                                <p:cTn id="16" presetID="63" presetClass="path" presetSubtype="0" accel="50000" decel="50000" fill="hold" grpId="1" nodeType="afterEffect">
                                  <p:stCondLst>
                                    <p:cond delay="0"/>
                                  </p:stCondLst>
                                  <p:childTnLst>
                                    <p:animMotion origin="layout" path="M 0 0 L -0.125 0 E" pathEditMode="relative" ptsTypes="">
                                      <p:cBhvr>
                                        <p:cTn id="17" dur="800" fill="hold"/>
                                        <p:tgtEl>
                                          <p:spTgt spid="21"/>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p:bldP spid="21" grpId="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object-1">
            <a:extLst>
              <a:ext uri="{FF2B5EF4-FFF2-40B4-BE49-F238E27FC236}">
                <a16:creationId xmlns:a16="http://schemas.microsoft.com/office/drawing/2014/main" id="{F5267E4E-9584-41B8-BF0C-1BF0991A1A1E}"/>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612E7004-8F07-4F01-9FFE-E93843F1D93E}"/>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3AF7D060-6555-4630-A2B5-CDEFC55CE891}"/>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Try these questions.</a:t>
            </a:r>
          </a:p>
        </p:txBody>
      </p:sp>
      <p:sp>
        <p:nvSpPr>
          <p:cNvPr id="4" name="object-4">
            <a:extLst>
              <a:ext uri="{FF2B5EF4-FFF2-40B4-BE49-F238E27FC236}">
                <a16:creationId xmlns:a16="http://schemas.microsoft.com/office/drawing/2014/main" id="{D829DE99-8215-416B-B35B-52CD07F1DDD7}"/>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7E7549BE-DD57-4A39-909D-ADE2B514D934}"/>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Retrieve algebra and measure</a:t>
            </a:r>
          </a:p>
        </p:txBody>
      </p:sp>
      <p:sp>
        <p:nvSpPr>
          <p:cNvPr id="6" name="object-6">
            <a:extLst>
              <a:ext uri="{FF2B5EF4-FFF2-40B4-BE49-F238E27FC236}">
                <a16:creationId xmlns:a16="http://schemas.microsoft.com/office/drawing/2014/main" id="{24A402D1-EC59-4469-8F35-E47085E4F699}"/>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6</a:t>
            </a:r>
          </a:p>
        </p:txBody>
      </p:sp>
      <p:sp>
        <p:nvSpPr>
          <p:cNvPr id="7" name="object-7">
            <a:extLst>
              <a:ext uri="{FF2B5EF4-FFF2-40B4-BE49-F238E27FC236}">
                <a16:creationId xmlns:a16="http://schemas.microsoft.com/office/drawing/2014/main" id="{439EB335-A188-46FD-A217-E138D5B6B3F6}"/>
              </a:ext>
            </a:extLst>
          </p:cNvPr>
          <p:cNvSpPr>
            <a:spLocks noGrp="1"/>
          </p:cNvSpPr>
          <p:nvPr/>
        </p:nvSpPr>
        <p:spPr>
          <a:xfrm>
            <a:off x="773906"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a:t>
            </a:r>
          </a:p>
        </p:txBody>
      </p:sp>
      <p:sp>
        <p:nvSpPr>
          <p:cNvPr id="8" name="object-8">
            <a:extLst>
              <a:ext uri="{FF2B5EF4-FFF2-40B4-BE49-F238E27FC236}">
                <a16:creationId xmlns:a16="http://schemas.microsoft.com/office/drawing/2014/main" id="{D8CD190B-558E-4625-8DA6-926B2B28194F}"/>
              </a:ext>
            </a:extLst>
          </p:cNvPr>
          <p:cNvSpPr>
            <a:spLocks noGrp="1"/>
          </p:cNvSpPr>
          <p:nvPr/>
        </p:nvSpPr>
        <p:spPr>
          <a:xfrm>
            <a:off x="1464469" y="2512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Solve 5x + 8 = 73 and convert 3.45 km to metres.</a:t>
            </a:r>
          </a:p>
        </p:txBody>
      </p:sp>
      <p:sp>
        <p:nvSpPr>
          <p:cNvPr id="9" name="object-9">
            <a:extLst>
              <a:ext uri="{FF2B5EF4-FFF2-40B4-BE49-F238E27FC236}">
                <a16:creationId xmlns:a16="http://schemas.microsoft.com/office/drawing/2014/main" id="{A3D41D9D-0601-4967-B1E2-1DCA04A6CB0D}"/>
              </a:ext>
            </a:extLst>
          </p:cNvPr>
          <p:cNvSpPr>
            <a:spLocks noGrp="1"/>
          </p:cNvSpPr>
          <p:nvPr/>
        </p:nvSpPr>
        <p:spPr>
          <a:xfrm>
            <a:off x="773906"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2.</a:t>
            </a:r>
          </a:p>
        </p:txBody>
      </p:sp>
      <p:sp>
        <p:nvSpPr>
          <p:cNvPr id="10" name="object-10">
            <a:extLst>
              <a:ext uri="{FF2B5EF4-FFF2-40B4-BE49-F238E27FC236}">
                <a16:creationId xmlns:a16="http://schemas.microsoft.com/office/drawing/2014/main" id="{8314D447-8528-46AF-AAE8-2D08BC51860D}"/>
              </a:ext>
            </a:extLst>
          </p:cNvPr>
          <p:cNvSpPr>
            <a:spLocks noGrp="1"/>
          </p:cNvSpPr>
          <p:nvPr/>
        </p:nvSpPr>
        <p:spPr>
          <a:xfrm>
            <a:off x="1464469" y="35599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Find the area of a triangle with base 18 cm and height 11 cm, then find the mean of 18, 22, 25 and 15.</a:t>
            </a:r>
          </a:p>
        </p:txBody>
      </p:sp>
      <p:sp>
        <p:nvSpPr>
          <p:cNvPr id="11" name="object-11">
            <a:extLst>
              <a:ext uri="{FF2B5EF4-FFF2-40B4-BE49-F238E27FC236}">
                <a16:creationId xmlns:a16="http://schemas.microsoft.com/office/drawing/2014/main" id="{A3F6FA5C-2445-4BF9-90D0-A5F52C5D5E29}"/>
              </a:ext>
            </a:extLst>
          </p:cNvPr>
          <p:cNvSpPr>
            <a:spLocks noGrp="1"/>
          </p:cNvSpPr>
          <p:nvPr/>
        </p:nvSpPr>
        <p:spPr>
          <a:xfrm>
            <a:off x="773906"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3.</a:t>
            </a:r>
          </a:p>
        </p:txBody>
      </p:sp>
      <p:sp>
        <p:nvSpPr>
          <p:cNvPr id="12" name="object-12">
            <a:extLst>
              <a:ext uri="{FF2B5EF4-FFF2-40B4-BE49-F238E27FC236}">
                <a16:creationId xmlns:a16="http://schemas.microsoft.com/office/drawing/2014/main" id="{C5296051-E25B-4D4D-8038-36602B9A94D1}"/>
              </a:ext>
            </a:extLst>
          </p:cNvPr>
          <p:cNvSpPr>
            <a:spLocks noGrp="1"/>
          </p:cNvSpPr>
          <p:nvPr/>
        </p:nvSpPr>
        <p:spPr>
          <a:xfrm>
            <a:off x="1464469" y="46077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A £640 item is reduced by 12.5%. Find the sale price.</a:t>
            </a:r>
          </a:p>
        </p:txBody>
      </p:sp>
      <p:sp>
        <p:nvSpPr>
          <p:cNvPr id="13" name="object-13">
            <a:extLst>
              <a:ext uri="{FF2B5EF4-FFF2-40B4-BE49-F238E27FC236}">
                <a16:creationId xmlns:a16="http://schemas.microsoft.com/office/drawing/2014/main" id="{328190FD-C389-4157-AE3B-0C6AF7B776BC}"/>
              </a:ext>
            </a:extLst>
          </p:cNvPr>
          <p:cNvSpPr>
            <a:spLocks noGrp="1"/>
          </p:cNvSpPr>
          <p:nvPr/>
        </p:nvSpPr>
        <p:spPr>
          <a:xfrm>
            <a:off x="773906"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4.</a:t>
            </a:r>
          </a:p>
        </p:txBody>
      </p:sp>
      <p:sp>
        <p:nvSpPr>
          <p:cNvPr id="14" name="object-14">
            <a:extLst>
              <a:ext uri="{FF2B5EF4-FFF2-40B4-BE49-F238E27FC236}">
                <a16:creationId xmlns:a16="http://schemas.microsoft.com/office/drawing/2014/main" id="{835A720C-E119-49BC-9929-EA93D76C1D18}"/>
              </a:ext>
            </a:extLst>
          </p:cNvPr>
          <p:cNvSpPr>
            <a:spLocks noGrp="1"/>
          </p:cNvSpPr>
          <p:nvPr/>
        </p:nvSpPr>
        <p:spPr>
          <a:xfrm>
            <a:off x="1464469" y="56554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Solve this independently and show every stage: Solve 5x + 8 = 73 and convert 3.45 km to metres.</a:t>
            </a:r>
          </a:p>
        </p:txBody>
      </p:sp>
      <p:sp>
        <p:nvSpPr>
          <p:cNvPr id="15" name="object-15">
            <a:extLst>
              <a:ext uri="{FF2B5EF4-FFF2-40B4-BE49-F238E27FC236}">
                <a16:creationId xmlns:a16="http://schemas.microsoft.com/office/drawing/2014/main" id="{6D3B6468-F05B-45A4-B616-C8B47EBE26EE}"/>
              </a:ext>
            </a:extLst>
          </p:cNvPr>
          <p:cNvSpPr>
            <a:spLocks noGrp="1"/>
          </p:cNvSpPr>
          <p:nvPr/>
        </p:nvSpPr>
        <p:spPr>
          <a:xfrm>
            <a:off x="773906"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5.</a:t>
            </a:r>
          </a:p>
        </p:txBody>
      </p:sp>
      <p:sp>
        <p:nvSpPr>
          <p:cNvPr id="16" name="object-16">
            <a:extLst>
              <a:ext uri="{FF2B5EF4-FFF2-40B4-BE49-F238E27FC236}">
                <a16:creationId xmlns:a16="http://schemas.microsoft.com/office/drawing/2014/main" id="{1EDDE015-C9FD-47C6-993B-0E202C6CABCC}"/>
              </a:ext>
            </a:extLst>
          </p:cNvPr>
          <p:cNvSpPr>
            <a:spLocks noGrp="1"/>
          </p:cNvSpPr>
          <p:nvPr/>
        </p:nvSpPr>
        <p:spPr>
          <a:xfrm>
            <a:off x="1464469" y="6703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Use a second method or representation for: Find the area of a triangle with base 18 cm and height 11 cm, then find the mean of 18, 22, 25 and 15.</a:t>
            </a:r>
          </a:p>
        </p:txBody>
      </p:sp>
      <p:sp>
        <p:nvSpPr>
          <p:cNvPr id="17" name="object-17">
            <a:extLst>
              <a:ext uri="{FF2B5EF4-FFF2-40B4-BE49-F238E27FC236}">
                <a16:creationId xmlns:a16="http://schemas.microsoft.com/office/drawing/2014/main" id="{C0D7AF46-2F7A-459C-A3B1-484D20CAEEDC}"/>
              </a:ext>
            </a:extLst>
          </p:cNvPr>
          <p:cNvSpPr>
            <a:spLocks noGrp="1"/>
          </p:cNvSpPr>
          <p:nvPr/>
        </p:nvSpPr>
        <p:spPr>
          <a:xfrm>
            <a:off x="8215313"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6.</a:t>
            </a:r>
          </a:p>
        </p:txBody>
      </p:sp>
      <p:sp>
        <p:nvSpPr>
          <p:cNvPr id="18" name="object-18">
            <a:extLst>
              <a:ext uri="{FF2B5EF4-FFF2-40B4-BE49-F238E27FC236}">
                <a16:creationId xmlns:a16="http://schemas.microsoft.com/office/drawing/2014/main" id="{30A751D3-8EC6-48B0-9C0B-8470296CBE1A}"/>
              </a:ext>
            </a:extLst>
          </p:cNvPr>
          <p:cNvSpPr>
            <a:spLocks noGrp="1"/>
          </p:cNvSpPr>
          <p:nvPr/>
        </p:nvSpPr>
        <p:spPr>
          <a:xfrm>
            <a:off x="8905875" y="2512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Check this result using an inverse, estimate or known fact: A £640 item is reduced by 12.5%. Find the sale price.</a:t>
            </a:r>
          </a:p>
        </p:txBody>
      </p:sp>
      <p:sp>
        <p:nvSpPr>
          <p:cNvPr id="19" name="object-19">
            <a:extLst>
              <a:ext uri="{FF2B5EF4-FFF2-40B4-BE49-F238E27FC236}">
                <a16:creationId xmlns:a16="http://schemas.microsoft.com/office/drawing/2014/main" id="{A87E3AA2-7BBD-4D6F-A159-95868BD62570}"/>
              </a:ext>
            </a:extLst>
          </p:cNvPr>
          <p:cNvSpPr>
            <a:spLocks noGrp="1"/>
          </p:cNvSpPr>
          <p:nvPr/>
        </p:nvSpPr>
        <p:spPr>
          <a:xfrm>
            <a:off x="8215313"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7.</a:t>
            </a:r>
          </a:p>
        </p:txBody>
      </p:sp>
      <p:sp>
        <p:nvSpPr>
          <p:cNvPr id="20" name="object-20">
            <a:extLst>
              <a:ext uri="{FF2B5EF4-FFF2-40B4-BE49-F238E27FC236}">
                <a16:creationId xmlns:a16="http://schemas.microsoft.com/office/drawing/2014/main" id="{92D8D667-4CB3-4E88-9F88-FE709666912B}"/>
              </a:ext>
            </a:extLst>
          </p:cNvPr>
          <p:cNvSpPr>
            <a:spLocks noGrp="1"/>
          </p:cNvSpPr>
          <p:nvPr/>
        </p:nvSpPr>
        <p:spPr>
          <a:xfrm>
            <a:off x="8905875" y="35599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Prove or explain your reasoning: A cuboid has volume 756 cm3, length 12 cm and width 7 cm. Find its height.</a:t>
            </a:r>
          </a:p>
        </p:txBody>
      </p:sp>
      <p:sp>
        <p:nvSpPr>
          <p:cNvPr id="21" name="object-21">
            <a:extLst>
              <a:ext uri="{FF2B5EF4-FFF2-40B4-BE49-F238E27FC236}">
                <a16:creationId xmlns:a16="http://schemas.microsoft.com/office/drawing/2014/main" id="{75A399CC-FD1B-4FF1-A727-F2ABAD21994E}"/>
              </a:ext>
            </a:extLst>
          </p:cNvPr>
          <p:cNvSpPr>
            <a:spLocks noGrp="1"/>
          </p:cNvSpPr>
          <p:nvPr/>
        </p:nvSpPr>
        <p:spPr>
          <a:xfrm>
            <a:off x="8215313"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8.</a:t>
            </a:r>
          </a:p>
        </p:txBody>
      </p:sp>
      <p:sp>
        <p:nvSpPr>
          <p:cNvPr id="22" name="object-22">
            <a:extLst>
              <a:ext uri="{FF2B5EF4-FFF2-40B4-BE49-F238E27FC236}">
                <a16:creationId xmlns:a16="http://schemas.microsoft.com/office/drawing/2014/main" id="{12943B95-DA33-4E0E-B78B-411D5F5A4603}"/>
              </a:ext>
            </a:extLst>
          </p:cNvPr>
          <p:cNvSpPr>
            <a:spLocks noGrp="1"/>
          </p:cNvSpPr>
          <p:nvPr/>
        </p:nvSpPr>
        <p:spPr>
          <a:xfrm>
            <a:off x="8905875" y="46077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Identify and correct this misconception: Miro records a general target such as 'get better at maths'.</a:t>
            </a:r>
          </a:p>
        </p:txBody>
      </p:sp>
      <p:sp>
        <p:nvSpPr>
          <p:cNvPr id="23" name="object-23">
            <a:extLst>
              <a:ext uri="{FF2B5EF4-FFF2-40B4-BE49-F238E27FC236}">
                <a16:creationId xmlns:a16="http://schemas.microsoft.com/office/drawing/2014/main" id="{04F75744-73D4-4DAE-BCDB-C54BA40D2B2A}"/>
              </a:ext>
            </a:extLst>
          </p:cNvPr>
          <p:cNvSpPr>
            <a:spLocks noGrp="1"/>
          </p:cNvSpPr>
          <p:nvPr/>
        </p:nvSpPr>
        <p:spPr>
          <a:xfrm>
            <a:off x="8215313"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9.</a:t>
            </a:r>
          </a:p>
        </p:txBody>
      </p:sp>
      <p:sp>
        <p:nvSpPr>
          <p:cNvPr id="24" name="object-24">
            <a:extLst>
              <a:ext uri="{FF2B5EF4-FFF2-40B4-BE49-F238E27FC236}">
                <a16:creationId xmlns:a16="http://schemas.microsoft.com/office/drawing/2014/main" id="{546F7C6C-5F2D-4109-8341-63285024974F}"/>
              </a:ext>
            </a:extLst>
          </p:cNvPr>
          <p:cNvSpPr>
            <a:spLocks noGrp="1"/>
          </p:cNvSpPr>
          <p:nvPr/>
        </p:nvSpPr>
        <p:spPr>
          <a:xfrm>
            <a:off x="8905875" y="56554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Write a complete sentence explaining how you checked one answer.</a:t>
            </a:r>
          </a:p>
        </p:txBody>
      </p:sp>
      <p:sp>
        <p:nvSpPr>
          <p:cNvPr id="25" name="object-25">
            <a:extLst>
              <a:ext uri="{FF2B5EF4-FFF2-40B4-BE49-F238E27FC236}">
                <a16:creationId xmlns:a16="http://schemas.microsoft.com/office/drawing/2014/main" id="{FC848B96-BA7A-43D6-AF23-20DDCB050A3C}"/>
              </a:ext>
            </a:extLst>
          </p:cNvPr>
          <p:cNvSpPr>
            <a:spLocks noGrp="1"/>
          </p:cNvSpPr>
          <p:nvPr/>
        </p:nvSpPr>
        <p:spPr>
          <a:xfrm>
            <a:off x="8215313"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10.</a:t>
            </a:r>
          </a:p>
        </p:txBody>
      </p:sp>
      <p:sp>
        <p:nvSpPr>
          <p:cNvPr id="26" name="object-26">
            <a:extLst>
              <a:ext uri="{FF2B5EF4-FFF2-40B4-BE49-F238E27FC236}">
                <a16:creationId xmlns:a16="http://schemas.microsoft.com/office/drawing/2014/main" id="{C74C0275-A12A-4A6B-9CC1-319287621FA7}"/>
              </a:ext>
            </a:extLst>
          </p:cNvPr>
          <p:cNvSpPr>
            <a:spLocks noGrp="1"/>
          </p:cNvSpPr>
          <p:nvPr/>
        </p:nvSpPr>
        <p:spPr>
          <a:xfrm>
            <a:off x="8905875" y="6703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Write and solve a similar question to: A £640 item is reduced by 12.5%. Find the sale price.</a:t>
            </a:r>
          </a:p>
        </p:txBody>
      </p:sp>
    </p:spTree>
    <p:extLst>
      <p:ext uri="{BB962C8B-B14F-4D97-AF65-F5344CB8AC3E}">
        <p14:creationId xmlns:p14="http://schemas.microsoft.com/office/powerpoint/2010/main" val="8577560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object-1">
            <a:extLst>
              <a:ext uri="{FF2B5EF4-FFF2-40B4-BE49-F238E27FC236}">
                <a16:creationId xmlns:a16="http://schemas.microsoft.com/office/drawing/2014/main" id="{74A369CF-7EF4-445F-93C2-CF39E365BAE9}"/>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Answers</a:t>
            </a:r>
          </a:p>
        </p:txBody>
      </p:sp>
      <p:sp>
        <p:nvSpPr>
          <p:cNvPr id="2" name="object-2">
            <a:extLst>
              <a:ext uri="{FF2B5EF4-FFF2-40B4-BE49-F238E27FC236}">
                <a16:creationId xmlns:a16="http://schemas.microsoft.com/office/drawing/2014/main" id="{3160A73C-76A9-471F-85A1-69EE857FA0E7}"/>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Check your answers. Explain any corrections.</a:t>
            </a:r>
          </a:p>
        </p:txBody>
      </p:sp>
      <p:sp>
        <p:nvSpPr>
          <p:cNvPr id="3" name="object-3">
            <a:extLst>
              <a:ext uri="{FF2B5EF4-FFF2-40B4-BE49-F238E27FC236}">
                <a16:creationId xmlns:a16="http://schemas.microsoft.com/office/drawing/2014/main" id="{C3908D17-205B-4BF5-AB42-C9FF91B3C057}"/>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288203E4-852C-4D28-99B7-1B303FD7B5E3}"/>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Retrieve algebra and measure</a:t>
            </a:r>
          </a:p>
        </p:txBody>
      </p:sp>
      <p:sp>
        <p:nvSpPr>
          <p:cNvPr id="5" name="object-5">
            <a:extLst>
              <a:ext uri="{FF2B5EF4-FFF2-40B4-BE49-F238E27FC236}">
                <a16:creationId xmlns:a16="http://schemas.microsoft.com/office/drawing/2014/main" id="{CC9C33BF-5ECF-4AEF-80E8-DDDEFE1C4ABA}"/>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7</a:t>
            </a:r>
          </a:p>
        </p:txBody>
      </p:sp>
      <p:sp>
        <p:nvSpPr>
          <p:cNvPr id="6" name="object-6">
            <a:extLst>
              <a:ext uri="{FF2B5EF4-FFF2-40B4-BE49-F238E27FC236}">
                <a16:creationId xmlns:a16="http://schemas.microsoft.com/office/drawing/2014/main" id="{05B9A9CD-0E13-4905-95F3-7FF668890C27}"/>
              </a:ext>
            </a:extLst>
          </p:cNvPr>
          <p:cNvSpPr>
            <a:spLocks noGrp="1"/>
          </p:cNvSpPr>
          <p:nvPr/>
        </p:nvSpPr>
        <p:spPr>
          <a:xfrm>
            <a:off x="773906"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a:t>
            </a:r>
          </a:p>
        </p:txBody>
      </p:sp>
      <p:sp>
        <p:nvSpPr>
          <p:cNvPr id="7" name="object-7">
            <a:extLst>
              <a:ext uri="{FF2B5EF4-FFF2-40B4-BE49-F238E27FC236}">
                <a16:creationId xmlns:a16="http://schemas.microsoft.com/office/drawing/2014/main" id="{FCC4BDC4-1BF6-4FA0-9574-C715BDFA277B}"/>
              </a:ext>
            </a:extLst>
          </p:cNvPr>
          <p:cNvSpPr>
            <a:spLocks noGrp="1"/>
          </p:cNvSpPr>
          <p:nvPr/>
        </p:nvSpPr>
        <p:spPr>
          <a:xfrm>
            <a:off x="1464469" y="2512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x = 13 and 3,450 m.</a:t>
            </a:r>
          </a:p>
        </p:txBody>
      </p:sp>
      <p:sp>
        <p:nvSpPr>
          <p:cNvPr id="8" name="object-8">
            <a:extLst>
              <a:ext uri="{FF2B5EF4-FFF2-40B4-BE49-F238E27FC236}">
                <a16:creationId xmlns:a16="http://schemas.microsoft.com/office/drawing/2014/main" id="{1EF224EB-6F79-40B6-871F-06D4478A185B}"/>
              </a:ext>
            </a:extLst>
          </p:cNvPr>
          <p:cNvSpPr>
            <a:spLocks noGrp="1"/>
          </p:cNvSpPr>
          <p:nvPr/>
        </p:nvSpPr>
        <p:spPr>
          <a:xfrm>
            <a:off x="773906"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2.</a:t>
            </a:r>
          </a:p>
        </p:txBody>
      </p:sp>
      <p:sp>
        <p:nvSpPr>
          <p:cNvPr id="9" name="object-9">
            <a:extLst>
              <a:ext uri="{FF2B5EF4-FFF2-40B4-BE49-F238E27FC236}">
                <a16:creationId xmlns:a16="http://schemas.microsoft.com/office/drawing/2014/main" id="{E5F5E8D3-882F-47F4-A56E-93B341B2F1D1}"/>
              </a:ext>
            </a:extLst>
          </p:cNvPr>
          <p:cNvSpPr>
            <a:spLocks noGrp="1"/>
          </p:cNvSpPr>
          <p:nvPr/>
        </p:nvSpPr>
        <p:spPr>
          <a:xfrm>
            <a:off x="1464469" y="35599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99 cm2 and 20.</a:t>
            </a:r>
          </a:p>
        </p:txBody>
      </p:sp>
      <p:sp>
        <p:nvSpPr>
          <p:cNvPr id="10" name="object-10">
            <a:extLst>
              <a:ext uri="{FF2B5EF4-FFF2-40B4-BE49-F238E27FC236}">
                <a16:creationId xmlns:a16="http://schemas.microsoft.com/office/drawing/2014/main" id="{4B187093-079E-4D20-AB63-E93DB52A1293}"/>
              </a:ext>
            </a:extLst>
          </p:cNvPr>
          <p:cNvSpPr>
            <a:spLocks noGrp="1"/>
          </p:cNvSpPr>
          <p:nvPr/>
        </p:nvSpPr>
        <p:spPr>
          <a:xfrm>
            <a:off x="773906"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3.</a:t>
            </a:r>
          </a:p>
        </p:txBody>
      </p:sp>
      <p:sp>
        <p:nvSpPr>
          <p:cNvPr id="11" name="object-11">
            <a:extLst>
              <a:ext uri="{FF2B5EF4-FFF2-40B4-BE49-F238E27FC236}">
                <a16:creationId xmlns:a16="http://schemas.microsoft.com/office/drawing/2014/main" id="{E1C11550-FEFD-4A19-9BB7-8A1531D11DC9}"/>
              </a:ext>
            </a:extLst>
          </p:cNvPr>
          <p:cNvSpPr>
            <a:spLocks noGrp="1"/>
          </p:cNvSpPr>
          <p:nvPr/>
        </p:nvSpPr>
        <p:spPr>
          <a:xfrm>
            <a:off x="1464469" y="46077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£560.</a:t>
            </a:r>
          </a:p>
        </p:txBody>
      </p:sp>
      <p:sp>
        <p:nvSpPr>
          <p:cNvPr id="12" name="object-12">
            <a:extLst>
              <a:ext uri="{FF2B5EF4-FFF2-40B4-BE49-F238E27FC236}">
                <a16:creationId xmlns:a16="http://schemas.microsoft.com/office/drawing/2014/main" id="{0E26A8FB-5A3E-4CD6-9639-16AD0A9831C0}"/>
              </a:ext>
            </a:extLst>
          </p:cNvPr>
          <p:cNvSpPr>
            <a:spLocks noGrp="1"/>
          </p:cNvSpPr>
          <p:nvPr/>
        </p:nvSpPr>
        <p:spPr>
          <a:xfrm>
            <a:off x="773906"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4.</a:t>
            </a:r>
          </a:p>
        </p:txBody>
      </p:sp>
      <p:sp>
        <p:nvSpPr>
          <p:cNvPr id="13" name="object-13">
            <a:extLst>
              <a:ext uri="{FF2B5EF4-FFF2-40B4-BE49-F238E27FC236}">
                <a16:creationId xmlns:a16="http://schemas.microsoft.com/office/drawing/2014/main" id="{F2AE4BD5-BB81-46D2-B62A-788CCFC5AD36}"/>
              </a:ext>
            </a:extLst>
          </p:cNvPr>
          <p:cNvSpPr>
            <a:spLocks noGrp="1"/>
          </p:cNvSpPr>
          <p:nvPr/>
        </p:nvSpPr>
        <p:spPr>
          <a:xfrm>
            <a:off x="1464469" y="56554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x = 13 and 3,450 m.</a:t>
            </a:r>
          </a:p>
        </p:txBody>
      </p:sp>
      <p:sp>
        <p:nvSpPr>
          <p:cNvPr id="14" name="object-14">
            <a:extLst>
              <a:ext uri="{FF2B5EF4-FFF2-40B4-BE49-F238E27FC236}">
                <a16:creationId xmlns:a16="http://schemas.microsoft.com/office/drawing/2014/main" id="{4539FB44-DC82-4362-BE23-881C4DF3AA43}"/>
              </a:ext>
            </a:extLst>
          </p:cNvPr>
          <p:cNvSpPr>
            <a:spLocks noGrp="1"/>
          </p:cNvSpPr>
          <p:nvPr/>
        </p:nvSpPr>
        <p:spPr>
          <a:xfrm>
            <a:off x="773906"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5.</a:t>
            </a:r>
          </a:p>
        </p:txBody>
      </p:sp>
      <p:sp>
        <p:nvSpPr>
          <p:cNvPr id="15" name="object-15">
            <a:extLst>
              <a:ext uri="{FF2B5EF4-FFF2-40B4-BE49-F238E27FC236}">
                <a16:creationId xmlns:a16="http://schemas.microsoft.com/office/drawing/2014/main" id="{5BBA9E84-E197-40B9-B007-7D76210920A5}"/>
              </a:ext>
            </a:extLst>
          </p:cNvPr>
          <p:cNvSpPr>
            <a:spLocks noGrp="1"/>
          </p:cNvSpPr>
          <p:nvPr/>
        </p:nvSpPr>
        <p:spPr>
          <a:xfrm>
            <a:off x="1464469" y="6703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Expected result: 99 cm2 and 20. Method or representation may vary.</a:t>
            </a:r>
          </a:p>
        </p:txBody>
      </p:sp>
      <p:sp>
        <p:nvSpPr>
          <p:cNvPr id="16" name="object-16">
            <a:extLst>
              <a:ext uri="{FF2B5EF4-FFF2-40B4-BE49-F238E27FC236}">
                <a16:creationId xmlns:a16="http://schemas.microsoft.com/office/drawing/2014/main" id="{1AD25CD5-EE8F-4612-9372-023EBABA2D54}"/>
              </a:ext>
            </a:extLst>
          </p:cNvPr>
          <p:cNvSpPr>
            <a:spLocks noGrp="1"/>
          </p:cNvSpPr>
          <p:nvPr/>
        </p:nvSpPr>
        <p:spPr>
          <a:xfrm>
            <a:off x="8215313"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6.</a:t>
            </a:r>
          </a:p>
        </p:txBody>
      </p:sp>
      <p:sp>
        <p:nvSpPr>
          <p:cNvPr id="17" name="object-17">
            <a:extLst>
              <a:ext uri="{FF2B5EF4-FFF2-40B4-BE49-F238E27FC236}">
                <a16:creationId xmlns:a16="http://schemas.microsoft.com/office/drawing/2014/main" id="{E8C0DA15-220A-4AB9-9F5F-8923D527AD9B}"/>
              </a:ext>
            </a:extLst>
          </p:cNvPr>
          <p:cNvSpPr>
            <a:spLocks noGrp="1"/>
          </p:cNvSpPr>
          <p:nvPr/>
        </p:nvSpPr>
        <p:spPr>
          <a:xfrm>
            <a:off x="8905875" y="2512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Expected result: £560. A valid check must be shown.</a:t>
            </a:r>
          </a:p>
        </p:txBody>
      </p:sp>
      <p:sp>
        <p:nvSpPr>
          <p:cNvPr id="18" name="object-18">
            <a:extLst>
              <a:ext uri="{FF2B5EF4-FFF2-40B4-BE49-F238E27FC236}">
                <a16:creationId xmlns:a16="http://schemas.microsoft.com/office/drawing/2014/main" id="{F16E98F3-D37D-4CBC-B5C1-B092C0FFC797}"/>
              </a:ext>
            </a:extLst>
          </p:cNvPr>
          <p:cNvSpPr>
            <a:spLocks noGrp="1"/>
          </p:cNvSpPr>
          <p:nvPr/>
        </p:nvSpPr>
        <p:spPr>
          <a:xfrm>
            <a:off x="8215313"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7.</a:t>
            </a:r>
          </a:p>
        </p:txBody>
      </p:sp>
      <p:sp>
        <p:nvSpPr>
          <p:cNvPr id="19" name="object-19">
            <a:extLst>
              <a:ext uri="{FF2B5EF4-FFF2-40B4-BE49-F238E27FC236}">
                <a16:creationId xmlns:a16="http://schemas.microsoft.com/office/drawing/2014/main" id="{E4EF880E-0C67-40EE-8A4E-BE61D6481A5F}"/>
              </a:ext>
            </a:extLst>
          </p:cNvPr>
          <p:cNvSpPr>
            <a:spLocks noGrp="1"/>
          </p:cNvSpPr>
          <p:nvPr/>
        </p:nvSpPr>
        <p:spPr>
          <a:xfrm>
            <a:off x="8905875" y="35599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9 cm. The explanation must show why the method works.</a:t>
            </a:r>
          </a:p>
        </p:txBody>
      </p:sp>
      <p:sp>
        <p:nvSpPr>
          <p:cNvPr id="20" name="object-20">
            <a:extLst>
              <a:ext uri="{FF2B5EF4-FFF2-40B4-BE49-F238E27FC236}">
                <a16:creationId xmlns:a16="http://schemas.microsoft.com/office/drawing/2014/main" id="{6D3C25D1-CB8C-4621-9651-A3744D1798DC}"/>
              </a:ext>
            </a:extLst>
          </p:cNvPr>
          <p:cNvSpPr>
            <a:spLocks noGrp="1"/>
          </p:cNvSpPr>
          <p:nvPr/>
        </p:nvSpPr>
        <p:spPr>
          <a:xfrm>
            <a:off x="8215313"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8.</a:t>
            </a:r>
          </a:p>
        </p:txBody>
      </p:sp>
      <p:sp>
        <p:nvSpPr>
          <p:cNvPr id="21" name="object-21">
            <a:extLst>
              <a:ext uri="{FF2B5EF4-FFF2-40B4-BE49-F238E27FC236}">
                <a16:creationId xmlns:a16="http://schemas.microsoft.com/office/drawing/2014/main" id="{AEA7A13B-EF04-47A1-B85D-787A6D507501}"/>
              </a:ext>
            </a:extLst>
          </p:cNvPr>
          <p:cNvSpPr>
            <a:spLocks noGrp="1"/>
          </p:cNvSpPr>
          <p:nvPr/>
        </p:nvSpPr>
        <p:spPr>
          <a:xfrm>
            <a:off x="8905875" y="46077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Use assessment evidence to name the exact concept, method, example and support required next.</a:t>
            </a:r>
          </a:p>
        </p:txBody>
      </p:sp>
      <p:sp>
        <p:nvSpPr>
          <p:cNvPr id="22" name="object-22">
            <a:extLst>
              <a:ext uri="{FF2B5EF4-FFF2-40B4-BE49-F238E27FC236}">
                <a16:creationId xmlns:a16="http://schemas.microsoft.com/office/drawing/2014/main" id="{28A12637-3927-4966-B9E4-91051931F94E}"/>
              </a:ext>
            </a:extLst>
          </p:cNvPr>
          <p:cNvSpPr>
            <a:spLocks noGrp="1"/>
          </p:cNvSpPr>
          <p:nvPr/>
        </p:nvSpPr>
        <p:spPr>
          <a:xfrm>
            <a:off x="8215313"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9.</a:t>
            </a:r>
          </a:p>
        </p:txBody>
      </p:sp>
      <p:sp>
        <p:nvSpPr>
          <p:cNvPr id="23" name="object-23">
            <a:extLst>
              <a:ext uri="{FF2B5EF4-FFF2-40B4-BE49-F238E27FC236}">
                <a16:creationId xmlns:a16="http://schemas.microsoft.com/office/drawing/2014/main" id="{FF0C5F11-5C57-4525-AA44-C13845B57016}"/>
              </a:ext>
            </a:extLst>
          </p:cNvPr>
          <p:cNvSpPr>
            <a:spLocks noGrp="1"/>
          </p:cNvSpPr>
          <p:nvPr/>
        </p:nvSpPr>
        <p:spPr>
          <a:xfrm>
            <a:off x="8905875" y="56554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Answer should name an inverse, estimate, boundary, known fact or equivalent representation.</a:t>
            </a:r>
          </a:p>
        </p:txBody>
      </p:sp>
      <p:sp>
        <p:nvSpPr>
          <p:cNvPr id="24" name="object-24">
            <a:extLst>
              <a:ext uri="{FF2B5EF4-FFF2-40B4-BE49-F238E27FC236}">
                <a16:creationId xmlns:a16="http://schemas.microsoft.com/office/drawing/2014/main" id="{E4A93389-58C0-4F46-AD59-32CC3DE6FC32}"/>
              </a:ext>
            </a:extLst>
          </p:cNvPr>
          <p:cNvSpPr>
            <a:spLocks noGrp="1"/>
          </p:cNvSpPr>
          <p:nvPr/>
        </p:nvSpPr>
        <p:spPr>
          <a:xfrm>
            <a:off x="8215313"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10.</a:t>
            </a:r>
          </a:p>
        </p:txBody>
      </p:sp>
      <p:sp>
        <p:nvSpPr>
          <p:cNvPr id="25" name="object-25">
            <a:extLst>
              <a:ext uri="{FF2B5EF4-FFF2-40B4-BE49-F238E27FC236}">
                <a16:creationId xmlns:a16="http://schemas.microsoft.com/office/drawing/2014/main" id="{E660516B-CA91-4E6B-907A-D47CAE44C581}"/>
              </a:ext>
            </a:extLst>
          </p:cNvPr>
          <p:cNvSpPr>
            <a:spLocks noGrp="1"/>
          </p:cNvSpPr>
          <p:nvPr/>
        </p:nvSpPr>
        <p:spPr>
          <a:xfrm>
            <a:off x="8905875" y="6703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Answers vary. The new question must use the same mathematical structure and include a correct solution.</a:t>
            </a:r>
          </a:p>
        </p:txBody>
      </p:sp>
    </p:spTree>
    <p:extLst>
      <p:ext uri="{BB962C8B-B14F-4D97-AF65-F5344CB8AC3E}">
        <p14:creationId xmlns:p14="http://schemas.microsoft.com/office/powerpoint/2010/main" val="96805205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1020</Words>
  <Application>Microsoft Office PowerPoint</Application>
  <DocSecurity>0</DocSecurity>
  <PresentationFormat>Custom</PresentationFormat>
  <Paragraphs>126</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Garima Sharma</cp:lastModifiedBy>
  <cp:revision>1</cp:revision>
  <dcterms:created xsi:type="dcterms:W3CDTF">2026-09-14T13:14:40Z</dcterms:created>
  <dcterms:modified xsi:type="dcterms:W3CDTF">2026-09-14T13:18:16Z</dcterms:modified>
</cp:coreProperties>
</file>