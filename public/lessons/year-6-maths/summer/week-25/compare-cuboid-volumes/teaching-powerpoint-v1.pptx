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cuboid volumes. Compare cuboid volumes.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cuboid volumes.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cuboid volumes.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cuboid volumes.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cuboid volumes.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cuboid volumes.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cuboid volumes.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7699A10E-5320-41C0-ADB4-1D8F243DE6E0}"/>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Compare cuboid volumes</a:t>
            </a:r>
          </a:p>
        </p:txBody>
      </p:sp>
      <p:sp>
        <p:nvSpPr>
          <p:cNvPr id="2" name="object-2">
            <a:extLst>
              <a:ext uri="{FF2B5EF4-FFF2-40B4-BE49-F238E27FC236}">
                <a16:creationId xmlns:a16="http://schemas.microsoft.com/office/drawing/2014/main" id="{75B84E1F-38E5-4CBE-88A6-9BFA6AAF4945}"/>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4CD7302C-936A-4C81-8CF6-D3793456E10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39F25FAF-85E6-4CD8-95A2-4ECBEE85E31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cuboid volumes</a:t>
            </a:r>
          </a:p>
        </p:txBody>
      </p:sp>
      <p:sp>
        <p:nvSpPr>
          <p:cNvPr id="5" name="object-5">
            <a:extLst>
              <a:ext uri="{FF2B5EF4-FFF2-40B4-BE49-F238E27FC236}">
                <a16:creationId xmlns:a16="http://schemas.microsoft.com/office/drawing/2014/main" id="{A3FDA673-500D-441F-9865-6C032F6222C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033CC156-5975-4B7A-BEEA-9FE6EBC1874C}"/>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compare volumes when dimensions change.</a:t>
            </a:r>
          </a:p>
        </p:txBody>
      </p:sp>
    </p:spTree>
    <p:extLst>
      <p:ext uri="{BB962C8B-B14F-4D97-AF65-F5344CB8AC3E}">
        <p14:creationId xmlns:p14="http://schemas.microsoft.com/office/powerpoint/2010/main" val="8259717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object-1">
            <a:extLst>
              <a:ext uri="{FF2B5EF4-FFF2-40B4-BE49-F238E27FC236}">
                <a16:creationId xmlns:a16="http://schemas.microsoft.com/office/drawing/2014/main" id="{EE44EC3D-F06E-4B93-B889-150745CCBA1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24F35F73-B50E-4918-8EC3-B293291C839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8 × 6 × 5 cm cuboid.</a:t>
            </a:r>
          </a:p>
        </p:txBody>
      </p:sp>
      <p:sp>
        <p:nvSpPr>
          <p:cNvPr id="3" name="object-3">
            <a:extLst>
              <a:ext uri="{FF2B5EF4-FFF2-40B4-BE49-F238E27FC236}">
                <a16:creationId xmlns:a16="http://schemas.microsoft.com/office/drawing/2014/main" id="{D31B81B8-8E03-49DD-89F4-C9ED4501AFC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32C0633-59FA-46CF-BAC3-E0CC17F3D7A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cuboid volumes</a:t>
            </a:r>
          </a:p>
        </p:txBody>
      </p:sp>
      <p:sp>
        <p:nvSpPr>
          <p:cNvPr id="5" name="object-5">
            <a:extLst>
              <a:ext uri="{FF2B5EF4-FFF2-40B4-BE49-F238E27FC236}">
                <a16:creationId xmlns:a16="http://schemas.microsoft.com/office/drawing/2014/main" id="{FA453467-A70A-4DB3-8A63-695033BC89E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0C8CAD43-7667-4B26-BDBB-DBC3A280DBD2}"/>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6DFFF214-7B16-4941-AE78-FEBD984610A6}"/>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7FA58FED-0B88-47E2-8522-A139B0BDE20D}"/>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26795BB0-5B73-4EA1-906D-6E3763C17782}"/>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D5614546-3530-4B08-A77B-374DECD8CA49}"/>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4F411ECF-92DD-41FC-90A7-A7344A95D354}"/>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 cm</a:t>
            </a:r>
          </a:p>
        </p:txBody>
      </p:sp>
      <p:sp>
        <p:nvSpPr>
          <p:cNvPr id="12" name="object-12">
            <a:extLst>
              <a:ext uri="{FF2B5EF4-FFF2-40B4-BE49-F238E27FC236}">
                <a16:creationId xmlns:a16="http://schemas.microsoft.com/office/drawing/2014/main" id="{8951C888-005F-4211-8901-420D7F6AB531}"/>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 cm</a:t>
            </a:r>
          </a:p>
        </p:txBody>
      </p:sp>
      <p:sp>
        <p:nvSpPr>
          <p:cNvPr id="13" name="object-13">
            <a:extLst>
              <a:ext uri="{FF2B5EF4-FFF2-40B4-BE49-F238E27FC236}">
                <a16:creationId xmlns:a16="http://schemas.microsoft.com/office/drawing/2014/main" id="{01572E26-EAC1-46ED-9F78-CCD625C2E375}"/>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8 × 6 = 48 cm² per layer</a:t>
            </a:r>
          </a:p>
        </p:txBody>
      </p:sp>
      <p:sp>
        <p:nvSpPr>
          <p:cNvPr id="14" name="object-14">
            <a:extLst>
              <a:ext uri="{FF2B5EF4-FFF2-40B4-BE49-F238E27FC236}">
                <a16:creationId xmlns:a16="http://schemas.microsoft.com/office/drawing/2014/main" id="{BC6BEE32-EA98-417C-B85D-2B588E390A33}"/>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48 × 5 = 240 cm³</a:t>
            </a:r>
          </a:p>
        </p:txBody>
      </p:sp>
      <p:sp>
        <p:nvSpPr>
          <p:cNvPr id="15" name="object-15">
            <a:extLst>
              <a:ext uri="{FF2B5EF4-FFF2-40B4-BE49-F238E27FC236}">
                <a16:creationId xmlns:a16="http://schemas.microsoft.com/office/drawing/2014/main" id="{CADBE021-0064-4B35-BA10-3508625DD84F}"/>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Other cuboid: 10 × 6 × 4 = 240 cm³</a:t>
            </a:r>
          </a:p>
        </p:txBody>
      </p:sp>
    </p:spTree>
    <p:extLst>
      <p:ext uri="{BB962C8B-B14F-4D97-AF65-F5344CB8AC3E}">
        <p14:creationId xmlns:p14="http://schemas.microsoft.com/office/powerpoint/2010/main" val="1969111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536C082D-3C45-4301-9D5A-08C06A789A0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C4136413-F075-413A-B03D-5EDA66F3081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0A2F4E0-1B76-4056-B045-36F06D93503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8 × 6 × 6 cm cuboid.</a:t>
            </a:r>
          </a:p>
        </p:txBody>
      </p:sp>
      <p:sp>
        <p:nvSpPr>
          <p:cNvPr id="4" name="object-4">
            <a:extLst>
              <a:ext uri="{FF2B5EF4-FFF2-40B4-BE49-F238E27FC236}">
                <a16:creationId xmlns:a16="http://schemas.microsoft.com/office/drawing/2014/main" id="{7518E8C9-5010-4B93-9921-E6DC2E4F754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245FF0B-616A-43D0-8CF9-88BC82E2167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cuboid volumes</a:t>
            </a:r>
          </a:p>
        </p:txBody>
      </p:sp>
      <p:sp>
        <p:nvSpPr>
          <p:cNvPr id="6" name="object-6">
            <a:extLst>
              <a:ext uri="{FF2B5EF4-FFF2-40B4-BE49-F238E27FC236}">
                <a16:creationId xmlns:a16="http://schemas.microsoft.com/office/drawing/2014/main" id="{E92522E2-3912-4AC6-BA74-5D87116ABCF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5C059137-DEE4-40F3-9F3E-E119BB554AB6}"/>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3B469586-2DBC-4E30-B0E2-616A4E345575}"/>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A4C1BCE7-6FDB-4489-BB29-7209D56E07C6}"/>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5DD735C9-AF78-4343-94FC-11060D9928F5}"/>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E36DE5FE-FE49-40E3-A206-E302A1845293}"/>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AE336820-F954-48A4-A0E7-FFD4768A99F6}"/>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1F26AF8B-8FDC-42EA-B83E-C2F28ED9FD6C}"/>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 cm</a:t>
            </a:r>
          </a:p>
        </p:txBody>
      </p:sp>
      <p:sp>
        <p:nvSpPr>
          <p:cNvPr id="14" name="object-14">
            <a:extLst>
              <a:ext uri="{FF2B5EF4-FFF2-40B4-BE49-F238E27FC236}">
                <a16:creationId xmlns:a16="http://schemas.microsoft.com/office/drawing/2014/main" id="{CDC2E152-838E-45A7-A317-AF985052FD47}"/>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 cm</a:t>
            </a:r>
          </a:p>
        </p:txBody>
      </p:sp>
      <p:sp>
        <p:nvSpPr>
          <p:cNvPr id="15" name="object-15">
            <a:extLst>
              <a:ext uri="{FF2B5EF4-FFF2-40B4-BE49-F238E27FC236}">
                <a16:creationId xmlns:a16="http://schemas.microsoft.com/office/drawing/2014/main" id="{49FAB288-A705-4C09-ADF6-D38D8349079E}"/>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8 × 6 = 48 cm² per layer</a:t>
            </a:r>
          </a:p>
        </p:txBody>
      </p:sp>
      <p:sp>
        <p:nvSpPr>
          <p:cNvPr id="16" name="object-16">
            <a:extLst>
              <a:ext uri="{FF2B5EF4-FFF2-40B4-BE49-F238E27FC236}">
                <a16:creationId xmlns:a16="http://schemas.microsoft.com/office/drawing/2014/main" id="{C70906DC-7E3A-44F7-810A-DB62F558644B}"/>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48 × 6 = 288 cm³</a:t>
            </a:r>
          </a:p>
        </p:txBody>
      </p:sp>
      <p:sp>
        <p:nvSpPr>
          <p:cNvPr id="17" name="object-17">
            <a:extLst>
              <a:ext uri="{FF2B5EF4-FFF2-40B4-BE49-F238E27FC236}">
                <a16:creationId xmlns:a16="http://schemas.microsoft.com/office/drawing/2014/main" id="{E58DC5FB-5B39-4187-BB95-5EE05FBA4086}"/>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Other cuboid: 10 × 6 × 4 = 240 cm³</a:t>
            </a:r>
          </a:p>
        </p:txBody>
      </p:sp>
    </p:spTree>
    <p:extLst>
      <p:ext uri="{BB962C8B-B14F-4D97-AF65-F5344CB8AC3E}">
        <p14:creationId xmlns:p14="http://schemas.microsoft.com/office/powerpoint/2010/main" val="197707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9847D10D-7226-47AA-8A80-1279F90D581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FA56485A-11A9-49A3-B05C-6B12A1C6670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8 × 6 × 7 cm cuboid.</a:t>
            </a:r>
          </a:p>
        </p:txBody>
      </p:sp>
      <p:sp>
        <p:nvSpPr>
          <p:cNvPr id="3" name="object-3">
            <a:extLst>
              <a:ext uri="{FF2B5EF4-FFF2-40B4-BE49-F238E27FC236}">
                <a16:creationId xmlns:a16="http://schemas.microsoft.com/office/drawing/2014/main" id="{D8124016-0BAB-4EBF-B6EF-C206B944227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73B432D6-A14F-439D-8DAD-771FB9A3E44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cuboid volumes</a:t>
            </a:r>
          </a:p>
        </p:txBody>
      </p:sp>
      <p:sp>
        <p:nvSpPr>
          <p:cNvPr id="5" name="object-5">
            <a:extLst>
              <a:ext uri="{FF2B5EF4-FFF2-40B4-BE49-F238E27FC236}">
                <a16:creationId xmlns:a16="http://schemas.microsoft.com/office/drawing/2014/main" id="{43216B91-D2FA-4219-9DE1-73165FB9633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CA23121A-6254-42B9-80D4-D04A7EA31249}"/>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827EB737-0AC3-4D65-8358-82F413227E10}"/>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95D5E567-7EFA-4657-A659-2522D0950B0F}"/>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E9F6C1EF-3184-44F1-94C3-FBE51BEA910E}"/>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E1566E53-B77F-4128-BDFA-4738B2731BAA}"/>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F6022DE2-19CF-4EB4-9649-06800A165429}"/>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2" name="object-12">
            <a:extLst>
              <a:ext uri="{FF2B5EF4-FFF2-40B4-BE49-F238E27FC236}">
                <a16:creationId xmlns:a16="http://schemas.microsoft.com/office/drawing/2014/main" id="{4CF3C99D-5FFA-4D83-801F-8256626B4C7F}"/>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3" name="object-13">
            <a:extLst>
              <a:ext uri="{FF2B5EF4-FFF2-40B4-BE49-F238E27FC236}">
                <a16:creationId xmlns:a16="http://schemas.microsoft.com/office/drawing/2014/main" id="{E106F741-CDCF-44C1-9E19-BE80CA87AAB1}"/>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 cm</a:t>
            </a:r>
          </a:p>
        </p:txBody>
      </p:sp>
      <p:sp>
        <p:nvSpPr>
          <p:cNvPr id="14" name="object-14">
            <a:extLst>
              <a:ext uri="{FF2B5EF4-FFF2-40B4-BE49-F238E27FC236}">
                <a16:creationId xmlns:a16="http://schemas.microsoft.com/office/drawing/2014/main" id="{6842552A-4DBC-4D07-9415-8B4C3513F7B8}"/>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 cm</a:t>
            </a:r>
          </a:p>
        </p:txBody>
      </p:sp>
      <p:sp>
        <p:nvSpPr>
          <p:cNvPr id="15" name="object-15">
            <a:extLst>
              <a:ext uri="{FF2B5EF4-FFF2-40B4-BE49-F238E27FC236}">
                <a16:creationId xmlns:a16="http://schemas.microsoft.com/office/drawing/2014/main" id="{7AE0436F-BE0F-4D4C-8AEE-FA0C6C3FA2C2}"/>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8 × 6 = 48 cm² per layer</a:t>
            </a:r>
          </a:p>
        </p:txBody>
      </p:sp>
      <p:sp>
        <p:nvSpPr>
          <p:cNvPr id="16" name="object-16">
            <a:extLst>
              <a:ext uri="{FF2B5EF4-FFF2-40B4-BE49-F238E27FC236}">
                <a16:creationId xmlns:a16="http://schemas.microsoft.com/office/drawing/2014/main" id="{C84A968C-FB9A-4627-BEC2-AE5230FACD98}"/>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48 × 7 = 336 cm³</a:t>
            </a:r>
          </a:p>
        </p:txBody>
      </p:sp>
      <p:sp>
        <p:nvSpPr>
          <p:cNvPr id="17" name="object-17">
            <a:extLst>
              <a:ext uri="{FF2B5EF4-FFF2-40B4-BE49-F238E27FC236}">
                <a16:creationId xmlns:a16="http://schemas.microsoft.com/office/drawing/2014/main" id="{8551ECA0-CF47-4CA6-8089-05ACCB86E302}"/>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Other cuboid: 10 × 6 × 4 = 240 cm³</a:t>
            </a:r>
          </a:p>
        </p:txBody>
      </p:sp>
    </p:spTree>
    <p:extLst>
      <p:ext uri="{BB962C8B-B14F-4D97-AF65-F5344CB8AC3E}">
        <p14:creationId xmlns:p14="http://schemas.microsoft.com/office/powerpoint/2010/main" val="1208320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C0FD7778-3288-40EB-BB83-7B8D0C7FBFB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68C9436F-B302-4072-890A-2853079419DA}"/>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EDA157D1-BEF4-4B59-A189-4CBA738FDE9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8 × 6 × 8 cm cuboid.</a:t>
            </a:r>
          </a:p>
        </p:txBody>
      </p:sp>
      <p:sp>
        <p:nvSpPr>
          <p:cNvPr id="4" name="object-4">
            <a:extLst>
              <a:ext uri="{FF2B5EF4-FFF2-40B4-BE49-F238E27FC236}">
                <a16:creationId xmlns:a16="http://schemas.microsoft.com/office/drawing/2014/main" id="{0E39AA8E-5A3F-47EC-A1E3-FD2F43D2D8BA}"/>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0FB55BF-D649-4122-A54A-40C0484F92A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cuboid volumes</a:t>
            </a:r>
          </a:p>
        </p:txBody>
      </p:sp>
      <p:sp>
        <p:nvSpPr>
          <p:cNvPr id="6" name="object-6">
            <a:extLst>
              <a:ext uri="{FF2B5EF4-FFF2-40B4-BE49-F238E27FC236}">
                <a16:creationId xmlns:a16="http://schemas.microsoft.com/office/drawing/2014/main" id="{05204BD0-D9F5-49AB-8F8A-FB3DD393630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AB0A69F4-B4C2-47DD-8FDF-6293A9C96366}"/>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C9629720-11F0-4FAA-A346-71EB29591926}"/>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EBA69EE8-AF0E-487F-9C44-9EFA470195A1}"/>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995E1674-BEB6-42AE-A2E6-2439C78D219B}"/>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F4F81C12-9DBC-4DA2-8851-031706C8484B}"/>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B9774291-CDB8-4BA5-961E-C0937E4EDF6C}"/>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FED9FA87-7ED1-4C03-B808-49A68F938869}"/>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4" name="object-14">
            <a:extLst>
              <a:ext uri="{FF2B5EF4-FFF2-40B4-BE49-F238E27FC236}">
                <a16:creationId xmlns:a16="http://schemas.microsoft.com/office/drawing/2014/main" id="{E93C2E9F-F615-4286-8CB7-92C6CFC1EDA4}"/>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5" name="object-15">
            <a:extLst>
              <a:ext uri="{FF2B5EF4-FFF2-40B4-BE49-F238E27FC236}">
                <a16:creationId xmlns:a16="http://schemas.microsoft.com/office/drawing/2014/main" id="{8F186FB0-4702-482E-B0C2-8DE331106DD0}"/>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 cm</a:t>
            </a:r>
          </a:p>
        </p:txBody>
      </p:sp>
      <p:sp>
        <p:nvSpPr>
          <p:cNvPr id="16" name="object-16">
            <a:extLst>
              <a:ext uri="{FF2B5EF4-FFF2-40B4-BE49-F238E27FC236}">
                <a16:creationId xmlns:a16="http://schemas.microsoft.com/office/drawing/2014/main" id="{35B39745-6D24-4AA4-A52C-BB112B764FA5}"/>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 cm</a:t>
            </a:r>
          </a:p>
        </p:txBody>
      </p:sp>
      <p:sp>
        <p:nvSpPr>
          <p:cNvPr id="17" name="object-17">
            <a:extLst>
              <a:ext uri="{FF2B5EF4-FFF2-40B4-BE49-F238E27FC236}">
                <a16:creationId xmlns:a16="http://schemas.microsoft.com/office/drawing/2014/main" id="{11693866-05C6-42F1-95CF-EACBA2C7B756}"/>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8 × 6 = 48 cm² per layer</a:t>
            </a:r>
          </a:p>
        </p:txBody>
      </p:sp>
      <p:sp>
        <p:nvSpPr>
          <p:cNvPr id="18" name="object-18">
            <a:extLst>
              <a:ext uri="{FF2B5EF4-FFF2-40B4-BE49-F238E27FC236}">
                <a16:creationId xmlns:a16="http://schemas.microsoft.com/office/drawing/2014/main" id="{6F3900DC-0AC5-48DC-ABA6-009A681A9AB1}"/>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48 × 8 = 384 cm³</a:t>
            </a:r>
          </a:p>
        </p:txBody>
      </p:sp>
      <p:sp>
        <p:nvSpPr>
          <p:cNvPr id="19" name="object-19">
            <a:extLst>
              <a:ext uri="{FF2B5EF4-FFF2-40B4-BE49-F238E27FC236}">
                <a16:creationId xmlns:a16="http://schemas.microsoft.com/office/drawing/2014/main" id="{2719C15E-D4CC-42EF-8BE7-49F3D35A4578}"/>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Other cuboid: 10 × 6 × 4 = 240 cm³</a:t>
            </a:r>
          </a:p>
        </p:txBody>
      </p:sp>
    </p:spTree>
    <p:extLst>
      <p:ext uri="{BB962C8B-B14F-4D97-AF65-F5344CB8AC3E}">
        <p14:creationId xmlns:p14="http://schemas.microsoft.com/office/powerpoint/2010/main" val="1924254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5D2A03E4-C22C-4B9C-88FB-BE14FE83814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E1B6152C-62AE-4C58-B85C-86441635FD4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530C345-2D5E-4A12-9D99-808856A4273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F459A051-20CF-4467-87A8-3CE56AA0C20B}"/>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B3A3898C-2A79-4AE6-9630-002FC887846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cuboid volumes</a:t>
            </a:r>
          </a:p>
        </p:txBody>
      </p:sp>
      <p:sp>
        <p:nvSpPr>
          <p:cNvPr id="6" name="object-6">
            <a:extLst>
              <a:ext uri="{FF2B5EF4-FFF2-40B4-BE49-F238E27FC236}">
                <a16:creationId xmlns:a16="http://schemas.microsoft.com/office/drawing/2014/main" id="{3FB0A2E7-C38B-4341-B08D-CAED995C6E1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BC37966B-7129-448E-B5B4-0A96D90BB57B}"/>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4F2BE63D-0804-47F4-B7BC-4E6441C5D820}"/>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Cuboid A is 8 x 6 x 5 cm. Cuboid B is 10 x 6 x 4 cm. Compare their volumes.</a:t>
            </a:r>
          </a:p>
        </p:txBody>
      </p:sp>
      <p:sp>
        <p:nvSpPr>
          <p:cNvPr id="9" name="object-9">
            <a:extLst>
              <a:ext uri="{FF2B5EF4-FFF2-40B4-BE49-F238E27FC236}">
                <a16:creationId xmlns:a16="http://schemas.microsoft.com/office/drawing/2014/main" id="{386658F8-8E1C-44A0-8BA9-C91395DD2CB8}"/>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2D11BCEE-5EBD-48CD-B604-5602AAD5BF22}"/>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box is 40 cm by 25 cm by 30 cm. How many 5 cm cubes fit exactly by volume?</a:t>
            </a:r>
          </a:p>
        </p:txBody>
      </p:sp>
      <p:sp>
        <p:nvSpPr>
          <p:cNvPr id="11" name="object-11">
            <a:extLst>
              <a:ext uri="{FF2B5EF4-FFF2-40B4-BE49-F238E27FC236}">
                <a16:creationId xmlns:a16="http://schemas.microsoft.com/office/drawing/2014/main" id="{4D7F033D-DEBB-497F-B1C5-DCFCB2132880}"/>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3219D9EF-AEDB-4BF4-BE2A-A3DCFF487452}"/>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solid has 5 layers of 24 unit cubes. What is its volume?</a:t>
            </a:r>
          </a:p>
        </p:txBody>
      </p:sp>
      <p:sp>
        <p:nvSpPr>
          <p:cNvPr id="13" name="object-13">
            <a:extLst>
              <a:ext uri="{FF2B5EF4-FFF2-40B4-BE49-F238E27FC236}">
                <a16:creationId xmlns:a16="http://schemas.microsoft.com/office/drawing/2014/main" id="{DC9EC7CB-F187-4C80-BF4C-77AEA229D95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9E6462D6-94E5-4CF6-8BF5-FB25608C37B9}"/>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Cuboid A is 8 x 6 x 5 cm. Cuboid B is 10 x 6 x 4 cm. Compare their volumes.</a:t>
            </a:r>
          </a:p>
        </p:txBody>
      </p:sp>
      <p:sp>
        <p:nvSpPr>
          <p:cNvPr id="15" name="object-15">
            <a:extLst>
              <a:ext uri="{FF2B5EF4-FFF2-40B4-BE49-F238E27FC236}">
                <a16:creationId xmlns:a16="http://schemas.microsoft.com/office/drawing/2014/main" id="{D76D3BCE-FF5D-42F3-84A2-1D2CDE67E26C}"/>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39491A97-AC10-4D74-91C4-EC7484C6391B}"/>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A box is 40 cm by 25 cm by 30 cm. How many 5 cm cubes fit exactly by volume?</a:t>
            </a:r>
          </a:p>
        </p:txBody>
      </p:sp>
      <p:sp>
        <p:nvSpPr>
          <p:cNvPr id="17" name="object-17">
            <a:extLst>
              <a:ext uri="{FF2B5EF4-FFF2-40B4-BE49-F238E27FC236}">
                <a16:creationId xmlns:a16="http://schemas.microsoft.com/office/drawing/2014/main" id="{4F40DB26-BAD9-49ED-B94F-3701433B3433}"/>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9FD1F55F-4FC1-4B4E-AD41-3A7827C71149}"/>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A solid has 5 layers of 24 unit cubes. What is its volume?</a:t>
            </a:r>
          </a:p>
        </p:txBody>
      </p:sp>
      <p:sp>
        <p:nvSpPr>
          <p:cNvPr id="19" name="object-19">
            <a:extLst>
              <a:ext uri="{FF2B5EF4-FFF2-40B4-BE49-F238E27FC236}">
                <a16:creationId xmlns:a16="http://schemas.microsoft.com/office/drawing/2014/main" id="{D01704BF-A95C-4647-9A79-693780B7A105}"/>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0DD343D7-C0D6-43CE-B01A-162D3F281957}"/>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Find the volume of a cuboid 12 cm by 7 cm by 5 cm.</a:t>
            </a:r>
          </a:p>
        </p:txBody>
      </p:sp>
      <p:sp>
        <p:nvSpPr>
          <p:cNvPr id="21" name="object-21">
            <a:extLst>
              <a:ext uri="{FF2B5EF4-FFF2-40B4-BE49-F238E27FC236}">
                <a16:creationId xmlns:a16="http://schemas.microsoft.com/office/drawing/2014/main" id="{5E37A52F-8DA9-4F12-8CC5-1A0D55FA1D5C}"/>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06C96ADF-EC0E-46D2-A02D-74F7F0DD5B99}"/>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calculates the surface area or adds the three dimensions.</a:t>
            </a:r>
          </a:p>
        </p:txBody>
      </p:sp>
      <p:sp>
        <p:nvSpPr>
          <p:cNvPr id="23" name="object-23">
            <a:extLst>
              <a:ext uri="{FF2B5EF4-FFF2-40B4-BE49-F238E27FC236}">
                <a16:creationId xmlns:a16="http://schemas.microsoft.com/office/drawing/2014/main" id="{E7DA3312-4DDF-4729-96F3-C57A9243A385}"/>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AF9918B4-40AE-49AB-BBA1-E85BC343D4DD}"/>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985ACA43-A285-4828-90BD-B6186EBD38E5}"/>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36BD58FD-C4C1-45FE-95C6-8CD7BD41860B}"/>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A solid has 5 layers of 24 unit cubes. What is its volume?</a:t>
            </a:r>
          </a:p>
        </p:txBody>
      </p:sp>
    </p:spTree>
    <p:extLst>
      <p:ext uri="{BB962C8B-B14F-4D97-AF65-F5344CB8AC3E}">
        <p14:creationId xmlns:p14="http://schemas.microsoft.com/office/powerpoint/2010/main" val="21420386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4944B9BA-6C90-4A9C-A7C0-1B7D609CBA0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F0A67A43-9684-4055-92FE-E45F58BA826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6C82EC07-3F9A-4A4A-9EDC-F535837F152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AEF5F69-34F1-42BC-94F8-5BD4F89934F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cuboid volumes</a:t>
            </a:r>
          </a:p>
        </p:txBody>
      </p:sp>
      <p:sp>
        <p:nvSpPr>
          <p:cNvPr id="5" name="object-5">
            <a:extLst>
              <a:ext uri="{FF2B5EF4-FFF2-40B4-BE49-F238E27FC236}">
                <a16:creationId xmlns:a16="http://schemas.microsoft.com/office/drawing/2014/main" id="{E32C1071-78C3-4E15-BFF7-C864281B96B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801EF731-EAAF-4B38-9008-3BB79925A282}"/>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29546B76-DC36-40E9-889F-FE72FBFBBB0A}"/>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Both are 240 cm3.</a:t>
            </a:r>
          </a:p>
        </p:txBody>
      </p:sp>
      <p:sp>
        <p:nvSpPr>
          <p:cNvPr id="8" name="object-8">
            <a:extLst>
              <a:ext uri="{FF2B5EF4-FFF2-40B4-BE49-F238E27FC236}">
                <a16:creationId xmlns:a16="http://schemas.microsoft.com/office/drawing/2014/main" id="{E1DCA004-2A49-4846-9E32-577B11454BB3}"/>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569E1AC4-F7B8-4C16-9E4F-FCACB2755D4B}"/>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240 cubes.</a:t>
            </a:r>
          </a:p>
        </p:txBody>
      </p:sp>
      <p:sp>
        <p:nvSpPr>
          <p:cNvPr id="10" name="object-10">
            <a:extLst>
              <a:ext uri="{FF2B5EF4-FFF2-40B4-BE49-F238E27FC236}">
                <a16:creationId xmlns:a16="http://schemas.microsoft.com/office/drawing/2014/main" id="{F7278826-6F8F-4918-A8D2-80F5A73DFCED}"/>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ADF8331B-C721-4FAE-AA36-EB01BC7AAC1D}"/>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120 cubic units.</a:t>
            </a:r>
          </a:p>
        </p:txBody>
      </p:sp>
      <p:sp>
        <p:nvSpPr>
          <p:cNvPr id="12" name="object-12">
            <a:extLst>
              <a:ext uri="{FF2B5EF4-FFF2-40B4-BE49-F238E27FC236}">
                <a16:creationId xmlns:a16="http://schemas.microsoft.com/office/drawing/2014/main" id="{56F61AD7-F54A-457B-B735-F90DF028F18B}"/>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78A69396-C554-4205-B0A1-9DAB4FC765CE}"/>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Both are 240 cm3.</a:t>
            </a:r>
          </a:p>
        </p:txBody>
      </p:sp>
      <p:sp>
        <p:nvSpPr>
          <p:cNvPr id="14" name="object-14">
            <a:extLst>
              <a:ext uri="{FF2B5EF4-FFF2-40B4-BE49-F238E27FC236}">
                <a16:creationId xmlns:a16="http://schemas.microsoft.com/office/drawing/2014/main" id="{DE134F4F-2830-456C-A4F3-F9CDEA79FD8F}"/>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993B847C-8911-4C01-AC23-93D3181C15BB}"/>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240 cubes. Method or representation may vary.</a:t>
            </a:r>
          </a:p>
        </p:txBody>
      </p:sp>
      <p:sp>
        <p:nvSpPr>
          <p:cNvPr id="16" name="object-16">
            <a:extLst>
              <a:ext uri="{FF2B5EF4-FFF2-40B4-BE49-F238E27FC236}">
                <a16:creationId xmlns:a16="http://schemas.microsoft.com/office/drawing/2014/main" id="{3F8B0BB7-2481-4FEF-A862-E1E52B4D475E}"/>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E94C4847-CC60-45CD-985F-2DAB95C5997A}"/>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120 cubic units. A valid check must be shown.</a:t>
            </a:r>
          </a:p>
        </p:txBody>
      </p:sp>
      <p:sp>
        <p:nvSpPr>
          <p:cNvPr id="18" name="object-18">
            <a:extLst>
              <a:ext uri="{FF2B5EF4-FFF2-40B4-BE49-F238E27FC236}">
                <a16:creationId xmlns:a16="http://schemas.microsoft.com/office/drawing/2014/main" id="{421068E1-75D4-4AD7-9875-CF4DECA0585F}"/>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5E2AF257-4502-46A8-974F-9E5B226EF2D7}"/>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420 cm3. The explanation must show why the method works.</a:t>
            </a:r>
          </a:p>
        </p:txBody>
      </p:sp>
      <p:sp>
        <p:nvSpPr>
          <p:cNvPr id="20" name="object-20">
            <a:extLst>
              <a:ext uri="{FF2B5EF4-FFF2-40B4-BE49-F238E27FC236}">
                <a16:creationId xmlns:a16="http://schemas.microsoft.com/office/drawing/2014/main" id="{7A69BE95-56E0-41CF-A1BE-D195644872DC}"/>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4E04681C-523D-4E0F-ACA6-997E62E5456D}"/>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Volume measures space inside a solid, so multiply all three perpendicular dimensions and use cubic units.</a:t>
            </a:r>
          </a:p>
        </p:txBody>
      </p:sp>
      <p:sp>
        <p:nvSpPr>
          <p:cNvPr id="22" name="object-22">
            <a:extLst>
              <a:ext uri="{FF2B5EF4-FFF2-40B4-BE49-F238E27FC236}">
                <a16:creationId xmlns:a16="http://schemas.microsoft.com/office/drawing/2014/main" id="{03DB9BC7-35DA-4915-9C7A-D8DB92E3A34E}"/>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5267CC50-4EE7-42BC-9F3A-A660F71A6C84}"/>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AF597F8E-E3A5-4577-B93E-415AC7C62650}"/>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B1BC50BA-262B-4B34-A928-A95E9630841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209629283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1047</Words>
  <Application>Microsoft Office PowerPoint</Application>
  <DocSecurity>0</DocSecurity>
  <PresentationFormat>Custom</PresentationFormat>
  <Paragraphs>106</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2026-09-14T13:14:37Z</dcterms:created>
  <dcterms:modified xsi:type="dcterms:W3CDTF">2026-09-14T13:17:41Z</dcterms:modified>
</cp:coreProperties>
</file>