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and count cubic units. Build and count cubic units.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and count cubic units.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and count cubic units.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and count cubic units.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and count cubic units.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and count cubic units.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and count cubic units.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DD367B1A-41FC-4D03-8759-75B95037CB52}"/>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Build and count cubic units</a:t>
            </a:r>
          </a:p>
        </p:txBody>
      </p:sp>
      <p:sp>
        <p:nvSpPr>
          <p:cNvPr id="2" name="object-2">
            <a:extLst>
              <a:ext uri="{FF2B5EF4-FFF2-40B4-BE49-F238E27FC236}">
                <a16:creationId xmlns:a16="http://schemas.microsoft.com/office/drawing/2014/main" id="{A431D6FF-6DCD-4D5F-83BC-53A12CC6A8C6}"/>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C51C418A-76D4-4DE2-A925-C154283E7DF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A716CAD-7F98-434B-960B-7DB40CE5F82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Build and count cubic units</a:t>
            </a:r>
          </a:p>
        </p:txBody>
      </p:sp>
      <p:sp>
        <p:nvSpPr>
          <p:cNvPr id="5" name="object-5">
            <a:extLst>
              <a:ext uri="{FF2B5EF4-FFF2-40B4-BE49-F238E27FC236}">
                <a16:creationId xmlns:a16="http://schemas.microsoft.com/office/drawing/2014/main" id="{04ADAF4B-ECD5-40BF-8626-D31AEADC802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03193986-FA22-46AC-A899-C76008138529}"/>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understand volume as the number of unit cubes filling a space.</a:t>
            </a:r>
          </a:p>
        </p:txBody>
      </p:sp>
    </p:spTree>
    <p:extLst>
      <p:ext uri="{BB962C8B-B14F-4D97-AF65-F5344CB8AC3E}">
        <p14:creationId xmlns:p14="http://schemas.microsoft.com/office/powerpoint/2010/main" val="3490281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object-1">
            <a:extLst>
              <a:ext uri="{FF2B5EF4-FFF2-40B4-BE49-F238E27FC236}">
                <a16:creationId xmlns:a16="http://schemas.microsoft.com/office/drawing/2014/main" id="{481B26F2-9D59-4FFD-A5F5-29BA2B5A217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25D93999-50B6-409E-BDCF-1634CFE8E5E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6 × 4 × 5 cm cuboid.</a:t>
            </a:r>
          </a:p>
        </p:txBody>
      </p:sp>
      <p:sp>
        <p:nvSpPr>
          <p:cNvPr id="3" name="object-3">
            <a:extLst>
              <a:ext uri="{FF2B5EF4-FFF2-40B4-BE49-F238E27FC236}">
                <a16:creationId xmlns:a16="http://schemas.microsoft.com/office/drawing/2014/main" id="{45734CD5-2976-4556-A847-61E499E1410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139995A-5564-4C56-B8AD-5C9725EEDD6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Build and count cubic units</a:t>
            </a:r>
          </a:p>
        </p:txBody>
      </p:sp>
      <p:sp>
        <p:nvSpPr>
          <p:cNvPr id="5" name="object-5">
            <a:extLst>
              <a:ext uri="{FF2B5EF4-FFF2-40B4-BE49-F238E27FC236}">
                <a16:creationId xmlns:a16="http://schemas.microsoft.com/office/drawing/2014/main" id="{ADA1D3EF-A761-488F-A28E-7229AAEE86F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17094046-9069-4A46-AAAC-9A779666F7B1}"/>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E06AE836-723C-4E82-997D-A10F0849FA4F}"/>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8D6C394D-80A2-4307-82D7-68E836BD49CE}"/>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5B0F268F-F22C-4F5E-8E4A-DD036DCA5CBB}"/>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EC3B0924-964B-4166-97F3-9827590373CA}"/>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03F249FD-CD9C-44B1-8FC4-E6AB7D4C1E1F}"/>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 cm</a:t>
            </a:r>
          </a:p>
        </p:txBody>
      </p:sp>
      <p:sp>
        <p:nvSpPr>
          <p:cNvPr id="12" name="object-12">
            <a:extLst>
              <a:ext uri="{FF2B5EF4-FFF2-40B4-BE49-F238E27FC236}">
                <a16:creationId xmlns:a16="http://schemas.microsoft.com/office/drawing/2014/main" id="{EB2B5755-6545-4C31-BCAA-139950C32446}"/>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4 cm</a:t>
            </a:r>
          </a:p>
        </p:txBody>
      </p:sp>
      <p:sp>
        <p:nvSpPr>
          <p:cNvPr id="13" name="object-13">
            <a:extLst>
              <a:ext uri="{FF2B5EF4-FFF2-40B4-BE49-F238E27FC236}">
                <a16:creationId xmlns:a16="http://schemas.microsoft.com/office/drawing/2014/main" id="{C072E489-E4CA-47DF-9801-9CADC1E73083}"/>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6 × 4 = 24 cm² per layer</a:t>
            </a:r>
          </a:p>
        </p:txBody>
      </p:sp>
      <p:sp>
        <p:nvSpPr>
          <p:cNvPr id="14" name="object-14">
            <a:extLst>
              <a:ext uri="{FF2B5EF4-FFF2-40B4-BE49-F238E27FC236}">
                <a16:creationId xmlns:a16="http://schemas.microsoft.com/office/drawing/2014/main" id="{E6E8057C-19AA-41A7-953C-C41F13FAAE0A}"/>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24 × 5 = 120 cm³</a:t>
            </a:r>
          </a:p>
        </p:txBody>
      </p:sp>
    </p:spTree>
    <p:extLst>
      <p:ext uri="{BB962C8B-B14F-4D97-AF65-F5344CB8AC3E}">
        <p14:creationId xmlns:p14="http://schemas.microsoft.com/office/powerpoint/2010/main" val="498864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object-1">
            <a:extLst>
              <a:ext uri="{FF2B5EF4-FFF2-40B4-BE49-F238E27FC236}">
                <a16:creationId xmlns:a16="http://schemas.microsoft.com/office/drawing/2014/main" id="{02ACE4FB-F3EA-4884-BFF8-0BDFA730DC9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522636AC-73AF-4961-B359-50BC9A166AF0}"/>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14D85060-BABB-41A6-89AA-A82E5B34B48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6 × 4 × 6 cm cuboid.</a:t>
            </a:r>
          </a:p>
        </p:txBody>
      </p:sp>
      <p:sp>
        <p:nvSpPr>
          <p:cNvPr id="4" name="object-4">
            <a:extLst>
              <a:ext uri="{FF2B5EF4-FFF2-40B4-BE49-F238E27FC236}">
                <a16:creationId xmlns:a16="http://schemas.microsoft.com/office/drawing/2014/main" id="{4E943DCF-1292-42D8-804B-3BF3C479965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3CDDF2E7-2311-4592-BBCF-B2B740D4228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Build and count cubic units</a:t>
            </a:r>
          </a:p>
        </p:txBody>
      </p:sp>
      <p:sp>
        <p:nvSpPr>
          <p:cNvPr id="6" name="object-6">
            <a:extLst>
              <a:ext uri="{FF2B5EF4-FFF2-40B4-BE49-F238E27FC236}">
                <a16:creationId xmlns:a16="http://schemas.microsoft.com/office/drawing/2014/main" id="{BAC1DAC4-C682-47F6-B309-FDE90F40354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918DE950-709F-4619-A1C5-6FA13525788A}"/>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9839FC8F-D485-44CC-9D14-C5C6A1DF0B1C}"/>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9F9CC46E-B2A7-4AD5-BAA6-45F3FDECB177}"/>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075EAA4B-9455-46EC-8B9B-0FB1871562E6}"/>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B55373EB-BD6A-472B-B9B6-A0244DA57AD5}"/>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8AEAB1D7-EF3D-4515-A542-2912C69CE087}"/>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CEF1DAA5-3CC6-4BC4-A284-EA8083929858}"/>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 cm</a:t>
            </a:r>
          </a:p>
        </p:txBody>
      </p:sp>
      <p:sp>
        <p:nvSpPr>
          <p:cNvPr id="14" name="object-14">
            <a:extLst>
              <a:ext uri="{FF2B5EF4-FFF2-40B4-BE49-F238E27FC236}">
                <a16:creationId xmlns:a16="http://schemas.microsoft.com/office/drawing/2014/main" id="{96E4314E-E711-48E6-911B-6F0B3A65B593}"/>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4 cm</a:t>
            </a:r>
          </a:p>
        </p:txBody>
      </p:sp>
      <p:sp>
        <p:nvSpPr>
          <p:cNvPr id="15" name="object-15">
            <a:extLst>
              <a:ext uri="{FF2B5EF4-FFF2-40B4-BE49-F238E27FC236}">
                <a16:creationId xmlns:a16="http://schemas.microsoft.com/office/drawing/2014/main" id="{36273BB0-30F4-45A7-84E2-26AC9B40B3D0}"/>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6 × 4 = 24 cm² per layer</a:t>
            </a:r>
          </a:p>
        </p:txBody>
      </p:sp>
      <p:sp>
        <p:nvSpPr>
          <p:cNvPr id="16" name="object-16">
            <a:extLst>
              <a:ext uri="{FF2B5EF4-FFF2-40B4-BE49-F238E27FC236}">
                <a16:creationId xmlns:a16="http://schemas.microsoft.com/office/drawing/2014/main" id="{257E5E97-B504-4A28-9D95-D44E1EB0C4FD}"/>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24 × 6 = 144 cm³</a:t>
            </a:r>
          </a:p>
        </p:txBody>
      </p:sp>
    </p:spTree>
    <p:extLst>
      <p:ext uri="{BB962C8B-B14F-4D97-AF65-F5344CB8AC3E}">
        <p14:creationId xmlns:p14="http://schemas.microsoft.com/office/powerpoint/2010/main" val="346983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object-1">
            <a:extLst>
              <a:ext uri="{FF2B5EF4-FFF2-40B4-BE49-F238E27FC236}">
                <a16:creationId xmlns:a16="http://schemas.microsoft.com/office/drawing/2014/main" id="{BC148950-A7BA-40B3-AAF8-C25F7876779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49F731B8-528C-42EB-85EA-33287F3659B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6 × 4 × 7 cm cuboid.</a:t>
            </a:r>
          </a:p>
        </p:txBody>
      </p:sp>
      <p:sp>
        <p:nvSpPr>
          <p:cNvPr id="3" name="object-3">
            <a:extLst>
              <a:ext uri="{FF2B5EF4-FFF2-40B4-BE49-F238E27FC236}">
                <a16:creationId xmlns:a16="http://schemas.microsoft.com/office/drawing/2014/main" id="{E2610290-C5E3-4CF6-BCDB-8A0D54C28C6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0C77ED2-30FB-4942-BAA0-A7E65686F96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Build and count cubic units</a:t>
            </a:r>
          </a:p>
        </p:txBody>
      </p:sp>
      <p:sp>
        <p:nvSpPr>
          <p:cNvPr id="5" name="object-5">
            <a:extLst>
              <a:ext uri="{FF2B5EF4-FFF2-40B4-BE49-F238E27FC236}">
                <a16:creationId xmlns:a16="http://schemas.microsoft.com/office/drawing/2014/main" id="{EAA65BC5-745C-42B3-881C-767FCA61896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6FA069A1-340E-4AEA-BD1D-148C8880E445}"/>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5689DFC9-59F6-4128-BFB0-D21E587F472B}"/>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971B373F-D4CC-4F41-B9D9-1B898353F295}"/>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C6B4AEC5-515D-4BB3-8A00-C2D7284D29E3}"/>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753E0579-530C-42D7-8E6A-47265DF64C8E}"/>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1188F271-E1CA-4BD2-A9D9-530B26D27491}"/>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2" name="object-12">
            <a:extLst>
              <a:ext uri="{FF2B5EF4-FFF2-40B4-BE49-F238E27FC236}">
                <a16:creationId xmlns:a16="http://schemas.microsoft.com/office/drawing/2014/main" id="{3243AC5A-63A5-4B8A-81CE-41880A8AF381}"/>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3" name="object-13">
            <a:extLst>
              <a:ext uri="{FF2B5EF4-FFF2-40B4-BE49-F238E27FC236}">
                <a16:creationId xmlns:a16="http://schemas.microsoft.com/office/drawing/2014/main" id="{932BD490-7084-4E78-8069-7E36921D9EBB}"/>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 cm</a:t>
            </a:r>
          </a:p>
        </p:txBody>
      </p:sp>
      <p:sp>
        <p:nvSpPr>
          <p:cNvPr id="14" name="object-14">
            <a:extLst>
              <a:ext uri="{FF2B5EF4-FFF2-40B4-BE49-F238E27FC236}">
                <a16:creationId xmlns:a16="http://schemas.microsoft.com/office/drawing/2014/main" id="{ECE30C5F-A28F-45FF-894A-D99B9216CCE0}"/>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4 cm</a:t>
            </a:r>
          </a:p>
        </p:txBody>
      </p:sp>
      <p:sp>
        <p:nvSpPr>
          <p:cNvPr id="15" name="object-15">
            <a:extLst>
              <a:ext uri="{FF2B5EF4-FFF2-40B4-BE49-F238E27FC236}">
                <a16:creationId xmlns:a16="http://schemas.microsoft.com/office/drawing/2014/main" id="{84CE689F-CD89-448E-93BD-D0C07EE56356}"/>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6 × 4 = 24 cm² per layer</a:t>
            </a:r>
          </a:p>
        </p:txBody>
      </p:sp>
      <p:sp>
        <p:nvSpPr>
          <p:cNvPr id="16" name="object-16">
            <a:extLst>
              <a:ext uri="{FF2B5EF4-FFF2-40B4-BE49-F238E27FC236}">
                <a16:creationId xmlns:a16="http://schemas.microsoft.com/office/drawing/2014/main" id="{6B71E064-1CE1-45B1-95C4-44DE662A5F93}"/>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24 × 7 = 168 cm³</a:t>
            </a:r>
          </a:p>
        </p:txBody>
      </p:sp>
    </p:spTree>
    <p:extLst>
      <p:ext uri="{BB962C8B-B14F-4D97-AF65-F5344CB8AC3E}">
        <p14:creationId xmlns:p14="http://schemas.microsoft.com/office/powerpoint/2010/main" val="1325067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object-1">
            <a:extLst>
              <a:ext uri="{FF2B5EF4-FFF2-40B4-BE49-F238E27FC236}">
                <a16:creationId xmlns:a16="http://schemas.microsoft.com/office/drawing/2014/main" id="{90F51181-9DE3-4481-81E7-074B16F6BB7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8DFFA3A-CEF1-454E-8448-A42FAE720A38}"/>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0DC975A5-AA8B-4580-993A-5DD4512D5E6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6 × 4 × 8 cm cuboid.</a:t>
            </a:r>
          </a:p>
        </p:txBody>
      </p:sp>
      <p:sp>
        <p:nvSpPr>
          <p:cNvPr id="4" name="object-4">
            <a:extLst>
              <a:ext uri="{FF2B5EF4-FFF2-40B4-BE49-F238E27FC236}">
                <a16:creationId xmlns:a16="http://schemas.microsoft.com/office/drawing/2014/main" id="{D48CAA63-9CDB-4E1B-9226-1869BB0F0BED}"/>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3A986F7B-90C8-4330-8EF5-5066FC640F0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Build and count cubic units</a:t>
            </a:r>
          </a:p>
        </p:txBody>
      </p:sp>
      <p:sp>
        <p:nvSpPr>
          <p:cNvPr id="6" name="object-6">
            <a:extLst>
              <a:ext uri="{FF2B5EF4-FFF2-40B4-BE49-F238E27FC236}">
                <a16:creationId xmlns:a16="http://schemas.microsoft.com/office/drawing/2014/main" id="{252AE829-229E-4F3D-B22D-1C0707B7674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293F062F-E617-4C57-B2D3-6DFB798F64A9}"/>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B9323478-D51D-47F2-9052-65041E783378}"/>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0852C085-76F1-4686-9221-4A17536DA4BA}"/>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D708B92B-E2E4-4CC7-AF6A-8A40E3BB4853}"/>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F8643C5A-C2AD-45AB-B92B-2CD6AE590E69}"/>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FB2EF070-637D-4CF9-AF03-680415B94373}"/>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AE9767C9-16A7-4279-954E-3F322433F952}"/>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4" name="object-14">
            <a:extLst>
              <a:ext uri="{FF2B5EF4-FFF2-40B4-BE49-F238E27FC236}">
                <a16:creationId xmlns:a16="http://schemas.microsoft.com/office/drawing/2014/main" id="{2C7BC97F-862F-44C9-87BF-F36A2C2E3120}"/>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5" name="object-15">
            <a:extLst>
              <a:ext uri="{FF2B5EF4-FFF2-40B4-BE49-F238E27FC236}">
                <a16:creationId xmlns:a16="http://schemas.microsoft.com/office/drawing/2014/main" id="{B704CE90-403F-4FE5-AB4E-9E6A610F9C58}"/>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 cm</a:t>
            </a:r>
          </a:p>
        </p:txBody>
      </p:sp>
      <p:sp>
        <p:nvSpPr>
          <p:cNvPr id="16" name="object-16">
            <a:extLst>
              <a:ext uri="{FF2B5EF4-FFF2-40B4-BE49-F238E27FC236}">
                <a16:creationId xmlns:a16="http://schemas.microsoft.com/office/drawing/2014/main" id="{6DD77F45-E703-40F2-81D4-1B3FE1622E0C}"/>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4 cm</a:t>
            </a:r>
          </a:p>
        </p:txBody>
      </p:sp>
      <p:sp>
        <p:nvSpPr>
          <p:cNvPr id="17" name="object-17">
            <a:extLst>
              <a:ext uri="{FF2B5EF4-FFF2-40B4-BE49-F238E27FC236}">
                <a16:creationId xmlns:a16="http://schemas.microsoft.com/office/drawing/2014/main" id="{D33783E4-4E8A-4236-B37A-09536A487DF8}"/>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6 × 4 = 24 cm² per layer</a:t>
            </a:r>
          </a:p>
        </p:txBody>
      </p:sp>
      <p:sp>
        <p:nvSpPr>
          <p:cNvPr id="18" name="object-18">
            <a:extLst>
              <a:ext uri="{FF2B5EF4-FFF2-40B4-BE49-F238E27FC236}">
                <a16:creationId xmlns:a16="http://schemas.microsoft.com/office/drawing/2014/main" id="{316604D3-FBCD-4732-ABF0-B85C287E43A3}"/>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24 × 8 = 192 cm³</a:t>
            </a:r>
          </a:p>
        </p:txBody>
      </p:sp>
    </p:spTree>
    <p:extLst>
      <p:ext uri="{BB962C8B-B14F-4D97-AF65-F5344CB8AC3E}">
        <p14:creationId xmlns:p14="http://schemas.microsoft.com/office/powerpoint/2010/main" val="1762920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B24D7AB9-3289-449C-A2DE-A1FC7C63093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833ED397-75C2-4753-B093-71F3F4F46A9F}"/>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DA59A774-0C8D-46FD-A5C6-4CC879E83BF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601A9099-AAAA-4675-ACA9-A53BCC1E8C15}"/>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5D3E56AC-3C9F-4831-831C-CA71C39B488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Build and count cubic units</a:t>
            </a:r>
          </a:p>
        </p:txBody>
      </p:sp>
      <p:sp>
        <p:nvSpPr>
          <p:cNvPr id="6" name="object-6">
            <a:extLst>
              <a:ext uri="{FF2B5EF4-FFF2-40B4-BE49-F238E27FC236}">
                <a16:creationId xmlns:a16="http://schemas.microsoft.com/office/drawing/2014/main" id="{4D08F671-40BC-4761-B186-5648D0E5603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61BBDC47-B8FD-4BA0-994C-AA8780E64332}"/>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C3723B96-3C7D-4C5D-888B-3A561168F01E}"/>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solid has 5 layers of 24 unit cubes. What is its volume?</a:t>
            </a:r>
          </a:p>
        </p:txBody>
      </p:sp>
      <p:sp>
        <p:nvSpPr>
          <p:cNvPr id="9" name="object-9">
            <a:extLst>
              <a:ext uri="{FF2B5EF4-FFF2-40B4-BE49-F238E27FC236}">
                <a16:creationId xmlns:a16="http://schemas.microsoft.com/office/drawing/2014/main" id="{0F060413-7E70-4984-8A2E-54CC5C9E0A1D}"/>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C86FD1DA-4482-4308-B8B3-91725D2CDBC1}"/>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the volume of a cuboid 12 cm by 7 cm by 5 cm.</a:t>
            </a:r>
          </a:p>
        </p:txBody>
      </p:sp>
      <p:sp>
        <p:nvSpPr>
          <p:cNvPr id="11" name="object-11">
            <a:extLst>
              <a:ext uri="{FF2B5EF4-FFF2-40B4-BE49-F238E27FC236}">
                <a16:creationId xmlns:a16="http://schemas.microsoft.com/office/drawing/2014/main" id="{C596733F-418A-4DBD-8C72-C19E203859A6}"/>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2D843A84-85C4-43DF-83E5-1C3A5570EF7A}"/>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cuboid has volume 360 cm3, length 12 cm and width 5 cm. Find its height.</a:t>
            </a:r>
          </a:p>
        </p:txBody>
      </p:sp>
      <p:sp>
        <p:nvSpPr>
          <p:cNvPr id="13" name="object-13">
            <a:extLst>
              <a:ext uri="{FF2B5EF4-FFF2-40B4-BE49-F238E27FC236}">
                <a16:creationId xmlns:a16="http://schemas.microsoft.com/office/drawing/2014/main" id="{2769B8B9-28BA-4577-88A3-7C8F6535B52B}"/>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0E159589-C03D-4CB3-9212-C8E77C10315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A solid has 5 layers of 24 unit cubes. What is its volume?</a:t>
            </a:r>
          </a:p>
        </p:txBody>
      </p:sp>
      <p:sp>
        <p:nvSpPr>
          <p:cNvPr id="15" name="object-15">
            <a:extLst>
              <a:ext uri="{FF2B5EF4-FFF2-40B4-BE49-F238E27FC236}">
                <a16:creationId xmlns:a16="http://schemas.microsoft.com/office/drawing/2014/main" id="{0094B4CE-E845-4192-905A-75E377A5C0BD}"/>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7EDF9E8C-284C-4002-AD72-195E74D301B2}"/>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Find the volume of a cuboid 12 cm by 7 cm by 5 cm.</a:t>
            </a:r>
          </a:p>
        </p:txBody>
      </p:sp>
      <p:sp>
        <p:nvSpPr>
          <p:cNvPr id="17" name="object-17">
            <a:extLst>
              <a:ext uri="{FF2B5EF4-FFF2-40B4-BE49-F238E27FC236}">
                <a16:creationId xmlns:a16="http://schemas.microsoft.com/office/drawing/2014/main" id="{51C8049E-A47F-47B9-A88F-7B89F43AED60}"/>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435D1957-849D-4AF2-9E0C-96CA50CBA080}"/>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A cuboid has volume 360 cm3, length 12 cm and width 5 cm. Find its height.</a:t>
            </a:r>
          </a:p>
        </p:txBody>
      </p:sp>
      <p:sp>
        <p:nvSpPr>
          <p:cNvPr id="19" name="object-19">
            <a:extLst>
              <a:ext uri="{FF2B5EF4-FFF2-40B4-BE49-F238E27FC236}">
                <a16:creationId xmlns:a16="http://schemas.microsoft.com/office/drawing/2014/main" id="{20E8350A-570A-459D-9FC6-1872217E60B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0E26BAA0-BDED-4A16-8D80-348E84CC6CBF}"/>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Cuboid A is 8 x 6 x 5 cm. Cuboid B is 10 x 6 x 4 cm. Compare their volumes.</a:t>
            </a:r>
          </a:p>
        </p:txBody>
      </p:sp>
      <p:sp>
        <p:nvSpPr>
          <p:cNvPr id="21" name="object-21">
            <a:extLst>
              <a:ext uri="{FF2B5EF4-FFF2-40B4-BE49-F238E27FC236}">
                <a16:creationId xmlns:a16="http://schemas.microsoft.com/office/drawing/2014/main" id="{7E0EFF20-1610-47E0-9A5F-7D529F8A2C9A}"/>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39F62829-3A54-40BB-838D-939310003ED3}"/>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calculates the surface area or adds the three dimensions.</a:t>
            </a:r>
          </a:p>
        </p:txBody>
      </p:sp>
      <p:sp>
        <p:nvSpPr>
          <p:cNvPr id="23" name="object-23">
            <a:extLst>
              <a:ext uri="{FF2B5EF4-FFF2-40B4-BE49-F238E27FC236}">
                <a16:creationId xmlns:a16="http://schemas.microsoft.com/office/drawing/2014/main" id="{815BACE9-F9A8-4339-826C-5AE7EADBD956}"/>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31224BDD-3F7D-4F19-B15E-0ACCACBB07C5}"/>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0C680DC2-C7D2-4F65-91B5-AE8E9F37B7F4}"/>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75C88DF6-8507-4E9D-BE3D-50FD18BFC691}"/>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A cuboid has volume 360 cm3, length 12 cm and width 5 cm. Find its height.</a:t>
            </a:r>
          </a:p>
        </p:txBody>
      </p:sp>
    </p:spTree>
    <p:extLst>
      <p:ext uri="{BB962C8B-B14F-4D97-AF65-F5344CB8AC3E}">
        <p14:creationId xmlns:p14="http://schemas.microsoft.com/office/powerpoint/2010/main" val="2999993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9F34C26F-5DA1-49D1-9B89-1F762E9693D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C40CF860-A795-454D-B400-EF0B851C58E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F1C38FFE-8B7D-4B89-89D1-D5E90049C50C}"/>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0F8807F-8169-4DAE-83CA-27BCE150927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Build and count cubic units</a:t>
            </a:r>
          </a:p>
        </p:txBody>
      </p:sp>
      <p:sp>
        <p:nvSpPr>
          <p:cNvPr id="5" name="object-5">
            <a:extLst>
              <a:ext uri="{FF2B5EF4-FFF2-40B4-BE49-F238E27FC236}">
                <a16:creationId xmlns:a16="http://schemas.microsoft.com/office/drawing/2014/main" id="{275C566F-10E7-4C60-B469-E0038F5069B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A542EEF0-DB2B-4108-A13B-95266B91F78D}"/>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458AE0C0-DE6B-49E5-A58B-BFFC16AB6749}"/>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120 cubic units.</a:t>
            </a:r>
          </a:p>
        </p:txBody>
      </p:sp>
      <p:sp>
        <p:nvSpPr>
          <p:cNvPr id="8" name="object-8">
            <a:extLst>
              <a:ext uri="{FF2B5EF4-FFF2-40B4-BE49-F238E27FC236}">
                <a16:creationId xmlns:a16="http://schemas.microsoft.com/office/drawing/2014/main" id="{8FDE800B-BA4F-48C2-80CB-130C6C3E7D3F}"/>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6F90C094-81FB-45F9-B344-86716FEEE1C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420 cm3.</a:t>
            </a:r>
          </a:p>
        </p:txBody>
      </p:sp>
      <p:sp>
        <p:nvSpPr>
          <p:cNvPr id="10" name="object-10">
            <a:extLst>
              <a:ext uri="{FF2B5EF4-FFF2-40B4-BE49-F238E27FC236}">
                <a16:creationId xmlns:a16="http://schemas.microsoft.com/office/drawing/2014/main" id="{A1D39184-8D4A-4B41-AC96-C3D97586FF80}"/>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77C1C74F-403B-44DF-BD2D-F5AA5F81A50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 cm.</a:t>
            </a:r>
          </a:p>
        </p:txBody>
      </p:sp>
      <p:sp>
        <p:nvSpPr>
          <p:cNvPr id="12" name="object-12">
            <a:extLst>
              <a:ext uri="{FF2B5EF4-FFF2-40B4-BE49-F238E27FC236}">
                <a16:creationId xmlns:a16="http://schemas.microsoft.com/office/drawing/2014/main" id="{E80C55CF-2951-4986-9CD0-FDAAB6E33A35}"/>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FDD54AC9-46BD-4501-876D-98CE590F33B5}"/>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120 cubic units.</a:t>
            </a:r>
          </a:p>
        </p:txBody>
      </p:sp>
      <p:sp>
        <p:nvSpPr>
          <p:cNvPr id="14" name="object-14">
            <a:extLst>
              <a:ext uri="{FF2B5EF4-FFF2-40B4-BE49-F238E27FC236}">
                <a16:creationId xmlns:a16="http://schemas.microsoft.com/office/drawing/2014/main" id="{FD812BE1-80E2-4E04-9C95-DB5C1C62F393}"/>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83E9062A-EF58-457A-9276-FD7CF45288E4}"/>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420 cm3. Method or representation may vary.</a:t>
            </a:r>
          </a:p>
        </p:txBody>
      </p:sp>
      <p:sp>
        <p:nvSpPr>
          <p:cNvPr id="16" name="object-16">
            <a:extLst>
              <a:ext uri="{FF2B5EF4-FFF2-40B4-BE49-F238E27FC236}">
                <a16:creationId xmlns:a16="http://schemas.microsoft.com/office/drawing/2014/main" id="{93AE2B34-5608-445D-A094-C6008084F6B1}"/>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391DED4A-064E-44ED-8953-DC2A2823C36D}"/>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6 cm. A valid check must be shown.</a:t>
            </a:r>
          </a:p>
        </p:txBody>
      </p:sp>
      <p:sp>
        <p:nvSpPr>
          <p:cNvPr id="18" name="object-18">
            <a:extLst>
              <a:ext uri="{FF2B5EF4-FFF2-40B4-BE49-F238E27FC236}">
                <a16:creationId xmlns:a16="http://schemas.microsoft.com/office/drawing/2014/main" id="{A39CB972-2CAE-4978-8D5E-4DEEA1B4856F}"/>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5BD1B26A-62AF-4B0B-BF68-B25D16336C78}"/>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Both are 240 cm3. The explanation must show why the method works.</a:t>
            </a:r>
          </a:p>
        </p:txBody>
      </p:sp>
      <p:sp>
        <p:nvSpPr>
          <p:cNvPr id="20" name="object-20">
            <a:extLst>
              <a:ext uri="{FF2B5EF4-FFF2-40B4-BE49-F238E27FC236}">
                <a16:creationId xmlns:a16="http://schemas.microsoft.com/office/drawing/2014/main" id="{ED7971C9-72EE-41CB-A933-5F231E314ACF}"/>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4AD726B9-4027-4946-A63A-0FF007660B82}"/>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Volume measures space inside a solid, so multiply all three perpendicular dimensions and use cubic units.</a:t>
            </a:r>
          </a:p>
        </p:txBody>
      </p:sp>
      <p:sp>
        <p:nvSpPr>
          <p:cNvPr id="22" name="object-22">
            <a:extLst>
              <a:ext uri="{FF2B5EF4-FFF2-40B4-BE49-F238E27FC236}">
                <a16:creationId xmlns:a16="http://schemas.microsoft.com/office/drawing/2014/main" id="{E64DC7C5-288B-4D8A-A9BA-3422D70BD54C}"/>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89FEFB00-5D37-4D3C-96B7-47E368872855}"/>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9445998E-4B23-4815-B3B2-A306A486597A}"/>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192C3CFE-899B-49D1-B734-574F5C77B3E9}"/>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465752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1028</Words>
  <Application>Microsoft Office PowerPoint</Application>
  <DocSecurity>0</DocSecurity>
  <PresentationFormat>Custom</PresentationFormat>
  <Paragraphs>102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2026-09-14T13:14:36Z</dcterms:created>
  <dcterms:modified xsi:type="dcterms:W3CDTF">2026-09-14T13:17:38Z</dcterms:modified>
</cp:coreProperties>
</file>