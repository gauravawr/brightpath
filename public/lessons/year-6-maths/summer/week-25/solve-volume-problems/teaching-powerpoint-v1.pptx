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5240000" cy="85725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Solve volume problems. Solve volume problems. Introduce the mathematical idea using the first worked example. The lesson can be placed anywhere in the teaching sequence.</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Solve volume problems. I do. Build the volume in equal layers. Multiply base area by the number of layers.</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Solve volume problems. You do. Pause before clicking. Let pupils try independently, then reveal and discuss every step. Build the volume in equal layers. Multiply base area by the number of layers.</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Solve volume problems. I do. Build the volume in equal layers. Multiply base area by the number of layers.</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Solve volume problems. You do. Pause before clicking. Let pupils try independently, then reveal and discuss every step. Build the volume in equal layers. Multiply base area by the number of layers.</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Solve volume problems. You do. Pause before clicking. Let pupils try independently, then reveal and discuss every step. These are the existing expected-level worksheet questions, in their original order. Do not advance to the answer slide until pupils have had time to finish.</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Solve volume problems. Answers. Answers to the preceding complete activity question set, in matching order. Accept mathematically valid alternatives for open questions.</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object-1">
            <a:extLst>
              <a:ext uri="{FF2B5EF4-FFF2-40B4-BE49-F238E27FC236}">
                <a16:creationId xmlns:a16="http://schemas.microsoft.com/office/drawing/2014/main" id="{1D8E269B-A6D4-4423-9AE7-1EF696EC6CF7}"/>
              </a:ext>
            </a:extLst>
          </p:cNvPr>
          <p:cNvSpPr>
            <a:spLocks noGrp="1"/>
          </p:cNvSpPr>
          <p:nvPr/>
        </p:nvSpPr>
        <p:spPr>
          <a:xfrm>
            <a:off x="654844" y="357188"/>
            <a:ext cx="13930313" cy="1547813"/>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Solve volume problems</a:t>
            </a:r>
          </a:p>
        </p:txBody>
      </p:sp>
      <p:sp>
        <p:nvSpPr>
          <p:cNvPr id="2" name="object-2">
            <a:extLst>
              <a:ext uri="{FF2B5EF4-FFF2-40B4-BE49-F238E27FC236}">
                <a16:creationId xmlns:a16="http://schemas.microsoft.com/office/drawing/2014/main" id="{83E73F37-08D9-4FA8-8B7C-A999254DF49D}"/>
              </a:ext>
            </a:extLst>
          </p:cNvPr>
          <p:cNvSpPr>
            <a:spLocks noGrp="1"/>
          </p:cNvSpPr>
          <p:nvPr/>
        </p:nvSpPr>
        <p:spPr>
          <a:xfrm>
            <a:off x="654844" y="2024063"/>
            <a:ext cx="13930313" cy="1012031"/>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Watch the model. Try the next question. Explain what changes.</a:t>
            </a:r>
          </a:p>
        </p:txBody>
      </p:sp>
      <p:sp>
        <p:nvSpPr>
          <p:cNvPr id="3" name="object-3">
            <a:extLst>
              <a:ext uri="{FF2B5EF4-FFF2-40B4-BE49-F238E27FC236}">
                <a16:creationId xmlns:a16="http://schemas.microsoft.com/office/drawing/2014/main" id="{559D3E25-68B5-47FB-A944-A8AC5692F3AC}"/>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E5897B79-A3B2-45B8-AFCA-14E18DFCB53D}"/>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Solve volume problems</a:t>
            </a:r>
          </a:p>
        </p:txBody>
      </p:sp>
      <p:sp>
        <p:nvSpPr>
          <p:cNvPr id="5" name="object-5">
            <a:extLst>
              <a:ext uri="{FF2B5EF4-FFF2-40B4-BE49-F238E27FC236}">
                <a16:creationId xmlns:a16="http://schemas.microsoft.com/office/drawing/2014/main" id="{EB27B4AE-C294-4C5A-A7FB-A4D50BD27687}"/>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1</a:t>
            </a:r>
          </a:p>
        </p:txBody>
      </p:sp>
      <p:sp>
        <p:nvSpPr>
          <p:cNvPr id="6" name="object-6">
            <a:extLst>
              <a:ext uri="{FF2B5EF4-FFF2-40B4-BE49-F238E27FC236}">
                <a16:creationId xmlns:a16="http://schemas.microsoft.com/office/drawing/2014/main" id="{E3B603EF-EC7F-428B-B4B2-E1775C3DDF4C}"/>
              </a:ext>
            </a:extLst>
          </p:cNvPr>
          <p:cNvSpPr>
            <a:spLocks noGrp="1"/>
          </p:cNvSpPr>
          <p:nvPr/>
        </p:nvSpPr>
        <p:spPr>
          <a:xfrm>
            <a:off x="1190625" y="3631406"/>
            <a:ext cx="12858750" cy="2143125"/>
          </a:xfrm>
          <a:prstGeom prst="rect">
            <a:avLst/>
          </a:prstGeom>
          <a:noFill/>
          <a:ln w="0">
            <a:noFill/>
          </a:ln>
        </p:spPr>
        <p:txBody>
          <a:bodyPr anchor="ctr">
            <a:noAutofit/>
          </a:bodyPr>
          <a:lstStyle/>
          <a:p>
            <a:pPr algn="ctr">
              <a:defRPr sz="3375" b="1">
                <a:solidFill>
                  <a:srgbClr val="1D4ED8"/>
                </a:solidFill>
                <a:latin typeface="Arial"/>
                <a:ea typeface="Arial"/>
                <a:cs typeface="Arial"/>
              </a:defRPr>
            </a:pPr>
            <a:r>
              <a:rPr sz="3375" b="1">
                <a:solidFill>
                  <a:srgbClr val="1D4ED8"/>
                </a:solidFill>
                <a:latin typeface="Arial"/>
                <a:ea typeface="Arial"/>
                <a:cs typeface="Arial"/>
              </a:rPr>
              <a:t>To solve multi-step problems involving cuboid volume.</a:t>
            </a:r>
          </a:p>
        </p:txBody>
      </p:sp>
    </p:spTree>
    <p:extLst>
      <p:ext uri="{BB962C8B-B14F-4D97-AF65-F5344CB8AC3E}">
        <p14:creationId xmlns:p14="http://schemas.microsoft.com/office/powerpoint/2010/main" val="9699480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object-1">
            <a:extLst>
              <a:ext uri="{FF2B5EF4-FFF2-40B4-BE49-F238E27FC236}">
                <a16:creationId xmlns:a16="http://schemas.microsoft.com/office/drawing/2014/main" id="{20DFBB9E-4010-4797-AA3E-EE5D832D8640}"/>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I do</a:t>
            </a:r>
          </a:p>
        </p:txBody>
      </p:sp>
      <p:sp>
        <p:nvSpPr>
          <p:cNvPr id="2" name="object-2">
            <a:extLst>
              <a:ext uri="{FF2B5EF4-FFF2-40B4-BE49-F238E27FC236}">
                <a16:creationId xmlns:a16="http://schemas.microsoft.com/office/drawing/2014/main" id="{F4EA539D-7049-4485-B264-0826001A1F80}"/>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How many 5 cm cubes fit into 40 × 25 × 30 cm?</a:t>
            </a:r>
          </a:p>
        </p:txBody>
      </p:sp>
      <p:sp>
        <p:nvSpPr>
          <p:cNvPr id="3" name="object-3">
            <a:extLst>
              <a:ext uri="{FF2B5EF4-FFF2-40B4-BE49-F238E27FC236}">
                <a16:creationId xmlns:a16="http://schemas.microsoft.com/office/drawing/2014/main" id="{5ACAF13C-F905-4D1B-A465-2AB0CBB117B3}"/>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BAC4CB15-4800-4D4D-BFAE-A7740A8C1A7F}"/>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Solve volume problems</a:t>
            </a:r>
          </a:p>
        </p:txBody>
      </p:sp>
      <p:sp>
        <p:nvSpPr>
          <p:cNvPr id="5" name="object-5">
            <a:extLst>
              <a:ext uri="{FF2B5EF4-FFF2-40B4-BE49-F238E27FC236}">
                <a16:creationId xmlns:a16="http://schemas.microsoft.com/office/drawing/2014/main" id="{E217482E-B58C-4F88-89CD-20CD0C075C2F}"/>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2</a:t>
            </a:r>
          </a:p>
        </p:txBody>
      </p:sp>
      <p:sp>
        <p:nvSpPr>
          <p:cNvPr id="6" name="object-6">
            <a:extLst>
              <a:ext uri="{FF2B5EF4-FFF2-40B4-BE49-F238E27FC236}">
                <a16:creationId xmlns:a16="http://schemas.microsoft.com/office/drawing/2014/main" id="{B7EE0BF9-A53C-4B5A-8737-35DABB681A08}"/>
              </a:ext>
            </a:extLst>
          </p:cNvPr>
          <p:cNvSpPr>
            <a:spLocks noGrp="1"/>
          </p:cNvSpPr>
          <p:nvPr/>
        </p:nvSpPr>
        <p:spPr>
          <a:xfrm>
            <a:off x="1666875" y="4822031"/>
            <a:ext cx="5715000" cy="892969"/>
          </a:xfrm>
          <a:custGeom>
            <a:avLst/>
            <a:gdLst/>
            <a:ahLst/>
            <a:cxnLst/>
            <a:rect l="0" t="0" r="0" b="0"/>
            <a:pathLst>
              <a:path w="5715000" h="892969">
                <a:moveTo>
                  <a:pt x="0" y="892969"/>
                </a:moveTo>
                <a:lnTo>
                  <a:pt x="4286250" y="892969"/>
                </a:lnTo>
                <a:lnTo>
                  <a:pt x="5715000" y="0"/>
                </a:lnTo>
                <a:lnTo>
                  <a:pt x="1428750" y="0"/>
                </a:lnTo>
                <a:close/>
              </a:path>
            </a:pathLst>
          </a:custGeom>
          <a:solidFill>
            <a:srgbClr val="93C5FD"/>
          </a:solidFill>
          <a:ln w="23813">
            <a:solidFill>
              <a:srgbClr val="1D4ED8"/>
            </a:solidFill>
          </a:ln>
        </p:spPr>
      </p:sp>
      <p:sp>
        <p:nvSpPr>
          <p:cNvPr id="7" name="object-7">
            <a:extLst>
              <a:ext uri="{FF2B5EF4-FFF2-40B4-BE49-F238E27FC236}">
                <a16:creationId xmlns:a16="http://schemas.microsoft.com/office/drawing/2014/main" id="{CAD9927E-1065-4D01-9106-AEEB787D81F1}"/>
              </a:ext>
            </a:extLst>
          </p:cNvPr>
          <p:cNvSpPr>
            <a:spLocks noGrp="1"/>
          </p:cNvSpPr>
          <p:nvPr/>
        </p:nvSpPr>
        <p:spPr>
          <a:xfrm>
            <a:off x="1666875" y="4619625"/>
            <a:ext cx="5715000" cy="892969"/>
          </a:xfrm>
          <a:custGeom>
            <a:avLst/>
            <a:gdLst/>
            <a:ahLst/>
            <a:cxnLst/>
            <a:rect l="0" t="0" r="0" b="0"/>
            <a:pathLst>
              <a:path w="5715000" h="892969">
                <a:moveTo>
                  <a:pt x="0" y="892969"/>
                </a:moveTo>
                <a:lnTo>
                  <a:pt x="4286250" y="892969"/>
                </a:lnTo>
                <a:lnTo>
                  <a:pt x="5715000" y="0"/>
                </a:lnTo>
                <a:lnTo>
                  <a:pt x="1428750" y="0"/>
                </a:lnTo>
                <a:close/>
              </a:path>
            </a:pathLst>
          </a:custGeom>
          <a:solidFill>
            <a:srgbClr val="EFF6FF"/>
          </a:solidFill>
          <a:ln w="23813">
            <a:solidFill>
              <a:srgbClr val="1D4ED8"/>
            </a:solidFill>
          </a:ln>
        </p:spPr>
      </p:sp>
      <p:sp>
        <p:nvSpPr>
          <p:cNvPr id="8" name="object-8">
            <a:extLst>
              <a:ext uri="{FF2B5EF4-FFF2-40B4-BE49-F238E27FC236}">
                <a16:creationId xmlns:a16="http://schemas.microsoft.com/office/drawing/2014/main" id="{AD41B159-A54C-42DD-A7C5-FC84DC9EBED8}"/>
              </a:ext>
            </a:extLst>
          </p:cNvPr>
          <p:cNvSpPr>
            <a:spLocks noGrp="1"/>
          </p:cNvSpPr>
          <p:nvPr/>
        </p:nvSpPr>
        <p:spPr>
          <a:xfrm>
            <a:off x="1666875" y="4417219"/>
            <a:ext cx="5715000" cy="892969"/>
          </a:xfrm>
          <a:custGeom>
            <a:avLst/>
            <a:gdLst/>
            <a:ahLst/>
            <a:cxnLst/>
            <a:rect l="0" t="0" r="0" b="0"/>
            <a:pathLst>
              <a:path w="5715000" h="892969">
                <a:moveTo>
                  <a:pt x="0" y="892969"/>
                </a:moveTo>
                <a:lnTo>
                  <a:pt x="4286250" y="892969"/>
                </a:lnTo>
                <a:lnTo>
                  <a:pt x="5715000" y="0"/>
                </a:lnTo>
                <a:lnTo>
                  <a:pt x="1428750" y="0"/>
                </a:lnTo>
                <a:close/>
              </a:path>
            </a:pathLst>
          </a:custGeom>
          <a:solidFill>
            <a:srgbClr val="93C5FD"/>
          </a:solidFill>
          <a:ln w="23813">
            <a:solidFill>
              <a:srgbClr val="1D4ED8"/>
            </a:solidFill>
          </a:ln>
        </p:spPr>
      </p:sp>
      <p:sp>
        <p:nvSpPr>
          <p:cNvPr id="9" name="object-9">
            <a:extLst>
              <a:ext uri="{FF2B5EF4-FFF2-40B4-BE49-F238E27FC236}">
                <a16:creationId xmlns:a16="http://schemas.microsoft.com/office/drawing/2014/main" id="{C0207105-3DD4-48EB-B499-B83ADAF30147}"/>
              </a:ext>
            </a:extLst>
          </p:cNvPr>
          <p:cNvSpPr>
            <a:spLocks noGrp="1"/>
          </p:cNvSpPr>
          <p:nvPr/>
        </p:nvSpPr>
        <p:spPr>
          <a:xfrm>
            <a:off x="1666875" y="4214813"/>
            <a:ext cx="5715000" cy="892969"/>
          </a:xfrm>
          <a:custGeom>
            <a:avLst/>
            <a:gdLst/>
            <a:ahLst/>
            <a:cxnLst/>
            <a:rect l="0" t="0" r="0" b="0"/>
            <a:pathLst>
              <a:path w="5715000" h="892969">
                <a:moveTo>
                  <a:pt x="0" y="892969"/>
                </a:moveTo>
                <a:lnTo>
                  <a:pt x="4286250" y="892969"/>
                </a:lnTo>
                <a:lnTo>
                  <a:pt x="5715000" y="0"/>
                </a:lnTo>
                <a:lnTo>
                  <a:pt x="1428750" y="0"/>
                </a:lnTo>
                <a:close/>
              </a:path>
            </a:pathLst>
          </a:custGeom>
          <a:solidFill>
            <a:srgbClr val="EFF6FF"/>
          </a:solidFill>
          <a:ln w="23813">
            <a:solidFill>
              <a:srgbClr val="1D4ED8"/>
            </a:solidFill>
          </a:ln>
        </p:spPr>
      </p:sp>
      <p:sp>
        <p:nvSpPr>
          <p:cNvPr id="10" name="object-10">
            <a:extLst>
              <a:ext uri="{FF2B5EF4-FFF2-40B4-BE49-F238E27FC236}">
                <a16:creationId xmlns:a16="http://schemas.microsoft.com/office/drawing/2014/main" id="{10199019-FA0F-453A-99CE-7C5D4BA4AECA}"/>
              </a:ext>
            </a:extLst>
          </p:cNvPr>
          <p:cNvSpPr>
            <a:spLocks noGrp="1"/>
          </p:cNvSpPr>
          <p:nvPr/>
        </p:nvSpPr>
        <p:spPr>
          <a:xfrm>
            <a:off x="1666875" y="4012406"/>
            <a:ext cx="5715000" cy="892969"/>
          </a:xfrm>
          <a:custGeom>
            <a:avLst/>
            <a:gdLst/>
            <a:ahLst/>
            <a:cxnLst/>
            <a:rect l="0" t="0" r="0" b="0"/>
            <a:pathLst>
              <a:path w="5715000" h="892969">
                <a:moveTo>
                  <a:pt x="0" y="892969"/>
                </a:moveTo>
                <a:lnTo>
                  <a:pt x="4286250" y="892969"/>
                </a:lnTo>
                <a:lnTo>
                  <a:pt x="5715000" y="0"/>
                </a:lnTo>
                <a:lnTo>
                  <a:pt x="1428750" y="0"/>
                </a:lnTo>
                <a:close/>
              </a:path>
            </a:pathLst>
          </a:custGeom>
          <a:solidFill>
            <a:srgbClr val="93C5FD"/>
          </a:solidFill>
          <a:ln w="23813">
            <a:solidFill>
              <a:srgbClr val="1D4ED8"/>
            </a:solidFill>
          </a:ln>
        </p:spPr>
      </p:sp>
      <p:sp>
        <p:nvSpPr>
          <p:cNvPr id="11" name="object-11">
            <a:extLst>
              <a:ext uri="{FF2B5EF4-FFF2-40B4-BE49-F238E27FC236}">
                <a16:creationId xmlns:a16="http://schemas.microsoft.com/office/drawing/2014/main" id="{01AE0925-1DDA-41CA-912A-B072DE3F26E0}"/>
              </a:ext>
            </a:extLst>
          </p:cNvPr>
          <p:cNvSpPr>
            <a:spLocks noGrp="1"/>
          </p:cNvSpPr>
          <p:nvPr/>
        </p:nvSpPr>
        <p:spPr>
          <a:xfrm>
            <a:off x="1666875" y="3810000"/>
            <a:ext cx="5715000" cy="892969"/>
          </a:xfrm>
          <a:custGeom>
            <a:avLst/>
            <a:gdLst/>
            <a:ahLst/>
            <a:cxnLst/>
            <a:rect l="0" t="0" r="0" b="0"/>
            <a:pathLst>
              <a:path w="5715000" h="892969">
                <a:moveTo>
                  <a:pt x="0" y="892969"/>
                </a:moveTo>
                <a:lnTo>
                  <a:pt x="4286250" y="892969"/>
                </a:lnTo>
                <a:lnTo>
                  <a:pt x="5715000" y="0"/>
                </a:lnTo>
                <a:lnTo>
                  <a:pt x="1428750" y="0"/>
                </a:lnTo>
                <a:close/>
              </a:path>
            </a:pathLst>
          </a:custGeom>
          <a:solidFill>
            <a:srgbClr val="EFF6FF"/>
          </a:solidFill>
          <a:ln w="23813">
            <a:solidFill>
              <a:srgbClr val="1D4ED8"/>
            </a:solidFill>
          </a:ln>
        </p:spPr>
      </p:sp>
      <p:sp>
        <p:nvSpPr>
          <p:cNvPr id="12" name="object-12">
            <a:extLst>
              <a:ext uri="{FF2B5EF4-FFF2-40B4-BE49-F238E27FC236}">
                <a16:creationId xmlns:a16="http://schemas.microsoft.com/office/drawing/2014/main" id="{94F2C985-5DED-4AC7-84BB-62370146492D}"/>
              </a:ext>
            </a:extLst>
          </p:cNvPr>
          <p:cNvSpPr>
            <a:spLocks noGrp="1"/>
          </p:cNvSpPr>
          <p:nvPr/>
        </p:nvSpPr>
        <p:spPr>
          <a:xfrm>
            <a:off x="1666875" y="3607594"/>
            <a:ext cx="5715000" cy="892969"/>
          </a:xfrm>
          <a:custGeom>
            <a:avLst/>
            <a:gdLst/>
            <a:ahLst/>
            <a:cxnLst/>
            <a:rect l="0" t="0" r="0" b="0"/>
            <a:pathLst>
              <a:path w="5715000" h="892969">
                <a:moveTo>
                  <a:pt x="0" y="892969"/>
                </a:moveTo>
                <a:lnTo>
                  <a:pt x="4286250" y="892969"/>
                </a:lnTo>
                <a:lnTo>
                  <a:pt x="5715000" y="0"/>
                </a:lnTo>
                <a:lnTo>
                  <a:pt x="1428750" y="0"/>
                </a:lnTo>
                <a:close/>
              </a:path>
            </a:pathLst>
          </a:custGeom>
          <a:solidFill>
            <a:srgbClr val="93C5FD"/>
          </a:solidFill>
          <a:ln w="23813">
            <a:solidFill>
              <a:srgbClr val="1D4ED8"/>
            </a:solidFill>
          </a:ln>
        </p:spPr>
      </p:sp>
      <p:sp>
        <p:nvSpPr>
          <p:cNvPr id="13" name="object-13">
            <a:extLst>
              <a:ext uri="{FF2B5EF4-FFF2-40B4-BE49-F238E27FC236}">
                <a16:creationId xmlns:a16="http://schemas.microsoft.com/office/drawing/2014/main" id="{11A8A3E7-28B1-43DC-BD1B-32C98F5EF76C}"/>
              </a:ext>
            </a:extLst>
          </p:cNvPr>
          <p:cNvSpPr>
            <a:spLocks noGrp="1"/>
          </p:cNvSpPr>
          <p:nvPr/>
        </p:nvSpPr>
        <p:spPr>
          <a:xfrm>
            <a:off x="1666875" y="3405188"/>
            <a:ext cx="5715000" cy="892969"/>
          </a:xfrm>
          <a:custGeom>
            <a:avLst/>
            <a:gdLst/>
            <a:ahLst/>
            <a:cxnLst/>
            <a:rect l="0" t="0" r="0" b="0"/>
            <a:pathLst>
              <a:path w="5715000" h="892969">
                <a:moveTo>
                  <a:pt x="0" y="892969"/>
                </a:moveTo>
                <a:lnTo>
                  <a:pt x="4286250" y="892969"/>
                </a:lnTo>
                <a:lnTo>
                  <a:pt x="5715000" y="0"/>
                </a:lnTo>
                <a:lnTo>
                  <a:pt x="1428750" y="0"/>
                </a:lnTo>
                <a:close/>
              </a:path>
            </a:pathLst>
          </a:custGeom>
          <a:solidFill>
            <a:srgbClr val="EFF6FF"/>
          </a:solidFill>
          <a:ln w="23813">
            <a:solidFill>
              <a:srgbClr val="1D4ED8"/>
            </a:solidFill>
          </a:ln>
        </p:spPr>
      </p:sp>
      <p:sp>
        <p:nvSpPr>
          <p:cNvPr id="14" name="object-14">
            <a:extLst>
              <a:ext uri="{FF2B5EF4-FFF2-40B4-BE49-F238E27FC236}">
                <a16:creationId xmlns:a16="http://schemas.microsoft.com/office/drawing/2014/main" id="{80C306BD-E98B-40A9-85AC-BFBC7B42DDBA}"/>
              </a:ext>
            </a:extLst>
          </p:cNvPr>
          <p:cNvSpPr>
            <a:spLocks noGrp="1"/>
          </p:cNvSpPr>
          <p:nvPr/>
        </p:nvSpPr>
        <p:spPr>
          <a:xfrm>
            <a:off x="1666875" y="3202781"/>
            <a:ext cx="5715000" cy="892969"/>
          </a:xfrm>
          <a:custGeom>
            <a:avLst/>
            <a:gdLst/>
            <a:ahLst/>
            <a:cxnLst/>
            <a:rect l="0" t="0" r="0" b="0"/>
            <a:pathLst>
              <a:path w="5715000" h="892969">
                <a:moveTo>
                  <a:pt x="0" y="892969"/>
                </a:moveTo>
                <a:lnTo>
                  <a:pt x="4286250" y="892969"/>
                </a:lnTo>
                <a:lnTo>
                  <a:pt x="5715000" y="0"/>
                </a:lnTo>
                <a:lnTo>
                  <a:pt x="1428750" y="0"/>
                </a:lnTo>
                <a:close/>
              </a:path>
            </a:pathLst>
          </a:custGeom>
          <a:solidFill>
            <a:srgbClr val="93C5FD"/>
          </a:solidFill>
          <a:ln w="23813">
            <a:solidFill>
              <a:srgbClr val="1D4ED8"/>
            </a:solidFill>
          </a:ln>
        </p:spPr>
      </p:sp>
      <p:sp>
        <p:nvSpPr>
          <p:cNvPr id="15" name="object-15">
            <a:extLst>
              <a:ext uri="{FF2B5EF4-FFF2-40B4-BE49-F238E27FC236}">
                <a16:creationId xmlns:a16="http://schemas.microsoft.com/office/drawing/2014/main" id="{A1764DB4-38EE-4E43-82FA-84B335A4FD80}"/>
              </a:ext>
            </a:extLst>
          </p:cNvPr>
          <p:cNvSpPr>
            <a:spLocks noGrp="1"/>
          </p:cNvSpPr>
          <p:nvPr/>
        </p:nvSpPr>
        <p:spPr>
          <a:xfrm>
            <a:off x="1666875" y="3000375"/>
            <a:ext cx="5715000" cy="892969"/>
          </a:xfrm>
          <a:custGeom>
            <a:avLst/>
            <a:gdLst/>
            <a:ahLst/>
            <a:cxnLst/>
            <a:rect l="0" t="0" r="0" b="0"/>
            <a:pathLst>
              <a:path w="5715000" h="892969">
                <a:moveTo>
                  <a:pt x="0" y="892969"/>
                </a:moveTo>
                <a:lnTo>
                  <a:pt x="4286250" y="892969"/>
                </a:lnTo>
                <a:lnTo>
                  <a:pt x="5715000" y="0"/>
                </a:lnTo>
                <a:lnTo>
                  <a:pt x="1428750" y="0"/>
                </a:lnTo>
                <a:close/>
              </a:path>
            </a:pathLst>
          </a:custGeom>
          <a:solidFill>
            <a:srgbClr val="EFF6FF"/>
          </a:solidFill>
          <a:ln w="23813">
            <a:solidFill>
              <a:srgbClr val="1D4ED8"/>
            </a:solidFill>
          </a:ln>
        </p:spPr>
      </p:sp>
      <p:sp>
        <p:nvSpPr>
          <p:cNvPr id="16" name="object-16">
            <a:extLst>
              <a:ext uri="{FF2B5EF4-FFF2-40B4-BE49-F238E27FC236}">
                <a16:creationId xmlns:a16="http://schemas.microsoft.com/office/drawing/2014/main" id="{3E9E4CDB-0DD9-4A4D-B99E-326EF364E4F6}"/>
              </a:ext>
            </a:extLst>
          </p:cNvPr>
          <p:cNvSpPr>
            <a:spLocks noGrp="1"/>
          </p:cNvSpPr>
          <p:nvPr/>
        </p:nvSpPr>
        <p:spPr>
          <a:xfrm>
            <a:off x="2083594" y="6215063"/>
            <a:ext cx="2857500" cy="654844"/>
          </a:xfrm>
          <a:prstGeom prst="rect">
            <a:avLst/>
          </a:prstGeom>
          <a:noFill/>
          <a:ln w="0">
            <a:noFill/>
          </a:ln>
        </p:spPr>
        <p:txBody>
          <a:bodyPr anchor="ctr">
            <a:noAutofit/>
          </a:bodyPr>
          <a:lstStyle/>
          <a:p>
            <a:pPr algn="l">
              <a:defRPr sz="2719" b="1">
                <a:solidFill>
                  <a:srgbClr val="1D4ED8"/>
                </a:solidFill>
                <a:latin typeface="Arial"/>
                <a:ea typeface="Arial"/>
                <a:cs typeface="Arial"/>
              </a:defRPr>
            </a:pPr>
            <a:r>
              <a:rPr sz="2719" b="1">
                <a:solidFill>
                  <a:srgbClr val="1D4ED8"/>
                </a:solidFill>
                <a:latin typeface="Arial"/>
                <a:ea typeface="Arial"/>
                <a:cs typeface="Arial"/>
              </a:rPr>
              <a:t>40 cm</a:t>
            </a:r>
          </a:p>
        </p:txBody>
      </p:sp>
      <p:sp>
        <p:nvSpPr>
          <p:cNvPr id="17" name="object-17">
            <a:extLst>
              <a:ext uri="{FF2B5EF4-FFF2-40B4-BE49-F238E27FC236}">
                <a16:creationId xmlns:a16="http://schemas.microsoft.com/office/drawing/2014/main" id="{4E0D861C-BB70-43FA-83CC-5B9D62E26AAC}"/>
              </a:ext>
            </a:extLst>
          </p:cNvPr>
          <p:cNvSpPr>
            <a:spLocks noGrp="1"/>
          </p:cNvSpPr>
          <p:nvPr/>
        </p:nvSpPr>
        <p:spPr>
          <a:xfrm>
            <a:off x="6191250" y="5655469"/>
            <a:ext cx="2143125" cy="654844"/>
          </a:xfrm>
          <a:prstGeom prst="rect">
            <a:avLst/>
          </a:prstGeom>
          <a:noFill/>
          <a:ln w="0">
            <a:noFill/>
          </a:ln>
        </p:spPr>
        <p:txBody>
          <a:bodyPr anchor="ctr">
            <a:noAutofit/>
          </a:bodyPr>
          <a:lstStyle/>
          <a:p>
            <a:pPr algn="l">
              <a:defRPr sz="2719" b="1">
                <a:solidFill>
                  <a:srgbClr val="1D4ED8"/>
                </a:solidFill>
                <a:latin typeface="Arial"/>
                <a:ea typeface="Arial"/>
                <a:cs typeface="Arial"/>
              </a:defRPr>
            </a:pPr>
            <a:r>
              <a:rPr sz="2719" b="1">
                <a:solidFill>
                  <a:srgbClr val="1D4ED8"/>
                </a:solidFill>
                <a:latin typeface="Arial"/>
                <a:ea typeface="Arial"/>
                <a:cs typeface="Arial"/>
              </a:rPr>
              <a:t>25 cm</a:t>
            </a:r>
          </a:p>
        </p:txBody>
      </p:sp>
      <p:sp>
        <p:nvSpPr>
          <p:cNvPr id="18" name="object-18">
            <a:extLst>
              <a:ext uri="{FF2B5EF4-FFF2-40B4-BE49-F238E27FC236}">
                <a16:creationId xmlns:a16="http://schemas.microsoft.com/office/drawing/2014/main" id="{00963E77-B481-460E-A75A-FAAEBAB42BF8}"/>
              </a:ext>
            </a:extLst>
          </p:cNvPr>
          <p:cNvSpPr>
            <a:spLocks noGrp="1"/>
          </p:cNvSpPr>
          <p:nvPr/>
        </p:nvSpPr>
        <p:spPr>
          <a:xfrm>
            <a:off x="8870156" y="3250406"/>
            <a:ext cx="5476875" cy="1428750"/>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40 × 25 = 1000 cm² per layer</a:t>
            </a:r>
          </a:p>
        </p:txBody>
      </p:sp>
      <p:sp>
        <p:nvSpPr>
          <p:cNvPr id="19" name="object-19">
            <a:extLst>
              <a:ext uri="{FF2B5EF4-FFF2-40B4-BE49-F238E27FC236}">
                <a16:creationId xmlns:a16="http://schemas.microsoft.com/office/drawing/2014/main" id="{BD4DFC7C-9596-4F2E-971B-A9264039A051}"/>
              </a:ext>
            </a:extLst>
          </p:cNvPr>
          <p:cNvSpPr>
            <a:spLocks noGrp="1"/>
          </p:cNvSpPr>
          <p:nvPr/>
        </p:nvSpPr>
        <p:spPr>
          <a:xfrm>
            <a:off x="8870156" y="5179219"/>
            <a:ext cx="5476875" cy="1309688"/>
          </a:xfrm>
          <a:prstGeom prst="rect">
            <a:avLst/>
          </a:prstGeom>
          <a:noFill/>
          <a:ln w="0">
            <a:noFill/>
          </a:ln>
        </p:spPr>
        <p:txBody>
          <a:bodyPr anchor="ctr">
            <a:noAutofit/>
          </a:bodyPr>
          <a:lstStyle/>
          <a:p>
            <a:pPr algn="l">
              <a:defRPr sz="3188" b="1">
                <a:solidFill>
                  <a:srgbClr val="11745A"/>
                </a:solidFill>
                <a:latin typeface="Arial"/>
                <a:ea typeface="Arial"/>
                <a:cs typeface="Arial"/>
              </a:defRPr>
            </a:pPr>
            <a:r>
              <a:rPr sz="3188" b="1">
                <a:solidFill>
                  <a:srgbClr val="11745A"/>
                </a:solidFill>
                <a:latin typeface="Arial"/>
                <a:ea typeface="Arial"/>
                <a:cs typeface="Arial"/>
              </a:rPr>
              <a:t>1000 × 30 = 30000 cm³</a:t>
            </a:r>
          </a:p>
        </p:txBody>
      </p:sp>
      <p:sp>
        <p:nvSpPr>
          <p:cNvPr id="20" name="object-20">
            <a:extLst>
              <a:ext uri="{FF2B5EF4-FFF2-40B4-BE49-F238E27FC236}">
                <a16:creationId xmlns:a16="http://schemas.microsoft.com/office/drawing/2014/main" id="{13280EB6-2362-46B5-B841-9C5F577EA45F}"/>
              </a:ext>
            </a:extLst>
          </p:cNvPr>
          <p:cNvSpPr>
            <a:spLocks noGrp="1"/>
          </p:cNvSpPr>
          <p:nvPr/>
        </p:nvSpPr>
        <p:spPr>
          <a:xfrm>
            <a:off x="892969" y="6965156"/>
            <a:ext cx="13454063" cy="738188"/>
          </a:xfrm>
          <a:prstGeom prst="rect">
            <a:avLst/>
          </a:prstGeom>
          <a:noFill/>
          <a:ln w="0">
            <a:noFill/>
          </a:ln>
        </p:spPr>
        <p:txBody>
          <a:bodyPr anchor="ctr">
            <a:noAutofit/>
          </a:bodyPr>
          <a:lstStyle/>
          <a:p>
            <a:pPr algn="ctr">
              <a:defRPr sz="2813" b="1">
                <a:solidFill>
                  <a:srgbClr val="11745A"/>
                </a:solidFill>
                <a:latin typeface="Arial"/>
                <a:ea typeface="Arial"/>
                <a:cs typeface="Arial"/>
              </a:defRPr>
            </a:pPr>
            <a:r>
              <a:rPr sz="2813" b="1">
                <a:solidFill>
                  <a:srgbClr val="11745A"/>
                </a:solidFill>
                <a:latin typeface="Arial"/>
                <a:ea typeface="Arial"/>
                <a:cs typeface="Arial"/>
              </a:rPr>
              <a:t>30000 ÷ 125 = 240 cubes</a:t>
            </a:r>
          </a:p>
        </p:txBody>
      </p:sp>
    </p:spTree>
    <p:extLst>
      <p:ext uri="{BB962C8B-B14F-4D97-AF65-F5344CB8AC3E}">
        <p14:creationId xmlns:p14="http://schemas.microsoft.com/office/powerpoint/2010/main" val="7135014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20"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object-1">
            <a:extLst>
              <a:ext uri="{FF2B5EF4-FFF2-40B4-BE49-F238E27FC236}">
                <a16:creationId xmlns:a16="http://schemas.microsoft.com/office/drawing/2014/main" id="{84C04018-B6D5-449E-B3FB-5C68478C5736}"/>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You do</a:t>
            </a:r>
          </a:p>
        </p:txBody>
      </p:sp>
      <p:sp>
        <p:nvSpPr>
          <p:cNvPr id="2" name="object-2">
            <a:extLst>
              <a:ext uri="{FF2B5EF4-FFF2-40B4-BE49-F238E27FC236}">
                <a16:creationId xmlns:a16="http://schemas.microsoft.com/office/drawing/2014/main" id="{C0E7DED3-3D48-4519-BB7F-D869862D4A16}"/>
              </a:ext>
            </a:extLst>
          </p:cNvPr>
          <p:cNvSpPr>
            <a:spLocks noGrp="1"/>
          </p:cNvSpPr>
          <p:nvPr/>
        </p:nvSpPr>
        <p:spPr>
          <a:xfrm>
            <a:off x="11430000" y="476250"/>
            <a:ext cx="3155156" cy="547688"/>
          </a:xfrm>
          <a:prstGeom prst="rect">
            <a:avLst/>
          </a:prstGeom>
          <a:noFill/>
          <a:ln w="0">
            <a:noFill/>
          </a:ln>
        </p:spPr>
        <p:txBody>
          <a:bodyPr anchor="ctr">
            <a:noAutofit/>
          </a:bodyPr>
          <a:lstStyle/>
          <a:p>
            <a:pPr algn="r">
              <a:defRPr sz="2625" b="0">
                <a:solidFill>
                  <a:srgbClr val="52647A"/>
                </a:solidFill>
                <a:latin typeface="Arial"/>
                <a:ea typeface="Arial"/>
                <a:cs typeface="Arial"/>
              </a:defRPr>
            </a:pPr>
            <a:r>
              <a:rPr sz="2625" b="0">
                <a:solidFill>
                  <a:srgbClr val="52647A"/>
                </a:solidFill>
                <a:latin typeface="Arial"/>
                <a:ea typeface="Arial"/>
                <a:cs typeface="Arial"/>
              </a:rPr>
              <a:t>You try.</a:t>
            </a:r>
          </a:p>
        </p:txBody>
      </p:sp>
      <p:sp>
        <p:nvSpPr>
          <p:cNvPr id="3" name="object-3">
            <a:extLst>
              <a:ext uri="{FF2B5EF4-FFF2-40B4-BE49-F238E27FC236}">
                <a16:creationId xmlns:a16="http://schemas.microsoft.com/office/drawing/2014/main" id="{CA1FBEE4-D14D-4663-BBF0-4775A91FF55C}"/>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How many 5 cm cubes fit into 40 × 25 × 31 cm?</a:t>
            </a:r>
          </a:p>
        </p:txBody>
      </p:sp>
      <p:sp>
        <p:nvSpPr>
          <p:cNvPr id="4" name="object-4">
            <a:extLst>
              <a:ext uri="{FF2B5EF4-FFF2-40B4-BE49-F238E27FC236}">
                <a16:creationId xmlns:a16="http://schemas.microsoft.com/office/drawing/2014/main" id="{03195EA2-EF00-44A4-9892-E6A07BD8B7B9}"/>
              </a:ext>
            </a:extLst>
          </p:cNvPr>
          <p:cNvSpPr>
            <a:spLocks noGrp="1"/>
          </p:cNvSpPr>
          <p:nvPr/>
        </p:nvSpPr>
        <p:spPr>
          <a:xfrm>
            <a:off x="654844" y="8012906"/>
            <a:ext cx="13930313" cy="11906"/>
          </a:xfrm>
          <a:prstGeom prst="rect">
            <a:avLst/>
          </a:prstGeom>
          <a:solidFill>
            <a:srgbClr val="BCD0EA"/>
          </a:solidFill>
          <a:ln w="0">
            <a:noFill/>
          </a:ln>
        </p:spPr>
      </p:sp>
      <p:sp>
        <p:nvSpPr>
          <p:cNvPr id="5" name="object-5">
            <a:extLst>
              <a:ext uri="{FF2B5EF4-FFF2-40B4-BE49-F238E27FC236}">
                <a16:creationId xmlns:a16="http://schemas.microsoft.com/office/drawing/2014/main" id="{4C0A7B4C-59DA-4ECB-BDAA-57BCDC33030A}"/>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Solve volume problems</a:t>
            </a:r>
          </a:p>
        </p:txBody>
      </p:sp>
      <p:sp>
        <p:nvSpPr>
          <p:cNvPr id="6" name="object-6">
            <a:extLst>
              <a:ext uri="{FF2B5EF4-FFF2-40B4-BE49-F238E27FC236}">
                <a16:creationId xmlns:a16="http://schemas.microsoft.com/office/drawing/2014/main" id="{79358A3F-880A-4DC0-BFFB-37B8A358E905}"/>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3</a:t>
            </a:r>
          </a:p>
        </p:txBody>
      </p:sp>
      <p:sp>
        <p:nvSpPr>
          <p:cNvPr id="7" name="object-7">
            <a:extLst>
              <a:ext uri="{FF2B5EF4-FFF2-40B4-BE49-F238E27FC236}">
                <a16:creationId xmlns:a16="http://schemas.microsoft.com/office/drawing/2014/main" id="{383DBA01-7294-4B47-A593-750A54233D6B}"/>
              </a:ext>
            </a:extLst>
          </p:cNvPr>
          <p:cNvSpPr>
            <a:spLocks noGrp="1"/>
          </p:cNvSpPr>
          <p:nvPr/>
        </p:nvSpPr>
        <p:spPr>
          <a:xfrm>
            <a:off x="1666875" y="4822031"/>
            <a:ext cx="5715000" cy="892969"/>
          </a:xfrm>
          <a:custGeom>
            <a:avLst/>
            <a:gdLst/>
            <a:ahLst/>
            <a:cxnLst/>
            <a:rect l="0" t="0" r="0" b="0"/>
            <a:pathLst>
              <a:path w="5715000" h="892969">
                <a:moveTo>
                  <a:pt x="0" y="892969"/>
                </a:moveTo>
                <a:lnTo>
                  <a:pt x="4286250" y="892969"/>
                </a:lnTo>
                <a:lnTo>
                  <a:pt x="5715000" y="0"/>
                </a:lnTo>
                <a:lnTo>
                  <a:pt x="1428750" y="0"/>
                </a:lnTo>
                <a:close/>
              </a:path>
            </a:pathLst>
          </a:custGeom>
          <a:solidFill>
            <a:srgbClr val="93C5FD"/>
          </a:solidFill>
          <a:ln w="23813">
            <a:solidFill>
              <a:srgbClr val="1D4ED8"/>
            </a:solidFill>
          </a:ln>
        </p:spPr>
      </p:sp>
      <p:sp>
        <p:nvSpPr>
          <p:cNvPr id="8" name="object-8">
            <a:extLst>
              <a:ext uri="{FF2B5EF4-FFF2-40B4-BE49-F238E27FC236}">
                <a16:creationId xmlns:a16="http://schemas.microsoft.com/office/drawing/2014/main" id="{B77E854D-CFCC-4FF7-9B08-73E60760708D}"/>
              </a:ext>
            </a:extLst>
          </p:cNvPr>
          <p:cNvSpPr>
            <a:spLocks noGrp="1"/>
          </p:cNvSpPr>
          <p:nvPr/>
        </p:nvSpPr>
        <p:spPr>
          <a:xfrm>
            <a:off x="1666875" y="4619625"/>
            <a:ext cx="5715000" cy="892969"/>
          </a:xfrm>
          <a:custGeom>
            <a:avLst/>
            <a:gdLst/>
            <a:ahLst/>
            <a:cxnLst/>
            <a:rect l="0" t="0" r="0" b="0"/>
            <a:pathLst>
              <a:path w="5715000" h="892969">
                <a:moveTo>
                  <a:pt x="0" y="892969"/>
                </a:moveTo>
                <a:lnTo>
                  <a:pt x="4286250" y="892969"/>
                </a:lnTo>
                <a:lnTo>
                  <a:pt x="5715000" y="0"/>
                </a:lnTo>
                <a:lnTo>
                  <a:pt x="1428750" y="0"/>
                </a:lnTo>
                <a:close/>
              </a:path>
            </a:pathLst>
          </a:custGeom>
          <a:solidFill>
            <a:srgbClr val="EFF6FF"/>
          </a:solidFill>
          <a:ln w="23813">
            <a:solidFill>
              <a:srgbClr val="1D4ED8"/>
            </a:solidFill>
          </a:ln>
        </p:spPr>
      </p:sp>
      <p:sp>
        <p:nvSpPr>
          <p:cNvPr id="9" name="object-9">
            <a:extLst>
              <a:ext uri="{FF2B5EF4-FFF2-40B4-BE49-F238E27FC236}">
                <a16:creationId xmlns:a16="http://schemas.microsoft.com/office/drawing/2014/main" id="{E9C58CD0-FB4B-4088-9699-608371677085}"/>
              </a:ext>
            </a:extLst>
          </p:cNvPr>
          <p:cNvSpPr>
            <a:spLocks noGrp="1"/>
          </p:cNvSpPr>
          <p:nvPr/>
        </p:nvSpPr>
        <p:spPr>
          <a:xfrm>
            <a:off x="1666875" y="4417219"/>
            <a:ext cx="5715000" cy="892969"/>
          </a:xfrm>
          <a:custGeom>
            <a:avLst/>
            <a:gdLst/>
            <a:ahLst/>
            <a:cxnLst/>
            <a:rect l="0" t="0" r="0" b="0"/>
            <a:pathLst>
              <a:path w="5715000" h="892969">
                <a:moveTo>
                  <a:pt x="0" y="892969"/>
                </a:moveTo>
                <a:lnTo>
                  <a:pt x="4286250" y="892969"/>
                </a:lnTo>
                <a:lnTo>
                  <a:pt x="5715000" y="0"/>
                </a:lnTo>
                <a:lnTo>
                  <a:pt x="1428750" y="0"/>
                </a:lnTo>
                <a:close/>
              </a:path>
            </a:pathLst>
          </a:custGeom>
          <a:solidFill>
            <a:srgbClr val="93C5FD"/>
          </a:solidFill>
          <a:ln w="23813">
            <a:solidFill>
              <a:srgbClr val="1D4ED8"/>
            </a:solidFill>
          </a:ln>
        </p:spPr>
      </p:sp>
      <p:sp>
        <p:nvSpPr>
          <p:cNvPr id="10" name="object-10">
            <a:extLst>
              <a:ext uri="{FF2B5EF4-FFF2-40B4-BE49-F238E27FC236}">
                <a16:creationId xmlns:a16="http://schemas.microsoft.com/office/drawing/2014/main" id="{D425E1E5-3C98-413F-938C-BDF9C47483C7}"/>
              </a:ext>
            </a:extLst>
          </p:cNvPr>
          <p:cNvSpPr>
            <a:spLocks noGrp="1"/>
          </p:cNvSpPr>
          <p:nvPr/>
        </p:nvSpPr>
        <p:spPr>
          <a:xfrm>
            <a:off x="1666875" y="4214813"/>
            <a:ext cx="5715000" cy="892969"/>
          </a:xfrm>
          <a:custGeom>
            <a:avLst/>
            <a:gdLst/>
            <a:ahLst/>
            <a:cxnLst/>
            <a:rect l="0" t="0" r="0" b="0"/>
            <a:pathLst>
              <a:path w="5715000" h="892969">
                <a:moveTo>
                  <a:pt x="0" y="892969"/>
                </a:moveTo>
                <a:lnTo>
                  <a:pt x="4286250" y="892969"/>
                </a:lnTo>
                <a:lnTo>
                  <a:pt x="5715000" y="0"/>
                </a:lnTo>
                <a:lnTo>
                  <a:pt x="1428750" y="0"/>
                </a:lnTo>
                <a:close/>
              </a:path>
            </a:pathLst>
          </a:custGeom>
          <a:solidFill>
            <a:srgbClr val="EFF6FF"/>
          </a:solidFill>
          <a:ln w="23813">
            <a:solidFill>
              <a:srgbClr val="1D4ED8"/>
            </a:solidFill>
          </a:ln>
        </p:spPr>
      </p:sp>
      <p:sp>
        <p:nvSpPr>
          <p:cNvPr id="11" name="object-11">
            <a:extLst>
              <a:ext uri="{FF2B5EF4-FFF2-40B4-BE49-F238E27FC236}">
                <a16:creationId xmlns:a16="http://schemas.microsoft.com/office/drawing/2014/main" id="{288F53A8-7166-4200-B576-CDEB5E10054C}"/>
              </a:ext>
            </a:extLst>
          </p:cNvPr>
          <p:cNvSpPr>
            <a:spLocks noGrp="1"/>
          </p:cNvSpPr>
          <p:nvPr/>
        </p:nvSpPr>
        <p:spPr>
          <a:xfrm>
            <a:off x="1666875" y="4012406"/>
            <a:ext cx="5715000" cy="892969"/>
          </a:xfrm>
          <a:custGeom>
            <a:avLst/>
            <a:gdLst/>
            <a:ahLst/>
            <a:cxnLst/>
            <a:rect l="0" t="0" r="0" b="0"/>
            <a:pathLst>
              <a:path w="5715000" h="892969">
                <a:moveTo>
                  <a:pt x="0" y="892969"/>
                </a:moveTo>
                <a:lnTo>
                  <a:pt x="4286250" y="892969"/>
                </a:lnTo>
                <a:lnTo>
                  <a:pt x="5715000" y="0"/>
                </a:lnTo>
                <a:lnTo>
                  <a:pt x="1428750" y="0"/>
                </a:lnTo>
                <a:close/>
              </a:path>
            </a:pathLst>
          </a:custGeom>
          <a:solidFill>
            <a:srgbClr val="93C5FD"/>
          </a:solidFill>
          <a:ln w="23813">
            <a:solidFill>
              <a:srgbClr val="1D4ED8"/>
            </a:solidFill>
          </a:ln>
        </p:spPr>
      </p:sp>
      <p:sp>
        <p:nvSpPr>
          <p:cNvPr id="12" name="object-12">
            <a:extLst>
              <a:ext uri="{FF2B5EF4-FFF2-40B4-BE49-F238E27FC236}">
                <a16:creationId xmlns:a16="http://schemas.microsoft.com/office/drawing/2014/main" id="{645FB74C-644C-4232-A7A5-72DF72E67FAC}"/>
              </a:ext>
            </a:extLst>
          </p:cNvPr>
          <p:cNvSpPr>
            <a:spLocks noGrp="1"/>
          </p:cNvSpPr>
          <p:nvPr/>
        </p:nvSpPr>
        <p:spPr>
          <a:xfrm>
            <a:off x="1666875" y="3810000"/>
            <a:ext cx="5715000" cy="892969"/>
          </a:xfrm>
          <a:custGeom>
            <a:avLst/>
            <a:gdLst/>
            <a:ahLst/>
            <a:cxnLst/>
            <a:rect l="0" t="0" r="0" b="0"/>
            <a:pathLst>
              <a:path w="5715000" h="892969">
                <a:moveTo>
                  <a:pt x="0" y="892969"/>
                </a:moveTo>
                <a:lnTo>
                  <a:pt x="4286250" y="892969"/>
                </a:lnTo>
                <a:lnTo>
                  <a:pt x="5715000" y="0"/>
                </a:lnTo>
                <a:lnTo>
                  <a:pt x="1428750" y="0"/>
                </a:lnTo>
                <a:close/>
              </a:path>
            </a:pathLst>
          </a:custGeom>
          <a:solidFill>
            <a:srgbClr val="EFF6FF"/>
          </a:solidFill>
          <a:ln w="23813">
            <a:solidFill>
              <a:srgbClr val="1D4ED8"/>
            </a:solidFill>
          </a:ln>
        </p:spPr>
      </p:sp>
      <p:sp>
        <p:nvSpPr>
          <p:cNvPr id="13" name="object-13">
            <a:extLst>
              <a:ext uri="{FF2B5EF4-FFF2-40B4-BE49-F238E27FC236}">
                <a16:creationId xmlns:a16="http://schemas.microsoft.com/office/drawing/2014/main" id="{8858C821-F1B0-4890-B315-03B1584794C3}"/>
              </a:ext>
            </a:extLst>
          </p:cNvPr>
          <p:cNvSpPr>
            <a:spLocks noGrp="1"/>
          </p:cNvSpPr>
          <p:nvPr/>
        </p:nvSpPr>
        <p:spPr>
          <a:xfrm>
            <a:off x="1666875" y="3607594"/>
            <a:ext cx="5715000" cy="892969"/>
          </a:xfrm>
          <a:custGeom>
            <a:avLst/>
            <a:gdLst/>
            <a:ahLst/>
            <a:cxnLst/>
            <a:rect l="0" t="0" r="0" b="0"/>
            <a:pathLst>
              <a:path w="5715000" h="892969">
                <a:moveTo>
                  <a:pt x="0" y="892969"/>
                </a:moveTo>
                <a:lnTo>
                  <a:pt x="4286250" y="892969"/>
                </a:lnTo>
                <a:lnTo>
                  <a:pt x="5715000" y="0"/>
                </a:lnTo>
                <a:lnTo>
                  <a:pt x="1428750" y="0"/>
                </a:lnTo>
                <a:close/>
              </a:path>
            </a:pathLst>
          </a:custGeom>
          <a:solidFill>
            <a:srgbClr val="93C5FD"/>
          </a:solidFill>
          <a:ln w="23813">
            <a:solidFill>
              <a:srgbClr val="1D4ED8"/>
            </a:solidFill>
          </a:ln>
        </p:spPr>
      </p:sp>
      <p:sp>
        <p:nvSpPr>
          <p:cNvPr id="14" name="object-14">
            <a:extLst>
              <a:ext uri="{FF2B5EF4-FFF2-40B4-BE49-F238E27FC236}">
                <a16:creationId xmlns:a16="http://schemas.microsoft.com/office/drawing/2014/main" id="{5C363950-7426-4021-9AE5-64FB3F744559}"/>
              </a:ext>
            </a:extLst>
          </p:cNvPr>
          <p:cNvSpPr>
            <a:spLocks noGrp="1"/>
          </p:cNvSpPr>
          <p:nvPr/>
        </p:nvSpPr>
        <p:spPr>
          <a:xfrm>
            <a:off x="1666875" y="3405188"/>
            <a:ext cx="5715000" cy="892969"/>
          </a:xfrm>
          <a:custGeom>
            <a:avLst/>
            <a:gdLst/>
            <a:ahLst/>
            <a:cxnLst/>
            <a:rect l="0" t="0" r="0" b="0"/>
            <a:pathLst>
              <a:path w="5715000" h="892969">
                <a:moveTo>
                  <a:pt x="0" y="892969"/>
                </a:moveTo>
                <a:lnTo>
                  <a:pt x="4286250" y="892969"/>
                </a:lnTo>
                <a:lnTo>
                  <a:pt x="5715000" y="0"/>
                </a:lnTo>
                <a:lnTo>
                  <a:pt x="1428750" y="0"/>
                </a:lnTo>
                <a:close/>
              </a:path>
            </a:pathLst>
          </a:custGeom>
          <a:solidFill>
            <a:srgbClr val="EFF6FF"/>
          </a:solidFill>
          <a:ln w="23813">
            <a:solidFill>
              <a:srgbClr val="1D4ED8"/>
            </a:solidFill>
          </a:ln>
        </p:spPr>
      </p:sp>
      <p:sp>
        <p:nvSpPr>
          <p:cNvPr id="15" name="object-15">
            <a:extLst>
              <a:ext uri="{FF2B5EF4-FFF2-40B4-BE49-F238E27FC236}">
                <a16:creationId xmlns:a16="http://schemas.microsoft.com/office/drawing/2014/main" id="{6EDF7D58-2B55-44F3-A5C1-FC5762B0B58E}"/>
              </a:ext>
            </a:extLst>
          </p:cNvPr>
          <p:cNvSpPr>
            <a:spLocks noGrp="1"/>
          </p:cNvSpPr>
          <p:nvPr/>
        </p:nvSpPr>
        <p:spPr>
          <a:xfrm>
            <a:off x="1666875" y="3202781"/>
            <a:ext cx="5715000" cy="892969"/>
          </a:xfrm>
          <a:custGeom>
            <a:avLst/>
            <a:gdLst/>
            <a:ahLst/>
            <a:cxnLst/>
            <a:rect l="0" t="0" r="0" b="0"/>
            <a:pathLst>
              <a:path w="5715000" h="892969">
                <a:moveTo>
                  <a:pt x="0" y="892969"/>
                </a:moveTo>
                <a:lnTo>
                  <a:pt x="4286250" y="892969"/>
                </a:lnTo>
                <a:lnTo>
                  <a:pt x="5715000" y="0"/>
                </a:lnTo>
                <a:lnTo>
                  <a:pt x="1428750" y="0"/>
                </a:lnTo>
                <a:close/>
              </a:path>
            </a:pathLst>
          </a:custGeom>
          <a:solidFill>
            <a:srgbClr val="93C5FD"/>
          </a:solidFill>
          <a:ln w="23813">
            <a:solidFill>
              <a:srgbClr val="1D4ED8"/>
            </a:solidFill>
          </a:ln>
        </p:spPr>
      </p:sp>
      <p:sp>
        <p:nvSpPr>
          <p:cNvPr id="16" name="object-16">
            <a:extLst>
              <a:ext uri="{FF2B5EF4-FFF2-40B4-BE49-F238E27FC236}">
                <a16:creationId xmlns:a16="http://schemas.microsoft.com/office/drawing/2014/main" id="{407A0F09-191A-49FF-927F-95882239070F}"/>
              </a:ext>
            </a:extLst>
          </p:cNvPr>
          <p:cNvSpPr>
            <a:spLocks noGrp="1"/>
          </p:cNvSpPr>
          <p:nvPr/>
        </p:nvSpPr>
        <p:spPr>
          <a:xfrm>
            <a:off x="1666875" y="3000375"/>
            <a:ext cx="5715000" cy="892969"/>
          </a:xfrm>
          <a:custGeom>
            <a:avLst/>
            <a:gdLst/>
            <a:ahLst/>
            <a:cxnLst/>
            <a:rect l="0" t="0" r="0" b="0"/>
            <a:pathLst>
              <a:path w="5715000" h="892969">
                <a:moveTo>
                  <a:pt x="0" y="892969"/>
                </a:moveTo>
                <a:lnTo>
                  <a:pt x="4286250" y="892969"/>
                </a:lnTo>
                <a:lnTo>
                  <a:pt x="5715000" y="0"/>
                </a:lnTo>
                <a:lnTo>
                  <a:pt x="1428750" y="0"/>
                </a:lnTo>
                <a:close/>
              </a:path>
            </a:pathLst>
          </a:custGeom>
          <a:solidFill>
            <a:srgbClr val="EFF6FF"/>
          </a:solidFill>
          <a:ln w="23813">
            <a:solidFill>
              <a:srgbClr val="1D4ED8"/>
            </a:solidFill>
          </a:ln>
        </p:spPr>
      </p:sp>
      <p:sp>
        <p:nvSpPr>
          <p:cNvPr id="17" name="object-17">
            <a:extLst>
              <a:ext uri="{FF2B5EF4-FFF2-40B4-BE49-F238E27FC236}">
                <a16:creationId xmlns:a16="http://schemas.microsoft.com/office/drawing/2014/main" id="{7B67D4BA-5992-41E1-9E86-565D991B3354}"/>
              </a:ext>
            </a:extLst>
          </p:cNvPr>
          <p:cNvSpPr>
            <a:spLocks noGrp="1"/>
          </p:cNvSpPr>
          <p:nvPr/>
        </p:nvSpPr>
        <p:spPr>
          <a:xfrm>
            <a:off x="2083594" y="6215063"/>
            <a:ext cx="2857500" cy="654844"/>
          </a:xfrm>
          <a:prstGeom prst="rect">
            <a:avLst/>
          </a:prstGeom>
          <a:noFill/>
          <a:ln w="0">
            <a:noFill/>
          </a:ln>
        </p:spPr>
        <p:txBody>
          <a:bodyPr anchor="ctr">
            <a:noAutofit/>
          </a:bodyPr>
          <a:lstStyle/>
          <a:p>
            <a:pPr algn="l">
              <a:defRPr sz="2719" b="1">
                <a:solidFill>
                  <a:srgbClr val="1D4ED8"/>
                </a:solidFill>
                <a:latin typeface="Arial"/>
                <a:ea typeface="Arial"/>
                <a:cs typeface="Arial"/>
              </a:defRPr>
            </a:pPr>
            <a:r>
              <a:rPr sz="2719" b="1">
                <a:solidFill>
                  <a:srgbClr val="1D4ED8"/>
                </a:solidFill>
                <a:latin typeface="Arial"/>
                <a:ea typeface="Arial"/>
                <a:cs typeface="Arial"/>
              </a:rPr>
              <a:t>40 cm</a:t>
            </a:r>
          </a:p>
        </p:txBody>
      </p:sp>
      <p:sp>
        <p:nvSpPr>
          <p:cNvPr id="18" name="object-18">
            <a:extLst>
              <a:ext uri="{FF2B5EF4-FFF2-40B4-BE49-F238E27FC236}">
                <a16:creationId xmlns:a16="http://schemas.microsoft.com/office/drawing/2014/main" id="{E779CD20-556A-40C4-887A-A141AD32A84C}"/>
              </a:ext>
            </a:extLst>
          </p:cNvPr>
          <p:cNvSpPr>
            <a:spLocks noGrp="1"/>
          </p:cNvSpPr>
          <p:nvPr/>
        </p:nvSpPr>
        <p:spPr>
          <a:xfrm>
            <a:off x="6191250" y="5655469"/>
            <a:ext cx="2143125" cy="654844"/>
          </a:xfrm>
          <a:prstGeom prst="rect">
            <a:avLst/>
          </a:prstGeom>
          <a:noFill/>
          <a:ln w="0">
            <a:noFill/>
          </a:ln>
        </p:spPr>
        <p:txBody>
          <a:bodyPr anchor="ctr">
            <a:noAutofit/>
          </a:bodyPr>
          <a:lstStyle/>
          <a:p>
            <a:pPr algn="l">
              <a:defRPr sz="2719" b="1">
                <a:solidFill>
                  <a:srgbClr val="1D4ED8"/>
                </a:solidFill>
                <a:latin typeface="Arial"/>
                <a:ea typeface="Arial"/>
                <a:cs typeface="Arial"/>
              </a:defRPr>
            </a:pPr>
            <a:r>
              <a:rPr sz="2719" b="1">
                <a:solidFill>
                  <a:srgbClr val="1D4ED8"/>
                </a:solidFill>
                <a:latin typeface="Arial"/>
                <a:ea typeface="Arial"/>
                <a:cs typeface="Arial"/>
              </a:rPr>
              <a:t>25 cm</a:t>
            </a:r>
          </a:p>
        </p:txBody>
      </p:sp>
      <p:sp>
        <p:nvSpPr>
          <p:cNvPr id="19" name="object-19">
            <a:extLst>
              <a:ext uri="{FF2B5EF4-FFF2-40B4-BE49-F238E27FC236}">
                <a16:creationId xmlns:a16="http://schemas.microsoft.com/office/drawing/2014/main" id="{F8950307-0EE8-4111-AAD1-9C60E313A506}"/>
              </a:ext>
            </a:extLst>
          </p:cNvPr>
          <p:cNvSpPr>
            <a:spLocks noGrp="1"/>
          </p:cNvSpPr>
          <p:nvPr/>
        </p:nvSpPr>
        <p:spPr>
          <a:xfrm>
            <a:off x="8870156" y="3250406"/>
            <a:ext cx="5476875" cy="1428750"/>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40 × 25 = 1000 cm² per layer</a:t>
            </a:r>
          </a:p>
        </p:txBody>
      </p:sp>
      <p:sp>
        <p:nvSpPr>
          <p:cNvPr id="20" name="object-20">
            <a:extLst>
              <a:ext uri="{FF2B5EF4-FFF2-40B4-BE49-F238E27FC236}">
                <a16:creationId xmlns:a16="http://schemas.microsoft.com/office/drawing/2014/main" id="{D9038CD9-1B36-4C74-B4E3-1A91B30047CE}"/>
              </a:ext>
            </a:extLst>
          </p:cNvPr>
          <p:cNvSpPr>
            <a:spLocks noGrp="1"/>
          </p:cNvSpPr>
          <p:nvPr/>
        </p:nvSpPr>
        <p:spPr>
          <a:xfrm>
            <a:off x="8870156" y="5179219"/>
            <a:ext cx="5476875" cy="1309688"/>
          </a:xfrm>
          <a:prstGeom prst="rect">
            <a:avLst/>
          </a:prstGeom>
          <a:noFill/>
          <a:ln w="0">
            <a:noFill/>
          </a:ln>
        </p:spPr>
        <p:txBody>
          <a:bodyPr anchor="ctr">
            <a:noAutofit/>
          </a:bodyPr>
          <a:lstStyle/>
          <a:p>
            <a:pPr algn="l">
              <a:defRPr sz="3188" b="1">
                <a:solidFill>
                  <a:srgbClr val="11745A"/>
                </a:solidFill>
                <a:latin typeface="Arial"/>
                <a:ea typeface="Arial"/>
                <a:cs typeface="Arial"/>
              </a:defRPr>
            </a:pPr>
            <a:r>
              <a:rPr sz="3188" b="1">
                <a:solidFill>
                  <a:srgbClr val="11745A"/>
                </a:solidFill>
                <a:latin typeface="Arial"/>
                <a:ea typeface="Arial"/>
                <a:cs typeface="Arial"/>
              </a:rPr>
              <a:t>1000 × 31 = 31000 cm³</a:t>
            </a:r>
          </a:p>
        </p:txBody>
      </p:sp>
      <p:sp>
        <p:nvSpPr>
          <p:cNvPr id="21" name="object-21">
            <a:extLst>
              <a:ext uri="{FF2B5EF4-FFF2-40B4-BE49-F238E27FC236}">
                <a16:creationId xmlns:a16="http://schemas.microsoft.com/office/drawing/2014/main" id="{0CDDA6A2-3D60-4F14-9B1D-471AF2F45046}"/>
              </a:ext>
            </a:extLst>
          </p:cNvPr>
          <p:cNvSpPr>
            <a:spLocks noGrp="1"/>
          </p:cNvSpPr>
          <p:nvPr/>
        </p:nvSpPr>
        <p:spPr>
          <a:xfrm>
            <a:off x="892969" y="6965156"/>
            <a:ext cx="13454063" cy="738188"/>
          </a:xfrm>
          <a:prstGeom prst="rect">
            <a:avLst/>
          </a:prstGeom>
          <a:noFill/>
          <a:ln w="0">
            <a:noFill/>
          </a:ln>
        </p:spPr>
        <p:txBody>
          <a:bodyPr anchor="ctr">
            <a:noAutofit/>
          </a:bodyPr>
          <a:lstStyle/>
          <a:p>
            <a:pPr algn="ctr">
              <a:defRPr sz="2813" b="1">
                <a:solidFill>
                  <a:srgbClr val="11745A"/>
                </a:solidFill>
                <a:latin typeface="Arial"/>
                <a:ea typeface="Arial"/>
                <a:cs typeface="Arial"/>
              </a:defRPr>
            </a:pPr>
            <a:r>
              <a:rPr sz="2813" b="1">
                <a:solidFill>
                  <a:srgbClr val="11745A"/>
                </a:solidFill>
                <a:latin typeface="Arial"/>
                <a:ea typeface="Arial"/>
                <a:cs typeface="Arial"/>
              </a:rPr>
              <a:t>31000 ÷ 125 = 248 cubes</a:t>
            </a:r>
          </a:p>
        </p:txBody>
      </p:sp>
    </p:spTree>
    <p:extLst>
      <p:ext uri="{BB962C8B-B14F-4D97-AF65-F5344CB8AC3E}">
        <p14:creationId xmlns:p14="http://schemas.microsoft.com/office/powerpoint/2010/main" val="1769610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P spid="21"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object-1">
            <a:extLst>
              <a:ext uri="{FF2B5EF4-FFF2-40B4-BE49-F238E27FC236}">
                <a16:creationId xmlns:a16="http://schemas.microsoft.com/office/drawing/2014/main" id="{E304EB5C-3CA8-4278-AD8A-94D2C02C73BC}"/>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I do</a:t>
            </a:r>
          </a:p>
        </p:txBody>
      </p:sp>
      <p:sp>
        <p:nvSpPr>
          <p:cNvPr id="2" name="object-2">
            <a:extLst>
              <a:ext uri="{FF2B5EF4-FFF2-40B4-BE49-F238E27FC236}">
                <a16:creationId xmlns:a16="http://schemas.microsoft.com/office/drawing/2014/main" id="{0C35AC73-151C-4286-AB51-838B0EBEBE2A}"/>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How many 5 cm cubes fit into 40 × 25 × 32 cm?</a:t>
            </a:r>
          </a:p>
        </p:txBody>
      </p:sp>
      <p:sp>
        <p:nvSpPr>
          <p:cNvPr id="3" name="object-3">
            <a:extLst>
              <a:ext uri="{FF2B5EF4-FFF2-40B4-BE49-F238E27FC236}">
                <a16:creationId xmlns:a16="http://schemas.microsoft.com/office/drawing/2014/main" id="{B8B59B7F-8D59-4B40-BDDD-309DE1354656}"/>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0910F69C-543F-492F-9D0E-2F093DC68D1B}"/>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Solve volume problems</a:t>
            </a:r>
          </a:p>
        </p:txBody>
      </p:sp>
      <p:sp>
        <p:nvSpPr>
          <p:cNvPr id="5" name="object-5">
            <a:extLst>
              <a:ext uri="{FF2B5EF4-FFF2-40B4-BE49-F238E27FC236}">
                <a16:creationId xmlns:a16="http://schemas.microsoft.com/office/drawing/2014/main" id="{387ACF00-7D75-40C5-9E17-49D3A2DFA328}"/>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4</a:t>
            </a:r>
          </a:p>
        </p:txBody>
      </p:sp>
      <p:sp>
        <p:nvSpPr>
          <p:cNvPr id="6" name="object-6">
            <a:extLst>
              <a:ext uri="{FF2B5EF4-FFF2-40B4-BE49-F238E27FC236}">
                <a16:creationId xmlns:a16="http://schemas.microsoft.com/office/drawing/2014/main" id="{F4013CC7-C0A6-4EED-85C7-D7703A16B041}"/>
              </a:ext>
            </a:extLst>
          </p:cNvPr>
          <p:cNvSpPr>
            <a:spLocks noGrp="1"/>
          </p:cNvSpPr>
          <p:nvPr/>
        </p:nvSpPr>
        <p:spPr>
          <a:xfrm>
            <a:off x="1666875" y="4822031"/>
            <a:ext cx="5715000" cy="892969"/>
          </a:xfrm>
          <a:custGeom>
            <a:avLst/>
            <a:gdLst/>
            <a:ahLst/>
            <a:cxnLst/>
            <a:rect l="0" t="0" r="0" b="0"/>
            <a:pathLst>
              <a:path w="5715000" h="892969">
                <a:moveTo>
                  <a:pt x="0" y="892969"/>
                </a:moveTo>
                <a:lnTo>
                  <a:pt x="4286250" y="892969"/>
                </a:lnTo>
                <a:lnTo>
                  <a:pt x="5715000" y="0"/>
                </a:lnTo>
                <a:lnTo>
                  <a:pt x="1428750" y="0"/>
                </a:lnTo>
                <a:close/>
              </a:path>
            </a:pathLst>
          </a:custGeom>
          <a:solidFill>
            <a:srgbClr val="93C5FD"/>
          </a:solidFill>
          <a:ln w="23813">
            <a:solidFill>
              <a:srgbClr val="1D4ED8"/>
            </a:solidFill>
          </a:ln>
        </p:spPr>
      </p:sp>
      <p:sp>
        <p:nvSpPr>
          <p:cNvPr id="7" name="object-7">
            <a:extLst>
              <a:ext uri="{FF2B5EF4-FFF2-40B4-BE49-F238E27FC236}">
                <a16:creationId xmlns:a16="http://schemas.microsoft.com/office/drawing/2014/main" id="{531705C1-5B30-4330-9C95-748DCF7E1F06}"/>
              </a:ext>
            </a:extLst>
          </p:cNvPr>
          <p:cNvSpPr>
            <a:spLocks noGrp="1"/>
          </p:cNvSpPr>
          <p:nvPr/>
        </p:nvSpPr>
        <p:spPr>
          <a:xfrm>
            <a:off x="1666875" y="4619625"/>
            <a:ext cx="5715000" cy="892969"/>
          </a:xfrm>
          <a:custGeom>
            <a:avLst/>
            <a:gdLst/>
            <a:ahLst/>
            <a:cxnLst/>
            <a:rect l="0" t="0" r="0" b="0"/>
            <a:pathLst>
              <a:path w="5715000" h="892969">
                <a:moveTo>
                  <a:pt x="0" y="892969"/>
                </a:moveTo>
                <a:lnTo>
                  <a:pt x="4286250" y="892969"/>
                </a:lnTo>
                <a:lnTo>
                  <a:pt x="5715000" y="0"/>
                </a:lnTo>
                <a:lnTo>
                  <a:pt x="1428750" y="0"/>
                </a:lnTo>
                <a:close/>
              </a:path>
            </a:pathLst>
          </a:custGeom>
          <a:solidFill>
            <a:srgbClr val="EFF6FF"/>
          </a:solidFill>
          <a:ln w="23813">
            <a:solidFill>
              <a:srgbClr val="1D4ED8"/>
            </a:solidFill>
          </a:ln>
        </p:spPr>
      </p:sp>
      <p:sp>
        <p:nvSpPr>
          <p:cNvPr id="8" name="object-8">
            <a:extLst>
              <a:ext uri="{FF2B5EF4-FFF2-40B4-BE49-F238E27FC236}">
                <a16:creationId xmlns:a16="http://schemas.microsoft.com/office/drawing/2014/main" id="{DD4036CC-C871-44D2-927A-6DAC23F2E95B}"/>
              </a:ext>
            </a:extLst>
          </p:cNvPr>
          <p:cNvSpPr>
            <a:spLocks noGrp="1"/>
          </p:cNvSpPr>
          <p:nvPr/>
        </p:nvSpPr>
        <p:spPr>
          <a:xfrm>
            <a:off x="1666875" y="4417219"/>
            <a:ext cx="5715000" cy="892969"/>
          </a:xfrm>
          <a:custGeom>
            <a:avLst/>
            <a:gdLst/>
            <a:ahLst/>
            <a:cxnLst/>
            <a:rect l="0" t="0" r="0" b="0"/>
            <a:pathLst>
              <a:path w="5715000" h="892969">
                <a:moveTo>
                  <a:pt x="0" y="892969"/>
                </a:moveTo>
                <a:lnTo>
                  <a:pt x="4286250" y="892969"/>
                </a:lnTo>
                <a:lnTo>
                  <a:pt x="5715000" y="0"/>
                </a:lnTo>
                <a:lnTo>
                  <a:pt x="1428750" y="0"/>
                </a:lnTo>
                <a:close/>
              </a:path>
            </a:pathLst>
          </a:custGeom>
          <a:solidFill>
            <a:srgbClr val="93C5FD"/>
          </a:solidFill>
          <a:ln w="23813">
            <a:solidFill>
              <a:srgbClr val="1D4ED8"/>
            </a:solidFill>
          </a:ln>
        </p:spPr>
      </p:sp>
      <p:sp>
        <p:nvSpPr>
          <p:cNvPr id="9" name="object-9">
            <a:extLst>
              <a:ext uri="{FF2B5EF4-FFF2-40B4-BE49-F238E27FC236}">
                <a16:creationId xmlns:a16="http://schemas.microsoft.com/office/drawing/2014/main" id="{09732C8F-104D-4926-A22D-788353F7EA7B}"/>
              </a:ext>
            </a:extLst>
          </p:cNvPr>
          <p:cNvSpPr>
            <a:spLocks noGrp="1"/>
          </p:cNvSpPr>
          <p:nvPr/>
        </p:nvSpPr>
        <p:spPr>
          <a:xfrm>
            <a:off x="1666875" y="4214813"/>
            <a:ext cx="5715000" cy="892969"/>
          </a:xfrm>
          <a:custGeom>
            <a:avLst/>
            <a:gdLst/>
            <a:ahLst/>
            <a:cxnLst/>
            <a:rect l="0" t="0" r="0" b="0"/>
            <a:pathLst>
              <a:path w="5715000" h="892969">
                <a:moveTo>
                  <a:pt x="0" y="892969"/>
                </a:moveTo>
                <a:lnTo>
                  <a:pt x="4286250" y="892969"/>
                </a:lnTo>
                <a:lnTo>
                  <a:pt x="5715000" y="0"/>
                </a:lnTo>
                <a:lnTo>
                  <a:pt x="1428750" y="0"/>
                </a:lnTo>
                <a:close/>
              </a:path>
            </a:pathLst>
          </a:custGeom>
          <a:solidFill>
            <a:srgbClr val="EFF6FF"/>
          </a:solidFill>
          <a:ln w="23813">
            <a:solidFill>
              <a:srgbClr val="1D4ED8"/>
            </a:solidFill>
          </a:ln>
        </p:spPr>
      </p:sp>
      <p:sp>
        <p:nvSpPr>
          <p:cNvPr id="10" name="object-10">
            <a:extLst>
              <a:ext uri="{FF2B5EF4-FFF2-40B4-BE49-F238E27FC236}">
                <a16:creationId xmlns:a16="http://schemas.microsoft.com/office/drawing/2014/main" id="{5CE137F0-D2DA-4DAB-B131-BE18D28556D1}"/>
              </a:ext>
            </a:extLst>
          </p:cNvPr>
          <p:cNvSpPr>
            <a:spLocks noGrp="1"/>
          </p:cNvSpPr>
          <p:nvPr/>
        </p:nvSpPr>
        <p:spPr>
          <a:xfrm>
            <a:off x="1666875" y="4012406"/>
            <a:ext cx="5715000" cy="892969"/>
          </a:xfrm>
          <a:custGeom>
            <a:avLst/>
            <a:gdLst/>
            <a:ahLst/>
            <a:cxnLst/>
            <a:rect l="0" t="0" r="0" b="0"/>
            <a:pathLst>
              <a:path w="5715000" h="892969">
                <a:moveTo>
                  <a:pt x="0" y="892969"/>
                </a:moveTo>
                <a:lnTo>
                  <a:pt x="4286250" y="892969"/>
                </a:lnTo>
                <a:lnTo>
                  <a:pt x="5715000" y="0"/>
                </a:lnTo>
                <a:lnTo>
                  <a:pt x="1428750" y="0"/>
                </a:lnTo>
                <a:close/>
              </a:path>
            </a:pathLst>
          </a:custGeom>
          <a:solidFill>
            <a:srgbClr val="93C5FD"/>
          </a:solidFill>
          <a:ln w="23813">
            <a:solidFill>
              <a:srgbClr val="1D4ED8"/>
            </a:solidFill>
          </a:ln>
        </p:spPr>
      </p:sp>
      <p:sp>
        <p:nvSpPr>
          <p:cNvPr id="11" name="object-11">
            <a:extLst>
              <a:ext uri="{FF2B5EF4-FFF2-40B4-BE49-F238E27FC236}">
                <a16:creationId xmlns:a16="http://schemas.microsoft.com/office/drawing/2014/main" id="{BDAEAA0D-7DE9-4EC0-AE0E-E38EE24FC10B}"/>
              </a:ext>
            </a:extLst>
          </p:cNvPr>
          <p:cNvSpPr>
            <a:spLocks noGrp="1"/>
          </p:cNvSpPr>
          <p:nvPr/>
        </p:nvSpPr>
        <p:spPr>
          <a:xfrm>
            <a:off x="1666875" y="3810000"/>
            <a:ext cx="5715000" cy="892969"/>
          </a:xfrm>
          <a:custGeom>
            <a:avLst/>
            <a:gdLst/>
            <a:ahLst/>
            <a:cxnLst/>
            <a:rect l="0" t="0" r="0" b="0"/>
            <a:pathLst>
              <a:path w="5715000" h="892969">
                <a:moveTo>
                  <a:pt x="0" y="892969"/>
                </a:moveTo>
                <a:lnTo>
                  <a:pt x="4286250" y="892969"/>
                </a:lnTo>
                <a:lnTo>
                  <a:pt x="5715000" y="0"/>
                </a:lnTo>
                <a:lnTo>
                  <a:pt x="1428750" y="0"/>
                </a:lnTo>
                <a:close/>
              </a:path>
            </a:pathLst>
          </a:custGeom>
          <a:solidFill>
            <a:srgbClr val="EFF6FF"/>
          </a:solidFill>
          <a:ln w="23813">
            <a:solidFill>
              <a:srgbClr val="1D4ED8"/>
            </a:solidFill>
          </a:ln>
        </p:spPr>
      </p:sp>
      <p:sp>
        <p:nvSpPr>
          <p:cNvPr id="12" name="object-12">
            <a:extLst>
              <a:ext uri="{FF2B5EF4-FFF2-40B4-BE49-F238E27FC236}">
                <a16:creationId xmlns:a16="http://schemas.microsoft.com/office/drawing/2014/main" id="{12009D88-255E-4CC9-A201-92364861B150}"/>
              </a:ext>
            </a:extLst>
          </p:cNvPr>
          <p:cNvSpPr>
            <a:spLocks noGrp="1"/>
          </p:cNvSpPr>
          <p:nvPr/>
        </p:nvSpPr>
        <p:spPr>
          <a:xfrm>
            <a:off x="1666875" y="3607594"/>
            <a:ext cx="5715000" cy="892969"/>
          </a:xfrm>
          <a:custGeom>
            <a:avLst/>
            <a:gdLst/>
            <a:ahLst/>
            <a:cxnLst/>
            <a:rect l="0" t="0" r="0" b="0"/>
            <a:pathLst>
              <a:path w="5715000" h="892969">
                <a:moveTo>
                  <a:pt x="0" y="892969"/>
                </a:moveTo>
                <a:lnTo>
                  <a:pt x="4286250" y="892969"/>
                </a:lnTo>
                <a:lnTo>
                  <a:pt x="5715000" y="0"/>
                </a:lnTo>
                <a:lnTo>
                  <a:pt x="1428750" y="0"/>
                </a:lnTo>
                <a:close/>
              </a:path>
            </a:pathLst>
          </a:custGeom>
          <a:solidFill>
            <a:srgbClr val="93C5FD"/>
          </a:solidFill>
          <a:ln w="23813">
            <a:solidFill>
              <a:srgbClr val="1D4ED8"/>
            </a:solidFill>
          </a:ln>
        </p:spPr>
      </p:sp>
      <p:sp>
        <p:nvSpPr>
          <p:cNvPr id="13" name="object-13">
            <a:extLst>
              <a:ext uri="{FF2B5EF4-FFF2-40B4-BE49-F238E27FC236}">
                <a16:creationId xmlns:a16="http://schemas.microsoft.com/office/drawing/2014/main" id="{358DD964-A622-4E62-9E00-6B60CD45B32B}"/>
              </a:ext>
            </a:extLst>
          </p:cNvPr>
          <p:cNvSpPr>
            <a:spLocks noGrp="1"/>
          </p:cNvSpPr>
          <p:nvPr/>
        </p:nvSpPr>
        <p:spPr>
          <a:xfrm>
            <a:off x="1666875" y="3405188"/>
            <a:ext cx="5715000" cy="892969"/>
          </a:xfrm>
          <a:custGeom>
            <a:avLst/>
            <a:gdLst/>
            <a:ahLst/>
            <a:cxnLst/>
            <a:rect l="0" t="0" r="0" b="0"/>
            <a:pathLst>
              <a:path w="5715000" h="892969">
                <a:moveTo>
                  <a:pt x="0" y="892969"/>
                </a:moveTo>
                <a:lnTo>
                  <a:pt x="4286250" y="892969"/>
                </a:lnTo>
                <a:lnTo>
                  <a:pt x="5715000" y="0"/>
                </a:lnTo>
                <a:lnTo>
                  <a:pt x="1428750" y="0"/>
                </a:lnTo>
                <a:close/>
              </a:path>
            </a:pathLst>
          </a:custGeom>
          <a:solidFill>
            <a:srgbClr val="EFF6FF"/>
          </a:solidFill>
          <a:ln w="23813">
            <a:solidFill>
              <a:srgbClr val="1D4ED8"/>
            </a:solidFill>
          </a:ln>
        </p:spPr>
      </p:sp>
      <p:sp>
        <p:nvSpPr>
          <p:cNvPr id="14" name="object-14">
            <a:extLst>
              <a:ext uri="{FF2B5EF4-FFF2-40B4-BE49-F238E27FC236}">
                <a16:creationId xmlns:a16="http://schemas.microsoft.com/office/drawing/2014/main" id="{A65072F5-B88F-4A4A-A620-1CDD4703E50C}"/>
              </a:ext>
            </a:extLst>
          </p:cNvPr>
          <p:cNvSpPr>
            <a:spLocks noGrp="1"/>
          </p:cNvSpPr>
          <p:nvPr/>
        </p:nvSpPr>
        <p:spPr>
          <a:xfrm>
            <a:off x="1666875" y="3202781"/>
            <a:ext cx="5715000" cy="892969"/>
          </a:xfrm>
          <a:custGeom>
            <a:avLst/>
            <a:gdLst/>
            <a:ahLst/>
            <a:cxnLst/>
            <a:rect l="0" t="0" r="0" b="0"/>
            <a:pathLst>
              <a:path w="5715000" h="892969">
                <a:moveTo>
                  <a:pt x="0" y="892969"/>
                </a:moveTo>
                <a:lnTo>
                  <a:pt x="4286250" y="892969"/>
                </a:lnTo>
                <a:lnTo>
                  <a:pt x="5715000" y="0"/>
                </a:lnTo>
                <a:lnTo>
                  <a:pt x="1428750" y="0"/>
                </a:lnTo>
                <a:close/>
              </a:path>
            </a:pathLst>
          </a:custGeom>
          <a:solidFill>
            <a:srgbClr val="93C5FD"/>
          </a:solidFill>
          <a:ln w="23813">
            <a:solidFill>
              <a:srgbClr val="1D4ED8"/>
            </a:solidFill>
          </a:ln>
        </p:spPr>
      </p:sp>
      <p:sp>
        <p:nvSpPr>
          <p:cNvPr id="15" name="object-15">
            <a:extLst>
              <a:ext uri="{FF2B5EF4-FFF2-40B4-BE49-F238E27FC236}">
                <a16:creationId xmlns:a16="http://schemas.microsoft.com/office/drawing/2014/main" id="{7E25F35A-9655-438D-B54B-5CC92E22AAAE}"/>
              </a:ext>
            </a:extLst>
          </p:cNvPr>
          <p:cNvSpPr>
            <a:spLocks noGrp="1"/>
          </p:cNvSpPr>
          <p:nvPr/>
        </p:nvSpPr>
        <p:spPr>
          <a:xfrm>
            <a:off x="1666875" y="3000375"/>
            <a:ext cx="5715000" cy="892969"/>
          </a:xfrm>
          <a:custGeom>
            <a:avLst/>
            <a:gdLst/>
            <a:ahLst/>
            <a:cxnLst/>
            <a:rect l="0" t="0" r="0" b="0"/>
            <a:pathLst>
              <a:path w="5715000" h="892969">
                <a:moveTo>
                  <a:pt x="0" y="892969"/>
                </a:moveTo>
                <a:lnTo>
                  <a:pt x="4286250" y="892969"/>
                </a:lnTo>
                <a:lnTo>
                  <a:pt x="5715000" y="0"/>
                </a:lnTo>
                <a:lnTo>
                  <a:pt x="1428750" y="0"/>
                </a:lnTo>
                <a:close/>
              </a:path>
            </a:pathLst>
          </a:custGeom>
          <a:solidFill>
            <a:srgbClr val="EFF6FF"/>
          </a:solidFill>
          <a:ln w="23813">
            <a:solidFill>
              <a:srgbClr val="1D4ED8"/>
            </a:solidFill>
          </a:ln>
        </p:spPr>
      </p:sp>
      <p:sp>
        <p:nvSpPr>
          <p:cNvPr id="16" name="object-16">
            <a:extLst>
              <a:ext uri="{FF2B5EF4-FFF2-40B4-BE49-F238E27FC236}">
                <a16:creationId xmlns:a16="http://schemas.microsoft.com/office/drawing/2014/main" id="{D3765324-9FD0-4CB2-AB18-F37FF376D55B}"/>
              </a:ext>
            </a:extLst>
          </p:cNvPr>
          <p:cNvSpPr>
            <a:spLocks noGrp="1"/>
          </p:cNvSpPr>
          <p:nvPr/>
        </p:nvSpPr>
        <p:spPr>
          <a:xfrm>
            <a:off x="2083594" y="6215063"/>
            <a:ext cx="2857500" cy="654844"/>
          </a:xfrm>
          <a:prstGeom prst="rect">
            <a:avLst/>
          </a:prstGeom>
          <a:noFill/>
          <a:ln w="0">
            <a:noFill/>
          </a:ln>
        </p:spPr>
        <p:txBody>
          <a:bodyPr anchor="ctr">
            <a:noAutofit/>
          </a:bodyPr>
          <a:lstStyle/>
          <a:p>
            <a:pPr algn="l">
              <a:defRPr sz="2719" b="1">
                <a:solidFill>
                  <a:srgbClr val="1D4ED8"/>
                </a:solidFill>
                <a:latin typeface="Arial"/>
                <a:ea typeface="Arial"/>
                <a:cs typeface="Arial"/>
              </a:defRPr>
            </a:pPr>
            <a:r>
              <a:rPr sz="2719" b="1">
                <a:solidFill>
                  <a:srgbClr val="1D4ED8"/>
                </a:solidFill>
                <a:latin typeface="Arial"/>
                <a:ea typeface="Arial"/>
                <a:cs typeface="Arial"/>
              </a:rPr>
              <a:t>40 cm</a:t>
            </a:r>
          </a:p>
        </p:txBody>
      </p:sp>
      <p:sp>
        <p:nvSpPr>
          <p:cNvPr id="17" name="object-17">
            <a:extLst>
              <a:ext uri="{FF2B5EF4-FFF2-40B4-BE49-F238E27FC236}">
                <a16:creationId xmlns:a16="http://schemas.microsoft.com/office/drawing/2014/main" id="{C407C4AD-0107-420C-82EF-3C8FD0A18F44}"/>
              </a:ext>
            </a:extLst>
          </p:cNvPr>
          <p:cNvSpPr>
            <a:spLocks noGrp="1"/>
          </p:cNvSpPr>
          <p:nvPr/>
        </p:nvSpPr>
        <p:spPr>
          <a:xfrm>
            <a:off x="6191250" y="5655469"/>
            <a:ext cx="2143125" cy="654844"/>
          </a:xfrm>
          <a:prstGeom prst="rect">
            <a:avLst/>
          </a:prstGeom>
          <a:noFill/>
          <a:ln w="0">
            <a:noFill/>
          </a:ln>
        </p:spPr>
        <p:txBody>
          <a:bodyPr anchor="ctr">
            <a:noAutofit/>
          </a:bodyPr>
          <a:lstStyle/>
          <a:p>
            <a:pPr algn="l">
              <a:defRPr sz="2719" b="1">
                <a:solidFill>
                  <a:srgbClr val="1D4ED8"/>
                </a:solidFill>
                <a:latin typeface="Arial"/>
                <a:ea typeface="Arial"/>
                <a:cs typeface="Arial"/>
              </a:defRPr>
            </a:pPr>
            <a:r>
              <a:rPr sz="2719" b="1">
                <a:solidFill>
                  <a:srgbClr val="1D4ED8"/>
                </a:solidFill>
                <a:latin typeface="Arial"/>
                <a:ea typeface="Arial"/>
                <a:cs typeface="Arial"/>
              </a:rPr>
              <a:t>25 cm</a:t>
            </a:r>
          </a:p>
        </p:txBody>
      </p:sp>
      <p:sp>
        <p:nvSpPr>
          <p:cNvPr id="18" name="object-18">
            <a:extLst>
              <a:ext uri="{FF2B5EF4-FFF2-40B4-BE49-F238E27FC236}">
                <a16:creationId xmlns:a16="http://schemas.microsoft.com/office/drawing/2014/main" id="{F8ECC79B-FD6D-4B84-88F0-653836D1DBC3}"/>
              </a:ext>
            </a:extLst>
          </p:cNvPr>
          <p:cNvSpPr>
            <a:spLocks noGrp="1"/>
          </p:cNvSpPr>
          <p:nvPr/>
        </p:nvSpPr>
        <p:spPr>
          <a:xfrm>
            <a:off x="8870156" y="3250406"/>
            <a:ext cx="5476875" cy="1428750"/>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40 × 25 = 1000 cm² per layer</a:t>
            </a:r>
          </a:p>
        </p:txBody>
      </p:sp>
      <p:sp>
        <p:nvSpPr>
          <p:cNvPr id="19" name="object-19">
            <a:extLst>
              <a:ext uri="{FF2B5EF4-FFF2-40B4-BE49-F238E27FC236}">
                <a16:creationId xmlns:a16="http://schemas.microsoft.com/office/drawing/2014/main" id="{9DAD7F57-1194-43FF-A66A-0EF5A1AD24A3}"/>
              </a:ext>
            </a:extLst>
          </p:cNvPr>
          <p:cNvSpPr>
            <a:spLocks noGrp="1"/>
          </p:cNvSpPr>
          <p:nvPr/>
        </p:nvSpPr>
        <p:spPr>
          <a:xfrm>
            <a:off x="8870156" y="5179219"/>
            <a:ext cx="5476875" cy="1309688"/>
          </a:xfrm>
          <a:prstGeom prst="rect">
            <a:avLst/>
          </a:prstGeom>
          <a:noFill/>
          <a:ln w="0">
            <a:noFill/>
          </a:ln>
        </p:spPr>
        <p:txBody>
          <a:bodyPr anchor="ctr">
            <a:noAutofit/>
          </a:bodyPr>
          <a:lstStyle/>
          <a:p>
            <a:pPr algn="l">
              <a:defRPr sz="3188" b="1">
                <a:solidFill>
                  <a:srgbClr val="11745A"/>
                </a:solidFill>
                <a:latin typeface="Arial"/>
                <a:ea typeface="Arial"/>
                <a:cs typeface="Arial"/>
              </a:defRPr>
            </a:pPr>
            <a:r>
              <a:rPr sz="3188" b="1">
                <a:solidFill>
                  <a:srgbClr val="11745A"/>
                </a:solidFill>
                <a:latin typeface="Arial"/>
                <a:ea typeface="Arial"/>
                <a:cs typeface="Arial"/>
              </a:rPr>
              <a:t>1000 × 32 = 32000 cm³</a:t>
            </a:r>
          </a:p>
        </p:txBody>
      </p:sp>
      <p:sp>
        <p:nvSpPr>
          <p:cNvPr id="20" name="object-20">
            <a:extLst>
              <a:ext uri="{FF2B5EF4-FFF2-40B4-BE49-F238E27FC236}">
                <a16:creationId xmlns:a16="http://schemas.microsoft.com/office/drawing/2014/main" id="{EF226C1F-336B-49B5-9FF4-3AB3BE627A4D}"/>
              </a:ext>
            </a:extLst>
          </p:cNvPr>
          <p:cNvSpPr>
            <a:spLocks noGrp="1"/>
          </p:cNvSpPr>
          <p:nvPr/>
        </p:nvSpPr>
        <p:spPr>
          <a:xfrm>
            <a:off x="892969" y="6965156"/>
            <a:ext cx="13454063" cy="738188"/>
          </a:xfrm>
          <a:prstGeom prst="rect">
            <a:avLst/>
          </a:prstGeom>
          <a:noFill/>
          <a:ln w="0">
            <a:noFill/>
          </a:ln>
        </p:spPr>
        <p:txBody>
          <a:bodyPr anchor="ctr">
            <a:noAutofit/>
          </a:bodyPr>
          <a:lstStyle/>
          <a:p>
            <a:pPr algn="ctr">
              <a:defRPr sz="2813" b="1">
                <a:solidFill>
                  <a:srgbClr val="11745A"/>
                </a:solidFill>
                <a:latin typeface="Arial"/>
                <a:ea typeface="Arial"/>
                <a:cs typeface="Arial"/>
              </a:defRPr>
            </a:pPr>
            <a:r>
              <a:rPr sz="2813" b="1">
                <a:solidFill>
                  <a:srgbClr val="11745A"/>
                </a:solidFill>
                <a:latin typeface="Arial"/>
                <a:ea typeface="Arial"/>
                <a:cs typeface="Arial"/>
              </a:rPr>
              <a:t>32000 ÷ 125 = 256 cubes</a:t>
            </a:r>
          </a:p>
        </p:txBody>
      </p:sp>
    </p:spTree>
    <p:extLst>
      <p:ext uri="{BB962C8B-B14F-4D97-AF65-F5344CB8AC3E}">
        <p14:creationId xmlns:p14="http://schemas.microsoft.com/office/powerpoint/2010/main" val="118715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20"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object-1">
            <a:extLst>
              <a:ext uri="{FF2B5EF4-FFF2-40B4-BE49-F238E27FC236}">
                <a16:creationId xmlns:a16="http://schemas.microsoft.com/office/drawing/2014/main" id="{4A2A2024-9B4F-441E-B6E0-22539DD06274}"/>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You do</a:t>
            </a:r>
          </a:p>
        </p:txBody>
      </p:sp>
      <p:sp>
        <p:nvSpPr>
          <p:cNvPr id="2" name="object-2">
            <a:extLst>
              <a:ext uri="{FF2B5EF4-FFF2-40B4-BE49-F238E27FC236}">
                <a16:creationId xmlns:a16="http://schemas.microsoft.com/office/drawing/2014/main" id="{2B606A79-710D-453A-B65A-B705AA342E08}"/>
              </a:ext>
            </a:extLst>
          </p:cNvPr>
          <p:cNvSpPr>
            <a:spLocks noGrp="1"/>
          </p:cNvSpPr>
          <p:nvPr/>
        </p:nvSpPr>
        <p:spPr>
          <a:xfrm>
            <a:off x="11430000" y="476250"/>
            <a:ext cx="3155156" cy="547688"/>
          </a:xfrm>
          <a:prstGeom prst="rect">
            <a:avLst/>
          </a:prstGeom>
          <a:noFill/>
          <a:ln w="0">
            <a:noFill/>
          </a:ln>
        </p:spPr>
        <p:txBody>
          <a:bodyPr anchor="ctr">
            <a:noAutofit/>
          </a:bodyPr>
          <a:lstStyle/>
          <a:p>
            <a:pPr algn="r">
              <a:defRPr sz="2625" b="0">
                <a:solidFill>
                  <a:srgbClr val="52647A"/>
                </a:solidFill>
                <a:latin typeface="Arial"/>
                <a:ea typeface="Arial"/>
                <a:cs typeface="Arial"/>
              </a:defRPr>
            </a:pPr>
            <a:r>
              <a:rPr sz="2625" b="0">
                <a:solidFill>
                  <a:srgbClr val="52647A"/>
                </a:solidFill>
                <a:latin typeface="Arial"/>
                <a:ea typeface="Arial"/>
                <a:cs typeface="Arial"/>
              </a:rPr>
              <a:t>You try.</a:t>
            </a:r>
          </a:p>
        </p:txBody>
      </p:sp>
      <p:sp>
        <p:nvSpPr>
          <p:cNvPr id="3" name="object-3">
            <a:extLst>
              <a:ext uri="{FF2B5EF4-FFF2-40B4-BE49-F238E27FC236}">
                <a16:creationId xmlns:a16="http://schemas.microsoft.com/office/drawing/2014/main" id="{8A7D5C00-BA3F-407D-A343-B0C8BE257216}"/>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How many 5 cm cubes fit into 40 × 25 × 33 cm?</a:t>
            </a:r>
          </a:p>
        </p:txBody>
      </p:sp>
      <p:sp>
        <p:nvSpPr>
          <p:cNvPr id="4" name="object-4">
            <a:extLst>
              <a:ext uri="{FF2B5EF4-FFF2-40B4-BE49-F238E27FC236}">
                <a16:creationId xmlns:a16="http://schemas.microsoft.com/office/drawing/2014/main" id="{91A10DB1-0C9C-41E9-8DE6-280175111C99}"/>
              </a:ext>
            </a:extLst>
          </p:cNvPr>
          <p:cNvSpPr>
            <a:spLocks noGrp="1"/>
          </p:cNvSpPr>
          <p:nvPr/>
        </p:nvSpPr>
        <p:spPr>
          <a:xfrm>
            <a:off x="654844" y="8012906"/>
            <a:ext cx="13930313" cy="11906"/>
          </a:xfrm>
          <a:prstGeom prst="rect">
            <a:avLst/>
          </a:prstGeom>
          <a:solidFill>
            <a:srgbClr val="BCD0EA"/>
          </a:solidFill>
          <a:ln w="0">
            <a:noFill/>
          </a:ln>
        </p:spPr>
      </p:sp>
      <p:sp>
        <p:nvSpPr>
          <p:cNvPr id="5" name="object-5">
            <a:extLst>
              <a:ext uri="{FF2B5EF4-FFF2-40B4-BE49-F238E27FC236}">
                <a16:creationId xmlns:a16="http://schemas.microsoft.com/office/drawing/2014/main" id="{62AD8430-7DFB-479F-BA24-BE38C2E4BE58}"/>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Solve volume problems</a:t>
            </a:r>
          </a:p>
        </p:txBody>
      </p:sp>
      <p:sp>
        <p:nvSpPr>
          <p:cNvPr id="6" name="object-6">
            <a:extLst>
              <a:ext uri="{FF2B5EF4-FFF2-40B4-BE49-F238E27FC236}">
                <a16:creationId xmlns:a16="http://schemas.microsoft.com/office/drawing/2014/main" id="{04F10441-6D23-49C1-95DE-A80B827AB1FB}"/>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5</a:t>
            </a:r>
          </a:p>
        </p:txBody>
      </p:sp>
      <p:sp>
        <p:nvSpPr>
          <p:cNvPr id="7" name="object-7">
            <a:extLst>
              <a:ext uri="{FF2B5EF4-FFF2-40B4-BE49-F238E27FC236}">
                <a16:creationId xmlns:a16="http://schemas.microsoft.com/office/drawing/2014/main" id="{CBE9A83D-C91B-4CA2-AF45-C342D33DF94B}"/>
              </a:ext>
            </a:extLst>
          </p:cNvPr>
          <p:cNvSpPr>
            <a:spLocks noGrp="1"/>
          </p:cNvSpPr>
          <p:nvPr/>
        </p:nvSpPr>
        <p:spPr>
          <a:xfrm>
            <a:off x="1666875" y="4822031"/>
            <a:ext cx="5715000" cy="892969"/>
          </a:xfrm>
          <a:custGeom>
            <a:avLst/>
            <a:gdLst/>
            <a:ahLst/>
            <a:cxnLst/>
            <a:rect l="0" t="0" r="0" b="0"/>
            <a:pathLst>
              <a:path w="5715000" h="892969">
                <a:moveTo>
                  <a:pt x="0" y="892969"/>
                </a:moveTo>
                <a:lnTo>
                  <a:pt x="4286250" y="892969"/>
                </a:lnTo>
                <a:lnTo>
                  <a:pt x="5715000" y="0"/>
                </a:lnTo>
                <a:lnTo>
                  <a:pt x="1428750" y="0"/>
                </a:lnTo>
                <a:close/>
              </a:path>
            </a:pathLst>
          </a:custGeom>
          <a:solidFill>
            <a:srgbClr val="93C5FD"/>
          </a:solidFill>
          <a:ln w="23813">
            <a:solidFill>
              <a:srgbClr val="1D4ED8"/>
            </a:solidFill>
          </a:ln>
        </p:spPr>
      </p:sp>
      <p:sp>
        <p:nvSpPr>
          <p:cNvPr id="8" name="object-8">
            <a:extLst>
              <a:ext uri="{FF2B5EF4-FFF2-40B4-BE49-F238E27FC236}">
                <a16:creationId xmlns:a16="http://schemas.microsoft.com/office/drawing/2014/main" id="{6D278FC4-7847-4D9D-AEF8-2AEA30AABE3B}"/>
              </a:ext>
            </a:extLst>
          </p:cNvPr>
          <p:cNvSpPr>
            <a:spLocks noGrp="1"/>
          </p:cNvSpPr>
          <p:nvPr/>
        </p:nvSpPr>
        <p:spPr>
          <a:xfrm>
            <a:off x="1666875" y="4619625"/>
            <a:ext cx="5715000" cy="892969"/>
          </a:xfrm>
          <a:custGeom>
            <a:avLst/>
            <a:gdLst/>
            <a:ahLst/>
            <a:cxnLst/>
            <a:rect l="0" t="0" r="0" b="0"/>
            <a:pathLst>
              <a:path w="5715000" h="892969">
                <a:moveTo>
                  <a:pt x="0" y="892969"/>
                </a:moveTo>
                <a:lnTo>
                  <a:pt x="4286250" y="892969"/>
                </a:lnTo>
                <a:lnTo>
                  <a:pt x="5715000" y="0"/>
                </a:lnTo>
                <a:lnTo>
                  <a:pt x="1428750" y="0"/>
                </a:lnTo>
                <a:close/>
              </a:path>
            </a:pathLst>
          </a:custGeom>
          <a:solidFill>
            <a:srgbClr val="EFF6FF"/>
          </a:solidFill>
          <a:ln w="23813">
            <a:solidFill>
              <a:srgbClr val="1D4ED8"/>
            </a:solidFill>
          </a:ln>
        </p:spPr>
      </p:sp>
      <p:sp>
        <p:nvSpPr>
          <p:cNvPr id="9" name="object-9">
            <a:extLst>
              <a:ext uri="{FF2B5EF4-FFF2-40B4-BE49-F238E27FC236}">
                <a16:creationId xmlns:a16="http://schemas.microsoft.com/office/drawing/2014/main" id="{0C4F6616-EC55-40EB-BD14-2196CF5A4CAB}"/>
              </a:ext>
            </a:extLst>
          </p:cNvPr>
          <p:cNvSpPr>
            <a:spLocks noGrp="1"/>
          </p:cNvSpPr>
          <p:nvPr/>
        </p:nvSpPr>
        <p:spPr>
          <a:xfrm>
            <a:off x="1666875" y="4417219"/>
            <a:ext cx="5715000" cy="892969"/>
          </a:xfrm>
          <a:custGeom>
            <a:avLst/>
            <a:gdLst/>
            <a:ahLst/>
            <a:cxnLst/>
            <a:rect l="0" t="0" r="0" b="0"/>
            <a:pathLst>
              <a:path w="5715000" h="892969">
                <a:moveTo>
                  <a:pt x="0" y="892969"/>
                </a:moveTo>
                <a:lnTo>
                  <a:pt x="4286250" y="892969"/>
                </a:lnTo>
                <a:lnTo>
                  <a:pt x="5715000" y="0"/>
                </a:lnTo>
                <a:lnTo>
                  <a:pt x="1428750" y="0"/>
                </a:lnTo>
                <a:close/>
              </a:path>
            </a:pathLst>
          </a:custGeom>
          <a:solidFill>
            <a:srgbClr val="93C5FD"/>
          </a:solidFill>
          <a:ln w="23813">
            <a:solidFill>
              <a:srgbClr val="1D4ED8"/>
            </a:solidFill>
          </a:ln>
        </p:spPr>
      </p:sp>
      <p:sp>
        <p:nvSpPr>
          <p:cNvPr id="10" name="object-10">
            <a:extLst>
              <a:ext uri="{FF2B5EF4-FFF2-40B4-BE49-F238E27FC236}">
                <a16:creationId xmlns:a16="http://schemas.microsoft.com/office/drawing/2014/main" id="{4A56FFA2-2471-4A54-9784-BC30E50C050A}"/>
              </a:ext>
            </a:extLst>
          </p:cNvPr>
          <p:cNvSpPr>
            <a:spLocks noGrp="1"/>
          </p:cNvSpPr>
          <p:nvPr/>
        </p:nvSpPr>
        <p:spPr>
          <a:xfrm>
            <a:off x="1666875" y="4214813"/>
            <a:ext cx="5715000" cy="892969"/>
          </a:xfrm>
          <a:custGeom>
            <a:avLst/>
            <a:gdLst/>
            <a:ahLst/>
            <a:cxnLst/>
            <a:rect l="0" t="0" r="0" b="0"/>
            <a:pathLst>
              <a:path w="5715000" h="892969">
                <a:moveTo>
                  <a:pt x="0" y="892969"/>
                </a:moveTo>
                <a:lnTo>
                  <a:pt x="4286250" y="892969"/>
                </a:lnTo>
                <a:lnTo>
                  <a:pt x="5715000" y="0"/>
                </a:lnTo>
                <a:lnTo>
                  <a:pt x="1428750" y="0"/>
                </a:lnTo>
                <a:close/>
              </a:path>
            </a:pathLst>
          </a:custGeom>
          <a:solidFill>
            <a:srgbClr val="EFF6FF"/>
          </a:solidFill>
          <a:ln w="23813">
            <a:solidFill>
              <a:srgbClr val="1D4ED8"/>
            </a:solidFill>
          </a:ln>
        </p:spPr>
      </p:sp>
      <p:sp>
        <p:nvSpPr>
          <p:cNvPr id="11" name="object-11">
            <a:extLst>
              <a:ext uri="{FF2B5EF4-FFF2-40B4-BE49-F238E27FC236}">
                <a16:creationId xmlns:a16="http://schemas.microsoft.com/office/drawing/2014/main" id="{AA6075EF-90C8-465B-BE1B-1E589E51CD80}"/>
              </a:ext>
            </a:extLst>
          </p:cNvPr>
          <p:cNvSpPr>
            <a:spLocks noGrp="1"/>
          </p:cNvSpPr>
          <p:nvPr/>
        </p:nvSpPr>
        <p:spPr>
          <a:xfrm>
            <a:off x="1666875" y="4012406"/>
            <a:ext cx="5715000" cy="892969"/>
          </a:xfrm>
          <a:custGeom>
            <a:avLst/>
            <a:gdLst/>
            <a:ahLst/>
            <a:cxnLst/>
            <a:rect l="0" t="0" r="0" b="0"/>
            <a:pathLst>
              <a:path w="5715000" h="892969">
                <a:moveTo>
                  <a:pt x="0" y="892969"/>
                </a:moveTo>
                <a:lnTo>
                  <a:pt x="4286250" y="892969"/>
                </a:lnTo>
                <a:lnTo>
                  <a:pt x="5715000" y="0"/>
                </a:lnTo>
                <a:lnTo>
                  <a:pt x="1428750" y="0"/>
                </a:lnTo>
                <a:close/>
              </a:path>
            </a:pathLst>
          </a:custGeom>
          <a:solidFill>
            <a:srgbClr val="93C5FD"/>
          </a:solidFill>
          <a:ln w="23813">
            <a:solidFill>
              <a:srgbClr val="1D4ED8"/>
            </a:solidFill>
          </a:ln>
        </p:spPr>
      </p:sp>
      <p:sp>
        <p:nvSpPr>
          <p:cNvPr id="12" name="object-12">
            <a:extLst>
              <a:ext uri="{FF2B5EF4-FFF2-40B4-BE49-F238E27FC236}">
                <a16:creationId xmlns:a16="http://schemas.microsoft.com/office/drawing/2014/main" id="{E7B4377F-7D81-4380-977D-C3AE3A7E78F4}"/>
              </a:ext>
            </a:extLst>
          </p:cNvPr>
          <p:cNvSpPr>
            <a:spLocks noGrp="1"/>
          </p:cNvSpPr>
          <p:nvPr/>
        </p:nvSpPr>
        <p:spPr>
          <a:xfrm>
            <a:off x="1666875" y="3810000"/>
            <a:ext cx="5715000" cy="892969"/>
          </a:xfrm>
          <a:custGeom>
            <a:avLst/>
            <a:gdLst/>
            <a:ahLst/>
            <a:cxnLst/>
            <a:rect l="0" t="0" r="0" b="0"/>
            <a:pathLst>
              <a:path w="5715000" h="892969">
                <a:moveTo>
                  <a:pt x="0" y="892969"/>
                </a:moveTo>
                <a:lnTo>
                  <a:pt x="4286250" y="892969"/>
                </a:lnTo>
                <a:lnTo>
                  <a:pt x="5715000" y="0"/>
                </a:lnTo>
                <a:lnTo>
                  <a:pt x="1428750" y="0"/>
                </a:lnTo>
                <a:close/>
              </a:path>
            </a:pathLst>
          </a:custGeom>
          <a:solidFill>
            <a:srgbClr val="EFF6FF"/>
          </a:solidFill>
          <a:ln w="23813">
            <a:solidFill>
              <a:srgbClr val="1D4ED8"/>
            </a:solidFill>
          </a:ln>
        </p:spPr>
      </p:sp>
      <p:sp>
        <p:nvSpPr>
          <p:cNvPr id="13" name="object-13">
            <a:extLst>
              <a:ext uri="{FF2B5EF4-FFF2-40B4-BE49-F238E27FC236}">
                <a16:creationId xmlns:a16="http://schemas.microsoft.com/office/drawing/2014/main" id="{AB21EFD2-CD63-45D6-B39B-9EFACA308B9F}"/>
              </a:ext>
            </a:extLst>
          </p:cNvPr>
          <p:cNvSpPr>
            <a:spLocks noGrp="1"/>
          </p:cNvSpPr>
          <p:nvPr/>
        </p:nvSpPr>
        <p:spPr>
          <a:xfrm>
            <a:off x="1666875" y="3607594"/>
            <a:ext cx="5715000" cy="892969"/>
          </a:xfrm>
          <a:custGeom>
            <a:avLst/>
            <a:gdLst/>
            <a:ahLst/>
            <a:cxnLst/>
            <a:rect l="0" t="0" r="0" b="0"/>
            <a:pathLst>
              <a:path w="5715000" h="892969">
                <a:moveTo>
                  <a:pt x="0" y="892969"/>
                </a:moveTo>
                <a:lnTo>
                  <a:pt x="4286250" y="892969"/>
                </a:lnTo>
                <a:lnTo>
                  <a:pt x="5715000" y="0"/>
                </a:lnTo>
                <a:lnTo>
                  <a:pt x="1428750" y="0"/>
                </a:lnTo>
                <a:close/>
              </a:path>
            </a:pathLst>
          </a:custGeom>
          <a:solidFill>
            <a:srgbClr val="93C5FD"/>
          </a:solidFill>
          <a:ln w="23813">
            <a:solidFill>
              <a:srgbClr val="1D4ED8"/>
            </a:solidFill>
          </a:ln>
        </p:spPr>
      </p:sp>
      <p:sp>
        <p:nvSpPr>
          <p:cNvPr id="14" name="object-14">
            <a:extLst>
              <a:ext uri="{FF2B5EF4-FFF2-40B4-BE49-F238E27FC236}">
                <a16:creationId xmlns:a16="http://schemas.microsoft.com/office/drawing/2014/main" id="{74D90A86-AE3B-4F63-81E6-D419F10EFD7B}"/>
              </a:ext>
            </a:extLst>
          </p:cNvPr>
          <p:cNvSpPr>
            <a:spLocks noGrp="1"/>
          </p:cNvSpPr>
          <p:nvPr/>
        </p:nvSpPr>
        <p:spPr>
          <a:xfrm>
            <a:off x="1666875" y="3405188"/>
            <a:ext cx="5715000" cy="892969"/>
          </a:xfrm>
          <a:custGeom>
            <a:avLst/>
            <a:gdLst/>
            <a:ahLst/>
            <a:cxnLst/>
            <a:rect l="0" t="0" r="0" b="0"/>
            <a:pathLst>
              <a:path w="5715000" h="892969">
                <a:moveTo>
                  <a:pt x="0" y="892969"/>
                </a:moveTo>
                <a:lnTo>
                  <a:pt x="4286250" y="892969"/>
                </a:lnTo>
                <a:lnTo>
                  <a:pt x="5715000" y="0"/>
                </a:lnTo>
                <a:lnTo>
                  <a:pt x="1428750" y="0"/>
                </a:lnTo>
                <a:close/>
              </a:path>
            </a:pathLst>
          </a:custGeom>
          <a:solidFill>
            <a:srgbClr val="EFF6FF"/>
          </a:solidFill>
          <a:ln w="23813">
            <a:solidFill>
              <a:srgbClr val="1D4ED8"/>
            </a:solidFill>
          </a:ln>
        </p:spPr>
      </p:sp>
      <p:sp>
        <p:nvSpPr>
          <p:cNvPr id="15" name="object-15">
            <a:extLst>
              <a:ext uri="{FF2B5EF4-FFF2-40B4-BE49-F238E27FC236}">
                <a16:creationId xmlns:a16="http://schemas.microsoft.com/office/drawing/2014/main" id="{DC5964AE-CBD9-4DCF-8FF1-304BDEA5C18D}"/>
              </a:ext>
            </a:extLst>
          </p:cNvPr>
          <p:cNvSpPr>
            <a:spLocks noGrp="1"/>
          </p:cNvSpPr>
          <p:nvPr/>
        </p:nvSpPr>
        <p:spPr>
          <a:xfrm>
            <a:off x="1666875" y="3202781"/>
            <a:ext cx="5715000" cy="892969"/>
          </a:xfrm>
          <a:custGeom>
            <a:avLst/>
            <a:gdLst/>
            <a:ahLst/>
            <a:cxnLst/>
            <a:rect l="0" t="0" r="0" b="0"/>
            <a:pathLst>
              <a:path w="5715000" h="892969">
                <a:moveTo>
                  <a:pt x="0" y="892969"/>
                </a:moveTo>
                <a:lnTo>
                  <a:pt x="4286250" y="892969"/>
                </a:lnTo>
                <a:lnTo>
                  <a:pt x="5715000" y="0"/>
                </a:lnTo>
                <a:lnTo>
                  <a:pt x="1428750" y="0"/>
                </a:lnTo>
                <a:close/>
              </a:path>
            </a:pathLst>
          </a:custGeom>
          <a:solidFill>
            <a:srgbClr val="93C5FD"/>
          </a:solidFill>
          <a:ln w="23813">
            <a:solidFill>
              <a:srgbClr val="1D4ED8"/>
            </a:solidFill>
          </a:ln>
        </p:spPr>
      </p:sp>
      <p:sp>
        <p:nvSpPr>
          <p:cNvPr id="16" name="object-16">
            <a:extLst>
              <a:ext uri="{FF2B5EF4-FFF2-40B4-BE49-F238E27FC236}">
                <a16:creationId xmlns:a16="http://schemas.microsoft.com/office/drawing/2014/main" id="{BD30EA51-E1AD-4F21-9AC8-0AEEC4F2C4E8}"/>
              </a:ext>
            </a:extLst>
          </p:cNvPr>
          <p:cNvSpPr>
            <a:spLocks noGrp="1"/>
          </p:cNvSpPr>
          <p:nvPr/>
        </p:nvSpPr>
        <p:spPr>
          <a:xfrm>
            <a:off x="1666875" y="3000375"/>
            <a:ext cx="5715000" cy="892969"/>
          </a:xfrm>
          <a:custGeom>
            <a:avLst/>
            <a:gdLst/>
            <a:ahLst/>
            <a:cxnLst/>
            <a:rect l="0" t="0" r="0" b="0"/>
            <a:pathLst>
              <a:path w="5715000" h="892969">
                <a:moveTo>
                  <a:pt x="0" y="892969"/>
                </a:moveTo>
                <a:lnTo>
                  <a:pt x="4286250" y="892969"/>
                </a:lnTo>
                <a:lnTo>
                  <a:pt x="5715000" y="0"/>
                </a:lnTo>
                <a:lnTo>
                  <a:pt x="1428750" y="0"/>
                </a:lnTo>
                <a:close/>
              </a:path>
            </a:pathLst>
          </a:custGeom>
          <a:solidFill>
            <a:srgbClr val="EFF6FF"/>
          </a:solidFill>
          <a:ln w="23813">
            <a:solidFill>
              <a:srgbClr val="1D4ED8"/>
            </a:solidFill>
          </a:ln>
        </p:spPr>
      </p:sp>
      <p:sp>
        <p:nvSpPr>
          <p:cNvPr id="17" name="object-17">
            <a:extLst>
              <a:ext uri="{FF2B5EF4-FFF2-40B4-BE49-F238E27FC236}">
                <a16:creationId xmlns:a16="http://schemas.microsoft.com/office/drawing/2014/main" id="{185F6B66-FACB-47EE-ACF7-40713EC16950}"/>
              </a:ext>
            </a:extLst>
          </p:cNvPr>
          <p:cNvSpPr>
            <a:spLocks noGrp="1"/>
          </p:cNvSpPr>
          <p:nvPr/>
        </p:nvSpPr>
        <p:spPr>
          <a:xfrm>
            <a:off x="2083594" y="6215063"/>
            <a:ext cx="2857500" cy="654844"/>
          </a:xfrm>
          <a:prstGeom prst="rect">
            <a:avLst/>
          </a:prstGeom>
          <a:noFill/>
          <a:ln w="0">
            <a:noFill/>
          </a:ln>
        </p:spPr>
        <p:txBody>
          <a:bodyPr anchor="ctr">
            <a:noAutofit/>
          </a:bodyPr>
          <a:lstStyle/>
          <a:p>
            <a:pPr algn="l">
              <a:defRPr sz="2719" b="1">
                <a:solidFill>
                  <a:srgbClr val="1D4ED8"/>
                </a:solidFill>
                <a:latin typeface="Arial"/>
                <a:ea typeface="Arial"/>
                <a:cs typeface="Arial"/>
              </a:defRPr>
            </a:pPr>
            <a:r>
              <a:rPr sz="2719" b="1">
                <a:solidFill>
                  <a:srgbClr val="1D4ED8"/>
                </a:solidFill>
                <a:latin typeface="Arial"/>
                <a:ea typeface="Arial"/>
                <a:cs typeface="Arial"/>
              </a:rPr>
              <a:t>40 cm</a:t>
            </a:r>
          </a:p>
        </p:txBody>
      </p:sp>
      <p:sp>
        <p:nvSpPr>
          <p:cNvPr id="18" name="object-18">
            <a:extLst>
              <a:ext uri="{FF2B5EF4-FFF2-40B4-BE49-F238E27FC236}">
                <a16:creationId xmlns:a16="http://schemas.microsoft.com/office/drawing/2014/main" id="{DF388FA1-85CD-416F-99A0-0174A3DDB44E}"/>
              </a:ext>
            </a:extLst>
          </p:cNvPr>
          <p:cNvSpPr>
            <a:spLocks noGrp="1"/>
          </p:cNvSpPr>
          <p:nvPr/>
        </p:nvSpPr>
        <p:spPr>
          <a:xfrm>
            <a:off x="6191250" y="5655469"/>
            <a:ext cx="2143125" cy="654844"/>
          </a:xfrm>
          <a:prstGeom prst="rect">
            <a:avLst/>
          </a:prstGeom>
          <a:noFill/>
          <a:ln w="0">
            <a:noFill/>
          </a:ln>
        </p:spPr>
        <p:txBody>
          <a:bodyPr anchor="ctr">
            <a:noAutofit/>
          </a:bodyPr>
          <a:lstStyle/>
          <a:p>
            <a:pPr algn="l">
              <a:defRPr sz="2719" b="1">
                <a:solidFill>
                  <a:srgbClr val="1D4ED8"/>
                </a:solidFill>
                <a:latin typeface="Arial"/>
                <a:ea typeface="Arial"/>
                <a:cs typeface="Arial"/>
              </a:defRPr>
            </a:pPr>
            <a:r>
              <a:rPr sz="2719" b="1">
                <a:solidFill>
                  <a:srgbClr val="1D4ED8"/>
                </a:solidFill>
                <a:latin typeface="Arial"/>
                <a:ea typeface="Arial"/>
                <a:cs typeface="Arial"/>
              </a:rPr>
              <a:t>25 cm</a:t>
            </a:r>
          </a:p>
        </p:txBody>
      </p:sp>
      <p:sp>
        <p:nvSpPr>
          <p:cNvPr id="19" name="object-19">
            <a:extLst>
              <a:ext uri="{FF2B5EF4-FFF2-40B4-BE49-F238E27FC236}">
                <a16:creationId xmlns:a16="http://schemas.microsoft.com/office/drawing/2014/main" id="{1E77CF5E-F434-421D-8088-B8E026E6F0D7}"/>
              </a:ext>
            </a:extLst>
          </p:cNvPr>
          <p:cNvSpPr>
            <a:spLocks noGrp="1"/>
          </p:cNvSpPr>
          <p:nvPr/>
        </p:nvSpPr>
        <p:spPr>
          <a:xfrm>
            <a:off x="8870156" y="3250406"/>
            <a:ext cx="5476875" cy="1428750"/>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40 × 25 = 1000 cm² per layer</a:t>
            </a:r>
          </a:p>
        </p:txBody>
      </p:sp>
      <p:sp>
        <p:nvSpPr>
          <p:cNvPr id="20" name="object-20">
            <a:extLst>
              <a:ext uri="{FF2B5EF4-FFF2-40B4-BE49-F238E27FC236}">
                <a16:creationId xmlns:a16="http://schemas.microsoft.com/office/drawing/2014/main" id="{D8E5EBCD-E6BF-4AC5-BD98-30A2C238A08C}"/>
              </a:ext>
            </a:extLst>
          </p:cNvPr>
          <p:cNvSpPr>
            <a:spLocks noGrp="1"/>
          </p:cNvSpPr>
          <p:nvPr/>
        </p:nvSpPr>
        <p:spPr>
          <a:xfrm>
            <a:off x="8870156" y="5179219"/>
            <a:ext cx="5476875" cy="1309688"/>
          </a:xfrm>
          <a:prstGeom prst="rect">
            <a:avLst/>
          </a:prstGeom>
          <a:noFill/>
          <a:ln w="0">
            <a:noFill/>
          </a:ln>
        </p:spPr>
        <p:txBody>
          <a:bodyPr anchor="ctr">
            <a:noAutofit/>
          </a:bodyPr>
          <a:lstStyle/>
          <a:p>
            <a:pPr algn="l">
              <a:defRPr sz="3188" b="1">
                <a:solidFill>
                  <a:srgbClr val="11745A"/>
                </a:solidFill>
                <a:latin typeface="Arial"/>
                <a:ea typeface="Arial"/>
                <a:cs typeface="Arial"/>
              </a:defRPr>
            </a:pPr>
            <a:r>
              <a:rPr sz="3188" b="1">
                <a:solidFill>
                  <a:srgbClr val="11745A"/>
                </a:solidFill>
                <a:latin typeface="Arial"/>
                <a:ea typeface="Arial"/>
                <a:cs typeface="Arial"/>
              </a:rPr>
              <a:t>1000 × 33 = 33000 cm³</a:t>
            </a:r>
          </a:p>
        </p:txBody>
      </p:sp>
      <p:sp>
        <p:nvSpPr>
          <p:cNvPr id="21" name="object-21">
            <a:extLst>
              <a:ext uri="{FF2B5EF4-FFF2-40B4-BE49-F238E27FC236}">
                <a16:creationId xmlns:a16="http://schemas.microsoft.com/office/drawing/2014/main" id="{3DA8C24A-CCFC-462E-BB77-CACE444CC81D}"/>
              </a:ext>
            </a:extLst>
          </p:cNvPr>
          <p:cNvSpPr>
            <a:spLocks noGrp="1"/>
          </p:cNvSpPr>
          <p:nvPr/>
        </p:nvSpPr>
        <p:spPr>
          <a:xfrm>
            <a:off x="892969" y="6965156"/>
            <a:ext cx="13454063" cy="738188"/>
          </a:xfrm>
          <a:prstGeom prst="rect">
            <a:avLst/>
          </a:prstGeom>
          <a:noFill/>
          <a:ln w="0">
            <a:noFill/>
          </a:ln>
        </p:spPr>
        <p:txBody>
          <a:bodyPr anchor="ctr">
            <a:noAutofit/>
          </a:bodyPr>
          <a:lstStyle/>
          <a:p>
            <a:pPr algn="ctr">
              <a:defRPr sz="2813" b="1">
                <a:solidFill>
                  <a:srgbClr val="11745A"/>
                </a:solidFill>
                <a:latin typeface="Arial"/>
                <a:ea typeface="Arial"/>
                <a:cs typeface="Arial"/>
              </a:defRPr>
            </a:pPr>
            <a:r>
              <a:rPr sz="2813" b="1">
                <a:solidFill>
                  <a:srgbClr val="11745A"/>
                </a:solidFill>
                <a:latin typeface="Arial"/>
                <a:ea typeface="Arial"/>
                <a:cs typeface="Arial"/>
              </a:rPr>
              <a:t>33000 ÷ 125 = 264 cubes</a:t>
            </a:r>
          </a:p>
        </p:txBody>
      </p:sp>
    </p:spTree>
    <p:extLst>
      <p:ext uri="{BB962C8B-B14F-4D97-AF65-F5344CB8AC3E}">
        <p14:creationId xmlns:p14="http://schemas.microsoft.com/office/powerpoint/2010/main" val="8698359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P spid="21"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 name="object-1">
            <a:extLst>
              <a:ext uri="{FF2B5EF4-FFF2-40B4-BE49-F238E27FC236}">
                <a16:creationId xmlns:a16="http://schemas.microsoft.com/office/drawing/2014/main" id="{24AF7A89-0B09-4433-B0E7-E73A5F7EDF49}"/>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You do</a:t>
            </a:r>
          </a:p>
        </p:txBody>
      </p:sp>
      <p:sp>
        <p:nvSpPr>
          <p:cNvPr id="2" name="object-2">
            <a:extLst>
              <a:ext uri="{FF2B5EF4-FFF2-40B4-BE49-F238E27FC236}">
                <a16:creationId xmlns:a16="http://schemas.microsoft.com/office/drawing/2014/main" id="{7AE4559B-37F2-4475-9660-205F8E5FB017}"/>
              </a:ext>
            </a:extLst>
          </p:cNvPr>
          <p:cNvSpPr>
            <a:spLocks noGrp="1"/>
          </p:cNvSpPr>
          <p:nvPr/>
        </p:nvSpPr>
        <p:spPr>
          <a:xfrm>
            <a:off x="11430000" y="476250"/>
            <a:ext cx="3155156" cy="547688"/>
          </a:xfrm>
          <a:prstGeom prst="rect">
            <a:avLst/>
          </a:prstGeom>
          <a:noFill/>
          <a:ln w="0">
            <a:noFill/>
          </a:ln>
        </p:spPr>
        <p:txBody>
          <a:bodyPr anchor="ctr">
            <a:noAutofit/>
          </a:bodyPr>
          <a:lstStyle/>
          <a:p>
            <a:pPr algn="r">
              <a:defRPr sz="2625" b="0">
                <a:solidFill>
                  <a:srgbClr val="52647A"/>
                </a:solidFill>
                <a:latin typeface="Arial"/>
                <a:ea typeface="Arial"/>
                <a:cs typeface="Arial"/>
              </a:defRPr>
            </a:pPr>
            <a:r>
              <a:rPr sz="2625" b="0">
                <a:solidFill>
                  <a:srgbClr val="52647A"/>
                </a:solidFill>
                <a:latin typeface="Arial"/>
                <a:ea typeface="Arial"/>
                <a:cs typeface="Arial"/>
              </a:rPr>
              <a:t>You try.</a:t>
            </a:r>
          </a:p>
        </p:txBody>
      </p:sp>
      <p:sp>
        <p:nvSpPr>
          <p:cNvPr id="3" name="object-3">
            <a:extLst>
              <a:ext uri="{FF2B5EF4-FFF2-40B4-BE49-F238E27FC236}">
                <a16:creationId xmlns:a16="http://schemas.microsoft.com/office/drawing/2014/main" id="{7772B6CD-B053-4997-A3E6-6FD83FF3C134}"/>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Try these questions.</a:t>
            </a:r>
          </a:p>
        </p:txBody>
      </p:sp>
      <p:sp>
        <p:nvSpPr>
          <p:cNvPr id="4" name="object-4">
            <a:extLst>
              <a:ext uri="{FF2B5EF4-FFF2-40B4-BE49-F238E27FC236}">
                <a16:creationId xmlns:a16="http://schemas.microsoft.com/office/drawing/2014/main" id="{41E87A11-4268-41D8-AF3B-4F4402B7273A}"/>
              </a:ext>
            </a:extLst>
          </p:cNvPr>
          <p:cNvSpPr>
            <a:spLocks noGrp="1"/>
          </p:cNvSpPr>
          <p:nvPr/>
        </p:nvSpPr>
        <p:spPr>
          <a:xfrm>
            <a:off x="654844" y="8012906"/>
            <a:ext cx="13930313" cy="11906"/>
          </a:xfrm>
          <a:prstGeom prst="rect">
            <a:avLst/>
          </a:prstGeom>
          <a:solidFill>
            <a:srgbClr val="BCD0EA"/>
          </a:solidFill>
          <a:ln w="0">
            <a:noFill/>
          </a:ln>
        </p:spPr>
      </p:sp>
      <p:sp>
        <p:nvSpPr>
          <p:cNvPr id="5" name="object-5">
            <a:extLst>
              <a:ext uri="{FF2B5EF4-FFF2-40B4-BE49-F238E27FC236}">
                <a16:creationId xmlns:a16="http://schemas.microsoft.com/office/drawing/2014/main" id="{B35000CF-D778-4EC8-A02F-C52A96B4F79C}"/>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Solve volume problems</a:t>
            </a:r>
          </a:p>
        </p:txBody>
      </p:sp>
      <p:sp>
        <p:nvSpPr>
          <p:cNvPr id="6" name="object-6">
            <a:extLst>
              <a:ext uri="{FF2B5EF4-FFF2-40B4-BE49-F238E27FC236}">
                <a16:creationId xmlns:a16="http://schemas.microsoft.com/office/drawing/2014/main" id="{0A4111FF-464C-447A-A90D-EC3BEB9F37CF}"/>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6</a:t>
            </a:r>
          </a:p>
        </p:txBody>
      </p:sp>
      <p:sp>
        <p:nvSpPr>
          <p:cNvPr id="7" name="object-7">
            <a:extLst>
              <a:ext uri="{FF2B5EF4-FFF2-40B4-BE49-F238E27FC236}">
                <a16:creationId xmlns:a16="http://schemas.microsoft.com/office/drawing/2014/main" id="{13049B30-FFC9-401C-A63D-028A288810C7}"/>
              </a:ext>
            </a:extLst>
          </p:cNvPr>
          <p:cNvSpPr>
            <a:spLocks noGrp="1"/>
          </p:cNvSpPr>
          <p:nvPr/>
        </p:nvSpPr>
        <p:spPr>
          <a:xfrm>
            <a:off x="773906"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a:t>
            </a:r>
          </a:p>
        </p:txBody>
      </p:sp>
      <p:sp>
        <p:nvSpPr>
          <p:cNvPr id="8" name="object-8">
            <a:extLst>
              <a:ext uri="{FF2B5EF4-FFF2-40B4-BE49-F238E27FC236}">
                <a16:creationId xmlns:a16="http://schemas.microsoft.com/office/drawing/2014/main" id="{BE97D293-7D74-4917-9478-ADFA058A9E60}"/>
              </a:ext>
            </a:extLst>
          </p:cNvPr>
          <p:cNvSpPr>
            <a:spLocks noGrp="1"/>
          </p:cNvSpPr>
          <p:nvPr/>
        </p:nvSpPr>
        <p:spPr>
          <a:xfrm>
            <a:off x="1464469" y="25122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A box is 40 cm by 25 cm by 30 cm. How many 5 cm cubes fit exactly by volume?</a:t>
            </a:r>
          </a:p>
        </p:txBody>
      </p:sp>
      <p:sp>
        <p:nvSpPr>
          <p:cNvPr id="9" name="object-9">
            <a:extLst>
              <a:ext uri="{FF2B5EF4-FFF2-40B4-BE49-F238E27FC236}">
                <a16:creationId xmlns:a16="http://schemas.microsoft.com/office/drawing/2014/main" id="{5140041F-F626-4BD7-801A-E991F3BCA9D1}"/>
              </a:ext>
            </a:extLst>
          </p:cNvPr>
          <p:cNvSpPr>
            <a:spLocks noGrp="1"/>
          </p:cNvSpPr>
          <p:nvPr/>
        </p:nvSpPr>
        <p:spPr>
          <a:xfrm>
            <a:off x="773906"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2.</a:t>
            </a:r>
          </a:p>
        </p:txBody>
      </p:sp>
      <p:sp>
        <p:nvSpPr>
          <p:cNvPr id="10" name="object-10">
            <a:extLst>
              <a:ext uri="{FF2B5EF4-FFF2-40B4-BE49-F238E27FC236}">
                <a16:creationId xmlns:a16="http://schemas.microsoft.com/office/drawing/2014/main" id="{ACA69771-0AE7-45DA-B9B7-A43A9BC2982C}"/>
              </a:ext>
            </a:extLst>
          </p:cNvPr>
          <p:cNvSpPr>
            <a:spLocks noGrp="1"/>
          </p:cNvSpPr>
          <p:nvPr/>
        </p:nvSpPr>
        <p:spPr>
          <a:xfrm>
            <a:off x="1464469" y="355996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A solid has 5 layers of 24 unit cubes. What is its volume?</a:t>
            </a:r>
          </a:p>
        </p:txBody>
      </p:sp>
      <p:sp>
        <p:nvSpPr>
          <p:cNvPr id="11" name="object-11">
            <a:extLst>
              <a:ext uri="{FF2B5EF4-FFF2-40B4-BE49-F238E27FC236}">
                <a16:creationId xmlns:a16="http://schemas.microsoft.com/office/drawing/2014/main" id="{A323A976-69BB-4902-B720-FA28F69B568A}"/>
              </a:ext>
            </a:extLst>
          </p:cNvPr>
          <p:cNvSpPr>
            <a:spLocks noGrp="1"/>
          </p:cNvSpPr>
          <p:nvPr/>
        </p:nvSpPr>
        <p:spPr>
          <a:xfrm>
            <a:off x="773906"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3.</a:t>
            </a:r>
          </a:p>
        </p:txBody>
      </p:sp>
      <p:sp>
        <p:nvSpPr>
          <p:cNvPr id="12" name="object-12">
            <a:extLst>
              <a:ext uri="{FF2B5EF4-FFF2-40B4-BE49-F238E27FC236}">
                <a16:creationId xmlns:a16="http://schemas.microsoft.com/office/drawing/2014/main" id="{1B1B0F07-E714-4485-8CD9-B6D1B32D9229}"/>
              </a:ext>
            </a:extLst>
          </p:cNvPr>
          <p:cNvSpPr>
            <a:spLocks noGrp="1"/>
          </p:cNvSpPr>
          <p:nvPr/>
        </p:nvSpPr>
        <p:spPr>
          <a:xfrm>
            <a:off x="1464469" y="46077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Find the volume of a cuboid 12 cm by 7 cm by 5 cm.</a:t>
            </a:r>
          </a:p>
        </p:txBody>
      </p:sp>
      <p:sp>
        <p:nvSpPr>
          <p:cNvPr id="13" name="object-13">
            <a:extLst>
              <a:ext uri="{FF2B5EF4-FFF2-40B4-BE49-F238E27FC236}">
                <a16:creationId xmlns:a16="http://schemas.microsoft.com/office/drawing/2014/main" id="{C5DFD48C-59E6-49A5-B365-0E17BDF9DC7E}"/>
              </a:ext>
            </a:extLst>
          </p:cNvPr>
          <p:cNvSpPr>
            <a:spLocks noGrp="1"/>
          </p:cNvSpPr>
          <p:nvPr/>
        </p:nvSpPr>
        <p:spPr>
          <a:xfrm>
            <a:off x="773906"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4.</a:t>
            </a:r>
          </a:p>
        </p:txBody>
      </p:sp>
      <p:sp>
        <p:nvSpPr>
          <p:cNvPr id="14" name="object-14">
            <a:extLst>
              <a:ext uri="{FF2B5EF4-FFF2-40B4-BE49-F238E27FC236}">
                <a16:creationId xmlns:a16="http://schemas.microsoft.com/office/drawing/2014/main" id="{4F127577-560F-42C8-A786-0B9A41AA6D52}"/>
              </a:ext>
            </a:extLst>
          </p:cNvPr>
          <p:cNvSpPr>
            <a:spLocks noGrp="1"/>
          </p:cNvSpPr>
          <p:nvPr/>
        </p:nvSpPr>
        <p:spPr>
          <a:xfrm>
            <a:off x="1464469" y="565546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Solve this independently and show every stage: A box is 40 cm by 25 cm by 30 cm. How many 5 cm cubes fit exactly by volume?</a:t>
            </a:r>
          </a:p>
        </p:txBody>
      </p:sp>
      <p:sp>
        <p:nvSpPr>
          <p:cNvPr id="15" name="object-15">
            <a:extLst>
              <a:ext uri="{FF2B5EF4-FFF2-40B4-BE49-F238E27FC236}">
                <a16:creationId xmlns:a16="http://schemas.microsoft.com/office/drawing/2014/main" id="{B236B4B3-EB62-40F2-8401-124B873CDEA3}"/>
              </a:ext>
            </a:extLst>
          </p:cNvPr>
          <p:cNvSpPr>
            <a:spLocks noGrp="1"/>
          </p:cNvSpPr>
          <p:nvPr/>
        </p:nvSpPr>
        <p:spPr>
          <a:xfrm>
            <a:off x="773906"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5.</a:t>
            </a:r>
          </a:p>
        </p:txBody>
      </p:sp>
      <p:sp>
        <p:nvSpPr>
          <p:cNvPr id="16" name="object-16">
            <a:extLst>
              <a:ext uri="{FF2B5EF4-FFF2-40B4-BE49-F238E27FC236}">
                <a16:creationId xmlns:a16="http://schemas.microsoft.com/office/drawing/2014/main" id="{A3836AAE-9D8A-46CA-B598-70B26242A590}"/>
              </a:ext>
            </a:extLst>
          </p:cNvPr>
          <p:cNvSpPr>
            <a:spLocks noGrp="1"/>
          </p:cNvSpPr>
          <p:nvPr/>
        </p:nvSpPr>
        <p:spPr>
          <a:xfrm>
            <a:off x="1464469" y="67032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Use a second method or representation for: A solid has 5 layers of 24 unit cubes. What is its volume?</a:t>
            </a:r>
          </a:p>
        </p:txBody>
      </p:sp>
      <p:sp>
        <p:nvSpPr>
          <p:cNvPr id="17" name="object-17">
            <a:extLst>
              <a:ext uri="{FF2B5EF4-FFF2-40B4-BE49-F238E27FC236}">
                <a16:creationId xmlns:a16="http://schemas.microsoft.com/office/drawing/2014/main" id="{9130FD92-1889-4B06-89E8-F91D5D32E11E}"/>
              </a:ext>
            </a:extLst>
          </p:cNvPr>
          <p:cNvSpPr>
            <a:spLocks noGrp="1"/>
          </p:cNvSpPr>
          <p:nvPr/>
        </p:nvSpPr>
        <p:spPr>
          <a:xfrm>
            <a:off x="8215313"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6.</a:t>
            </a:r>
          </a:p>
        </p:txBody>
      </p:sp>
      <p:sp>
        <p:nvSpPr>
          <p:cNvPr id="18" name="object-18">
            <a:extLst>
              <a:ext uri="{FF2B5EF4-FFF2-40B4-BE49-F238E27FC236}">
                <a16:creationId xmlns:a16="http://schemas.microsoft.com/office/drawing/2014/main" id="{5906B9F2-E213-4FD3-A661-1B015253871F}"/>
              </a:ext>
            </a:extLst>
          </p:cNvPr>
          <p:cNvSpPr>
            <a:spLocks noGrp="1"/>
          </p:cNvSpPr>
          <p:nvPr/>
        </p:nvSpPr>
        <p:spPr>
          <a:xfrm>
            <a:off x="8905875" y="25122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Check this result using an inverse, estimate or known fact: Find the volume of a cuboid 12 cm by 7 cm by 5 cm.</a:t>
            </a:r>
          </a:p>
        </p:txBody>
      </p:sp>
      <p:sp>
        <p:nvSpPr>
          <p:cNvPr id="19" name="object-19">
            <a:extLst>
              <a:ext uri="{FF2B5EF4-FFF2-40B4-BE49-F238E27FC236}">
                <a16:creationId xmlns:a16="http://schemas.microsoft.com/office/drawing/2014/main" id="{87DD2D80-92F4-44FF-9094-ACA8901A7AB4}"/>
              </a:ext>
            </a:extLst>
          </p:cNvPr>
          <p:cNvSpPr>
            <a:spLocks noGrp="1"/>
          </p:cNvSpPr>
          <p:nvPr/>
        </p:nvSpPr>
        <p:spPr>
          <a:xfrm>
            <a:off x="8215313"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7.</a:t>
            </a:r>
          </a:p>
        </p:txBody>
      </p:sp>
      <p:sp>
        <p:nvSpPr>
          <p:cNvPr id="20" name="object-20">
            <a:extLst>
              <a:ext uri="{FF2B5EF4-FFF2-40B4-BE49-F238E27FC236}">
                <a16:creationId xmlns:a16="http://schemas.microsoft.com/office/drawing/2014/main" id="{B81009AA-8864-4944-A87F-33CA404D055A}"/>
              </a:ext>
            </a:extLst>
          </p:cNvPr>
          <p:cNvSpPr>
            <a:spLocks noGrp="1"/>
          </p:cNvSpPr>
          <p:nvPr/>
        </p:nvSpPr>
        <p:spPr>
          <a:xfrm>
            <a:off x="8905875" y="355996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Prove or explain your reasoning: A cuboid has volume 360 cm3, length 12 cm and width 5 cm. Find its height.</a:t>
            </a:r>
          </a:p>
        </p:txBody>
      </p:sp>
      <p:sp>
        <p:nvSpPr>
          <p:cNvPr id="21" name="object-21">
            <a:extLst>
              <a:ext uri="{FF2B5EF4-FFF2-40B4-BE49-F238E27FC236}">
                <a16:creationId xmlns:a16="http://schemas.microsoft.com/office/drawing/2014/main" id="{54FC653E-455E-4514-A8A6-FAA3CF033CDA}"/>
              </a:ext>
            </a:extLst>
          </p:cNvPr>
          <p:cNvSpPr>
            <a:spLocks noGrp="1"/>
          </p:cNvSpPr>
          <p:nvPr/>
        </p:nvSpPr>
        <p:spPr>
          <a:xfrm>
            <a:off x="8215313"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8.</a:t>
            </a:r>
          </a:p>
        </p:txBody>
      </p:sp>
      <p:sp>
        <p:nvSpPr>
          <p:cNvPr id="22" name="object-22">
            <a:extLst>
              <a:ext uri="{FF2B5EF4-FFF2-40B4-BE49-F238E27FC236}">
                <a16:creationId xmlns:a16="http://schemas.microsoft.com/office/drawing/2014/main" id="{2C8FCD73-AF97-4ECF-8F67-91C19D98BB85}"/>
              </a:ext>
            </a:extLst>
          </p:cNvPr>
          <p:cNvSpPr>
            <a:spLocks noGrp="1"/>
          </p:cNvSpPr>
          <p:nvPr/>
        </p:nvSpPr>
        <p:spPr>
          <a:xfrm>
            <a:off x="8905875" y="46077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Identify and correct this misconception: Miro calculates the surface area or adds the three dimensions.</a:t>
            </a:r>
          </a:p>
        </p:txBody>
      </p:sp>
      <p:sp>
        <p:nvSpPr>
          <p:cNvPr id="23" name="object-23">
            <a:extLst>
              <a:ext uri="{FF2B5EF4-FFF2-40B4-BE49-F238E27FC236}">
                <a16:creationId xmlns:a16="http://schemas.microsoft.com/office/drawing/2014/main" id="{25910BD0-BF82-4648-A5B3-3141DEDA46A4}"/>
              </a:ext>
            </a:extLst>
          </p:cNvPr>
          <p:cNvSpPr>
            <a:spLocks noGrp="1"/>
          </p:cNvSpPr>
          <p:nvPr/>
        </p:nvSpPr>
        <p:spPr>
          <a:xfrm>
            <a:off x="8215313"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9.</a:t>
            </a:r>
          </a:p>
        </p:txBody>
      </p:sp>
      <p:sp>
        <p:nvSpPr>
          <p:cNvPr id="24" name="object-24">
            <a:extLst>
              <a:ext uri="{FF2B5EF4-FFF2-40B4-BE49-F238E27FC236}">
                <a16:creationId xmlns:a16="http://schemas.microsoft.com/office/drawing/2014/main" id="{C3769D83-DF65-456C-BD8F-FC7DBE6FC77D}"/>
              </a:ext>
            </a:extLst>
          </p:cNvPr>
          <p:cNvSpPr>
            <a:spLocks noGrp="1"/>
          </p:cNvSpPr>
          <p:nvPr/>
        </p:nvSpPr>
        <p:spPr>
          <a:xfrm>
            <a:off x="8905875" y="565546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Write a complete sentence explaining how you checked one answer.</a:t>
            </a:r>
          </a:p>
        </p:txBody>
      </p:sp>
      <p:sp>
        <p:nvSpPr>
          <p:cNvPr id="25" name="object-25">
            <a:extLst>
              <a:ext uri="{FF2B5EF4-FFF2-40B4-BE49-F238E27FC236}">
                <a16:creationId xmlns:a16="http://schemas.microsoft.com/office/drawing/2014/main" id="{9013D40B-8A5A-41EB-B1B8-BE4316B6FF3B}"/>
              </a:ext>
            </a:extLst>
          </p:cNvPr>
          <p:cNvSpPr>
            <a:spLocks noGrp="1"/>
          </p:cNvSpPr>
          <p:nvPr/>
        </p:nvSpPr>
        <p:spPr>
          <a:xfrm>
            <a:off x="8215313"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10.</a:t>
            </a:r>
          </a:p>
        </p:txBody>
      </p:sp>
      <p:sp>
        <p:nvSpPr>
          <p:cNvPr id="26" name="object-26">
            <a:extLst>
              <a:ext uri="{FF2B5EF4-FFF2-40B4-BE49-F238E27FC236}">
                <a16:creationId xmlns:a16="http://schemas.microsoft.com/office/drawing/2014/main" id="{BE05BBB7-31B0-44B9-AA24-510E8F45F1DF}"/>
              </a:ext>
            </a:extLst>
          </p:cNvPr>
          <p:cNvSpPr>
            <a:spLocks noGrp="1"/>
          </p:cNvSpPr>
          <p:nvPr/>
        </p:nvSpPr>
        <p:spPr>
          <a:xfrm>
            <a:off x="8905875" y="67032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Write and solve a similar question to: Find the volume of a cuboid 12 cm by 7 cm by 5 cm.</a:t>
            </a:r>
          </a:p>
        </p:txBody>
      </p:sp>
    </p:spTree>
    <p:extLst>
      <p:ext uri="{BB962C8B-B14F-4D97-AF65-F5344CB8AC3E}">
        <p14:creationId xmlns:p14="http://schemas.microsoft.com/office/powerpoint/2010/main" val="21070130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object-1">
            <a:extLst>
              <a:ext uri="{FF2B5EF4-FFF2-40B4-BE49-F238E27FC236}">
                <a16:creationId xmlns:a16="http://schemas.microsoft.com/office/drawing/2014/main" id="{2476257B-979B-49CB-8FA6-4644AC96C504}"/>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Answers</a:t>
            </a:r>
          </a:p>
        </p:txBody>
      </p:sp>
      <p:sp>
        <p:nvSpPr>
          <p:cNvPr id="2" name="object-2">
            <a:extLst>
              <a:ext uri="{FF2B5EF4-FFF2-40B4-BE49-F238E27FC236}">
                <a16:creationId xmlns:a16="http://schemas.microsoft.com/office/drawing/2014/main" id="{F81B14AC-6825-4264-A554-44EB7429C4E5}"/>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Check your answers. Explain any corrections.</a:t>
            </a:r>
          </a:p>
        </p:txBody>
      </p:sp>
      <p:sp>
        <p:nvSpPr>
          <p:cNvPr id="3" name="object-3">
            <a:extLst>
              <a:ext uri="{FF2B5EF4-FFF2-40B4-BE49-F238E27FC236}">
                <a16:creationId xmlns:a16="http://schemas.microsoft.com/office/drawing/2014/main" id="{78227C20-E924-4A42-906F-A4AD1DF29A1C}"/>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E4E7BDB1-6A64-4D51-8BD4-F1197509EB00}"/>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Solve volume problems</a:t>
            </a:r>
          </a:p>
        </p:txBody>
      </p:sp>
      <p:sp>
        <p:nvSpPr>
          <p:cNvPr id="5" name="object-5">
            <a:extLst>
              <a:ext uri="{FF2B5EF4-FFF2-40B4-BE49-F238E27FC236}">
                <a16:creationId xmlns:a16="http://schemas.microsoft.com/office/drawing/2014/main" id="{6B58A970-8BB3-4D97-95E8-4A139458C1CF}"/>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7</a:t>
            </a:r>
          </a:p>
        </p:txBody>
      </p:sp>
      <p:sp>
        <p:nvSpPr>
          <p:cNvPr id="6" name="object-6">
            <a:extLst>
              <a:ext uri="{FF2B5EF4-FFF2-40B4-BE49-F238E27FC236}">
                <a16:creationId xmlns:a16="http://schemas.microsoft.com/office/drawing/2014/main" id="{FE0D2474-2452-49D6-953A-D5AE5E69243E}"/>
              </a:ext>
            </a:extLst>
          </p:cNvPr>
          <p:cNvSpPr>
            <a:spLocks noGrp="1"/>
          </p:cNvSpPr>
          <p:nvPr/>
        </p:nvSpPr>
        <p:spPr>
          <a:xfrm>
            <a:off x="773906"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a:t>
            </a:r>
          </a:p>
        </p:txBody>
      </p:sp>
      <p:sp>
        <p:nvSpPr>
          <p:cNvPr id="7" name="object-7">
            <a:extLst>
              <a:ext uri="{FF2B5EF4-FFF2-40B4-BE49-F238E27FC236}">
                <a16:creationId xmlns:a16="http://schemas.microsoft.com/office/drawing/2014/main" id="{00869A18-CD28-405D-B33E-81762CBDD528}"/>
              </a:ext>
            </a:extLst>
          </p:cNvPr>
          <p:cNvSpPr>
            <a:spLocks noGrp="1"/>
          </p:cNvSpPr>
          <p:nvPr/>
        </p:nvSpPr>
        <p:spPr>
          <a:xfrm>
            <a:off x="1464469" y="25122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240 cubes.</a:t>
            </a:r>
          </a:p>
        </p:txBody>
      </p:sp>
      <p:sp>
        <p:nvSpPr>
          <p:cNvPr id="8" name="object-8">
            <a:extLst>
              <a:ext uri="{FF2B5EF4-FFF2-40B4-BE49-F238E27FC236}">
                <a16:creationId xmlns:a16="http://schemas.microsoft.com/office/drawing/2014/main" id="{E5651298-1C30-4EBE-975E-666418AE4A86}"/>
              </a:ext>
            </a:extLst>
          </p:cNvPr>
          <p:cNvSpPr>
            <a:spLocks noGrp="1"/>
          </p:cNvSpPr>
          <p:nvPr/>
        </p:nvSpPr>
        <p:spPr>
          <a:xfrm>
            <a:off x="773906"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2.</a:t>
            </a:r>
          </a:p>
        </p:txBody>
      </p:sp>
      <p:sp>
        <p:nvSpPr>
          <p:cNvPr id="9" name="object-9">
            <a:extLst>
              <a:ext uri="{FF2B5EF4-FFF2-40B4-BE49-F238E27FC236}">
                <a16:creationId xmlns:a16="http://schemas.microsoft.com/office/drawing/2014/main" id="{F9C5D4A5-A4F9-400C-930A-2843A16327F2}"/>
              </a:ext>
            </a:extLst>
          </p:cNvPr>
          <p:cNvSpPr>
            <a:spLocks noGrp="1"/>
          </p:cNvSpPr>
          <p:nvPr/>
        </p:nvSpPr>
        <p:spPr>
          <a:xfrm>
            <a:off x="1464469" y="355996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120 cubic units.</a:t>
            </a:r>
          </a:p>
        </p:txBody>
      </p:sp>
      <p:sp>
        <p:nvSpPr>
          <p:cNvPr id="10" name="object-10">
            <a:extLst>
              <a:ext uri="{FF2B5EF4-FFF2-40B4-BE49-F238E27FC236}">
                <a16:creationId xmlns:a16="http://schemas.microsoft.com/office/drawing/2014/main" id="{6161C22B-04E0-44A3-91DA-0C8A46C34968}"/>
              </a:ext>
            </a:extLst>
          </p:cNvPr>
          <p:cNvSpPr>
            <a:spLocks noGrp="1"/>
          </p:cNvSpPr>
          <p:nvPr/>
        </p:nvSpPr>
        <p:spPr>
          <a:xfrm>
            <a:off x="773906"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3.</a:t>
            </a:r>
          </a:p>
        </p:txBody>
      </p:sp>
      <p:sp>
        <p:nvSpPr>
          <p:cNvPr id="11" name="object-11">
            <a:extLst>
              <a:ext uri="{FF2B5EF4-FFF2-40B4-BE49-F238E27FC236}">
                <a16:creationId xmlns:a16="http://schemas.microsoft.com/office/drawing/2014/main" id="{5EA65F98-D1DF-48BB-A5D9-DA9855EB993F}"/>
              </a:ext>
            </a:extLst>
          </p:cNvPr>
          <p:cNvSpPr>
            <a:spLocks noGrp="1"/>
          </p:cNvSpPr>
          <p:nvPr/>
        </p:nvSpPr>
        <p:spPr>
          <a:xfrm>
            <a:off x="1464469" y="46077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420 cm3.</a:t>
            </a:r>
          </a:p>
        </p:txBody>
      </p:sp>
      <p:sp>
        <p:nvSpPr>
          <p:cNvPr id="12" name="object-12">
            <a:extLst>
              <a:ext uri="{FF2B5EF4-FFF2-40B4-BE49-F238E27FC236}">
                <a16:creationId xmlns:a16="http://schemas.microsoft.com/office/drawing/2014/main" id="{62D93CB0-E383-4FAE-B25D-4FDE8525399C}"/>
              </a:ext>
            </a:extLst>
          </p:cNvPr>
          <p:cNvSpPr>
            <a:spLocks noGrp="1"/>
          </p:cNvSpPr>
          <p:nvPr/>
        </p:nvSpPr>
        <p:spPr>
          <a:xfrm>
            <a:off x="773906"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4.</a:t>
            </a:r>
          </a:p>
        </p:txBody>
      </p:sp>
      <p:sp>
        <p:nvSpPr>
          <p:cNvPr id="13" name="object-13">
            <a:extLst>
              <a:ext uri="{FF2B5EF4-FFF2-40B4-BE49-F238E27FC236}">
                <a16:creationId xmlns:a16="http://schemas.microsoft.com/office/drawing/2014/main" id="{A2B3E47C-2E37-4B5B-B60F-A34D3BED90EF}"/>
              </a:ext>
            </a:extLst>
          </p:cNvPr>
          <p:cNvSpPr>
            <a:spLocks noGrp="1"/>
          </p:cNvSpPr>
          <p:nvPr/>
        </p:nvSpPr>
        <p:spPr>
          <a:xfrm>
            <a:off x="1464469" y="565546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240 cubes.</a:t>
            </a:r>
          </a:p>
        </p:txBody>
      </p:sp>
      <p:sp>
        <p:nvSpPr>
          <p:cNvPr id="14" name="object-14">
            <a:extLst>
              <a:ext uri="{FF2B5EF4-FFF2-40B4-BE49-F238E27FC236}">
                <a16:creationId xmlns:a16="http://schemas.microsoft.com/office/drawing/2014/main" id="{A98E55E8-E89F-411A-8146-679DE60D9F9B}"/>
              </a:ext>
            </a:extLst>
          </p:cNvPr>
          <p:cNvSpPr>
            <a:spLocks noGrp="1"/>
          </p:cNvSpPr>
          <p:nvPr/>
        </p:nvSpPr>
        <p:spPr>
          <a:xfrm>
            <a:off x="773906"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5.</a:t>
            </a:r>
          </a:p>
        </p:txBody>
      </p:sp>
      <p:sp>
        <p:nvSpPr>
          <p:cNvPr id="15" name="object-15">
            <a:extLst>
              <a:ext uri="{FF2B5EF4-FFF2-40B4-BE49-F238E27FC236}">
                <a16:creationId xmlns:a16="http://schemas.microsoft.com/office/drawing/2014/main" id="{1EFB3F35-2B63-4F7B-9B5D-E5DF30B53CEF}"/>
              </a:ext>
            </a:extLst>
          </p:cNvPr>
          <p:cNvSpPr>
            <a:spLocks noGrp="1"/>
          </p:cNvSpPr>
          <p:nvPr/>
        </p:nvSpPr>
        <p:spPr>
          <a:xfrm>
            <a:off x="1464469" y="67032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Expected result: 120 cubic units. Method or representation may vary.</a:t>
            </a:r>
          </a:p>
        </p:txBody>
      </p:sp>
      <p:sp>
        <p:nvSpPr>
          <p:cNvPr id="16" name="object-16">
            <a:extLst>
              <a:ext uri="{FF2B5EF4-FFF2-40B4-BE49-F238E27FC236}">
                <a16:creationId xmlns:a16="http://schemas.microsoft.com/office/drawing/2014/main" id="{0C93F43E-FE0C-4962-9EB2-1E8452A320FF}"/>
              </a:ext>
            </a:extLst>
          </p:cNvPr>
          <p:cNvSpPr>
            <a:spLocks noGrp="1"/>
          </p:cNvSpPr>
          <p:nvPr/>
        </p:nvSpPr>
        <p:spPr>
          <a:xfrm>
            <a:off x="8215313"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6.</a:t>
            </a:r>
          </a:p>
        </p:txBody>
      </p:sp>
      <p:sp>
        <p:nvSpPr>
          <p:cNvPr id="17" name="object-17">
            <a:extLst>
              <a:ext uri="{FF2B5EF4-FFF2-40B4-BE49-F238E27FC236}">
                <a16:creationId xmlns:a16="http://schemas.microsoft.com/office/drawing/2014/main" id="{3D521E1E-A733-433D-9796-A707F5B087EE}"/>
              </a:ext>
            </a:extLst>
          </p:cNvPr>
          <p:cNvSpPr>
            <a:spLocks noGrp="1"/>
          </p:cNvSpPr>
          <p:nvPr/>
        </p:nvSpPr>
        <p:spPr>
          <a:xfrm>
            <a:off x="8905875" y="25122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Expected result: 420 cm3. A valid check must be shown.</a:t>
            </a:r>
          </a:p>
        </p:txBody>
      </p:sp>
      <p:sp>
        <p:nvSpPr>
          <p:cNvPr id="18" name="object-18">
            <a:extLst>
              <a:ext uri="{FF2B5EF4-FFF2-40B4-BE49-F238E27FC236}">
                <a16:creationId xmlns:a16="http://schemas.microsoft.com/office/drawing/2014/main" id="{73339797-A2E3-4BE1-A8E1-0D4D90B629F6}"/>
              </a:ext>
            </a:extLst>
          </p:cNvPr>
          <p:cNvSpPr>
            <a:spLocks noGrp="1"/>
          </p:cNvSpPr>
          <p:nvPr/>
        </p:nvSpPr>
        <p:spPr>
          <a:xfrm>
            <a:off x="8215313"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7.</a:t>
            </a:r>
          </a:p>
        </p:txBody>
      </p:sp>
      <p:sp>
        <p:nvSpPr>
          <p:cNvPr id="19" name="object-19">
            <a:extLst>
              <a:ext uri="{FF2B5EF4-FFF2-40B4-BE49-F238E27FC236}">
                <a16:creationId xmlns:a16="http://schemas.microsoft.com/office/drawing/2014/main" id="{EDFBC105-F707-47C7-BDDC-75E46A868FB9}"/>
              </a:ext>
            </a:extLst>
          </p:cNvPr>
          <p:cNvSpPr>
            <a:spLocks noGrp="1"/>
          </p:cNvSpPr>
          <p:nvPr/>
        </p:nvSpPr>
        <p:spPr>
          <a:xfrm>
            <a:off x="8905875" y="355996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6 cm. The explanation must show why the method works.</a:t>
            </a:r>
          </a:p>
        </p:txBody>
      </p:sp>
      <p:sp>
        <p:nvSpPr>
          <p:cNvPr id="20" name="object-20">
            <a:extLst>
              <a:ext uri="{FF2B5EF4-FFF2-40B4-BE49-F238E27FC236}">
                <a16:creationId xmlns:a16="http://schemas.microsoft.com/office/drawing/2014/main" id="{4BEBB1BF-30F8-4C5F-A593-2CA357B14EA2}"/>
              </a:ext>
            </a:extLst>
          </p:cNvPr>
          <p:cNvSpPr>
            <a:spLocks noGrp="1"/>
          </p:cNvSpPr>
          <p:nvPr/>
        </p:nvSpPr>
        <p:spPr>
          <a:xfrm>
            <a:off x="8215313"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8.</a:t>
            </a:r>
          </a:p>
        </p:txBody>
      </p:sp>
      <p:sp>
        <p:nvSpPr>
          <p:cNvPr id="21" name="object-21">
            <a:extLst>
              <a:ext uri="{FF2B5EF4-FFF2-40B4-BE49-F238E27FC236}">
                <a16:creationId xmlns:a16="http://schemas.microsoft.com/office/drawing/2014/main" id="{C13D4C87-CBFE-4280-AD82-9292F8F0A544}"/>
              </a:ext>
            </a:extLst>
          </p:cNvPr>
          <p:cNvSpPr>
            <a:spLocks noGrp="1"/>
          </p:cNvSpPr>
          <p:nvPr/>
        </p:nvSpPr>
        <p:spPr>
          <a:xfrm>
            <a:off x="8905875" y="46077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Volume measures space inside a solid, so multiply all three perpendicular dimensions and use cubic units.</a:t>
            </a:r>
          </a:p>
        </p:txBody>
      </p:sp>
      <p:sp>
        <p:nvSpPr>
          <p:cNvPr id="22" name="object-22">
            <a:extLst>
              <a:ext uri="{FF2B5EF4-FFF2-40B4-BE49-F238E27FC236}">
                <a16:creationId xmlns:a16="http://schemas.microsoft.com/office/drawing/2014/main" id="{8E6BF8CD-EB21-43DD-8D1B-EFCAE2502941}"/>
              </a:ext>
            </a:extLst>
          </p:cNvPr>
          <p:cNvSpPr>
            <a:spLocks noGrp="1"/>
          </p:cNvSpPr>
          <p:nvPr/>
        </p:nvSpPr>
        <p:spPr>
          <a:xfrm>
            <a:off x="8215313"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9.</a:t>
            </a:r>
          </a:p>
        </p:txBody>
      </p:sp>
      <p:sp>
        <p:nvSpPr>
          <p:cNvPr id="23" name="object-23">
            <a:extLst>
              <a:ext uri="{FF2B5EF4-FFF2-40B4-BE49-F238E27FC236}">
                <a16:creationId xmlns:a16="http://schemas.microsoft.com/office/drawing/2014/main" id="{4DB68F3B-DD10-4712-8B78-FF82449956C0}"/>
              </a:ext>
            </a:extLst>
          </p:cNvPr>
          <p:cNvSpPr>
            <a:spLocks noGrp="1"/>
          </p:cNvSpPr>
          <p:nvPr/>
        </p:nvSpPr>
        <p:spPr>
          <a:xfrm>
            <a:off x="8905875" y="565546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Answer should name an inverse, estimate, boundary, known fact or equivalent representation.</a:t>
            </a:r>
          </a:p>
        </p:txBody>
      </p:sp>
      <p:sp>
        <p:nvSpPr>
          <p:cNvPr id="24" name="object-24">
            <a:extLst>
              <a:ext uri="{FF2B5EF4-FFF2-40B4-BE49-F238E27FC236}">
                <a16:creationId xmlns:a16="http://schemas.microsoft.com/office/drawing/2014/main" id="{AE941E05-B940-458A-8D80-70A262970EE2}"/>
              </a:ext>
            </a:extLst>
          </p:cNvPr>
          <p:cNvSpPr>
            <a:spLocks noGrp="1"/>
          </p:cNvSpPr>
          <p:nvPr/>
        </p:nvSpPr>
        <p:spPr>
          <a:xfrm>
            <a:off x="8215313"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10.</a:t>
            </a:r>
          </a:p>
        </p:txBody>
      </p:sp>
      <p:sp>
        <p:nvSpPr>
          <p:cNvPr id="25" name="object-25">
            <a:extLst>
              <a:ext uri="{FF2B5EF4-FFF2-40B4-BE49-F238E27FC236}">
                <a16:creationId xmlns:a16="http://schemas.microsoft.com/office/drawing/2014/main" id="{BF5917E7-A0C2-47BC-8115-8EF5522B9665}"/>
              </a:ext>
            </a:extLst>
          </p:cNvPr>
          <p:cNvSpPr>
            <a:spLocks noGrp="1"/>
          </p:cNvSpPr>
          <p:nvPr/>
        </p:nvSpPr>
        <p:spPr>
          <a:xfrm>
            <a:off x="8905875" y="67032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Answers vary. The new question must use the same mathematical structure and include a correct solution.</a:t>
            </a:r>
          </a:p>
        </p:txBody>
      </p:sp>
    </p:spTree>
    <p:extLst>
      <p:ext uri="{BB962C8B-B14F-4D97-AF65-F5344CB8AC3E}">
        <p14:creationId xmlns:p14="http://schemas.microsoft.com/office/powerpoint/2010/main" val="1188438322"/>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1014</Words>
  <Application>Microsoft Office PowerPoint</Application>
  <DocSecurity>0</DocSecurity>
  <PresentationFormat>Custom</PresentationFormat>
  <Paragraphs>106</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Garima Sharma</cp:lastModifiedBy>
  <cp:revision>1</cp:revision>
  <dcterms:created xsi:type="dcterms:W3CDTF">2026-09-14T13:14:37Z</dcterms:created>
  <dcterms:modified xsi:type="dcterms:W3CDTF">2026-09-14T13:17:42Z</dcterms:modified>
</cp:coreProperties>
</file>