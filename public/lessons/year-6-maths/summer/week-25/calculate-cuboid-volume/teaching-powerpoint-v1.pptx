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Calculate cuboid volume. Calculate cuboid volume.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Calculate cuboid volume. I do. Build the volume in equal layers. Multiply base area by the number of layers.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Calculate cuboid volume. You do. Pause before clicking. Let pupils try independently, then reveal and discuss every step. Build the volume in equal layers. Multiply base area by the number of layers.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Calculate cuboid volume. I do. Build the volume in equal layers. Multiply base area by the number of layers.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Calculate cuboid volume. You do. Pause before clicking. Let pupils try independently, then reveal and discuss every step. Build the volume in equal layers. Multiply base area by the number of layers.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Calculate cuboid volume.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Calculate cuboid volume.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EBB8713C-C8B1-4C46-828C-03235D5BBDE1}"/>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Calculate cuboid volume</a:t>
            </a:r>
          </a:p>
        </p:txBody>
      </p:sp>
      <p:sp>
        <p:nvSpPr>
          <p:cNvPr id="2" name="object-2">
            <a:extLst>
              <a:ext uri="{FF2B5EF4-FFF2-40B4-BE49-F238E27FC236}">
                <a16:creationId xmlns:a16="http://schemas.microsoft.com/office/drawing/2014/main" id="{51B81A80-2BB1-4918-B662-C4B5C4D9102D}"/>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0FCD59AC-5434-48B5-9A88-41DE990CA066}"/>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975A53BB-008D-4E3E-902D-9CBF8A9E683C}"/>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Calculate cuboid volume</a:t>
            </a:r>
          </a:p>
        </p:txBody>
      </p:sp>
      <p:sp>
        <p:nvSpPr>
          <p:cNvPr id="5" name="object-5">
            <a:extLst>
              <a:ext uri="{FF2B5EF4-FFF2-40B4-BE49-F238E27FC236}">
                <a16:creationId xmlns:a16="http://schemas.microsoft.com/office/drawing/2014/main" id="{18A540A3-540D-4725-B154-9E49109BDE70}"/>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53CF59A5-8C7E-474B-A814-095260578712}"/>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calculate volume using three dimensions.</a:t>
            </a:r>
          </a:p>
        </p:txBody>
      </p:sp>
    </p:spTree>
    <p:extLst>
      <p:ext uri="{BB962C8B-B14F-4D97-AF65-F5344CB8AC3E}">
        <p14:creationId xmlns:p14="http://schemas.microsoft.com/office/powerpoint/2010/main" val="1993742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object-1">
            <a:extLst>
              <a:ext uri="{FF2B5EF4-FFF2-40B4-BE49-F238E27FC236}">
                <a16:creationId xmlns:a16="http://schemas.microsoft.com/office/drawing/2014/main" id="{3E51BE4F-3A4B-40A2-BA95-1B23CD100B68}"/>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F7847447-27EE-44A5-94FD-E57458C3150C}"/>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Find the volume of a 12 × 7 × 5 cm cuboid.</a:t>
            </a:r>
          </a:p>
        </p:txBody>
      </p:sp>
      <p:sp>
        <p:nvSpPr>
          <p:cNvPr id="3" name="object-3">
            <a:extLst>
              <a:ext uri="{FF2B5EF4-FFF2-40B4-BE49-F238E27FC236}">
                <a16:creationId xmlns:a16="http://schemas.microsoft.com/office/drawing/2014/main" id="{EEC62F00-6552-4CBE-B94A-F067D34AF910}"/>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62AE8EA8-454E-4311-B8E6-413E19B8B6C5}"/>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Calculate cuboid volume</a:t>
            </a:r>
          </a:p>
        </p:txBody>
      </p:sp>
      <p:sp>
        <p:nvSpPr>
          <p:cNvPr id="5" name="object-5">
            <a:extLst>
              <a:ext uri="{FF2B5EF4-FFF2-40B4-BE49-F238E27FC236}">
                <a16:creationId xmlns:a16="http://schemas.microsoft.com/office/drawing/2014/main" id="{8F6707FD-E783-45E9-99D8-5BE2D4C72F77}"/>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EC020CBB-8769-4AE9-9293-5235CE5EBA9F}"/>
              </a:ext>
            </a:extLst>
          </p:cNvPr>
          <p:cNvSpPr>
            <a:spLocks noGrp="1"/>
          </p:cNvSpPr>
          <p:nvPr/>
        </p:nvSpPr>
        <p:spPr>
          <a:xfrm>
            <a:off x="1666875" y="4822031"/>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7" name="object-7">
            <a:extLst>
              <a:ext uri="{FF2B5EF4-FFF2-40B4-BE49-F238E27FC236}">
                <a16:creationId xmlns:a16="http://schemas.microsoft.com/office/drawing/2014/main" id="{02AE67C9-2724-4E8E-896C-DFD941E27172}"/>
              </a:ext>
            </a:extLst>
          </p:cNvPr>
          <p:cNvSpPr>
            <a:spLocks noGrp="1"/>
          </p:cNvSpPr>
          <p:nvPr/>
        </p:nvSpPr>
        <p:spPr>
          <a:xfrm>
            <a:off x="1666875" y="4619625"/>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8" name="object-8">
            <a:extLst>
              <a:ext uri="{FF2B5EF4-FFF2-40B4-BE49-F238E27FC236}">
                <a16:creationId xmlns:a16="http://schemas.microsoft.com/office/drawing/2014/main" id="{AA795D2C-A3DD-4141-A0BB-EB83ECC79905}"/>
              </a:ext>
            </a:extLst>
          </p:cNvPr>
          <p:cNvSpPr>
            <a:spLocks noGrp="1"/>
          </p:cNvSpPr>
          <p:nvPr/>
        </p:nvSpPr>
        <p:spPr>
          <a:xfrm>
            <a:off x="1666875" y="4417219"/>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9" name="object-9">
            <a:extLst>
              <a:ext uri="{FF2B5EF4-FFF2-40B4-BE49-F238E27FC236}">
                <a16:creationId xmlns:a16="http://schemas.microsoft.com/office/drawing/2014/main" id="{74704A66-ACF9-4D37-BE33-AC565D0FD4C7}"/>
              </a:ext>
            </a:extLst>
          </p:cNvPr>
          <p:cNvSpPr>
            <a:spLocks noGrp="1"/>
          </p:cNvSpPr>
          <p:nvPr/>
        </p:nvSpPr>
        <p:spPr>
          <a:xfrm>
            <a:off x="1666875" y="4214813"/>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0" name="object-10">
            <a:extLst>
              <a:ext uri="{FF2B5EF4-FFF2-40B4-BE49-F238E27FC236}">
                <a16:creationId xmlns:a16="http://schemas.microsoft.com/office/drawing/2014/main" id="{3B2F8FD5-92F5-477A-A32E-83309C8F3ECE}"/>
              </a:ext>
            </a:extLst>
          </p:cNvPr>
          <p:cNvSpPr>
            <a:spLocks noGrp="1"/>
          </p:cNvSpPr>
          <p:nvPr/>
        </p:nvSpPr>
        <p:spPr>
          <a:xfrm>
            <a:off x="1666875" y="4012406"/>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1" name="object-11">
            <a:extLst>
              <a:ext uri="{FF2B5EF4-FFF2-40B4-BE49-F238E27FC236}">
                <a16:creationId xmlns:a16="http://schemas.microsoft.com/office/drawing/2014/main" id="{6085740A-852A-45FE-866B-6A79BD915B6B}"/>
              </a:ext>
            </a:extLst>
          </p:cNvPr>
          <p:cNvSpPr>
            <a:spLocks noGrp="1"/>
          </p:cNvSpPr>
          <p:nvPr/>
        </p:nvSpPr>
        <p:spPr>
          <a:xfrm>
            <a:off x="2083594" y="6215063"/>
            <a:ext cx="2857500"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12 cm</a:t>
            </a:r>
          </a:p>
        </p:txBody>
      </p:sp>
      <p:sp>
        <p:nvSpPr>
          <p:cNvPr id="12" name="object-12">
            <a:extLst>
              <a:ext uri="{FF2B5EF4-FFF2-40B4-BE49-F238E27FC236}">
                <a16:creationId xmlns:a16="http://schemas.microsoft.com/office/drawing/2014/main" id="{20683DFA-0059-4949-A013-9DD8243FEAC5}"/>
              </a:ext>
            </a:extLst>
          </p:cNvPr>
          <p:cNvSpPr>
            <a:spLocks noGrp="1"/>
          </p:cNvSpPr>
          <p:nvPr/>
        </p:nvSpPr>
        <p:spPr>
          <a:xfrm>
            <a:off x="6191250" y="5655469"/>
            <a:ext cx="2143125"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7 cm</a:t>
            </a:r>
          </a:p>
        </p:txBody>
      </p:sp>
      <p:sp>
        <p:nvSpPr>
          <p:cNvPr id="13" name="object-13">
            <a:extLst>
              <a:ext uri="{FF2B5EF4-FFF2-40B4-BE49-F238E27FC236}">
                <a16:creationId xmlns:a16="http://schemas.microsoft.com/office/drawing/2014/main" id="{C9F230C9-7862-4717-A6E3-8D43BCF1651D}"/>
              </a:ext>
            </a:extLst>
          </p:cNvPr>
          <p:cNvSpPr>
            <a:spLocks noGrp="1"/>
          </p:cNvSpPr>
          <p:nvPr/>
        </p:nvSpPr>
        <p:spPr>
          <a:xfrm>
            <a:off x="8870156" y="3250406"/>
            <a:ext cx="5476875" cy="1428750"/>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12 × 7 = 84 cm² per layer</a:t>
            </a:r>
          </a:p>
        </p:txBody>
      </p:sp>
      <p:sp>
        <p:nvSpPr>
          <p:cNvPr id="14" name="object-14">
            <a:extLst>
              <a:ext uri="{FF2B5EF4-FFF2-40B4-BE49-F238E27FC236}">
                <a16:creationId xmlns:a16="http://schemas.microsoft.com/office/drawing/2014/main" id="{4AFD1C1C-2DCA-4155-8F42-9CBA08E562E1}"/>
              </a:ext>
            </a:extLst>
          </p:cNvPr>
          <p:cNvSpPr>
            <a:spLocks noGrp="1"/>
          </p:cNvSpPr>
          <p:nvPr/>
        </p:nvSpPr>
        <p:spPr>
          <a:xfrm>
            <a:off x="8870156" y="5179219"/>
            <a:ext cx="5476875" cy="1309688"/>
          </a:xfrm>
          <a:prstGeom prst="rect">
            <a:avLst/>
          </a:prstGeom>
          <a:noFill/>
          <a:ln w="0">
            <a:noFill/>
          </a:ln>
        </p:spPr>
        <p:txBody>
          <a:bodyPr anchor="ctr">
            <a:noAutofit/>
          </a:bodyPr>
          <a:lstStyle/>
          <a:p>
            <a:pPr algn="l">
              <a:defRPr sz="3188" b="1">
                <a:solidFill>
                  <a:srgbClr val="11745A"/>
                </a:solidFill>
                <a:latin typeface="Arial"/>
                <a:ea typeface="Arial"/>
                <a:cs typeface="Arial"/>
              </a:defRPr>
            </a:pPr>
            <a:r>
              <a:rPr sz="3188" b="1">
                <a:solidFill>
                  <a:srgbClr val="11745A"/>
                </a:solidFill>
                <a:latin typeface="Arial"/>
                <a:ea typeface="Arial"/>
                <a:cs typeface="Arial"/>
              </a:rPr>
              <a:t>84 × 5 = 420 cm³</a:t>
            </a:r>
          </a:p>
        </p:txBody>
      </p:sp>
    </p:spTree>
    <p:extLst>
      <p:ext uri="{BB962C8B-B14F-4D97-AF65-F5344CB8AC3E}">
        <p14:creationId xmlns:p14="http://schemas.microsoft.com/office/powerpoint/2010/main" val="329221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 name="object-1">
            <a:extLst>
              <a:ext uri="{FF2B5EF4-FFF2-40B4-BE49-F238E27FC236}">
                <a16:creationId xmlns:a16="http://schemas.microsoft.com/office/drawing/2014/main" id="{15574223-AD5D-4876-BDC7-2DB780D20C10}"/>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F196D589-509B-4460-AF80-1A3189713FE8}"/>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A47A69ED-28CE-4E07-889E-2872329423D3}"/>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Find the volume of a 12 × 7 × 6 cm cuboid.</a:t>
            </a:r>
          </a:p>
        </p:txBody>
      </p:sp>
      <p:sp>
        <p:nvSpPr>
          <p:cNvPr id="4" name="object-4">
            <a:extLst>
              <a:ext uri="{FF2B5EF4-FFF2-40B4-BE49-F238E27FC236}">
                <a16:creationId xmlns:a16="http://schemas.microsoft.com/office/drawing/2014/main" id="{C6F7B2D9-4C6C-4DBC-80CC-D4E8178B515C}"/>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C6DB02F8-5E97-48E5-B087-008D453A964A}"/>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Calculate cuboid volume</a:t>
            </a:r>
          </a:p>
        </p:txBody>
      </p:sp>
      <p:sp>
        <p:nvSpPr>
          <p:cNvPr id="6" name="object-6">
            <a:extLst>
              <a:ext uri="{FF2B5EF4-FFF2-40B4-BE49-F238E27FC236}">
                <a16:creationId xmlns:a16="http://schemas.microsoft.com/office/drawing/2014/main" id="{DB397CA2-9830-447D-8993-99DE266E7708}"/>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7" name="object-7">
            <a:extLst>
              <a:ext uri="{FF2B5EF4-FFF2-40B4-BE49-F238E27FC236}">
                <a16:creationId xmlns:a16="http://schemas.microsoft.com/office/drawing/2014/main" id="{20CDF9E0-5F1E-427D-82B8-6DED4D7F4DB6}"/>
              </a:ext>
            </a:extLst>
          </p:cNvPr>
          <p:cNvSpPr>
            <a:spLocks noGrp="1"/>
          </p:cNvSpPr>
          <p:nvPr/>
        </p:nvSpPr>
        <p:spPr>
          <a:xfrm>
            <a:off x="1666875" y="4822031"/>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8" name="object-8">
            <a:extLst>
              <a:ext uri="{FF2B5EF4-FFF2-40B4-BE49-F238E27FC236}">
                <a16:creationId xmlns:a16="http://schemas.microsoft.com/office/drawing/2014/main" id="{52391E66-3561-4C8E-9EAB-1AE0CE57414D}"/>
              </a:ext>
            </a:extLst>
          </p:cNvPr>
          <p:cNvSpPr>
            <a:spLocks noGrp="1"/>
          </p:cNvSpPr>
          <p:nvPr/>
        </p:nvSpPr>
        <p:spPr>
          <a:xfrm>
            <a:off x="1666875" y="4619625"/>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9" name="object-9">
            <a:extLst>
              <a:ext uri="{FF2B5EF4-FFF2-40B4-BE49-F238E27FC236}">
                <a16:creationId xmlns:a16="http://schemas.microsoft.com/office/drawing/2014/main" id="{BE86752A-7A4D-4918-BBE9-2BF73E1F8D9B}"/>
              </a:ext>
            </a:extLst>
          </p:cNvPr>
          <p:cNvSpPr>
            <a:spLocks noGrp="1"/>
          </p:cNvSpPr>
          <p:nvPr/>
        </p:nvSpPr>
        <p:spPr>
          <a:xfrm>
            <a:off x="1666875" y="4417219"/>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0" name="object-10">
            <a:extLst>
              <a:ext uri="{FF2B5EF4-FFF2-40B4-BE49-F238E27FC236}">
                <a16:creationId xmlns:a16="http://schemas.microsoft.com/office/drawing/2014/main" id="{0FEF847C-5701-4582-8909-06386D0582CE}"/>
              </a:ext>
            </a:extLst>
          </p:cNvPr>
          <p:cNvSpPr>
            <a:spLocks noGrp="1"/>
          </p:cNvSpPr>
          <p:nvPr/>
        </p:nvSpPr>
        <p:spPr>
          <a:xfrm>
            <a:off x="1666875" y="4214813"/>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1" name="object-11">
            <a:extLst>
              <a:ext uri="{FF2B5EF4-FFF2-40B4-BE49-F238E27FC236}">
                <a16:creationId xmlns:a16="http://schemas.microsoft.com/office/drawing/2014/main" id="{79D8586A-5F83-4652-8A7E-E394FA53AB12}"/>
              </a:ext>
            </a:extLst>
          </p:cNvPr>
          <p:cNvSpPr>
            <a:spLocks noGrp="1"/>
          </p:cNvSpPr>
          <p:nvPr/>
        </p:nvSpPr>
        <p:spPr>
          <a:xfrm>
            <a:off x="1666875" y="4012406"/>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2" name="object-12">
            <a:extLst>
              <a:ext uri="{FF2B5EF4-FFF2-40B4-BE49-F238E27FC236}">
                <a16:creationId xmlns:a16="http://schemas.microsoft.com/office/drawing/2014/main" id="{1638B6D4-5317-4456-B3E0-E62EE78B82E5}"/>
              </a:ext>
            </a:extLst>
          </p:cNvPr>
          <p:cNvSpPr>
            <a:spLocks noGrp="1"/>
          </p:cNvSpPr>
          <p:nvPr/>
        </p:nvSpPr>
        <p:spPr>
          <a:xfrm>
            <a:off x="1666875" y="3810000"/>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3" name="object-13">
            <a:extLst>
              <a:ext uri="{FF2B5EF4-FFF2-40B4-BE49-F238E27FC236}">
                <a16:creationId xmlns:a16="http://schemas.microsoft.com/office/drawing/2014/main" id="{653A0DAA-BF39-4591-AF48-DB18271810FB}"/>
              </a:ext>
            </a:extLst>
          </p:cNvPr>
          <p:cNvSpPr>
            <a:spLocks noGrp="1"/>
          </p:cNvSpPr>
          <p:nvPr/>
        </p:nvSpPr>
        <p:spPr>
          <a:xfrm>
            <a:off x="2083594" y="6215063"/>
            <a:ext cx="2857500"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12 cm</a:t>
            </a:r>
          </a:p>
        </p:txBody>
      </p:sp>
      <p:sp>
        <p:nvSpPr>
          <p:cNvPr id="14" name="object-14">
            <a:extLst>
              <a:ext uri="{FF2B5EF4-FFF2-40B4-BE49-F238E27FC236}">
                <a16:creationId xmlns:a16="http://schemas.microsoft.com/office/drawing/2014/main" id="{8F133D5F-6BA9-4433-BF0B-D2709C7EFE02}"/>
              </a:ext>
            </a:extLst>
          </p:cNvPr>
          <p:cNvSpPr>
            <a:spLocks noGrp="1"/>
          </p:cNvSpPr>
          <p:nvPr/>
        </p:nvSpPr>
        <p:spPr>
          <a:xfrm>
            <a:off x="6191250" y="5655469"/>
            <a:ext cx="2143125"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7 cm</a:t>
            </a:r>
          </a:p>
        </p:txBody>
      </p:sp>
      <p:sp>
        <p:nvSpPr>
          <p:cNvPr id="15" name="object-15">
            <a:extLst>
              <a:ext uri="{FF2B5EF4-FFF2-40B4-BE49-F238E27FC236}">
                <a16:creationId xmlns:a16="http://schemas.microsoft.com/office/drawing/2014/main" id="{60972B44-9C93-48CB-BD2D-829FDEEE2857}"/>
              </a:ext>
            </a:extLst>
          </p:cNvPr>
          <p:cNvSpPr>
            <a:spLocks noGrp="1"/>
          </p:cNvSpPr>
          <p:nvPr/>
        </p:nvSpPr>
        <p:spPr>
          <a:xfrm>
            <a:off x="8870156" y="3250406"/>
            <a:ext cx="5476875" cy="1428750"/>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12 × 7 = 84 cm² per layer</a:t>
            </a:r>
          </a:p>
        </p:txBody>
      </p:sp>
      <p:sp>
        <p:nvSpPr>
          <p:cNvPr id="16" name="object-16">
            <a:extLst>
              <a:ext uri="{FF2B5EF4-FFF2-40B4-BE49-F238E27FC236}">
                <a16:creationId xmlns:a16="http://schemas.microsoft.com/office/drawing/2014/main" id="{E2DF7449-C319-4FD3-BB5A-6405AA94FE5D}"/>
              </a:ext>
            </a:extLst>
          </p:cNvPr>
          <p:cNvSpPr>
            <a:spLocks noGrp="1"/>
          </p:cNvSpPr>
          <p:nvPr/>
        </p:nvSpPr>
        <p:spPr>
          <a:xfrm>
            <a:off x="8870156" y="5179219"/>
            <a:ext cx="5476875" cy="1309688"/>
          </a:xfrm>
          <a:prstGeom prst="rect">
            <a:avLst/>
          </a:prstGeom>
          <a:noFill/>
          <a:ln w="0">
            <a:noFill/>
          </a:ln>
        </p:spPr>
        <p:txBody>
          <a:bodyPr anchor="ctr">
            <a:noAutofit/>
          </a:bodyPr>
          <a:lstStyle/>
          <a:p>
            <a:pPr algn="l">
              <a:defRPr sz="3188" b="1">
                <a:solidFill>
                  <a:srgbClr val="11745A"/>
                </a:solidFill>
                <a:latin typeface="Arial"/>
                <a:ea typeface="Arial"/>
                <a:cs typeface="Arial"/>
              </a:defRPr>
            </a:pPr>
            <a:r>
              <a:rPr sz="3188" b="1">
                <a:solidFill>
                  <a:srgbClr val="11745A"/>
                </a:solidFill>
                <a:latin typeface="Arial"/>
                <a:ea typeface="Arial"/>
                <a:cs typeface="Arial"/>
              </a:rPr>
              <a:t>84 × 6 = 504 cm³</a:t>
            </a:r>
          </a:p>
        </p:txBody>
      </p:sp>
    </p:spTree>
    <p:extLst>
      <p:ext uri="{BB962C8B-B14F-4D97-AF65-F5344CB8AC3E}">
        <p14:creationId xmlns:p14="http://schemas.microsoft.com/office/powerpoint/2010/main" val="16549232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 name="object-1">
            <a:extLst>
              <a:ext uri="{FF2B5EF4-FFF2-40B4-BE49-F238E27FC236}">
                <a16:creationId xmlns:a16="http://schemas.microsoft.com/office/drawing/2014/main" id="{5D3FDEB5-9DCF-40EE-A73B-37C4123F2CEC}"/>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7C429FFE-DD0E-45A6-8286-87AFF392E977}"/>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Find the volume of a 12 × 7 × 7 cm cuboid.</a:t>
            </a:r>
          </a:p>
        </p:txBody>
      </p:sp>
      <p:sp>
        <p:nvSpPr>
          <p:cNvPr id="3" name="object-3">
            <a:extLst>
              <a:ext uri="{FF2B5EF4-FFF2-40B4-BE49-F238E27FC236}">
                <a16:creationId xmlns:a16="http://schemas.microsoft.com/office/drawing/2014/main" id="{41F2289F-1D14-4839-B220-E10B75F10FF2}"/>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83F94D88-BE42-41A2-86FE-8AF65A88206B}"/>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Calculate cuboid volume</a:t>
            </a:r>
          </a:p>
        </p:txBody>
      </p:sp>
      <p:sp>
        <p:nvSpPr>
          <p:cNvPr id="5" name="object-5">
            <a:extLst>
              <a:ext uri="{FF2B5EF4-FFF2-40B4-BE49-F238E27FC236}">
                <a16:creationId xmlns:a16="http://schemas.microsoft.com/office/drawing/2014/main" id="{6853A77D-B713-44B6-98A1-812B367537B7}"/>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6" name="object-6">
            <a:extLst>
              <a:ext uri="{FF2B5EF4-FFF2-40B4-BE49-F238E27FC236}">
                <a16:creationId xmlns:a16="http://schemas.microsoft.com/office/drawing/2014/main" id="{37FA4CAA-BE5A-41F3-83A5-960E343AC695}"/>
              </a:ext>
            </a:extLst>
          </p:cNvPr>
          <p:cNvSpPr>
            <a:spLocks noGrp="1"/>
          </p:cNvSpPr>
          <p:nvPr/>
        </p:nvSpPr>
        <p:spPr>
          <a:xfrm>
            <a:off x="1666875" y="4822031"/>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7" name="object-7">
            <a:extLst>
              <a:ext uri="{FF2B5EF4-FFF2-40B4-BE49-F238E27FC236}">
                <a16:creationId xmlns:a16="http://schemas.microsoft.com/office/drawing/2014/main" id="{E49CD1C3-3AB5-4DEB-9818-9943A6007A04}"/>
              </a:ext>
            </a:extLst>
          </p:cNvPr>
          <p:cNvSpPr>
            <a:spLocks noGrp="1"/>
          </p:cNvSpPr>
          <p:nvPr/>
        </p:nvSpPr>
        <p:spPr>
          <a:xfrm>
            <a:off x="1666875" y="4619625"/>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8" name="object-8">
            <a:extLst>
              <a:ext uri="{FF2B5EF4-FFF2-40B4-BE49-F238E27FC236}">
                <a16:creationId xmlns:a16="http://schemas.microsoft.com/office/drawing/2014/main" id="{D2F3E371-5C9F-481B-B54D-3352B4635362}"/>
              </a:ext>
            </a:extLst>
          </p:cNvPr>
          <p:cNvSpPr>
            <a:spLocks noGrp="1"/>
          </p:cNvSpPr>
          <p:nvPr/>
        </p:nvSpPr>
        <p:spPr>
          <a:xfrm>
            <a:off x="1666875" y="4417219"/>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9" name="object-9">
            <a:extLst>
              <a:ext uri="{FF2B5EF4-FFF2-40B4-BE49-F238E27FC236}">
                <a16:creationId xmlns:a16="http://schemas.microsoft.com/office/drawing/2014/main" id="{E095D144-EECB-49E6-812A-908D27CCCD55}"/>
              </a:ext>
            </a:extLst>
          </p:cNvPr>
          <p:cNvSpPr>
            <a:spLocks noGrp="1"/>
          </p:cNvSpPr>
          <p:nvPr/>
        </p:nvSpPr>
        <p:spPr>
          <a:xfrm>
            <a:off x="1666875" y="4214813"/>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0" name="object-10">
            <a:extLst>
              <a:ext uri="{FF2B5EF4-FFF2-40B4-BE49-F238E27FC236}">
                <a16:creationId xmlns:a16="http://schemas.microsoft.com/office/drawing/2014/main" id="{72C5DAC2-E148-4449-B1E9-7D31DC4C2BA1}"/>
              </a:ext>
            </a:extLst>
          </p:cNvPr>
          <p:cNvSpPr>
            <a:spLocks noGrp="1"/>
          </p:cNvSpPr>
          <p:nvPr/>
        </p:nvSpPr>
        <p:spPr>
          <a:xfrm>
            <a:off x="1666875" y="4012406"/>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1" name="object-11">
            <a:extLst>
              <a:ext uri="{FF2B5EF4-FFF2-40B4-BE49-F238E27FC236}">
                <a16:creationId xmlns:a16="http://schemas.microsoft.com/office/drawing/2014/main" id="{2A24C1C3-BCC0-4242-B7C8-169E2E61414A}"/>
              </a:ext>
            </a:extLst>
          </p:cNvPr>
          <p:cNvSpPr>
            <a:spLocks noGrp="1"/>
          </p:cNvSpPr>
          <p:nvPr/>
        </p:nvSpPr>
        <p:spPr>
          <a:xfrm>
            <a:off x="1666875" y="3810000"/>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2" name="object-12">
            <a:extLst>
              <a:ext uri="{FF2B5EF4-FFF2-40B4-BE49-F238E27FC236}">
                <a16:creationId xmlns:a16="http://schemas.microsoft.com/office/drawing/2014/main" id="{FA5EC415-9BF5-4C68-9DBE-64956046F515}"/>
              </a:ext>
            </a:extLst>
          </p:cNvPr>
          <p:cNvSpPr>
            <a:spLocks noGrp="1"/>
          </p:cNvSpPr>
          <p:nvPr/>
        </p:nvSpPr>
        <p:spPr>
          <a:xfrm>
            <a:off x="1666875" y="3607594"/>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3" name="object-13">
            <a:extLst>
              <a:ext uri="{FF2B5EF4-FFF2-40B4-BE49-F238E27FC236}">
                <a16:creationId xmlns:a16="http://schemas.microsoft.com/office/drawing/2014/main" id="{B151867D-01FB-4514-9B8A-71094CC11827}"/>
              </a:ext>
            </a:extLst>
          </p:cNvPr>
          <p:cNvSpPr>
            <a:spLocks noGrp="1"/>
          </p:cNvSpPr>
          <p:nvPr/>
        </p:nvSpPr>
        <p:spPr>
          <a:xfrm>
            <a:off x="2083594" y="6215063"/>
            <a:ext cx="2857500"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12 cm</a:t>
            </a:r>
          </a:p>
        </p:txBody>
      </p:sp>
      <p:sp>
        <p:nvSpPr>
          <p:cNvPr id="14" name="object-14">
            <a:extLst>
              <a:ext uri="{FF2B5EF4-FFF2-40B4-BE49-F238E27FC236}">
                <a16:creationId xmlns:a16="http://schemas.microsoft.com/office/drawing/2014/main" id="{82A38D80-C234-4D5A-AA20-67B40A06D4B8}"/>
              </a:ext>
            </a:extLst>
          </p:cNvPr>
          <p:cNvSpPr>
            <a:spLocks noGrp="1"/>
          </p:cNvSpPr>
          <p:nvPr/>
        </p:nvSpPr>
        <p:spPr>
          <a:xfrm>
            <a:off x="6191250" y="5655469"/>
            <a:ext cx="2143125"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7 cm</a:t>
            </a:r>
          </a:p>
        </p:txBody>
      </p:sp>
      <p:sp>
        <p:nvSpPr>
          <p:cNvPr id="15" name="object-15">
            <a:extLst>
              <a:ext uri="{FF2B5EF4-FFF2-40B4-BE49-F238E27FC236}">
                <a16:creationId xmlns:a16="http://schemas.microsoft.com/office/drawing/2014/main" id="{92F444B0-F623-4A71-8D14-48FBEC4B12D1}"/>
              </a:ext>
            </a:extLst>
          </p:cNvPr>
          <p:cNvSpPr>
            <a:spLocks noGrp="1"/>
          </p:cNvSpPr>
          <p:nvPr/>
        </p:nvSpPr>
        <p:spPr>
          <a:xfrm>
            <a:off x="8870156" y="3250406"/>
            <a:ext cx="5476875" cy="1428750"/>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12 × 7 = 84 cm² per layer</a:t>
            </a:r>
          </a:p>
        </p:txBody>
      </p:sp>
      <p:sp>
        <p:nvSpPr>
          <p:cNvPr id="16" name="object-16">
            <a:extLst>
              <a:ext uri="{FF2B5EF4-FFF2-40B4-BE49-F238E27FC236}">
                <a16:creationId xmlns:a16="http://schemas.microsoft.com/office/drawing/2014/main" id="{1DB24A9E-8BDC-4FD7-8A7C-EDD162022261}"/>
              </a:ext>
            </a:extLst>
          </p:cNvPr>
          <p:cNvSpPr>
            <a:spLocks noGrp="1"/>
          </p:cNvSpPr>
          <p:nvPr/>
        </p:nvSpPr>
        <p:spPr>
          <a:xfrm>
            <a:off x="8870156" y="5179219"/>
            <a:ext cx="5476875" cy="1309688"/>
          </a:xfrm>
          <a:prstGeom prst="rect">
            <a:avLst/>
          </a:prstGeom>
          <a:noFill/>
          <a:ln w="0">
            <a:noFill/>
          </a:ln>
        </p:spPr>
        <p:txBody>
          <a:bodyPr anchor="ctr">
            <a:noAutofit/>
          </a:bodyPr>
          <a:lstStyle/>
          <a:p>
            <a:pPr algn="l">
              <a:defRPr sz="3188" b="1">
                <a:solidFill>
                  <a:srgbClr val="11745A"/>
                </a:solidFill>
                <a:latin typeface="Arial"/>
                <a:ea typeface="Arial"/>
                <a:cs typeface="Arial"/>
              </a:defRPr>
            </a:pPr>
            <a:r>
              <a:rPr sz="3188" b="1">
                <a:solidFill>
                  <a:srgbClr val="11745A"/>
                </a:solidFill>
                <a:latin typeface="Arial"/>
                <a:ea typeface="Arial"/>
                <a:cs typeface="Arial"/>
              </a:rPr>
              <a:t>84 × 7 = 588 cm³</a:t>
            </a:r>
          </a:p>
        </p:txBody>
      </p:sp>
    </p:spTree>
    <p:extLst>
      <p:ext uri="{BB962C8B-B14F-4D97-AF65-F5344CB8AC3E}">
        <p14:creationId xmlns:p14="http://schemas.microsoft.com/office/powerpoint/2010/main" val="10819029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object-1">
            <a:extLst>
              <a:ext uri="{FF2B5EF4-FFF2-40B4-BE49-F238E27FC236}">
                <a16:creationId xmlns:a16="http://schemas.microsoft.com/office/drawing/2014/main" id="{2FC8C6B3-AD59-42AC-81CC-D5915DB42C3B}"/>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40E1A5BA-F961-4242-B783-F0CF40332CF3}"/>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16453306-4A6F-43C5-9294-DF48E1124DB9}"/>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Find the volume of a 12 × 7 × 8 cm cuboid.</a:t>
            </a:r>
          </a:p>
        </p:txBody>
      </p:sp>
      <p:sp>
        <p:nvSpPr>
          <p:cNvPr id="4" name="object-4">
            <a:extLst>
              <a:ext uri="{FF2B5EF4-FFF2-40B4-BE49-F238E27FC236}">
                <a16:creationId xmlns:a16="http://schemas.microsoft.com/office/drawing/2014/main" id="{5C7A397A-DB25-4D7F-BB09-2517D91985DF}"/>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9D58DFAF-9CBD-4907-99FD-B35E4434F5FB}"/>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Calculate cuboid volume</a:t>
            </a:r>
          </a:p>
        </p:txBody>
      </p:sp>
      <p:sp>
        <p:nvSpPr>
          <p:cNvPr id="6" name="object-6">
            <a:extLst>
              <a:ext uri="{FF2B5EF4-FFF2-40B4-BE49-F238E27FC236}">
                <a16:creationId xmlns:a16="http://schemas.microsoft.com/office/drawing/2014/main" id="{A3E34601-2DD6-4AED-A966-FFFE3C06D5A7}"/>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2EE87690-C5C1-487A-AB58-8B2EE84BD3D8}"/>
              </a:ext>
            </a:extLst>
          </p:cNvPr>
          <p:cNvSpPr>
            <a:spLocks noGrp="1"/>
          </p:cNvSpPr>
          <p:nvPr/>
        </p:nvSpPr>
        <p:spPr>
          <a:xfrm>
            <a:off x="1666875" y="4822031"/>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8" name="object-8">
            <a:extLst>
              <a:ext uri="{FF2B5EF4-FFF2-40B4-BE49-F238E27FC236}">
                <a16:creationId xmlns:a16="http://schemas.microsoft.com/office/drawing/2014/main" id="{25FBBB43-739B-4EC5-A050-ED33696076A0}"/>
              </a:ext>
            </a:extLst>
          </p:cNvPr>
          <p:cNvSpPr>
            <a:spLocks noGrp="1"/>
          </p:cNvSpPr>
          <p:nvPr/>
        </p:nvSpPr>
        <p:spPr>
          <a:xfrm>
            <a:off x="1666875" y="4619625"/>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9" name="object-9">
            <a:extLst>
              <a:ext uri="{FF2B5EF4-FFF2-40B4-BE49-F238E27FC236}">
                <a16:creationId xmlns:a16="http://schemas.microsoft.com/office/drawing/2014/main" id="{84C7AF08-BDBA-43D0-9344-D1C7E1CDF6F9}"/>
              </a:ext>
            </a:extLst>
          </p:cNvPr>
          <p:cNvSpPr>
            <a:spLocks noGrp="1"/>
          </p:cNvSpPr>
          <p:nvPr/>
        </p:nvSpPr>
        <p:spPr>
          <a:xfrm>
            <a:off x="1666875" y="4417219"/>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0" name="object-10">
            <a:extLst>
              <a:ext uri="{FF2B5EF4-FFF2-40B4-BE49-F238E27FC236}">
                <a16:creationId xmlns:a16="http://schemas.microsoft.com/office/drawing/2014/main" id="{CFE34455-9087-4D41-AE14-AB542F976F0A}"/>
              </a:ext>
            </a:extLst>
          </p:cNvPr>
          <p:cNvSpPr>
            <a:spLocks noGrp="1"/>
          </p:cNvSpPr>
          <p:nvPr/>
        </p:nvSpPr>
        <p:spPr>
          <a:xfrm>
            <a:off x="1666875" y="4214813"/>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1" name="object-11">
            <a:extLst>
              <a:ext uri="{FF2B5EF4-FFF2-40B4-BE49-F238E27FC236}">
                <a16:creationId xmlns:a16="http://schemas.microsoft.com/office/drawing/2014/main" id="{A75C5335-3B52-4E7A-A45C-72B609DFAF19}"/>
              </a:ext>
            </a:extLst>
          </p:cNvPr>
          <p:cNvSpPr>
            <a:spLocks noGrp="1"/>
          </p:cNvSpPr>
          <p:nvPr/>
        </p:nvSpPr>
        <p:spPr>
          <a:xfrm>
            <a:off x="1666875" y="4012406"/>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2" name="object-12">
            <a:extLst>
              <a:ext uri="{FF2B5EF4-FFF2-40B4-BE49-F238E27FC236}">
                <a16:creationId xmlns:a16="http://schemas.microsoft.com/office/drawing/2014/main" id="{0BAEB485-91DE-47D6-9F50-C7972694EDFC}"/>
              </a:ext>
            </a:extLst>
          </p:cNvPr>
          <p:cNvSpPr>
            <a:spLocks noGrp="1"/>
          </p:cNvSpPr>
          <p:nvPr/>
        </p:nvSpPr>
        <p:spPr>
          <a:xfrm>
            <a:off x="1666875" y="3810000"/>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3" name="object-13">
            <a:extLst>
              <a:ext uri="{FF2B5EF4-FFF2-40B4-BE49-F238E27FC236}">
                <a16:creationId xmlns:a16="http://schemas.microsoft.com/office/drawing/2014/main" id="{39CDBDC3-1ECE-457D-B2C2-22B25EDE0B85}"/>
              </a:ext>
            </a:extLst>
          </p:cNvPr>
          <p:cNvSpPr>
            <a:spLocks noGrp="1"/>
          </p:cNvSpPr>
          <p:nvPr/>
        </p:nvSpPr>
        <p:spPr>
          <a:xfrm>
            <a:off x="1666875" y="3607594"/>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4" name="object-14">
            <a:extLst>
              <a:ext uri="{FF2B5EF4-FFF2-40B4-BE49-F238E27FC236}">
                <a16:creationId xmlns:a16="http://schemas.microsoft.com/office/drawing/2014/main" id="{07009FD1-0358-48C4-A2B6-D3F5E403B7B3}"/>
              </a:ext>
            </a:extLst>
          </p:cNvPr>
          <p:cNvSpPr>
            <a:spLocks noGrp="1"/>
          </p:cNvSpPr>
          <p:nvPr/>
        </p:nvSpPr>
        <p:spPr>
          <a:xfrm>
            <a:off x="1666875" y="3405188"/>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5" name="object-15">
            <a:extLst>
              <a:ext uri="{FF2B5EF4-FFF2-40B4-BE49-F238E27FC236}">
                <a16:creationId xmlns:a16="http://schemas.microsoft.com/office/drawing/2014/main" id="{F8051B4D-2C69-469F-BF19-F32417AB7096}"/>
              </a:ext>
            </a:extLst>
          </p:cNvPr>
          <p:cNvSpPr>
            <a:spLocks noGrp="1"/>
          </p:cNvSpPr>
          <p:nvPr/>
        </p:nvSpPr>
        <p:spPr>
          <a:xfrm>
            <a:off x="2083594" y="6215063"/>
            <a:ext cx="2857500"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12 cm</a:t>
            </a:r>
          </a:p>
        </p:txBody>
      </p:sp>
      <p:sp>
        <p:nvSpPr>
          <p:cNvPr id="16" name="object-16">
            <a:extLst>
              <a:ext uri="{FF2B5EF4-FFF2-40B4-BE49-F238E27FC236}">
                <a16:creationId xmlns:a16="http://schemas.microsoft.com/office/drawing/2014/main" id="{E61657BC-465E-4D84-ADE2-CA546B95889D}"/>
              </a:ext>
            </a:extLst>
          </p:cNvPr>
          <p:cNvSpPr>
            <a:spLocks noGrp="1"/>
          </p:cNvSpPr>
          <p:nvPr/>
        </p:nvSpPr>
        <p:spPr>
          <a:xfrm>
            <a:off x="6191250" y="5655469"/>
            <a:ext cx="2143125"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7 cm</a:t>
            </a:r>
          </a:p>
        </p:txBody>
      </p:sp>
      <p:sp>
        <p:nvSpPr>
          <p:cNvPr id="17" name="object-17">
            <a:extLst>
              <a:ext uri="{FF2B5EF4-FFF2-40B4-BE49-F238E27FC236}">
                <a16:creationId xmlns:a16="http://schemas.microsoft.com/office/drawing/2014/main" id="{9B3B9DF9-80DA-443F-B276-F60C25198FFC}"/>
              </a:ext>
            </a:extLst>
          </p:cNvPr>
          <p:cNvSpPr>
            <a:spLocks noGrp="1"/>
          </p:cNvSpPr>
          <p:nvPr/>
        </p:nvSpPr>
        <p:spPr>
          <a:xfrm>
            <a:off x="8870156" y="3250406"/>
            <a:ext cx="5476875" cy="1428750"/>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12 × 7 = 84 cm² per layer</a:t>
            </a:r>
          </a:p>
        </p:txBody>
      </p:sp>
      <p:sp>
        <p:nvSpPr>
          <p:cNvPr id="18" name="object-18">
            <a:extLst>
              <a:ext uri="{FF2B5EF4-FFF2-40B4-BE49-F238E27FC236}">
                <a16:creationId xmlns:a16="http://schemas.microsoft.com/office/drawing/2014/main" id="{C2A0ECDF-95B3-4B9B-965A-52B0C2D855D8}"/>
              </a:ext>
            </a:extLst>
          </p:cNvPr>
          <p:cNvSpPr>
            <a:spLocks noGrp="1"/>
          </p:cNvSpPr>
          <p:nvPr/>
        </p:nvSpPr>
        <p:spPr>
          <a:xfrm>
            <a:off x="8870156" y="5179219"/>
            <a:ext cx="5476875" cy="1309688"/>
          </a:xfrm>
          <a:prstGeom prst="rect">
            <a:avLst/>
          </a:prstGeom>
          <a:noFill/>
          <a:ln w="0">
            <a:noFill/>
          </a:ln>
        </p:spPr>
        <p:txBody>
          <a:bodyPr anchor="ctr">
            <a:noAutofit/>
          </a:bodyPr>
          <a:lstStyle/>
          <a:p>
            <a:pPr algn="l">
              <a:defRPr sz="3188" b="1">
                <a:solidFill>
                  <a:srgbClr val="11745A"/>
                </a:solidFill>
                <a:latin typeface="Arial"/>
                <a:ea typeface="Arial"/>
                <a:cs typeface="Arial"/>
              </a:defRPr>
            </a:pPr>
            <a:r>
              <a:rPr sz="3188" b="1">
                <a:solidFill>
                  <a:srgbClr val="11745A"/>
                </a:solidFill>
                <a:latin typeface="Arial"/>
                <a:ea typeface="Arial"/>
                <a:cs typeface="Arial"/>
              </a:rPr>
              <a:t>84 × 8 = 672 cm³</a:t>
            </a:r>
          </a:p>
        </p:txBody>
      </p:sp>
    </p:spTree>
    <p:extLst>
      <p:ext uri="{BB962C8B-B14F-4D97-AF65-F5344CB8AC3E}">
        <p14:creationId xmlns:p14="http://schemas.microsoft.com/office/powerpoint/2010/main" val="9791301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C3908611-915D-42ED-A99D-78A44C64F825}"/>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97173D92-3087-4B81-B41E-523BF4FE59C4}"/>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8BE8E965-9945-4692-85B2-89B65CBA9DEE}"/>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05D894F4-07D3-45CD-AD43-C10EEC39D946}"/>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11E71AB5-EAA6-4CE4-9F20-D9BFF8B44D46}"/>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Calculate cuboid volume</a:t>
            </a:r>
          </a:p>
        </p:txBody>
      </p:sp>
      <p:sp>
        <p:nvSpPr>
          <p:cNvPr id="6" name="object-6">
            <a:extLst>
              <a:ext uri="{FF2B5EF4-FFF2-40B4-BE49-F238E27FC236}">
                <a16:creationId xmlns:a16="http://schemas.microsoft.com/office/drawing/2014/main" id="{DB1731EB-4D46-4AEA-BA43-88A018F65D60}"/>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7" name="object-7">
            <a:extLst>
              <a:ext uri="{FF2B5EF4-FFF2-40B4-BE49-F238E27FC236}">
                <a16:creationId xmlns:a16="http://schemas.microsoft.com/office/drawing/2014/main" id="{4F975C68-33CB-43E2-83B0-B4476B7A1C3E}"/>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6F181461-CF21-4599-AB23-938936A12E4A}"/>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Find the volume of a cuboid 12 cm by 7 cm by 5 cm.</a:t>
            </a:r>
          </a:p>
        </p:txBody>
      </p:sp>
      <p:sp>
        <p:nvSpPr>
          <p:cNvPr id="9" name="object-9">
            <a:extLst>
              <a:ext uri="{FF2B5EF4-FFF2-40B4-BE49-F238E27FC236}">
                <a16:creationId xmlns:a16="http://schemas.microsoft.com/office/drawing/2014/main" id="{8DCB3271-095E-4FD4-88A7-E25036B9CE5E}"/>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BDF16C28-77D6-46F7-8DC7-8B8DB63089AC}"/>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A cuboid has volume 360 cm3, length 12 cm and width 5 cm. Find its height.</a:t>
            </a:r>
          </a:p>
        </p:txBody>
      </p:sp>
      <p:sp>
        <p:nvSpPr>
          <p:cNvPr id="11" name="object-11">
            <a:extLst>
              <a:ext uri="{FF2B5EF4-FFF2-40B4-BE49-F238E27FC236}">
                <a16:creationId xmlns:a16="http://schemas.microsoft.com/office/drawing/2014/main" id="{02A2C35B-32FA-46CE-8E9C-24EDFDADB3A1}"/>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D75D75F2-04FF-458D-AD3C-D0A2E58B83BA}"/>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Cuboid A is 8 x 6 x 5 cm. Cuboid B is 10 x 6 x 4 cm. Compare their volumes.</a:t>
            </a:r>
          </a:p>
        </p:txBody>
      </p:sp>
      <p:sp>
        <p:nvSpPr>
          <p:cNvPr id="13" name="object-13">
            <a:extLst>
              <a:ext uri="{FF2B5EF4-FFF2-40B4-BE49-F238E27FC236}">
                <a16:creationId xmlns:a16="http://schemas.microsoft.com/office/drawing/2014/main" id="{4B597CDF-1A5F-4E86-B16F-9A5CE183F28F}"/>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3A5639EE-94DD-49F1-86F5-B2E89E1C0E11}"/>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this independently and show every stage: Find the volume of a cuboid 12 cm by 7 cm by 5 cm.</a:t>
            </a:r>
          </a:p>
        </p:txBody>
      </p:sp>
      <p:sp>
        <p:nvSpPr>
          <p:cNvPr id="15" name="object-15">
            <a:extLst>
              <a:ext uri="{FF2B5EF4-FFF2-40B4-BE49-F238E27FC236}">
                <a16:creationId xmlns:a16="http://schemas.microsoft.com/office/drawing/2014/main" id="{0724AF07-E2AA-4A8A-9040-7B9B8F9BDE56}"/>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D20EA528-D800-43AC-90F9-479B0E321CA2}"/>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A cuboid has volume 360 cm3, length 12 cm and width 5 cm. Find its height.</a:t>
            </a:r>
          </a:p>
        </p:txBody>
      </p:sp>
      <p:sp>
        <p:nvSpPr>
          <p:cNvPr id="17" name="object-17">
            <a:extLst>
              <a:ext uri="{FF2B5EF4-FFF2-40B4-BE49-F238E27FC236}">
                <a16:creationId xmlns:a16="http://schemas.microsoft.com/office/drawing/2014/main" id="{43CE9A08-788C-4AEC-A7A4-B9651CD83284}"/>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D44AF6D8-78E4-4E59-BD64-E4C5CA833BE3}"/>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this result using an inverse, estimate or known fact: Cuboid A is 8 x 6 x 5 cm. Cuboid B is 10 x 6 x 4 cm. Compare their volumes.</a:t>
            </a:r>
          </a:p>
        </p:txBody>
      </p:sp>
      <p:sp>
        <p:nvSpPr>
          <p:cNvPr id="19" name="object-19">
            <a:extLst>
              <a:ext uri="{FF2B5EF4-FFF2-40B4-BE49-F238E27FC236}">
                <a16:creationId xmlns:a16="http://schemas.microsoft.com/office/drawing/2014/main" id="{A273FFF1-C52D-4E1B-9346-C1C57558D0F9}"/>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D1CD3AF9-5BDC-4BD5-82B3-4B2C1674BE42}"/>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Prove or explain your reasoning: A box is 40 cm by 25 cm by 30 cm. How many 5 cm cubes fit exactly by volume?</a:t>
            </a:r>
          </a:p>
        </p:txBody>
      </p:sp>
      <p:sp>
        <p:nvSpPr>
          <p:cNvPr id="21" name="object-21">
            <a:extLst>
              <a:ext uri="{FF2B5EF4-FFF2-40B4-BE49-F238E27FC236}">
                <a16:creationId xmlns:a16="http://schemas.microsoft.com/office/drawing/2014/main" id="{567FD1F4-1261-46D2-A3D7-F0D34354C0C1}"/>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E0AADAA6-8DCB-4FDC-868A-0F04032D2D27}"/>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calculates the surface area or adds the three dimensions.</a:t>
            </a:r>
          </a:p>
        </p:txBody>
      </p:sp>
      <p:sp>
        <p:nvSpPr>
          <p:cNvPr id="23" name="object-23">
            <a:extLst>
              <a:ext uri="{FF2B5EF4-FFF2-40B4-BE49-F238E27FC236}">
                <a16:creationId xmlns:a16="http://schemas.microsoft.com/office/drawing/2014/main" id="{2B634428-E1E4-4142-B786-970DE40284E1}"/>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65DB323F-9495-4465-8F09-087AA1D6A091}"/>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F88D32CE-167C-4DC7-998E-93A35F0310C2}"/>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A8E4B044-F6B0-434A-9AB0-B107079914D6}"/>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Cuboid A is 8 x 6 x 5 cm. Cuboid B is 10 x 6 x 4 cm. Compare their volumes.</a:t>
            </a:r>
          </a:p>
        </p:txBody>
      </p:sp>
    </p:spTree>
    <p:extLst>
      <p:ext uri="{BB962C8B-B14F-4D97-AF65-F5344CB8AC3E}">
        <p14:creationId xmlns:p14="http://schemas.microsoft.com/office/powerpoint/2010/main" val="467148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25A9E955-5B1C-4CB1-87E2-9EFB9C2A2268}"/>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0EDA8C72-538D-4D4D-9361-D7623002F9F1}"/>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08106A78-A000-49C2-8991-4336A1EDB9BE}"/>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E99DB300-AD26-4D94-86CF-04D3881322FB}"/>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Calculate cuboid volume</a:t>
            </a:r>
          </a:p>
        </p:txBody>
      </p:sp>
      <p:sp>
        <p:nvSpPr>
          <p:cNvPr id="5" name="object-5">
            <a:extLst>
              <a:ext uri="{FF2B5EF4-FFF2-40B4-BE49-F238E27FC236}">
                <a16:creationId xmlns:a16="http://schemas.microsoft.com/office/drawing/2014/main" id="{8933C02D-D5D6-41DB-89D3-0D1B191A137A}"/>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63FDB93A-B672-4B64-9DBC-796ED46CF8AC}"/>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B38D3F31-E4F5-403F-9894-BBC1A40F47AC}"/>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420 cm3.</a:t>
            </a:r>
          </a:p>
        </p:txBody>
      </p:sp>
      <p:sp>
        <p:nvSpPr>
          <p:cNvPr id="8" name="object-8">
            <a:extLst>
              <a:ext uri="{FF2B5EF4-FFF2-40B4-BE49-F238E27FC236}">
                <a16:creationId xmlns:a16="http://schemas.microsoft.com/office/drawing/2014/main" id="{B8FDD918-3D1A-4E67-AC9E-120B75FBA928}"/>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0346FF59-3BF7-4EED-AD98-43101681AB58}"/>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6 cm.</a:t>
            </a:r>
          </a:p>
        </p:txBody>
      </p:sp>
      <p:sp>
        <p:nvSpPr>
          <p:cNvPr id="10" name="object-10">
            <a:extLst>
              <a:ext uri="{FF2B5EF4-FFF2-40B4-BE49-F238E27FC236}">
                <a16:creationId xmlns:a16="http://schemas.microsoft.com/office/drawing/2014/main" id="{BBA70095-797D-437D-900E-35863513228D}"/>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D26C3217-BAA4-4BAB-879A-B35531A7BF7E}"/>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Both are 240 cm3.</a:t>
            </a:r>
          </a:p>
        </p:txBody>
      </p:sp>
      <p:sp>
        <p:nvSpPr>
          <p:cNvPr id="12" name="object-12">
            <a:extLst>
              <a:ext uri="{FF2B5EF4-FFF2-40B4-BE49-F238E27FC236}">
                <a16:creationId xmlns:a16="http://schemas.microsoft.com/office/drawing/2014/main" id="{536FDAF2-FD10-444E-A7AA-A93E54F5A467}"/>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380C55CF-5F92-4444-A5D3-638782EB223D}"/>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420 cm3.</a:t>
            </a:r>
          </a:p>
        </p:txBody>
      </p:sp>
      <p:sp>
        <p:nvSpPr>
          <p:cNvPr id="14" name="object-14">
            <a:extLst>
              <a:ext uri="{FF2B5EF4-FFF2-40B4-BE49-F238E27FC236}">
                <a16:creationId xmlns:a16="http://schemas.microsoft.com/office/drawing/2014/main" id="{7F8F8C24-A393-48AD-8026-60F98D2D791B}"/>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B30B9B46-F96A-43B3-935C-A1D621561C4F}"/>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6 cm. Method or representation may vary.</a:t>
            </a:r>
          </a:p>
        </p:txBody>
      </p:sp>
      <p:sp>
        <p:nvSpPr>
          <p:cNvPr id="16" name="object-16">
            <a:extLst>
              <a:ext uri="{FF2B5EF4-FFF2-40B4-BE49-F238E27FC236}">
                <a16:creationId xmlns:a16="http://schemas.microsoft.com/office/drawing/2014/main" id="{B140C7F4-018B-4E39-A6E7-8C95C88BDBDB}"/>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A3E85DA5-9CF7-45E7-99DC-0D8960475BAA}"/>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Both are 240 cm3. A valid check must be shown.</a:t>
            </a:r>
          </a:p>
        </p:txBody>
      </p:sp>
      <p:sp>
        <p:nvSpPr>
          <p:cNvPr id="18" name="object-18">
            <a:extLst>
              <a:ext uri="{FF2B5EF4-FFF2-40B4-BE49-F238E27FC236}">
                <a16:creationId xmlns:a16="http://schemas.microsoft.com/office/drawing/2014/main" id="{31B0047A-5676-4867-86CD-616BDA5A9265}"/>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867F6902-7C27-4B40-8855-05805786D07E}"/>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240 cubes. The explanation must show why the method works.</a:t>
            </a:r>
          </a:p>
        </p:txBody>
      </p:sp>
      <p:sp>
        <p:nvSpPr>
          <p:cNvPr id="20" name="object-20">
            <a:extLst>
              <a:ext uri="{FF2B5EF4-FFF2-40B4-BE49-F238E27FC236}">
                <a16:creationId xmlns:a16="http://schemas.microsoft.com/office/drawing/2014/main" id="{63B51B66-7DFD-4956-85A3-41AFE4337EE7}"/>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FDDFA404-2663-44C2-9727-8A0C55A67431}"/>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Volume measures space inside a solid, so multiply all three perpendicular dimensions and use cubic units.</a:t>
            </a:r>
          </a:p>
        </p:txBody>
      </p:sp>
      <p:sp>
        <p:nvSpPr>
          <p:cNvPr id="22" name="object-22">
            <a:extLst>
              <a:ext uri="{FF2B5EF4-FFF2-40B4-BE49-F238E27FC236}">
                <a16:creationId xmlns:a16="http://schemas.microsoft.com/office/drawing/2014/main" id="{9F0FB643-9373-42AC-8A39-95AACF042E40}"/>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1034566F-D51B-4E72-9D3C-2414D4C4F39C}"/>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614CCCA0-5605-4407-94F3-10B4321CAC11}"/>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00305554-4425-45E6-BDC3-A142BA304480}"/>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167001186"/>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1011</Words>
  <Application>Microsoft Office PowerPoint</Application>
  <DocSecurity>0</DocSecurity>
  <PresentationFormat>Custom</PresentationFormat>
  <Paragraphs>102</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2026-09-14T13:14:36Z</dcterms:created>
  <dcterms:modified xsi:type="dcterms:W3CDTF">2026-09-14T13:17:39Z</dcterms:modified>
</cp:coreProperties>
</file>