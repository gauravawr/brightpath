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664826446df4ddb" /><Relationship Type="http://schemas.openxmlformats.org/officeDocument/2006/relationships/extended-properties" Target="/docProps/app.xml" Id="R58dbaca45826443c" /><Relationship Type="http://schemas.openxmlformats.org/officeDocument/2006/relationships/officeDocument" Target="/ppt/presentation.xml" Id="Rd54e6d0b781e4b7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ff31580266a4a8f"/>
  </p:sldMasterIdLst>
  <p:notesMasterIdLst>
    <p:notesMasterId xmlns:r="http://schemas.openxmlformats.org/officeDocument/2006/relationships" r:id="R378ca3dcf49b4b2f"/>
  </p:notesMasterIdLst>
  <p:sldIdLst>
    <p:sldId xmlns:r="http://schemas.openxmlformats.org/officeDocument/2006/relationships" id="256" r:id="Rbbb3d161c5914425"/>
    <p:sldId xmlns:r="http://schemas.openxmlformats.org/officeDocument/2006/relationships" id="257" r:id="Rcb6551a5e78b4efa"/>
    <p:sldId xmlns:r="http://schemas.openxmlformats.org/officeDocument/2006/relationships" id="258" r:id="R392059579b144ce7"/>
    <p:sldId xmlns:r="http://schemas.openxmlformats.org/officeDocument/2006/relationships" id="259" r:id="Rd32dc34a522e4b85"/>
    <p:sldId xmlns:r="http://schemas.openxmlformats.org/officeDocument/2006/relationships" id="260" r:id="R13f7e99579104c24"/>
    <p:sldId xmlns:r="http://schemas.openxmlformats.org/officeDocument/2006/relationships" id="261" r:id="R0c3216d50b084a8a"/>
    <p:sldId xmlns:r="http://schemas.openxmlformats.org/officeDocument/2006/relationships" id="262" r:id="R30621950882e458d"/>
    <p:sldId xmlns:r="http://schemas.openxmlformats.org/officeDocument/2006/relationships" id="263" r:id="Ra8b596590d714642"/>
    <p:sldId xmlns:r="http://schemas.openxmlformats.org/officeDocument/2006/relationships" id="264" r:id="R537102dff63646e4"/>
    <p:sldId xmlns:r="http://schemas.openxmlformats.org/officeDocument/2006/relationships" id="265" r:id="R606b2fa76e8d4284"/>
    <p:sldId xmlns:r="http://schemas.openxmlformats.org/officeDocument/2006/relationships" id="266" r:id="R34d640eb481a4349"/>
    <p:sldId xmlns:r="http://schemas.openxmlformats.org/officeDocument/2006/relationships" id="267" r:id="R4b2c252a82e0438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1ef197b2d4747c2" /><Relationship Type="http://schemas.openxmlformats.org/officeDocument/2006/relationships/slideMaster" Target="/ppt/slideMasters/slideMaster1.xml" Id="Reff31580266a4a8f" /><Relationship Type="http://schemas.openxmlformats.org/officeDocument/2006/relationships/notesMaster" Target="/ppt/notesMasters/notesMaster1.xml" Id="R378ca3dcf49b4b2f" /><Relationship Type="http://schemas.openxmlformats.org/officeDocument/2006/relationships/presProps" Target="/ppt/presProps.xml" Id="R44aa600ae6d241b8" /><Relationship Type="http://schemas.openxmlformats.org/officeDocument/2006/relationships/tableStyles" Target="/ppt/tableStyles.xml" Id="R84a5ba956cfc44f8" /><Relationship Type="http://schemas.openxmlformats.org/officeDocument/2006/relationships/slide" Target="/ppt/slides/slide1.xml" Id="Rbbb3d161c5914425" /><Relationship Type="http://schemas.openxmlformats.org/officeDocument/2006/relationships/slide" Target="/ppt/slides/slide2.xml" Id="Rcb6551a5e78b4efa" /><Relationship Type="http://schemas.openxmlformats.org/officeDocument/2006/relationships/slide" Target="/ppt/slides/slide3.xml" Id="R392059579b144ce7" /><Relationship Type="http://schemas.openxmlformats.org/officeDocument/2006/relationships/slide" Target="/ppt/slides/slide4.xml" Id="Rd32dc34a522e4b85" /><Relationship Type="http://schemas.openxmlformats.org/officeDocument/2006/relationships/slide" Target="/ppt/slides/slide5.xml" Id="R13f7e99579104c24" /><Relationship Type="http://schemas.openxmlformats.org/officeDocument/2006/relationships/slide" Target="/ppt/slides/slide6.xml" Id="R0c3216d50b084a8a" /><Relationship Type="http://schemas.openxmlformats.org/officeDocument/2006/relationships/slide" Target="/ppt/slides/slide7.xml" Id="R30621950882e458d" /><Relationship Type="http://schemas.openxmlformats.org/officeDocument/2006/relationships/slide" Target="/ppt/slides/slide8.xml" Id="Ra8b596590d714642" /><Relationship Type="http://schemas.openxmlformats.org/officeDocument/2006/relationships/slide" Target="/ppt/slides/slide9.xml" Id="R537102dff63646e4" /><Relationship Type="http://schemas.openxmlformats.org/officeDocument/2006/relationships/slide" Target="/ppt/slides/slide10.xml" Id="R606b2fa76e8d4284" /><Relationship Type="http://schemas.openxmlformats.org/officeDocument/2006/relationships/slide" Target="/ppt/slides/slide11.xml" Id="R34d640eb481a4349" /><Relationship Type="http://schemas.openxmlformats.org/officeDocument/2006/relationships/slide" Target="/ppt/slides/slide12.xml" Id="R4b2c252a82e0438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595c884c37d492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d83620afa15460c" /><Relationship Type="http://schemas.openxmlformats.org/officeDocument/2006/relationships/notesMaster" Target="/ppt/notesMasters/notesMaster1.xml" Id="Rd37e4936ab06432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6dd26cf04654242" /><Relationship Type="http://schemas.openxmlformats.org/officeDocument/2006/relationships/notesMaster" Target="/ppt/notesMasters/notesMaster1.xml" Id="R3843c25719c0436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035376f21444247" /><Relationship Type="http://schemas.openxmlformats.org/officeDocument/2006/relationships/notesMaster" Target="/ppt/notesMasters/notesMaster1.xml" Id="Rf079ca3bbaa5490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497610bf111460a" /><Relationship Type="http://schemas.openxmlformats.org/officeDocument/2006/relationships/notesMaster" Target="/ppt/notesMasters/notesMaster1.xml" Id="R29a01270debf4ec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47362a3f84448aa" /><Relationship Type="http://schemas.openxmlformats.org/officeDocument/2006/relationships/notesMaster" Target="/ppt/notesMasters/notesMaster1.xml" Id="R693cee325c7746e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40d6dfce3da4b98" /><Relationship Type="http://schemas.openxmlformats.org/officeDocument/2006/relationships/notesMaster" Target="/ppt/notesMasters/notesMaster1.xml" Id="Re77efaee134f4df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ce1635b8ebe4d7b" /><Relationship Type="http://schemas.openxmlformats.org/officeDocument/2006/relationships/notesMaster" Target="/ppt/notesMasters/notesMaster1.xml" Id="Rfd880f018c954fd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de215a402d24bea" /><Relationship Type="http://schemas.openxmlformats.org/officeDocument/2006/relationships/notesMaster" Target="/ppt/notesMasters/notesMaster1.xml" Id="Rb24ae2021a364c5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e0fb883af144c92" /><Relationship Type="http://schemas.openxmlformats.org/officeDocument/2006/relationships/notesMaster" Target="/ppt/notesMasters/notesMaster1.xml" Id="Rfe4b72cc9a174a1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27ade62115d44ee" /><Relationship Type="http://schemas.openxmlformats.org/officeDocument/2006/relationships/notesMaster" Target="/ppt/notesMasters/notesMaster1.xml" Id="R877e3f60e3d34c2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09e9a8db47a4c5b" /><Relationship Type="http://schemas.openxmlformats.org/officeDocument/2006/relationships/notesMaster" Target="/ppt/notesMasters/notesMaster1.xml" Id="R6ab5d7ee3a38478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112f01d83434ae6" /><Relationship Type="http://schemas.openxmlformats.org/officeDocument/2006/relationships/notesMaster" Target="/ppt/notesMasters/notesMaster1.xml" Id="Rd06cffaf0b4c403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Change the date before teaching. Check resources. Read the learning intention aloud and clarify success. Resources: Unit cubes, cuboid nets, multilink cubes, squared paper, rulers, mini whiteboards.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Reveal each prompt on click. Use responses to identify pupils who need immediate rehearsal. Suggested responses: Pupil identifies a relevant fact, representation or method. | Both are 240 cm3. | Identify the three perpendicular dimensions in one unit. | Volume measures space inside a solid, so multiply all three perpendicular dimensions and use cubic units.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 the mathematical idea before asking pupils to solve. Define the vocabulary in context: volume, cuboid, cube, length, width, height, cubic unit. Reveal the three statements one at a time.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 do. Reveal the question, then reveal each mathematical change one click at a time. Point to the numbers and operation that changed before moving to the next line. Final answer: 6 cm.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Reveal the answer only after completing the method. Check it against the estimate, inverse or representation. Ask pupils to explain why the answer is reasonable.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We do. Give silent thinking time before paired talk. Take one step at a time. Do not reveal the answer until every pupil has committed. Answer: Both are 240 cm3.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Miro is a deliberate misconception prompt. Reveal his claim, let pupils identify the error, then reveal the correction. Do not present Miro as lacking ability. Correction: Volume measures space inside a solid, so multiply all three perpendicular dimensions and use cubic units.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whole-class response routines. Reveal each prompt separately. Expected answer: Both are 240 cm3.. Insist on a reason, not only a numerical response.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You do. Pupils complete the core question independently before discussion. Answer: 240 cubes.. Circulate and note methods as well as accuracy.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after secure fluency or as the higher worksheet route. Accept different correct approaches when fully justified. Expected response: 120 cubic units. The explanation must show why the method works.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Show only the core independent-practice example. Give pupils time to solve and check before revealing the answer at the side. Answer: 240 cubes.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Reveal one exit question at a time. Answers: 240 cubes. | Volume measures space inside a solid, so multiply all three perpendicular dimensions and use cubic units. | A relevant inverse, estimate, boundary, known fact or equivalent representation.. Record a specific next step from pupil work and explanation.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217112d548747c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8a7c5ac842e4c7b" /><Relationship Type="http://schemas.openxmlformats.org/officeDocument/2006/relationships/slideLayout" Target="/ppt/slideLayouts/slideLayout1.xml" Id="R32a73b93f3e54d8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2a73b93f3e54d8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f7a2690f8f46ec" /><Relationship Type="http://schemas.openxmlformats.org/officeDocument/2006/relationships/notesSlide" Target="/ppt/notesSlides/notesSlide1.xml" Id="R2a1a9fb07a424dc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dc4696d56b4bba" /><Relationship Type="http://schemas.openxmlformats.org/officeDocument/2006/relationships/notesSlide" Target="/ppt/notesSlides/notesSlide2.xml" Id="Rd47ec66025d14c3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29afceab2e4bd7" /><Relationship Type="http://schemas.openxmlformats.org/officeDocument/2006/relationships/notesSlide" Target="/ppt/notesSlides/notesSlide3.xml" Id="R9cfe95e611fb4c4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f4ab0352274c90" /><Relationship Type="http://schemas.openxmlformats.org/officeDocument/2006/relationships/notesSlide" Target="/ppt/notesSlides/notesSlide4.xml" Id="R8558ae67177143c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f6ef34d9c344d7" /><Relationship Type="http://schemas.openxmlformats.org/officeDocument/2006/relationships/notesSlide" Target="/ppt/notesSlides/notesSlide5.xml" Id="R10eb7f9ccac0447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3ed1f369444393" /><Relationship Type="http://schemas.openxmlformats.org/officeDocument/2006/relationships/notesSlide" Target="/ppt/notesSlides/notesSlide6.xml" Id="R9be2c844e0a84ff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3dbf66724142a1" /><Relationship Type="http://schemas.openxmlformats.org/officeDocument/2006/relationships/image" Target="/ppt/media/image.png" Id="R7e8d772645894dfb" /><Relationship Type="http://schemas.openxmlformats.org/officeDocument/2006/relationships/notesSlide" Target="/ppt/notesSlides/notesSlide7.xml" Id="Rcf3f3985b085408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1ad2afa4634247" /><Relationship Type="http://schemas.openxmlformats.org/officeDocument/2006/relationships/notesSlide" Target="/ppt/notesSlides/notesSlide8.xml" Id="R8219a5f7bd4e406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66e030b40c4e80" /><Relationship Type="http://schemas.openxmlformats.org/officeDocument/2006/relationships/notesSlide" Target="/ppt/notesSlides/notesSlide9.xml" Id="R3e978bfe3bc7426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f7695e16304c26" /><Relationship Type="http://schemas.openxmlformats.org/officeDocument/2006/relationships/notesSlide" Target="/ppt/notesSlides/notesSlide10.xml" Id="R76f6a4292872401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9a417d84fa45a7" /><Relationship Type="http://schemas.openxmlformats.org/officeDocument/2006/relationships/notesSlide" Target="/ppt/notesSlides/notesSlide11.xml" Id="R1285edaf185d43f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7daa1754ed4e93" /><Relationship Type="http://schemas.openxmlformats.org/officeDocument/2006/relationships/notesSlide" Target="/ppt/notesSlides/notesSlide12.xml" Id="R2a1f0ed71b2d484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2051B8-3A7A-4865-BDF7-150D771B6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49C63E-BEC6-471E-B8BD-4CBA31E2B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542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E189F8-C9A6-4D91-BAA0-80D7E8A1F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81000"/>
            <a:ext cx="2952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8324A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3B790D-DC40-4B22-BD42-10A344BD9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23875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452"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7253A"/>
                </a:solidFill>
                <a:latin typeface="Segoe Print"/>
                <a:ea typeface="Segoe Print"/>
                <a:cs typeface="Segoe Print"/>
              </a:defRPr>
            </a:pPr>
            <a:r>
              <a:rPr sz="1650" b="0">
                <a:solidFill>
                  <a:srgbClr val="17253A"/>
                </a:solidFill>
                <a:latin typeface="Segoe Print"/>
                <a:ea typeface="Segoe Print"/>
                <a:cs typeface="Segoe Print"/>
              </a:rPr>
              <a:t>Date:  ____ / ____ / ______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22B81D-8686-4B89-97F5-3F4BF86B0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0200"/>
            <a:ext cx="8572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Find missing dimensions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8B0270-13AC-48CD-B383-E97354611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71800"/>
            <a:ext cx="80962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8324A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64C4D5-CF30-4FEC-83D1-B90AA374E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62300"/>
            <a:ext cx="95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667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B4232B"/>
                </a:solidFill>
                <a:latin typeface="Segoe Print"/>
                <a:ea typeface="Segoe Print"/>
                <a:cs typeface="Segoe Print"/>
              </a:defRPr>
            </a:pPr>
            <a:r>
              <a:rPr sz="1875" b="1">
                <a:solidFill>
                  <a:srgbClr val="B4232B"/>
                </a:solidFill>
                <a:latin typeface="Segoe Print"/>
                <a:ea typeface="Segoe Print"/>
                <a:cs typeface="Segoe Print"/>
              </a:rPr>
              <a:t>L.I.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184841-1FAA-43A9-AB2F-FF5F7327F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71875"/>
            <a:ext cx="7524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253A"/>
                </a:solidFill>
                <a:latin typeface="Arial"/>
                <a:ea typeface="Arial"/>
                <a:cs typeface="Arial"/>
              </a:rPr>
              <a:t>To find a missing cuboid dimension from its volume.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38E61F-6A7E-4665-86DB-5D528BDF9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815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Ready for learning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E1E375-85DE-4BDD-B815-BEED1DC63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253A"/>
                </a:solidFill>
                <a:latin typeface="Arial"/>
                <a:ea typeface="Arial"/>
                <a:cs typeface="Arial"/>
              </a:rPr>
              <a:t>Pencil and ruler ready  |  Mini whiteboard ready  |  Unit cubes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F6F8371-B074-494C-BA6D-9DFAF0F97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571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Today: I do  |  We do  |  You do</a:t>
            </a:r>
          </a:p>
        </p:txBody>
      </p:sp>
    </p:spTree>
    <p:extLst>
      <p:ext uri="{BB962C8B-B14F-4D97-AF65-F5344CB8AC3E}">
        <p14:creationId xmlns:p14="http://schemas.microsoft.com/office/powerpoint/2010/main" val="181598891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21C112D-E008-4B1A-86E0-06088157F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C16950-311B-452F-9F51-B60A86CD6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RETRIEVE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8AA4FC-1D6A-4C0A-AFB8-565F58394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B4232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B7367D-5EC2-44DB-9F18-FF111C096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RETRIEVE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5255D3-F482-4509-9138-74C24EF11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Previous learning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F20D0D-AFDB-499E-BC6F-5B6AAB374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2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9D33DA-C516-4163-9F63-8766FC2D9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961065-6701-441B-BC56-DC528F1A9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6B451B-17DE-46C6-BD9B-518378BB5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Find missing dimensions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FD6E2F-5021-4D1E-B4DB-05D1B2D7B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2875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5FB6D65-58E3-4459-8288-7EDE127C1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6954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C9502CE-E6D3-4767-B4F2-484514C31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73355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CBAD253-7385-470A-8B44-F1F153390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161925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Which part of this prior learning is secure? Recognise, estimate and calculate the volume of cubes and cuboids.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C7E1B0A-3889-408C-BDE1-CA6DB31FD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14625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0427B59-ABD4-41F5-8089-1455A5B67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81325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02005A6-2707-48C3-B3F6-4C95CFC47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19425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EB4B462-8DD8-4846-BFDF-5293B038D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905125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Cuboid A is 8 x 6 x 5 cm. Cuboid B is 10 x 6 x 4 cm. Compare their volumes.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FA8450A-E012-40A0-8F8F-946CF8D85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9B4F453-DDDC-4E79-B364-7CA75CE10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672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B85574A-E412-4C71-88F3-B4097F65A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0530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B333E60-5F2C-42DD-8038-9DFFAD749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19100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Explain the first step you would take for: A cuboid has volume 360 cm3, length 12 cm and width 5 cm. Find its height.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6DB56EF-1DD2-4E52-8273-C4BC64084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476875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Commit on your whiteboard before discussing.</a:t>
            </a:r>
          </a:p>
        </p:txBody>
      </p:sp>
    </p:spTree>
    <p:extLst>
      <p:ext uri="{BB962C8B-B14F-4D97-AF65-F5344CB8AC3E}">
        <p14:creationId xmlns:p14="http://schemas.microsoft.com/office/powerpoint/2010/main" val="1129125407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7" grpId="0"/>
      <p:bldP spid="21" grpId="0"/>
    </p:bldLst>
  </p:timing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F8D3AB7-7B7D-470F-91BF-C58C1DEAB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EBB012-9B0B-475C-B302-FF39FABC6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LEARN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C45739-623E-42DD-B4E9-8244462FF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B4232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041FBE-C9AF-4342-83D7-45A57290F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LEARN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24AA19-C8F2-436B-9335-9E45886ED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New learning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76C261-718A-407C-86F2-F31B3F443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3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71B55C-F7E8-4061-A998-9DD732A00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0466B8-DEBA-4BC1-A897-EF2E408E2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B437EB-729A-457D-8510-9D380B34D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Find missing dimensions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8DF40E2-2D6E-43A3-AE8F-53DE8EE98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28750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To find a missing cuboid dimension from its volume.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BFF13F-096C-4DDB-BCA6-8E48399C7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00300"/>
            <a:ext cx="10096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2BC5671-7FD5-4538-8499-1750918A4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667000"/>
            <a:ext cx="981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8324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8324A"/>
                </a:solidFill>
                <a:latin typeface="Arial"/>
                <a:ea typeface="Arial"/>
                <a:cs typeface="Arial"/>
              </a:rPr>
              <a:t>Key idea: Identify the three perpendicular dimensions in one unit.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466F36A-AA37-4C17-A627-8E651C3C2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571875"/>
            <a:ext cx="981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Then: Multiply length by width by height.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F697FA4-15AA-478A-B89C-60ECF3280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476750"/>
            <a:ext cx="981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Check: Use cubic units and compare the result with an estimate.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46BD67E-D726-4069-B398-AE0E060D8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572125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Vocabulary: volume  |  cuboid  |  cube  |  length  |  width  |  height  |  cubic unit</a:t>
            </a:r>
          </a:p>
        </p:txBody>
      </p:sp>
    </p:spTree>
    <p:extLst>
      <p:ext uri="{BB962C8B-B14F-4D97-AF65-F5344CB8AC3E}">
        <p14:creationId xmlns:p14="http://schemas.microsoft.com/office/powerpoint/2010/main" val="1744336272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4" grpId="0"/>
    </p:bldLst>
  </p:timing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ADE6177-778E-42EA-87AC-A001AE7D5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4A9772-F7EF-48E4-A5E1-907687D1A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0A5665-96C0-4040-9E04-DA3EAEF4C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8324A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6A9A96-1CD5-47FF-8550-13C56AE3F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992326-B8C9-4EB4-AD9E-52B852F35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Worked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0BFF96-1C95-4AFC-B3BC-53649E955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4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031CF2-C5F2-4814-8E8E-18BE936C7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DB6E9F-9BC3-416C-B3D4-D42C62369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1D715C-BF07-4C5F-9773-D8FF2DFED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Find missing dimensions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C9C0B1-5C0C-4BBD-A3C1-F8D24CC11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219200"/>
            <a:ext cx="10477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A cuboid has volume 360 cm3, length 12 cm and width 5 cm. Find its height.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2379ABC-F875-44D1-BE16-5EF4415D9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124075"/>
            <a:ext cx="3810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859A16E-DBE2-4887-A663-4456FB469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20027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104A14E-1730-42C2-957B-627334B66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114550"/>
            <a:ext cx="9525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253A"/>
                </a:solidFill>
                <a:latin typeface="Arial"/>
                <a:ea typeface="Arial"/>
                <a:cs typeface="Arial"/>
              </a:rPr>
              <a:t>360 = 12 × 5 × height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DD9F272-CF7B-4B6E-8817-1934F2DE9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943225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3B67740-7BE7-4B84-A9FA-3424582D9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07657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9F9D62C-ED3E-41D1-8543-446E09224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990850"/>
            <a:ext cx="9525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253A"/>
                </a:solidFill>
                <a:latin typeface="Arial"/>
                <a:ea typeface="Arial"/>
                <a:cs typeface="Arial"/>
              </a:rPr>
              <a:t>12 × 5 = 60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A14B514-BCC8-4D0C-8942-F6648BDB2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819525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5536B5B-AC32-47FC-A3FC-D8C756445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95287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42C4A14-5692-40C5-B4D6-8B4828195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867150"/>
            <a:ext cx="9525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253A"/>
                </a:solidFill>
                <a:latin typeface="Arial"/>
                <a:ea typeface="Arial"/>
                <a:cs typeface="Arial"/>
              </a:rPr>
              <a:t>height = 360 ÷ 60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1B0205C-B57C-46BE-9569-79D92AFDA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695825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B76DB2F-95A6-4AE5-BF36-217C3D444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82917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9DEE2B1-498C-45D7-9586-D781590CE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743450"/>
            <a:ext cx="9525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height = 6 cm</a:t>
            </a:r>
          </a:p>
        </p:txBody>
      </p:sp>
    </p:spTree>
    <p:extLst>
      <p:ext uri="{BB962C8B-B14F-4D97-AF65-F5344CB8AC3E}">
        <p14:creationId xmlns:p14="http://schemas.microsoft.com/office/powerpoint/2010/main" val="200195678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3" grpId="0"/>
      <p:bldP spid="16" grpId="0"/>
      <p:bldP spid="19" grpId="0"/>
      <p:bldP spid="22" grpId="0"/>
    </p:bldLst>
  </p:timing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63D96C3-7213-4D12-A2F0-3B27A91BB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A46CEF-B65F-4867-B282-6C2D2575A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8530B4-A7E6-4960-80CC-5313D9A90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8324A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9B5C8C-4A59-46A5-A1B1-8D27FD19F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55EDF4-82F0-40D0-B6AF-BC68AE8B4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Worked answer and check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9A662F-9F79-4913-BB69-40B0017DF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5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835353-128A-4F03-A92E-264367D22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B81A7D-A7E9-439B-89CE-78C3C547B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7CD61C-1F55-466D-AEF0-114DC1B65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Find missing dimensions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295BEB-00E0-425C-924A-D5C3CC9C9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52400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Model answer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80BBC0-B40C-4C26-A2BA-2A9FE2380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047875"/>
            <a:ext cx="10191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6 cm.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C408FA1-324C-4176-AEBD-01100C252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638550"/>
            <a:ext cx="10191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632131-9315-410E-8F2B-B092F35BB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000500"/>
            <a:ext cx="9429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Reasonableness check: Use cubic units and compare the result with an estimate.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C715ECC-97D2-45C0-880B-540A04A0C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000625"/>
            <a:ext cx="9429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8324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8324A"/>
                </a:solidFill>
                <a:latin typeface="Arial"/>
                <a:ea typeface="Arial"/>
                <a:cs typeface="Arial"/>
              </a:rPr>
              <a:t>Explain which step carries the mathematical meaning and why.</a:t>
            </a:r>
          </a:p>
        </p:txBody>
      </p:sp>
    </p:spTree>
    <p:extLst>
      <p:ext uri="{BB962C8B-B14F-4D97-AF65-F5344CB8AC3E}">
        <p14:creationId xmlns:p14="http://schemas.microsoft.com/office/powerpoint/2010/main" val="800139910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3" grpId="0"/>
      <p:bldP spid="14" grpId="0"/>
    </p:bldLst>
  </p:timing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7447D90-D83B-4C21-B090-97F996F9E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825AEB-815A-4FF9-AE88-00E3C5EDE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WE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EF48DE-5314-4B3C-902B-03822AB1A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C6E73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AAFEEA-8E17-414C-B19B-062A51570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WE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D47A15-3FD0-41EB-B40B-9171F52DD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Guided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1DD876-3528-4AAE-B148-82D949BB4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6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D40503-D2E0-427F-A8CF-0B4C1C1A5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C7F226-37E2-42E2-9B96-536098641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E38074-E53F-4EDC-8A35-AC7AD3912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Find missing dimensions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1E25A0-E8CE-4FC8-BD1F-16E48F166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524000"/>
            <a:ext cx="10287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Cuboid A is 8 x 6 x 5 cm. Cuboid B is 10 x 6 x 4 cm. Compare their volumes.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8E8652-F4CC-47FB-8381-320246C85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04800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324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8324A"/>
                </a:solidFill>
                <a:latin typeface="Arial"/>
                <a:ea typeface="Arial"/>
                <a:cs typeface="Arial"/>
              </a:rPr>
              <a:t>Think alone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B6E1DD1-AD73-497C-9CAC-A968883AC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04800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Compare a step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7DDE96E-2A5E-488B-90F3-3B49B2036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04800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Commit together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83489D0-3DAD-4696-AB92-F1D72B587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857625"/>
            <a:ext cx="876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Which representation or operation will we use first?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996269E-E253-40D7-B45F-A320E64F3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810125"/>
            <a:ext cx="8763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Answer: Both are 240 cm3.</a:t>
            </a:r>
          </a:p>
        </p:txBody>
      </p:sp>
    </p:spTree>
    <p:extLst>
      <p:ext uri="{BB962C8B-B14F-4D97-AF65-F5344CB8AC3E}">
        <p14:creationId xmlns:p14="http://schemas.microsoft.com/office/powerpoint/2010/main" val="554116106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</p:bldLst>
  </p:timing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4268E52-75D3-4CE9-9DF6-F6364528B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580A00-CA56-4AA7-B51F-9A679F0AA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CHECK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854895-8F89-4B05-B83F-7ED658052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B4232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62AE3B-4629-4497-A09F-D60E7092F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CHECK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5A9212-9A2A-4FF3-A971-B14D56B35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Miro's misconception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B3360A-A7A1-4889-BA71-412A902F8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7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3AC76E-2896-4AFE-A98D-98444345A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87B12A-1850-47F0-B1B8-07E7F9B7D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AC628A-AF76-48CD-9A6B-47F040250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Find missing dimensions</a:t>
            </a:r>
          </a:p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e8d772645894dfb"/>
          <a:stretch xmlns:a="http://schemas.openxmlformats.org/drawingml/2006/main"/>
        </p:blipFill>
        <p:spPr>
          <a:xfrm xmlns:a="http://schemas.openxmlformats.org/drawingml/2006/main">
            <a:off x="8056563" y="1381125"/>
            <a:ext cx="2984500" cy="447675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BEBAEDB-0D35-4511-8E99-3DCE0F84F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52400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B423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B4232B"/>
                </a:solidFill>
                <a:latin typeface="Arial"/>
                <a:ea typeface="Arial"/>
                <a:cs typeface="Arial"/>
              </a:rPr>
              <a:t>Miro thinks...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E033FB0-9FD4-4DC3-99CA-A1C942800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095500"/>
            <a:ext cx="6477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Miro calculates the surface area or adds the three dimensions.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CE40AB1-CDDB-4294-BF33-5731B078D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857625"/>
            <a:ext cx="647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11C97D3-E77D-499A-8C32-3D3614454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171950"/>
            <a:ext cx="5905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What should Miro change?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E91F5A8-7971-4EBE-B2E7-795DE5003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714875"/>
            <a:ext cx="6477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Volume measures space inside a solid, so multiply all three perpendicular dimensions and use cubic units.</a:t>
            </a:r>
          </a:p>
        </p:txBody>
      </p:sp>
    </p:spTree>
    <p:extLst>
      <p:ext uri="{BB962C8B-B14F-4D97-AF65-F5344CB8AC3E}">
        <p14:creationId xmlns:p14="http://schemas.microsoft.com/office/powerpoint/2010/main" val="758935366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5" grpId="0"/>
    </p:bldLst>
  </p:timing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CFC2FB9-5F9A-4033-B912-242C5B9C9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87093F-F8B5-413D-8581-63BC2EB5A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WE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7A22B9-02D5-43F3-A172-A535F1C84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C6E73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B09211-414D-455F-9BFF-FC3F9BCD5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WE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8A646E-34AF-4291-8A81-EF53AF863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Guided check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678139-C6B8-4EF1-A30A-F96DC7E6D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8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8569ED-65FC-4FAC-B82F-49D7085D8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20CA7C-223E-4C6F-923A-F21F17A7E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8CCB24-0448-49B5-A50A-374A45E19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Find missing dimensions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D9797A-FEF2-48D1-A265-D9EAC72BF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2875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7E0D141-5DA7-4E0B-9F34-023AE280A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6954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E8E8329-FCC3-48C5-A1EE-F6AD4FD21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73355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D235FAB-B5BF-474E-A558-902841169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161925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Cuboid A is 8 x 6 x 5 cm. Cuboid B is 10 x 6 x 4 cm. Compare their volumes.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ECF2774-5B4C-492F-91D1-73E437AC6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14625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3ED70A1-AF66-45E7-80CF-75860C528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81325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CA803AD-ABE9-47C9-AC0F-70CE3718D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19425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E89EBF4-2935-4B80-ACB7-4469CB3D9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905125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Show the first step and explain why it comes first.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18E9732-02B1-461C-973C-F0899D782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FB654C6-05AC-465F-8C6C-8F83C9849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672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6861B94-E098-4205-ADC7-1AACD9BBF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0530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9170532-CFAD-4A21-8DCF-E6B3B47FB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19100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Compare with the answer: Both are 240 cm3.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258A8DB-450C-4626-9ADE-8FEC7836F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476875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Agree, disagree or improve the explanation.</a:t>
            </a:r>
          </a:p>
        </p:txBody>
      </p:sp>
    </p:spTree>
    <p:extLst>
      <p:ext uri="{BB962C8B-B14F-4D97-AF65-F5344CB8AC3E}">
        <p14:creationId xmlns:p14="http://schemas.microsoft.com/office/powerpoint/2010/main" val="1106545116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7" grpId="0"/>
      <p:bldP spid="21" grpId="0"/>
    </p:bldLst>
  </p:timing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63634D9-B5AE-4FA4-84CE-62FEE9058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A14FA6-C830-4B6F-B248-E8B300518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YOU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4CBB1C-1B19-4B32-AEF4-6B56062A1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F785D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7C261E-AF2B-4A24-82BC-0F1961E3D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YOU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3F20F3-5887-4FC4-8E4D-F7277A74A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Independent fluency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0D9631-6064-44D4-89CB-DE936BC48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9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9DEAAA-11C7-4C7E-A95D-2ADDCB563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A45332-5663-4542-BBDC-BDB483D2D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C17AD2-DD7F-4398-B627-469432452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Find missing dimensions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F5F990-F473-4747-9180-EBE8C2735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2875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28D6BAB-29EA-4764-881D-AA2EDDA30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6954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8AB3ADF-F425-4FD1-B604-19EF69FF1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73355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B7B3F8B-4792-4440-BB0F-B0C1731AF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161925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A box is 40 cm by 25 cm by 30 cm. How many 5 cm cubes fit exactly by volume?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BFE2F81-B0BC-416E-BA99-1FEFCD481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14625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CE14CE5-1F83-4F92-BA71-C1A6298CE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81325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18A1789-7CAA-4252-AF87-C4263E012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19425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62E49C0-69E1-4AC6-91E7-BBAC3C903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905125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Record every stage clearly. Mark the place value, operation or boundary that matters.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9533B50-281C-4C46-BE72-5BDA0BB41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D20FDA8-CEED-4FE5-AA83-9928ED443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672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2A1BC49-2100-4BF4-AD7D-ABBD63573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0530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21F230A-465E-4957-BEFB-F909F6C95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19100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Use an inverse, estimate or equivalent representation to check.</a:t>
            </a:r>
          </a:p>
        </p:txBody>
      </p:sp>
    </p:spTree>
    <p:extLst>
      <p:ext uri="{BB962C8B-B14F-4D97-AF65-F5344CB8AC3E}">
        <p14:creationId xmlns:p14="http://schemas.microsoft.com/office/powerpoint/2010/main" val="1373414386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7" grpId="0"/>
      <p:bldP spid="21" grpId="0"/>
    </p:bldLst>
  </p:timing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68A0F95-324F-4E27-A6E4-D10323F9F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64BAA1-82F3-4B16-8153-3E3707EC6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YOU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3AE362-04B2-459D-A005-26648D921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F785D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F47284-E7C1-47F7-BC19-967CF9D49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YOU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65376F-B000-4B06-80E0-BA869F56B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Reasoning and depth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B88686-1C4C-4A22-9918-542A88F8C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10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1AC15D-430A-4032-8778-83F467A5B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F9C735-6977-45F6-AEAB-057AAAC83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98143C-D21E-4079-87A4-9589CDEC7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Find missing dimensions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B648C55-9E01-4DDF-BC3E-EA7BC048E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524000"/>
            <a:ext cx="10191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Prove or explain your reasoning: A solid has 5 layers of 24 unit cubes. What is its volume?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338403D-35C4-4C1A-8C37-AEE85E5C4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143250"/>
            <a:ext cx="9334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8324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8324A"/>
                </a:solidFill>
                <a:latin typeface="Arial"/>
                <a:ea typeface="Arial"/>
                <a:cs typeface="Arial"/>
              </a:rPr>
              <a:t>Show enough evidence for another pupil to follow your reasoning.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F6F2371-6E10-4604-BC47-8B3C78997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143375"/>
            <a:ext cx="9334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Can you find a second method, example or counterexample?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CF7A38F-2679-4437-BBE8-197695BD4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143500"/>
            <a:ext cx="933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9242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Teacher check: 120 cubic units. The explanation must show why the method works.</a:t>
            </a:r>
          </a:p>
        </p:txBody>
      </p:sp>
    </p:spTree>
    <p:extLst>
      <p:ext uri="{BB962C8B-B14F-4D97-AF65-F5344CB8AC3E}">
        <p14:creationId xmlns:p14="http://schemas.microsoft.com/office/powerpoint/2010/main" val="1056186717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3" grpId="0"/>
    </p:bldLst>
  </p:timing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45A5643-EC2A-4EF3-86AF-0B1F80137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92A10C-1181-476F-869F-49A833056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PRACTISE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A2728E-4DCD-4FA9-9B1F-4C162B9DC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B4232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915EE6-E7E9-475B-976C-F6B032BCD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PRACTISE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C12E00-CD1A-47D5-838E-1433CF4C4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Independent practice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DC6D45-EF50-456A-8CA2-F7F0CCE2C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11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E6839E-13B6-46C7-9E6E-91EA2BA7A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328FD6-6893-4083-8C02-91871C913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582CC9-F5DF-426E-9070-2787B863E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Find missing dimensions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CB9CB8-9217-488E-B702-89942C491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76375"/>
            <a:ext cx="666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Try this example independently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0619B88-B546-461C-83C0-E23E5964C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47875"/>
            <a:ext cx="685800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9E0E6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57143F6-6530-48F2-A99A-698777966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400300"/>
            <a:ext cx="61150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A box is 40 cm by 25 cm by 30 cm. How many 5 cm cubes fit exactly by volume?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769D02-9022-4F8A-B1C9-A3AC9F9F5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095750"/>
            <a:ext cx="581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Show your method and check your answer.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430510E-0C6E-4569-8650-60D58D84A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666875"/>
            <a:ext cx="2619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Answer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4800F5C-8DF1-41C0-8BFD-3B6FA9067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190750"/>
            <a:ext cx="3048000" cy="2714625"/>
          </a:xfrm>
          <a:prstGeom xmlns:a="http://schemas.openxmlformats.org/drawingml/2006/main" prst="roundRect">
            <a:avLst>
              <a:gd name="adj" fmla="val 280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4288">
            <a:solidFill>
              <a:srgbClr val="2C6E7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EB63E5C-7844-4826-B366-69E633DA7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619375"/>
            <a:ext cx="2381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240 cubes.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858A93A-CF76-4D33-B4A0-393E151A9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000500"/>
            <a:ext cx="238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825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8324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8324A"/>
                </a:solidFill>
                <a:latin typeface="Arial"/>
                <a:ea typeface="Arial"/>
                <a:cs typeface="Arial"/>
              </a:rPr>
              <a:t>Explain how you know.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2EF6164-B3EF-44B5-9CFA-60F44D777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334000"/>
            <a:ext cx="781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The answer appears on click after pupils have committed.</a:t>
            </a:r>
          </a:p>
        </p:txBody>
      </p:sp>
    </p:spTree>
    <p:extLst>
      <p:ext uri="{BB962C8B-B14F-4D97-AF65-F5344CB8AC3E}">
        <p14:creationId xmlns:p14="http://schemas.microsoft.com/office/powerpoint/2010/main" val="1881911101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</p:bldLst>
  </p:timing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BF3EAF7-C49E-43C1-B5A0-C6317381A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FFD615-DD4C-4E0B-9493-D2F018D5F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ASSESS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DBF3CD-F0AB-41D2-A5A5-1CA1E3909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B4232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96176A-F96A-4DC6-86A6-D9C480BFE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ASSESS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A35129-213E-4B64-8BE8-F4F13CEC0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Exit check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70D415-5DF4-4FFB-89AC-1AA2C9A5E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12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237EDE-5002-4A07-B146-FA423E8DE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4BB032-2582-422A-872E-6E04EDFC7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7292A7-1E07-469C-8A8D-21C5A41C8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Find missing dimensions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AC73D1-F55B-4368-BDAC-D16320BAE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2875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BE9D22D-82C3-4064-97E3-65457BDA0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6954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9BA9D7A-4779-4F6E-99E0-9645FF430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73355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DC65052-426B-424C-ABB1-47975169D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161925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A box is 40 cm by 25 cm by 30 cm. How many 5 cm cubes fit exactly by volume?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2C7669B-F49B-4367-84F5-F8D9701C1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14625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F14A02F-B327-4EAC-B9BC-8CE7FD291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81325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7D21E60-07C5-4F4C-BEC6-F25431304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19425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4F262F3-73A3-48E1-ADFB-0F04AF5DD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905125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What should Miro correct? Miro calculates the surface area or adds the three dimensions.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470A624-818E-4BD1-BC63-BD1314851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D7065E3-997C-4C3E-8C4F-C2251376A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672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E75433D-FB77-436D-B72E-BF56B66F5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0530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83D8967-3EBD-463A-B17E-A2FD540DC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19100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Name the check you used today.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A4FB7AB-58C2-4314-9EB9-71D0E8AEE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476875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Teacher records: secure  |  revisit  |  pre-teach next</a:t>
            </a:r>
          </a:p>
        </p:txBody>
      </p:sp>
    </p:spTree>
    <p:extLst>
      <p:ext uri="{BB962C8B-B14F-4D97-AF65-F5344CB8AC3E}">
        <p14:creationId xmlns:p14="http://schemas.microsoft.com/office/powerpoint/2010/main" val="89670039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7" grpId="0"/>
      <p:bldP spid="21" grpId="0"/>
    </p:bldLst>
  </p:timing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2026-09-09T22:13:58.5260000Z</dcterms:created>
  <dcterms:modified xsi:type="dcterms:W3CDTF">2026-09-09T22:13:58.5260000Z</dcterms:modified>
</coreProperties>
</file>