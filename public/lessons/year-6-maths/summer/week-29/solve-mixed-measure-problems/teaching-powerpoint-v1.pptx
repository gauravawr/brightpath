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5240000" cy="8572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mixed measure problems. Solve mixed measure problems. Introduce the mathematical idea using the first worked example. The lesson can be placed anywhere in the teaching sequence.</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mixed measure problems.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mixed measure problems.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mixed measure problems. I do.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mixed measure problems. You do. Pause before clicking. Let pupils try independently, then reveal and discuss every step. Build the volume in equal layers. Multiply base area by the number of layers.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mixed measure problems. You do. Pause before clicking. Let pupils try independently, then reveal and discuss every step. These are the existing expected-level worksheet questions, in their original order. Do not advance to the answer slide until pupils have had time to finish.</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Solve mixed measure problems. Answers. Answers to the preceding complete activity question set, in matching order. Accept mathematically valid alternatives for open questions.</a:t>
            </a:r>
          </a:p>
          <a:p>
            <a:r>
              <a:t>All moving objects are editable. Each click advances a mathematical step. The final two slides reproduce the existing expected-level activity questions and answers.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object-1">
            <a:extLst>
              <a:ext uri="{FF2B5EF4-FFF2-40B4-BE49-F238E27FC236}">
                <a16:creationId xmlns:a16="http://schemas.microsoft.com/office/drawing/2014/main" id="{51F86D21-833E-4390-8D82-005AB7DCE5AD}"/>
              </a:ext>
            </a:extLst>
          </p:cNvPr>
          <p:cNvSpPr>
            <a:spLocks noGrp="1"/>
          </p:cNvSpPr>
          <p:nvPr/>
        </p:nvSpPr>
        <p:spPr>
          <a:xfrm>
            <a:off x="654844" y="357188"/>
            <a:ext cx="13930313" cy="1547813"/>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Solve mixed measure problems</a:t>
            </a:r>
          </a:p>
        </p:txBody>
      </p:sp>
      <p:sp>
        <p:nvSpPr>
          <p:cNvPr id="2" name="object-2">
            <a:extLst>
              <a:ext uri="{FF2B5EF4-FFF2-40B4-BE49-F238E27FC236}">
                <a16:creationId xmlns:a16="http://schemas.microsoft.com/office/drawing/2014/main" id="{9661915B-CA35-469A-BD7E-465DF080AB86}"/>
              </a:ext>
            </a:extLst>
          </p:cNvPr>
          <p:cNvSpPr>
            <a:spLocks noGrp="1"/>
          </p:cNvSpPr>
          <p:nvPr/>
        </p:nvSpPr>
        <p:spPr>
          <a:xfrm>
            <a:off x="654844" y="2024063"/>
            <a:ext cx="13930313" cy="1012031"/>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Watch the model. Try the next question. Explain what changes.</a:t>
            </a:r>
          </a:p>
        </p:txBody>
      </p:sp>
      <p:sp>
        <p:nvSpPr>
          <p:cNvPr id="3" name="object-3">
            <a:extLst>
              <a:ext uri="{FF2B5EF4-FFF2-40B4-BE49-F238E27FC236}">
                <a16:creationId xmlns:a16="http://schemas.microsoft.com/office/drawing/2014/main" id="{3B2E87A8-6EA6-4087-B000-A50A4E6534A7}"/>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0066149E-BC9D-4BE6-AE0E-BA4D6A92BE12}"/>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mixed measure problems</a:t>
            </a:r>
          </a:p>
        </p:txBody>
      </p:sp>
      <p:sp>
        <p:nvSpPr>
          <p:cNvPr id="5" name="object-5">
            <a:extLst>
              <a:ext uri="{FF2B5EF4-FFF2-40B4-BE49-F238E27FC236}">
                <a16:creationId xmlns:a16="http://schemas.microsoft.com/office/drawing/2014/main" id="{B2F2A9FD-2C48-4B30-8226-6DCE7C7182C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1</a:t>
            </a:r>
          </a:p>
        </p:txBody>
      </p:sp>
      <p:sp>
        <p:nvSpPr>
          <p:cNvPr id="6" name="object-6">
            <a:extLst>
              <a:ext uri="{FF2B5EF4-FFF2-40B4-BE49-F238E27FC236}">
                <a16:creationId xmlns:a16="http://schemas.microsoft.com/office/drawing/2014/main" id="{85E01085-01B7-4BDC-87AE-A349646F63CC}"/>
              </a:ext>
            </a:extLst>
          </p:cNvPr>
          <p:cNvSpPr>
            <a:spLocks noGrp="1"/>
          </p:cNvSpPr>
          <p:nvPr/>
        </p:nvSpPr>
        <p:spPr>
          <a:xfrm>
            <a:off x="1190625" y="3631406"/>
            <a:ext cx="12858750" cy="2143125"/>
          </a:xfrm>
          <a:prstGeom prst="rect">
            <a:avLst/>
          </a:prstGeom>
          <a:noFill/>
          <a:ln w="0">
            <a:noFill/>
          </a:ln>
        </p:spPr>
        <p:txBody>
          <a:bodyPr anchor="ctr">
            <a:noAutofit/>
          </a:bodyPr>
          <a:lstStyle/>
          <a:p>
            <a:pPr algn="ctr">
              <a:defRPr sz="3375" b="1">
                <a:solidFill>
                  <a:srgbClr val="1D4ED8"/>
                </a:solidFill>
                <a:latin typeface="Arial"/>
                <a:ea typeface="Arial"/>
                <a:cs typeface="Arial"/>
              </a:defRPr>
            </a:pPr>
            <a:r>
              <a:rPr sz="3375" b="1">
                <a:solidFill>
                  <a:srgbClr val="1D4ED8"/>
                </a:solidFill>
                <a:latin typeface="Arial"/>
                <a:ea typeface="Arial"/>
                <a:cs typeface="Arial"/>
              </a:rPr>
              <a:t>To combine conversion, area and volume reasoning.</a:t>
            </a:r>
          </a:p>
        </p:txBody>
      </p:sp>
    </p:spTree>
    <p:extLst>
      <p:ext uri="{BB962C8B-B14F-4D97-AF65-F5344CB8AC3E}">
        <p14:creationId xmlns:p14="http://schemas.microsoft.com/office/powerpoint/2010/main" val="2058696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object-1">
            <a:extLst>
              <a:ext uri="{FF2B5EF4-FFF2-40B4-BE49-F238E27FC236}">
                <a16:creationId xmlns:a16="http://schemas.microsoft.com/office/drawing/2014/main" id="{475754F8-F125-4175-BE30-4D988094A3B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BC601939-9E46-4907-9DFF-993AC9CCEDB7}"/>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A 12 × 8 × 5 cm cuboid is 1/3 full. Find the empty volume.</a:t>
            </a:r>
          </a:p>
        </p:txBody>
      </p:sp>
      <p:sp>
        <p:nvSpPr>
          <p:cNvPr id="3" name="object-3">
            <a:extLst>
              <a:ext uri="{FF2B5EF4-FFF2-40B4-BE49-F238E27FC236}">
                <a16:creationId xmlns:a16="http://schemas.microsoft.com/office/drawing/2014/main" id="{FB09122B-2EF8-45AA-8D9C-A9085623A0F6}"/>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C34AB384-E190-4E0F-AB54-78E44465C324}"/>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mixed measure problems</a:t>
            </a:r>
          </a:p>
        </p:txBody>
      </p:sp>
      <p:sp>
        <p:nvSpPr>
          <p:cNvPr id="5" name="object-5">
            <a:extLst>
              <a:ext uri="{FF2B5EF4-FFF2-40B4-BE49-F238E27FC236}">
                <a16:creationId xmlns:a16="http://schemas.microsoft.com/office/drawing/2014/main" id="{3426D10F-07EB-4482-B71B-B914616A863C}"/>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2</a:t>
            </a:r>
          </a:p>
        </p:txBody>
      </p:sp>
      <p:sp>
        <p:nvSpPr>
          <p:cNvPr id="6" name="object-6">
            <a:extLst>
              <a:ext uri="{FF2B5EF4-FFF2-40B4-BE49-F238E27FC236}">
                <a16:creationId xmlns:a16="http://schemas.microsoft.com/office/drawing/2014/main" id="{E267B5CD-BA46-4E09-94D3-80760DCBE21A}"/>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5C0E96D9-5BF3-4529-8D3F-60C459AB8B40}"/>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B5E98B46-2283-412C-972C-E631A5D13A83}"/>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0DD69F26-BDEE-4D20-8C95-0DB6D2A0E06E}"/>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5A62C686-1E91-492A-BA91-09085595FFB2}"/>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F3356E86-F40A-4D01-902C-01A480AC3928}"/>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2" name="object-12">
            <a:extLst>
              <a:ext uri="{FF2B5EF4-FFF2-40B4-BE49-F238E27FC236}">
                <a16:creationId xmlns:a16="http://schemas.microsoft.com/office/drawing/2014/main" id="{9B9FA734-6C06-4BD2-8E7F-018CC17EEC1D}"/>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 cm</a:t>
            </a:r>
          </a:p>
        </p:txBody>
      </p:sp>
      <p:sp>
        <p:nvSpPr>
          <p:cNvPr id="13" name="object-13">
            <a:extLst>
              <a:ext uri="{FF2B5EF4-FFF2-40B4-BE49-F238E27FC236}">
                <a16:creationId xmlns:a16="http://schemas.microsoft.com/office/drawing/2014/main" id="{DDDEB97E-3D9E-44C6-A80D-CF6871E744F6}"/>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8 = 96 cm² per layer</a:t>
            </a:r>
          </a:p>
        </p:txBody>
      </p:sp>
      <p:sp>
        <p:nvSpPr>
          <p:cNvPr id="14" name="object-14">
            <a:extLst>
              <a:ext uri="{FF2B5EF4-FFF2-40B4-BE49-F238E27FC236}">
                <a16:creationId xmlns:a16="http://schemas.microsoft.com/office/drawing/2014/main" id="{255084A5-22DF-42C9-94F9-31717400305F}"/>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96 × 5 = 480 cm³</a:t>
            </a:r>
          </a:p>
        </p:txBody>
      </p:sp>
      <p:sp>
        <p:nvSpPr>
          <p:cNvPr id="15" name="object-15">
            <a:extLst>
              <a:ext uri="{FF2B5EF4-FFF2-40B4-BE49-F238E27FC236}">
                <a16:creationId xmlns:a16="http://schemas.microsoft.com/office/drawing/2014/main" id="{E061A105-8DBB-403A-9048-5DF53BF7BC4F}"/>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480 × 2/3 = 320 cm³ empty</a:t>
            </a:r>
          </a:p>
        </p:txBody>
      </p:sp>
    </p:spTree>
    <p:extLst>
      <p:ext uri="{BB962C8B-B14F-4D97-AF65-F5344CB8AC3E}">
        <p14:creationId xmlns:p14="http://schemas.microsoft.com/office/powerpoint/2010/main" val="11794097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object-1">
            <a:extLst>
              <a:ext uri="{FF2B5EF4-FFF2-40B4-BE49-F238E27FC236}">
                <a16:creationId xmlns:a16="http://schemas.microsoft.com/office/drawing/2014/main" id="{AA11CA95-A961-4567-979D-8A18296CB69E}"/>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29074A78-4ABF-4FAB-AEF8-FE7D3B2C9820}"/>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715E845F-8749-477F-816D-1A742C872021}"/>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A 12 × 8 × 6 cm cuboid is 1/3 full. Find the empty volume.</a:t>
            </a:r>
          </a:p>
        </p:txBody>
      </p:sp>
      <p:sp>
        <p:nvSpPr>
          <p:cNvPr id="4" name="object-4">
            <a:extLst>
              <a:ext uri="{FF2B5EF4-FFF2-40B4-BE49-F238E27FC236}">
                <a16:creationId xmlns:a16="http://schemas.microsoft.com/office/drawing/2014/main" id="{42B02DE4-0673-478B-95C1-2677397F65B4}"/>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AC8A2F0A-45CF-4EB0-9E54-96EE0A56264D}"/>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mixed measure problems</a:t>
            </a:r>
          </a:p>
        </p:txBody>
      </p:sp>
      <p:sp>
        <p:nvSpPr>
          <p:cNvPr id="6" name="object-6">
            <a:extLst>
              <a:ext uri="{FF2B5EF4-FFF2-40B4-BE49-F238E27FC236}">
                <a16:creationId xmlns:a16="http://schemas.microsoft.com/office/drawing/2014/main" id="{260A2973-7760-4CF3-A992-1831B5648930}"/>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3</a:t>
            </a:r>
          </a:p>
        </p:txBody>
      </p:sp>
      <p:sp>
        <p:nvSpPr>
          <p:cNvPr id="7" name="object-7">
            <a:extLst>
              <a:ext uri="{FF2B5EF4-FFF2-40B4-BE49-F238E27FC236}">
                <a16:creationId xmlns:a16="http://schemas.microsoft.com/office/drawing/2014/main" id="{7F59A48E-AC00-4227-953F-9EB355EEE2FE}"/>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8B3DA715-D527-430A-AAD3-3C1D3D3F2249}"/>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890D2CCA-9F90-446B-99F8-21CE58886D1B}"/>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01D6A4FF-F096-4BB5-A0E2-08A1858635BD}"/>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3C3BC084-6186-4497-8071-AC3A09A7FC52}"/>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4CA4200E-AED7-475A-96DE-76CEB1C1F810}"/>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232A08A5-D422-4D5B-A10A-63AD80907885}"/>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4" name="object-14">
            <a:extLst>
              <a:ext uri="{FF2B5EF4-FFF2-40B4-BE49-F238E27FC236}">
                <a16:creationId xmlns:a16="http://schemas.microsoft.com/office/drawing/2014/main" id="{2B2EE168-FDC3-42C9-9EDE-9FF6075DD5E4}"/>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 cm</a:t>
            </a:r>
          </a:p>
        </p:txBody>
      </p:sp>
      <p:sp>
        <p:nvSpPr>
          <p:cNvPr id="15" name="object-15">
            <a:extLst>
              <a:ext uri="{FF2B5EF4-FFF2-40B4-BE49-F238E27FC236}">
                <a16:creationId xmlns:a16="http://schemas.microsoft.com/office/drawing/2014/main" id="{8CBC6112-CE50-4408-9277-B6ACC9E99ADC}"/>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8 = 96 cm² per layer</a:t>
            </a:r>
          </a:p>
        </p:txBody>
      </p:sp>
      <p:sp>
        <p:nvSpPr>
          <p:cNvPr id="16" name="object-16">
            <a:extLst>
              <a:ext uri="{FF2B5EF4-FFF2-40B4-BE49-F238E27FC236}">
                <a16:creationId xmlns:a16="http://schemas.microsoft.com/office/drawing/2014/main" id="{B2FBCCF6-71AA-4FA4-9847-BE5A8E5E3641}"/>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96 × 6 = 576 cm³</a:t>
            </a:r>
          </a:p>
        </p:txBody>
      </p:sp>
      <p:sp>
        <p:nvSpPr>
          <p:cNvPr id="17" name="object-17">
            <a:extLst>
              <a:ext uri="{FF2B5EF4-FFF2-40B4-BE49-F238E27FC236}">
                <a16:creationId xmlns:a16="http://schemas.microsoft.com/office/drawing/2014/main" id="{560694A3-255B-413D-9615-07F39E846E43}"/>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576 × 2/3 = 384 cm³ empty</a:t>
            </a:r>
          </a:p>
        </p:txBody>
      </p:sp>
    </p:spTree>
    <p:extLst>
      <p:ext uri="{BB962C8B-B14F-4D97-AF65-F5344CB8AC3E}">
        <p14:creationId xmlns:p14="http://schemas.microsoft.com/office/powerpoint/2010/main" val="17932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object-1">
            <a:extLst>
              <a:ext uri="{FF2B5EF4-FFF2-40B4-BE49-F238E27FC236}">
                <a16:creationId xmlns:a16="http://schemas.microsoft.com/office/drawing/2014/main" id="{B11D1074-149F-4B62-B634-093CACA33D48}"/>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I do</a:t>
            </a:r>
          </a:p>
        </p:txBody>
      </p:sp>
      <p:sp>
        <p:nvSpPr>
          <p:cNvPr id="2" name="object-2">
            <a:extLst>
              <a:ext uri="{FF2B5EF4-FFF2-40B4-BE49-F238E27FC236}">
                <a16:creationId xmlns:a16="http://schemas.microsoft.com/office/drawing/2014/main" id="{89464C5F-4285-4BE0-A0A6-BD903CFB45DB}"/>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A 12 × 8 × 7 cm cuboid is 1/3 full. Find the empty volume.</a:t>
            </a:r>
          </a:p>
        </p:txBody>
      </p:sp>
      <p:sp>
        <p:nvSpPr>
          <p:cNvPr id="3" name="object-3">
            <a:extLst>
              <a:ext uri="{FF2B5EF4-FFF2-40B4-BE49-F238E27FC236}">
                <a16:creationId xmlns:a16="http://schemas.microsoft.com/office/drawing/2014/main" id="{EABE902F-B0B7-4A0D-8C3E-25CA96F9861F}"/>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517A962F-2102-4175-BECA-2EE28899744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mixed measure problems</a:t>
            </a:r>
          </a:p>
        </p:txBody>
      </p:sp>
      <p:sp>
        <p:nvSpPr>
          <p:cNvPr id="5" name="object-5">
            <a:extLst>
              <a:ext uri="{FF2B5EF4-FFF2-40B4-BE49-F238E27FC236}">
                <a16:creationId xmlns:a16="http://schemas.microsoft.com/office/drawing/2014/main" id="{50CC7B6F-9BBD-4309-8D27-9B441AEA8614}"/>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4</a:t>
            </a:r>
          </a:p>
        </p:txBody>
      </p:sp>
      <p:sp>
        <p:nvSpPr>
          <p:cNvPr id="6" name="object-6">
            <a:extLst>
              <a:ext uri="{FF2B5EF4-FFF2-40B4-BE49-F238E27FC236}">
                <a16:creationId xmlns:a16="http://schemas.microsoft.com/office/drawing/2014/main" id="{3A71A86E-1033-46AB-B841-1A61197347DE}"/>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7" name="object-7">
            <a:extLst>
              <a:ext uri="{FF2B5EF4-FFF2-40B4-BE49-F238E27FC236}">
                <a16:creationId xmlns:a16="http://schemas.microsoft.com/office/drawing/2014/main" id="{97629783-E3CD-49C8-B9E7-50375BEF41BC}"/>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8" name="object-8">
            <a:extLst>
              <a:ext uri="{FF2B5EF4-FFF2-40B4-BE49-F238E27FC236}">
                <a16:creationId xmlns:a16="http://schemas.microsoft.com/office/drawing/2014/main" id="{549BC9E6-0CB2-4364-B75F-96F7EAB082D0}"/>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9" name="object-9">
            <a:extLst>
              <a:ext uri="{FF2B5EF4-FFF2-40B4-BE49-F238E27FC236}">
                <a16:creationId xmlns:a16="http://schemas.microsoft.com/office/drawing/2014/main" id="{3679B8E0-4B33-41FA-B415-B80DEBB44EEE}"/>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0" name="object-10">
            <a:extLst>
              <a:ext uri="{FF2B5EF4-FFF2-40B4-BE49-F238E27FC236}">
                <a16:creationId xmlns:a16="http://schemas.microsoft.com/office/drawing/2014/main" id="{80BB90C6-A72A-4811-AAC8-E0746936FEB1}"/>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1" name="object-11">
            <a:extLst>
              <a:ext uri="{FF2B5EF4-FFF2-40B4-BE49-F238E27FC236}">
                <a16:creationId xmlns:a16="http://schemas.microsoft.com/office/drawing/2014/main" id="{28EEA1AA-BD0F-4D1F-A953-3A2B81F9D8C6}"/>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2" name="object-12">
            <a:extLst>
              <a:ext uri="{FF2B5EF4-FFF2-40B4-BE49-F238E27FC236}">
                <a16:creationId xmlns:a16="http://schemas.microsoft.com/office/drawing/2014/main" id="{C3AA40FE-0629-4AE0-A2C3-1B2B205AC426}"/>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3" name="object-13">
            <a:extLst>
              <a:ext uri="{FF2B5EF4-FFF2-40B4-BE49-F238E27FC236}">
                <a16:creationId xmlns:a16="http://schemas.microsoft.com/office/drawing/2014/main" id="{E20F1774-E25A-4944-B0E2-093F05CE7822}"/>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4" name="object-14">
            <a:extLst>
              <a:ext uri="{FF2B5EF4-FFF2-40B4-BE49-F238E27FC236}">
                <a16:creationId xmlns:a16="http://schemas.microsoft.com/office/drawing/2014/main" id="{5DF46C77-2A6D-49B4-A168-18D54B528CEC}"/>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 cm</a:t>
            </a:r>
          </a:p>
        </p:txBody>
      </p:sp>
      <p:sp>
        <p:nvSpPr>
          <p:cNvPr id="15" name="object-15">
            <a:extLst>
              <a:ext uri="{FF2B5EF4-FFF2-40B4-BE49-F238E27FC236}">
                <a16:creationId xmlns:a16="http://schemas.microsoft.com/office/drawing/2014/main" id="{0415D8E6-DA1D-406C-A6CF-32A6B04DC8C4}"/>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8 = 96 cm² per layer</a:t>
            </a:r>
          </a:p>
        </p:txBody>
      </p:sp>
      <p:sp>
        <p:nvSpPr>
          <p:cNvPr id="16" name="object-16">
            <a:extLst>
              <a:ext uri="{FF2B5EF4-FFF2-40B4-BE49-F238E27FC236}">
                <a16:creationId xmlns:a16="http://schemas.microsoft.com/office/drawing/2014/main" id="{09B3E421-4025-46C7-915C-C0587013E252}"/>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96 × 7 = 672 cm³</a:t>
            </a:r>
          </a:p>
        </p:txBody>
      </p:sp>
      <p:sp>
        <p:nvSpPr>
          <p:cNvPr id="17" name="object-17">
            <a:extLst>
              <a:ext uri="{FF2B5EF4-FFF2-40B4-BE49-F238E27FC236}">
                <a16:creationId xmlns:a16="http://schemas.microsoft.com/office/drawing/2014/main" id="{6CE36257-4CE6-4538-B8CA-856BE4199E5C}"/>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672 × 2/3 = 448 cm³ empty</a:t>
            </a:r>
          </a:p>
        </p:txBody>
      </p:sp>
    </p:spTree>
    <p:extLst>
      <p:ext uri="{BB962C8B-B14F-4D97-AF65-F5344CB8AC3E}">
        <p14:creationId xmlns:p14="http://schemas.microsoft.com/office/powerpoint/2010/main" val="1586047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p:bldP spid="17"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object-1">
            <a:extLst>
              <a:ext uri="{FF2B5EF4-FFF2-40B4-BE49-F238E27FC236}">
                <a16:creationId xmlns:a16="http://schemas.microsoft.com/office/drawing/2014/main" id="{3D739EB0-01F6-4CA1-A498-45FB1107CBA6}"/>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B6B396BE-2180-43E8-9B41-114C11E7356E}"/>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C6F0259F-353C-4E76-AD1B-F8DEFF28FACE}"/>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A 12 × 8 × 8 cm cuboid is 1/3 full. Find the empty volume.</a:t>
            </a:r>
          </a:p>
        </p:txBody>
      </p:sp>
      <p:sp>
        <p:nvSpPr>
          <p:cNvPr id="4" name="object-4">
            <a:extLst>
              <a:ext uri="{FF2B5EF4-FFF2-40B4-BE49-F238E27FC236}">
                <a16:creationId xmlns:a16="http://schemas.microsoft.com/office/drawing/2014/main" id="{CF1579E9-9F88-40DE-8D05-F696FE4C5092}"/>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C25F217C-8DF5-4457-9285-412E4F1EBCB1}"/>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mixed measure problems</a:t>
            </a:r>
          </a:p>
        </p:txBody>
      </p:sp>
      <p:sp>
        <p:nvSpPr>
          <p:cNvPr id="6" name="object-6">
            <a:extLst>
              <a:ext uri="{FF2B5EF4-FFF2-40B4-BE49-F238E27FC236}">
                <a16:creationId xmlns:a16="http://schemas.microsoft.com/office/drawing/2014/main" id="{C5002FFD-625E-4A9E-B7C7-D42409897219}"/>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5</a:t>
            </a:r>
          </a:p>
        </p:txBody>
      </p:sp>
      <p:sp>
        <p:nvSpPr>
          <p:cNvPr id="7" name="object-7">
            <a:extLst>
              <a:ext uri="{FF2B5EF4-FFF2-40B4-BE49-F238E27FC236}">
                <a16:creationId xmlns:a16="http://schemas.microsoft.com/office/drawing/2014/main" id="{A2B9F856-0264-4462-A1CE-326D71B98634}"/>
              </a:ext>
            </a:extLst>
          </p:cNvPr>
          <p:cNvSpPr>
            <a:spLocks noGrp="1"/>
          </p:cNvSpPr>
          <p:nvPr/>
        </p:nvSpPr>
        <p:spPr>
          <a:xfrm>
            <a:off x="1666875" y="4822031"/>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8" name="object-8">
            <a:extLst>
              <a:ext uri="{FF2B5EF4-FFF2-40B4-BE49-F238E27FC236}">
                <a16:creationId xmlns:a16="http://schemas.microsoft.com/office/drawing/2014/main" id="{F7BE3EA2-58D6-40A5-B15D-1E23D5162BFE}"/>
              </a:ext>
            </a:extLst>
          </p:cNvPr>
          <p:cNvSpPr>
            <a:spLocks noGrp="1"/>
          </p:cNvSpPr>
          <p:nvPr/>
        </p:nvSpPr>
        <p:spPr>
          <a:xfrm>
            <a:off x="1666875" y="4619625"/>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9" name="object-9">
            <a:extLst>
              <a:ext uri="{FF2B5EF4-FFF2-40B4-BE49-F238E27FC236}">
                <a16:creationId xmlns:a16="http://schemas.microsoft.com/office/drawing/2014/main" id="{D54F7348-2AC5-45C8-88F3-094254FF7FD2}"/>
              </a:ext>
            </a:extLst>
          </p:cNvPr>
          <p:cNvSpPr>
            <a:spLocks noGrp="1"/>
          </p:cNvSpPr>
          <p:nvPr/>
        </p:nvSpPr>
        <p:spPr>
          <a:xfrm>
            <a:off x="1666875" y="4417219"/>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0" name="object-10">
            <a:extLst>
              <a:ext uri="{FF2B5EF4-FFF2-40B4-BE49-F238E27FC236}">
                <a16:creationId xmlns:a16="http://schemas.microsoft.com/office/drawing/2014/main" id="{346EF7F4-29F9-4148-8569-B048DF79BC20}"/>
              </a:ext>
            </a:extLst>
          </p:cNvPr>
          <p:cNvSpPr>
            <a:spLocks noGrp="1"/>
          </p:cNvSpPr>
          <p:nvPr/>
        </p:nvSpPr>
        <p:spPr>
          <a:xfrm>
            <a:off x="1666875" y="4214813"/>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1" name="object-11">
            <a:extLst>
              <a:ext uri="{FF2B5EF4-FFF2-40B4-BE49-F238E27FC236}">
                <a16:creationId xmlns:a16="http://schemas.microsoft.com/office/drawing/2014/main" id="{2A945BE8-155C-4E7C-9C58-B7E53BB724B6}"/>
              </a:ext>
            </a:extLst>
          </p:cNvPr>
          <p:cNvSpPr>
            <a:spLocks noGrp="1"/>
          </p:cNvSpPr>
          <p:nvPr/>
        </p:nvSpPr>
        <p:spPr>
          <a:xfrm>
            <a:off x="1666875" y="4012406"/>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2" name="object-12">
            <a:extLst>
              <a:ext uri="{FF2B5EF4-FFF2-40B4-BE49-F238E27FC236}">
                <a16:creationId xmlns:a16="http://schemas.microsoft.com/office/drawing/2014/main" id="{E73F36EA-D8D1-4D58-A01C-78A736825DA6}"/>
              </a:ext>
            </a:extLst>
          </p:cNvPr>
          <p:cNvSpPr>
            <a:spLocks noGrp="1"/>
          </p:cNvSpPr>
          <p:nvPr/>
        </p:nvSpPr>
        <p:spPr>
          <a:xfrm>
            <a:off x="1666875" y="3810000"/>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3" name="object-13">
            <a:extLst>
              <a:ext uri="{FF2B5EF4-FFF2-40B4-BE49-F238E27FC236}">
                <a16:creationId xmlns:a16="http://schemas.microsoft.com/office/drawing/2014/main" id="{AEF461E3-1CB5-4F41-A7CF-B3A0C3EB4EF8}"/>
              </a:ext>
            </a:extLst>
          </p:cNvPr>
          <p:cNvSpPr>
            <a:spLocks noGrp="1"/>
          </p:cNvSpPr>
          <p:nvPr/>
        </p:nvSpPr>
        <p:spPr>
          <a:xfrm>
            <a:off x="1666875" y="3607594"/>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93C5FD"/>
          </a:solidFill>
          <a:ln w="23813">
            <a:solidFill>
              <a:srgbClr val="1D4ED8"/>
            </a:solidFill>
          </a:ln>
        </p:spPr>
      </p:sp>
      <p:sp>
        <p:nvSpPr>
          <p:cNvPr id="14" name="object-14">
            <a:extLst>
              <a:ext uri="{FF2B5EF4-FFF2-40B4-BE49-F238E27FC236}">
                <a16:creationId xmlns:a16="http://schemas.microsoft.com/office/drawing/2014/main" id="{E4A7CFAB-C0B2-4829-AD55-BD0D16D92605}"/>
              </a:ext>
            </a:extLst>
          </p:cNvPr>
          <p:cNvSpPr>
            <a:spLocks noGrp="1"/>
          </p:cNvSpPr>
          <p:nvPr/>
        </p:nvSpPr>
        <p:spPr>
          <a:xfrm>
            <a:off x="1666875" y="3405188"/>
            <a:ext cx="5715000" cy="892969"/>
          </a:xfrm>
          <a:custGeom>
            <a:avLst/>
            <a:gdLst/>
            <a:ahLst/>
            <a:cxnLst/>
            <a:rect l="0" t="0" r="0" b="0"/>
            <a:pathLst>
              <a:path w="5715000" h="892969">
                <a:moveTo>
                  <a:pt x="0" y="892969"/>
                </a:moveTo>
                <a:lnTo>
                  <a:pt x="4286250" y="892969"/>
                </a:lnTo>
                <a:lnTo>
                  <a:pt x="5715000" y="0"/>
                </a:lnTo>
                <a:lnTo>
                  <a:pt x="1428750" y="0"/>
                </a:lnTo>
                <a:close/>
              </a:path>
            </a:pathLst>
          </a:custGeom>
          <a:solidFill>
            <a:srgbClr val="EFF6FF"/>
          </a:solidFill>
          <a:ln w="23813">
            <a:solidFill>
              <a:srgbClr val="1D4ED8"/>
            </a:solidFill>
          </a:ln>
        </p:spPr>
      </p:sp>
      <p:sp>
        <p:nvSpPr>
          <p:cNvPr id="15" name="object-15">
            <a:extLst>
              <a:ext uri="{FF2B5EF4-FFF2-40B4-BE49-F238E27FC236}">
                <a16:creationId xmlns:a16="http://schemas.microsoft.com/office/drawing/2014/main" id="{DA3D7226-4B2C-4631-894F-BD36B2CB659A}"/>
              </a:ext>
            </a:extLst>
          </p:cNvPr>
          <p:cNvSpPr>
            <a:spLocks noGrp="1"/>
          </p:cNvSpPr>
          <p:nvPr/>
        </p:nvSpPr>
        <p:spPr>
          <a:xfrm>
            <a:off x="2083594" y="6215063"/>
            <a:ext cx="2857500"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12 cm</a:t>
            </a:r>
          </a:p>
        </p:txBody>
      </p:sp>
      <p:sp>
        <p:nvSpPr>
          <p:cNvPr id="16" name="object-16">
            <a:extLst>
              <a:ext uri="{FF2B5EF4-FFF2-40B4-BE49-F238E27FC236}">
                <a16:creationId xmlns:a16="http://schemas.microsoft.com/office/drawing/2014/main" id="{76F62B64-05A7-4161-9968-479839AB30F8}"/>
              </a:ext>
            </a:extLst>
          </p:cNvPr>
          <p:cNvSpPr>
            <a:spLocks noGrp="1"/>
          </p:cNvSpPr>
          <p:nvPr/>
        </p:nvSpPr>
        <p:spPr>
          <a:xfrm>
            <a:off x="6191250" y="5655469"/>
            <a:ext cx="2143125" cy="654844"/>
          </a:xfrm>
          <a:prstGeom prst="rect">
            <a:avLst/>
          </a:prstGeom>
          <a:noFill/>
          <a:ln w="0">
            <a:noFill/>
          </a:ln>
        </p:spPr>
        <p:txBody>
          <a:bodyPr anchor="ctr">
            <a:noAutofit/>
          </a:bodyPr>
          <a:lstStyle/>
          <a:p>
            <a:pPr algn="l">
              <a:defRPr sz="2719" b="1">
                <a:solidFill>
                  <a:srgbClr val="1D4ED8"/>
                </a:solidFill>
                <a:latin typeface="Arial"/>
                <a:ea typeface="Arial"/>
                <a:cs typeface="Arial"/>
              </a:defRPr>
            </a:pPr>
            <a:r>
              <a:rPr sz="2719" b="1">
                <a:solidFill>
                  <a:srgbClr val="1D4ED8"/>
                </a:solidFill>
                <a:latin typeface="Arial"/>
                <a:ea typeface="Arial"/>
                <a:cs typeface="Arial"/>
              </a:rPr>
              <a:t>8 cm</a:t>
            </a:r>
          </a:p>
        </p:txBody>
      </p:sp>
      <p:sp>
        <p:nvSpPr>
          <p:cNvPr id="17" name="object-17">
            <a:extLst>
              <a:ext uri="{FF2B5EF4-FFF2-40B4-BE49-F238E27FC236}">
                <a16:creationId xmlns:a16="http://schemas.microsoft.com/office/drawing/2014/main" id="{5CDCDD74-10F8-493B-8C1B-D7A357FAA37C}"/>
              </a:ext>
            </a:extLst>
          </p:cNvPr>
          <p:cNvSpPr>
            <a:spLocks noGrp="1"/>
          </p:cNvSpPr>
          <p:nvPr/>
        </p:nvSpPr>
        <p:spPr>
          <a:xfrm>
            <a:off x="8870156" y="3250406"/>
            <a:ext cx="5476875" cy="1428750"/>
          </a:xfrm>
          <a:prstGeom prst="rect">
            <a:avLst/>
          </a:prstGeom>
          <a:noFill/>
          <a:ln w="0">
            <a:noFill/>
          </a:ln>
        </p:spPr>
        <p:txBody>
          <a:bodyPr anchor="ctr">
            <a:noAutofit/>
          </a:bodyPr>
          <a:lstStyle/>
          <a:p>
            <a:pPr algn="l">
              <a:defRPr sz="2906" b="1">
                <a:solidFill>
                  <a:srgbClr val="172B4D"/>
                </a:solidFill>
                <a:latin typeface="Arial"/>
                <a:ea typeface="Arial"/>
                <a:cs typeface="Arial"/>
              </a:defRPr>
            </a:pPr>
            <a:r>
              <a:rPr sz="2906" b="1">
                <a:solidFill>
                  <a:srgbClr val="172B4D"/>
                </a:solidFill>
                <a:latin typeface="Arial"/>
                <a:ea typeface="Arial"/>
                <a:cs typeface="Arial"/>
              </a:rPr>
              <a:t>12 × 8 = 96 cm² per layer</a:t>
            </a:r>
          </a:p>
        </p:txBody>
      </p:sp>
      <p:sp>
        <p:nvSpPr>
          <p:cNvPr id="18" name="object-18">
            <a:extLst>
              <a:ext uri="{FF2B5EF4-FFF2-40B4-BE49-F238E27FC236}">
                <a16:creationId xmlns:a16="http://schemas.microsoft.com/office/drawing/2014/main" id="{3D1363B0-9634-4461-8354-ACACFB61E7B5}"/>
              </a:ext>
            </a:extLst>
          </p:cNvPr>
          <p:cNvSpPr>
            <a:spLocks noGrp="1"/>
          </p:cNvSpPr>
          <p:nvPr/>
        </p:nvSpPr>
        <p:spPr>
          <a:xfrm>
            <a:off x="8870156" y="5179219"/>
            <a:ext cx="5476875" cy="1309688"/>
          </a:xfrm>
          <a:prstGeom prst="rect">
            <a:avLst/>
          </a:prstGeom>
          <a:noFill/>
          <a:ln w="0">
            <a:noFill/>
          </a:ln>
        </p:spPr>
        <p:txBody>
          <a:bodyPr anchor="ctr">
            <a:noAutofit/>
          </a:bodyPr>
          <a:lstStyle/>
          <a:p>
            <a:pPr algn="l">
              <a:defRPr sz="3188" b="1">
                <a:solidFill>
                  <a:srgbClr val="11745A"/>
                </a:solidFill>
                <a:latin typeface="Arial"/>
                <a:ea typeface="Arial"/>
                <a:cs typeface="Arial"/>
              </a:defRPr>
            </a:pPr>
            <a:r>
              <a:rPr sz="3188" b="1">
                <a:solidFill>
                  <a:srgbClr val="11745A"/>
                </a:solidFill>
                <a:latin typeface="Arial"/>
                <a:ea typeface="Arial"/>
                <a:cs typeface="Arial"/>
              </a:rPr>
              <a:t>96 × 8 = 768 cm³</a:t>
            </a:r>
          </a:p>
        </p:txBody>
      </p:sp>
      <p:sp>
        <p:nvSpPr>
          <p:cNvPr id="19" name="object-19">
            <a:extLst>
              <a:ext uri="{FF2B5EF4-FFF2-40B4-BE49-F238E27FC236}">
                <a16:creationId xmlns:a16="http://schemas.microsoft.com/office/drawing/2014/main" id="{395AC180-3F92-4F90-91B2-ECD93FBE27D1}"/>
              </a:ext>
            </a:extLst>
          </p:cNvPr>
          <p:cNvSpPr>
            <a:spLocks noGrp="1"/>
          </p:cNvSpPr>
          <p:nvPr/>
        </p:nvSpPr>
        <p:spPr>
          <a:xfrm>
            <a:off x="892969" y="6965156"/>
            <a:ext cx="13454063" cy="738188"/>
          </a:xfrm>
          <a:prstGeom prst="rect">
            <a:avLst/>
          </a:prstGeom>
          <a:noFill/>
          <a:ln w="0">
            <a:noFill/>
          </a:ln>
        </p:spPr>
        <p:txBody>
          <a:bodyPr anchor="ctr">
            <a:noAutofit/>
          </a:bodyPr>
          <a:lstStyle/>
          <a:p>
            <a:pPr algn="ctr">
              <a:defRPr sz="2813" b="1">
                <a:solidFill>
                  <a:srgbClr val="11745A"/>
                </a:solidFill>
                <a:latin typeface="Arial"/>
                <a:ea typeface="Arial"/>
                <a:cs typeface="Arial"/>
              </a:defRPr>
            </a:pPr>
            <a:r>
              <a:rPr sz="2813" b="1">
                <a:solidFill>
                  <a:srgbClr val="11745A"/>
                </a:solidFill>
                <a:latin typeface="Arial"/>
                <a:ea typeface="Arial"/>
                <a:cs typeface="Arial"/>
              </a:rPr>
              <a:t>768 × 2/3 = 512 cm³ empty</a:t>
            </a:r>
          </a:p>
        </p:txBody>
      </p:sp>
    </p:spTree>
    <p:extLst>
      <p:ext uri="{BB962C8B-B14F-4D97-AF65-F5344CB8AC3E}">
        <p14:creationId xmlns:p14="http://schemas.microsoft.com/office/powerpoint/2010/main" val="543333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object-1">
            <a:extLst>
              <a:ext uri="{FF2B5EF4-FFF2-40B4-BE49-F238E27FC236}">
                <a16:creationId xmlns:a16="http://schemas.microsoft.com/office/drawing/2014/main" id="{3473A3D7-15EF-41F5-8C99-968C69BD3B9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You do</a:t>
            </a:r>
          </a:p>
        </p:txBody>
      </p:sp>
      <p:sp>
        <p:nvSpPr>
          <p:cNvPr id="2" name="object-2">
            <a:extLst>
              <a:ext uri="{FF2B5EF4-FFF2-40B4-BE49-F238E27FC236}">
                <a16:creationId xmlns:a16="http://schemas.microsoft.com/office/drawing/2014/main" id="{A1280DE2-F846-4630-83E5-C5D859D59302}"/>
              </a:ext>
            </a:extLst>
          </p:cNvPr>
          <p:cNvSpPr>
            <a:spLocks noGrp="1"/>
          </p:cNvSpPr>
          <p:nvPr/>
        </p:nvSpPr>
        <p:spPr>
          <a:xfrm>
            <a:off x="11430000" y="476250"/>
            <a:ext cx="3155156" cy="547688"/>
          </a:xfrm>
          <a:prstGeom prst="rect">
            <a:avLst/>
          </a:prstGeom>
          <a:noFill/>
          <a:ln w="0">
            <a:noFill/>
          </a:ln>
        </p:spPr>
        <p:txBody>
          <a:bodyPr anchor="ctr">
            <a:noAutofit/>
          </a:bodyPr>
          <a:lstStyle/>
          <a:p>
            <a:pPr algn="r">
              <a:defRPr sz="2625" b="0">
                <a:solidFill>
                  <a:srgbClr val="52647A"/>
                </a:solidFill>
                <a:latin typeface="Arial"/>
                <a:ea typeface="Arial"/>
                <a:cs typeface="Arial"/>
              </a:defRPr>
            </a:pPr>
            <a:r>
              <a:rPr sz="2625" b="0">
                <a:solidFill>
                  <a:srgbClr val="52647A"/>
                </a:solidFill>
                <a:latin typeface="Arial"/>
                <a:ea typeface="Arial"/>
                <a:cs typeface="Arial"/>
              </a:rPr>
              <a:t>You try.</a:t>
            </a:r>
          </a:p>
        </p:txBody>
      </p:sp>
      <p:sp>
        <p:nvSpPr>
          <p:cNvPr id="3" name="object-3">
            <a:extLst>
              <a:ext uri="{FF2B5EF4-FFF2-40B4-BE49-F238E27FC236}">
                <a16:creationId xmlns:a16="http://schemas.microsoft.com/office/drawing/2014/main" id="{61DE23CE-6D00-4FCC-9D46-D2CFBED32212}"/>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Try these questions.</a:t>
            </a:r>
          </a:p>
        </p:txBody>
      </p:sp>
      <p:sp>
        <p:nvSpPr>
          <p:cNvPr id="4" name="object-4">
            <a:extLst>
              <a:ext uri="{FF2B5EF4-FFF2-40B4-BE49-F238E27FC236}">
                <a16:creationId xmlns:a16="http://schemas.microsoft.com/office/drawing/2014/main" id="{25A2D38A-9087-4646-955B-F0C94C47A3CB}"/>
              </a:ext>
            </a:extLst>
          </p:cNvPr>
          <p:cNvSpPr>
            <a:spLocks noGrp="1"/>
          </p:cNvSpPr>
          <p:nvPr/>
        </p:nvSpPr>
        <p:spPr>
          <a:xfrm>
            <a:off x="654844" y="8012906"/>
            <a:ext cx="13930313" cy="11906"/>
          </a:xfrm>
          <a:prstGeom prst="rect">
            <a:avLst/>
          </a:prstGeom>
          <a:solidFill>
            <a:srgbClr val="BCD0EA"/>
          </a:solidFill>
          <a:ln w="0">
            <a:noFill/>
          </a:ln>
        </p:spPr>
      </p:sp>
      <p:sp>
        <p:nvSpPr>
          <p:cNvPr id="5" name="object-5">
            <a:extLst>
              <a:ext uri="{FF2B5EF4-FFF2-40B4-BE49-F238E27FC236}">
                <a16:creationId xmlns:a16="http://schemas.microsoft.com/office/drawing/2014/main" id="{EC1DC113-2E07-4B53-A42F-CF5B8F90DE1A}"/>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mixed measure problems</a:t>
            </a:r>
          </a:p>
        </p:txBody>
      </p:sp>
      <p:sp>
        <p:nvSpPr>
          <p:cNvPr id="6" name="object-6">
            <a:extLst>
              <a:ext uri="{FF2B5EF4-FFF2-40B4-BE49-F238E27FC236}">
                <a16:creationId xmlns:a16="http://schemas.microsoft.com/office/drawing/2014/main" id="{E9EA7ADC-4874-409E-A4A3-850CA319602E}"/>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6</a:t>
            </a:r>
          </a:p>
        </p:txBody>
      </p:sp>
      <p:sp>
        <p:nvSpPr>
          <p:cNvPr id="7" name="object-7">
            <a:extLst>
              <a:ext uri="{FF2B5EF4-FFF2-40B4-BE49-F238E27FC236}">
                <a16:creationId xmlns:a16="http://schemas.microsoft.com/office/drawing/2014/main" id="{59EFDADF-B886-40EA-B5E0-DFD57B23BF6D}"/>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8" name="object-8">
            <a:extLst>
              <a:ext uri="{FF2B5EF4-FFF2-40B4-BE49-F238E27FC236}">
                <a16:creationId xmlns:a16="http://schemas.microsoft.com/office/drawing/2014/main" id="{ADCFCAAC-44BD-442F-9152-1561EA7BA345}"/>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cuboid is 12 cm by 8 cm by 5 cm. A third of its volume is filled. What volume remains empty?</a:t>
            </a:r>
          </a:p>
        </p:txBody>
      </p:sp>
      <p:sp>
        <p:nvSpPr>
          <p:cNvPr id="9" name="object-9">
            <a:extLst>
              <a:ext uri="{FF2B5EF4-FFF2-40B4-BE49-F238E27FC236}">
                <a16:creationId xmlns:a16="http://schemas.microsoft.com/office/drawing/2014/main" id="{BAB79270-4DF9-4B20-ABAF-2FF7AF1A5A11}"/>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10" name="object-10">
            <a:extLst>
              <a:ext uri="{FF2B5EF4-FFF2-40B4-BE49-F238E27FC236}">
                <a16:creationId xmlns:a16="http://schemas.microsoft.com/office/drawing/2014/main" id="{10B43177-9098-436A-A94D-311BB5CC83C5}"/>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A pie-chart sector is 126 degrees and represents 42 pupils. How many pupils are in the survey?</a:t>
            </a:r>
          </a:p>
        </p:txBody>
      </p:sp>
      <p:sp>
        <p:nvSpPr>
          <p:cNvPr id="11" name="object-11">
            <a:extLst>
              <a:ext uri="{FF2B5EF4-FFF2-40B4-BE49-F238E27FC236}">
                <a16:creationId xmlns:a16="http://schemas.microsoft.com/office/drawing/2014/main" id="{87D5C0CE-C3CC-4CCB-BA17-12EBD209FA22}"/>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2" name="object-12">
            <a:extLst>
              <a:ext uri="{FF2B5EF4-FFF2-40B4-BE49-F238E27FC236}">
                <a16:creationId xmlns:a16="http://schemas.microsoft.com/office/drawing/2014/main" id="{99001746-4AFF-41E6-BD82-667ACA21B156}"/>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Create two different calculations using 3/4, 0.6 and 25% that both give 30.</a:t>
            </a:r>
          </a:p>
        </p:txBody>
      </p:sp>
      <p:sp>
        <p:nvSpPr>
          <p:cNvPr id="13" name="object-13">
            <a:extLst>
              <a:ext uri="{FF2B5EF4-FFF2-40B4-BE49-F238E27FC236}">
                <a16:creationId xmlns:a16="http://schemas.microsoft.com/office/drawing/2014/main" id="{D06D19D4-9D3E-4542-80BD-C89145A496C6}"/>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4" name="object-14">
            <a:extLst>
              <a:ext uri="{FF2B5EF4-FFF2-40B4-BE49-F238E27FC236}">
                <a16:creationId xmlns:a16="http://schemas.microsoft.com/office/drawing/2014/main" id="{248BAE6A-1234-4CF4-BCDD-648E321B5924}"/>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Solve this independently and show every stage: A cuboid is 12 cm by 8 cm by 5 cm. A third of its volume is filled. What volume remains empty?</a:t>
            </a:r>
          </a:p>
        </p:txBody>
      </p:sp>
      <p:sp>
        <p:nvSpPr>
          <p:cNvPr id="15" name="object-15">
            <a:extLst>
              <a:ext uri="{FF2B5EF4-FFF2-40B4-BE49-F238E27FC236}">
                <a16:creationId xmlns:a16="http://schemas.microsoft.com/office/drawing/2014/main" id="{0C6C5F71-39EF-44BB-8B4C-7FACABA153DB}"/>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6" name="object-16">
            <a:extLst>
              <a:ext uri="{FF2B5EF4-FFF2-40B4-BE49-F238E27FC236}">
                <a16:creationId xmlns:a16="http://schemas.microsoft.com/office/drawing/2014/main" id="{E06FA504-A54E-4955-92DB-AC0601A1B00E}"/>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Use a second method or representation for: A pie-chart sector is 126 degrees and represents 42 pupils. How many pupils are in the survey?</a:t>
            </a:r>
          </a:p>
        </p:txBody>
      </p:sp>
      <p:sp>
        <p:nvSpPr>
          <p:cNvPr id="17" name="object-17">
            <a:extLst>
              <a:ext uri="{FF2B5EF4-FFF2-40B4-BE49-F238E27FC236}">
                <a16:creationId xmlns:a16="http://schemas.microsoft.com/office/drawing/2014/main" id="{213CB29E-EFD1-4E23-A7F1-52CC5D7B6208}"/>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8" name="object-18">
            <a:extLst>
              <a:ext uri="{FF2B5EF4-FFF2-40B4-BE49-F238E27FC236}">
                <a16:creationId xmlns:a16="http://schemas.microsoft.com/office/drawing/2014/main" id="{F9A690A8-2F1C-4796-92A6-F23BC391A367}"/>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Check this result using an inverse, estimate or known fact: Create two different calculations using 3/4, 0.6 and 25% that both give 30.</a:t>
            </a:r>
          </a:p>
        </p:txBody>
      </p:sp>
      <p:sp>
        <p:nvSpPr>
          <p:cNvPr id="19" name="object-19">
            <a:extLst>
              <a:ext uri="{FF2B5EF4-FFF2-40B4-BE49-F238E27FC236}">
                <a16:creationId xmlns:a16="http://schemas.microsoft.com/office/drawing/2014/main" id="{8F738CB9-8571-48B9-A5F8-EF53967F9112}"/>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20" name="object-20">
            <a:extLst>
              <a:ext uri="{FF2B5EF4-FFF2-40B4-BE49-F238E27FC236}">
                <a16:creationId xmlns:a16="http://schemas.microsoft.com/office/drawing/2014/main" id="{D1A0FF3B-4B44-4EDF-A8B0-02EC983C20FA}"/>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Prove or explain your reasoning: A quantity increases from 240 by 15%, then decreases by 20%. Find the final quantity.</a:t>
            </a:r>
          </a:p>
        </p:txBody>
      </p:sp>
      <p:sp>
        <p:nvSpPr>
          <p:cNvPr id="21" name="object-21">
            <a:extLst>
              <a:ext uri="{FF2B5EF4-FFF2-40B4-BE49-F238E27FC236}">
                <a16:creationId xmlns:a16="http://schemas.microsoft.com/office/drawing/2014/main" id="{7DA3B681-ED49-4741-9AA2-F66AD7EA3BE8}"/>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2" name="object-22">
            <a:extLst>
              <a:ext uri="{FF2B5EF4-FFF2-40B4-BE49-F238E27FC236}">
                <a16:creationId xmlns:a16="http://schemas.microsoft.com/office/drawing/2014/main" id="{5791764E-27C0-45C2-97E7-2E172CCC2B92}"/>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Identify and correct this misconception: Miro starts calculating before deciding what the problem asks and which information matters.</a:t>
            </a:r>
          </a:p>
        </p:txBody>
      </p:sp>
      <p:sp>
        <p:nvSpPr>
          <p:cNvPr id="23" name="object-23">
            <a:extLst>
              <a:ext uri="{FF2B5EF4-FFF2-40B4-BE49-F238E27FC236}">
                <a16:creationId xmlns:a16="http://schemas.microsoft.com/office/drawing/2014/main" id="{6F8989B2-6D01-470E-AB0E-698B3AE097D1}"/>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4" name="object-24">
            <a:extLst>
              <a:ext uri="{FF2B5EF4-FFF2-40B4-BE49-F238E27FC236}">
                <a16:creationId xmlns:a16="http://schemas.microsoft.com/office/drawing/2014/main" id="{62A456EE-085A-451E-9DBD-2DFCB17A4096}"/>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 complete sentence explaining how you checked one answer.</a:t>
            </a:r>
          </a:p>
        </p:txBody>
      </p:sp>
      <p:sp>
        <p:nvSpPr>
          <p:cNvPr id="25" name="object-25">
            <a:extLst>
              <a:ext uri="{FF2B5EF4-FFF2-40B4-BE49-F238E27FC236}">
                <a16:creationId xmlns:a16="http://schemas.microsoft.com/office/drawing/2014/main" id="{1692A7F4-0C1B-46FB-9946-5E1017636246}"/>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6" name="object-26">
            <a:extLst>
              <a:ext uri="{FF2B5EF4-FFF2-40B4-BE49-F238E27FC236}">
                <a16:creationId xmlns:a16="http://schemas.microsoft.com/office/drawing/2014/main" id="{6A59BE5F-78C5-4436-A9B3-A1129D61B7C8}"/>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72B4D"/>
                </a:solidFill>
                <a:latin typeface="Arial"/>
                <a:ea typeface="Arial"/>
                <a:cs typeface="Arial"/>
              </a:defRPr>
            </a:pPr>
            <a:r>
              <a:rPr sz="1800" b="0">
                <a:solidFill>
                  <a:srgbClr val="172B4D"/>
                </a:solidFill>
                <a:latin typeface="Arial"/>
                <a:ea typeface="Arial"/>
                <a:cs typeface="Arial"/>
              </a:rPr>
              <a:t>Write and solve a similar question to: Create two different calculations using 3/4, 0.6 and 25% that both give 30.</a:t>
            </a:r>
          </a:p>
        </p:txBody>
      </p:sp>
    </p:spTree>
    <p:extLst>
      <p:ext uri="{BB962C8B-B14F-4D97-AF65-F5344CB8AC3E}">
        <p14:creationId xmlns:p14="http://schemas.microsoft.com/office/powerpoint/2010/main" val="6947080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6" name="object-1">
            <a:extLst>
              <a:ext uri="{FF2B5EF4-FFF2-40B4-BE49-F238E27FC236}">
                <a16:creationId xmlns:a16="http://schemas.microsoft.com/office/drawing/2014/main" id="{0E8F83D9-B061-4D30-BA90-00F854F7ADD0}"/>
              </a:ext>
            </a:extLst>
          </p:cNvPr>
          <p:cNvSpPr>
            <a:spLocks noGrp="1"/>
          </p:cNvSpPr>
          <p:nvPr/>
        </p:nvSpPr>
        <p:spPr>
          <a:xfrm>
            <a:off x="654844" y="357188"/>
            <a:ext cx="13930313" cy="714375"/>
          </a:xfrm>
          <a:prstGeom prst="rect">
            <a:avLst/>
          </a:prstGeom>
          <a:noFill/>
          <a:ln w="0">
            <a:noFill/>
          </a:ln>
        </p:spPr>
        <p:txBody>
          <a:bodyPr anchor="ctr">
            <a:noAutofit/>
          </a:bodyPr>
          <a:lstStyle/>
          <a:p>
            <a:pPr algn="l">
              <a:defRPr sz="4125" b="1">
                <a:solidFill>
                  <a:srgbClr val="1D4ED8"/>
                </a:solidFill>
                <a:latin typeface="Arial"/>
                <a:ea typeface="Arial"/>
                <a:cs typeface="Arial"/>
              </a:defRPr>
            </a:pPr>
            <a:r>
              <a:rPr sz="4125" b="1">
                <a:solidFill>
                  <a:srgbClr val="1D4ED8"/>
                </a:solidFill>
                <a:latin typeface="Arial"/>
                <a:ea typeface="Arial"/>
                <a:cs typeface="Arial"/>
              </a:rPr>
              <a:t>Answers</a:t>
            </a:r>
          </a:p>
        </p:txBody>
      </p:sp>
      <p:sp>
        <p:nvSpPr>
          <p:cNvPr id="2" name="object-2">
            <a:extLst>
              <a:ext uri="{FF2B5EF4-FFF2-40B4-BE49-F238E27FC236}">
                <a16:creationId xmlns:a16="http://schemas.microsoft.com/office/drawing/2014/main" id="{439A41DC-BD4D-452D-AF80-A18CF8995D41}"/>
              </a:ext>
            </a:extLst>
          </p:cNvPr>
          <p:cNvSpPr>
            <a:spLocks noGrp="1"/>
          </p:cNvSpPr>
          <p:nvPr/>
        </p:nvSpPr>
        <p:spPr>
          <a:xfrm>
            <a:off x="654844" y="1250156"/>
            <a:ext cx="13930313" cy="1190625"/>
          </a:xfrm>
          <a:prstGeom prst="rect">
            <a:avLst/>
          </a:prstGeom>
          <a:noFill/>
          <a:ln w="0">
            <a:noFill/>
          </a:ln>
        </p:spPr>
        <p:txBody>
          <a:bodyPr anchor="ctr">
            <a:noAutofit/>
          </a:bodyPr>
          <a:lstStyle/>
          <a:p>
            <a:pPr algn="l">
              <a:defRPr sz="2625" b="1">
                <a:solidFill>
                  <a:srgbClr val="172B4D"/>
                </a:solidFill>
                <a:latin typeface="Arial"/>
                <a:ea typeface="Arial"/>
                <a:cs typeface="Arial"/>
              </a:defRPr>
            </a:pPr>
            <a:r>
              <a:rPr sz="2625" b="1">
                <a:solidFill>
                  <a:srgbClr val="172B4D"/>
                </a:solidFill>
                <a:latin typeface="Arial"/>
                <a:ea typeface="Arial"/>
                <a:cs typeface="Arial"/>
              </a:rPr>
              <a:t>Check your answers. Explain any corrections.</a:t>
            </a:r>
          </a:p>
        </p:txBody>
      </p:sp>
      <p:sp>
        <p:nvSpPr>
          <p:cNvPr id="3" name="object-3">
            <a:extLst>
              <a:ext uri="{FF2B5EF4-FFF2-40B4-BE49-F238E27FC236}">
                <a16:creationId xmlns:a16="http://schemas.microsoft.com/office/drawing/2014/main" id="{AB3140D6-F71A-44C6-A442-762C5A22DF64}"/>
              </a:ext>
            </a:extLst>
          </p:cNvPr>
          <p:cNvSpPr>
            <a:spLocks noGrp="1"/>
          </p:cNvSpPr>
          <p:nvPr/>
        </p:nvSpPr>
        <p:spPr>
          <a:xfrm>
            <a:off x="654844" y="8012906"/>
            <a:ext cx="13930313" cy="11906"/>
          </a:xfrm>
          <a:prstGeom prst="rect">
            <a:avLst/>
          </a:prstGeom>
          <a:solidFill>
            <a:srgbClr val="BCD0EA"/>
          </a:solidFill>
          <a:ln w="0">
            <a:noFill/>
          </a:ln>
        </p:spPr>
      </p:sp>
      <p:sp>
        <p:nvSpPr>
          <p:cNvPr id="4" name="object-4">
            <a:extLst>
              <a:ext uri="{FF2B5EF4-FFF2-40B4-BE49-F238E27FC236}">
                <a16:creationId xmlns:a16="http://schemas.microsoft.com/office/drawing/2014/main" id="{362A4A86-D02E-4DB5-9CAB-5FECC86C3A33}"/>
              </a:ext>
            </a:extLst>
          </p:cNvPr>
          <p:cNvSpPr>
            <a:spLocks noGrp="1"/>
          </p:cNvSpPr>
          <p:nvPr/>
        </p:nvSpPr>
        <p:spPr>
          <a:xfrm>
            <a:off x="654844" y="8120063"/>
            <a:ext cx="12977813" cy="285750"/>
          </a:xfrm>
          <a:prstGeom prst="rect">
            <a:avLst/>
          </a:prstGeom>
          <a:noFill/>
          <a:ln w="0">
            <a:noFill/>
          </a:ln>
        </p:spPr>
        <p:txBody>
          <a:bodyPr anchor="ctr">
            <a:noAutofit/>
          </a:bodyPr>
          <a:lstStyle/>
          <a:p>
            <a:pPr algn="l">
              <a:defRPr sz="1219" b="0">
                <a:solidFill>
                  <a:srgbClr val="52647A"/>
                </a:solidFill>
                <a:latin typeface="Arial"/>
                <a:ea typeface="Arial"/>
                <a:cs typeface="Arial"/>
              </a:defRPr>
            </a:pPr>
            <a:r>
              <a:rPr sz="1219" b="0">
                <a:solidFill>
                  <a:srgbClr val="52647A"/>
                </a:solidFill>
                <a:latin typeface="Arial"/>
                <a:ea typeface="Arial"/>
                <a:cs typeface="Arial"/>
              </a:rPr>
              <a:t>BrightPath · Solve mixed measure problems</a:t>
            </a:r>
          </a:p>
        </p:txBody>
      </p:sp>
      <p:sp>
        <p:nvSpPr>
          <p:cNvPr id="5" name="object-5">
            <a:extLst>
              <a:ext uri="{FF2B5EF4-FFF2-40B4-BE49-F238E27FC236}">
                <a16:creationId xmlns:a16="http://schemas.microsoft.com/office/drawing/2014/main" id="{7C242697-0495-4CB9-932C-A1CEB2EDF388}"/>
              </a:ext>
            </a:extLst>
          </p:cNvPr>
          <p:cNvSpPr>
            <a:spLocks noGrp="1"/>
          </p:cNvSpPr>
          <p:nvPr/>
        </p:nvSpPr>
        <p:spPr>
          <a:xfrm>
            <a:off x="13811250" y="8120063"/>
            <a:ext cx="773906" cy="285750"/>
          </a:xfrm>
          <a:prstGeom prst="rect">
            <a:avLst/>
          </a:prstGeom>
          <a:noFill/>
          <a:ln w="0">
            <a:noFill/>
          </a:ln>
        </p:spPr>
        <p:txBody>
          <a:bodyPr anchor="ctr">
            <a:noAutofit/>
          </a:bodyPr>
          <a:lstStyle/>
          <a:p>
            <a:pPr algn="r">
              <a:defRPr sz="1219" b="0">
                <a:solidFill>
                  <a:srgbClr val="52647A"/>
                </a:solidFill>
                <a:latin typeface="Arial"/>
                <a:ea typeface="Arial"/>
                <a:cs typeface="Arial"/>
              </a:defRPr>
            </a:pPr>
            <a:r>
              <a:rPr sz="1219" b="0">
                <a:solidFill>
                  <a:srgbClr val="52647A"/>
                </a:solidFill>
                <a:latin typeface="Arial"/>
                <a:ea typeface="Arial"/>
                <a:cs typeface="Arial"/>
              </a:rPr>
              <a:t>7</a:t>
            </a:r>
          </a:p>
        </p:txBody>
      </p:sp>
      <p:sp>
        <p:nvSpPr>
          <p:cNvPr id="6" name="object-6">
            <a:extLst>
              <a:ext uri="{FF2B5EF4-FFF2-40B4-BE49-F238E27FC236}">
                <a16:creationId xmlns:a16="http://schemas.microsoft.com/office/drawing/2014/main" id="{7016651A-55BE-475F-97C3-2FCD6291509A}"/>
              </a:ext>
            </a:extLst>
          </p:cNvPr>
          <p:cNvSpPr>
            <a:spLocks noGrp="1"/>
          </p:cNvSpPr>
          <p:nvPr/>
        </p:nvSpPr>
        <p:spPr>
          <a:xfrm>
            <a:off x="773906"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a:t>
            </a:r>
          </a:p>
        </p:txBody>
      </p:sp>
      <p:sp>
        <p:nvSpPr>
          <p:cNvPr id="7" name="object-7">
            <a:extLst>
              <a:ext uri="{FF2B5EF4-FFF2-40B4-BE49-F238E27FC236}">
                <a16:creationId xmlns:a16="http://schemas.microsoft.com/office/drawing/2014/main" id="{5E3144D1-61A0-4D39-9FFC-A5FD94409011}"/>
              </a:ext>
            </a:extLst>
          </p:cNvPr>
          <p:cNvSpPr>
            <a:spLocks noGrp="1"/>
          </p:cNvSpPr>
          <p:nvPr/>
        </p:nvSpPr>
        <p:spPr>
          <a:xfrm>
            <a:off x="1464469"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320 cm3.</a:t>
            </a:r>
          </a:p>
        </p:txBody>
      </p:sp>
      <p:sp>
        <p:nvSpPr>
          <p:cNvPr id="8" name="object-8">
            <a:extLst>
              <a:ext uri="{FF2B5EF4-FFF2-40B4-BE49-F238E27FC236}">
                <a16:creationId xmlns:a16="http://schemas.microsoft.com/office/drawing/2014/main" id="{368EB239-CCE3-47A3-8FBA-3ADEEF2A92C9}"/>
              </a:ext>
            </a:extLst>
          </p:cNvPr>
          <p:cNvSpPr>
            <a:spLocks noGrp="1"/>
          </p:cNvSpPr>
          <p:nvPr/>
        </p:nvSpPr>
        <p:spPr>
          <a:xfrm>
            <a:off x="773906"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2.</a:t>
            </a:r>
          </a:p>
        </p:txBody>
      </p:sp>
      <p:sp>
        <p:nvSpPr>
          <p:cNvPr id="9" name="object-9">
            <a:extLst>
              <a:ext uri="{FF2B5EF4-FFF2-40B4-BE49-F238E27FC236}">
                <a16:creationId xmlns:a16="http://schemas.microsoft.com/office/drawing/2014/main" id="{12D34569-D009-4AAD-8C3D-3D060C4FB99A}"/>
              </a:ext>
            </a:extLst>
          </p:cNvPr>
          <p:cNvSpPr>
            <a:spLocks noGrp="1"/>
          </p:cNvSpPr>
          <p:nvPr/>
        </p:nvSpPr>
        <p:spPr>
          <a:xfrm>
            <a:off x="1464469"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120 pupils.</a:t>
            </a:r>
          </a:p>
        </p:txBody>
      </p:sp>
      <p:sp>
        <p:nvSpPr>
          <p:cNvPr id="10" name="object-10">
            <a:extLst>
              <a:ext uri="{FF2B5EF4-FFF2-40B4-BE49-F238E27FC236}">
                <a16:creationId xmlns:a16="http://schemas.microsoft.com/office/drawing/2014/main" id="{22F23026-05B2-4592-9652-0953BF8EF042}"/>
              </a:ext>
            </a:extLst>
          </p:cNvPr>
          <p:cNvSpPr>
            <a:spLocks noGrp="1"/>
          </p:cNvSpPr>
          <p:nvPr/>
        </p:nvSpPr>
        <p:spPr>
          <a:xfrm>
            <a:off x="773906"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3.</a:t>
            </a:r>
          </a:p>
        </p:txBody>
      </p:sp>
      <p:sp>
        <p:nvSpPr>
          <p:cNvPr id="11" name="object-11">
            <a:extLst>
              <a:ext uri="{FF2B5EF4-FFF2-40B4-BE49-F238E27FC236}">
                <a16:creationId xmlns:a16="http://schemas.microsoft.com/office/drawing/2014/main" id="{8321706D-637B-4D53-99D1-1E07EBFF549D}"/>
              </a:ext>
            </a:extLst>
          </p:cNvPr>
          <p:cNvSpPr>
            <a:spLocks noGrp="1"/>
          </p:cNvSpPr>
          <p:nvPr/>
        </p:nvSpPr>
        <p:spPr>
          <a:xfrm>
            <a:off x="1464469"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and must preserve the stated values and give 30.</a:t>
            </a:r>
          </a:p>
        </p:txBody>
      </p:sp>
      <p:sp>
        <p:nvSpPr>
          <p:cNvPr id="12" name="object-12">
            <a:extLst>
              <a:ext uri="{FF2B5EF4-FFF2-40B4-BE49-F238E27FC236}">
                <a16:creationId xmlns:a16="http://schemas.microsoft.com/office/drawing/2014/main" id="{B9AA7A18-878E-416C-A1B0-8D3636EE53D4}"/>
              </a:ext>
            </a:extLst>
          </p:cNvPr>
          <p:cNvSpPr>
            <a:spLocks noGrp="1"/>
          </p:cNvSpPr>
          <p:nvPr/>
        </p:nvSpPr>
        <p:spPr>
          <a:xfrm>
            <a:off x="773906"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4.</a:t>
            </a:r>
          </a:p>
        </p:txBody>
      </p:sp>
      <p:sp>
        <p:nvSpPr>
          <p:cNvPr id="13" name="object-13">
            <a:extLst>
              <a:ext uri="{FF2B5EF4-FFF2-40B4-BE49-F238E27FC236}">
                <a16:creationId xmlns:a16="http://schemas.microsoft.com/office/drawing/2014/main" id="{48C018FF-5A51-4B2B-9CAA-0F1FB25818E1}"/>
              </a:ext>
            </a:extLst>
          </p:cNvPr>
          <p:cNvSpPr>
            <a:spLocks noGrp="1"/>
          </p:cNvSpPr>
          <p:nvPr/>
        </p:nvSpPr>
        <p:spPr>
          <a:xfrm>
            <a:off x="1464469"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320 cm3.</a:t>
            </a:r>
          </a:p>
        </p:txBody>
      </p:sp>
      <p:sp>
        <p:nvSpPr>
          <p:cNvPr id="14" name="object-14">
            <a:extLst>
              <a:ext uri="{FF2B5EF4-FFF2-40B4-BE49-F238E27FC236}">
                <a16:creationId xmlns:a16="http://schemas.microsoft.com/office/drawing/2014/main" id="{A386E712-DE73-4595-B844-734C75701869}"/>
              </a:ext>
            </a:extLst>
          </p:cNvPr>
          <p:cNvSpPr>
            <a:spLocks noGrp="1"/>
          </p:cNvSpPr>
          <p:nvPr/>
        </p:nvSpPr>
        <p:spPr>
          <a:xfrm>
            <a:off x="773906"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5.</a:t>
            </a:r>
          </a:p>
        </p:txBody>
      </p:sp>
      <p:sp>
        <p:nvSpPr>
          <p:cNvPr id="15" name="object-15">
            <a:extLst>
              <a:ext uri="{FF2B5EF4-FFF2-40B4-BE49-F238E27FC236}">
                <a16:creationId xmlns:a16="http://schemas.microsoft.com/office/drawing/2014/main" id="{8AC3E858-F525-4155-9D76-89925EE11D52}"/>
              </a:ext>
            </a:extLst>
          </p:cNvPr>
          <p:cNvSpPr>
            <a:spLocks noGrp="1"/>
          </p:cNvSpPr>
          <p:nvPr/>
        </p:nvSpPr>
        <p:spPr>
          <a:xfrm>
            <a:off x="1464469"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120 pupils. Method or representation may vary.</a:t>
            </a:r>
          </a:p>
        </p:txBody>
      </p:sp>
      <p:sp>
        <p:nvSpPr>
          <p:cNvPr id="16" name="object-16">
            <a:extLst>
              <a:ext uri="{FF2B5EF4-FFF2-40B4-BE49-F238E27FC236}">
                <a16:creationId xmlns:a16="http://schemas.microsoft.com/office/drawing/2014/main" id="{A445048A-7879-45F5-AC63-1A0E3155471B}"/>
              </a:ext>
            </a:extLst>
          </p:cNvPr>
          <p:cNvSpPr>
            <a:spLocks noGrp="1"/>
          </p:cNvSpPr>
          <p:nvPr/>
        </p:nvSpPr>
        <p:spPr>
          <a:xfrm>
            <a:off x="8215313" y="2512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6.</a:t>
            </a:r>
          </a:p>
        </p:txBody>
      </p:sp>
      <p:sp>
        <p:nvSpPr>
          <p:cNvPr id="17" name="object-17">
            <a:extLst>
              <a:ext uri="{FF2B5EF4-FFF2-40B4-BE49-F238E27FC236}">
                <a16:creationId xmlns:a16="http://schemas.microsoft.com/office/drawing/2014/main" id="{67D62FBD-F736-470E-BB31-68F7C8C1E8D0}"/>
              </a:ext>
            </a:extLst>
          </p:cNvPr>
          <p:cNvSpPr>
            <a:spLocks noGrp="1"/>
          </p:cNvSpPr>
          <p:nvPr/>
        </p:nvSpPr>
        <p:spPr>
          <a:xfrm>
            <a:off x="8905875" y="2512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Expected result: Answers vary and must preserve the stated values and give 30. A valid check must be shown.</a:t>
            </a:r>
          </a:p>
        </p:txBody>
      </p:sp>
      <p:sp>
        <p:nvSpPr>
          <p:cNvPr id="18" name="object-18">
            <a:extLst>
              <a:ext uri="{FF2B5EF4-FFF2-40B4-BE49-F238E27FC236}">
                <a16:creationId xmlns:a16="http://schemas.microsoft.com/office/drawing/2014/main" id="{790B9810-1680-4D98-947E-DA76857E4B26}"/>
              </a:ext>
            </a:extLst>
          </p:cNvPr>
          <p:cNvSpPr>
            <a:spLocks noGrp="1"/>
          </p:cNvSpPr>
          <p:nvPr/>
        </p:nvSpPr>
        <p:spPr>
          <a:xfrm>
            <a:off x="8215313" y="35599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7.</a:t>
            </a:r>
          </a:p>
        </p:txBody>
      </p:sp>
      <p:sp>
        <p:nvSpPr>
          <p:cNvPr id="19" name="object-19">
            <a:extLst>
              <a:ext uri="{FF2B5EF4-FFF2-40B4-BE49-F238E27FC236}">
                <a16:creationId xmlns:a16="http://schemas.microsoft.com/office/drawing/2014/main" id="{1533791C-05DC-4F44-91FB-DE756D629EF5}"/>
              </a:ext>
            </a:extLst>
          </p:cNvPr>
          <p:cNvSpPr>
            <a:spLocks noGrp="1"/>
          </p:cNvSpPr>
          <p:nvPr/>
        </p:nvSpPr>
        <p:spPr>
          <a:xfrm>
            <a:off x="8905875" y="35599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220.8. The explanation must show why the method works.</a:t>
            </a:r>
          </a:p>
        </p:txBody>
      </p:sp>
      <p:sp>
        <p:nvSpPr>
          <p:cNvPr id="20" name="object-20">
            <a:extLst>
              <a:ext uri="{FF2B5EF4-FFF2-40B4-BE49-F238E27FC236}">
                <a16:creationId xmlns:a16="http://schemas.microsoft.com/office/drawing/2014/main" id="{224730D8-77D3-41EE-9810-BE77D0EB03EC}"/>
              </a:ext>
            </a:extLst>
          </p:cNvPr>
          <p:cNvSpPr>
            <a:spLocks noGrp="1"/>
          </p:cNvSpPr>
          <p:nvPr/>
        </p:nvSpPr>
        <p:spPr>
          <a:xfrm>
            <a:off x="8215313" y="46077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8.</a:t>
            </a:r>
          </a:p>
        </p:txBody>
      </p:sp>
      <p:sp>
        <p:nvSpPr>
          <p:cNvPr id="21" name="object-21">
            <a:extLst>
              <a:ext uri="{FF2B5EF4-FFF2-40B4-BE49-F238E27FC236}">
                <a16:creationId xmlns:a16="http://schemas.microsoft.com/office/drawing/2014/main" id="{02AF0694-9B42-4771-BC07-7CE867C0ED33}"/>
              </a:ext>
            </a:extLst>
          </p:cNvPr>
          <p:cNvSpPr>
            <a:spLocks noGrp="1"/>
          </p:cNvSpPr>
          <p:nvPr/>
        </p:nvSpPr>
        <p:spPr>
          <a:xfrm>
            <a:off x="8905875" y="46077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Represent the relationships first, label each subtotal and test the final answer against every condition.</a:t>
            </a:r>
          </a:p>
        </p:txBody>
      </p:sp>
      <p:sp>
        <p:nvSpPr>
          <p:cNvPr id="22" name="object-22">
            <a:extLst>
              <a:ext uri="{FF2B5EF4-FFF2-40B4-BE49-F238E27FC236}">
                <a16:creationId xmlns:a16="http://schemas.microsoft.com/office/drawing/2014/main" id="{A4F4AA71-CEC5-428D-A95B-787255ADD56D}"/>
              </a:ext>
            </a:extLst>
          </p:cNvPr>
          <p:cNvSpPr>
            <a:spLocks noGrp="1"/>
          </p:cNvSpPr>
          <p:nvPr/>
        </p:nvSpPr>
        <p:spPr>
          <a:xfrm>
            <a:off x="8215313" y="565546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9.</a:t>
            </a:r>
          </a:p>
        </p:txBody>
      </p:sp>
      <p:sp>
        <p:nvSpPr>
          <p:cNvPr id="23" name="object-23">
            <a:extLst>
              <a:ext uri="{FF2B5EF4-FFF2-40B4-BE49-F238E27FC236}">
                <a16:creationId xmlns:a16="http://schemas.microsoft.com/office/drawing/2014/main" id="{3A161916-756D-4E71-98CF-979A845BDC27}"/>
              </a:ext>
            </a:extLst>
          </p:cNvPr>
          <p:cNvSpPr>
            <a:spLocks noGrp="1"/>
          </p:cNvSpPr>
          <p:nvPr/>
        </p:nvSpPr>
        <p:spPr>
          <a:xfrm>
            <a:off x="8905875" y="565546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 should name an inverse, estimate, boundary, known fact or equivalent representation.</a:t>
            </a:r>
          </a:p>
        </p:txBody>
      </p:sp>
      <p:sp>
        <p:nvSpPr>
          <p:cNvPr id="24" name="object-24">
            <a:extLst>
              <a:ext uri="{FF2B5EF4-FFF2-40B4-BE49-F238E27FC236}">
                <a16:creationId xmlns:a16="http://schemas.microsoft.com/office/drawing/2014/main" id="{42CC87F9-6683-4264-916D-3CE26C183462}"/>
              </a:ext>
            </a:extLst>
          </p:cNvPr>
          <p:cNvSpPr>
            <a:spLocks noGrp="1"/>
          </p:cNvSpPr>
          <p:nvPr/>
        </p:nvSpPr>
        <p:spPr>
          <a:xfrm>
            <a:off x="8215313" y="6703219"/>
            <a:ext cx="678656" cy="976313"/>
          </a:xfrm>
          <a:prstGeom prst="rect">
            <a:avLst/>
          </a:prstGeom>
          <a:noFill/>
          <a:ln w="0">
            <a:noFill/>
          </a:ln>
        </p:spPr>
        <p:txBody>
          <a:bodyPr anchor="ctr">
            <a:noAutofit/>
          </a:bodyPr>
          <a:lstStyle/>
          <a:p>
            <a:pPr algn="l">
              <a:defRPr sz="1875" b="1">
                <a:solidFill>
                  <a:srgbClr val="1D4ED8"/>
                </a:solidFill>
                <a:latin typeface="Arial"/>
                <a:ea typeface="Arial"/>
                <a:cs typeface="Arial"/>
              </a:defRPr>
            </a:pPr>
            <a:r>
              <a:rPr sz="1875" b="1">
                <a:solidFill>
                  <a:srgbClr val="1D4ED8"/>
                </a:solidFill>
                <a:latin typeface="Arial"/>
                <a:ea typeface="Arial"/>
                <a:cs typeface="Arial"/>
              </a:rPr>
              <a:t>10.</a:t>
            </a:r>
          </a:p>
        </p:txBody>
      </p:sp>
      <p:sp>
        <p:nvSpPr>
          <p:cNvPr id="25" name="object-25">
            <a:extLst>
              <a:ext uri="{FF2B5EF4-FFF2-40B4-BE49-F238E27FC236}">
                <a16:creationId xmlns:a16="http://schemas.microsoft.com/office/drawing/2014/main" id="{956F9C70-62FE-4CAC-9972-1431AEC7C590}"/>
              </a:ext>
            </a:extLst>
          </p:cNvPr>
          <p:cNvSpPr>
            <a:spLocks noGrp="1"/>
          </p:cNvSpPr>
          <p:nvPr/>
        </p:nvSpPr>
        <p:spPr>
          <a:xfrm>
            <a:off x="8905875" y="6703219"/>
            <a:ext cx="5917406" cy="976313"/>
          </a:xfrm>
          <a:prstGeom prst="rect">
            <a:avLst/>
          </a:prstGeom>
          <a:noFill/>
          <a:ln w="0">
            <a:noFill/>
          </a:ln>
        </p:spPr>
        <p:txBody>
          <a:bodyPr anchor="ctr">
            <a:noAutofit/>
          </a:bodyPr>
          <a:lstStyle/>
          <a:p>
            <a:pPr algn="l">
              <a:defRPr sz="1800" b="0">
                <a:solidFill>
                  <a:srgbClr val="11745A"/>
                </a:solidFill>
                <a:latin typeface="Arial"/>
                <a:ea typeface="Arial"/>
                <a:cs typeface="Arial"/>
              </a:defRPr>
            </a:pPr>
            <a:r>
              <a:rPr sz="1800" b="0">
                <a:solidFill>
                  <a:srgbClr val="11745A"/>
                </a:solidFill>
                <a:latin typeface="Arial"/>
                <a:ea typeface="Arial"/>
                <a:cs typeface="Arial"/>
              </a:rPr>
              <a:t>Answers vary. The new question must use the same mathematical structure and include a correct solution.</a:t>
            </a:r>
          </a:p>
        </p:txBody>
      </p:sp>
    </p:spTree>
    <p:extLst>
      <p:ext uri="{BB962C8B-B14F-4D97-AF65-F5344CB8AC3E}">
        <p14:creationId xmlns:p14="http://schemas.microsoft.com/office/powerpoint/2010/main" val="91966451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1080</Words>
  <Application>Microsoft Office PowerPoint</Application>
  <DocSecurity>0</DocSecurity>
  <PresentationFormat>Custom</PresentationFormat>
  <Paragraphs>106</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Garima Sharma</cp:lastModifiedBy>
  <cp:revision>1</cp:revision>
  <dcterms:created xsi:type="dcterms:W3CDTF">2026-09-14T13:14:40Z</dcterms:created>
  <dcterms:modified xsi:type="dcterms:W3CDTF">2026-09-14T13:18:02Z</dcterms:modified>
</cp:coreProperties>
</file>