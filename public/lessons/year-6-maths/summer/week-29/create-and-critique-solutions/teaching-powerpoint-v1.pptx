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Create and critique solutions. Create and critique solutions.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Create and critique solutions. I do. Many answers are possible. Reveal two examples and verify each operation.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Create and critique solutions. You do. Pause before clicking. Let pupils try independently, then reveal and discuss every step. Many answers are possible. Reveal two examples and verify each operation.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Create and critique solutions. I do. Many answers are possible. Reveal two examples and verify each operation.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Create and critique solutions. You do. Pause before clicking. Let pupils try independently, then reveal and discuss every step. Many answers are possible. Reveal two examples and verify each operation.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Create and critique solutions.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Create and critique solutions.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DB4D1474-80EA-41F7-BFDF-F3C80F5AC3BD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Create and critique solutions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0727920-C6D7-4E54-9912-B10AE435F333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3FAEA570-28A4-4C68-AC88-9D5C73B9B33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20BED8F1-2DB4-41EA-A714-B03D511488B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Create and critique solutions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45FA591-0FA7-48D5-A946-84504D387B2D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DACEDEA-61BA-4F26-8D20-69D9EA865406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create, compare and improve mathematical solutions.</a:t>
            </a:r>
          </a:p>
        </p:txBody>
      </p:sp>
    </p:spTree>
    <p:extLst>
      <p:ext uri="{BB962C8B-B14F-4D97-AF65-F5344CB8AC3E}">
        <p14:creationId xmlns:p14="http://schemas.microsoft.com/office/powerpoint/2010/main" val="561307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-1">
            <a:extLst>
              <a:ext uri="{FF2B5EF4-FFF2-40B4-BE49-F238E27FC236}">
                <a16:creationId xmlns:a16="http://schemas.microsoft.com/office/drawing/2014/main" id="{8A224A14-7F8B-4F8E-B2D9-F8D4943E270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97A86CD-9624-4426-A84E-BAA4DDB156A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Make two calculations using 3/4, 0.6 and 25% that give 30.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3BB8036-2F39-4C17-ADBF-6BB4A09C9CE9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3DA4C94-576D-43CC-864C-C5952F9928A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Create and critique solutions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4B03C38-8C74-426B-8089-C60386C484A6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73F0712-0AC0-4E63-88CB-911F70D21738}"/>
              </a:ext>
            </a:extLst>
          </p:cNvPr>
          <p:cNvSpPr>
            <a:spLocks noGrp="1"/>
          </p:cNvSpPr>
          <p:nvPr/>
        </p:nvSpPr>
        <p:spPr>
          <a:xfrm>
            <a:off x="892969" y="3095625"/>
            <a:ext cx="13573125" cy="1309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(40 × 3/4) × (0.6 ÷ 0.6) × (25% ÷ 25%)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C1C52FE7-EDDB-46A4-B7D8-ABD59DD7819D}"/>
              </a:ext>
            </a:extLst>
          </p:cNvPr>
          <p:cNvSpPr>
            <a:spLocks noGrp="1"/>
          </p:cNvSpPr>
          <p:nvPr/>
        </p:nvSpPr>
        <p:spPr>
          <a:xfrm>
            <a:off x="1071563" y="4655344"/>
            <a:ext cx="132159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84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84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30 × 1 × 1 = 30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2B00810-87AC-451D-8C2F-991FE3B939DB}"/>
              </a:ext>
            </a:extLst>
          </p:cNvPr>
          <p:cNvSpPr>
            <a:spLocks noGrp="1"/>
          </p:cNvSpPr>
          <p:nvPr/>
        </p:nvSpPr>
        <p:spPr>
          <a:xfrm>
            <a:off x="892969" y="5953125"/>
            <a:ext cx="13573125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(40 × 0.6) + (8 × 3/4) + (25% − 25%)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0A36150-B35E-48C9-85C8-03869EFE757D}"/>
              </a:ext>
            </a:extLst>
          </p:cNvPr>
          <p:cNvSpPr>
            <a:spLocks noGrp="1"/>
          </p:cNvSpPr>
          <p:nvPr/>
        </p:nvSpPr>
        <p:spPr>
          <a:xfrm>
            <a:off x="892969" y="7227094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24 + 6 + 0 = 30</a:t>
            </a:r>
          </a:p>
        </p:txBody>
      </p:sp>
    </p:spTree>
    <p:extLst>
      <p:ext uri="{BB962C8B-B14F-4D97-AF65-F5344CB8AC3E}">
        <p14:creationId xmlns:p14="http://schemas.microsoft.com/office/powerpoint/2010/main" val="20908745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-1">
            <a:extLst>
              <a:ext uri="{FF2B5EF4-FFF2-40B4-BE49-F238E27FC236}">
                <a16:creationId xmlns:a16="http://schemas.microsoft.com/office/drawing/2014/main" id="{2574AA1C-F761-44D2-B6A4-8C42B8C163AF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3449E879-558B-4945-B496-C6EEACE02C1F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FF0AE0A-7DAC-4CD2-91C7-D2576D1789D6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Make two calculations using 3/4, 0.6 and 25% that give 30.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328A2F77-42C0-4A3E-AB00-23A692E06674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65823D9-4294-4B00-A900-C989BBB38AC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Create and critique solutions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64CCF27-7BE0-4FEB-8902-F67D6FCA7327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A412F6D7-549E-4E99-8065-59F874D59E37}"/>
              </a:ext>
            </a:extLst>
          </p:cNvPr>
          <p:cNvSpPr>
            <a:spLocks noGrp="1"/>
          </p:cNvSpPr>
          <p:nvPr/>
        </p:nvSpPr>
        <p:spPr>
          <a:xfrm>
            <a:off x="892969" y="3095625"/>
            <a:ext cx="13573125" cy="1309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(40 × 3/4) × (0.6 ÷ 0.6) × (25% ÷ 25%)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2A3C124E-193E-419B-B96D-2605AC3303C5}"/>
              </a:ext>
            </a:extLst>
          </p:cNvPr>
          <p:cNvSpPr>
            <a:spLocks noGrp="1"/>
          </p:cNvSpPr>
          <p:nvPr/>
        </p:nvSpPr>
        <p:spPr>
          <a:xfrm>
            <a:off x="1071563" y="4655344"/>
            <a:ext cx="132159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84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84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30 × 1 × 1 = 30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2AFEA3A-8419-401B-B371-744FA36D8ECA}"/>
              </a:ext>
            </a:extLst>
          </p:cNvPr>
          <p:cNvSpPr>
            <a:spLocks noGrp="1"/>
          </p:cNvSpPr>
          <p:nvPr/>
        </p:nvSpPr>
        <p:spPr>
          <a:xfrm>
            <a:off x="892969" y="5953125"/>
            <a:ext cx="13573125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(40 × 0.6) + (8 × 3/4) + (25% − 25%)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4A105BA5-A233-4C14-B97E-616014A32104}"/>
              </a:ext>
            </a:extLst>
          </p:cNvPr>
          <p:cNvSpPr>
            <a:spLocks noGrp="1"/>
          </p:cNvSpPr>
          <p:nvPr/>
        </p:nvSpPr>
        <p:spPr>
          <a:xfrm>
            <a:off x="892969" y="7227094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24 + 6 + 0 = 30</a:t>
            </a:r>
          </a:p>
        </p:txBody>
      </p:sp>
    </p:spTree>
    <p:extLst>
      <p:ext uri="{BB962C8B-B14F-4D97-AF65-F5344CB8AC3E}">
        <p14:creationId xmlns:p14="http://schemas.microsoft.com/office/powerpoint/2010/main" val="1151257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-1">
            <a:extLst>
              <a:ext uri="{FF2B5EF4-FFF2-40B4-BE49-F238E27FC236}">
                <a16:creationId xmlns:a16="http://schemas.microsoft.com/office/drawing/2014/main" id="{8D70ECAC-9662-4EFA-B805-7143C084CDBA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C0D5094B-7796-406B-98E7-47BBD8ABF22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Make two calculations using 3/4, 0.6 and 25% that give 30.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12FB29FF-DF54-4879-BA48-1A8711484B2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D929AD4-E120-4FA1-B86C-55783043C496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Create and critique solutions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A9B427EA-0661-4A52-A7A8-ADD3012ADA4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92E59B40-015B-45D7-946E-DD5FA6B16A59}"/>
              </a:ext>
            </a:extLst>
          </p:cNvPr>
          <p:cNvSpPr>
            <a:spLocks noGrp="1"/>
          </p:cNvSpPr>
          <p:nvPr/>
        </p:nvSpPr>
        <p:spPr>
          <a:xfrm>
            <a:off x="892969" y="3095625"/>
            <a:ext cx="13573125" cy="1309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(40 × 3/4) × (0.6 ÷ 0.6) × (25% ÷ 25%)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8DCD6F22-636E-4F27-9D9D-3C4C309053CA}"/>
              </a:ext>
            </a:extLst>
          </p:cNvPr>
          <p:cNvSpPr>
            <a:spLocks noGrp="1"/>
          </p:cNvSpPr>
          <p:nvPr/>
        </p:nvSpPr>
        <p:spPr>
          <a:xfrm>
            <a:off x="1071563" y="4655344"/>
            <a:ext cx="132159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84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84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30 × 1 × 1 = 30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45A892A3-0436-4DCB-B6E9-1D97A8D048B9}"/>
              </a:ext>
            </a:extLst>
          </p:cNvPr>
          <p:cNvSpPr>
            <a:spLocks noGrp="1"/>
          </p:cNvSpPr>
          <p:nvPr/>
        </p:nvSpPr>
        <p:spPr>
          <a:xfrm>
            <a:off x="892969" y="5953125"/>
            <a:ext cx="13573125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(40 × 0.6) + (8 × 3/4) + (25% − 25%)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F71B22EB-3DB2-4CFE-955C-9B896BA239C5}"/>
              </a:ext>
            </a:extLst>
          </p:cNvPr>
          <p:cNvSpPr>
            <a:spLocks noGrp="1"/>
          </p:cNvSpPr>
          <p:nvPr/>
        </p:nvSpPr>
        <p:spPr>
          <a:xfrm>
            <a:off x="892969" y="7227094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24 + 6 + 0 = 30</a:t>
            </a:r>
          </a:p>
        </p:txBody>
      </p:sp>
    </p:spTree>
    <p:extLst>
      <p:ext uri="{BB962C8B-B14F-4D97-AF65-F5344CB8AC3E}">
        <p14:creationId xmlns:p14="http://schemas.microsoft.com/office/powerpoint/2010/main" val="1742481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-1">
            <a:extLst>
              <a:ext uri="{FF2B5EF4-FFF2-40B4-BE49-F238E27FC236}">
                <a16:creationId xmlns:a16="http://schemas.microsoft.com/office/drawing/2014/main" id="{C5CD64F6-746C-44F4-8825-231661F4AF66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CB9F4DB-743B-44CC-9E51-14C10245F3E1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FA7DFFBD-D5CC-4BAE-8416-5A0C1CA2A86F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Make two calculations using 3/4, 0.6 and 25% that give 30.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DF595DAF-ADAD-47B4-97E6-14BB820F96A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36172F44-3545-497F-A9B5-45D74C20B69E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Create and critique solutions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D31BBDA-82B0-4B90-AC0A-D964E31A5CAC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C0A3B4A-4042-49AD-AFD5-12417B2DBC36}"/>
              </a:ext>
            </a:extLst>
          </p:cNvPr>
          <p:cNvSpPr>
            <a:spLocks noGrp="1"/>
          </p:cNvSpPr>
          <p:nvPr/>
        </p:nvSpPr>
        <p:spPr>
          <a:xfrm>
            <a:off x="892969" y="3095625"/>
            <a:ext cx="13573125" cy="1309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(40 × 3/4) × (0.6 ÷ 0.6) × (25% ÷ 25%)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649888EA-E0C0-46F8-BCFC-347BA7385192}"/>
              </a:ext>
            </a:extLst>
          </p:cNvPr>
          <p:cNvSpPr>
            <a:spLocks noGrp="1"/>
          </p:cNvSpPr>
          <p:nvPr/>
        </p:nvSpPr>
        <p:spPr>
          <a:xfrm>
            <a:off x="1071563" y="4655344"/>
            <a:ext cx="13215938" cy="83343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844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844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30 × 1 × 1 = 30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DAEDD01-9055-431C-B5EB-091BA57F2EA9}"/>
              </a:ext>
            </a:extLst>
          </p:cNvPr>
          <p:cNvSpPr>
            <a:spLocks noGrp="1"/>
          </p:cNvSpPr>
          <p:nvPr/>
        </p:nvSpPr>
        <p:spPr>
          <a:xfrm>
            <a:off x="892969" y="5953125"/>
            <a:ext cx="13573125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094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094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(40 × 0.6) + (8 × 3/4) + (25% − 25%)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DC09127F-2955-43A8-8C09-FD279E003362}"/>
              </a:ext>
            </a:extLst>
          </p:cNvPr>
          <p:cNvSpPr>
            <a:spLocks noGrp="1"/>
          </p:cNvSpPr>
          <p:nvPr/>
        </p:nvSpPr>
        <p:spPr>
          <a:xfrm>
            <a:off x="892969" y="7227094"/>
            <a:ext cx="13454063" cy="7381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2813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2813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24 + 6 + 0 = 30</a:t>
            </a:r>
          </a:p>
        </p:txBody>
      </p:sp>
    </p:spTree>
    <p:extLst>
      <p:ext uri="{BB962C8B-B14F-4D97-AF65-F5344CB8AC3E}">
        <p14:creationId xmlns:p14="http://schemas.microsoft.com/office/powerpoint/2010/main" val="1079548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0D833AF4-9E74-4848-999D-0001F124BAD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8D3164D5-0083-481E-B9EB-B5E517674DCC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9D943B5-35A0-41FD-BCF3-EF1FDB57A469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87690EF-C85B-4B82-9197-11A2647B867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F1D559D3-66FC-465F-84F8-C010F2232FCD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Create and critique solutions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C7E3304-A11F-4E71-B5D6-D0F33792809F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0D43A866-8130-40C5-A141-A045AA318AEA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3D6E539-1A0F-4EA7-B6CA-05C45C6EC3E7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Create two different calculations using 3/4, 0.6 and 25% that both give 30.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3C2A9269-C3F6-4DDF-AA4C-F8F221E8BAB4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ECCB70E1-8E32-480E-AEA8-A898B8935C1E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quantity increases from 240 by 15%, then decreases by 20%. Find the final quantity.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820A88BA-7EBC-4C8A-83BD-2DFC96C7F8EC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5EB119A-FB25-4EA4-BA90-20DB50DD0F12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Three fifths of a number is 84. Find 35% of the number.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EEE0417-0632-44B4-9D10-7525E78DE1FF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781C6A81-DE6F-47DD-9DAF-E9FD2CDED8BF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Create two different calculations using 3/4, 0.6 and 25% that both give 30.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401EEA7D-C916-4ACB-8E61-3FA438395EC8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6D48BA52-A43E-458E-80CC-1E3F18C369E9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A quantity increases from 240 by 15%, then decreases by 20%. Find the final quantity.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FD7C74ED-3D10-46A0-86CE-4D497F30172C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41C8082E-A8CA-464D-A672-2EB7CC9888C2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Three fifths of a number is 84. Find 35% of the number.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AB6B95BE-4659-4334-858D-FEC78F4EB323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0FAC22B3-3BC4-44D6-B01D-4F20FD6EBC90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Prove or explain your reasoning: A cuboid is 12 cm by 8 cm by 5 cm. A third of its volume is filled. What volume remains empty?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D95B4666-FFC6-4351-A12B-3A0AE79F9876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E5D8A86E-307E-4354-A7FB-21EE7522B929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starts calculating before deciding what the problem asks and which information matters.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A95DC044-64C6-45C0-8CB3-4FF2DCE786A2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6EAE7601-45E9-41F7-9F26-594016B7D40F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766F1E1F-8701-4940-B6E8-8831697AEE30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16D333DB-8211-465C-972C-B53D968D0873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Three fifths of a number is 84. Find 35% of the number.</a:t>
            </a:r>
          </a:p>
        </p:txBody>
      </p:sp>
    </p:spTree>
    <p:extLst>
      <p:ext uri="{BB962C8B-B14F-4D97-AF65-F5344CB8AC3E}">
        <p14:creationId xmlns:p14="http://schemas.microsoft.com/office/powerpoint/2010/main" val="17531019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40601540-28C6-44A6-9917-98AD9B38A43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73A65D7-E4A9-447C-8169-7C24B4508E27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CE840EB-3D46-40C8-9450-997500F1D9F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7619D3D7-F9B3-421D-8638-0B36FB8F032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Create and critique solutions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7F4B8953-5D4A-4380-BE4B-130F4A8BA71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38D315ED-6BC8-4A9A-8250-4740E80CB5CA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7FB4D0F3-FDC9-4F30-82E8-FDD1478A2D55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 and must preserve the stated values and give 30.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988B1958-91DD-4152-B82F-D7A90A321945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5B758079-31E9-4848-BC89-D1E4CFC7CE07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220.8.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69445CFB-6644-4B1F-B2AF-A4F967249A90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A808F960-D89E-46E4-9F54-4C1F94E70DFE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49.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7D63F50E-3C01-465C-B84D-BDF5D053BD8E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606BA058-1AC2-4FFC-8693-3DBF3779F54A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 and must preserve the stated values and give 30.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55E94D48-F112-4DDC-A75A-E8DC428852BB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D457C346-14C7-46AD-B126-F3B5E0BB0A88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220.8.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1055680C-BC66-477D-8635-E145712CA5B9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83F8EBB9-C593-497C-B3A5-CAF37346F856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49.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EA1CD532-BC90-4A1A-AA70-F0AE32FDFA00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F6FBF809-1BCB-4E8A-97DC-719E54B0F8A1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320 cm3. The explanation must show why the method works.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55EBFE28-7616-475A-B8F2-E50804E0E219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FA9BEB26-7EEB-462B-8528-48969B3D4CB7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Represent the relationships first, label each subtotal and test the final answer against every condition.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BB1037BE-4CB3-4B5F-BCF2-6E132D1F99DC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56AEAC90-61F7-4156-8549-8DA4B1A82DD6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4A935374-F9D2-44D7-94F3-2E38B5CA5E89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80F94F65-ED11-46C6-B5D5-ED69C2A303E8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4398411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1137</Words>
  <Application>Microsoft Office PowerPoint</Application>
  <DocSecurity>0</DocSecurity>
  <PresentationFormat>Custom</PresentationFormat>
  <Paragraphs>102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2026-09-14T13:14:40Z</dcterms:created>
  <dcterms:modified xsi:type="dcterms:W3CDTF">2026-09-14T13:18:04Z</dcterms:modified>
</cp:coreProperties>
</file>