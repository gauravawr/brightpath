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5403ae2c0e1c453c" /><Relationship Type="http://schemas.openxmlformats.org/officeDocument/2006/relationships/extended-properties" Target="/docProps/app.xml" Id="R7312464b53ff4083" /><Relationship Type="http://schemas.openxmlformats.org/officeDocument/2006/relationships/officeDocument" Target="/ppt/presentation.xml" Id="Rf929bf3e27194294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0ae002d4dd3b48d6"/>
  </p:sldMasterIdLst>
  <p:notesMasterIdLst>
    <p:notesMasterId xmlns:r="http://schemas.openxmlformats.org/officeDocument/2006/relationships" r:id="R5ec3a1e2e22f40ff"/>
  </p:notesMasterIdLst>
  <p:sldIdLst>
    <p:sldId xmlns:r="http://schemas.openxmlformats.org/officeDocument/2006/relationships" id="256" r:id="R36dccfd7adf74f63"/>
    <p:sldId xmlns:r="http://schemas.openxmlformats.org/officeDocument/2006/relationships" id="257" r:id="Rf8d4f16d268a4739"/>
    <p:sldId xmlns:r="http://schemas.openxmlformats.org/officeDocument/2006/relationships" id="258" r:id="R2bb4f38c5c46418d"/>
    <p:sldId xmlns:r="http://schemas.openxmlformats.org/officeDocument/2006/relationships" id="259" r:id="Rf33467c161ed4de2"/>
    <p:sldId xmlns:r="http://schemas.openxmlformats.org/officeDocument/2006/relationships" id="260" r:id="R36c12bb987dc4c32"/>
    <p:sldId xmlns:r="http://schemas.openxmlformats.org/officeDocument/2006/relationships" id="261" r:id="R58cb558178d34dfe"/>
    <p:sldId xmlns:r="http://schemas.openxmlformats.org/officeDocument/2006/relationships" id="262" r:id="R4f5262e0dccf4b23"/>
    <p:sldId xmlns:r="http://schemas.openxmlformats.org/officeDocument/2006/relationships" id="263" r:id="R0cf7309fa24f4480"/>
    <p:sldId xmlns:r="http://schemas.openxmlformats.org/officeDocument/2006/relationships" id="264" r:id="R6ffa5ce4973540c3"/>
    <p:sldId xmlns:r="http://schemas.openxmlformats.org/officeDocument/2006/relationships" id="265" r:id="Rdf4aba59895b49f6"/>
    <p:sldId xmlns:r="http://schemas.openxmlformats.org/officeDocument/2006/relationships" id="266" r:id="R380110376bcf4475"/>
    <p:sldId xmlns:r="http://schemas.openxmlformats.org/officeDocument/2006/relationships" id="267" r:id="R5bf9fff215474f8c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060491befc894677" /><Relationship Type="http://schemas.openxmlformats.org/officeDocument/2006/relationships/slideMaster" Target="/ppt/slideMasters/slideMaster1.xml" Id="R0ae002d4dd3b48d6" /><Relationship Type="http://schemas.openxmlformats.org/officeDocument/2006/relationships/notesMaster" Target="/ppt/notesMasters/notesMaster1.xml" Id="R5ec3a1e2e22f40ff" /><Relationship Type="http://schemas.openxmlformats.org/officeDocument/2006/relationships/presProps" Target="/ppt/presProps.xml" Id="Re14edfb8ae8249be" /><Relationship Type="http://schemas.openxmlformats.org/officeDocument/2006/relationships/tableStyles" Target="/ppt/tableStyles.xml" Id="R30ee49507bf24757" /><Relationship Type="http://schemas.openxmlformats.org/officeDocument/2006/relationships/slide" Target="/ppt/slides/slide1.xml" Id="R36dccfd7adf74f63" /><Relationship Type="http://schemas.openxmlformats.org/officeDocument/2006/relationships/slide" Target="/ppt/slides/slide2.xml" Id="Rf8d4f16d268a4739" /><Relationship Type="http://schemas.openxmlformats.org/officeDocument/2006/relationships/slide" Target="/ppt/slides/slide3.xml" Id="R2bb4f38c5c46418d" /><Relationship Type="http://schemas.openxmlformats.org/officeDocument/2006/relationships/slide" Target="/ppt/slides/slide4.xml" Id="Rf33467c161ed4de2" /><Relationship Type="http://schemas.openxmlformats.org/officeDocument/2006/relationships/slide" Target="/ppt/slides/slide5.xml" Id="R36c12bb987dc4c32" /><Relationship Type="http://schemas.openxmlformats.org/officeDocument/2006/relationships/slide" Target="/ppt/slides/slide6.xml" Id="R58cb558178d34dfe" /><Relationship Type="http://schemas.openxmlformats.org/officeDocument/2006/relationships/slide" Target="/ppt/slides/slide7.xml" Id="R4f5262e0dccf4b23" /><Relationship Type="http://schemas.openxmlformats.org/officeDocument/2006/relationships/slide" Target="/ppt/slides/slide8.xml" Id="R0cf7309fa24f4480" /><Relationship Type="http://schemas.openxmlformats.org/officeDocument/2006/relationships/slide" Target="/ppt/slides/slide9.xml" Id="R6ffa5ce4973540c3" /><Relationship Type="http://schemas.openxmlformats.org/officeDocument/2006/relationships/slide" Target="/ppt/slides/slide10.xml" Id="Rdf4aba59895b49f6" /><Relationship Type="http://schemas.openxmlformats.org/officeDocument/2006/relationships/slide" Target="/ppt/slides/slide11.xml" Id="R380110376bcf4475" /><Relationship Type="http://schemas.openxmlformats.org/officeDocument/2006/relationships/slide" Target="/ppt/slides/slide12.xml" Id="R5bf9fff215474f8c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555e45192eb04092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f5499d1d42694753" /><Relationship Type="http://schemas.openxmlformats.org/officeDocument/2006/relationships/notesMaster" Target="/ppt/notesMasters/notesMaster1.xml" Id="Rb1f033d242274195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f163324d88804f7a" /><Relationship Type="http://schemas.openxmlformats.org/officeDocument/2006/relationships/notesMaster" Target="/ppt/notesMasters/notesMaster1.xml" Id="R161ed633b6154e26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01067464c4724372" /><Relationship Type="http://schemas.openxmlformats.org/officeDocument/2006/relationships/notesMaster" Target="/ppt/notesMasters/notesMaster1.xml" Id="Rb9ae88dfdfed4ac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f638442c13da48e0" /><Relationship Type="http://schemas.openxmlformats.org/officeDocument/2006/relationships/notesMaster" Target="/ppt/notesMasters/notesMaster1.xml" Id="R80f9966aa1ae46f7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b0cc3712c92240cf" /><Relationship Type="http://schemas.openxmlformats.org/officeDocument/2006/relationships/notesMaster" Target="/ppt/notesMasters/notesMaster1.xml" Id="Rc1893cabb8624d01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0d5470f44bbf40e3" /><Relationship Type="http://schemas.openxmlformats.org/officeDocument/2006/relationships/notesMaster" Target="/ppt/notesMasters/notesMaster1.xml" Id="R8e32876200914d92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125d2d2de8714381" /><Relationship Type="http://schemas.openxmlformats.org/officeDocument/2006/relationships/notesMaster" Target="/ppt/notesMasters/notesMaster1.xml" Id="Rc3688c704fa543ac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f4d4d4c2a1ab4ed4" /><Relationship Type="http://schemas.openxmlformats.org/officeDocument/2006/relationships/notesMaster" Target="/ppt/notesMasters/notesMaster1.xml" Id="R059eef434888499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1179f3d438e74c54" /><Relationship Type="http://schemas.openxmlformats.org/officeDocument/2006/relationships/notesMaster" Target="/ppt/notesMasters/notesMaster1.xml" Id="Rd9f8c54bdf56444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8d2af5044faf44b5" /><Relationship Type="http://schemas.openxmlformats.org/officeDocument/2006/relationships/notesMaster" Target="/ppt/notesMasters/notesMaster1.xml" Id="R36d374ec07e54f78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fdb51c9a91df46fe" /><Relationship Type="http://schemas.openxmlformats.org/officeDocument/2006/relationships/notesMaster" Target="/ppt/notesMasters/notesMaster1.xml" Id="Reff14b162d0e47d8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b2e82490ae3c4bb8" /><Relationship Type="http://schemas.openxmlformats.org/officeDocument/2006/relationships/notesMaster" Target="/ppt/notesMasters/notesMaster1.xml" Id="Rffcea06bf838491a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Change the date before teaching. Check resources. Read the learning intention aloud and clarify success. Resources: Problem-solving mats, bar models, rulers, squared paper, mini whiteboards.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each prompt on click. Use responses to identify pupils who need immediate rehearsal. Suggested responses: Pupil identifies a relevant fact, representation or method. | 49. | Identify the goal, constraints and useful information before calculating. | Represent the relationships first, label each subtotal and test the final answer against every condition.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Teach the mathematical idea before asking pupils to solve. Define the vocabulary in context: reason, represent, strategy, constraint, prove, evaluate. Reveal the three statements one at a time.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I do. Reveal the question, then reveal each mathematical change one click at a time. Point to the numbers and operation that changed before moving to the next line. Final answer: 220.8.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the answer only after completing the method. Check it against the estimate, inverse or representation. Ask pupils to explain why the answer is reasonable.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We do. Give silent thinking time before paired talk. Take one step at a time. Do not reveal the answer until every pupil has committed. Answer: 49.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Miro is a deliberate misconception prompt. Reveal his claim, let pupils identify the error, then reveal the correction. Do not present Miro as lacking ability. Correction: Represent the relationships first, label each subtotal and test the final answer against every condition.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whole-class response routines. Reveal each prompt separately. Expected answer: 49.. Insist on a reason, not only a numerical response.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You do. Pupils complete the core question independently before discussion. Answer: 320 cm3.. Circulate and note methods as well as accuracy.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Use after secure fluency or as the higher worksheet route. Accept different correct approaches when fully justified. Expected response: 120 pupils. The explanation must show why the method works.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Show only the core independent-practice example. Give pupils time to solve and check before revealing the answer at the side. Answer: 320 cm3.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Reveal one exit question at a time. Answers: 320 cm3. | Represent the relationships first, label each subtotal and test the final answer against every condition. | A relevant inverse, estimate, boundary, known fact or equivalent representation.. Record a specific next step from pupil work and explanation.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fe860e38dec4ff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ee40ffebbc6948e2" /><Relationship Type="http://schemas.openxmlformats.org/officeDocument/2006/relationships/slideLayout" Target="/ppt/slideLayouts/slideLayout1.xml" Id="R9a98f8d74afd4f33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9a98f8d74afd4f33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7edf386194f4a56" /><Relationship Type="http://schemas.openxmlformats.org/officeDocument/2006/relationships/notesSlide" Target="/ppt/notesSlides/notesSlide1.xml" Id="R1daa8eb287aa4cbc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ac2e88ee65344ad" /><Relationship Type="http://schemas.openxmlformats.org/officeDocument/2006/relationships/notesSlide" Target="/ppt/notesSlides/notesSlide2.xml" Id="R0ed744aed30c4e1e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120690775914995" /><Relationship Type="http://schemas.openxmlformats.org/officeDocument/2006/relationships/notesSlide" Target="/ppt/notesSlides/notesSlide3.xml" Id="R7bde48051fb2412c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1dd538e6e604a4f" /><Relationship Type="http://schemas.openxmlformats.org/officeDocument/2006/relationships/notesSlide" Target="/ppt/notesSlides/notesSlide4.xml" Id="Rad11319a6a0c413d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36fae9b7ed43ec" /><Relationship Type="http://schemas.openxmlformats.org/officeDocument/2006/relationships/notesSlide" Target="/ppt/notesSlides/notesSlide5.xml" Id="Rd27c8bd34a0f44a0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1b041738d2540d0" /><Relationship Type="http://schemas.openxmlformats.org/officeDocument/2006/relationships/notesSlide" Target="/ppt/notesSlides/notesSlide6.xml" Id="R7bc486c945ee4bc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13bf0a5bce54e74" /><Relationship Type="http://schemas.openxmlformats.org/officeDocument/2006/relationships/image" Target="/ppt/media/image.png" Id="R7757ba8dadd24fd5" /><Relationship Type="http://schemas.openxmlformats.org/officeDocument/2006/relationships/notesSlide" Target="/ppt/notesSlides/notesSlide7.xml" Id="Rb1dfb3b6a53f44ec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35b2bf2127d433b" /><Relationship Type="http://schemas.openxmlformats.org/officeDocument/2006/relationships/notesSlide" Target="/ppt/notesSlides/notesSlide8.xml" Id="R326495bba33e4be5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11666e3ff1a40ba" /><Relationship Type="http://schemas.openxmlformats.org/officeDocument/2006/relationships/notesSlide" Target="/ppt/notesSlides/notesSlide9.xml" Id="Rcbfcfdb55d024e36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b2b9e02f3064859" /><Relationship Type="http://schemas.openxmlformats.org/officeDocument/2006/relationships/notesSlide" Target="/ppt/notesSlides/notesSlide10.xml" Id="Reb1414eddfc9490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0e7cd9673514b3e" /><Relationship Type="http://schemas.openxmlformats.org/officeDocument/2006/relationships/notesSlide" Target="/ppt/notesSlides/notesSlide11.xml" Id="R34c311f689544bf9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62054a7c48047bf" /><Relationship Type="http://schemas.openxmlformats.org/officeDocument/2006/relationships/notesSlide" Target="/ppt/notesSlides/notesSlide12.xml" Id="R1ec3b59384204a94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F7F2AC8-76E2-43EB-8A7F-AAB816E72D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714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8B326F3-40A1-4F28-891F-60E08A9505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19100"/>
            <a:ext cx="5429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A20F84E-3D9E-4204-B871-07881DBDF1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0" y="381000"/>
            <a:ext cx="2952750" cy="685800"/>
          </a:xfrm>
          <a:prstGeom xmlns:a="http://schemas.openxmlformats.org/drawingml/2006/main" prst="roundRect">
            <a:avLst>
              <a:gd name="adj" fmla="val 1111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18324A"/>
            </a:solidFill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72D6A3DA-B39A-4DF3-A652-AFB8CC513EB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58250" y="523875"/>
            <a:ext cx="2381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86452"/>
          </a:bodyPr>
          <a:lstStyle xmlns:a="http://schemas.openxmlformats.org/drawingml/2006/main"/>
          <a:p xmlns:a="http://schemas.openxmlformats.org/drawingml/2006/main">
            <a:pPr algn="ctr">
              <a:def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defRPr>
            </a:pPr>
            <a:r>
              <a:rPr sz="1650" b="0">
                <a:solidFill>
                  <a:srgbClr val="17253A"/>
                </a:solidFill>
                <a:latin typeface="Segoe Print"/>
                <a:ea typeface="Segoe Print"/>
                <a:cs typeface="Segoe Print"/>
              </a:rPr>
              <a:t>Date:  ____ / ____ / ______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E8FCA4A-4C69-43CA-8D03-76159D4E98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600200"/>
            <a:ext cx="85725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34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34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FA7570C6-3799-45CA-95D3-FAD51547BE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2971800"/>
            <a:ext cx="8096250" cy="1428750"/>
          </a:xfrm>
          <a:prstGeom xmlns:a="http://schemas.openxmlformats.org/drawingml/2006/main" prst="roundRect">
            <a:avLst>
              <a:gd name="adj" fmla="val 5333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18324A"/>
            </a:solidFill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A636D0-4519-47E5-B10B-CC1E93B4DE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162300"/>
            <a:ext cx="952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667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defRPr>
            </a:pPr>
            <a:r>
              <a:rPr sz="1875" b="1">
                <a:solidFill>
                  <a:srgbClr val="B4232B"/>
                </a:solidFill>
                <a:latin typeface="Segoe Print"/>
                <a:ea typeface="Segoe Print"/>
                <a:cs typeface="Segoe Print"/>
              </a:rPr>
              <a:t>L.I.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8ECB7E4-EA75-494E-9330-34F7E4DA5C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3571875"/>
            <a:ext cx="752475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94450"/>
          </a:bodyPr>
          <a:lstStyle xmlns:a="http://schemas.openxmlformats.org/drawingml/2006/main"/>
          <a:p xmlns:a="http://schemas.openxmlformats.org/drawingml/2006/main">
            <a:pPr algn="l">
              <a:defRPr sz="202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02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select a diagram, table, equation or written method for a problem.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7D4E772-793C-49A3-B0DA-F9124342FA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7815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2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2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Ready for learning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0E56DFE-3B2D-4B1B-9845-E42EC118E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143500"/>
            <a:ext cx="102870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Pencil and ruler ready  |  Mini whiteboard ready  |  Problem-solving mats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2E2155E-AC79-418A-AD49-B9645E590D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5953125"/>
            <a:ext cx="57150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3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3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Today: I do  |  We do  |  You do</a:t>
            </a:r>
          </a:p>
        </p:txBody>
      </p:sp>
    </p:spTree>
    <p:extLst>
      <p:ext uri="{BB962C8B-B14F-4D97-AF65-F5344CB8AC3E}">
        <p14:creationId xmlns:p14="http://schemas.microsoft.com/office/powerpoint/2010/main" val="1041123802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2252AA32-3A1D-433B-BF6A-398EB99338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8639D4A-8EBF-4CFB-A556-DFC19DF5C6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805C91E-32ED-4752-B4F2-047940C831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ECB0931-D2A9-49E0-B6C7-D251105D74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RETRIEVE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E1F84E-E3E0-430B-92D0-6C19804354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Previous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83ED5F5-8937-4281-8D0E-E3D3EBE10B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96EBE7-9867-431B-837A-40A461A208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4BDB076-B5AD-4474-BFAE-CDE97F9A3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E03CBC8-14A9-473D-8A80-186B0C72D5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E8324F9-964B-4A1B-8B76-0C6FFC41C6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12F817-D922-4EFB-993F-157874785C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87860F5-177D-4EF9-9B0D-5200F6661A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6B6AC44-6E5C-484C-BC7B-D4870C83D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part of this prior learning is secure? Select and connect Year 6 methods in unfamiliar and multi-step problems.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81C23BE-1EF8-40A7-8A40-0A6A3114AD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AD1E616-F467-4DDC-BC01-5AD7E715AC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E18DDEB-C3D9-443B-A160-591D0E3CA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852A9A7-C979-4BA6-8D2D-ED0E37BBE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Three fifths of a number is 84. Find 35% of the number.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A08D9B4-BE01-4A06-8A6E-1CC04798B6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320E3DB-865B-4C5A-8EE8-C3CC128F92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1BF2471-F21F-4720-8BC8-04003B1BD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55E357CC-007F-4B5C-89DF-B645752A57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Explain the first step you would take for: A quantity increases from 240 by 15%, then decreases by 20%. Find the final quantity.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303FF57-2507-49EE-803B-18BC8EDBC5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Commit on your whiteboard before discussing.</a:t>
            </a:r>
          </a:p>
        </p:txBody>
      </p:sp>
    </p:spTree>
    <p:extLst>
      <p:ext uri="{BB962C8B-B14F-4D97-AF65-F5344CB8AC3E}">
        <p14:creationId xmlns:p14="http://schemas.microsoft.com/office/powerpoint/2010/main" val="148356574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CABA8A-A549-4B00-BAEE-B0D4D04141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9BD94CC-F212-4B5A-9F95-7468C53D94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DC21EB5-51CF-4A09-BD53-7ECAD5FA96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5916D89-883C-4523-B5A3-0891F508C3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LEARN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BAA8505-C6FD-466A-970B-E4EF833E66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New learning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F4DCC78-E905-4B9D-8073-0C13796283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3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705EBA2-4D6D-4567-B628-DE5D783A4A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6D0535-77BC-4E57-AABE-227833CF8B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1036A17-6852-4E56-9238-626588166D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C19141-1D97-4694-AEF5-B701D98BB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428750"/>
            <a:ext cx="1047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To select a diagram, table, equation or written method for a problem.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6C680F69-4344-458B-B8F6-C8A3B055E3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400300"/>
            <a:ext cx="10096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6B1C048-87C2-47DF-B9A9-32D3FBEAEC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266700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Key idea: Identify the goal, constraints and useful information before calculating.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8AD7B75-6472-47F2-97EA-E373E88757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3571875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Then: Choose a representation and complete each labelled step.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A1A53E24-91AF-4A3C-8633-006D1991985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90625" y="4476750"/>
            <a:ext cx="9810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Check: Check the solution and explain why it satisfies every condition.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16FD17F-590A-46A5-B3B8-6B33A43E2E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5572125"/>
            <a:ext cx="9906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35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35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Vocabulary: reason  |  represent  |  strategy  |  constraint  |  prove  |  evaluate</a:t>
            </a:r>
          </a:p>
        </p:txBody>
      </p:sp>
    </p:spTree>
    <p:extLst>
      <p:ext uri="{BB962C8B-B14F-4D97-AF65-F5344CB8AC3E}">
        <p14:creationId xmlns:p14="http://schemas.microsoft.com/office/powerpoint/2010/main" val="187046427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3" grpId="0"/>
      <p:bldP spid="14" grpId="0"/>
    </p:bldLst>
  </p:timing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1C6A129E-B6A5-4691-8077-2CC8343DFC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C3A3696E-26BA-413E-94CD-21B0774AF6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6CDC283-E307-4767-9444-62FB37EE8A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F6BF4D5-7795-462E-A845-6745A543DE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2DF9E1C-3B32-4FDF-A2EC-FA440ABA83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BC3B572-D3EF-4F87-914A-B05606F41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4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60949B8-F644-4646-8F34-CB52AD4380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2521AB9-0D80-4BF7-AD85-1E9B422A3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27C5D77-A575-44F9-B175-F01E8CCF0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71AE6E-11F1-4867-B7E3-69F2C5ED6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219200"/>
            <a:ext cx="10477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1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quantity increases from 240 by 15%, then decreases by 20%. Find the final quantity.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E13D83C-B33C-46D4-A915-91DF316368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124075"/>
            <a:ext cx="38100" cy="35242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78C224C-CAE2-4933-8B6C-4220D8A425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2002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5C5666D-D3D7-41E7-814D-4CFB1F22EB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1145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15% of 240 = 36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34D7F87-A4A3-426C-A06D-6641DF6AE4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7717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6EC0142-29A7-46D1-ADF2-F816F8BA7A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29051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D766716-35BF-40E2-A5C0-106210A3BF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28194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After increase: 240 + 36 = 276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532CED1-94D6-4A13-BE4E-69C4C9F3B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4766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F51A2C6-2858-46CA-A470-DE552A5FB8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6099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C6FD7EA4-076D-4CD4-A9F1-0C5E383C31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5242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20% of 276 = 55.2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B64064-6B5E-44E2-912D-424A43F033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18147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7F879A5-7199-4D89-9DE4-100A7F51E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431482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90DC43B1-7852-4E08-ACFE-FDC0F990FB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22910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0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575" b="0">
                <a:solidFill>
                  <a:srgbClr val="17253A"/>
                </a:solidFill>
                <a:latin typeface="Arial"/>
                <a:ea typeface="Arial"/>
                <a:cs typeface="Arial"/>
              </a:rPr>
              <a:t>After decrease: 276 - 55.2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8198071-24FD-474C-B813-CA5322BF2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86325"/>
            <a:ext cx="9334500" cy="952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069CB6CE-53C0-448A-83EF-DE1DBA8190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5019675"/>
            <a:ext cx="400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5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0811290-1D28-46C6-B389-E5E9E79BF0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933950"/>
            <a:ext cx="9525000" cy="6381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Final quantity = 220.8</a:t>
            </a:r>
          </a:p>
        </p:txBody>
      </p:sp>
    </p:spTree>
    <p:extLst>
      <p:ext uri="{BB962C8B-B14F-4D97-AF65-F5344CB8AC3E}">
        <p14:creationId xmlns:p14="http://schemas.microsoft.com/office/powerpoint/2010/main" val="136493767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3" grpId="0"/>
      <p:bldP spid="16" grpId="0"/>
      <p:bldP spid="19" grpId="0"/>
      <p:bldP spid="22" grpId="0"/>
      <p:bldP spid="25" grpId="0"/>
    </p:bldLst>
  </p:timing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C774CEF-25BF-4725-A600-96279FC13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6060856-2B43-4D5B-B507-BC3332FED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94D18353-FED1-4F64-901F-1ED8A0FFAB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18324A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E4C556-3B5C-4015-8935-75594B94AE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I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D196C75-5D0B-460D-8C00-C08E9194BF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Worked answer and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5D7F032-BE09-41A3-B711-7345257CC59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5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2A41265-A707-41AF-8E94-A1955A380B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2717D3AA-FF12-477B-ABEA-28FB883C6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B459351-F319-4756-AB11-DDF267AD27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32EFC81-BD4A-482B-B3C3-B69A9FAEA5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425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Model answer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8224AD-7C3C-49ED-BF94-3D78BF3EC1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2047875"/>
            <a:ext cx="101917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8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8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220.8.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C996ACC-675E-41CF-AC59-60E45808867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3638550"/>
            <a:ext cx="10191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1961CDCB-1438-4D70-8240-11AF6B15B5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4000500"/>
            <a:ext cx="9429750" cy="704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75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75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Reasonableness check: Check the solution and explain why it satisfies every condition.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945823F-FA47-4BCD-BC55-E0ECA64A5F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81125" y="5000625"/>
            <a:ext cx="9429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which step carries the mathematical meaning and why.</a:t>
            </a:r>
          </a:p>
        </p:txBody>
      </p:sp>
    </p:spTree>
    <p:extLst>
      <p:ext uri="{BB962C8B-B14F-4D97-AF65-F5344CB8AC3E}">
        <p14:creationId xmlns:p14="http://schemas.microsoft.com/office/powerpoint/2010/main" val="9039986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3" grpId="0"/>
      <p:bldP spid="14" grpId="0"/>
    </p:bldLst>
  </p:timing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06291538-ED98-40DA-B7D9-56A03E34D1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1DFCA0C-CC4C-4B1B-B376-702EFDA058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92F505-823B-4F7B-8326-A3DA72A244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854117AC-9CAE-4F65-B36A-7D732C26BB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D011ADF-7B47-4596-A832-553434FF90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example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3FE61D4-26C0-46EF-B116-CD0D95BDF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6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2F6766B-9D79-48B1-9B7E-7F9F863D6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DA24589-3116-4E57-92AF-C867368EB4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6C74992-87C3-40FE-8897-C169A2FB6F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333FFA7-BB3A-44EB-B73E-A13B1424B1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2500" y="1524000"/>
            <a:ext cx="10287000" cy="1000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40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40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Three fifths of a number is 84. Find 35% of the number.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090F813-FBB2-4313-AE9A-C3A15C6440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Think alone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CA93629-39D6-4607-8A13-3FDE57D329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577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Compare a step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1AFD7BB-2CA3-4273-850E-DBF35EDAC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77250" y="3048000"/>
            <a:ext cx="2476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Commit together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6754710-B337-44AC-BCC6-B8D3EAFA2A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3857625"/>
            <a:ext cx="8763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Which representation or operation will we use first?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E5F6CF4-3C2C-4A74-ACF0-91B7E554F1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14500" y="4810125"/>
            <a:ext cx="8763000" cy="7143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2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22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Answer: 49.</a:t>
            </a:r>
          </a:p>
        </p:txBody>
      </p:sp>
    </p:spTree>
    <p:extLst>
      <p:ext uri="{BB962C8B-B14F-4D97-AF65-F5344CB8AC3E}">
        <p14:creationId xmlns:p14="http://schemas.microsoft.com/office/powerpoint/2010/main" val="626223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4" grpId="0"/>
      <p:bldP spid="15" grpId="0"/>
    </p:bldLst>
  </p:timing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A3268ADA-4571-42BA-8896-F0835EA203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DF8080A-8611-4A0F-A47E-FC70ABF8BF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ED79C9D-5D2B-4F30-AF3F-A3A04DAA6E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1A20EA1-4344-4AE2-AB16-B7649204DB0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CHECK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6025F09D-F525-43A8-8517-A6DC055294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Miro's misconception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370BE5F-42FB-465D-A9C6-FDF9AD4FE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7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B4AED10-8962-419E-9741-2094C96E87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A8EA5562-23EA-45E2-ADB5-A2475C13F0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2722FAC-581D-42AA-9B1C-7813019077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pic>
        <p:nvPicPr>
          <p:cNvPr id="25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57ba8dadd24fd5"/>
          <a:stretch xmlns:a="http://schemas.openxmlformats.org/drawingml/2006/main"/>
        </p:blipFill>
        <p:spPr>
          <a:xfrm xmlns:a="http://schemas.openxmlformats.org/drawingml/2006/main">
            <a:off x="8056563" y="1381125"/>
            <a:ext cx="2984500" cy="4476750"/>
          </a:xfrm>
          <a:prstGeom xmlns:a="http://schemas.openxmlformats.org/drawingml/2006/main" prst="rect">
            <a:avLst/>
          </a:prstGeom>
        </p:spPr>
      </p:pic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F264550-C70E-40F6-A593-832925AB0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152400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B4232B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B4232B"/>
                </a:solidFill>
                <a:latin typeface="Arial"/>
                <a:ea typeface="Arial"/>
                <a:cs typeface="Arial"/>
              </a:rPr>
              <a:t>Miro thinks...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D1731C7-81D0-43EB-A536-2D578CA04D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2095500"/>
            <a:ext cx="6477000" cy="1381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17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17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Miro starts calculating before deciding what the problem asks and which information matters.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A5BB4D-2C0F-4C7A-8D2E-5F112907A6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3857625"/>
            <a:ext cx="64770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200911F0-730F-48D3-8630-D4BD4DB295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171950"/>
            <a:ext cx="5905500" cy="4286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65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What should Miro change?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0FF2811-5DCE-458D-8FCB-C0DAF84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4875" y="4714875"/>
            <a:ext cx="6477000" cy="1047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80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Represent the relationships first, label each subtotal and test the final answer against every condition.</a:t>
            </a:r>
          </a:p>
        </p:txBody>
      </p:sp>
    </p:spTree>
    <p:extLst>
      <p:ext uri="{BB962C8B-B14F-4D97-AF65-F5344CB8AC3E}">
        <p14:creationId xmlns:p14="http://schemas.microsoft.com/office/powerpoint/2010/main" val="126094082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2" grpId="0"/>
      <p:bldP spid="15" grpId="0"/>
    </p:bldLst>
  </p:timing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95CBEECF-43B9-447E-8DB7-7314B60C60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8735159-B56F-4D2A-9D01-F84EA6DB4A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B138860-1AFE-4B56-B9BF-D6B2F96CE2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C6E73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035E8B4-34FB-4A88-9548-E1BD176A0B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WE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916299D-EA1D-4AF1-930F-9183128A5C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Guided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C2696D4-9000-4FA4-BC8D-6B3AA8FE41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8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D1976F6-1782-4A3C-B65A-93097C9C96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CC2D796-0540-414C-8644-77825F5BF8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6E283A6-FE53-4D04-9D8B-289E8F70B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589AD37-CEB0-4C86-A8C8-6C705499A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8E7E335-B6C9-4E5D-A8D0-BF208C7F50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E2B3741B-29F7-4DD6-A05E-C9B3CE2C2B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32C6338-AD3A-4405-A2F5-5B6E7E49C7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Three fifths of a number is 84. Find 35% of the number.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E991F30-9B20-4A77-8BD8-94A3C83774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9D8892F-2F66-4CC9-A8A9-C54883F5BF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A71809-D37F-41B9-A782-0D45F61553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A50F538-BAF9-4077-93B5-E178785D06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Show the first step and explain why it comes first.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003B729-402F-4219-BAAD-CB40B8689D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AF6EE1C3-6658-4349-9927-DBC36CBF9CC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DB5CAC9B-61DC-4363-B486-2650315B5F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CA0C4E-07D6-4032-A044-CA0EBE3B49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Compare with the answer: 49.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883C2EA-672D-429F-8DAA-F29362653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Agree, disagree or improve the explanation.</a:t>
            </a:r>
          </a:p>
        </p:txBody>
      </p:sp>
    </p:spTree>
    <p:extLst>
      <p:ext uri="{BB962C8B-B14F-4D97-AF65-F5344CB8AC3E}">
        <p14:creationId xmlns:p14="http://schemas.microsoft.com/office/powerpoint/2010/main" val="1106036619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8A5746F-D596-4CD4-9007-992A5356E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4A89106-89FF-4434-AF49-46A8672CCA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0DD5146A-0FFA-4388-B7ED-894854FEAB9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BE28B283-D3E3-4786-AB78-A382099DFD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9C709DE-6BF4-4D00-B791-121DBEA6C9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fluency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DD89FD24-530A-4105-A862-49438A3672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9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AFE27A0-12C6-4101-8C1F-15A299E9379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C67A5F-559B-47F6-B9D4-5B7C4E0CB9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6F6E2F3-AD76-4DF6-8277-B815858990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BCCB212-0D52-401F-89E9-40AA121560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84092B-3146-450C-8BBB-9C352AD35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DC0665A-4885-42D1-82D4-F9E89B6701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2D73B68-A8ED-48F5-97E1-B2083F4D54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is 12 cm by 8 cm by 5 cm. A third of its volume is filled. What volume remains empty?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290D3CB-AB0A-41EA-8BEA-83E34BB6F2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F81BE32-6600-4A1C-8467-13D17FFB7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7BE28E1-1AE0-41DD-A20E-A5C3AB3522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4E5D021C-F045-4C44-9D67-F4192D5F40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Record every stage clearly. Mark the place value, operation or boundary that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DD1212-C705-455D-9ED2-EE34EDF2E9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7669797F-B232-487D-AAA1-796368610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FF7EAEB-D9BD-44B2-9B65-8B24E9399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C3E0D4F-44F7-4293-A3D8-A6165A9122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Use an inverse, estimate or equivalent representation to check.</a:t>
            </a:r>
          </a:p>
        </p:txBody>
      </p:sp>
    </p:spTree>
    <p:extLst>
      <p:ext uri="{BB962C8B-B14F-4D97-AF65-F5344CB8AC3E}">
        <p14:creationId xmlns:p14="http://schemas.microsoft.com/office/powerpoint/2010/main" val="233119383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2D091DA-2CC1-431E-B683-ACE190EB51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85F5A925-01B7-43F9-8F46-94668A2A1A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387D139-0759-4E1E-BD58-A94655449F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2F785D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2C727AE-AB71-4AA7-B71A-20DEE37D1F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YOU DO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EF8E993-B85B-40BB-BDB2-6EF22AF5E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Reasoning and depth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31491D1-730D-425D-BA2D-50928C5E88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10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158BD10-E63A-412F-8E66-F808378E9E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C8C796F-E9F3-4BCF-AD45-ADB53142C5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433C622-84FC-470F-B5BE-9C7AC33DE3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E760FFC4-D2A3-472F-8CFB-36373E8D02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0125" y="1524000"/>
            <a:ext cx="10191750" cy="1143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Prove or explain your reasoning: A pie-chart sector is 126 degrees and represents 42 pupils. How many pupils are in the survey?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107FA95-B883-46FF-91E8-D1DA7B734D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3143250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Show enough evidence for another pupil to follow your reasoning.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91E02D2-376E-4BA2-8F1D-449D1CE04D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4143375"/>
            <a:ext cx="9334500" cy="61912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8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8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Can you find a second method, example or counterexample?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2D1C20B6-7E96-41A8-B601-F57A118D3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28750" y="5143500"/>
            <a:ext cx="9334500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6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16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Teacher check: 120 pupils. The explanation must show why the method works.</a:t>
            </a:r>
          </a:p>
        </p:txBody>
      </p:sp>
    </p:spTree>
    <p:extLst>
      <p:ext uri="{BB962C8B-B14F-4D97-AF65-F5344CB8AC3E}">
        <p14:creationId xmlns:p14="http://schemas.microsoft.com/office/powerpoint/2010/main" val="1317662468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1" grpId="0"/>
      <p:bldP spid="12" grpId="0"/>
      <p:bldP spid="13" grpId="0"/>
    </p:bldLst>
  </p:timing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7E04BC4-B1C2-4C25-A610-BA9C65391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A9D07040-D597-4BFE-A431-395E477FD1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56F9293-5716-421D-B632-79E41FE2EC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9129E25-DDB7-478D-9D58-4A465B231F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PRACTISE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85EB56E-3A70-416B-9CFC-C52284222C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Independent practice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4F920F3-A017-482F-B758-989F8C2456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11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F888EC7-B56A-4AC2-8058-728D4E5F3A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88D0ED54-358B-4754-BB42-5AB0C80A7EB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A2EB48C-7335-448D-A3A6-BC83BCEB33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A7898B6-3775-4067-9DE3-816FD4353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76375"/>
            <a:ext cx="6667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Try this example independently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062FED5-1965-4D33-A05E-F734BD0D59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047875"/>
            <a:ext cx="6858000" cy="2857500"/>
          </a:xfrm>
          <a:prstGeom xmlns:a="http://schemas.openxmlformats.org/drawingml/2006/main" prst="roundRect">
            <a:avLst>
              <a:gd name="adj" fmla="val 266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4288">
            <a:solidFill>
              <a:srgbClr val="D9E0E6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FE9BBCB1-39A3-4C1D-A6C2-9821E388D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2400300"/>
            <a:ext cx="6115050" cy="1428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3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3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is 12 cm by 8 cm by 5 cm. A third of its volume is filled. What volume remains empty?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AED2168-B185-4D20-99FD-11E613B71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85875" y="4095750"/>
            <a:ext cx="5810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1500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Show your method and check your answer.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5264700-9A52-4312-9382-8F4EB13C1A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1666875"/>
            <a:ext cx="2619375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Answer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3A3F72D8-9CE5-4E0B-AE0C-AC08B47EC1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0" y="2190750"/>
            <a:ext cx="3048000" cy="2714625"/>
          </a:xfrm>
          <a:prstGeom xmlns:a="http://schemas.openxmlformats.org/drawingml/2006/main" prst="roundRect">
            <a:avLst>
              <a:gd name="adj" fmla="val 280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4288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C507624-7484-404B-B707-11132B3719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2619375"/>
            <a:ext cx="2381250" cy="1238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2550" b="1">
                <a:solidFill>
                  <a:srgbClr val="2F785D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2F785D"/>
                </a:solidFill>
                <a:latin typeface="Arial"/>
                <a:ea typeface="Arial"/>
                <a:cs typeface="Arial"/>
              </a:rPr>
              <a:t>320 cm3.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715A7B0-B7ED-45E6-AF2B-B99E668D2D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34375" y="40005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9825"/>
          </a:bodyPr>
          <a:lstStyle xmlns:a="http://schemas.openxmlformats.org/drawingml/2006/main"/>
          <a:p xmlns:a="http://schemas.openxmlformats.org/drawingml/2006/main">
            <a:pPr algn="ctr">
              <a:defRPr sz="1425" b="1">
                <a:solidFill>
                  <a:srgbClr val="18324A"/>
                </a:solidFill>
                <a:latin typeface="Arial"/>
                <a:ea typeface="Arial"/>
                <a:cs typeface="Arial"/>
              </a:defRPr>
            </a:pPr>
            <a:r>
              <a:rPr sz="1425" b="1">
                <a:solidFill>
                  <a:srgbClr val="18324A"/>
                </a:solidFill>
                <a:latin typeface="Arial"/>
                <a:ea typeface="Arial"/>
                <a:cs typeface="Arial"/>
              </a:rPr>
              <a:t>Explain how you know.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136045B5-0A11-42F7-B332-3CBDA89DB0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5334000"/>
            <a:ext cx="7810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The answer appears on click after pupils have committed.</a:t>
            </a:r>
          </a:p>
        </p:txBody>
      </p:sp>
    </p:spTree>
    <p:extLst>
      <p:ext uri="{BB962C8B-B14F-4D97-AF65-F5344CB8AC3E}">
        <p14:creationId xmlns:p14="http://schemas.microsoft.com/office/powerpoint/2010/main" val="1090101510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6" grpId="0"/>
      <p:bldP spid="17" grpId="0"/>
    </p:bldLst>
  </p:timing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BF7F0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DFBF96E7-51A9-4F25-AADE-8EE2301B6F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0" y="0"/>
            <a:ext cx="12192000" cy="1333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776F843B-5AD9-4B87-A1BE-FDE35FFB1F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1C9F805-DC6D-48F6-834D-51587AB01B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19125"/>
            <a:ext cx="1428750" cy="381000"/>
          </a:xfrm>
          <a:prstGeom xmlns:a="http://schemas.openxmlformats.org/drawingml/2006/main" prst="roundRect">
            <a:avLst>
              <a:gd name="adj" fmla="val 20000"/>
            </a:avLst>
          </a:prstGeom>
          <a:solidFill xmlns:a="http://schemas.openxmlformats.org/drawingml/2006/main">
            <a:srgbClr val="B4232B"/>
          </a:solidFill>
          <a:ln xmlns:a="http://schemas.openxmlformats.org/drawingml/2006/main" w="0">
            <a:noFill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6AE445C-5A05-4922-ACBB-0FB46031B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28650"/>
            <a:ext cx="1428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125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125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ASSESS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047084B-289F-4EEC-BA78-33C15B4859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09800" y="552450"/>
            <a:ext cx="8096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2550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2550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Exit check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D749351-67CB-4224-BD2D-92B43EA3B1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72750" y="381000"/>
            <a:ext cx="1000125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defRPr sz="975" b="1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975" b="1">
                <a:solidFill>
                  <a:srgbClr val="5F6E7C"/>
                </a:solidFill>
                <a:latin typeface="Arial"/>
                <a:ea typeface="Arial"/>
                <a:cs typeface="Arial"/>
              </a:rPr>
              <a:t>12 / 12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7988E84-684B-4E02-A946-238D443C44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448425"/>
            <a:ext cx="110871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D9E0E6"/>
          </a:solidFill>
          <a:ln xmlns:a="http://schemas.openxmlformats.org/drawingml/2006/main" w="0">
            <a:solidFill>
              <a:srgbClr val="D9E0E6"/>
            </a:solidFill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EB8C5D7-7396-4F4E-AAFF-1939B16CAA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" y="6543675"/>
            <a:ext cx="3143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l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BrightPath Primary Learning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6D16CCF-5251-4C84-BFD4-D38EC1606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0" y="6543675"/>
            <a:ext cx="49720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78788"/>
          </a:bodyPr>
          <a:lstStyle xmlns:a="http://schemas.openxmlformats.org/drawingml/2006/main"/>
          <a:p xmlns:a="http://schemas.openxmlformats.org/drawingml/2006/main">
            <a:pPr algn="r">
              <a:defRPr sz="825" b="0">
                <a:solidFill>
                  <a:srgbClr val="5F6E7C"/>
                </a:solidFill>
                <a:latin typeface="Arial"/>
                <a:ea typeface="Arial"/>
                <a:cs typeface="Arial"/>
              </a:defRPr>
            </a:pPr>
            <a:r>
              <a:rPr sz="825" b="0">
                <a:solidFill>
                  <a:srgbClr val="5F6E7C"/>
                </a:solidFill>
                <a:latin typeface="Arial"/>
                <a:ea typeface="Arial"/>
                <a:cs typeface="Arial"/>
              </a:rPr>
              <a:t>Choose efficient representations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D09AC64-0AC7-455A-9E0E-06570C411D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142875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23A35E7A-AA3F-4A37-B1DF-33FDC3575E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69545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2F9DEE6C-3D3C-4BD4-96B0-8F4E50BCE0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73355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1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2AD8C0E-0555-4962-BC8E-5E8C9A9A87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161925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A cuboid is 12 cm by 8 cm by 5 cm. A third of its volume is filled. What volume remains empty?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D33ED5A-34ED-4CF7-9FAA-C2E865FE3D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714625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E7F1F1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EC84A5-A718-4207-8B4D-1632EDA16C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981325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2642F207-CEEE-42CE-A143-F8FE145E5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019425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2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482F553-E602-4433-8BC7-BF93C77A0F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2905125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What should Miro correct? Miro starts calculating before deciding what the problem asks and which information matters.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CC34EE65-E3D9-45CB-AD71-E013EC50E7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000500"/>
            <a:ext cx="10629900" cy="1104900"/>
          </a:xfrm>
          <a:prstGeom xmlns:a="http://schemas.openxmlformats.org/drawingml/2006/main" prst="roundRect">
            <a:avLst>
              <a:gd name="adj" fmla="val 689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1430">
            <a:solidFill>
              <a:srgbClr val="D9E0E6"/>
            </a:solidFill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441DCD3-64F2-48D6-A749-E76FE464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267200"/>
            <a:ext cx="552450" cy="55245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2C6E73"/>
          </a:solidFill>
          <a:ln xmlns:a="http://schemas.openxmlformats.org/drawingml/2006/main" w="0">
            <a:solidFill>
              <a:srgbClr val="2C6E73"/>
            </a:solidFill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F8E9CBB-697F-4C32-904A-EF86F52E85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305300"/>
            <a:ext cx="5524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FFFFFF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FFFFFF"/>
                </a:solidFill>
                <a:latin typeface="Arial"/>
                <a:ea typeface="Arial"/>
                <a:cs typeface="Arial"/>
              </a:rPr>
              <a:t>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0699CCD5-B900-42A3-8AF6-E2D96C74FF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71650" y="4191000"/>
            <a:ext cx="9286875" cy="723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defRPr sz="1725" b="1">
                <a:solidFill>
                  <a:srgbClr val="17253A"/>
                </a:solidFill>
                <a:latin typeface="Arial"/>
                <a:ea typeface="Arial"/>
                <a:cs typeface="Arial"/>
              </a:defRPr>
            </a:pPr>
            <a:r>
              <a:rPr sz="1725" b="1">
                <a:solidFill>
                  <a:srgbClr val="17253A"/>
                </a:solidFill>
                <a:latin typeface="Arial"/>
                <a:ea typeface="Arial"/>
                <a:cs typeface="Arial"/>
              </a:rPr>
              <a:t>Name the check you used today.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2E217038-9F2D-4A12-B2DA-04D5468BFF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5476875"/>
            <a:ext cx="7239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defRPr sz="1500" b="1">
                <a:solidFill>
                  <a:srgbClr val="2C6E73"/>
                </a:solidFill>
                <a:latin typeface="Arial"/>
                <a:ea typeface="Arial"/>
                <a:cs typeface="Arial"/>
              </a:defRPr>
            </a:pPr>
            <a:r>
              <a:rPr sz="1500" b="1">
                <a:solidFill>
                  <a:srgbClr val="2C6E73"/>
                </a:solidFill>
                <a:latin typeface="Arial"/>
                <a:ea typeface="Arial"/>
                <a:cs typeface="Arial"/>
              </a:rPr>
              <a:t>Teacher records: secure  |  revisit  |  pre-teach next</a:t>
            </a:r>
          </a:p>
        </p:txBody>
      </p:sp>
    </p:spTree>
    <p:extLst>
      <p:ext uri="{BB962C8B-B14F-4D97-AF65-F5344CB8AC3E}">
        <p14:creationId xmlns:p14="http://schemas.microsoft.com/office/powerpoint/2010/main" val="1518171815"/>
      </p:ext>
    </p:extLst>
  </p:cSld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3" grpId="0"/>
      <p:bldP spid="17" grpId="0"/>
      <p:bldP spid="21" grpId="0"/>
    </p:bldLst>
  </p:timing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2026-09-09T22:14:25.0990000Z</dcterms:created>
  <dcterms:modified xsi:type="dcterms:W3CDTF">2026-09-09T22:14:25.0990000Z</dcterms:modified>
</coreProperties>
</file>