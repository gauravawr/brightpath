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Choose efficient representations. Choose efficient representations.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Choose efficient representations. I do. The complete bar represents 100%. Find 1%, then build the required percentage. For a reduction, subtract the discount from the original whole.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Choose efficient representations. I do. The complete bar represents 100%. Find 1%, then build the required percentage. For a reduction, subtract the discount from the original whole.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Choose efficient representations. You do. Pause before clicking. Let pupils try independently, then reveal and discuss every step. The complete bar represents 100%. Find 1%, then build the required percentage. For a reduction, subtract the discount from the original whole.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Choose efficient representations. You do. Pause before clicking. Let pupils try independently, then reveal and discuss every step. The complete bar represents 100%. Find 1%, then build the required percentage. For a reduction, subtract the discount from the original whole.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Choose efficient representations. I do. The complete bar represents 100%. Find 1%, then build the required percentage. For a reduction, subtract the discount from the original whole.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Choose efficient representations. I do. The complete bar represents 100%. Find 1%, then build the required percentage. For a reduction, subtract the discount from the original whole.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Choose efficient representations. You do. Pause before clicking. Let pupils try independently, then reveal and discuss every step. The complete bar represents 100%. Find 1%, then build the required percentage. For a reduction, subtract the discount from the original whole.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Choose efficient representations. You do. Pause before clicking. Let pupils try independently, then reveal and discuss every step. The complete bar represents 100%. Find 1%, then build the required percentage. For a reduction, subtract the discount from the original whole.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Choose efficient representations.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Choose efficient representations.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0606C7AB-6D50-49E8-B09C-BF9BA1D1B291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Choose efficient representations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B6AC93D6-EC7E-4220-A3AE-610DA56544A5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EFC9C1A-C9A6-455F-B174-6FE993497EAD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C2311A81-DB95-4DF9-A624-46F371D1FBF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Choose efficient representations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54B64D8A-4849-4013-99F0-4FEFD4A1941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1060F860-2E7F-4B29-A10C-74762C4294D2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select a diagram, table, equation or written method for a problem.</a:t>
            </a:r>
          </a:p>
        </p:txBody>
      </p:sp>
    </p:spTree>
    <p:extLst>
      <p:ext uri="{BB962C8B-B14F-4D97-AF65-F5344CB8AC3E}">
        <p14:creationId xmlns:p14="http://schemas.microsoft.com/office/powerpoint/2010/main" val="614951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-1">
            <a:extLst>
              <a:ext uri="{FF2B5EF4-FFF2-40B4-BE49-F238E27FC236}">
                <a16:creationId xmlns:a16="http://schemas.microsoft.com/office/drawing/2014/main" id="{A92B9B57-1D03-47D5-BACB-F92F39AAE38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B3CC5D53-D04C-40D1-BDCC-D2B2D272ADC4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15% of 240.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C6EAB8D-7318-477D-A975-D8104B4CEC1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D7672BD1-F6E1-4855-B94A-471E1DA08891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Choose efficient representations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4C387E4A-1C83-451B-8F8D-026372BDF471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9C40CD6A-F330-4702-B73F-F5D88BCCDAD3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1906250" cy="892969"/>
          </a:xfrm>
          <a:prstGeom prst="rect">
            <a:avLst/>
          </a:prstGeom>
          <a:solidFill>
            <a:srgbClr val="FFFFFF"/>
          </a:solidFill>
          <a:ln w="23813">
            <a:solidFill>
              <a:srgbClr val="1D4ED8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36FA854D-D344-4BBF-874E-260B62C06AB4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785938" cy="89296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8D2708AA-4363-4DFE-9E9E-097A8B956B7F}"/>
              </a:ext>
            </a:extLst>
          </p:cNvPr>
          <p:cNvSpPr>
            <a:spLocks noGrp="1"/>
          </p:cNvSpPr>
          <p:nvPr/>
        </p:nvSpPr>
        <p:spPr>
          <a:xfrm>
            <a:off x="11906250" y="4429125"/>
            <a:ext cx="1905000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4DA7225D-9851-4B36-9AEB-8BEE9D0CEE02}"/>
              </a:ext>
            </a:extLst>
          </p:cNvPr>
          <p:cNvSpPr>
            <a:spLocks noGrp="1"/>
          </p:cNvSpPr>
          <p:nvPr/>
        </p:nvSpPr>
        <p:spPr>
          <a:xfrm>
            <a:off x="1547813" y="4429125"/>
            <a:ext cx="3571875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9FE84018-9257-4F2B-9B82-EAEFD7CF9BAB}"/>
              </a:ext>
            </a:extLst>
          </p:cNvPr>
          <p:cNvSpPr>
            <a:spLocks noGrp="1"/>
          </p:cNvSpPr>
          <p:nvPr/>
        </p:nvSpPr>
        <p:spPr>
          <a:xfrm>
            <a:off x="1428750" y="5345906"/>
            <a:ext cx="12739688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240 ÷ 100 = 2.4 (1%)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66560EA7-6F24-478E-8133-5E87F857CFFF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2.4 × 15 = 36</a:t>
            </a:r>
          </a:p>
        </p:txBody>
      </p:sp>
    </p:spTree>
    <p:extLst>
      <p:ext uri="{BB962C8B-B14F-4D97-AF65-F5344CB8AC3E}">
        <p14:creationId xmlns:p14="http://schemas.microsoft.com/office/powerpoint/2010/main" val="210721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-1">
            <a:extLst>
              <a:ext uri="{FF2B5EF4-FFF2-40B4-BE49-F238E27FC236}">
                <a16:creationId xmlns:a16="http://schemas.microsoft.com/office/drawing/2014/main" id="{95B70DA9-F484-4B44-8B88-AF56004914D7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2A97256E-1286-4CFA-8EC6-42006B71D506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Reduce 276 by 20%.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4530799E-F567-4777-95DC-3305FA4FF320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5AA9FE1D-F0FB-4FBE-92C6-BA518D5D9D57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Choose efficient representations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1A02D1D-AB20-4086-ACFF-201B9D8D13BA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9D2154A-DDDB-4CC2-A960-A4DD569D45C3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1906250" cy="892969"/>
          </a:xfrm>
          <a:prstGeom prst="rect">
            <a:avLst/>
          </a:prstGeom>
          <a:solidFill>
            <a:srgbClr val="FFFFFF"/>
          </a:solidFill>
          <a:ln w="23813">
            <a:solidFill>
              <a:srgbClr val="1D4ED8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7E9F5EAE-75DF-439C-8508-E3F1296D8E2C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2381250" cy="89296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02BA35C0-2922-4A0B-A1C2-DCEECBAC9C7E}"/>
              </a:ext>
            </a:extLst>
          </p:cNvPr>
          <p:cNvSpPr>
            <a:spLocks noGrp="1"/>
          </p:cNvSpPr>
          <p:nvPr/>
        </p:nvSpPr>
        <p:spPr>
          <a:xfrm>
            <a:off x="11906250" y="4429125"/>
            <a:ext cx="1905000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D8DEA610-CC31-4DA2-B692-C5C731B05955}"/>
              </a:ext>
            </a:extLst>
          </p:cNvPr>
          <p:cNvSpPr>
            <a:spLocks noGrp="1"/>
          </p:cNvSpPr>
          <p:nvPr/>
        </p:nvSpPr>
        <p:spPr>
          <a:xfrm>
            <a:off x="1547813" y="4429125"/>
            <a:ext cx="3571875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4C4453B2-5EFB-4EF2-BEBE-69DB3B6ABD6C}"/>
              </a:ext>
            </a:extLst>
          </p:cNvPr>
          <p:cNvSpPr>
            <a:spLocks noGrp="1"/>
          </p:cNvSpPr>
          <p:nvPr/>
        </p:nvSpPr>
        <p:spPr>
          <a:xfrm>
            <a:off x="1428750" y="5345906"/>
            <a:ext cx="12739688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276 ÷ 100 = 2.76 (1%)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11A0C414-1B6C-4037-A212-B2E048688ABF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276 − 55.2 = 220.8</a:t>
            </a:r>
          </a:p>
        </p:txBody>
      </p:sp>
    </p:spTree>
    <p:extLst>
      <p:ext uri="{BB962C8B-B14F-4D97-AF65-F5344CB8AC3E}">
        <p14:creationId xmlns:p14="http://schemas.microsoft.com/office/powerpoint/2010/main" val="37649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8D597C71-5158-4B13-9207-113A34D7B4C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133BA349-78A9-4D45-9259-DAD168F2FA4A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9637EFD-9DF3-4415-B2F2-9B822A11C90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15% of 340.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8DCFF069-F8B3-4C4D-8784-41D957539ED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C801AED7-7694-4C40-9DD4-EEABA6690281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Choose efficient representations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4D55C48D-8D50-4DFE-83AA-A3886F4CC0C6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33A814F5-5DF4-48DE-A730-F70075FAAB50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1906250" cy="892969"/>
          </a:xfrm>
          <a:prstGeom prst="rect">
            <a:avLst/>
          </a:prstGeom>
          <a:solidFill>
            <a:srgbClr val="FFFFFF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3170B26-2517-464A-93C6-A0B6ACFCB7D4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785938" cy="89296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0FFB44C6-029D-4E92-B625-0C387A8935F3}"/>
              </a:ext>
            </a:extLst>
          </p:cNvPr>
          <p:cNvSpPr>
            <a:spLocks noGrp="1"/>
          </p:cNvSpPr>
          <p:nvPr/>
        </p:nvSpPr>
        <p:spPr>
          <a:xfrm>
            <a:off x="11906250" y="4429125"/>
            <a:ext cx="1905000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20E9399A-EAF7-4DBD-A935-EB5C27FC7941}"/>
              </a:ext>
            </a:extLst>
          </p:cNvPr>
          <p:cNvSpPr>
            <a:spLocks noGrp="1"/>
          </p:cNvSpPr>
          <p:nvPr/>
        </p:nvSpPr>
        <p:spPr>
          <a:xfrm>
            <a:off x="1547813" y="4429125"/>
            <a:ext cx="3571875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3570AB74-8EEC-4CB5-9651-F28ABFFF62C7}"/>
              </a:ext>
            </a:extLst>
          </p:cNvPr>
          <p:cNvSpPr>
            <a:spLocks noGrp="1"/>
          </p:cNvSpPr>
          <p:nvPr/>
        </p:nvSpPr>
        <p:spPr>
          <a:xfrm>
            <a:off x="1428750" y="5345906"/>
            <a:ext cx="12739688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340 ÷ 100 = 3.4 (1%)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6B84672A-E045-465F-89D5-B419374A1C16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3.4 × 15 = 51</a:t>
            </a:r>
          </a:p>
        </p:txBody>
      </p:sp>
    </p:spTree>
    <p:extLst>
      <p:ext uri="{BB962C8B-B14F-4D97-AF65-F5344CB8AC3E}">
        <p14:creationId xmlns:p14="http://schemas.microsoft.com/office/powerpoint/2010/main" val="161050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73A03D91-50D2-4AF2-8CFB-E1FCF243ADD1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B3C8DC31-3305-4CB0-9D21-F39636C062AD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5BBCB164-6C9B-4B80-918A-344D8196BEF8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Reduce 391 by 20%.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1F0DBC13-CDB2-488F-913E-E8B68D9EF31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5ECA1A4-F1E7-461D-9619-BCDDA4DF330C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Choose efficient representations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5421A77-D2D6-4603-B14F-C4F17C2E5745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53CFF351-F6E2-4AE6-AE32-5A31871B167B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1906250" cy="892969"/>
          </a:xfrm>
          <a:prstGeom prst="rect">
            <a:avLst/>
          </a:prstGeom>
          <a:solidFill>
            <a:srgbClr val="FFFFFF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E569C473-3DE6-4D36-BB0D-9F150808EB85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2381250" cy="89296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BE7563F-4FAA-4367-8723-0D3C80D67DA7}"/>
              </a:ext>
            </a:extLst>
          </p:cNvPr>
          <p:cNvSpPr>
            <a:spLocks noGrp="1"/>
          </p:cNvSpPr>
          <p:nvPr/>
        </p:nvSpPr>
        <p:spPr>
          <a:xfrm>
            <a:off x="11906250" y="4429125"/>
            <a:ext cx="1905000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A5043327-59BF-48D5-B56C-93B01E9B9898}"/>
              </a:ext>
            </a:extLst>
          </p:cNvPr>
          <p:cNvSpPr>
            <a:spLocks noGrp="1"/>
          </p:cNvSpPr>
          <p:nvPr/>
        </p:nvSpPr>
        <p:spPr>
          <a:xfrm>
            <a:off x="1547813" y="4429125"/>
            <a:ext cx="3571875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DD6188D7-8444-419B-B621-1339BA6AE397}"/>
              </a:ext>
            </a:extLst>
          </p:cNvPr>
          <p:cNvSpPr>
            <a:spLocks noGrp="1"/>
          </p:cNvSpPr>
          <p:nvPr/>
        </p:nvSpPr>
        <p:spPr>
          <a:xfrm>
            <a:off x="1428750" y="5345906"/>
            <a:ext cx="12739688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391 ÷ 100 = 3.91 (1%)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2D1159F8-9875-4D21-B707-28DA0A6F3184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391 − 78.2 = 312.8</a:t>
            </a:r>
          </a:p>
        </p:txBody>
      </p:sp>
    </p:spTree>
    <p:extLst>
      <p:ext uri="{BB962C8B-B14F-4D97-AF65-F5344CB8AC3E}">
        <p14:creationId xmlns:p14="http://schemas.microsoft.com/office/powerpoint/2010/main" val="191170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-1">
            <a:extLst>
              <a:ext uri="{FF2B5EF4-FFF2-40B4-BE49-F238E27FC236}">
                <a16:creationId xmlns:a16="http://schemas.microsoft.com/office/drawing/2014/main" id="{DBB85672-FE76-425B-887D-4796264289B0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4EAC194-C107-4762-9382-B090DC26E6CD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15% of 440.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B796B30F-F7DD-4D15-B5E0-E0D30340DE6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1DF3754D-9D9A-478D-A2F8-190099820F1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Choose efficient representations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66B59A0-9F18-4256-BDB2-016AE077740A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0E1A15B2-2637-4765-A803-D96463C9708D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1906250" cy="892969"/>
          </a:xfrm>
          <a:prstGeom prst="rect">
            <a:avLst/>
          </a:prstGeom>
          <a:solidFill>
            <a:srgbClr val="FFFFFF"/>
          </a:solidFill>
          <a:ln w="23813">
            <a:solidFill>
              <a:srgbClr val="1D4ED8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7F172F68-FF35-4844-8246-0A199637870B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785938" cy="89296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0CDAC5D5-82B1-4B01-AAB9-02A8E144DC6D}"/>
              </a:ext>
            </a:extLst>
          </p:cNvPr>
          <p:cNvSpPr>
            <a:spLocks noGrp="1"/>
          </p:cNvSpPr>
          <p:nvPr/>
        </p:nvSpPr>
        <p:spPr>
          <a:xfrm>
            <a:off x="11906250" y="4429125"/>
            <a:ext cx="1905000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0EA54C0-AF88-4E2C-8351-75C60AFB21CD}"/>
              </a:ext>
            </a:extLst>
          </p:cNvPr>
          <p:cNvSpPr>
            <a:spLocks noGrp="1"/>
          </p:cNvSpPr>
          <p:nvPr/>
        </p:nvSpPr>
        <p:spPr>
          <a:xfrm>
            <a:off x="1547813" y="4429125"/>
            <a:ext cx="3571875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0841BD5-6DEA-4CDC-8E6E-5DB3EAC97105}"/>
              </a:ext>
            </a:extLst>
          </p:cNvPr>
          <p:cNvSpPr>
            <a:spLocks noGrp="1"/>
          </p:cNvSpPr>
          <p:nvPr/>
        </p:nvSpPr>
        <p:spPr>
          <a:xfrm>
            <a:off x="1428750" y="5345906"/>
            <a:ext cx="12739688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440 ÷ 100 = 4.4 (1%)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DC555858-1DB9-4FAF-A463-00E3E9075687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4.4 × 15 = 66</a:t>
            </a:r>
          </a:p>
        </p:txBody>
      </p:sp>
    </p:spTree>
    <p:extLst>
      <p:ext uri="{BB962C8B-B14F-4D97-AF65-F5344CB8AC3E}">
        <p14:creationId xmlns:p14="http://schemas.microsoft.com/office/powerpoint/2010/main" val="157779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-1">
            <a:extLst>
              <a:ext uri="{FF2B5EF4-FFF2-40B4-BE49-F238E27FC236}">
                <a16:creationId xmlns:a16="http://schemas.microsoft.com/office/drawing/2014/main" id="{BEFF2B09-D03F-40E5-8822-7EAC196C2E3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A1107D1C-1164-4D12-B796-4B422B87EB8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Reduce 506 by 20%.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1937255-3C1F-4483-8B63-1FEA64FDE7D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AF2CFE9-005B-4C83-8341-D5CB8220C69F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Choose efficient representations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81747E5-414D-45F0-8F4E-97A01213B8BE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1892637-F355-4309-8478-7F9775A7888E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1906250" cy="892969"/>
          </a:xfrm>
          <a:prstGeom prst="rect">
            <a:avLst/>
          </a:prstGeom>
          <a:solidFill>
            <a:srgbClr val="FFFFFF"/>
          </a:solidFill>
          <a:ln w="23813">
            <a:solidFill>
              <a:srgbClr val="1D4ED8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9042FCB0-F057-45A2-BFF0-95AD569B5A90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2381250" cy="89296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FBB3376-ECA1-4326-A048-EDFE22511017}"/>
              </a:ext>
            </a:extLst>
          </p:cNvPr>
          <p:cNvSpPr>
            <a:spLocks noGrp="1"/>
          </p:cNvSpPr>
          <p:nvPr/>
        </p:nvSpPr>
        <p:spPr>
          <a:xfrm>
            <a:off x="11906250" y="4429125"/>
            <a:ext cx="1905000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25EE7C77-8082-4576-9A70-29A119E6BE90}"/>
              </a:ext>
            </a:extLst>
          </p:cNvPr>
          <p:cNvSpPr>
            <a:spLocks noGrp="1"/>
          </p:cNvSpPr>
          <p:nvPr/>
        </p:nvSpPr>
        <p:spPr>
          <a:xfrm>
            <a:off x="1547813" y="4429125"/>
            <a:ext cx="3571875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961CDB72-080B-413C-BD51-A175387C0A94}"/>
              </a:ext>
            </a:extLst>
          </p:cNvPr>
          <p:cNvSpPr>
            <a:spLocks noGrp="1"/>
          </p:cNvSpPr>
          <p:nvPr/>
        </p:nvSpPr>
        <p:spPr>
          <a:xfrm>
            <a:off x="1428750" y="5345906"/>
            <a:ext cx="12739688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506 ÷ 100 = 5.06 (1%)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20C3BB3F-FCA7-4625-8FA3-BE8DA80F05F5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506 − 101.2 = 404.8</a:t>
            </a:r>
          </a:p>
        </p:txBody>
      </p:sp>
    </p:spTree>
    <p:extLst>
      <p:ext uri="{BB962C8B-B14F-4D97-AF65-F5344CB8AC3E}">
        <p14:creationId xmlns:p14="http://schemas.microsoft.com/office/powerpoint/2010/main" val="15763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F7EB7BE1-7E2E-4A00-BA6E-B943D4F5A33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536EC77-ED87-42C1-8740-42DDBE0A3609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F7787F1A-3F18-4816-B172-758C3D37D4C3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15% of 540.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FDA1138-58F0-465F-B0A2-C4BACA0AB90F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8F1FC112-1A20-4ACE-B37E-D55998981827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Choose efficient representations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3E8947F9-891B-44E0-9EEC-75002438D2CE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A7EDE3C9-2492-4DFB-93DC-E3102E1ADBA2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1906250" cy="892969"/>
          </a:xfrm>
          <a:prstGeom prst="rect">
            <a:avLst/>
          </a:prstGeom>
          <a:solidFill>
            <a:srgbClr val="FFFFFF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E18B48FE-1790-4A13-BDAD-E8326466EED6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785938" cy="89296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F9547ECE-D125-4D68-9B3C-28D96A5792E7}"/>
              </a:ext>
            </a:extLst>
          </p:cNvPr>
          <p:cNvSpPr>
            <a:spLocks noGrp="1"/>
          </p:cNvSpPr>
          <p:nvPr/>
        </p:nvSpPr>
        <p:spPr>
          <a:xfrm>
            <a:off x="11906250" y="4429125"/>
            <a:ext cx="1905000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66B95A93-03D4-4804-83D8-97BB2F1B5694}"/>
              </a:ext>
            </a:extLst>
          </p:cNvPr>
          <p:cNvSpPr>
            <a:spLocks noGrp="1"/>
          </p:cNvSpPr>
          <p:nvPr/>
        </p:nvSpPr>
        <p:spPr>
          <a:xfrm>
            <a:off x="1547813" y="4429125"/>
            <a:ext cx="3571875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CA85A09D-535E-4D10-B86E-F1837D62D3B4}"/>
              </a:ext>
            </a:extLst>
          </p:cNvPr>
          <p:cNvSpPr>
            <a:spLocks noGrp="1"/>
          </p:cNvSpPr>
          <p:nvPr/>
        </p:nvSpPr>
        <p:spPr>
          <a:xfrm>
            <a:off x="1428750" y="5345906"/>
            <a:ext cx="12739688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540 ÷ 100 = 5.4 (1%)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269EAF29-86D2-4BE3-A9AC-1F0557A27B2A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5.4 × 15 = 81</a:t>
            </a:r>
          </a:p>
        </p:txBody>
      </p:sp>
    </p:spTree>
    <p:extLst>
      <p:ext uri="{BB962C8B-B14F-4D97-AF65-F5344CB8AC3E}">
        <p14:creationId xmlns:p14="http://schemas.microsoft.com/office/powerpoint/2010/main" val="167303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47FDC605-CD23-421A-AF69-B1FCC571A723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E6F46CD-2368-49FD-94A9-D674820061BD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5AC10F61-E655-48F4-A861-EAD1646B3268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Reduce 621 by 20%.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240139A-6CFF-441A-A55F-B48BB3E56098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2F6021C-A8BF-4552-9B19-C8A9A90DD05F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Choose efficient representations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105453A0-A9E3-410F-BCA0-2717D88170D7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07514BDF-BB88-4B4A-95CD-9154CC13AE96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1906250" cy="892969"/>
          </a:xfrm>
          <a:prstGeom prst="rect">
            <a:avLst/>
          </a:prstGeom>
          <a:solidFill>
            <a:srgbClr val="FFFFFF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9461F50-D0D5-4AD3-A94C-3EE8D6C6DD68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2381250" cy="89296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D5B31D5-820D-41FE-9652-1D70B5312C4A}"/>
              </a:ext>
            </a:extLst>
          </p:cNvPr>
          <p:cNvSpPr>
            <a:spLocks noGrp="1"/>
          </p:cNvSpPr>
          <p:nvPr/>
        </p:nvSpPr>
        <p:spPr>
          <a:xfrm>
            <a:off x="11906250" y="4429125"/>
            <a:ext cx="1905000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70C6A267-7313-4B2C-A43A-45648A26D308}"/>
              </a:ext>
            </a:extLst>
          </p:cNvPr>
          <p:cNvSpPr>
            <a:spLocks noGrp="1"/>
          </p:cNvSpPr>
          <p:nvPr/>
        </p:nvSpPr>
        <p:spPr>
          <a:xfrm>
            <a:off x="1547813" y="4429125"/>
            <a:ext cx="3571875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6467BC1A-3857-4C70-92E5-3C4E19320047}"/>
              </a:ext>
            </a:extLst>
          </p:cNvPr>
          <p:cNvSpPr>
            <a:spLocks noGrp="1"/>
          </p:cNvSpPr>
          <p:nvPr/>
        </p:nvSpPr>
        <p:spPr>
          <a:xfrm>
            <a:off x="1428750" y="5345906"/>
            <a:ext cx="12739688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621 ÷ 100 = 6.21 (1%)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F93057AE-C8A8-4D33-BBCE-509E92B92E03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621 − 124.2 = 496.8</a:t>
            </a:r>
          </a:p>
        </p:txBody>
      </p:sp>
    </p:spTree>
    <p:extLst>
      <p:ext uri="{BB962C8B-B14F-4D97-AF65-F5344CB8AC3E}">
        <p14:creationId xmlns:p14="http://schemas.microsoft.com/office/powerpoint/2010/main" val="205522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21DDD59E-5EBF-4D2B-9674-03CDC62C2EFD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9876A32-50CF-477B-8ACA-49F35E35965E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63539BA-D6A8-4A0F-9F07-2124BFE8610A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0987553C-7C10-4441-A59C-52F972BD7079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AA6ED594-45D2-498B-87B9-41557357233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Choose efficient representations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83B3D78-C394-492B-A520-A5EB5FE87137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20FFD12B-7106-470F-BD8B-27C63D9F511F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C7027190-E7E7-452D-B607-12D9C2167BE6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quantity increases from 240 by 15%, then decreases by 20%. Find the final quantity.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FADD5C01-7C5E-4F73-9CDE-9D7D0C5D3122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3319939-0D12-4FF7-84B3-C508396286BE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Three fifths of a number is 84. Find 35% of the number.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A2F08A9A-5BD9-47A5-8AA5-118BD5433AFD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216A390B-EC5D-4500-8D1C-4CC92435A5EB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cuboid is 12 cm by 8 cm by 5 cm. A third of its volume is filled. What volume remains empty?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A28B74CC-8499-4C13-976F-CEFD761767F4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A1C9B858-F9C7-41F3-BE8B-FFD525D0CC5B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A quantity increases from 240 by 15%, then decreases by 20%. Find the final quantity.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451E6C7E-7FB2-41AC-BD6D-63EB3224AB23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DA9A576A-C980-4C07-9AF8-363B55A611BA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Three fifths of a number is 84. Find 35% of the number.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701C2C43-42F3-4CF9-BD9F-96335D6D7090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10BF0D46-32C6-4680-A23F-6867C4C9A180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8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A cuboid is 12 cm by 8 cm by 5 cm. A third of its volume is filled. What volume remains empty?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1449AC12-987D-43C8-BFB0-6A531249EF72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DDE5D93D-ABC7-4758-9EE2-B829E3E5B653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A pie-chart sector is 126 degrees and represents 42 pupils. How many pupils are in the survey?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71BA237C-6DF7-4F68-B0D5-37AE503EDDFE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95F57C3F-9767-472C-9A79-22DBBFCD1B31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starts calculating before deciding what the problem asks and which information matters.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B26E40C6-D0AC-4968-9D4D-373288F65E89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18A1EDA1-D845-4566-9A50-0DA8F3C998C1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25B9B8CD-062C-49AB-B7CD-BC88842E72A1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4C3A1958-5B4A-4FA1-9C16-CE877D235A54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A cuboid is 12 cm by 8 cm by 5 cm. A third of its volume is filled. What volume remains empty?</a:t>
            </a:r>
          </a:p>
        </p:txBody>
      </p:sp>
    </p:spTree>
    <p:extLst>
      <p:ext uri="{BB962C8B-B14F-4D97-AF65-F5344CB8AC3E}">
        <p14:creationId xmlns:p14="http://schemas.microsoft.com/office/powerpoint/2010/main" val="34304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72C21344-DE96-4129-889D-4698A6B17E1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0DEDA65-5AD0-493D-B756-5002874B36C5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547D0D1-3E65-4683-B56C-8BF49248C7AA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059AD014-9CBA-457C-8415-E8A3BF6D5DFD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Choose efficient representations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94A2AA0A-CC1E-4525-95F0-455494014F6C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FF0992F8-8B1C-42F3-B340-ABA280277E8C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537F4592-4973-4BF2-97D7-885F5EDD3B15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220.8.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A5117FC4-AA47-43BD-B344-7B54A4270FEF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9932207-F91D-487F-9652-F4902B7FBBEF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49.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725C0B62-AAF2-4F1B-839C-5A0602B2DA79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854D1CC4-3C8D-4A94-BDDF-3CB75089AD3F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320 cm3.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E1632870-928E-4DCA-9309-1A9522F1D434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8CE18F04-B9EA-4B07-880E-38466A8D7EA0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220.8.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67AACBFD-8913-4312-9C1E-8BB0323CC991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2FE7270C-37C8-425C-9797-506DFCEBFA31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49.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ED9D4149-BEF3-4EDE-8E6E-90C3A6F92E6F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3B12ED83-DA42-46E0-A8D3-5DBE7CFC3DBF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320 cm3.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6A6C43B9-10F1-4B96-AE8C-1F2CCB9DA602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22D94359-D504-4AB9-9261-9B8A9CC88EBD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120 pupils.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D544FBCD-7611-4A2C-95F4-863950BADC75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756B585E-33D8-4DBF-BE2B-57795546E927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Represent the relationships first, label each subtotal and test the final answer against every condition.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479A28CA-0395-4533-B66A-E2FC872AC609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22903893-A624-46E6-A89A-F8BBFEC69AFB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E2EE7744-A410-48E3-BFF6-DD7F2CE80D3A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236FE730-7141-4BE2-B8DE-36A9D04ED70F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3614422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1421</Words>
  <Application>Microsoft Office PowerPoint</Application>
  <DocSecurity>0</DocSecurity>
  <PresentationFormat>Custom</PresentationFormat>
  <Paragraphs>144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2026-09-14T13:19:21Z</dcterms:created>
  <dcterms:modified xsi:type="dcterms:W3CDTF">2026-09-14T13:21:11Z</dcterms:modified>
</cp:coreProperties>
</file>