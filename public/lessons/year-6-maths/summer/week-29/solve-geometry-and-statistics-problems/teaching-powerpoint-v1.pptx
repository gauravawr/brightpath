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Solve geometry and statistics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I do.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You do. Pause before clicking. Let pupils try independently, then reveal and discuss every step.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I do.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You do. Pause before clicking. Let pupils try independently, then reveal and discuss every step. A complete circle represents the whole: 360 degrees or the total number of pupils.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geometry and statistics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DBD2D7CF-15D6-4961-B237-8D6DB17C0B8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8688130-5793-4F48-866F-DFBDC171830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C1E5C0A-2A31-442C-BF76-066901698CD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C48488F-1B0E-4344-8FB0-072ACE51623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260B136-8098-4EE6-A0BB-6E5DDB1676D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8F42F19-4DE0-4D19-B8A1-050E55FA11C8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connect geometric and statistical information.</a:t>
            </a:r>
          </a:p>
        </p:txBody>
      </p:sp>
    </p:spTree>
    <p:extLst>
      <p:ext uri="{BB962C8B-B14F-4D97-AF65-F5344CB8AC3E}">
        <p14:creationId xmlns:p14="http://schemas.microsoft.com/office/powerpoint/2010/main" val="533361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27478351-AA03-42E7-A361-9A22D978F77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E5DC257-83D8-4F1C-AED7-FDA3E916BD5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126° represents 42 pupils. Find the total.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40E7643-7C3D-4248-A967-72A1803068B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E18B36A-F3CE-4E5D-A885-21DB660683F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105B79B-326F-4A07-9C3C-B7BD7B5A4D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EE85CEB-8A5D-42A5-9E3E-67881D5B3DB8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AB779F8-0D2A-4590-BBC1-FC5F4162D371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2530" cy="3402822"/>
          </a:xfrm>
          <a:custGeom>
            <a:avLst/>
            <a:gdLst/>
            <a:ahLst/>
            <a:cxnLst/>
            <a:rect l="0" t="0" r="0" b="0"/>
            <a:pathLst>
              <a:path w="2142530" h="3402822">
                <a:moveTo>
                  <a:pt x="0" y="2143125"/>
                </a:moveTo>
                <a:lnTo>
                  <a:pt x="0" y="0"/>
                </a:lnTo>
                <a:lnTo>
                  <a:pt x="117765" y="3238"/>
                </a:lnTo>
                <a:lnTo>
                  <a:pt x="235174" y="12942"/>
                </a:lnTo>
                <a:lnTo>
                  <a:pt x="351873" y="29084"/>
                </a:lnTo>
                <a:lnTo>
                  <a:pt x="467508" y="51613"/>
                </a:lnTo>
                <a:lnTo>
                  <a:pt x="581731" y="80463"/>
                </a:lnTo>
                <a:lnTo>
                  <a:pt x="694196" y="115546"/>
                </a:lnTo>
                <a:lnTo>
                  <a:pt x="804562" y="156755"/>
                </a:lnTo>
                <a:lnTo>
                  <a:pt x="912498" y="203968"/>
                </a:lnTo>
                <a:lnTo>
                  <a:pt x="1017677" y="257039"/>
                </a:lnTo>
                <a:lnTo>
                  <a:pt x="1119780" y="315811"/>
                </a:lnTo>
                <a:lnTo>
                  <a:pt x="1218499" y="380104"/>
                </a:lnTo>
                <a:lnTo>
                  <a:pt x="1313536" y="449724"/>
                </a:lnTo>
                <a:lnTo>
                  <a:pt x="1404604" y="524462"/>
                </a:lnTo>
                <a:lnTo>
                  <a:pt x="1491428" y="604091"/>
                </a:lnTo>
                <a:lnTo>
                  <a:pt x="1573745" y="688370"/>
                </a:lnTo>
                <a:lnTo>
                  <a:pt x="1651306" y="777046"/>
                </a:lnTo>
                <a:lnTo>
                  <a:pt x="1723878" y="869849"/>
                </a:lnTo>
                <a:lnTo>
                  <a:pt x="1791240" y="966500"/>
                </a:lnTo>
                <a:lnTo>
                  <a:pt x="1853189" y="1066707"/>
                </a:lnTo>
                <a:lnTo>
                  <a:pt x="1909538" y="1170167"/>
                </a:lnTo>
                <a:lnTo>
                  <a:pt x="1960117" y="1276566"/>
                </a:lnTo>
                <a:lnTo>
                  <a:pt x="2004773" y="1385584"/>
                </a:lnTo>
                <a:lnTo>
                  <a:pt x="2043371" y="1496891"/>
                </a:lnTo>
                <a:lnTo>
                  <a:pt x="2075795" y="1610151"/>
                </a:lnTo>
                <a:lnTo>
                  <a:pt x="2101945" y="1725022"/>
                </a:lnTo>
                <a:lnTo>
                  <a:pt x="2121744" y="1841156"/>
                </a:lnTo>
                <a:lnTo>
                  <a:pt x="2135132" y="1958203"/>
                </a:lnTo>
                <a:lnTo>
                  <a:pt x="2142067" y="2075808"/>
                </a:lnTo>
                <a:lnTo>
                  <a:pt x="2142530" y="2193617"/>
                </a:lnTo>
                <a:lnTo>
                  <a:pt x="2136518" y="2311273"/>
                </a:lnTo>
                <a:lnTo>
                  <a:pt x="2124051" y="2428421"/>
                </a:lnTo>
                <a:lnTo>
                  <a:pt x="2105164" y="2544707"/>
                </a:lnTo>
                <a:lnTo>
                  <a:pt x="2079917" y="2659779"/>
                </a:lnTo>
                <a:lnTo>
                  <a:pt x="2048384" y="2773290"/>
                </a:lnTo>
                <a:lnTo>
                  <a:pt x="2010661" y="2884897"/>
                </a:lnTo>
                <a:lnTo>
                  <a:pt x="1966863" y="2994263"/>
                </a:lnTo>
                <a:lnTo>
                  <a:pt x="1917121" y="3101056"/>
                </a:lnTo>
                <a:lnTo>
                  <a:pt x="1861586" y="3204955"/>
                </a:lnTo>
                <a:lnTo>
                  <a:pt x="1800425" y="3305645"/>
                </a:lnTo>
                <a:lnTo>
                  <a:pt x="1733825" y="3402822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8A69CDB-24E9-48E6-9FD7-D4398732049F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42 ÷ 126 × 360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710FB77-200B-4B16-ADFB-F0EF7E9B13EC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</a:t>
            </a:r>
          </a:p>
        </p:txBody>
      </p:sp>
    </p:spTree>
    <p:extLst>
      <p:ext uri="{BB962C8B-B14F-4D97-AF65-F5344CB8AC3E}">
        <p14:creationId xmlns:p14="http://schemas.microsoft.com/office/powerpoint/2010/main" val="111253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FCBE7901-23A9-47A3-8E67-76BF58BCEBB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22AFC64-8EDB-422A-95ED-89BF58E68D9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427E8C3-946F-43CC-BFD6-B2DD8908281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126° represents 84 pupils. Find the total.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14B08D5-7200-498D-8674-031F1D295B2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78AACB1-156E-44CB-BAA2-218683F5F15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16ADFD2-208F-450B-87EC-BB4DA451BFD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EBC70DE-F77C-4A17-B509-C31308025303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EB2FD7A-5FBA-4205-A1A7-EF387DAA95B3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2530" cy="3402822"/>
          </a:xfrm>
          <a:custGeom>
            <a:avLst/>
            <a:gdLst/>
            <a:ahLst/>
            <a:cxnLst/>
            <a:rect l="0" t="0" r="0" b="0"/>
            <a:pathLst>
              <a:path w="2142530" h="3402822">
                <a:moveTo>
                  <a:pt x="0" y="2143125"/>
                </a:moveTo>
                <a:lnTo>
                  <a:pt x="0" y="0"/>
                </a:lnTo>
                <a:lnTo>
                  <a:pt x="117765" y="3238"/>
                </a:lnTo>
                <a:lnTo>
                  <a:pt x="235174" y="12942"/>
                </a:lnTo>
                <a:lnTo>
                  <a:pt x="351873" y="29084"/>
                </a:lnTo>
                <a:lnTo>
                  <a:pt x="467508" y="51613"/>
                </a:lnTo>
                <a:lnTo>
                  <a:pt x="581731" y="80463"/>
                </a:lnTo>
                <a:lnTo>
                  <a:pt x="694196" y="115546"/>
                </a:lnTo>
                <a:lnTo>
                  <a:pt x="804562" y="156755"/>
                </a:lnTo>
                <a:lnTo>
                  <a:pt x="912498" y="203968"/>
                </a:lnTo>
                <a:lnTo>
                  <a:pt x="1017677" y="257039"/>
                </a:lnTo>
                <a:lnTo>
                  <a:pt x="1119780" y="315811"/>
                </a:lnTo>
                <a:lnTo>
                  <a:pt x="1218499" y="380104"/>
                </a:lnTo>
                <a:lnTo>
                  <a:pt x="1313536" y="449724"/>
                </a:lnTo>
                <a:lnTo>
                  <a:pt x="1404604" y="524462"/>
                </a:lnTo>
                <a:lnTo>
                  <a:pt x="1491428" y="604091"/>
                </a:lnTo>
                <a:lnTo>
                  <a:pt x="1573745" y="688370"/>
                </a:lnTo>
                <a:lnTo>
                  <a:pt x="1651306" y="777046"/>
                </a:lnTo>
                <a:lnTo>
                  <a:pt x="1723878" y="869849"/>
                </a:lnTo>
                <a:lnTo>
                  <a:pt x="1791240" y="966500"/>
                </a:lnTo>
                <a:lnTo>
                  <a:pt x="1853189" y="1066707"/>
                </a:lnTo>
                <a:lnTo>
                  <a:pt x="1909538" y="1170167"/>
                </a:lnTo>
                <a:lnTo>
                  <a:pt x="1960117" y="1276566"/>
                </a:lnTo>
                <a:lnTo>
                  <a:pt x="2004773" y="1385584"/>
                </a:lnTo>
                <a:lnTo>
                  <a:pt x="2043371" y="1496891"/>
                </a:lnTo>
                <a:lnTo>
                  <a:pt x="2075795" y="1610151"/>
                </a:lnTo>
                <a:lnTo>
                  <a:pt x="2101945" y="1725022"/>
                </a:lnTo>
                <a:lnTo>
                  <a:pt x="2121744" y="1841156"/>
                </a:lnTo>
                <a:lnTo>
                  <a:pt x="2135132" y="1958203"/>
                </a:lnTo>
                <a:lnTo>
                  <a:pt x="2142067" y="2075808"/>
                </a:lnTo>
                <a:lnTo>
                  <a:pt x="2142530" y="2193617"/>
                </a:lnTo>
                <a:lnTo>
                  <a:pt x="2136518" y="2311273"/>
                </a:lnTo>
                <a:lnTo>
                  <a:pt x="2124051" y="2428421"/>
                </a:lnTo>
                <a:lnTo>
                  <a:pt x="2105164" y="2544707"/>
                </a:lnTo>
                <a:lnTo>
                  <a:pt x="2079917" y="2659779"/>
                </a:lnTo>
                <a:lnTo>
                  <a:pt x="2048384" y="2773290"/>
                </a:lnTo>
                <a:lnTo>
                  <a:pt x="2010661" y="2884897"/>
                </a:lnTo>
                <a:lnTo>
                  <a:pt x="1966863" y="2994263"/>
                </a:lnTo>
                <a:lnTo>
                  <a:pt x="1917121" y="3101056"/>
                </a:lnTo>
                <a:lnTo>
                  <a:pt x="1861586" y="3204955"/>
                </a:lnTo>
                <a:lnTo>
                  <a:pt x="1800425" y="3305645"/>
                </a:lnTo>
                <a:lnTo>
                  <a:pt x="1733825" y="3402822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77CAA23-88AD-4ECD-977B-6705E590722E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84 ÷ 126 × 360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4206B3D-B7F1-41E0-9B33-2ACDCE4E1425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240 pupils</a:t>
            </a:r>
          </a:p>
        </p:txBody>
      </p:sp>
    </p:spTree>
    <p:extLst>
      <p:ext uri="{BB962C8B-B14F-4D97-AF65-F5344CB8AC3E}">
        <p14:creationId xmlns:p14="http://schemas.microsoft.com/office/powerpoint/2010/main" val="168897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FF03C4D6-0E2C-458E-9397-CA22A346286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B8E1917-AB6B-4725-B53C-B65A26C68C9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126° represents 125.99999999999999 pupils. Find the total.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E60F8FC-5AAA-4096-8316-EC6AE608EBF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710A390-2FE1-48E7-A10A-10CC937D1DC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5846EC0-17CA-4B07-A564-EA2B9C9019C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E44A7D4-A32B-4ED5-9A00-F05AA88C68BF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D914ACD-A164-4AE1-88A6-682AEB9B5A1E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2530" cy="3402822"/>
          </a:xfrm>
          <a:custGeom>
            <a:avLst/>
            <a:gdLst/>
            <a:ahLst/>
            <a:cxnLst/>
            <a:rect l="0" t="0" r="0" b="0"/>
            <a:pathLst>
              <a:path w="2142530" h="3402822">
                <a:moveTo>
                  <a:pt x="0" y="2143125"/>
                </a:moveTo>
                <a:lnTo>
                  <a:pt x="0" y="0"/>
                </a:lnTo>
                <a:lnTo>
                  <a:pt x="117765" y="3238"/>
                </a:lnTo>
                <a:lnTo>
                  <a:pt x="235174" y="12942"/>
                </a:lnTo>
                <a:lnTo>
                  <a:pt x="351873" y="29084"/>
                </a:lnTo>
                <a:lnTo>
                  <a:pt x="467508" y="51613"/>
                </a:lnTo>
                <a:lnTo>
                  <a:pt x="581731" y="80463"/>
                </a:lnTo>
                <a:lnTo>
                  <a:pt x="694196" y="115546"/>
                </a:lnTo>
                <a:lnTo>
                  <a:pt x="804562" y="156755"/>
                </a:lnTo>
                <a:lnTo>
                  <a:pt x="912498" y="203968"/>
                </a:lnTo>
                <a:lnTo>
                  <a:pt x="1017677" y="257039"/>
                </a:lnTo>
                <a:lnTo>
                  <a:pt x="1119780" y="315811"/>
                </a:lnTo>
                <a:lnTo>
                  <a:pt x="1218499" y="380104"/>
                </a:lnTo>
                <a:lnTo>
                  <a:pt x="1313536" y="449724"/>
                </a:lnTo>
                <a:lnTo>
                  <a:pt x="1404604" y="524462"/>
                </a:lnTo>
                <a:lnTo>
                  <a:pt x="1491428" y="604091"/>
                </a:lnTo>
                <a:lnTo>
                  <a:pt x="1573745" y="688370"/>
                </a:lnTo>
                <a:lnTo>
                  <a:pt x="1651306" y="777046"/>
                </a:lnTo>
                <a:lnTo>
                  <a:pt x="1723878" y="869849"/>
                </a:lnTo>
                <a:lnTo>
                  <a:pt x="1791240" y="966500"/>
                </a:lnTo>
                <a:lnTo>
                  <a:pt x="1853189" y="1066707"/>
                </a:lnTo>
                <a:lnTo>
                  <a:pt x="1909538" y="1170167"/>
                </a:lnTo>
                <a:lnTo>
                  <a:pt x="1960117" y="1276566"/>
                </a:lnTo>
                <a:lnTo>
                  <a:pt x="2004773" y="1385584"/>
                </a:lnTo>
                <a:lnTo>
                  <a:pt x="2043371" y="1496891"/>
                </a:lnTo>
                <a:lnTo>
                  <a:pt x="2075795" y="1610151"/>
                </a:lnTo>
                <a:lnTo>
                  <a:pt x="2101945" y="1725022"/>
                </a:lnTo>
                <a:lnTo>
                  <a:pt x="2121744" y="1841156"/>
                </a:lnTo>
                <a:lnTo>
                  <a:pt x="2135132" y="1958203"/>
                </a:lnTo>
                <a:lnTo>
                  <a:pt x="2142067" y="2075808"/>
                </a:lnTo>
                <a:lnTo>
                  <a:pt x="2142530" y="2193617"/>
                </a:lnTo>
                <a:lnTo>
                  <a:pt x="2136518" y="2311273"/>
                </a:lnTo>
                <a:lnTo>
                  <a:pt x="2124051" y="2428421"/>
                </a:lnTo>
                <a:lnTo>
                  <a:pt x="2105164" y="2544707"/>
                </a:lnTo>
                <a:lnTo>
                  <a:pt x="2079917" y="2659779"/>
                </a:lnTo>
                <a:lnTo>
                  <a:pt x="2048384" y="2773290"/>
                </a:lnTo>
                <a:lnTo>
                  <a:pt x="2010661" y="2884897"/>
                </a:lnTo>
                <a:lnTo>
                  <a:pt x="1966863" y="2994263"/>
                </a:lnTo>
                <a:lnTo>
                  <a:pt x="1917121" y="3101056"/>
                </a:lnTo>
                <a:lnTo>
                  <a:pt x="1861586" y="3204955"/>
                </a:lnTo>
                <a:lnTo>
                  <a:pt x="1800425" y="3305645"/>
                </a:lnTo>
                <a:lnTo>
                  <a:pt x="1733825" y="3402822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AC8A97A-C3E7-415E-AB84-940D2AB1C048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125.99999999999999 ÷ 126 × 360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85FB415-7D8E-4BAB-AB2F-BAA81396956E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360 pupils</a:t>
            </a:r>
          </a:p>
        </p:txBody>
      </p:sp>
    </p:spTree>
    <p:extLst>
      <p:ext uri="{BB962C8B-B14F-4D97-AF65-F5344CB8AC3E}">
        <p14:creationId xmlns:p14="http://schemas.microsoft.com/office/powerpoint/2010/main" val="113344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D8A4A295-CDBB-4CF4-9D56-16A90AC42EC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EE1D89A-C009-4FBB-A677-6453CDA8F3A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9D81099-D373-4B04-A215-ACB2583BB0C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126° represents 168 pupils. Find the total.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3A4922F-04F4-4EB7-A82B-5D0C38CFE2A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3610998-A164-4CFF-96E5-82AD30C29A7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54C2F74-9258-498C-BE9F-DA13DA739C0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D85970A-481B-461F-84D1-0437D408E4A7}"/>
              </a:ext>
            </a:extLst>
          </p:cNvPr>
          <p:cNvSpPr>
            <a:spLocks noGrp="1"/>
          </p:cNvSpPr>
          <p:nvPr/>
        </p:nvSpPr>
        <p:spPr>
          <a:xfrm>
            <a:off x="1785938" y="2738438"/>
            <a:ext cx="4286250" cy="4286250"/>
          </a:xfrm>
          <a:prstGeom prst="ellipse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25318C2-43C6-4931-88F3-CBC5EDCE4051}"/>
              </a:ext>
            </a:extLst>
          </p:cNvPr>
          <p:cNvSpPr>
            <a:spLocks noGrp="1"/>
          </p:cNvSpPr>
          <p:nvPr/>
        </p:nvSpPr>
        <p:spPr>
          <a:xfrm>
            <a:off x="3929063" y="2738438"/>
            <a:ext cx="2142530" cy="3402822"/>
          </a:xfrm>
          <a:custGeom>
            <a:avLst/>
            <a:gdLst/>
            <a:ahLst/>
            <a:cxnLst/>
            <a:rect l="0" t="0" r="0" b="0"/>
            <a:pathLst>
              <a:path w="2142530" h="3402822">
                <a:moveTo>
                  <a:pt x="0" y="2143125"/>
                </a:moveTo>
                <a:lnTo>
                  <a:pt x="0" y="0"/>
                </a:lnTo>
                <a:lnTo>
                  <a:pt x="117765" y="3238"/>
                </a:lnTo>
                <a:lnTo>
                  <a:pt x="235174" y="12942"/>
                </a:lnTo>
                <a:lnTo>
                  <a:pt x="351873" y="29084"/>
                </a:lnTo>
                <a:lnTo>
                  <a:pt x="467508" y="51613"/>
                </a:lnTo>
                <a:lnTo>
                  <a:pt x="581731" y="80463"/>
                </a:lnTo>
                <a:lnTo>
                  <a:pt x="694196" y="115546"/>
                </a:lnTo>
                <a:lnTo>
                  <a:pt x="804562" y="156755"/>
                </a:lnTo>
                <a:lnTo>
                  <a:pt x="912498" y="203968"/>
                </a:lnTo>
                <a:lnTo>
                  <a:pt x="1017677" y="257039"/>
                </a:lnTo>
                <a:lnTo>
                  <a:pt x="1119780" y="315811"/>
                </a:lnTo>
                <a:lnTo>
                  <a:pt x="1218499" y="380104"/>
                </a:lnTo>
                <a:lnTo>
                  <a:pt x="1313536" y="449724"/>
                </a:lnTo>
                <a:lnTo>
                  <a:pt x="1404604" y="524462"/>
                </a:lnTo>
                <a:lnTo>
                  <a:pt x="1491428" y="604091"/>
                </a:lnTo>
                <a:lnTo>
                  <a:pt x="1573745" y="688370"/>
                </a:lnTo>
                <a:lnTo>
                  <a:pt x="1651306" y="777046"/>
                </a:lnTo>
                <a:lnTo>
                  <a:pt x="1723878" y="869849"/>
                </a:lnTo>
                <a:lnTo>
                  <a:pt x="1791240" y="966500"/>
                </a:lnTo>
                <a:lnTo>
                  <a:pt x="1853189" y="1066707"/>
                </a:lnTo>
                <a:lnTo>
                  <a:pt x="1909538" y="1170167"/>
                </a:lnTo>
                <a:lnTo>
                  <a:pt x="1960117" y="1276566"/>
                </a:lnTo>
                <a:lnTo>
                  <a:pt x="2004773" y="1385584"/>
                </a:lnTo>
                <a:lnTo>
                  <a:pt x="2043371" y="1496891"/>
                </a:lnTo>
                <a:lnTo>
                  <a:pt x="2075795" y="1610151"/>
                </a:lnTo>
                <a:lnTo>
                  <a:pt x="2101945" y="1725022"/>
                </a:lnTo>
                <a:lnTo>
                  <a:pt x="2121744" y="1841156"/>
                </a:lnTo>
                <a:lnTo>
                  <a:pt x="2135132" y="1958203"/>
                </a:lnTo>
                <a:lnTo>
                  <a:pt x="2142067" y="2075808"/>
                </a:lnTo>
                <a:lnTo>
                  <a:pt x="2142530" y="2193617"/>
                </a:lnTo>
                <a:lnTo>
                  <a:pt x="2136518" y="2311273"/>
                </a:lnTo>
                <a:lnTo>
                  <a:pt x="2124051" y="2428421"/>
                </a:lnTo>
                <a:lnTo>
                  <a:pt x="2105164" y="2544707"/>
                </a:lnTo>
                <a:lnTo>
                  <a:pt x="2079917" y="2659779"/>
                </a:lnTo>
                <a:lnTo>
                  <a:pt x="2048384" y="2773290"/>
                </a:lnTo>
                <a:lnTo>
                  <a:pt x="2010661" y="2884897"/>
                </a:lnTo>
                <a:lnTo>
                  <a:pt x="1966863" y="2994263"/>
                </a:lnTo>
                <a:lnTo>
                  <a:pt x="1917121" y="3101056"/>
                </a:lnTo>
                <a:lnTo>
                  <a:pt x="1861586" y="3204955"/>
                </a:lnTo>
                <a:lnTo>
                  <a:pt x="1800425" y="3305645"/>
                </a:lnTo>
                <a:lnTo>
                  <a:pt x="1733825" y="3402822"/>
                </a:lnTo>
                <a:close/>
              </a:path>
            </a:pathLst>
          </a:custGeom>
          <a:solidFill>
            <a:srgbClr val="1D4ED8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957F8F5-7379-4B99-BA7B-EFF5BA784898}"/>
              </a:ext>
            </a:extLst>
          </p:cNvPr>
          <p:cNvSpPr>
            <a:spLocks noGrp="1"/>
          </p:cNvSpPr>
          <p:nvPr/>
        </p:nvSpPr>
        <p:spPr>
          <a:xfrm>
            <a:off x="7739063" y="3214688"/>
            <a:ext cx="6310313" cy="1666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3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168 ÷ 126 × 360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969EFD7-86D7-477F-9C3E-15363A547A11}"/>
              </a:ext>
            </a:extLst>
          </p:cNvPr>
          <p:cNvSpPr>
            <a:spLocks noGrp="1"/>
          </p:cNvSpPr>
          <p:nvPr/>
        </p:nvSpPr>
        <p:spPr>
          <a:xfrm>
            <a:off x="8215313" y="5476875"/>
            <a:ext cx="5476875" cy="1309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3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480 pupils</a:t>
            </a:r>
          </a:p>
        </p:txBody>
      </p:sp>
    </p:spTree>
    <p:extLst>
      <p:ext uri="{BB962C8B-B14F-4D97-AF65-F5344CB8AC3E}">
        <p14:creationId xmlns:p14="http://schemas.microsoft.com/office/powerpoint/2010/main" val="655953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D05F84BB-0BA7-4544-BBCA-DC1E152E5A4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DFAAA32-5081-472F-8FC4-3E9710ED8D7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15C2079-D1F1-46D3-BBD1-51E7038B459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19F8CEF-2EE1-420C-8B64-FF290536F78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2425281-6A81-4BBC-A885-26D76162C04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C97AE5A-54F3-418B-BB7A-7184EFA864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1C8CD6B-D4E4-4902-BF23-16CDDB543B6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0289845-412C-460F-A493-13623E3719DB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DCD887A-08C6-4AA7-9C10-68A395ACD37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C80ECB1-8B44-4A46-AF85-06268A135C3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F373CCE-0E47-4759-9352-8A9ABCED107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3249BDE-D9F1-4422-8C73-4EE6C5B0E01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D71EEF9-A42D-4306-8796-8921CA5B038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34AD071-7386-43EB-9D24-9C891DCDAD3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pie-chart sector is 126 degrees and represents 42 pupils. How many pupils are in the survey?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71E6E44-DD8E-4E8B-8E67-2583F974E6D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3C33BD4-42B2-407D-B5DD-1E3E8FD283BA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Create two different calculations using 3/4, 0.6 and 25% that both give 30.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2030289-DFCB-4E41-870B-0976E37DBB2D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810BF60-3E8B-4573-BF75-AFAF8C6B988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quantity increases from 240 by 15%, then decreases by 20%. Find the final quantity.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AEE1A78-DE4F-45E2-BA65-C458F360894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D148F1C-09C4-4116-8BE1-7A5257B05A84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Three fifths of a number is 84. Find 35% of the number.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F1C83CC-6A2A-4CDD-9EF0-F5E5C054F0E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8B542C1-EC4F-4B5D-8723-221DB006A91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starts calculating before deciding what the problem asks and which information matters.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5C910B2-3F9C-407A-9BB5-35BB5C4EDEE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6E2ECA6-EEE2-4704-90AE-C8BCAE9C71F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8C3DEBD-7472-4562-A42D-9C462C3867B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8EBAB7E-2802-4E74-B82A-ABB6E3BFB46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quantity increases from 240 by 15%, then decreases by 20%. Find the final quantity.</a:t>
            </a:r>
          </a:p>
        </p:txBody>
      </p:sp>
    </p:spTree>
    <p:extLst>
      <p:ext uri="{BB962C8B-B14F-4D97-AF65-F5344CB8AC3E}">
        <p14:creationId xmlns:p14="http://schemas.microsoft.com/office/powerpoint/2010/main" val="80036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E83B45A8-9626-4030-BAEC-A3BDFF21223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5AD6F2D-969D-403E-A3F3-C2C752513FC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7421DD6-A245-47FB-AEB9-CD0CA2D788E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C6B9AFA-50F7-47F0-9FB3-D84820B7EBA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geometry and statistics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0BEDFA-1AE8-4F4B-ABB5-2C3BEE582F8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FA95289-BBC4-4440-90C1-0BC03909C06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890F4EB-DBE9-48B8-B7C9-CD9B9C555A7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313837C-38DD-4432-B60F-2FA878E007F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B4F2C8E-FDA1-428A-A694-C11581D2B8BB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 and must preserve the stated values and give 30.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78A98D6-2E0D-4BB4-9C2F-93F1E727390F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B39C382-ED9C-43E8-8F33-8A6432E019D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220.8.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9E0970F-D54C-4A11-88C2-A2EE6E40E5D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EAA676C-5950-43AE-8543-B0727D2BF69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7C8A627-89A4-46B6-92C5-7B00B0DD614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9D3F42B-4C7F-4CB8-A549-F256877F25A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Answers vary and must preserve the stated values and give 30.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65FD433-A7F0-4BB2-8A3D-90C1A1F4BBE3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E51B405-AD09-47CA-B799-A69CB986926C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220.8.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5C9A409-0CA9-4152-8E10-7E69663C95A1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A2DEBF2-730F-4D5F-8330-7FABD41B285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49.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70EEDE47-3534-40D4-8DCA-C9B6D78B4A9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19FD2C2-E048-4118-9F19-CAC413F0363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030F443-22FD-4579-BD0A-92D96DFB24F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1F4FA10-0D0A-4B06-9287-53386C529DE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5F1E92A-30EC-4166-9902-5BAC69DBAD3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F0262A0-3427-48D2-AF71-DE04E47D58B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36635730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977</Words>
  <Application>Microsoft Office PowerPoint</Application>
  <DocSecurity>0</DocSecurity>
  <PresentationFormat>Custom</PresentationFormat>
  <Paragraphs>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2026-09-14T13:14:40Z</dcterms:created>
  <dcterms:modified xsi:type="dcterms:W3CDTF">2026-09-14T13:18:03Z</dcterms:modified>
</cp:coreProperties>
</file>