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place-value problems. Solve place-value problems.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place-value problems. I do.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place-value problems. You do. Pause before clicking. Let pupils try independently, then reveal and discuss every step.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place-value problems. I do.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place-value problems. You do. Pause before clicking. Let pupils try independently, then reveal and discuss every step.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place-value problems.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place-value problems.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2DC24DB5-1AE2-432A-BE06-32F64D95692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034DBD6-95D3-4214-BCC5-9EF7A0B0B905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EDD87E1-F139-476A-A4A7-A5CC813E9C4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CEF14E5-CD24-48AB-887D-47500BDD964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place-value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1758A67-17E8-4436-B615-34646EC62E8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2B09221-F9B7-4150-A01F-CF0FCEC660ED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solve and explain problems using large and negative numbers.</a:t>
            </a:r>
          </a:p>
        </p:txBody>
      </p:sp>
    </p:spTree>
    <p:extLst>
      <p:ext uri="{BB962C8B-B14F-4D97-AF65-F5344CB8AC3E}">
        <p14:creationId xmlns:p14="http://schemas.microsoft.com/office/powerpoint/2010/main" val="1301661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object-1">
            <a:extLst>
              <a:ext uri="{FF2B5EF4-FFF2-40B4-BE49-F238E27FC236}">
                <a16:creationId xmlns:a16="http://schemas.microsoft.com/office/drawing/2014/main" id="{E85F00D0-5CC8-4FEF-906C-98076A71D38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06A39FC-3F96-4D58-8095-50BC140EFA8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3,804,215 − 398,760.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D471579-B4CB-497A-856B-FD7E96E2201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7DD49FA-242B-4689-B3D5-C861D39C5C5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place-value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3544109-72A6-49C0-801B-6478E9D578C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FAB7E36-EE4E-4CD9-B05E-13C7939763C3}"/>
              </a:ext>
            </a:extLst>
          </p:cNvPr>
          <p:cNvSpPr>
            <a:spLocks noGrp="1"/>
          </p:cNvSpPr>
          <p:nvPr/>
        </p:nvSpPr>
        <p:spPr>
          <a:xfrm>
            <a:off x="361950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3D7FEDE-1975-41C0-B217-EDE7C4C947A6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A90F70B-59DA-4B3C-8454-EB9AB9EF610D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4F8FA7C-C03A-4689-A1C7-01CC87D64EB6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CABE11B-675D-40AA-89AD-56CBBADE03FF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019EEAB-27FB-415C-BA65-3C6A7B61A5F7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25475D7-C90E-46A2-AAB1-07C5C61F88F2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4423F55-9057-4B36-A073-D6352BAD5AC1}"/>
              </a:ext>
            </a:extLst>
          </p:cNvPr>
          <p:cNvSpPr>
            <a:spLocks noGrp="1"/>
          </p:cNvSpPr>
          <p:nvPr/>
        </p:nvSpPr>
        <p:spPr>
          <a:xfrm>
            <a:off x="361950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B6F5135-6F24-4343-8C53-67CA26BB8B96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8388EC9-676E-4A17-8E5A-C0128846CC26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07C0500-2DC6-4DFD-B7BA-982CC2FFD0BB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48BF694-E01B-4ADB-BED7-E2028E6CF0E2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06FAB27-FCAC-4AE2-ADF0-547166698116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ACDF6A2-3308-4EC7-9A44-E811858FB800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EC16407-1716-408A-BE34-FE0BCDBBA249}"/>
              </a:ext>
            </a:extLst>
          </p:cNvPr>
          <p:cNvSpPr>
            <a:spLocks noGrp="1"/>
          </p:cNvSpPr>
          <p:nvPr/>
        </p:nvSpPr>
        <p:spPr>
          <a:xfrm>
            <a:off x="2786063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BE3C4CAE-7B07-46D0-A50C-595729F43051}"/>
              </a:ext>
            </a:extLst>
          </p:cNvPr>
          <p:cNvSpPr>
            <a:spLocks noGrp="1"/>
          </p:cNvSpPr>
          <p:nvPr/>
        </p:nvSpPr>
        <p:spPr>
          <a:xfrm>
            <a:off x="3381375" y="5036344"/>
            <a:ext cx="6917531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25F9AA3D-970C-480A-836B-6DBCD22746B6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D0107713-F241-49E8-8ABB-703E68B67966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5 − 0 = 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2048C9D-DC38-4A08-8582-CB459F1C0518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BF00B27-72ED-4DB5-92BA-9E4852C8E22D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15A1918B-2AD3-4740-84C2-A0D6AFBF7402}"/>
              </a:ext>
            </a:extLst>
          </p:cNvPr>
          <p:cNvSpPr>
            <a:spLocks noGrp="1"/>
          </p:cNvSpPr>
          <p:nvPr/>
        </p:nvSpPr>
        <p:spPr>
          <a:xfrm>
            <a:off x="7334250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72B33B01-7FB8-48DF-A662-CB8C2551D400}"/>
              </a:ext>
            </a:extLst>
          </p:cNvPr>
          <p:cNvSpPr>
            <a:spLocks noGrp="1"/>
          </p:cNvSpPr>
          <p:nvPr/>
        </p:nvSpPr>
        <p:spPr>
          <a:xfrm>
            <a:off x="7334250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928FE909-7E8C-49B3-BD42-B0489E6DCE71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11 − 6 = 5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B692D07C-CFEF-4EFB-9D55-19C751AF352E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4EDC993E-6F21-4B26-9038-F16D5FB06C22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F8084E89-343C-4C5F-8E31-E65CD57D21F4}"/>
              </a:ext>
            </a:extLst>
          </p:cNvPr>
          <p:cNvSpPr>
            <a:spLocks noGrp="1"/>
          </p:cNvSpPr>
          <p:nvPr/>
        </p:nvSpPr>
        <p:spPr>
          <a:xfrm>
            <a:off x="6405563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64526922-E590-41C0-A031-8662C55BB14A}"/>
              </a:ext>
            </a:extLst>
          </p:cNvPr>
          <p:cNvSpPr>
            <a:spLocks noGrp="1"/>
          </p:cNvSpPr>
          <p:nvPr/>
        </p:nvSpPr>
        <p:spPr>
          <a:xfrm>
            <a:off x="6405563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B6B88A7E-6095-4FBA-8AE0-B3309AD0354D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11 − 7 = 4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EEA3F96B-0647-4067-AC9E-B35394C69537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C3A8D8A6-E92E-46A5-9B22-F7EF0D19375D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C8096D6B-5A3D-411C-9801-868974F3C05C}"/>
              </a:ext>
            </a:extLst>
          </p:cNvPr>
          <p:cNvSpPr>
            <a:spLocks noGrp="1"/>
          </p:cNvSpPr>
          <p:nvPr/>
        </p:nvSpPr>
        <p:spPr>
          <a:xfrm>
            <a:off x="4548188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C15D389A-E9B0-4C87-A84C-2748BC2AC8C5}"/>
              </a:ext>
            </a:extLst>
          </p:cNvPr>
          <p:cNvSpPr>
            <a:spLocks noGrp="1"/>
          </p:cNvSpPr>
          <p:nvPr/>
        </p:nvSpPr>
        <p:spPr>
          <a:xfrm>
            <a:off x="5476875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48304C95-76E7-464D-A6C1-7955716F03A2}"/>
              </a:ext>
            </a:extLst>
          </p:cNvPr>
          <p:cNvSpPr>
            <a:spLocks noGrp="1"/>
          </p:cNvSpPr>
          <p:nvPr/>
        </p:nvSpPr>
        <p:spPr>
          <a:xfrm>
            <a:off x="4548188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1434D490-723D-4E1F-8D0D-957517C5EBA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13 − 8 = 5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9BFD119C-1EE8-4EA5-815B-70485DCF214C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33CFACAC-BDC5-40B6-AD48-A323E5EB39AB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2B89DACA-A7A6-45DB-A14D-65CCCAB227CC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9 − 9 = 0</a:t>
            </a:r>
          </a:p>
        </p:txBody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A4EBAB01-8330-4053-A7AF-B94B68A8ABCB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96ED2D64-5A51-4B4D-A5AD-70964F5CC72B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573E735A-2FB4-4194-A46D-FA64F2824812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7 − 3 = 4</a:t>
            </a:r>
          </a:p>
        </p:txBody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F142BEB7-2295-4521-8154-D0F4704CCDC5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732FE1B1-7F79-46A0-A640-650A6357FC34}"/>
              </a:ext>
            </a:extLst>
          </p:cNvPr>
          <p:cNvSpPr>
            <a:spLocks noGrp="1"/>
          </p:cNvSpPr>
          <p:nvPr/>
        </p:nvSpPr>
        <p:spPr>
          <a:xfrm>
            <a:off x="358378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CEDE3AE8-97B8-430D-854F-0DE624B741E8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3 − 0 = 3</a:t>
            </a:r>
          </a:p>
        </p:txBody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00AB8BAB-C3F2-4C1D-8E84-D93EA3B4C949}"/>
              </a:ext>
            </a:extLst>
          </p:cNvPr>
          <p:cNvSpPr>
            <a:spLocks noGrp="1"/>
          </p:cNvSpPr>
          <p:nvPr/>
        </p:nvSpPr>
        <p:spPr>
          <a:xfrm>
            <a:off x="361950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D4EA8DD0-2A3D-43B8-AE26-EE3F46B49E99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3,804,215 − 398,760 = 3,405,455</a:t>
            </a:r>
          </a:p>
        </p:txBody>
      </p:sp>
    </p:spTree>
    <p:extLst>
      <p:ext uri="{BB962C8B-B14F-4D97-AF65-F5344CB8AC3E}">
        <p14:creationId xmlns:p14="http://schemas.microsoft.com/office/powerpoint/2010/main" val="951774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609375 0 E" pathEditMode="relative" ptsTypes="">
                                      <p:cBhvr>
                                        <p:cTn id="26" dur="8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609375 0 E" pathEditMode="relative" ptsTypes="">
                                      <p:cBhvr>
                                        <p:cTn id="46" dur="8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800"/>
                            </p:stCondLst>
                            <p:childTnLst>
                              <p:par>
                                <p:cTn id="5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21875 0 E" pathEditMode="relative" ptsTypes="">
                                      <p:cBhvr>
                                        <p:cTn id="68" dur="8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3" grpId="1"/>
      <p:bldP spid="24" grpId="0"/>
      <p:bldP spid="26" grpId="0"/>
      <p:bldP spid="27" grpId="0"/>
      <p:bldP spid="27" grpId="1"/>
      <p:bldP spid="28" grpId="0"/>
      <p:bldP spid="28" grpId="1"/>
      <p:bldP spid="29" grpId="0"/>
      <p:bldP spid="31" grpId="0"/>
      <p:bldP spid="32" grpId="0"/>
      <p:bldP spid="32" grpId="1"/>
      <p:bldP spid="33" grpId="0"/>
      <p:bldP spid="33" grpId="1"/>
      <p:bldP spid="34" grpId="0"/>
      <p:bldP spid="36" grpId="0"/>
      <p:bldP spid="37" grpId="0"/>
      <p:bldP spid="38" grpId="0"/>
      <p:bldP spid="38" grpId="1"/>
      <p:bldP spid="39" grpId="0"/>
      <p:bldP spid="39" grpId="1"/>
      <p:bldP spid="40" grpId="0"/>
      <p:bldP spid="42" grpId="0"/>
      <p:bldP spid="42" grpId="1"/>
      <p:bldP spid="43" grpId="0"/>
      <p:bldP spid="45" grpId="0"/>
      <p:bldP spid="45" grpId="1"/>
      <p:bldP spid="46" grpId="0"/>
      <p:bldP spid="48" grpId="0"/>
      <p:bldP spid="49" grpId="0"/>
      <p:bldP spid="5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bject-1">
            <a:extLst>
              <a:ext uri="{FF2B5EF4-FFF2-40B4-BE49-F238E27FC236}">
                <a16:creationId xmlns:a16="http://schemas.microsoft.com/office/drawing/2014/main" id="{24A0498E-67CF-4729-876F-AE6635B996C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E7D48FE-0E96-402F-83E3-E98389F1A07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889F7FB-5293-4278-90EE-E01126261B6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3,804,338 − 398,760.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9BDE4B7-6173-440D-8CE0-2270F336503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6D232E8-7FFB-44F8-92BF-24E78633266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place-value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A72DDFF-C385-4B81-B8E1-2C2B546F6F3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90A4EE5-0D7C-49A1-8B7E-600E15797D6F}"/>
              </a:ext>
            </a:extLst>
          </p:cNvPr>
          <p:cNvSpPr>
            <a:spLocks noGrp="1"/>
          </p:cNvSpPr>
          <p:nvPr/>
        </p:nvSpPr>
        <p:spPr>
          <a:xfrm>
            <a:off x="361950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886B02D-48DB-4635-8ADD-C618172F065B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E1C3B10-66E1-4A62-BE43-D8C3DD94FD12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8BD18DC-5928-4977-8FC1-07C2C4A58256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ACC7AA2-3E8D-4644-AC4E-240B74D410E5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1BB08C0-7819-4CC2-BEC0-CBE4C96791AF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0EC1353-6F1C-4DEF-A0E5-21F97A93627D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5768853-D0EA-4E10-B4A1-AEABD99CC8D2}"/>
              </a:ext>
            </a:extLst>
          </p:cNvPr>
          <p:cNvSpPr>
            <a:spLocks noGrp="1"/>
          </p:cNvSpPr>
          <p:nvPr/>
        </p:nvSpPr>
        <p:spPr>
          <a:xfrm>
            <a:off x="361950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C21AF0C-0B7A-4CC2-9A1A-454C86C5F88F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4D0B70A6-231C-4AA0-B321-340BC8879017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5F91484-9BFC-494B-8362-1992AAA0A829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42695AA-242A-4EC9-BC25-32ABD16DA244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D7D6946-ACFE-4B6D-8069-B2F2973B5BBE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A75748A-FA80-4F64-A09B-6DA270387149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DA48E56-1861-45B2-AD8D-5164695FFB67}"/>
              </a:ext>
            </a:extLst>
          </p:cNvPr>
          <p:cNvSpPr>
            <a:spLocks noGrp="1"/>
          </p:cNvSpPr>
          <p:nvPr/>
        </p:nvSpPr>
        <p:spPr>
          <a:xfrm>
            <a:off x="2786063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BEAE867B-9EF4-450A-9438-40952E637B8C}"/>
              </a:ext>
            </a:extLst>
          </p:cNvPr>
          <p:cNvSpPr>
            <a:spLocks noGrp="1"/>
          </p:cNvSpPr>
          <p:nvPr/>
        </p:nvSpPr>
        <p:spPr>
          <a:xfrm>
            <a:off x="3381375" y="5036344"/>
            <a:ext cx="6917531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E440860A-6101-4287-AE03-34D3FFF550A6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93269B9-815A-47C8-9259-0B9A4F62C9BD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8 − 0 = 8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AA75D30-9E7D-4E58-AB02-2DD88FAA6283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7A8C6F88-9F85-4BB0-8FE2-B2D96B7C3686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584AA10F-D58B-46FF-B368-5007244D0473}"/>
              </a:ext>
            </a:extLst>
          </p:cNvPr>
          <p:cNvSpPr>
            <a:spLocks noGrp="1"/>
          </p:cNvSpPr>
          <p:nvPr/>
        </p:nvSpPr>
        <p:spPr>
          <a:xfrm>
            <a:off x="7334250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28D65980-EEE4-43D3-97A6-DC9FC29C83B8}"/>
              </a:ext>
            </a:extLst>
          </p:cNvPr>
          <p:cNvSpPr>
            <a:spLocks noGrp="1"/>
          </p:cNvSpPr>
          <p:nvPr/>
        </p:nvSpPr>
        <p:spPr>
          <a:xfrm>
            <a:off x="7334250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FDDC36B7-DC4B-4433-90C9-E6FA6C4FB530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13 − 6 = 7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B9DB50F9-DA6E-4FE4-BA6C-FD43769CA10B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FF244BB1-349D-4E7E-9377-76AEC733DC2F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C6A38EEB-4CC5-4E01-9CB8-E8352ADFEA20}"/>
              </a:ext>
            </a:extLst>
          </p:cNvPr>
          <p:cNvSpPr>
            <a:spLocks noGrp="1"/>
          </p:cNvSpPr>
          <p:nvPr/>
        </p:nvSpPr>
        <p:spPr>
          <a:xfrm>
            <a:off x="6405563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0665EC0A-4ED9-4800-BFB0-CDCD2F89B349}"/>
              </a:ext>
            </a:extLst>
          </p:cNvPr>
          <p:cNvSpPr>
            <a:spLocks noGrp="1"/>
          </p:cNvSpPr>
          <p:nvPr/>
        </p:nvSpPr>
        <p:spPr>
          <a:xfrm>
            <a:off x="6405563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459E8EDF-9BC4-4D9D-96A7-153907346F65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12 − 7 = 5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53EC3E57-98E3-4AF2-AC72-1ECD307B6986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3BC4586E-D3B1-4CF4-8F11-2290997171CD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FA55D46D-0EB7-4D45-A066-D85BDB3B40F5}"/>
              </a:ext>
            </a:extLst>
          </p:cNvPr>
          <p:cNvSpPr>
            <a:spLocks noGrp="1"/>
          </p:cNvSpPr>
          <p:nvPr/>
        </p:nvSpPr>
        <p:spPr>
          <a:xfrm>
            <a:off x="4548188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A34A0FAB-AE90-4EC8-9E16-6D3393F92FFC}"/>
              </a:ext>
            </a:extLst>
          </p:cNvPr>
          <p:cNvSpPr>
            <a:spLocks noGrp="1"/>
          </p:cNvSpPr>
          <p:nvPr/>
        </p:nvSpPr>
        <p:spPr>
          <a:xfrm>
            <a:off x="5476875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DBB8BFA0-F6D4-4BDA-96E3-CBA5BFF37376}"/>
              </a:ext>
            </a:extLst>
          </p:cNvPr>
          <p:cNvSpPr>
            <a:spLocks noGrp="1"/>
          </p:cNvSpPr>
          <p:nvPr/>
        </p:nvSpPr>
        <p:spPr>
          <a:xfrm>
            <a:off x="4548188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7B0B32AA-3CFF-4491-9586-C2DF0F17C03F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13 − 8 = 5</a:t>
            </a:r>
          </a:p>
        </p:txBody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C383E26C-234E-4F71-8E6E-78AD90352A9B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D2E19691-F2BC-4A4F-A884-167F168E3684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9BFD7E53-AA24-44B6-A690-CC8C155950D2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9 − 9 = 0</a:t>
            </a:r>
          </a:p>
        </p:txBody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43D37363-C71F-4FA4-B6AE-D97B56525882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1226568A-9EEB-4137-8A81-27D9ECCF00D7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99C7883B-E759-4BC7-BD32-0676C60A9EF3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7 − 3 = 4</a:t>
            </a:r>
          </a:p>
        </p:txBody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D76E5DD8-BE7F-49F4-A423-B92BA4E1A21E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B44898FF-B38B-40FF-AABA-361D22222E99}"/>
              </a:ext>
            </a:extLst>
          </p:cNvPr>
          <p:cNvSpPr>
            <a:spLocks noGrp="1"/>
          </p:cNvSpPr>
          <p:nvPr/>
        </p:nvSpPr>
        <p:spPr>
          <a:xfrm>
            <a:off x="358378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772AD283-51E0-4BF1-B949-4F063A21814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3 − 0 = 3</a:t>
            </a:r>
          </a:p>
        </p:txBody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B08057DA-6B31-4859-8674-D86B7D543F3E}"/>
              </a:ext>
            </a:extLst>
          </p:cNvPr>
          <p:cNvSpPr>
            <a:spLocks noGrp="1"/>
          </p:cNvSpPr>
          <p:nvPr/>
        </p:nvSpPr>
        <p:spPr>
          <a:xfrm>
            <a:off x="361950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83018012-6D42-4B32-93D2-EF5E976072A2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3,804,338 − 398,760 = 3,405,578</a:t>
            </a:r>
          </a:p>
        </p:txBody>
      </p:sp>
    </p:spTree>
    <p:extLst>
      <p:ext uri="{BB962C8B-B14F-4D97-AF65-F5344CB8AC3E}">
        <p14:creationId xmlns:p14="http://schemas.microsoft.com/office/powerpoint/2010/main" val="2144434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609375 0 E" pathEditMode="relative" ptsTypes="">
                                      <p:cBhvr>
                                        <p:cTn id="26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609375 0 E" pathEditMode="relative" ptsTypes="">
                                      <p:cBhvr>
                                        <p:cTn id="46" dur="8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800"/>
                            </p:stCondLst>
                            <p:childTnLst>
                              <p:par>
                                <p:cTn id="5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21875 0 E" pathEditMode="relative" ptsTypes="">
                                      <p:cBhvr>
                                        <p:cTn id="68" dur="8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4" grpId="1"/>
      <p:bldP spid="25" grpId="0"/>
      <p:bldP spid="27" grpId="0"/>
      <p:bldP spid="28" grpId="0"/>
      <p:bldP spid="28" grpId="1"/>
      <p:bldP spid="29" grpId="0"/>
      <p:bldP spid="29" grpId="1"/>
      <p:bldP spid="30" grpId="0"/>
      <p:bldP spid="32" grpId="0"/>
      <p:bldP spid="33" grpId="0"/>
      <p:bldP spid="33" grpId="1"/>
      <p:bldP spid="34" grpId="0"/>
      <p:bldP spid="34" grpId="1"/>
      <p:bldP spid="35" grpId="0"/>
      <p:bldP spid="37" grpId="0"/>
      <p:bldP spid="38" grpId="0"/>
      <p:bldP spid="39" grpId="0"/>
      <p:bldP spid="39" grpId="1"/>
      <p:bldP spid="40" grpId="0"/>
      <p:bldP spid="40" grpId="1"/>
      <p:bldP spid="41" grpId="0"/>
      <p:bldP spid="43" grpId="0"/>
      <p:bldP spid="43" grpId="1"/>
      <p:bldP spid="44" grpId="0"/>
      <p:bldP spid="46" grpId="0"/>
      <p:bldP spid="46" grpId="1"/>
      <p:bldP spid="47" grpId="0"/>
      <p:bldP spid="49" grpId="0"/>
      <p:bldP spid="50" grpId="0"/>
      <p:bldP spid="5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object-1">
            <a:extLst>
              <a:ext uri="{FF2B5EF4-FFF2-40B4-BE49-F238E27FC236}">
                <a16:creationId xmlns:a16="http://schemas.microsoft.com/office/drawing/2014/main" id="{144A3460-D5F8-40FD-AFE8-5B03800E9AB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6A19676-92CF-4084-B906-1F93359A044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3,804,461 − 398,760.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FF45D4B-46B2-4E23-AD03-0BDA6DD8129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88E442B-2BDA-4EC6-8240-63E2C6E6349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place-value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A20CA1D-32AE-4658-9109-8FE92781B78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19F9187-3DE4-4958-AAD9-026E17CE0FF3}"/>
              </a:ext>
            </a:extLst>
          </p:cNvPr>
          <p:cNvSpPr>
            <a:spLocks noGrp="1"/>
          </p:cNvSpPr>
          <p:nvPr/>
        </p:nvSpPr>
        <p:spPr>
          <a:xfrm>
            <a:off x="361950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3DD559C-48B5-4102-A297-1150FD990D73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778C6CD-F429-489F-A77A-CF9CA9DA4DD7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6C07F60-1884-4FE1-96DB-B200B2BCB952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75AC21D-08CC-411B-8F4F-A238B20FB7CB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53AFC76-6CDC-4BDF-9EC3-AD0E6818F870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8660FC4-A174-4FE1-A031-66F34217DE86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5C851B9-62A4-4BB3-B854-2EF82627A690}"/>
              </a:ext>
            </a:extLst>
          </p:cNvPr>
          <p:cNvSpPr>
            <a:spLocks noGrp="1"/>
          </p:cNvSpPr>
          <p:nvPr/>
        </p:nvSpPr>
        <p:spPr>
          <a:xfrm>
            <a:off x="361950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A305AE9-AB3C-4C6D-BA0C-36E032E17E46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A971A1D-F38E-42A9-932F-0C4B8169A47D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D76E005-46E6-4EF3-8B8C-D73E2A3A756D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0507B82-AF42-4200-8758-0396521674E9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587ED60-EB3D-47F4-9AC5-13211F4135A1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B09C80A-A0FC-49BA-93A1-2FFE11B58BF1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3ED24B7-23BC-4023-A6ED-7E66B60B180D}"/>
              </a:ext>
            </a:extLst>
          </p:cNvPr>
          <p:cNvSpPr>
            <a:spLocks noGrp="1"/>
          </p:cNvSpPr>
          <p:nvPr/>
        </p:nvSpPr>
        <p:spPr>
          <a:xfrm>
            <a:off x="2786063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1F47295-3FD1-49F0-AE31-F85A5FF374B4}"/>
              </a:ext>
            </a:extLst>
          </p:cNvPr>
          <p:cNvSpPr>
            <a:spLocks noGrp="1"/>
          </p:cNvSpPr>
          <p:nvPr/>
        </p:nvSpPr>
        <p:spPr>
          <a:xfrm>
            <a:off x="3381375" y="5036344"/>
            <a:ext cx="6917531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412BBB4E-5C3E-4DDC-B950-B3124F096A8C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F76E72ED-FC03-4391-B724-456E5A54F761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1 − 0 = 1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90F221F-4EAB-4BD2-B7D3-6DB3A4B9D1F4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470E61E-9F2D-4A8B-8215-F6D02C27B915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12CD8BB-E35C-4900-AEF0-F8F12FF5FC6F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6 − 6 = 0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DC73A1BC-7E31-4479-8324-38A83B795BF6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51DF6B16-F64A-45E0-9B8A-9E0B17F30090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B2F3F7D2-F01A-4DD0-A7A3-A8DE5E1100A2}"/>
              </a:ext>
            </a:extLst>
          </p:cNvPr>
          <p:cNvSpPr>
            <a:spLocks noGrp="1"/>
          </p:cNvSpPr>
          <p:nvPr/>
        </p:nvSpPr>
        <p:spPr>
          <a:xfrm>
            <a:off x="6405563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D0A55BE8-D565-42F9-8B5B-0693CFF17824}"/>
              </a:ext>
            </a:extLst>
          </p:cNvPr>
          <p:cNvSpPr>
            <a:spLocks noGrp="1"/>
          </p:cNvSpPr>
          <p:nvPr/>
        </p:nvSpPr>
        <p:spPr>
          <a:xfrm>
            <a:off x="6405563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AF741ADB-993F-46C3-AC63-BD3A3BB09977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14 − 7 = 7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BE79A820-62CA-4621-92A9-CFCDEBC1FE76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D1928416-2F0B-4EF7-AA11-A9DCEDF7EC26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3563C508-5850-41DD-931C-02396E3D06D3}"/>
              </a:ext>
            </a:extLst>
          </p:cNvPr>
          <p:cNvSpPr>
            <a:spLocks noGrp="1"/>
          </p:cNvSpPr>
          <p:nvPr/>
        </p:nvSpPr>
        <p:spPr>
          <a:xfrm>
            <a:off x="4548188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7A7BB71A-F9B6-4787-8F0F-F34981B86EF7}"/>
              </a:ext>
            </a:extLst>
          </p:cNvPr>
          <p:cNvSpPr>
            <a:spLocks noGrp="1"/>
          </p:cNvSpPr>
          <p:nvPr/>
        </p:nvSpPr>
        <p:spPr>
          <a:xfrm>
            <a:off x="5476875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E8535AB-3752-42A0-895E-D15C3FD67E7A}"/>
              </a:ext>
            </a:extLst>
          </p:cNvPr>
          <p:cNvSpPr>
            <a:spLocks noGrp="1"/>
          </p:cNvSpPr>
          <p:nvPr/>
        </p:nvSpPr>
        <p:spPr>
          <a:xfrm>
            <a:off x="4548188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824D1E36-1D16-474B-A89D-1E1F93B9B51A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13 − 8 = 5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E9507921-DE94-4E0C-8E05-DD488E976B64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B3236D7F-B46A-4A15-8E7C-05FD0A784182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9FBB1584-2093-4262-BB95-743F049C94F5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9 − 9 = 0</a:t>
            </a:r>
          </a:p>
        </p:txBody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0A4A44C2-7580-4253-A641-0D70BAB30E05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42BAB21D-D5AC-41E3-9FC4-607AAC0D3611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AE328206-6A0E-43E8-9713-5EA6E5BE4843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7 − 3 = 4</a:t>
            </a:r>
          </a:p>
        </p:txBody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D269A361-724A-4DB5-87FD-2C1E6713069A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42FCF9B5-C42D-4638-9830-62CF4D48AAD5}"/>
              </a:ext>
            </a:extLst>
          </p:cNvPr>
          <p:cNvSpPr>
            <a:spLocks noGrp="1"/>
          </p:cNvSpPr>
          <p:nvPr/>
        </p:nvSpPr>
        <p:spPr>
          <a:xfrm>
            <a:off x="358378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8491FB64-6568-4713-937D-FFD1F6519BA1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3 − 0 = 3</a:t>
            </a:r>
          </a:p>
        </p:txBody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4507A0FA-C901-48D8-B096-7615C5872DA6}"/>
              </a:ext>
            </a:extLst>
          </p:cNvPr>
          <p:cNvSpPr>
            <a:spLocks noGrp="1"/>
          </p:cNvSpPr>
          <p:nvPr/>
        </p:nvSpPr>
        <p:spPr>
          <a:xfrm>
            <a:off x="361950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BE641AC1-42FA-492C-8204-8DA201641165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3,804,461 − 398,760 = 3,405,701</a:t>
            </a:r>
          </a:p>
        </p:txBody>
      </p:sp>
    </p:spTree>
    <p:extLst>
      <p:ext uri="{BB962C8B-B14F-4D97-AF65-F5344CB8AC3E}">
        <p14:creationId xmlns:p14="http://schemas.microsoft.com/office/powerpoint/2010/main" val="86651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609375 0 E" pathEditMode="relative" ptsTypes="">
                                      <p:cBhvr>
                                        <p:cTn id="39" dur="8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21875 0 E" pathEditMode="relative" ptsTypes="">
                                      <p:cBhvr>
                                        <p:cTn id="61" dur="8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800"/>
                            </p:stCondLst>
                            <p:childTnLst>
                              <p:par>
                                <p:cTn id="6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3" grpId="1"/>
      <p:bldP spid="24" grpId="0"/>
      <p:bldP spid="26" grpId="0"/>
      <p:bldP spid="26" grpId="1"/>
      <p:bldP spid="27" grpId="0"/>
      <p:bldP spid="29" grpId="0"/>
      <p:bldP spid="30" grpId="0"/>
      <p:bldP spid="30" grpId="1"/>
      <p:bldP spid="31" grpId="0"/>
      <p:bldP spid="31" grpId="1"/>
      <p:bldP spid="32" grpId="0"/>
      <p:bldP spid="34" grpId="0"/>
      <p:bldP spid="35" grpId="0"/>
      <p:bldP spid="36" grpId="0"/>
      <p:bldP spid="36" grpId="1"/>
      <p:bldP spid="37" grpId="0"/>
      <p:bldP spid="37" grpId="1"/>
      <p:bldP spid="38" grpId="0"/>
      <p:bldP spid="40" grpId="0"/>
      <p:bldP spid="40" grpId="1"/>
      <p:bldP spid="41" grpId="0"/>
      <p:bldP spid="43" grpId="0"/>
      <p:bldP spid="43" grpId="1"/>
      <p:bldP spid="44" grpId="0"/>
      <p:bldP spid="46" grpId="0"/>
      <p:bldP spid="47" grpId="0"/>
      <p:bldP spid="4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object-1">
            <a:extLst>
              <a:ext uri="{FF2B5EF4-FFF2-40B4-BE49-F238E27FC236}">
                <a16:creationId xmlns:a16="http://schemas.microsoft.com/office/drawing/2014/main" id="{DCBBF93A-E8C6-40FC-85DA-12C10ABE35E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373D549-7984-4ECD-88E0-E3E097B324D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83143D0-840C-4E02-9136-FC6F900070B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3,804,584 − 398,760.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D96FFA3-1177-4EFE-AD2F-731C80C7A94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675947A-A186-4A92-BFB9-43806209A68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place-value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80D6498-1BBD-4D02-B0ED-DE688BDF607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FD2097C-7CB0-4EF5-826F-303127517AB5}"/>
              </a:ext>
            </a:extLst>
          </p:cNvPr>
          <p:cNvSpPr>
            <a:spLocks noGrp="1"/>
          </p:cNvSpPr>
          <p:nvPr/>
        </p:nvSpPr>
        <p:spPr>
          <a:xfrm>
            <a:off x="361950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2E13B18-8CD3-406C-8261-136DF25A7198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B96571C-7CF2-4226-9AC7-FE9901FC8B97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FC809EA-EAFA-4D4E-AF16-BBD899943EF8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E90CEBE-2F92-4AC0-94F9-9921A745ECDF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C8BA321-E21A-4EB8-8522-662BA27D421F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03C4AF5-6BE9-40BA-9207-98BB94BCD289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655B9C0-C3F9-4232-B5B5-D91D65302FEF}"/>
              </a:ext>
            </a:extLst>
          </p:cNvPr>
          <p:cNvSpPr>
            <a:spLocks noGrp="1"/>
          </p:cNvSpPr>
          <p:nvPr/>
        </p:nvSpPr>
        <p:spPr>
          <a:xfrm>
            <a:off x="361950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C59BD88-65C6-402C-BFAC-337A4D600380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BF97574-C2C3-49E3-B238-EC078B3C5299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8551CC8-A112-44B0-A5A2-A273D0752E06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BAFB11A-6837-4A34-B6A5-DFD567ED1D17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F325247-766E-467E-B4DE-BA42588CE6C4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1D7B092-E867-4BEE-81FF-1C88C0C14927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5A6EAE9-3C30-46B4-9972-246EC5C6638B}"/>
              </a:ext>
            </a:extLst>
          </p:cNvPr>
          <p:cNvSpPr>
            <a:spLocks noGrp="1"/>
          </p:cNvSpPr>
          <p:nvPr/>
        </p:nvSpPr>
        <p:spPr>
          <a:xfrm>
            <a:off x="2786063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6947017-594D-429F-9CDF-213668E1596F}"/>
              </a:ext>
            </a:extLst>
          </p:cNvPr>
          <p:cNvSpPr>
            <a:spLocks noGrp="1"/>
          </p:cNvSpPr>
          <p:nvPr/>
        </p:nvSpPr>
        <p:spPr>
          <a:xfrm>
            <a:off x="3381375" y="5036344"/>
            <a:ext cx="6917531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D1CD942-29D3-489E-81BB-21790B760F2D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7683A1A-6680-4343-99AB-D455835B2BDB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4 − 0 = 4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66DB178-C5BF-40E4-B3A9-D54EE1CC1934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7262F9B2-E8F3-40F7-AE16-4E521F87310F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9EBD65C2-374E-43DC-B842-9FB21F9A903C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8 − 6 = 2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B8E6E730-D11D-4F42-987F-28DD7CA566F4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E4562D99-5A72-485B-B0AD-DC0438BE111B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9D30E810-E4A2-4006-AEEC-1754D6C2D504}"/>
              </a:ext>
            </a:extLst>
          </p:cNvPr>
          <p:cNvSpPr>
            <a:spLocks noGrp="1"/>
          </p:cNvSpPr>
          <p:nvPr/>
        </p:nvSpPr>
        <p:spPr>
          <a:xfrm>
            <a:off x="6405563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06FD97DB-18B2-4AEE-B04A-29364D201D87}"/>
              </a:ext>
            </a:extLst>
          </p:cNvPr>
          <p:cNvSpPr>
            <a:spLocks noGrp="1"/>
          </p:cNvSpPr>
          <p:nvPr/>
        </p:nvSpPr>
        <p:spPr>
          <a:xfrm>
            <a:off x="6405563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AA690CF3-815F-493A-93AF-3859EE4CA617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15 − 7 = 8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C1844E8B-0E69-44C1-92D1-878FCD708CCC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2F446D98-865F-4C03-8B3D-8DAD4288888F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47D7347A-4636-44E5-AB0B-1734FFCABA4E}"/>
              </a:ext>
            </a:extLst>
          </p:cNvPr>
          <p:cNvSpPr>
            <a:spLocks noGrp="1"/>
          </p:cNvSpPr>
          <p:nvPr/>
        </p:nvSpPr>
        <p:spPr>
          <a:xfrm>
            <a:off x="4548188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3E01F395-0359-4CB6-839B-7B26224B64E1}"/>
              </a:ext>
            </a:extLst>
          </p:cNvPr>
          <p:cNvSpPr>
            <a:spLocks noGrp="1"/>
          </p:cNvSpPr>
          <p:nvPr/>
        </p:nvSpPr>
        <p:spPr>
          <a:xfrm>
            <a:off x="5476875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09BAEEB4-8617-4810-98D5-E281A9DD39C5}"/>
              </a:ext>
            </a:extLst>
          </p:cNvPr>
          <p:cNvSpPr>
            <a:spLocks noGrp="1"/>
          </p:cNvSpPr>
          <p:nvPr/>
        </p:nvSpPr>
        <p:spPr>
          <a:xfrm>
            <a:off x="4548188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88800FF9-94C3-4AC0-B26C-7F70EACA39BF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13 − 8 = 5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A3D16033-EC3E-404E-8E7D-87E2AEC5401E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15DA3516-CBD4-43F8-8317-8A2F58106ADA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25E3FF25-37C9-4DB0-8275-38F2E98DDAA4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9 − 9 = 0</a:t>
            </a:r>
          </a:p>
        </p:txBody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F12AC7F1-A9E7-477C-B8E3-2DDA38CD72C8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A6472F83-A9CC-4EB5-A723-25EFDC398B74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6B7ED85A-3A20-43BA-AFE8-2C088EA9787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7 − 3 = 4</a:t>
            </a:r>
          </a:p>
        </p:txBody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18969E0A-A2FD-4D61-B968-F1117AA8C9ED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276A4E34-B855-482D-92C0-63EC98EC5073}"/>
              </a:ext>
            </a:extLst>
          </p:cNvPr>
          <p:cNvSpPr>
            <a:spLocks noGrp="1"/>
          </p:cNvSpPr>
          <p:nvPr/>
        </p:nvSpPr>
        <p:spPr>
          <a:xfrm>
            <a:off x="358378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57FFC651-86B3-475F-8460-9571CA8C545B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3 − 0 = 3</a:t>
            </a:r>
          </a:p>
        </p:txBody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316E914E-C699-4399-89E5-9FAEF3AD06C5}"/>
              </a:ext>
            </a:extLst>
          </p:cNvPr>
          <p:cNvSpPr>
            <a:spLocks noGrp="1"/>
          </p:cNvSpPr>
          <p:nvPr/>
        </p:nvSpPr>
        <p:spPr>
          <a:xfrm>
            <a:off x="361950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DAB24E43-37C6-4A4A-BAB8-7C8A67405851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3,804,584 − 398,760 = 3,405,824</a:t>
            </a:r>
          </a:p>
        </p:txBody>
      </p:sp>
    </p:spTree>
    <p:extLst>
      <p:ext uri="{BB962C8B-B14F-4D97-AF65-F5344CB8AC3E}">
        <p14:creationId xmlns:p14="http://schemas.microsoft.com/office/powerpoint/2010/main" val="2114502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609375 0 E" pathEditMode="relative" ptsTypes="">
                                      <p:cBhvr>
                                        <p:cTn id="39" dur="8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21875 0 E" pathEditMode="relative" ptsTypes="">
                                      <p:cBhvr>
                                        <p:cTn id="61" dur="8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800"/>
                            </p:stCondLst>
                            <p:childTnLst>
                              <p:par>
                                <p:cTn id="6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4" grpId="1"/>
      <p:bldP spid="25" grpId="0"/>
      <p:bldP spid="27" grpId="0"/>
      <p:bldP spid="27" grpId="1"/>
      <p:bldP spid="28" grpId="0"/>
      <p:bldP spid="30" grpId="0"/>
      <p:bldP spid="31" grpId="0"/>
      <p:bldP spid="31" grpId="1"/>
      <p:bldP spid="32" grpId="0"/>
      <p:bldP spid="32" grpId="1"/>
      <p:bldP spid="33" grpId="0"/>
      <p:bldP spid="35" grpId="0"/>
      <p:bldP spid="36" grpId="0"/>
      <p:bldP spid="37" grpId="0"/>
      <p:bldP spid="37" grpId="1"/>
      <p:bldP spid="38" grpId="0"/>
      <p:bldP spid="38" grpId="1"/>
      <p:bldP spid="39" grpId="0"/>
      <p:bldP spid="41" grpId="0"/>
      <p:bldP spid="41" grpId="1"/>
      <p:bldP spid="42" grpId="0"/>
      <p:bldP spid="44" grpId="0"/>
      <p:bldP spid="44" grpId="1"/>
      <p:bldP spid="45" grpId="0"/>
      <p:bldP spid="47" grpId="0"/>
      <p:bldP spid="48" grpId="0"/>
      <p:bldP spid="4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0FC88941-1D0C-48AB-A00D-27A05EA032A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B2920D3-2CD8-4D7E-8FD8-090D0F33C97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A3703A2-3F97-47DB-9F2F-7B447BDB1A8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BC30655-F444-491B-A2B0-CFA94E460FA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29FDC7E-6F0A-435B-BD2E-FBCAF9F7577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place-value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2C9D08A-3F02-4AA8-BE9C-B643D90F334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187A45B-A506-43A6-BAB4-7162F81CE57D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FA87112-11EF-4918-8B4F-B2AF15D33B6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city has 3,804,215 people. Another has 398,760 fewer. What is the second population?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170DC56-9FAB-4068-8B75-8117D1F1FF16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06D479C-E204-44D8-8C6D-C589FD6493C4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lift moves from level -5 to level 18. How many floors does it travel?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B4248B0-01B2-4915-90AC-13FF0759FDE1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35F72E6-C030-4C86-B097-6E1263D128A4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What is 100,000 more than 6,945,120?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2062E11-7968-49EC-BAE4-3A27212E1239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6752737-7CC9-4624-B61D-13F51A8390F5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city has 3,804,215 people. Another has 398,760 fewer. What is the second population?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9741E3A-7B6E-4357-9217-CA527A3FF949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FB9423B-1F7E-4A98-80A4-9CB39F1D590D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A lift moves from level -5 to level 18. How many floors does it travel?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69200DFB-3D44-4A10-B391-AFAAF86BA540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DE9A026-4CCC-40E5-BC03-F964B6BDC18C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What is 100,000 more than 6,945,120?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0204D4C-CD35-476F-A3A5-3CBBBED8AEBF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13BF7D6-2126-41DB-9050-A19AE6B5BB26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number rounds to 4,000,000 to the nearest million. Give the smallest possible whole number.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77ADA73-3D40-4CBE-BFD3-CEE1FBF8E604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F8892D0-4A5F-4A88-9CBF-382F1F43CF5C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changes more than one digit when adding 100,000 to 6,945,120.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8CF104A-38DD-45FB-91EF-5FEE304A22D2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E1598272-8C70-41F6-9297-E0909AB241AE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8F6AE45-75CD-4C4B-9191-0D198D3EFE8D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7826C1C5-EE2A-4B69-A338-13984539AE60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What is 100,000 more than 6,945,120?</a:t>
            </a:r>
          </a:p>
        </p:txBody>
      </p:sp>
    </p:spTree>
    <p:extLst>
      <p:ext uri="{BB962C8B-B14F-4D97-AF65-F5344CB8AC3E}">
        <p14:creationId xmlns:p14="http://schemas.microsoft.com/office/powerpoint/2010/main" val="1866725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39CE93CA-2B7C-4982-B878-ACD4107D652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715E054-A9C7-43CE-B221-656AD07AB7D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1686A70-1454-4A61-B9EA-18F7E7B1C95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16CA25C-3418-4A4D-8C44-ABC273B2157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place-value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8513154-3707-4D09-ACE6-896EE7ADA39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B3CE3C6-F369-42E7-8360-ED1FDE753DBD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9B9B918-9B7E-408A-B9B3-C95F08940195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3,405,455.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54AF74F-9A7B-44F1-8977-A5211ABEE206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BD357ED-6846-4282-9745-618AB16CC584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23 floors.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3046C0E-4B32-4907-97F7-709747EAB044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444660B-7D00-442E-8AA1-4A5C88DE7649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7,045,120.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7245A8F-4779-44C0-A79C-A1AE5A5EA3BF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0636A25-93ED-4A23-95F1-68349F843E83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3,405,455.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2949FC7-7929-49A7-8BAC-277479B01B4A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DC4E4C5-34FE-40D6-8B8E-8EC65D6C18D0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23 floors.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E186EA8-66CB-4F8E-8A17-99C531C4528A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6CEBF32-EA73-4BB5-B82A-F57AAC1A94A2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7,045,120.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5C3C2560-C2D5-4620-8F75-D9F6998F16FF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A9AAA50-B6AC-4377-B438-6017FE252F79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3,500,000.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BBD864F-C375-4BF7-8F5B-D190068D7E77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66922FA-0DE6-4101-8AFA-C6BE48CF14FE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Add one hundred-thousand and regroup only when needed. The answer is 7,045,120.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FA9C96D-3C54-4029-B50D-E8E9C02833AA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0EBB77E-97AD-4637-AE01-D53483AC5CC0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63DF812-ABA5-4B3A-839C-801F3370D350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ACA2AA6-1850-475B-8A4A-F96F432E2874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09033334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1110</Words>
  <Application>Microsoft Office PowerPoint</Application>
  <DocSecurity>0</DocSecurity>
  <PresentationFormat>Custom</PresentationFormat>
  <Paragraphs>230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2026-09-14T13:14:13Z</dcterms:created>
  <dcterms:modified xsi:type="dcterms:W3CDTF">2026-09-14T13:15:03Z</dcterms:modified>
</cp:coreProperties>
</file>