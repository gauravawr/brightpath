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Place value chart to ten million, digit cards, number line crossing zero, mini whiteboards.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23 floors. | Read the number in three-digit periods from left to right. | Add one hundred-thousand and regroup only when needed. The answer is 7,045,120.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million, place value, digit, partition, compare, negative.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A city has 3,804,215 people. Another has 398,760 fewer. What is the second population? Answer: 3,405,455.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23 floors.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Add one hundred-thousand and regroup only when needed. The answer is 7,045,120.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23 floors..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7,045,120..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3,500,000.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slide comes after teaching. Select a route by current learning need, not a fixed pupil label. Lower: A lift moves from level -5 to level 18. How many floors does it travel? Expected: What is 100,000 more than 6,945,120? Higher: A number rounds to 4,000,000 to the nearest million. Give the smallest possible whole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7,045,120. | Add one hundred-thousand and regroup only when needed. The answer is 7,045,120.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E659B501-6D65-437D-9400-084F4639640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E26B0A2-A05C-4BB2-919A-58891BB43FA1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5094536-69FA-4028-8E8B-4A0CF48E7BEB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0F6D61A-ACF4-42C2-A2B2-57B3467A1E5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F57B0FD-0CE1-4D74-BFA3-B2CAB282B88A}"/>
              </a:ext>
            </a:extLst>
          </p:cNvPr>
          <p:cNvSpPr>
            <a:spLocks noGrp="1"/>
          </p:cNvSpPr>
          <p:nvPr/>
        </p:nvSpPr>
        <p:spPr>
          <a:xfrm>
            <a:off x="609600" y="1066800"/>
            <a:ext cx="7239000" cy="333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01C04AB-0433-440A-8193-1BFA048BE293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C99D948F-BE0B-4D38-95F6-22C5F1CE005A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A427C61-99EE-43FB-ABD1-FF9601C12FA5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D990EFE-F5AF-4D2F-A364-4F4F0F62D799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8202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problems using large and negative numbers.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AF28F99-F357-47D3-B113-E3A0722249E3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6F475AD-6817-4D1B-80FF-1BA9ED980E45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Place value chart to ten million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1949F25-C316-43BC-AE4D-C850331B7520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815031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A8BC3FE7-FDAD-4362-9F16-6830BB7498A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836806-AA21-4567-94B5-56EDEAD4E194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C17DF0E-9E2A-4C8A-929F-93E82B776C7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A70C4C5-3AE0-42BC-94A2-1EE4E31E3A3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1E329C3-FD9E-4650-8F56-18D412C72D7A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42BF1D6-D93C-488B-9CCF-2F712B3340D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79299C3-A527-4866-94FB-E8492AF613B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AB7AFB0-417E-4FF1-9A78-9A521E81A26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AC0047-EF7D-4221-BF73-D16FE7073C9D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6CE95E-C9EF-4A86-859E-AA0A9286844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1AF4BBBC-BBB3-47D5-9D10-386637B9A7C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4F7F67B-C85F-4108-A5ED-73CF4AF3A99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BB138D-556D-4B4A-B753-F3DB590B12D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E669BA7-5924-41C3-B029-5A274DE5F2FF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Read, write, order and compare numbers to 1,000,000 and use negative numbers in familiar contexts.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8BD5018D-B779-485C-B426-4A618444AFB8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49B5D01-010D-4A74-BEE3-A18C524A487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C9709D-88A2-40E3-9BB2-AF8B620724A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A7EC153-5025-44F1-9EE0-1BA22BB01601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B9C8CE9C-EE16-46BB-89F0-53D6760ADD1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AF595BF-7FC6-48DF-93BF-DEAAFB945846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B0596E8-25FD-4D20-BDD9-116A2792F57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0ACE584-2CBD-4658-AE63-B60C7664990D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city has 3,804,215 people. Another has 398,760 fewer. What is the second population?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E61E424-0DB1-4870-8E1D-8BF865612D62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9389498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B45C37FB-C037-4099-A7D0-6BED911B30F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95680C-4C72-455D-BB84-5EDEC41F800C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9DBE1E-D327-48C0-84BF-D2DEB1E19256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5C6253C-3E2E-4FD4-A3F9-204BC205AC4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BB4D45-F310-4423-B2D9-F862B755E3B4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3073141-9D40-4E3C-A9FE-522DDE5A62CA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83B72C7-9F85-4A01-8B94-26C2D07D206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F43F531-6D9C-48C8-B1A3-8ADBCE5260F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BFBDAEC-786A-442E-A860-0C8CA3E9F5F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EFDDDD-C03D-4418-83FE-572C375D79E2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DFF11-00DD-4383-ACF4-521C32423C39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solve and explain problems using large and negative numbers.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4EAC61-A621-4BE3-92B4-1B83E4A614B0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FB6B7F-1955-4E8B-84D2-8391868BBFBD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Read the number in three-digit periods from left to right.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7356685-D9C4-4B93-A174-D84B78CA547A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Record each digit in the correct place-value column.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8F3116A-7CA9-46BE-8C78-0F40A7983C9D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43F69C-AE64-4FB2-863F-655D1EAA8EBD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million  |  place value  |  digit  |  partition  |  compare  |  negative</a:t>
            </a:r>
          </a:p>
        </p:txBody>
      </p:sp>
    </p:spTree>
    <p:extLst>
      <p:ext uri="{BB962C8B-B14F-4D97-AF65-F5344CB8AC3E}">
        <p14:creationId xmlns:p14="http://schemas.microsoft.com/office/powerpoint/2010/main" val="2097882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4" grpId="0"/>
      <p:bldP spid="1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9003962D-462F-460E-AD26-7A773FE318E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1A1B83-6CEC-439A-AC87-DBFB36A70A36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C435C40-8F48-422B-8836-3C503FD087C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6DFC1A3-AD4D-4661-AB3C-A5A79065242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BDC07E-A6A2-48D9-AA41-E6538DA0DA9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C9ACF3A-19EB-492B-AB0A-3696B3906FC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41A09DD-35FD-4D2B-9218-33D2EA960F5D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6BA5EB9-5426-4FCE-BC2C-29990D7DF67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98AD2D9-23C2-4ADC-9474-A9FEE8015732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DD51A5-7EEC-4DF9-BDE8-14A75D595AA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9FBEF6-DED7-4DFB-BED3-BC9263B7C44A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city has 3,804,215 people. Another has 398,760 fewer. What is the second population?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574E807-3B65-4FB9-86BA-EB968CCE45FB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2DDB8A0-40F9-482A-8D97-A1B8330CD910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C77561F-6980-44F4-B44F-81F1C77248C6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ADE658B-FDA8-44ED-A7B3-F4DE1467E592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Read the number in three-digit periods from left to right.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81CCBE8-3936-430F-96F7-2ECDA29FCB6A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BD8EAA6-4F43-4B04-961F-BFC085B03353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34E8CF9-143E-41AC-A0E9-92E8AEC3A91F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D522B33-195F-4D83-88AE-1E0F45DB84A2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each digit in the correct place-value column.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01A13C5-1CE0-4071-BED4-781F88E5A709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DCB12077-5C62-4261-ABB5-7A4A1AE7A35F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61499F-8C91-4CA1-B604-9538A7CD6905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F21621B-7809-455B-AD38-8576B962C0B9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value of every zero and compare from the greatest place.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496129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9" grpId="0"/>
      <p:bldP spid="23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9F20F6-0A48-4901-90AA-76BF1256DAE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80C0A3-6CE6-4808-AF1A-D98E608DB9D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50205D3-DB59-45BA-B0D4-6C9F4A4B490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FDA631B7-C254-4142-A501-003CAA7E1DA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9DFEE3E-51B1-4CDF-A79C-6B9E6D0E181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252FB16-AC76-4F61-A933-6AE57338AED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740E7A-2E34-45AE-92CF-9130A64378A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7EFFDAC-85D8-4EA9-9227-5800FCC9D7A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D25AF45-BED5-489C-BF5F-62F7617E5E99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03D55C1-FC38-40E8-9D6C-68270CC8AEE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259EFFD-DC30-4339-B2D1-5897A7BED1C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482A46F-09AB-40BB-A9FB-4B7FF06B58BB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3,405,455.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A8C15E-5B48-4CCB-A2C9-DA8A1B397BE0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3E0AB95-C66A-44E5-A267-335FA05CE7A2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value of every zero and compare from the greatest place.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8EDA5C4-1159-4BCB-9887-AC8BC2CA1F22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68191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4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0879A89D-1BA6-424A-8124-BE826113C0D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1CF116-20D6-456E-8B68-5B3D169170BE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A02649-9889-478C-804B-8071E07F91A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2F32BAD5-6F1E-4F36-BC3B-6A3121B29F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125AC35-F069-4D38-9274-6A3276632872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B87128-2BC3-4445-A26C-3A31035EF87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510F0E6-7CAE-499B-A356-51383F6B20A8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6C05CFF-90CE-4762-8231-E52D3F86C949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218C953-26BB-462A-B8E9-0E9C7830A18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0A23EA3-409D-4D1D-9ADB-2D0A4037F4A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ED685D-F665-4758-8AB0-037C7F68DD8E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556CC9B-ECB7-4C69-97F5-FEEE11C7EAEA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C3BCA00-6E01-4284-A5D9-76B0E0CE73BA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94D654E-3A30-4E56-9A9F-22A54BDA4F09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9C07728-C7A7-4B77-BC0C-766468E3F772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BD467E6-EC5D-4C08-847B-8031B537987F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23 floors.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23682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2A3DD923-074C-46C1-8CE1-D2F28336243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7DB2B1-90AD-44DE-A91C-0E3657E5536A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4A0DD4D-B954-45E8-8E7A-8A7B514619D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D38931D-B41B-4ADB-9C5A-24FB42B3D322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3B2E1FD-7F2C-471E-9815-C417A2582F4F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D64C599-A706-4362-8C65-85F8E952944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5C4513-2A95-4233-8307-4ACF0FFDEF5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57D05BC-2878-420E-84F2-C664F480FEE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908913-1957-464A-9D0D-F17D86A4E8DE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1F94DA-E38B-4840-BE74-AE6867A64AA8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pic>
        <p:nvPicPr>
          <p:cNvPr id="27" name="Picture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9BD44F5-8E68-4ECC-B57B-E3F39F0595EF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88FF256-CC32-49FC-8C5E-8AB0EB547707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changes more than one digit when adding 100,000 to 6,945,120.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D441285-1ECA-4323-ABB4-792D49EEE58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015AC44-E4AF-4A88-96ED-A05CC507ECB9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ACBC91-6A99-436C-AA8F-F09D22461066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Add one hundred-thousand and regroup only when needed. The answer is 7,045,120.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691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26FE6EEA-F6DE-47D4-863F-D7B1459014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E73CB2A-902F-44BD-BE17-B10D449A5639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30E486-8D60-4E29-9A53-4100E2AFAEE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64DF2BFE-4E47-4FEF-B25A-9F0E31B271D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0E8FDA8-CCB2-4D68-99EE-4E5DB6F1B64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EE39226-9F1D-4637-97B7-EE7CAB49B47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F28A5AF-DE04-42EC-BD24-90C8EFF089D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EBD6215-4623-4D9D-BF84-BEEEBA33C06E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78D496E-9F75-434A-B8C6-18C444CBA33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FFAFF98-D50A-4DA0-B610-5088B3D2BC4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694CCFF9-2E96-45CC-8B72-629D0591A51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A19AC65-D50C-4CEC-B7F1-429965C1F8B3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D41B47E-F6D5-4CB8-A7C6-704B6ACB333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AA3ADAC-5050-4D0A-B665-7FB46E0BFC9A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lift moves from level -5 to level 18. How many floors does it travel?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2C6E88C3-A5E8-45F0-8F48-CFF20CE2B0E7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C1EFE182-C5E0-47B3-97C1-9314DF28767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405FB59-7284-4C6D-A81C-14645538B805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BFD535C-84D5-4A1A-8F90-3B052B66FA00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672310A4-C662-4FD0-A25C-4133D279FA03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B2BCD76-F38B-47C3-865E-ADCFA136C6E4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3F52DC2-DE99-4656-857A-17D2DF4B4992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BFF0ED-518C-4B90-BFF7-511ED4B0BCAF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23 floors.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0AB8B14-7C5B-41AD-9079-AC2570CC932B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311108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2238A4A-4064-458D-BA4E-B5E5129AD0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FC9C7B1-0A10-437D-A980-93DBBBDF0BD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43328D-698C-4E75-9DA5-2E655A4513C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B193693-6082-4C58-B8F3-61FD68ACC0B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7B11FE7-3864-42B2-9224-9E31EA050E9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4A0938-E9B2-486F-AE0E-C7A0882C081B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A5701DD-C2A3-4FBA-BBA2-50CD5E5F0B60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3C3D798-4456-4795-8893-77D6938E3B2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F1EE36-22A6-48D8-832B-66D1C7C13F6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CB851C8-E92A-416C-817F-C8C911F35E7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F61D5775-81F9-4275-AD69-FA49F52E013A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12B888C-3C3F-47E6-B28B-0B88D0F8761E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8428862-DBB6-48D9-B5D0-934EA33C9F7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46F5BBE-9A09-4674-9AFF-789C1F4A3707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100,000 more than 6,945,120?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5A673D14-F9FE-45BB-8377-5B9FA90FF46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B499957-10A1-478F-98B9-6EFA5D4B36C8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7594F40-3196-4088-95B2-83757BF3307B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E5D1002-978E-4505-8E5A-9BA5507EB7E4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218C275D-956F-492E-B277-996DC1098062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374C1CAE-221B-4A62-B1C5-88607C8E6F63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DC2C5C0-5F6A-4028-864B-58094B6F3C9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AE06E01-579C-4046-A1A3-BAD6BEFCFC34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31980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73FBCBEC-9753-4E46-AA4B-B7F06EC5BCD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A8D8B43-C9BB-45ED-9C41-9C26AD84560D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7A3924C-3AB6-4128-8BB5-52BC2978B5A1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9D2AC6-D205-4850-932A-5FFF190FA579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7183421-5E18-4D1D-808F-C4FFD3DF9E65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524ABA9-FA23-4507-8BA8-D272697A378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42CD4DC-6EEF-4CDF-832F-44F1AD6E3A12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421DCC-B510-4B1C-81FD-E7B847ECFF05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36E4F9-4924-440A-81C9-B449A99CE64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BE65C74-AC69-4B06-AD76-DD031C70EB7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E868336-802F-4F88-89ED-69C43C60591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number rounds to 4,000,000 to the nearest million. Give the smallest possible whole number.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8CB2991-9C5D-4C28-9F6B-B8DC9BB60613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56E820E-7F50-4F24-9B8B-6EB5CACBB9DF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9A75B96-BA50-4818-99C6-91A329A5FE3F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3,500,000.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061007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Rectangle 26">
            <a:extLst>
              <a:ext uri="{FF2B5EF4-FFF2-40B4-BE49-F238E27FC236}">
                <a16:creationId xmlns:a16="http://schemas.microsoft.com/office/drawing/2014/main" id="{AF49F9F2-72E0-4BE5-9A3F-ED4D2E0C80F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F6ADD51-F326-4D40-B027-C5DEBA75F9B7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8AE0CB3-54BF-4BAB-98B6-B7A720EFB68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8A012DE-10E7-4C0B-BEF1-6A6E19FD3D4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DBB1377-6A3F-4BE9-BA7F-6F1B7870AA2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B5D0473-7FF9-457C-B4FE-B75D20D4FCB7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 routes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35D82CF-3C8D-4325-A43A-D9A6DA9490A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213B4E0-2D0E-423D-A4D5-52B248AEE6EC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D5A45F1-4A5D-41BF-9D9E-1606DBB2605A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0B2AA8-A7BB-4699-8BF7-2D06B0069650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F2099C4-D541-413A-9CEB-9DE8E484BC12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DA1CC0B-C904-4D00-9D6A-2F32E1617495}"/>
              </a:ext>
            </a:extLst>
          </p:cNvPr>
          <p:cNvSpPr>
            <a:spLocks noGrp="1"/>
          </p:cNvSpPr>
          <p:nvPr/>
        </p:nvSpPr>
        <p:spPr>
          <a:xfrm>
            <a:off x="809625" y="1666875"/>
            <a:ext cx="523875" cy="523875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9FBC4E7F-C471-4A9D-944F-FEE8CC1CB818}"/>
              </a:ext>
            </a:extLst>
          </p:cNvPr>
          <p:cNvSpPr>
            <a:spLocks noGrp="1"/>
          </p:cNvSpPr>
          <p:nvPr/>
        </p:nvSpPr>
        <p:spPr>
          <a:xfrm>
            <a:off x="80962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11DDD26-D43C-47E6-8D21-2AA112F3DE20}"/>
              </a:ext>
            </a:extLst>
          </p:cNvPr>
          <p:cNvSpPr>
            <a:spLocks noGrp="1"/>
          </p:cNvSpPr>
          <p:nvPr/>
        </p:nvSpPr>
        <p:spPr>
          <a:xfrm>
            <a:off x="76200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Lower support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A12CB21-85E4-4FF7-8CAD-764EE72B6426}"/>
              </a:ext>
            </a:extLst>
          </p:cNvPr>
          <p:cNvSpPr>
            <a:spLocks noGrp="1"/>
          </p:cNvSpPr>
          <p:nvPr/>
        </p:nvSpPr>
        <p:spPr>
          <a:xfrm>
            <a:off x="76200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Worked first line, smaller step, vocabulary prompt and adult check.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923F395-7D39-4289-89D3-E86452D2EBD3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CB034FF0-7BE7-4EFB-BE38-C68AE6FE8C1F}"/>
              </a:ext>
            </a:extLst>
          </p:cNvPr>
          <p:cNvSpPr>
            <a:spLocks noGrp="1"/>
          </p:cNvSpPr>
          <p:nvPr/>
        </p:nvSpPr>
        <p:spPr>
          <a:xfrm>
            <a:off x="4286250" y="1666875"/>
            <a:ext cx="523875" cy="523875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36636C-97A9-498E-9494-7C6495C6B465}"/>
              </a:ext>
            </a:extLst>
          </p:cNvPr>
          <p:cNvSpPr>
            <a:spLocks noGrp="1"/>
          </p:cNvSpPr>
          <p:nvPr/>
        </p:nvSpPr>
        <p:spPr>
          <a:xfrm>
            <a:off x="4286250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CE9C1F0-1806-4435-AD1C-AA9C4CFB4EC2}"/>
              </a:ext>
            </a:extLst>
          </p:cNvPr>
          <p:cNvSpPr>
            <a:spLocks noGrp="1"/>
          </p:cNvSpPr>
          <p:nvPr/>
        </p:nvSpPr>
        <p:spPr>
          <a:xfrm>
            <a:off x="4238625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Expected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A90E8B8-A70C-41BE-8C40-8E018A3C8B1D}"/>
              </a:ext>
            </a:extLst>
          </p:cNvPr>
          <p:cNvSpPr>
            <a:spLocks noGrp="1"/>
          </p:cNvSpPr>
          <p:nvPr/>
        </p:nvSpPr>
        <p:spPr>
          <a:xfrm>
            <a:off x="4238625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Independent core calculation, complete method and reasonableness check.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3BF9EF1-9F5C-4B4F-A610-33DEC1441D40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8E7CC73-E3E9-48D7-BC69-D0AD99BC614F}"/>
              </a:ext>
            </a:extLst>
          </p:cNvPr>
          <p:cNvSpPr>
            <a:spLocks noGrp="1"/>
          </p:cNvSpPr>
          <p:nvPr/>
        </p:nvSpPr>
        <p:spPr>
          <a:xfrm>
            <a:off x="7762875" y="1666875"/>
            <a:ext cx="523875" cy="523875"/>
          </a:xfrm>
          <a:prstGeom prst="ellipse">
            <a:avLst/>
          </a:prstGeom>
          <a:solidFill>
            <a:srgbClr val="2F785D"/>
          </a:solidFill>
          <a:ln w="0">
            <a:noFill/>
          </a:ln>
        </p:spPr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751483-A0B4-474F-A861-A81285B5AAF6}"/>
              </a:ext>
            </a:extLst>
          </p:cNvPr>
          <p:cNvSpPr>
            <a:spLocks noGrp="1"/>
          </p:cNvSpPr>
          <p:nvPr/>
        </p:nvSpPr>
        <p:spPr>
          <a:xfrm>
            <a:off x="7762875" y="1714500"/>
            <a:ext cx="523875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7349F07-D9AC-4A12-800D-5A56E39F65E2}"/>
              </a:ext>
            </a:extLst>
          </p:cNvPr>
          <p:cNvSpPr>
            <a:spLocks noGrp="1"/>
          </p:cNvSpPr>
          <p:nvPr/>
        </p:nvSpPr>
        <p:spPr>
          <a:xfrm>
            <a:off x="7715250" y="2476500"/>
            <a:ext cx="2857500" cy="495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Higher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107BFE-80B0-42E3-9CDC-78CDAB8D3823}"/>
              </a:ext>
            </a:extLst>
          </p:cNvPr>
          <p:cNvSpPr>
            <a:spLocks noGrp="1"/>
          </p:cNvSpPr>
          <p:nvPr/>
        </p:nvSpPr>
        <p:spPr>
          <a:xfrm>
            <a:off x="7715250" y="3162300"/>
            <a:ext cx="2857500" cy="12858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Reasoning, proof, comparison, creation or generalisation.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A174C23-E868-411D-850D-7C0948EE2C73}"/>
              </a:ext>
            </a:extLst>
          </p:cNvPr>
          <p:cNvSpPr>
            <a:spLocks noGrp="1"/>
          </p:cNvSpPr>
          <p:nvPr/>
        </p:nvSpPr>
        <p:spPr>
          <a:xfrm>
            <a:off x="1238250" y="5286375"/>
            <a:ext cx="9715500" cy="628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teacher selects today's route from current evidence. The full questions are in the worksheet pack.</a:t>
            </a:r>
          </a:p>
        </p:txBody>
      </p:sp>
    </p:spTree>
    <p:extLst>
      <p:ext uri="{BB962C8B-B14F-4D97-AF65-F5344CB8AC3E}">
        <p14:creationId xmlns:p14="http://schemas.microsoft.com/office/powerpoint/2010/main" val="1280979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8EC1A4AB-1693-4006-A190-E3F8C19446C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6342F5-34AF-450A-9BF2-3A50D3D9BE00}"/>
              </a:ext>
            </a:extLst>
          </p:cNvPr>
          <p:cNvSpPr>
            <a:spLocks noGrp="1"/>
          </p:cNvSpPr>
          <p:nvPr/>
        </p:nvSpPr>
        <p:spPr>
          <a:xfrm>
            <a:off x="552450" y="285750"/>
            <a:ext cx="7239000" cy="2667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0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YEAR 6 MATHS  |  AUTUMN  |  WEEK 1  |  DAY 5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E23449A-8E60-4E76-BC5C-2968FDF6CB9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5F289E1-00C6-4CD8-8DDC-E6852C1556D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300317-DF12-48ED-B984-9FB95DB0500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A70F236-1AFB-408A-B5E0-53D7D945BA63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7C408C-F8E6-4BF5-9285-AADE8349F31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8D5CC05-8350-43CB-86DC-8D233455E18D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9C45ABB-2820-4093-8F08-6015A49F863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A596A35-81F5-48D5-87D3-87D1F9D550B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Solve place-value problems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E6674D30-2105-4A7A-9A9E-4B724455CD47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BC1B8D0-B087-4D44-8985-043180D6FF3F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92065CE-B622-40C6-A4A6-994D7BCA8506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C7F42A6-43E9-4157-9ECE-1C9E148756B9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is 100,000 more than 6,945,120?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401477D9-9EF6-49B7-A329-2A9BFF9E3B8E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75AFA3A-B1EE-4F9A-95C8-2A910D068DD5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354401E-5DB8-47A3-9C10-897967B795FF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4C4019B-D673-4A95-A50D-0C1237096539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changes more than one digit when adding 100,000 to 6,945,120.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D30C57B6-1109-4D99-802F-6C1DDB2D0786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BADFB0CE-7EB7-439A-BB47-352C2EB865B7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F78D0C-78B2-4830-B067-45C64B304B68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5922C5E-E758-4E24-927B-5F28CC226886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AC1AE9E-F14D-4CD2-B887-055F496454BA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1471494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1370</Words>
  <Application>Microsoft Office PowerPoint</Application>
  <DocSecurity>0</DocSecurity>
  <PresentationFormat>Widescreen</PresentationFormat>
  <Paragraphs>171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2026-09-08T22:34:31Z</dcterms:created>
  <dcterms:modified xsi:type="dcterms:W3CDTF">2026-09-08T22:40:36Z</dcterms:modified>
</cp:coreProperties>
</file>