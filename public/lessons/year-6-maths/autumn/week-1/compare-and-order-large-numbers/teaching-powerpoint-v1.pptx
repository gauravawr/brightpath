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and order large numbers. Compare and order large numbers.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and order large numbers. I do. Compare the greatest place first. Move each whole number to its ordered position.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and order large numbers. You do. Pause before clicking. Let pupils try independently, then reveal and discuss every step. Compare the greatest place first. Move each whole number to its ordered position.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and order large numbers. I do. Compare the greatest place first. Move each whole number to its ordered position.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and order large numbers. You do. Pause before clicking. Let pupils try independently, then reveal and discuss every step. Compare the greatest place first. Move each whole number to its ordered position.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and order large numbers.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and order large numbers.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E8F7E8FD-04CA-4C8C-B7E6-AB93226B0B5E}"/>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Compare and order large numbers</a:t>
            </a:r>
          </a:p>
        </p:txBody>
      </p:sp>
      <p:sp>
        <p:nvSpPr>
          <p:cNvPr id="2" name="object-2">
            <a:extLst>
              <a:ext uri="{FF2B5EF4-FFF2-40B4-BE49-F238E27FC236}">
                <a16:creationId xmlns:a16="http://schemas.microsoft.com/office/drawing/2014/main" id="{35ED6F13-912C-4DD3-B872-E2BA07BD75B8}"/>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26A252C0-D9AB-454B-B946-7E59FF9A3EFB}"/>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9B00B6C0-3969-4EFB-9296-15E6E472211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and order large numbers</a:t>
            </a:r>
          </a:p>
        </p:txBody>
      </p:sp>
      <p:sp>
        <p:nvSpPr>
          <p:cNvPr id="5" name="object-5">
            <a:extLst>
              <a:ext uri="{FF2B5EF4-FFF2-40B4-BE49-F238E27FC236}">
                <a16:creationId xmlns:a16="http://schemas.microsoft.com/office/drawing/2014/main" id="{A0721FA3-7DF2-494F-B4FB-F2824DEB7C9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4517E6A9-23E8-4860-842C-B72D17259ECA}"/>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compare and order numbers up to 10,000,000.</a:t>
            </a:r>
          </a:p>
        </p:txBody>
      </p:sp>
    </p:spTree>
    <p:extLst>
      <p:ext uri="{BB962C8B-B14F-4D97-AF65-F5344CB8AC3E}">
        <p14:creationId xmlns:p14="http://schemas.microsoft.com/office/powerpoint/2010/main" val="3482020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object-1">
            <a:extLst>
              <a:ext uri="{FF2B5EF4-FFF2-40B4-BE49-F238E27FC236}">
                <a16:creationId xmlns:a16="http://schemas.microsoft.com/office/drawing/2014/main" id="{5479137B-3E7C-49B3-A488-855FE40A29E0}"/>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D368F7CC-2577-42A3-95D9-4CDAABC1A56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Put these numbers in order, smallest first: 5,906,120, 5,960,102.</a:t>
            </a:r>
          </a:p>
        </p:txBody>
      </p:sp>
      <p:sp>
        <p:nvSpPr>
          <p:cNvPr id="3" name="object-3">
            <a:extLst>
              <a:ext uri="{FF2B5EF4-FFF2-40B4-BE49-F238E27FC236}">
                <a16:creationId xmlns:a16="http://schemas.microsoft.com/office/drawing/2014/main" id="{B376BAD0-0244-4118-9D9C-87055128CA69}"/>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24FF6865-9C50-480E-8206-48705EC44FEB}"/>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and order large numbers</a:t>
            </a:r>
          </a:p>
        </p:txBody>
      </p:sp>
      <p:sp>
        <p:nvSpPr>
          <p:cNvPr id="5" name="object-5">
            <a:extLst>
              <a:ext uri="{FF2B5EF4-FFF2-40B4-BE49-F238E27FC236}">
                <a16:creationId xmlns:a16="http://schemas.microsoft.com/office/drawing/2014/main" id="{A60A1700-60A1-4E2C-AD1E-8841B1AE0A6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53E140FA-39E2-4D76-81E2-31321389542E}"/>
              </a:ext>
            </a:extLst>
          </p:cNvPr>
          <p:cNvSpPr>
            <a:spLocks noGrp="1"/>
          </p:cNvSpPr>
          <p:nvPr/>
        </p:nvSpPr>
        <p:spPr>
          <a:xfrm>
            <a:off x="1071563" y="2976563"/>
            <a:ext cx="5238750"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5,906,120</a:t>
            </a:r>
          </a:p>
        </p:txBody>
      </p:sp>
      <p:sp>
        <p:nvSpPr>
          <p:cNvPr id="7" name="object-7">
            <a:extLst>
              <a:ext uri="{FF2B5EF4-FFF2-40B4-BE49-F238E27FC236}">
                <a16:creationId xmlns:a16="http://schemas.microsoft.com/office/drawing/2014/main" id="{B2C73B93-E34D-4708-AF12-357C6CDBB672}"/>
              </a:ext>
            </a:extLst>
          </p:cNvPr>
          <p:cNvSpPr>
            <a:spLocks noGrp="1"/>
          </p:cNvSpPr>
          <p:nvPr/>
        </p:nvSpPr>
        <p:spPr>
          <a:xfrm>
            <a:off x="6548438" y="2976563"/>
            <a:ext cx="5238750"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5,960,102</a:t>
            </a:r>
          </a:p>
        </p:txBody>
      </p:sp>
      <p:sp>
        <p:nvSpPr>
          <p:cNvPr id="8" name="object-8">
            <a:extLst>
              <a:ext uri="{FF2B5EF4-FFF2-40B4-BE49-F238E27FC236}">
                <a16:creationId xmlns:a16="http://schemas.microsoft.com/office/drawing/2014/main" id="{C6F14D61-B80F-4F25-8A30-80892D454CBA}"/>
              </a:ext>
            </a:extLst>
          </p:cNvPr>
          <p:cNvSpPr>
            <a:spLocks noGrp="1"/>
          </p:cNvSpPr>
          <p:nvPr/>
        </p:nvSpPr>
        <p:spPr>
          <a:xfrm>
            <a:off x="6012656" y="5322094"/>
            <a:ext cx="654844" cy="773906"/>
          </a:xfrm>
          <a:prstGeom prst="rect">
            <a:avLst/>
          </a:prstGeom>
          <a:noFill/>
          <a:ln w="0">
            <a:noFill/>
          </a:ln>
        </p:spPr>
        <p:txBody>
          <a:bodyPr anchor="ctr">
            <a:noAutofit/>
          </a:bodyPr>
          <a:lstStyle/>
          <a:p>
            <a:pPr algn="ctr">
              <a:defRPr sz="3938" b="1">
                <a:solidFill>
                  <a:srgbClr val="172B4D"/>
                </a:solidFill>
                <a:latin typeface="Arial"/>
                <a:ea typeface="Arial"/>
                <a:cs typeface="Arial"/>
              </a:defRPr>
            </a:pPr>
            <a:r>
              <a:rPr sz="3938" b="1">
                <a:solidFill>
                  <a:srgbClr val="172B4D"/>
                </a:solidFill>
                <a:latin typeface="Arial"/>
                <a:ea typeface="Arial"/>
                <a:cs typeface="Arial"/>
              </a:rPr>
              <a:t>&lt;</a:t>
            </a:r>
          </a:p>
        </p:txBody>
      </p:sp>
      <p:sp>
        <p:nvSpPr>
          <p:cNvPr id="9" name="object-9">
            <a:extLst>
              <a:ext uri="{FF2B5EF4-FFF2-40B4-BE49-F238E27FC236}">
                <a16:creationId xmlns:a16="http://schemas.microsoft.com/office/drawing/2014/main" id="{B8C96114-811C-4172-A375-17880E440FB1}"/>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Compare from the greatest place. Stop at the first different digit.</a:t>
            </a:r>
          </a:p>
        </p:txBody>
      </p:sp>
    </p:spTree>
    <p:extLst>
      <p:ext uri="{BB962C8B-B14F-4D97-AF65-F5344CB8AC3E}">
        <p14:creationId xmlns:p14="http://schemas.microsoft.com/office/powerpoint/2010/main" val="726531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grpId="0" nodeType="clickEffect">
                                  <p:stCondLst>
                                    <p:cond delay="0"/>
                                  </p:stCondLst>
                                  <p:childTnLst>
                                    <p:animMotion origin="layout" path="M 0 0 L 0 0.26388889 E" pathEditMode="relative" ptsTypes="">
                                      <p:cBhvr>
                                        <p:cTn id="6" dur="800" fill="hold"/>
                                        <p:tgtEl>
                                          <p:spTgt spid="6"/>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grpId="0" nodeType="clickEffect">
                                  <p:stCondLst>
                                    <p:cond delay="0"/>
                                  </p:stCondLst>
                                  <p:childTnLst>
                                    <p:animMotion origin="layout" path="M 0 0 L 0 0.26388889 E" pathEditMode="relative" ptsTypes="">
                                      <p:cBhvr>
                                        <p:cTn id="10" dur="800" fill="hold"/>
                                        <p:tgtEl>
                                          <p:spTgt spid="7"/>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object-1">
            <a:extLst>
              <a:ext uri="{FF2B5EF4-FFF2-40B4-BE49-F238E27FC236}">
                <a16:creationId xmlns:a16="http://schemas.microsoft.com/office/drawing/2014/main" id="{C018C3D9-7C99-448A-9AB3-D39B813129C5}"/>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96A130EA-2DB8-483E-BA85-D14C90388444}"/>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8185C357-AFB8-4E3B-9E15-E26CA4FCEE1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Put these numbers in order, smallest first: 6,006,120, 6,060,102.</a:t>
            </a:r>
          </a:p>
        </p:txBody>
      </p:sp>
      <p:sp>
        <p:nvSpPr>
          <p:cNvPr id="4" name="object-4">
            <a:extLst>
              <a:ext uri="{FF2B5EF4-FFF2-40B4-BE49-F238E27FC236}">
                <a16:creationId xmlns:a16="http://schemas.microsoft.com/office/drawing/2014/main" id="{1C304D6E-6E36-48CE-8352-4BA6BFD305E5}"/>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A7F93A39-FF69-43DF-B52C-D0CAF321C9B3}"/>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and order large numbers</a:t>
            </a:r>
          </a:p>
        </p:txBody>
      </p:sp>
      <p:sp>
        <p:nvSpPr>
          <p:cNvPr id="6" name="object-6">
            <a:extLst>
              <a:ext uri="{FF2B5EF4-FFF2-40B4-BE49-F238E27FC236}">
                <a16:creationId xmlns:a16="http://schemas.microsoft.com/office/drawing/2014/main" id="{ED3E4AF6-7978-445A-9BB9-6F2D2770D925}"/>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617072B6-25F6-4BD0-AFD7-D714402BAB2B}"/>
              </a:ext>
            </a:extLst>
          </p:cNvPr>
          <p:cNvSpPr>
            <a:spLocks noGrp="1"/>
          </p:cNvSpPr>
          <p:nvPr/>
        </p:nvSpPr>
        <p:spPr>
          <a:xfrm>
            <a:off x="1071563" y="2976563"/>
            <a:ext cx="5238750"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6,006,120</a:t>
            </a:r>
          </a:p>
        </p:txBody>
      </p:sp>
      <p:sp>
        <p:nvSpPr>
          <p:cNvPr id="8" name="object-8">
            <a:extLst>
              <a:ext uri="{FF2B5EF4-FFF2-40B4-BE49-F238E27FC236}">
                <a16:creationId xmlns:a16="http://schemas.microsoft.com/office/drawing/2014/main" id="{FA839BCF-ADFA-4052-89EB-FD80D91ABE08}"/>
              </a:ext>
            </a:extLst>
          </p:cNvPr>
          <p:cNvSpPr>
            <a:spLocks noGrp="1"/>
          </p:cNvSpPr>
          <p:nvPr/>
        </p:nvSpPr>
        <p:spPr>
          <a:xfrm>
            <a:off x="6548438" y="2976563"/>
            <a:ext cx="5238750"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6,060,102</a:t>
            </a:r>
          </a:p>
        </p:txBody>
      </p:sp>
      <p:sp>
        <p:nvSpPr>
          <p:cNvPr id="9" name="object-9">
            <a:extLst>
              <a:ext uri="{FF2B5EF4-FFF2-40B4-BE49-F238E27FC236}">
                <a16:creationId xmlns:a16="http://schemas.microsoft.com/office/drawing/2014/main" id="{EBF251A7-DDF1-4323-85DF-E1DA826F0E9B}"/>
              </a:ext>
            </a:extLst>
          </p:cNvPr>
          <p:cNvSpPr>
            <a:spLocks noGrp="1"/>
          </p:cNvSpPr>
          <p:nvPr/>
        </p:nvSpPr>
        <p:spPr>
          <a:xfrm>
            <a:off x="6012656" y="5322094"/>
            <a:ext cx="654844" cy="773906"/>
          </a:xfrm>
          <a:prstGeom prst="rect">
            <a:avLst/>
          </a:prstGeom>
          <a:noFill/>
          <a:ln w="0">
            <a:noFill/>
          </a:ln>
        </p:spPr>
        <p:txBody>
          <a:bodyPr anchor="ctr">
            <a:noAutofit/>
          </a:bodyPr>
          <a:lstStyle/>
          <a:p>
            <a:pPr algn="ctr">
              <a:defRPr sz="3938" b="1">
                <a:solidFill>
                  <a:srgbClr val="172B4D"/>
                </a:solidFill>
                <a:latin typeface="Arial"/>
                <a:ea typeface="Arial"/>
                <a:cs typeface="Arial"/>
              </a:defRPr>
            </a:pPr>
            <a:r>
              <a:rPr sz="3938" b="1">
                <a:solidFill>
                  <a:srgbClr val="172B4D"/>
                </a:solidFill>
                <a:latin typeface="Arial"/>
                <a:ea typeface="Arial"/>
                <a:cs typeface="Arial"/>
              </a:rPr>
              <a:t>&lt;</a:t>
            </a:r>
          </a:p>
        </p:txBody>
      </p:sp>
      <p:sp>
        <p:nvSpPr>
          <p:cNvPr id="10" name="object-10">
            <a:extLst>
              <a:ext uri="{FF2B5EF4-FFF2-40B4-BE49-F238E27FC236}">
                <a16:creationId xmlns:a16="http://schemas.microsoft.com/office/drawing/2014/main" id="{5FFB04C8-A755-4D79-857D-406928ADB6FB}"/>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Compare from the greatest place. Stop at the first different digit.</a:t>
            </a:r>
          </a:p>
        </p:txBody>
      </p:sp>
    </p:spTree>
    <p:extLst>
      <p:ext uri="{BB962C8B-B14F-4D97-AF65-F5344CB8AC3E}">
        <p14:creationId xmlns:p14="http://schemas.microsoft.com/office/powerpoint/2010/main" val="16220801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grpId="0" nodeType="clickEffect">
                                  <p:stCondLst>
                                    <p:cond delay="0"/>
                                  </p:stCondLst>
                                  <p:childTnLst>
                                    <p:animMotion origin="layout" path="M 0 0 L 0 0.26388889 E" pathEditMode="relative" ptsTypes="">
                                      <p:cBhvr>
                                        <p:cTn id="6" dur="800" fill="hold"/>
                                        <p:tgtEl>
                                          <p:spTgt spid="7"/>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grpId="0" nodeType="clickEffect">
                                  <p:stCondLst>
                                    <p:cond delay="0"/>
                                  </p:stCondLst>
                                  <p:childTnLst>
                                    <p:animMotion origin="layout" path="M 0 0 L 0 0.26388889 E" pathEditMode="relative" ptsTypes="">
                                      <p:cBhvr>
                                        <p:cTn id="10" dur="800" fill="hold"/>
                                        <p:tgtEl>
                                          <p:spTgt spid="8"/>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object-1">
            <a:extLst>
              <a:ext uri="{FF2B5EF4-FFF2-40B4-BE49-F238E27FC236}">
                <a16:creationId xmlns:a16="http://schemas.microsoft.com/office/drawing/2014/main" id="{59FDD642-1926-439E-9854-BED28A42B697}"/>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F7D4C5EF-8E22-4C8F-986C-4C629EAE025A}"/>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Put these numbers in order, smallest first: 6,106,120, 6,160,102.</a:t>
            </a:r>
          </a:p>
        </p:txBody>
      </p:sp>
      <p:sp>
        <p:nvSpPr>
          <p:cNvPr id="3" name="object-3">
            <a:extLst>
              <a:ext uri="{FF2B5EF4-FFF2-40B4-BE49-F238E27FC236}">
                <a16:creationId xmlns:a16="http://schemas.microsoft.com/office/drawing/2014/main" id="{0B935897-2970-40E1-A31C-10B50E6C07F6}"/>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DDE2CE04-560A-4AB6-AB72-349BCFF1DE2B}"/>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and order large numbers</a:t>
            </a:r>
          </a:p>
        </p:txBody>
      </p:sp>
      <p:sp>
        <p:nvSpPr>
          <p:cNvPr id="5" name="object-5">
            <a:extLst>
              <a:ext uri="{FF2B5EF4-FFF2-40B4-BE49-F238E27FC236}">
                <a16:creationId xmlns:a16="http://schemas.microsoft.com/office/drawing/2014/main" id="{4291EBCA-34E5-453A-B3F6-7DC5A43933D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BC3CFCB0-4509-46BF-8608-4EDEBB04B451}"/>
              </a:ext>
            </a:extLst>
          </p:cNvPr>
          <p:cNvSpPr>
            <a:spLocks noGrp="1"/>
          </p:cNvSpPr>
          <p:nvPr/>
        </p:nvSpPr>
        <p:spPr>
          <a:xfrm>
            <a:off x="1071563" y="2976563"/>
            <a:ext cx="5238750"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6,106,120</a:t>
            </a:r>
          </a:p>
        </p:txBody>
      </p:sp>
      <p:sp>
        <p:nvSpPr>
          <p:cNvPr id="7" name="object-7">
            <a:extLst>
              <a:ext uri="{FF2B5EF4-FFF2-40B4-BE49-F238E27FC236}">
                <a16:creationId xmlns:a16="http://schemas.microsoft.com/office/drawing/2014/main" id="{D937072B-8FBF-4DB8-8D9E-0F4AB54BA1F5}"/>
              </a:ext>
            </a:extLst>
          </p:cNvPr>
          <p:cNvSpPr>
            <a:spLocks noGrp="1"/>
          </p:cNvSpPr>
          <p:nvPr/>
        </p:nvSpPr>
        <p:spPr>
          <a:xfrm>
            <a:off x="6548438" y="2976563"/>
            <a:ext cx="5238750"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6,160,102</a:t>
            </a:r>
          </a:p>
        </p:txBody>
      </p:sp>
      <p:sp>
        <p:nvSpPr>
          <p:cNvPr id="8" name="object-8">
            <a:extLst>
              <a:ext uri="{FF2B5EF4-FFF2-40B4-BE49-F238E27FC236}">
                <a16:creationId xmlns:a16="http://schemas.microsoft.com/office/drawing/2014/main" id="{C7DA8F2E-D08F-41FE-9A14-A59BD5C75B93}"/>
              </a:ext>
            </a:extLst>
          </p:cNvPr>
          <p:cNvSpPr>
            <a:spLocks noGrp="1"/>
          </p:cNvSpPr>
          <p:nvPr/>
        </p:nvSpPr>
        <p:spPr>
          <a:xfrm>
            <a:off x="6012656" y="5322094"/>
            <a:ext cx="654844" cy="773906"/>
          </a:xfrm>
          <a:prstGeom prst="rect">
            <a:avLst/>
          </a:prstGeom>
          <a:noFill/>
          <a:ln w="0">
            <a:noFill/>
          </a:ln>
        </p:spPr>
        <p:txBody>
          <a:bodyPr anchor="ctr">
            <a:noAutofit/>
          </a:bodyPr>
          <a:lstStyle/>
          <a:p>
            <a:pPr algn="ctr">
              <a:defRPr sz="3938" b="1">
                <a:solidFill>
                  <a:srgbClr val="172B4D"/>
                </a:solidFill>
                <a:latin typeface="Arial"/>
                <a:ea typeface="Arial"/>
                <a:cs typeface="Arial"/>
              </a:defRPr>
            </a:pPr>
            <a:r>
              <a:rPr sz="3938" b="1">
                <a:solidFill>
                  <a:srgbClr val="172B4D"/>
                </a:solidFill>
                <a:latin typeface="Arial"/>
                <a:ea typeface="Arial"/>
                <a:cs typeface="Arial"/>
              </a:rPr>
              <a:t>&lt;</a:t>
            </a:r>
          </a:p>
        </p:txBody>
      </p:sp>
      <p:sp>
        <p:nvSpPr>
          <p:cNvPr id="9" name="object-9">
            <a:extLst>
              <a:ext uri="{FF2B5EF4-FFF2-40B4-BE49-F238E27FC236}">
                <a16:creationId xmlns:a16="http://schemas.microsoft.com/office/drawing/2014/main" id="{7A08FDD4-2DC2-4B26-9E23-D498EE0A273F}"/>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Compare from the greatest place. Stop at the first different digit.</a:t>
            </a:r>
          </a:p>
        </p:txBody>
      </p:sp>
    </p:spTree>
    <p:extLst>
      <p:ext uri="{BB962C8B-B14F-4D97-AF65-F5344CB8AC3E}">
        <p14:creationId xmlns:p14="http://schemas.microsoft.com/office/powerpoint/2010/main" val="1708173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grpId="0" nodeType="clickEffect">
                                  <p:stCondLst>
                                    <p:cond delay="0"/>
                                  </p:stCondLst>
                                  <p:childTnLst>
                                    <p:animMotion origin="layout" path="M 0 0 L 0 0.26388889 E" pathEditMode="relative" ptsTypes="">
                                      <p:cBhvr>
                                        <p:cTn id="6" dur="800" fill="hold"/>
                                        <p:tgtEl>
                                          <p:spTgt spid="6"/>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grpId="0" nodeType="clickEffect">
                                  <p:stCondLst>
                                    <p:cond delay="0"/>
                                  </p:stCondLst>
                                  <p:childTnLst>
                                    <p:animMotion origin="layout" path="M 0 0 L 0 0.26388889 E" pathEditMode="relative" ptsTypes="">
                                      <p:cBhvr>
                                        <p:cTn id="10" dur="800" fill="hold"/>
                                        <p:tgtEl>
                                          <p:spTgt spid="7"/>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object-1">
            <a:extLst>
              <a:ext uri="{FF2B5EF4-FFF2-40B4-BE49-F238E27FC236}">
                <a16:creationId xmlns:a16="http://schemas.microsoft.com/office/drawing/2014/main" id="{5F5663F5-3C67-48D2-B7BB-DDF93617BF24}"/>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DC755B89-7F91-43B7-BC9B-47BD6D7FF2E1}"/>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D8BB187A-348F-4398-96D3-8ECEF1CDBD4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Put these numbers in order, smallest first: 6,206,120, 6,260,102.</a:t>
            </a:r>
          </a:p>
        </p:txBody>
      </p:sp>
      <p:sp>
        <p:nvSpPr>
          <p:cNvPr id="4" name="object-4">
            <a:extLst>
              <a:ext uri="{FF2B5EF4-FFF2-40B4-BE49-F238E27FC236}">
                <a16:creationId xmlns:a16="http://schemas.microsoft.com/office/drawing/2014/main" id="{71B8E7AD-E113-4275-BA00-572724173B6F}"/>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DB5A1D65-1716-45FD-AADF-39915AB2543A}"/>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and order large numbers</a:t>
            </a:r>
          </a:p>
        </p:txBody>
      </p:sp>
      <p:sp>
        <p:nvSpPr>
          <p:cNvPr id="6" name="object-6">
            <a:extLst>
              <a:ext uri="{FF2B5EF4-FFF2-40B4-BE49-F238E27FC236}">
                <a16:creationId xmlns:a16="http://schemas.microsoft.com/office/drawing/2014/main" id="{A5DE4256-199E-4A4F-A9EE-588F4A6AADB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0918BAAF-6855-4A9B-90F9-BDA968BD83C6}"/>
              </a:ext>
            </a:extLst>
          </p:cNvPr>
          <p:cNvSpPr>
            <a:spLocks noGrp="1"/>
          </p:cNvSpPr>
          <p:nvPr/>
        </p:nvSpPr>
        <p:spPr>
          <a:xfrm>
            <a:off x="1071563" y="2976563"/>
            <a:ext cx="5238750"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6,206,120</a:t>
            </a:r>
          </a:p>
        </p:txBody>
      </p:sp>
      <p:sp>
        <p:nvSpPr>
          <p:cNvPr id="8" name="object-8">
            <a:extLst>
              <a:ext uri="{FF2B5EF4-FFF2-40B4-BE49-F238E27FC236}">
                <a16:creationId xmlns:a16="http://schemas.microsoft.com/office/drawing/2014/main" id="{5D3D48C4-EC51-4835-949D-FFBA039CADCD}"/>
              </a:ext>
            </a:extLst>
          </p:cNvPr>
          <p:cNvSpPr>
            <a:spLocks noGrp="1"/>
          </p:cNvSpPr>
          <p:nvPr/>
        </p:nvSpPr>
        <p:spPr>
          <a:xfrm>
            <a:off x="6548438" y="2976563"/>
            <a:ext cx="5238750"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6,260,102</a:t>
            </a:r>
          </a:p>
        </p:txBody>
      </p:sp>
      <p:sp>
        <p:nvSpPr>
          <p:cNvPr id="9" name="object-9">
            <a:extLst>
              <a:ext uri="{FF2B5EF4-FFF2-40B4-BE49-F238E27FC236}">
                <a16:creationId xmlns:a16="http://schemas.microsoft.com/office/drawing/2014/main" id="{DFCCB266-CCB8-46FF-BF23-5DBFDC33A7A9}"/>
              </a:ext>
            </a:extLst>
          </p:cNvPr>
          <p:cNvSpPr>
            <a:spLocks noGrp="1"/>
          </p:cNvSpPr>
          <p:nvPr/>
        </p:nvSpPr>
        <p:spPr>
          <a:xfrm>
            <a:off x="6012656" y="5322094"/>
            <a:ext cx="654844" cy="773906"/>
          </a:xfrm>
          <a:prstGeom prst="rect">
            <a:avLst/>
          </a:prstGeom>
          <a:noFill/>
          <a:ln w="0">
            <a:noFill/>
          </a:ln>
        </p:spPr>
        <p:txBody>
          <a:bodyPr anchor="ctr">
            <a:noAutofit/>
          </a:bodyPr>
          <a:lstStyle/>
          <a:p>
            <a:pPr algn="ctr">
              <a:defRPr sz="3938" b="1">
                <a:solidFill>
                  <a:srgbClr val="172B4D"/>
                </a:solidFill>
                <a:latin typeface="Arial"/>
                <a:ea typeface="Arial"/>
                <a:cs typeface="Arial"/>
              </a:defRPr>
            </a:pPr>
            <a:r>
              <a:rPr sz="3938" b="1">
                <a:solidFill>
                  <a:srgbClr val="172B4D"/>
                </a:solidFill>
                <a:latin typeface="Arial"/>
                <a:ea typeface="Arial"/>
                <a:cs typeface="Arial"/>
              </a:rPr>
              <a:t>&lt;</a:t>
            </a:r>
          </a:p>
        </p:txBody>
      </p:sp>
      <p:sp>
        <p:nvSpPr>
          <p:cNvPr id="10" name="object-10">
            <a:extLst>
              <a:ext uri="{FF2B5EF4-FFF2-40B4-BE49-F238E27FC236}">
                <a16:creationId xmlns:a16="http://schemas.microsoft.com/office/drawing/2014/main" id="{E52166DF-AC49-4A11-A3E2-8FD7BBBA05B5}"/>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Compare from the greatest place. Stop at the first different digit.</a:t>
            </a:r>
          </a:p>
        </p:txBody>
      </p:sp>
    </p:spTree>
    <p:extLst>
      <p:ext uri="{BB962C8B-B14F-4D97-AF65-F5344CB8AC3E}">
        <p14:creationId xmlns:p14="http://schemas.microsoft.com/office/powerpoint/2010/main" val="843781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grpId="0" nodeType="clickEffect">
                                  <p:stCondLst>
                                    <p:cond delay="0"/>
                                  </p:stCondLst>
                                  <p:childTnLst>
                                    <p:animMotion origin="layout" path="M 0 0 L 0 0.26388889 E" pathEditMode="relative" ptsTypes="">
                                      <p:cBhvr>
                                        <p:cTn id="6" dur="800" fill="hold"/>
                                        <p:tgtEl>
                                          <p:spTgt spid="7"/>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grpId="0" nodeType="clickEffect">
                                  <p:stCondLst>
                                    <p:cond delay="0"/>
                                  </p:stCondLst>
                                  <p:childTnLst>
                                    <p:animMotion origin="layout" path="M 0 0 L 0 0.26388889 E" pathEditMode="relative" ptsTypes="">
                                      <p:cBhvr>
                                        <p:cTn id="10" dur="800" fill="hold"/>
                                        <p:tgtEl>
                                          <p:spTgt spid="8"/>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EFFC3033-03E3-4835-B569-11F33A626117}"/>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BB2AE75B-98F2-4C12-A871-89418A77BFDC}"/>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BD04AB3A-F043-47A1-9397-FCCEB7A3D3C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786858AF-D7E2-4CFF-B88B-AFCD7BAFB32A}"/>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BF807E8C-C2B0-4D90-B03B-A8112801DCD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and order large numbers</a:t>
            </a:r>
          </a:p>
        </p:txBody>
      </p:sp>
      <p:sp>
        <p:nvSpPr>
          <p:cNvPr id="6" name="object-6">
            <a:extLst>
              <a:ext uri="{FF2B5EF4-FFF2-40B4-BE49-F238E27FC236}">
                <a16:creationId xmlns:a16="http://schemas.microsoft.com/office/drawing/2014/main" id="{6BD08A75-5C9A-4EEB-9587-B30F688CBF5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96C6FFF0-1FAF-4055-95B7-34DFE536F544}"/>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4505ED0C-1FBE-4FB8-9CD0-EF3B40ACE31F}"/>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Compare 5,906,120 and 5,960,102.</a:t>
            </a:r>
          </a:p>
        </p:txBody>
      </p:sp>
      <p:sp>
        <p:nvSpPr>
          <p:cNvPr id="9" name="object-9">
            <a:extLst>
              <a:ext uri="{FF2B5EF4-FFF2-40B4-BE49-F238E27FC236}">
                <a16:creationId xmlns:a16="http://schemas.microsoft.com/office/drawing/2014/main" id="{1D613BC4-05D2-4276-8FDD-C7D4642BCC1F}"/>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7D109F42-EC23-4FF7-8D20-5FF5470C6F49}"/>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Order 7,405,090, 7,450,009 and 7,045,900 from least to greatest.</a:t>
            </a:r>
          </a:p>
        </p:txBody>
      </p:sp>
      <p:sp>
        <p:nvSpPr>
          <p:cNvPr id="11" name="object-11">
            <a:extLst>
              <a:ext uri="{FF2B5EF4-FFF2-40B4-BE49-F238E27FC236}">
                <a16:creationId xmlns:a16="http://schemas.microsoft.com/office/drawing/2014/main" id="{FB9E0962-ACE8-4FDB-88BB-5E8BC98993DA}"/>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DAEF7815-DFB4-4E7F-9380-D20E8F4BEE2C}"/>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Insert &lt;, &gt; or =: 9,099,999 __ 9,100,001.</a:t>
            </a:r>
          </a:p>
        </p:txBody>
      </p:sp>
      <p:sp>
        <p:nvSpPr>
          <p:cNvPr id="13" name="object-13">
            <a:extLst>
              <a:ext uri="{FF2B5EF4-FFF2-40B4-BE49-F238E27FC236}">
                <a16:creationId xmlns:a16="http://schemas.microsoft.com/office/drawing/2014/main" id="{E04B6CEC-8063-4B33-BB91-3768BF4E3F73}"/>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30E1A4CF-DF2C-4950-9D49-1290CF84DE78}"/>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Compare 5,906,120 and 5,960,102.</a:t>
            </a:r>
          </a:p>
        </p:txBody>
      </p:sp>
      <p:sp>
        <p:nvSpPr>
          <p:cNvPr id="15" name="object-15">
            <a:extLst>
              <a:ext uri="{FF2B5EF4-FFF2-40B4-BE49-F238E27FC236}">
                <a16:creationId xmlns:a16="http://schemas.microsoft.com/office/drawing/2014/main" id="{EB572B03-2E06-421F-B15B-294A2151EC0F}"/>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1FE4B84B-CAA7-4C68-A342-C88ABE053159}"/>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Order 7,405,090, 7,450,009 and 7,045,900 from least to greatest.</a:t>
            </a:r>
          </a:p>
        </p:txBody>
      </p:sp>
      <p:sp>
        <p:nvSpPr>
          <p:cNvPr id="17" name="object-17">
            <a:extLst>
              <a:ext uri="{FF2B5EF4-FFF2-40B4-BE49-F238E27FC236}">
                <a16:creationId xmlns:a16="http://schemas.microsoft.com/office/drawing/2014/main" id="{3AF92533-3FB8-4FF4-8419-5A604740C581}"/>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00E393F2-784A-4665-934D-9F6657CED2A1}"/>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Insert &lt;, &gt; or =: 9,099,999 __ 9,100,001.</a:t>
            </a:r>
          </a:p>
        </p:txBody>
      </p:sp>
      <p:sp>
        <p:nvSpPr>
          <p:cNvPr id="19" name="object-19">
            <a:extLst>
              <a:ext uri="{FF2B5EF4-FFF2-40B4-BE49-F238E27FC236}">
                <a16:creationId xmlns:a16="http://schemas.microsoft.com/office/drawing/2014/main" id="{0ECBB32F-9FDE-411F-8F40-0F63E7761B82}"/>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6EC01039-9B23-4510-BE37-667B6BA5BB38}"/>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Find a whole number that lies between 6,799,999 and 6,800,010.</a:t>
            </a:r>
          </a:p>
        </p:txBody>
      </p:sp>
      <p:sp>
        <p:nvSpPr>
          <p:cNvPr id="21" name="object-21">
            <a:extLst>
              <a:ext uri="{FF2B5EF4-FFF2-40B4-BE49-F238E27FC236}">
                <a16:creationId xmlns:a16="http://schemas.microsoft.com/office/drawing/2014/main" id="{1BC3C8ED-625F-4835-9D47-2B3A7FD4F914}"/>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33C0DD1D-BC4C-4037-B4C1-AA7CDEA0DAFB}"/>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compares the final digits first because they are on the right.</a:t>
            </a:r>
          </a:p>
        </p:txBody>
      </p:sp>
      <p:sp>
        <p:nvSpPr>
          <p:cNvPr id="23" name="object-23">
            <a:extLst>
              <a:ext uri="{FF2B5EF4-FFF2-40B4-BE49-F238E27FC236}">
                <a16:creationId xmlns:a16="http://schemas.microsoft.com/office/drawing/2014/main" id="{A6FCE80D-3BAD-4DA9-85D0-03B0E8FC1B54}"/>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EB4448CB-F862-44CC-94A8-49A413F1CECA}"/>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514F72A5-25B4-44D9-9C5F-66C42A1EF13E}"/>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2260006D-5249-4A70-BED8-871CF3A89EAF}"/>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Insert &lt;, &gt; or =: 9,099,999 __ 9,100,001.</a:t>
            </a:r>
          </a:p>
        </p:txBody>
      </p:sp>
    </p:spTree>
    <p:extLst>
      <p:ext uri="{BB962C8B-B14F-4D97-AF65-F5344CB8AC3E}">
        <p14:creationId xmlns:p14="http://schemas.microsoft.com/office/powerpoint/2010/main" val="10439822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FCC5C520-1082-4CC2-9252-DB026204A257}"/>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6E305103-5A60-40BF-A773-1423C606BD5C}"/>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1B9C55E8-9910-4A42-8843-E8EC7712BC5F}"/>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2C4858BC-D0FB-4C66-824C-080075250D4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and order large numbers</a:t>
            </a:r>
          </a:p>
        </p:txBody>
      </p:sp>
      <p:sp>
        <p:nvSpPr>
          <p:cNvPr id="5" name="object-5">
            <a:extLst>
              <a:ext uri="{FF2B5EF4-FFF2-40B4-BE49-F238E27FC236}">
                <a16:creationId xmlns:a16="http://schemas.microsoft.com/office/drawing/2014/main" id="{06A33D16-E8E3-4013-BE1C-F35F11B2D96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E0600905-155B-4B83-80C1-B55363943E1B}"/>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715F0EBE-A07C-4FC4-BC38-7A89F11A40A1}"/>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5,906,120 &lt; 5,960,102.</a:t>
            </a:r>
          </a:p>
        </p:txBody>
      </p:sp>
      <p:sp>
        <p:nvSpPr>
          <p:cNvPr id="8" name="object-8">
            <a:extLst>
              <a:ext uri="{FF2B5EF4-FFF2-40B4-BE49-F238E27FC236}">
                <a16:creationId xmlns:a16="http://schemas.microsoft.com/office/drawing/2014/main" id="{E4442809-1409-4D8F-8ADF-25B4C88A6087}"/>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77FA842D-CD5B-49B1-A674-7449BE21EDDD}"/>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7,045,900, 7,405,090, 7,450,009.</a:t>
            </a:r>
          </a:p>
        </p:txBody>
      </p:sp>
      <p:sp>
        <p:nvSpPr>
          <p:cNvPr id="10" name="object-10">
            <a:extLst>
              <a:ext uri="{FF2B5EF4-FFF2-40B4-BE49-F238E27FC236}">
                <a16:creationId xmlns:a16="http://schemas.microsoft.com/office/drawing/2014/main" id="{77B3C1F0-6F3B-4377-A962-7E75B478465B}"/>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A10FD03D-DD2F-41DD-B050-2E3FCBFE7146}"/>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9,099,999 &lt; 9,100,001.</a:t>
            </a:r>
          </a:p>
        </p:txBody>
      </p:sp>
      <p:sp>
        <p:nvSpPr>
          <p:cNvPr id="12" name="object-12">
            <a:extLst>
              <a:ext uri="{FF2B5EF4-FFF2-40B4-BE49-F238E27FC236}">
                <a16:creationId xmlns:a16="http://schemas.microsoft.com/office/drawing/2014/main" id="{4DEA5032-3147-4EA2-8E71-18470287564E}"/>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49065785-BDB0-435E-ADA7-CE2229C5FCA4}"/>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5,906,120 &lt; 5,960,102.</a:t>
            </a:r>
          </a:p>
        </p:txBody>
      </p:sp>
      <p:sp>
        <p:nvSpPr>
          <p:cNvPr id="14" name="object-14">
            <a:extLst>
              <a:ext uri="{FF2B5EF4-FFF2-40B4-BE49-F238E27FC236}">
                <a16:creationId xmlns:a16="http://schemas.microsoft.com/office/drawing/2014/main" id="{FB8C6F8F-FB7D-4395-9720-0ED5B35BDA6A}"/>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0EA34FA1-8B43-40BA-A033-D0F0F3C04007}"/>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7,045,900, 7,405,090, 7,450,009. Method or representation may vary.</a:t>
            </a:r>
          </a:p>
        </p:txBody>
      </p:sp>
      <p:sp>
        <p:nvSpPr>
          <p:cNvPr id="16" name="object-16">
            <a:extLst>
              <a:ext uri="{FF2B5EF4-FFF2-40B4-BE49-F238E27FC236}">
                <a16:creationId xmlns:a16="http://schemas.microsoft.com/office/drawing/2014/main" id="{917F164F-EFB8-428D-BC96-4A1EFAC36655}"/>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B41170B5-D7C8-4736-9C40-9D403D08E1F1}"/>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9,099,999 &lt; 9,100,001. A valid check must be shown.</a:t>
            </a:r>
          </a:p>
        </p:txBody>
      </p:sp>
      <p:sp>
        <p:nvSpPr>
          <p:cNvPr id="18" name="object-18">
            <a:extLst>
              <a:ext uri="{FF2B5EF4-FFF2-40B4-BE49-F238E27FC236}">
                <a16:creationId xmlns:a16="http://schemas.microsoft.com/office/drawing/2014/main" id="{E6DB16C5-BC63-4A9D-8E44-A51A5EAA4588}"/>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738A8D7D-D677-45C7-9819-E129069FECEA}"/>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Any integer from 6,800,000 to 6,800,009, for example 6,800,004.</a:t>
            </a:r>
          </a:p>
        </p:txBody>
      </p:sp>
      <p:sp>
        <p:nvSpPr>
          <p:cNvPr id="20" name="object-20">
            <a:extLst>
              <a:ext uri="{FF2B5EF4-FFF2-40B4-BE49-F238E27FC236}">
                <a16:creationId xmlns:a16="http://schemas.microsoft.com/office/drawing/2014/main" id="{903B4F13-1ED7-4927-8E5B-E68D56DFB28A}"/>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CFE79FB1-1A9C-40FE-BF66-EF79A009FB25}"/>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Compare from the greatest place value on the left and stop at the first different digit.</a:t>
            </a:r>
          </a:p>
        </p:txBody>
      </p:sp>
      <p:sp>
        <p:nvSpPr>
          <p:cNvPr id="22" name="object-22">
            <a:extLst>
              <a:ext uri="{FF2B5EF4-FFF2-40B4-BE49-F238E27FC236}">
                <a16:creationId xmlns:a16="http://schemas.microsoft.com/office/drawing/2014/main" id="{584DC21F-0D61-4BA3-AB6E-DBB5B332AEBD}"/>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D1A10E84-5CD3-4942-B814-8D6952A027ED}"/>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117A40A7-25B7-4673-A5E8-8F7E05310309}"/>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5FB7F721-A4FC-48ED-A9A1-5496122FB096}"/>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134720658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941</Words>
  <Application>Microsoft Office PowerPoint</Application>
  <DocSecurity>0</DocSecurity>
  <PresentationFormat>Custom</PresentationFormat>
  <Paragraphs>102</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2026-09-14T13:14:12Z</dcterms:created>
  <dcterms:modified xsi:type="dcterms:W3CDTF">2026-09-14T13:15:01Z</dcterms:modified>
</cp:coreProperties>
</file>