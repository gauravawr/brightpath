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and write numbers to ten million. Read and write numbers to ten million.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and write numbers to ten million. I do. Move each digit from the number into its place-value column. Read the three-digit periods.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and write numbers to ten million. You do. Pause before clicking. Let pupils try independently, then reveal and discuss every step. Move each digit from the number into its place-value column. Read the three-digit periods.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and write numbers to ten million. I do. Move each digit from the number into its place-value column. Read the three-digit periods.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and write numbers to ten million. You do. Pause before clicking. Let pupils try independently, then reveal and discuss every step. Move each digit from the number into its place-value column. Read the three-digit periods.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and write numbers to ten million.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and write numbers to ten million.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44B459D5-6EB3-4AC3-B87E-EB1A31CC1A94}"/>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Read and write numbers to ten million</a:t>
            </a:r>
          </a:p>
        </p:txBody>
      </p:sp>
      <p:sp>
        <p:nvSpPr>
          <p:cNvPr id="2" name="object-2">
            <a:extLst>
              <a:ext uri="{FF2B5EF4-FFF2-40B4-BE49-F238E27FC236}">
                <a16:creationId xmlns:a16="http://schemas.microsoft.com/office/drawing/2014/main" id="{D6E8C665-1E36-4748-A4E7-16ED6CA24AF4}"/>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6098C917-5994-45FC-81AF-98B99FB36F01}"/>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73966E4A-0E64-48E7-8ED5-22D7B024C1C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Read and write numbers to ten million</a:t>
            </a:r>
          </a:p>
        </p:txBody>
      </p:sp>
      <p:sp>
        <p:nvSpPr>
          <p:cNvPr id="5" name="object-5">
            <a:extLst>
              <a:ext uri="{FF2B5EF4-FFF2-40B4-BE49-F238E27FC236}">
                <a16:creationId xmlns:a16="http://schemas.microsoft.com/office/drawing/2014/main" id="{F413BF25-2D06-42E8-98B1-94DCE69DAA5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DF5E488C-7EDB-4168-86BF-7DF2BBE13622}"/>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read and write numbers up to 10,000,000 accurately.</a:t>
            </a:r>
          </a:p>
        </p:txBody>
      </p:sp>
    </p:spTree>
    <p:extLst>
      <p:ext uri="{BB962C8B-B14F-4D97-AF65-F5344CB8AC3E}">
        <p14:creationId xmlns:p14="http://schemas.microsoft.com/office/powerpoint/2010/main" val="450779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object-1">
            <a:extLst>
              <a:ext uri="{FF2B5EF4-FFF2-40B4-BE49-F238E27FC236}">
                <a16:creationId xmlns:a16="http://schemas.microsoft.com/office/drawing/2014/main" id="{1DC1B3D9-44A0-431A-AA9F-F9E05A98BA1C}"/>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9EA7933B-A304-4092-9C3E-6326C16BB0EF}"/>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Read 6,407,215. What does each digit represent?</a:t>
            </a:r>
          </a:p>
        </p:txBody>
      </p:sp>
      <p:sp>
        <p:nvSpPr>
          <p:cNvPr id="3" name="object-3">
            <a:extLst>
              <a:ext uri="{FF2B5EF4-FFF2-40B4-BE49-F238E27FC236}">
                <a16:creationId xmlns:a16="http://schemas.microsoft.com/office/drawing/2014/main" id="{E6FF9A29-CEE5-4490-A876-72DEE85BF341}"/>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34E9C727-45DB-4A94-862A-7EB640489A9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Read and write numbers to ten million</a:t>
            </a:r>
          </a:p>
        </p:txBody>
      </p:sp>
      <p:sp>
        <p:nvSpPr>
          <p:cNvPr id="5" name="object-5">
            <a:extLst>
              <a:ext uri="{FF2B5EF4-FFF2-40B4-BE49-F238E27FC236}">
                <a16:creationId xmlns:a16="http://schemas.microsoft.com/office/drawing/2014/main" id="{B7A6793C-9CA3-4CA9-A271-37812880B26D}"/>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3DA67C2F-04A3-4C6A-966D-C3C6B4DEDC82}"/>
              </a:ext>
            </a:extLst>
          </p:cNvPr>
          <p:cNvSpPr>
            <a:spLocks noGrp="1"/>
          </p:cNvSpPr>
          <p:nvPr/>
        </p:nvSpPr>
        <p:spPr>
          <a:xfrm>
            <a:off x="833438" y="3988594"/>
            <a:ext cx="1939018" cy="1785938"/>
          </a:xfrm>
          <a:prstGeom prst="rect">
            <a:avLst/>
          </a:prstGeom>
          <a:solidFill>
            <a:srgbClr val="EFF6FF"/>
          </a:solidFill>
          <a:ln w="11906">
            <a:solidFill>
              <a:srgbClr val="BCD0EA"/>
            </a:solidFill>
          </a:ln>
        </p:spPr>
      </p:sp>
      <p:sp>
        <p:nvSpPr>
          <p:cNvPr id="7" name="object-7">
            <a:extLst>
              <a:ext uri="{FF2B5EF4-FFF2-40B4-BE49-F238E27FC236}">
                <a16:creationId xmlns:a16="http://schemas.microsoft.com/office/drawing/2014/main" id="{0BB8D8CA-1D94-4792-8922-DCD0B41F02B7}"/>
              </a:ext>
            </a:extLst>
          </p:cNvPr>
          <p:cNvSpPr>
            <a:spLocks noGrp="1"/>
          </p:cNvSpPr>
          <p:nvPr/>
        </p:nvSpPr>
        <p:spPr>
          <a:xfrm>
            <a:off x="833438"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millions</a:t>
            </a:r>
          </a:p>
        </p:txBody>
      </p:sp>
      <p:sp>
        <p:nvSpPr>
          <p:cNvPr id="8" name="object-8">
            <a:extLst>
              <a:ext uri="{FF2B5EF4-FFF2-40B4-BE49-F238E27FC236}">
                <a16:creationId xmlns:a16="http://schemas.microsoft.com/office/drawing/2014/main" id="{B8D8BAF0-BA05-42E1-B0ED-7AC17C6DEFAF}"/>
              </a:ext>
            </a:extLst>
          </p:cNvPr>
          <p:cNvSpPr>
            <a:spLocks noGrp="1"/>
          </p:cNvSpPr>
          <p:nvPr/>
        </p:nvSpPr>
        <p:spPr>
          <a:xfrm>
            <a:off x="833438"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6</a:t>
            </a:r>
          </a:p>
        </p:txBody>
      </p:sp>
      <p:sp>
        <p:nvSpPr>
          <p:cNvPr id="9" name="object-9">
            <a:extLst>
              <a:ext uri="{FF2B5EF4-FFF2-40B4-BE49-F238E27FC236}">
                <a16:creationId xmlns:a16="http://schemas.microsoft.com/office/drawing/2014/main" id="{79864991-1A04-41C1-9F7E-2729BB841770}"/>
              </a:ext>
            </a:extLst>
          </p:cNvPr>
          <p:cNvSpPr>
            <a:spLocks noGrp="1"/>
          </p:cNvSpPr>
          <p:nvPr/>
        </p:nvSpPr>
        <p:spPr>
          <a:xfrm>
            <a:off x="2772455" y="3988594"/>
            <a:ext cx="1939018" cy="1785938"/>
          </a:xfrm>
          <a:prstGeom prst="rect">
            <a:avLst/>
          </a:prstGeom>
          <a:solidFill>
            <a:srgbClr val="EFF6FF"/>
          </a:solidFill>
          <a:ln w="11906">
            <a:solidFill>
              <a:srgbClr val="BCD0EA"/>
            </a:solidFill>
          </a:ln>
        </p:spPr>
      </p:sp>
      <p:sp>
        <p:nvSpPr>
          <p:cNvPr id="10" name="object-10">
            <a:extLst>
              <a:ext uri="{FF2B5EF4-FFF2-40B4-BE49-F238E27FC236}">
                <a16:creationId xmlns:a16="http://schemas.microsoft.com/office/drawing/2014/main" id="{FF92B8F1-966D-4C91-B778-7C416A496C9A}"/>
              </a:ext>
            </a:extLst>
          </p:cNvPr>
          <p:cNvSpPr>
            <a:spLocks noGrp="1"/>
          </p:cNvSpPr>
          <p:nvPr/>
        </p:nvSpPr>
        <p:spPr>
          <a:xfrm>
            <a:off x="2772455"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hundred</a:t>
            </a:r>
          </a:p>
          <a:p>
            <a:pPr algn="ctr">
              <a:defRPr sz="1781" b="0">
                <a:solidFill>
                  <a:srgbClr val="52647A"/>
                </a:solidFill>
                <a:latin typeface="Arial"/>
                <a:ea typeface="Arial"/>
                <a:cs typeface="Arial"/>
              </a:defRPr>
            </a:pPr>
            <a:r>
              <a:rPr sz="1781" b="0">
                <a:solidFill>
                  <a:srgbClr val="52647A"/>
                </a:solidFill>
                <a:latin typeface="Arial"/>
                <a:ea typeface="Arial"/>
                <a:cs typeface="Arial"/>
              </a:rPr>
              <a:t>thousands</a:t>
            </a:r>
          </a:p>
        </p:txBody>
      </p:sp>
      <p:sp>
        <p:nvSpPr>
          <p:cNvPr id="11" name="object-11">
            <a:extLst>
              <a:ext uri="{FF2B5EF4-FFF2-40B4-BE49-F238E27FC236}">
                <a16:creationId xmlns:a16="http://schemas.microsoft.com/office/drawing/2014/main" id="{E57ACFF2-C051-43DD-91A4-F212E6326A46}"/>
              </a:ext>
            </a:extLst>
          </p:cNvPr>
          <p:cNvSpPr>
            <a:spLocks noGrp="1"/>
          </p:cNvSpPr>
          <p:nvPr/>
        </p:nvSpPr>
        <p:spPr>
          <a:xfrm>
            <a:off x="2772455"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4</a:t>
            </a:r>
          </a:p>
        </p:txBody>
      </p:sp>
      <p:sp>
        <p:nvSpPr>
          <p:cNvPr id="12" name="object-12">
            <a:extLst>
              <a:ext uri="{FF2B5EF4-FFF2-40B4-BE49-F238E27FC236}">
                <a16:creationId xmlns:a16="http://schemas.microsoft.com/office/drawing/2014/main" id="{A783B7B9-9C97-4009-A86C-7FE276054037}"/>
              </a:ext>
            </a:extLst>
          </p:cNvPr>
          <p:cNvSpPr>
            <a:spLocks noGrp="1"/>
          </p:cNvSpPr>
          <p:nvPr/>
        </p:nvSpPr>
        <p:spPr>
          <a:xfrm>
            <a:off x="4711473" y="3988594"/>
            <a:ext cx="1939018" cy="1785938"/>
          </a:xfrm>
          <a:prstGeom prst="rect">
            <a:avLst/>
          </a:prstGeom>
          <a:solidFill>
            <a:srgbClr val="EFF6FF"/>
          </a:solidFill>
          <a:ln w="11906">
            <a:solidFill>
              <a:srgbClr val="BCD0EA"/>
            </a:solidFill>
          </a:ln>
        </p:spPr>
      </p:sp>
      <p:sp>
        <p:nvSpPr>
          <p:cNvPr id="13" name="object-13">
            <a:extLst>
              <a:ext uri="{FF2B5EF4-FFF2-40B4-BE49-F238E27FC236}">
                <a16:creationId xmlns:a16="http://schemas.microsoft.com/office/drawing/2014/main" id="{17630A3F-48D5-46D9-9034-6B6B3E73D53B}"/>
              </a:ext>
            </a:extLst>
          </p:cNvPr>
          <p:cNvSpPr>
            <a:spLocks noGrp="1"/>
          </p:cNvSpPr>
          <p:nvPr/>
        </p:nvSpPr>
        <p:spPr>
          <a:xfrm>
            <a:off x="4711473"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ten</a:t>
            </a:r>
          </a:p>
          <a:p>
            <a:pPr algn="ctr">
              <a:defRPr sz="1781" b="0">
                <a:solidFill>
                  <a:srgbClr val="52647A"/>
                </a:solidFill>
                <a:latin typeface="Arial"/>
                <a:ea typeface="Arial"/>
                <a:cs typeface="Arial"/>
              </a:defRPr>
            </a:pPr>
            <a:r>
              <a:rPr sz="1781" b="0">
                <a:solidFill>
                  <a:srgbClr val="52647A"/>
                </a:solidFill>
                <a:latin typeface="Arial"/>
                <a:ea typeface="Arial"/>
                <a:cs typeface="Arial"/>
              </a:rPr>
              <a:t>thousands</a:t>
            </a:r>
          </a:p>
        </p:txBody>
      </p:sp>
      <p:sp>
        <p:nvSpPr>
          <p:cNvPr id="14" name="object-14">
            <a:extLst>
              <a:ext uri="{FF2B5EF4-FFF2-40B4-BE49-F238E27FC236}">
                <a16:creationId xmlns:a16="http://schemas.microsoft.com/office/drawing/2014/main" id="{6AC6EC44-8F9C-4340-9881-9D9796012B9F}"/>
              </a:ext>
            </a:extLst>
          </p:cNvPr>
          <p:cNvSpPr>
            <a:spLocks noGrp="1"/>
          </p:cNvSpPr>
          <p:nvPr/>
        </p:nvSpPr>
        <p:spPr>
          <a:xfrm>
            <a:off x="4711473"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0</a:t>
            </a:r>
          </a:p>
        </p:txBody>
      </p:sp>
      <p:sp>
        <p:nvSpPr>
          <p:cNvPr id="15" name="object-15">
            <a:extLst>
              <a:ext uri="{FF2B5EF4-FFF2-40B4-BE49-F238E27FC236}">
                <a16:creationId xmlns:a16="http://schemas.microsoft.com/office/drawing/2014/main" id="{A4A224A7-70C2-41B4-B893-6A5F62AF1A68}"/>
              </a:ext>
            </a:extLst>
          </p:cNvPr>
          <p:cNvSpPr>
            <a:spLocks noGrp="1"/>
          </p:cNvSpPr>
          <p:nvPr/>
        </p:nvSpPr>
        <p:spPr>
          <a:xfrm>
            <a:off x="6650491" y="3988594"/>
            <a:ext cx="1939018" cy="1785938"/>
          </a:xfrm>
          <a:prstGeom prst="rect">
            <a:avLst/>
          </a:prstGeom>
          <a:solidFill>
            <a:srgbClr val="EFF6FF"/>
          </a:solidFill>
          <a:ln w="11906">
            <a:solidFill>
              <a:srgbClr val="BCD0EA"/>
            </a:solidFill>
          </a:ln>
        </p:spPr>
      </p:sp>
      <p:sp>
        <p:nvSpPr>
          <p:cNvPr id="16" name="object-16">
            <a:extLst>
              <a:ext uri="{FF2B5EF4-FFF2-40B4-BE49-F238E27FC236}">
                <a16:creationId xmlns:a16="http://schemas.microsoft.com/office/drawing/2014/main" id="{C065D7E6-EE36-454B-B3A4-C65D4AB3EBD8}"/>
              </a:ext>
            </a:extLst>
          </p:cNvPr>
          <p:cNvSpPr>
            <a:spLocks noGrp="1"/>
          </p:cNvSpPr>
          <p:nvPr/>
        </p:nvSpPr>
        <p:spPr>
          <a:xfrm>
            <a:off x="6650491"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thousands</a:t>
            </a:r>
          </a:p>
        </p:txBody>
      </p:sp>
      <p:sp>
        <p:nvSpPr>
          <p:cNvPr id="17" name="object-17">
            <a:extLst>
              <a:ext uri="{FF2B5EF4-FFF2-40B4-BE49-F238E27FC236}">
                <a16:creationId xmlns:a16="http://schemas.microsoft.com/office/drawing/2014/main" id="{5DB01373-B546-492D-921C-8858F207A823}"/>
              </a:ext>
            </a:extLst>
          </p:cNvPr>
          <p:cNvSpPr>
            <a:spLocks noGrp="1"/>
          </p:cNvSpPr>
          <p:nvPr/>
        </p:nvSpPr>
        <p:spPr>
          <a:xfrm>
            <a:off x="6650491"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7</a:t>
            </a:r>
          </a:p>
        </p:txBody>
      </p:sp>
      <p:sp>
        <p:nvSpPr>
          <p:cNvPr id="18" name="object-18">
            <a:extLst>
              <a:ext uri="{FF2B5EF4-FFF2-40B4-BE49-F238E27FC236}">
                <a16:creationId xmlns:a16="http://schemas.microsoft.com/office/drawing/2014/main" id="{8A35FD9E-69EE-4C1D-83E5-41BC9C2332A6}"/>
              </a:ext>
            </a:extLst>
          </p:cNvPr>
          <p:cNvSpPr>
            <a:spLocks noGrp="1"/>
          </p:cNvSpPr>
          <p:nvPr/>
        </p:nvSpPr>
        <p:spPr>
          <a:xfrm>
            <a:off x="8589509" y="3988594"/>
            <a:ext cx="1939018" cy="1785938"/>
          </a:xfrm>
          <a:prstGeom prst="rect">
            <a:avLst/>
          </a:prstGeom>
          <a:solidFill>
            <a:srgbClr val="EFF6FF"/>
          </a:solidFill>
          <a:ln w="11906">
            <a:solidFill>
              <a:srgbClr val="BCD0EA"/>
            </a:solidFill>
          </a:ln>
        </p:spPr>
      </p:sp>
      <p:sp>
        <p:nvSpPr>
          <p:cNvPr id="19" name="object-19">
            <a:extLst>
              <a:ext uri="{FF2B5EF4-FFF2-40B4-BE49-F238E27FC236}">
                <a16:creationId xmlns:a16="http://schemas.microsoft.com/office/drawing/2014/main" id="{86ABBEC3-3035-45E8-AACF-784070C79076}"/>
              </a:ext>
            </a:extLst>
          </p:cNvPr>
          <p:cNvSpPr>
            <a:spLocks noGrp="1"/>
          </p:cNvSpPr>
          <p:nvPr/>
        </p:nvSpPr>
        <p:spPr>
          <a:xfrm>
            <a:off x="8589509"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hundreds</a:t>
            </a:r>
          </a:p>
        </p:txBody>
      </p:sp>
      <p:sp>
        <p:nvSpPr>
          <p:cNvPr id="20" name="object-20">
            <a:extLst>
              <a:ext uri="{FF2B5EF4-FFF2-40B4-BE49-F238E27FC236}">
                <a16:creationId xmlns:a16="http://schemas.microsoft.com/office/drawing/2014/main" id="{2ADC9DBC-EDF6-42AD-97CB-0E932F348155}"/>
              </a:ext>
            </a:extLst>
          </p:cNvPr>
          <p:cNvSpPr>
            <a:spLocks noGrp="1"/>
          </p:cNvSpPr>
          <p:nvPr/>
        </p:nvSpPr>
        <p:spPr>
          <a:xfrm>
            <a:off x="8589509"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2</a:t>
            </a:r>
          </a:p>
        </p:txBody>
      </p:sp>
      <p:sp>
        <p:nvSpPr>
          <p:cNvPr id="21" name="object-21">
            <a:extLst>
              <a:ext uri="{FF2B5EF4-FFF2-40B4-BE49-F238E27FC236}">
                <a16:creationId xmlns:a16="http://schemas.microsoft.com/office/drawing/2014/main" id="{2D58389D-49F6-46B1-AEFA-A2D148C70422}"/>
              </a:ext>
            </a:extLst>
          </p:cNvPr>
          <p:cNvSpPr>
            <a:spLocks noGrp="1"/>
          </p:cNvSpPr>
          <p:nvPr/>
        </p:nvSpPr>
        <p:spPr>
          <a:xfrm>
            <a:off x="10528527" y="3988594"/>
            <a:ext cx="1939018" cy="1785938"/>
          </a:xfrm>
          <a:prstGeom prst="rect">
            <a:avLst/>
          </a:prstGeom>
          <a:solidFill>
            <a:srgbClr val="EFF6FF"/>
          </a:solidFill>
          <a:ln w="11906">
            <a:solidFill>
              <a:srgbClr val="BCD0EA"/>
            </a:solidFill>
          </a:ln>
        </p:spPr>
      </p:sp>
      <p:sp>
        <p:nvSpPr>
          <p:cNvPr id="22" name="object-22">
            <a:extLst>
              <a:ext uri="{FF2B5EF4-FFF2-40B4-BE49-F238E27FC236}">
                <a16:creationId xmlns:a16="http://schemas.microsoft.com/office/drawing/2014/main" id="{16366144-18BE-4188-88B4-279F3106DD23}"/>
              </a:ext>
            </a:extLst>
          </p:cNvPr>
          <p:cNvSpPr>
            <a:spLocks noGrp="1"/>
          </p:cNvSpPr>
          <p:nvPr/>
        </p:nvSpPr>
        <p:spPr>
          <a:xfrm>
            <a:off x="10528527"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tens</a:t>
            </a:r>
          </a:p>
        </p:txBody>
      </p:sp>
      <p:sp>
        <p:nvSpPr>
          <p:cNvPr id="23" name="object-23">
            <a:extLst>
              <a:ext uri="{FF2B5EF4-FFF2-40B4-BE49-F238E27FC236}">
                <a16:creationId xmlns:a16="http://schemas.microsoft.com/office/drawing/2014/main" id="{BCA2284E-5B75-4D7E-8474-A00CB3C3E2D7}"/>
              </a:ext>
            </a:extLst>
          </p:cNvPr>
          <p:cNvSpPr>
            <a:spLocks noGrp="1"/>
          </p:cNvSpPr>
          <p:nvPr/>
        </p:nvSpPr>
        <p:spPr>
          <a:xfrm>
            <a:off x="10528527"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1</a:t>
            </a:r>
          </a:p>
        </p:txBody>
      </p:sp>
      <p:sp>
        <p:nvSpPr>
          <p:cNvPr id="24" name="object-24">
            <a:extLst>
              <a:ext uri="{FF2B5EF4-FFF2-40B4-BE49-F238E27FC236}">
                <a16:creationId xmlns:a16="http://schemas.microsoft.com/office/drawing/2014/main" id="{7B8B566D-1A32-48F7-969A-ACFC44948DA9}"/>
              </a:ext>
            </a:extLst>
          </p:cNvPr>
          <p:cNvSpPr>
            <a:spLocks noGrp="1"/>
          </p:cNvSpPr>
          <p:nvPr/>
        </p:nvSpPr>
        <p:spPr>
          <a:xfrm>
            <a:off x="12467545" y="3988594"/>
            <a:ext cx="1939018" cy="1785938"/>
          </a:xfrm>
          <a:prstGeom prst="rect">
            <a:avLst/>
          </a:prstGeom>
          <a:solidFill>
            <a:srgbClr val="EFF6FF"/>
          </a:solidFill>
          <a:ln w="11906">
            <a:solidFill>
              <a:srgbClr val="BCD0EA"/>
            </a:solidFill>
          </a:ln>
        </p:spPr>
      </p:sp>
      <p:sp>
        <p:nvSpPr>
          <p:cNvPr id="25" name="object-25">
            <a:extLst>
              <a:ext uri="{FF2B5EF4-FFF2-40B4-BE49-F238E27FC236}">
                <a16:creationId xmlns:a16="http://schemas.microsoft.com/office/drawing/2014/main" id="{8487A2DF-A96C-4EC9-9494-25CF8736B494}"/>
              </a:ext>
            </a:extLst>
          </p:cNvPr>
          <p:cNvSpPr>
            <a:spLocks noGrp="1"/>
          </p:cNvSpPr>
          <p:nvPr/>
        </p:nvSpPr>
        <p:spPr>
          <a:xfrm>
            <a:off x="12467545"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ones</a:t>
            </a:r>
          </a:p>
        </p:txBody>
      </p:sp>
      <p:sp>
        <p:nvSpPr>
          <p:cNvPr id="26" name="object-26">
            <a:extLst>
              <a:ext uri="{FF2B5EF4-FFF2-40B4-BE49-F238E27FC236}">
                <a16:creationId xmlns:a16="http://schemas.microsoft.com/office/drawing/2014/main" id="{503C05C0-450F-4EE5-AC47-805B10DE9B5F}"/>
              </a:ext>
            </a:extLst>
          </p:cNvPr>
          <p:cNvSpPr>
            <a:spLocks noGrp="1"/>
          </p:cNvSpPr>
          <p:nvPr/>
        </p:nvSpPr>
        <p:spPr>
          <a:xfrm>
            <a:off x="12467545"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5</a:t>
            </a:r>
          </a:p>
        </p:txBody>
      </p:sp>
      <p:sp>
        <p:nvSpPr>
          <p:cNvPr id="27" name="object-27">
            <a:extLst>
              <a:ext uri="{FF2B5EF4-FFF2-40B4-BE49-F238E27FC236}">
                <a16:creationId xmlns:a16="http://schemas.microsoft.com/office/drawing/2014/main" id="{0A9EB548-8A9D-44CA-9661-59B3B96F99C2}"/>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6,000,000 + 400,000 + 7,000 + 200 + 10 + 5</a:t>
            </a:r>
          </a:p>
        </p:txBody>
      </p:sp>
    </p:spTree>
    <p:extLst>
      <p:ext uri="{BB962C8B-B14F-4D97-AF65-F5344CB8AC3E}">
        <p14:creationId xmlns:p14="http://schemas.microsoft.com/office/powerpoint/2010/main" val="84099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0 0 L 0 0.22916667 E" pathEditMode="relative" ptsTypes="">
                                      <p:cBhvr>
                                        <p:cTn id="6" dur="800" fill="hold"/>
                                        <p:tgtEl>
                                          <p:spTgt spid="8"/>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grpId="0" nodeType="clickEffect">
                                  <p:stCondLst>
                                    <p:cond delay="0"/>
                                  </p:stCondLst>
                                  <p:childTnLst>
                                    <p:animMotion origin="layout" path="M 0 0 L 0 0.22916667 E" pathEditMode="relative" ptsTypes="">
                                      <p:cBhvr>
                                        <p:cTn id="10" dur="800" fill="hold"/>
                                        <p:tgtEl>
                                          <p:spTgt spid="11"/>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grpId="0" nodeType="clickEffect">
                                  <p:stCondLst>
                                    <p:cond delay="0"/>
                                  </p:stCondLst>
                                  <p:childTnLst>
                                    <p:animMotion origin="layout" path="M 0 0 L 0 0.22916667 E" pathEditMode="relative" ptsTypes="">
                                      <p:cBhvr>
                                        <p:cTn id="14" dur="800" fill="hold"/>
                                        <p:tgtEl>
                                          <p:spTgt spid="14"/>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grpId="0" nodeType="clickEffect">
                                  <p:stCondLst>
                                    <p:cond delay="0"/>
                                  </p:stCondLst>
                                  <p:childTnLst>
                                    <p:animMotion origin="layout" path="M 0 0 L 0 0.22916667 E" pathEditMode="relative" ptsTypes="">
                                      <p:cBhvr>
                                        <p:cTn id="18" dur="800" fill="hold"/>
                                        <p:tgtEl>
                                          <p:spTgt spid="17"/>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grpId="0" nodeType="clickEffect">
                                  <p:stCondLst>
                                    <p:cond delay="0"/>
                                  </p:stCondLst>
                                  <p:childTnLst>
                                    <p:animMotion origin="layout" path="M 0 0 L 0 0.22916667 E" pathEditMode="relative" ptsTypes="">
                                      <p:cBhvr>
                                        <p:cTn id="22" dur="800" fill="hold"/>
                                        <p:tgtEl>
                                          <p:spTgt spid="20"/>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grpId="0" nodeType="clickEffect">
                                  <p:stCondLst>
                                    <p:cond delay="0"/>
                                  </p:stCondLst>
                                  <p:childTnLst>
                                    <p:animMotion origin="layout" path="M 0 0 L 0 0.22916667 E" pathEditMode="relative" ptsTypes="">
                                      <p:cBhvr>
                                        <p:cTn id="26" dur="800" fill="hold"/>
                                        <p:tgtEl>
                                          <p:spTgt spid="23"/>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grpId="0" nodeType="clickEffect">
                                  <p:stCondLst>
                                    <p:cond delay="0"/>
                                  </p:stCondLst>
                                  <p:childTnLst>
                                    <p:animMotion origin="layout" path="M 0 0 L 0 0.22916667 E" pathEditMode="relative" ptsTypes="">
                                      <p:cBhvr>
                                        <p:cTn id="30" dur="800" fill="hold"/>
                                        <p:tgtEl>
                                          <p:spTgt spid="26"/>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4" grpId="0"/>
      <p:bldP spid="17" grpId="0"/>
      <p:bldP spid="20" grpId="0"/>
      <p:bldP spid="23" grpId="0"/>
      <p:bldP spid="26" grpId="0"/>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object-1">
            <a:extLst>
              <a:ext uri="{FF2B5EF4-FFF2-40B4-BE49-F238E27FC236}">
                <a16:creationId xmlns:a16="http://schemas.microsoft.com/office/drawing/2014/main" id="{34C334C3-60D7-42AF-9E25-2A69E8F941A6}"/>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BBE0A898-9B99-4311-B9B6-34722E97AD20}"/>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00EA7565-3BD3-4040-A6CC-45F57B95651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Read 7,407,215. What does each digit represent?</a:t>
            </a:r>
          </a:p>
        </p:txBody>
      </p:sp>
      <p:sp>
        <p:nvSpPr>
          <p:cNvPr id="4" name="object-4">
            <a:extLst>
              <a:ext uri="{FF2B5EF4-FFF2-40B4-BE49-F238E27FC236}">
                <a16:creationId xmlns:a16="http://schemas.microsoft.com/office/drawing/2014/main" id="{41FB441E-A931-41B8-BCDC-0112FCBB526D}"/>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81BF84FB-8E95-4E15-A41F-B82CA2FFE809}"/>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Read and write numbers to ten million</a:t>
            </a:r>
          </a:p>
        </p:txBody>
      </p:sp>
      <p:sp>
        <p:nvSpPr>
          <p:cNvPr id="6" name="object-6">
            <a:extLst>
              <a:ext uri="{FF2B5EF4-FFF2-40B4-BE49-F238E27FC236}">
                <a16:creationId xmlns:a16="http://schemas.microsoft.com/office/drawing/2014/main" id="{701B54B3-BE59-4611-A59B-C2838660441F}"/>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E280223D-F787-4813-8036-D800A24F8088}"/>
              </a:ext>
            </a:extLst>
          </p:cNvPr>
          <p:cNvSpPr>
            <a:spLocks noGrp="1"/>
          </p:cNvSpPr>
          <p:nvPr/>
        </p:nvSpPr>
        <p:spPr>
          <a:xfrm>
            <a:off x="833438" y="3988594"/>
            <a:ext cx="1939018" cy="1785938"/>
          </a:xfrm>
          <a:prstGeom prst="rect">
            <a:avLst/>
          </a:prstGeom>
          <a:solidFill>
            <a:srgbClr val="EFF6FF"/>
          </a:solidFill>
          <a:ln w="11906">
            <a:solidFill>
              <a:srgbClr val="BCD0EA"/>
            </a:solidFill>
          </a:ln>
        </p:spPr>
      </p:sp>
      <p:sp>
        <p:nvSpPr>
          <p:cNvPr id="8" name="object-8">
            <a:extLst>
              <a:ext uri="{FF2B5EF4-FFF2-40B4-BE49-F238E27FC236}">
                <a16:creationId xmlns:a16="http://schemas.microsoft.com/office/drawing/2014/main" id="{2CAE5276-A131-408A-A350-5855B3FB2039}"/>
              </a:ext>
            </a:extLst>
          </p:cNvPr>
          <p:cNvSpPr>
            <a:spLocks noGrp="1"/>
          </p:cNvSpPr>
          <p:nvPr/>
        </p:nvSpPr>
        <p:spPr>
          <a:xfrm>
            <a:off x="833438"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millions</a:t>
            </a:r>
          </a:p>
        </p:txBody>
      </p:sp>
      <p:sp>
        <p:nvSpPr>
          <p:cNvPr id="9" name="object-9">
            <a:extLst>
              <a:ext uri="{FF2B5EF4-FFF2-40B4-BE49-F238E27FC236}">
                <a16:creationId xmlns:a16="http://schemas.microsoft.com/office/drawing/2014/main" id="{E74CBA7E-A6CC-409B-BE61-5066DD817B35}"/>
              </a:ext>
            </a:extLst>
          </p:cNvPr>
          <p:cNvSpPr>
            <a:spLocks noGrp="1"/>
          </p:cNvSpPr>
          <p:nvPr/>
        </p:nvSpPr>
        <p:spPr>
          <a:xfrm>
            <a:off x="833438"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7</a:t>
            </a:r>
          </a:p>
        </p:txBody>
      </p:sp>
      <p:sp>
        <p:nvSpPr>
          <p:cNvPr id="10" name="object-10">
            <a:extLst>
              <a:ext uri="{FF2B5EF4-FFF2-40B4-BE49-F238E27FC236}">
                <a16:creationId xmlns:a16="http://schemas.microsoft.com/office/drawing/2014/main" id="{7B027BF2-E3CF-4CFA-BE2C-F1E3088E427F}"/>
              </a:ext>
            </a:extLst>
          </p:cNvPr>
          <p:cNvSpPr>
            <a:spLocks noGrp="1"/>
          </p:cNvSpPr>
          <p:nvPr/>
        </p:nvSpPr>
        <p:spPr>
          <a:xfrm>
            <a:off x="2772455" y="3988594"/>
            <a:ext cx="1939018" cy="1785938"/>
          </a:xfrm>
          <a:prstGeom prst="rect">
            <a:avLst/>
          </a:prstGeom>
          <a:solidFill>
            <a:srgbClr val="EFF6FF"/>
          </a:solidFill>
          <a:ln w="11906">
            <a:solidFill>
              <a:srgbClr val="BCD0EA"/>
            </a:solidFill>
          </a:ln>
        </p:spPr>
      </p:sp>
      <p:sp>
        <p:nvSpPr>
          <p:cNvPr id="11" name="object-11">
            <a:extLst>
              <a:ext uri="{FF2B5EF4-FFF2-40B4-BE49-F238E27FC236}">
                <a16:creationId xmlns:a16="http://schemas.microsoft.com/office/drawing/2014/main" id="{F32810C5-73EA-4BAA-91B4-8F9616AA4FFA}"/>
              </a:ext>
            </a:extLst>
          </p:cNvPr>
          <p:cNvSpPr>
            <a:spLocks noGrp="1"/>
          </p:cNvSpPr>
          <p:nvPr/>
        </p:nvSpPr>
        <p:spPr>
          <a:xfrm>
            <a:off x="2772455"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hundred</a:t>
            </a:r>
          </a:p>
          <a:p>
            <a:pPr algn="ctr">
              <a:defRPr sz="1781" b="0">
                <a:solidFill>
                  <a:srgbClr val="52647A"/>
                </a:solidFill>
                <a:latin typeface="Arial"/>
                <a:ea typeface="Arial"/>
                <a:cs typeface="Arial"/>
              </a:defRPr>
            </a:pPr>
            <a:r>
              <a:rPr sz="1781" b="0">
                <a:solidFill>
                  <a:srgbClr val="52647A"/>
                </a:solidFill>
                <a:latin typeface="Arial"/>
                <a:ea typeface="Arial"/>
                <a:cs typeface="Arial"/>
              </a:rPr>
              <a:t>thousands</a:t>
            </a:r>
          </a:p>
        </p:txBody>
      </p:sp>
      <p:sp>
        <p:nvSpPr>
          <p:cNvPr id="12" name="object-12">
            <a:extLst>
              <a:ext uri="{FF2B5EF4-FFF2-40B4-BE49-F238E27FC236}">
                <a16:creationId xmlns:a16="http://schemas.microsoft.com/office/drawing/2014/main" id="{2BCB6AC8-B31F-4D74-BFE5-1DBA40AB5EA3}"/>
              </a:ext>
            </a:extLst>
          </p:cNvPr>
          <p:cNvSpPr>
            <a:spLocks noGrp="1"/>
          </p:cNvSpPr>
          <p:nvPr/>
        </p:nvSpPr>
        <p:spPr>
          <a:xfrm>
            <a:off x="2772455"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8C65B874-54CD-4529-9510-61114277D12F}"/>
              </a:ext>
            </a:extLst>
          </p:cNvPr>
          <p:cNvSpPr>
            <a:spLocks noGrp="1"/>
          </p:cNvSpPr>
          <p:nvPr/>
        </p:nvSpPr>
        <p:spPr>
          <a:xfrm>
            <a:off x="4711473" y="3988594"/>
            <a:ext cx="1939018" cy="1785938"/>
          </a:xfrm>
          <a:prstGeom prst="rect">
            <a:avLst/>
          </a:prstGeom>
          <a:solidFill>
            <a:srgbClr val="EFF6FF"/>
          </a:solidFill>
          <a:ln w="11906">
            <a:solidFill>
              <a:srgbClr val="BCD0EA"/>
            </a:solidFill>
          </a:ln>
        </p:spPr>
      </p:sp>
      <p:sp>
        <p:nvSpPr>
          <p:cNvPr id="14" name="object-14">
            <a:extLst>
              <a:ext uri="{FF2B5EF4-FFF2-40B4-BE49-F238E27FC236}">
                <a16:creationId xmlns:a16="http://schemas.microsoft.com/office/drawing/2014/main" id="{110B306A-A727-4579-B467-09C66B41FF85}"/>
              </a:ext>
            </a:extLst>
          </p:cNvPr>
          <p:cNvSpPr>
            <a:spLocks noGrp="1"/>
          </p:cNvSpPr>
          <p:nvPr/>
        </p:nvSpPr>
        <p:spPr>
          <a:xfrm>
            <a:off x="4711473"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ten</a:t>
            </a:r>
          </a:p>
          <a:p>
            <a:pPr algn="ctr">
              <a:defRPr sz="1781" b="0">
                <a:solidFill>
                  <a:srgbClr val="52647A"/>
                </a:solidFill>
                <a:latin typeface="Arial"/>
                <a:ea typeface="Arial"/>
                <a:cs typeface="Arial"/>
              </a:defRPr>
            </a:pPr>
            <a:r>
              <a:rPr sz="1781" b="0">
                <a:solidFill>
                  <a:srgbClr val="52647A"/>
                </a:solidFill>
                <a:latin typeface="Arial"/>
                <a:ea typeface="Arial"/>
                <a:cs typeface="Arial"/>
              </a:rPr>
              <a:t>thousands</a:t>
            </a:r>
          </a:p>
        </p:txBody>
      </p:sp>
      <p:sp>
        <p:nvSpPr>
          <p:cNvPr id="15" name="object-15">
            <a:extLst>
              <a:ext uri="{FF2B5EF4-FFF2-40B4-BE49-F238E27FC236}">
                <a16:creationId xmlns:a16="http://schemas.microsoft.com/office/drawing/2014/main" id="{F8FE047B-66BD-4EEB-8CB4-5A2D40DFC695}"/>
              </a:ext>
            </a:extLst>
          </p:cNvPr>
          <p:cNvSpPr>
            <a:spLocks noGrp="1"/>
          </p:cNvSpPr>
          <p:nvPr/>
        </p:nvSpPr>
        <p:spPr>
          <a:xfrm>
            <a:off x="4711473"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0</a:t>
            </a:r>
          </a:p>
        </p:txBody>
      </p:sp>
      <p:sp>
        <p:nvSpPr>
          <p:cNvPr id="16" name="object-16">
            <a:extLst>
              <a:ext uri="{FF2B5EF4-FFF2-40B4-BE49-F238E27FC236}">
                <a16:creationId xmlns:a16="http://schemas.microsoft.com/office/drawing/2014/main" id="{C88EB9C4-B4CB-4FF1-9937-2398B98CAFF9}"/>
              </a:ext>
            </a:extLst>
          </p:cNvPr>
          <p:cNvSpPr>
            <a:spLocks noGrp="1"/>
          </p:cNvSpPr>
          <p:nvPr/>
        </p:nvSpPr>
        <p:spPr>
          <a:xfrm>
            <a:off x="6650491" y="3988594"/>
            <a:ext cx="1939018" cy="1785938"/>
          </a:xfrm>
          <a:prstGeom prst="rect">
            <a:avLst/>
          </a:prstGeom>
          <a:solidFill>
            <a:srgbClr val="EFF6FF"/>
          </a:solidFill>
          <a:ln w="11906">
            <a:solidFill>
              <a:srgbClr val="BCD0EA"/>
            </a:solidFill>
          </a:ln>
        </p:spPr>
      </p:sp>
      <p:sp>
        <p:nvSpPr>
          <p:cNvPr id="17" name="object-17">
            <a:extLst>
              <a:ext uri="{FF2B5EF4-FFF2-40B4-BE49-F238E27FC236}">
                <a16:creationId xmlns:a16="http://schemas.microsoft.com/office/drawing/2014/main" id="{4EA27295-D46F-433D-AF9A-40E8836C05FC}"/>
              </a:ext>
            </a:extLst>
          </p:cNvPr>
          <p:cNvSpPr>
            <a:spLocks noGrp="1"/>
          </p:cNvSpPr>
          <p:nvPr/>
        </p:nvSpPr>
        <p:spPr>
          <a:xfrm>
            <a:off x="6650491"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thousands</a:t>
            </a:r>
          </a:p>
        </p:txBody>
      </p:sp>
      <p:sp>
        <p:nvSpPr>
          <p:cNvPr id="18" name="object-18">
            <a:extLst>
              <a:ext uri="{FF2B5EF4-FFF2-40B4-BE49-F238E27FC236}">
                <a16:creationId xmlns:a16="http://schemas.microsoft.com/office/drawing/2014/main" id="{69102EE2-2189-4C32-A363-45DE60E9633E}"/>
              </a:ext>
            </a:extLst>
          </p:cNvPr>
          <p:cNvSpPr>
            <a:spLocks noGrp="1"/>
          </p:cNvSpPr>
          <p:nvPr/>
        </p:nvSpPr>
        <p:spPr>
          <a:xfrm>
            <a:off x="6650491"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BC961113-E811-45B9-AF18-A68E94D55ACB}"/>
              </a:ext>
            </a:extLst>
          </p:cNvPr>
          <p:cNvSpPr>
            <a:spLocks noGrp="1"/>
          </p:cNvSpPr>
          <p:nvPr/>
        </p:nvSpPr>
        <p:spPr>
          <a:xfrm>
            <a:off x="8589509" y="3988594"/>
            <a:ext cx="1939018" cy="1785938"/>
          </a:xfrm>
          <a:prstGeom prst="rect">
            <a:avLst/>
          </a:prstGeom>
          <a:solidFill>
            <a:srgbClr val="EFF6FF"/>
          </a:solidFill>
          <a:ln w="11906">
            <a:solidFill>
              <a:srgbClr val="BCD0EA"/>
            </a:solidFill>
          </a:ln>
        </p:spPr>
      </p:sp>
      <p:sp>
        <p:nvSpPr>
          <p:cNvPr id="20" name="object-20">
            <a:extLst>
              <a:ext uri="{FF2B5EF4-FFF2-40B4-BE49-F238E27FC236}">
                <a16:creationId xmlns:a16="http://schemas.microsoft.com/office/drawing/2014/main" id="{C0B18702-F93D-4C45-8155-00D009B9E12E}"/>
              </a:ext>
            </a:extLst>
          </p:cNvPr>
          <p:cNvSpPr>
            <a:spLocks noGrp="1"/>
          </p:cNvSpPr>
          <p:nvPr/>
        </p:nvSpPr>
        <p:spPr>
          <a:xfrm>
            <a:off x="8589509"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hundreds</a:t>
            </a:r>
          </a:p>
        </p:txBody>
      </p:sp>
      <p:sp>
        <p:nvSpPr>
          <p:cNvPr id="21" name="object-21">
            <a:extLst>
              <a:ext uri="{FF2B5EF4-FFF2-40B4-BE49-F238E27FC236}">
                <a16:creationId xmlns:a16="http://schemas.microsoft.com/office/drawing/2014/main" id="{AA472C08-AADA-462C-89FE-A448568A7231}"/>
              </a:ext>
            </a:extLst>
          </p:cNvPr>
          <p:cNvSpPr>
            <a:spLocks noGrp="1"/>
          </p:cNvSpPr>
          <p:nvPr/>
        </p:nvSpPr>
        <p:spPr>
          <a:xfrm>
            <a:off x="8589509"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2</a:t>
            </a:r>
          </a:p>
        </p:txBody>
      </p:sp>
      <p:sp>
        <p:nvSpPr>
          <p:cNvPr id="22" name="object-22">
            <a:extLst>
              <a:ext uri="{FF2B5EF4-FFF2-40B4-BE49-F238E27FC236}">
                <a16:creationId xmlns:a16="http://schemas.microsoft.com/office/drawing/2014/main" id="{3B0E6D1C-E3CC-4BDC-BCA6-37EF2B896AA1}"/>
              </a:ext>
            </a:extLst>
          </p:cNvPr>
          <p:cNvSpPr>
            <a:spLocks noGrp="1"/>
          </p:cNvSpPr>
          <p:nvPr/>
        </p:nvSpPr>
        <p:spPr>
          <a:xfrm>
            <a:off x="10528527" y="3988594"/>
            <a:ext cx="1939018" cy="1785938"/>
          </a:xfrm>
          <a:prstGeom prst="rect">
            <a:avLst/>
          </a:prstGeom>
          <a:solidFill>
            <a:srgbClr val="EFF6FF"/>
          </a:solidFill>
          <a:ln w="11906">
            <a:solidFill>
              <a:srgbClr val="BCD0EA"/>
            </a:solidFill>
          </a:ln>
        </p:spPr>
      </p:sp>
      <p:sp>
        <p:nvSpPr>
          <p:cNvPr id="23" name="object-23">
            <a:extLst>
              <a:ext uri="{FF2B5EF4-FFF2-40B4-BE49-F238E27FC236}">
                <a16:creationId xmlns:a16="http://schemas.microsoft.com/office/drawing/2014/main" id="{FDB64C6F-FFF7-4DC9-AFA9-BD2F3858252E}"/>
              </a:ext>
            </a:extLst>
          </p:cNvPr>
          <p:cNvSpPr>
            <a:spLocks noGrp="1"/>
          </p:cNvSpPr>
          <p:nvPr/>
        </p:nvSpPr>
        <p:spPr>
          <a:xfrm>
            <a:off x="10528527"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tens</a:t>
            </a:r>
          </a:p>
        </p:txBody>
      </p:sp>
      <p:sp>
        <p:nvSpPr>
          <p:cNvPr id="24" name="object-24">
            <a:extLst>
              <a:ext uri="{FF2B5EF4-FFF2-40B4-BE49-F238E27FC236}">
                <a16:creationId xmlns:a16="http://schemas.microsoft.com/office/drawing/2014/main" id="{DBD34A0A-22AF-456A-8E25-59A4172478D5}"/>
              </a:ext>
            </a:extLst>
          </p:cNvPr>
          <p:cNvSpPr>
            <a:spLocks noGrp="1"/>
          </p:cNvSpPr>
          <p:nvPr/>
        </p:nvSpPr>
        <p:spPr>
          <a:xfrm>
            <a:off x="10528527"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1</a:t>
            </a:r>
          </a:p>
        </p:txBody>
      </p:sp>
      <p:sp>
        <p:nvSpPr>
          <p:cNvPr id="25" name="object-25">
            <a:extLst>
              <a:ext uri="{FF2B5EF4-FFF2-40B4-BE49-F238E27FC236}">
                <a16:creationId xmlns:a16="http://schemas.microsoft.com/office/drawing/2014/main" id="{41A73D68-318F-4200-8240-349540BDF7F1}"/>
              </a:ext>
            </a:extLst>
          </p:cNvPr>
          <p:cNvSpPr>
            <a:spLocks noGrp="1"/>
          </p:cNvSpPr>
          <p:nvPr/>
        </p:nvSpPr>
        <p:spPr>
          <a:xfrm>
            <a:off x="12467545" y="3988594"/>
            <a:ext cx="1939018" cy="1785938"/>
          </a:xfrm>
          <a:prstGeom prst="rect">
            <a:avLst/>
          </a:prstGeom>
          <a:solidFill>
            <a:srgbClr val="EFF6FF"/>
          </a:solidFill>
          <a:ln w="11906">
            <a:solidFill>
              <a:srgbClr val="BCD0EA"/>
            </a:solidFill>
          </a:ln>
        </p:spPr>
      </p:sp>
      <p:sp>
        <p:nvSpPr>
          <p:cNvPr id="26" name="object-26">
            <a:extLst>
              <a:ext uri="{FF2B5EF4-FFF2-40B4-BE49-F238E27FC236}">
                <a16:creationId xmlns:a16="http://schemas.microsoft.com/office/drawing/2014/main" id="{A1C78E98-4B1A-4A36-B676-5B1A59E288B6}"/>
              </a:ext>
            </a:extLst>
          </p:cNvPr>
          <p:cNvSpPr>
            <a:spLocks noGrp="1"/>
          </p:cNvSpPr>
          <p:nvPr/>
        </p:nvSpPr>
        <p:spPr>
          <a:xfrm>
            <a:off x="12467545"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ones</a:t>
            </a:r>
          </a:p>
        </p:txBody>
      </p:sp>
      <p:sp>
        <p:nvSpPr>
          <p:cNvPr id="27" name="object-27">
            <a:extLst>
              <a:ext uri="{FF2B5EF4-FFF2-40B4-BE49-F238E27FC236}">
                <a16:creationId xmlns:a16="http://schemas.microsoft.com/office/drawing/2014/main" id="{CB69BA99-817A-402B-BE7C-5FEC1C82210F}"/>
              </a:ext>
            </a:extLst>
          </p:cNvPr>
          <p:cNvSpPr>
            <a:spLocks noGrp="1"/>
          </p:cNvSpPr>
          <p:nvPr/>
        </p:nvSpPr>
        <p:spPr>
          <a:xfrm>
            <a:off x="12467545"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5</a:t>
            </a:r>
          </a:p>
        </p:txBody>
      </p:sp>
      <p:sp>
        <p:nvSpPr>
          <p:cNvPr id="28" name="object-28">
            <a:extLst>
              <a:ext uri="{FF2B5EF4-FFF2-40B4-BE49-F238E27FC236}">
                <a16:creationId xmlns:a16="http://schemas.microsoft.com/office/drawing/2014/main" id="{3468DC00-FD1B-415C-AF20-20FF499B1CA6}"/>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7,000,000 + 400,000 + 7,000 + 200 + 10 + 5</a:t>
            </a:r>
          </a:p>
        </p:txBody>
      </p:sp>
    </p:spTree>
    <p:extLst>
      <p:ext uri="{BB962C8B-B14F-4D97-AF65-F5344CB8AC3E}">
        <p14:creationId xmlns:p14="http://schemas.microsoft.com/office/powerpoint/2010/main" val="2000166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0 0 L 0 0.22916667 E" pathEditMode="relative" ptsTypes="">
                                      <p:cBhvr>
                                        <p:cTn id="6" dur="800" fill="hold"/>
                                        <p:tgtEl>
                                          <p:spTgt spid="9"/>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grpId="0" nodeType="clickEffect">
                                  <p:stCondLst>
                                    <p:cond delay="0"/>
                                  </p:stCondLst>
                                  <p:childTnLst>
                                    <p:animMotion origin="layout" path="M 0 0 L 0 0.22916667 E" pathEditMode="relative" ptsTypes="">
                                      <p:cBhvr>
                                        <p:cTn id="10" dur="800" fill="hold"/>
                                        <p:tgtEl>
                                          <p:spTgt spid="12"/>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grpId="0" nodeType="clickEffect">
                                  <p:stCondLst>
                                    <p:cond delay="0"/>
                                  </p:stCondLst>
                                  <p:childTnLst>
                                    <p:animMotion origin="layout" path="M 0 0 L 0 0.22916667 E" pathEditMode="relative" ptsTypes="">
                                      <p:cBhvr>
                                        <p:cTn id="14" dur="800" fill="hold"/>
                                        <p:tgtEl>
                                          <p:spTgt spid="15"/>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grpId="0" nodeType="clickEffect">
                                  <p:stCondLst>
                                    <p:cond delay="0"/>
                                  </p:stCondLst>
                                  <p:childTnLst>
                                    <p:animMotion origin="layout" path="M 0 0 L 0 0.22916667 E" pathEditMode="relative" ptsTypes="">
                                      <p:cBhvr>
                                        <p:cTn id="18" dur="800" fill="hold"/>
                                        <p:tgtEl>
                                          <p:spTgt spid="18"/>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grpId="0" nodeType="clickEffect">
                                  <p:stCondLst>
                                    <p:cond delay="0"/>
                                  </p:stCondLst>
                                  <p:childTnLst>
                                    <p:animMotion origin="layout" path="M 0 0 L 0 0.22916667 E" pathEditMode="relative" ptsTypes="">
                                      <p:cBhvr>
                                        <p:cTn id="22" dur="800" fill="hold"/>
                                        <p:tgtEl>
                                          <p:spTgt spid="21"/>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grpId="0" nodeType="clickEffect">
                                  <p:stCondLst>
                                    <p:cond delay="0"/>
                                  </p:stCondLst>
                                  <p:childTnLst>
                                    <p:animMotion origin="layout" path="M 0 0 L 0 0.22916667 E" pathEditMode="relative" ptsTypes="">
                                      <p:cBhvr>
                                        <p:cTn id="26" dur="800" fill="hold"/>
                                        <p:tgtEl>
                                          <p:spTgt spid="24"/>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grpId="0" nodeType="clickEffect">
                                  <p:stCondLst>
                                    <p:cond delay="0"/>
                                  </p:stCondLst>
                                  <p:childTnLst>
                                    <p:animMotion origin="layout" path="M 0 0 L 0 0.22916667 E" pathEditMode="relative" ptsTypes="">
                                      <p:cBhvr>
                                        <p:cTn id="30" dur="800" fill="hold"/>
                                        <p:tgtEl>
                                          <p:spTgt spid="27"/>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5" grpId="0"/>
      <p:bldP spid="18" grpId="0"/>
      <p:bldP spid="21" grpId="0"/>
      <p:bldP spid="24" grpId="0"/>
      <p:bldP spid="27" grpId="0"/>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object-1">
            <a:extLst>
              <a:ext uri="{FF2B5EF4-FFF2-40B4-BE49-F238E27FC236}">
                <a16:creationId xmlns:a16="http://schemas.microsoft.com/office/drawing/2014/main" id="{A992D4A7-A579-4FD7-8DEF-0579E65C3F7E}"/>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A3B11D82-E234-4D65-B0FE-6016F1687E4D}"/>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Read 8,407,215. What does each digit represent?</a:t>
            </a:r>
          </a:p>
        </p:txBody>
      </p:sp>
      <p:sp>
        <p:nvSpPr>
          <p:cNvPr id="3" name="object-3">
            <a:extLst>
              <a:ext uri="{FF2B5EF4-FFF2-40B4-BE49-F238E27FC236}">
                <a16:creationId xmlns:a16="http://schemas.microsoft.com/office/drawing/2014/main" id="{783EDF31-44B2-44D3-BF60-426B941B45BA}"/>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B66C5829-2DF3-4729-A5B7-2C842292B539}"/>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Read and write numbers to ten million</a:t>
            </a:r>
          </a:p>
        </p:txBody>
      </p:sp>
      <p:sp>
        <p:nvSpPr>
          <p:cNvPr id="5" name="object-5">
            <a:extLst>
              <a:ext uri="{FF2B5EF4-FFF2-40B4-BE49-F238E27FC236}">
                <a16:creationId xmlns:a16="http://schemas.microsoft.com/office/drawing/2014/main" id="{6F2A4C02-D017-49A0-A18D-CBE5C285B44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3B46109C-DA1A-4545-BDDE-D28AB28A4038}"/>
              </a:ext>
            </a:extLst>
          </p:cNvPr>
          <p:cNvSpPr>
            <a:spLocks noGrp="1"/>
          </p:cNvSpPr>
          <p:nvPr/>
        </p:nvSpPr>
        <p:spPr>
          <a:xfrm>
            <a:off x="833438" y="3988594"/>
            <a:ext cx="1939018" cy="1785938"/>
          </a:xfrm>
          <a:prstGeom prst="rect">
            <a:avLst/>
          </a:prstGeom>
          <a:solidFill>
            <a:srgbClr val="EFF6FF"/>
          </a:solidFill>
          <a:ln w="11906">
            <a:solidFill>
              <a:srgbClr val="BCD0EA"/>
            </a:solidFill>
          </a:ln>
        </p:spPr>
      </p:sp>
      <p:sp>
        <p:nvSpPr>
          <p:cNvPr id="7" name="object-7">
            <a:extLst>
              <a:ext uri="{FF2B5EF4-FFF2-40B4-BE49-F238E27FC236}">
                <a16:creationId xmlns:a16="http://schemas.microsoft.com/office/drawing/2014/main" id="{B82B5CBA-50B9-42C5-A41F-9ED291F03A20}"/>
              </a:ext>
            </a:extLst>
          </p:cNvPr>
          <p:cNvSpPr>
            <a:spLocks noGrp="1"/>
          </p:cNvSpPr>
          <p:nvPr/>
        </p:nvSpPr>
        <p:spPr>
          <a:xfrm>
            <a:off x="833438"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millions</a:t>
            </a:r>
          </a:p>
        </p:txBody>
      </p:sp>
      <p:sp>
        <p:nvSpPr>
          <p:cNvPr id="8" name="object-8">
            <a:extLst>
              <a:ext uri="{FF2B5EF4-FFF2-40B4-BE49-F238E27FC236}">
                <a16:creationId xmlns:a16="http://schemas.microsoft.com/office/drawing/2014/main" id="{D68C718F-A7A2-41C1-8298-95FDF12E6693}"/>
              </a:ext>
            </a:extLst>
          </p:cNvPr>
          <p:cNvSpPr>
            <a:spLocks noGrp="1"/>
          </p:cNvSpPr>
          <p:nvPr/>
        </p:nvSpPr>
        <p:spPr>
          <a:xfrm>
            <a:off x="833438"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8</a:t>
            </a:r>
          </a:p>
        </p:txBody>
      </p:sp>
      <p:sp>
        <p:nvSpPr>
          <p:cNvPr id="9" name="object-9">
            <a:extLst>
              <a:ext uri="{FF2B5EF4-FFF2-40B4-BE49-F238E27FC236}">
                <a16:creationId xmlns:a16="http://schemas.microsoft.com/office/drawing/2014/main" id="{9D9ADA50-46C0-4EB2-9F7F-090026C4D96A}"/>
              </a:ext>
            </a:extLst>
          </p:cNvPr>
          <p:cNvSpPr>
            <a:spLocks noGrp="1"/>
          </p:cNvSpPr>
          <p:nvPr/>
        </p:nvSpPr>
        <p:spPr>
          <a:xfrm>
            <a:off x="2772455" y="3988594"/>
            <a:ext cx="1939018" cy="1785938"/>
          </a:xfrm>
          <a:prstGeom prst="rect">
            <a:avLst/>
          </a:prstGeom>
          <a:solidFill>
            <a:srgbClr val="EFF6FF"/>
          </a:solidFill>
          <a:ln w="11906">
            <a:solidFill>
              <a:srgbClr val="BCD0EA"/>
            </a:solidFill>
          </a:ln>
        </p:spPr>
      </p:sp>
      <p:sp>
        <p:nvSpPr>
          <p:cNvPr id="10" name="object-10">
            <a:extLst>
              <a:ext uri="{FF2B5EF4-FFF2-40B4-BE49-F238E27FC236}">
                <a16:creationId xmlns:a16="http://schemas.microsoft.com/office/drawing/2014/main" id="{1B81549F-4696-4373-A758-855544FECAEE}"/>
              </a:ext>
            </a:extLst>
          </p:cNvPr>
          <p:cNvSpPr>
            <a:spLocks noGrp="1"/>
          </p:cNvSpPr>
          <p:nvPr/>
        </p:nvSpPr>
        <p:spPr>
          <a:xfrm>
            <a:off x="2772455"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hundred</a:t>
            </a:r>
          </a:p>
          <a:p>
            <a:pPr algn="ctr">
              <a:defRPr sz="1781" b="0">
                <a:solidFill>
                  <a:srgbClr val="52647A"/>
                </a:solidFill>
                <a:latin typeface="Arial"/>
                <a:ea typeface="Arial"/>
                <a:cs typeface="Arial"/>
              </a:defRPr>
            </a:pPr>
            <a:r>
              <a:rPr sz="1781" b="0">
                <a:solidFill>
                  <a:srgbClr val="52647A"/>
                </a:solidFill>
                <a:latin typeface="Arial"/>
                <a:ea typeface="Arial"/>
                <a:cs typeface="Arial"/>
              </a:rPr>
              <a:t>thousands</a:t>
            </a:r>
          </a:p>
        </p:txBody>
      </p:sp>
      <p:sp>
        <p:nvSpPr>
          <p:cNvPr id="11" name="object-11">
            <a:extLst>
              <a:ext uri="{FF2B5EF4-FFF2-40B4-BE49-F238E27FC236}">
                <a16:creationId xmlns:a16="http://schemas.microsoft.com/office/drawing/2014/main" id="{5A36FA6E-0235-439B-B4D5-74011944EE22}"/>
              </a:ext>
            </a:extLst>
          </p:cNvPr>
          <p:cNvSpPr>
            <a:spLocks noGrp="1"/>
          </p:cNvSpPr>
          <p:nvPr/>
        </p:nvSpPr>
        <p:spPr>
          <a:xfrm>
            <a:off x="2772455"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4</a:t>
            </a:r>
          </a:p>
        </p:txBody>
      </p:sp>
      <p:sp>
        <p:nvSpPr>
          <p:cNvPr id="12" name="object-12">
            <a:extLst>
              <a:ext uri="{FF2B5EF4-FFF2-40B4-BE49-F238E27FC236}">
                <a16:creationId xmlns:a16="http://schemas.microsoft.com/office/drawing/2014/main" id="{196EE7CB-623B-4C67-B13D-AC9A849FDCCB}"/>
              </a:ext>
            </a:extLst>
          </p:cNvPr>
          <p:cNvSpPr>
            <a:spLocks noGrp="1"/>
          </p:cNvSpPr>
          <p:nvPr/>
        </p:nvSpPr>
        <p:spPr>
          <a:xfrm>
            <a:off x="4711473" y="3988594"/>
            <a:ext cx="1939018" cy="1785938"/>
          </a:xfrm>
          <a:prstGeom prst="rect">
            <a:avLst/>
          </a:prstGeom>
          <a:solidFill>
            <a:srgbClr val="EFF6FF"/>
          </a:solidFill>
          <a:ln w="11906">
            <a:solidFill>
              <a:srgbClr val="BCD0EA"/>
            </a:solidFill>
          </a:ln>
        </p:spPr>
      </p:sp>
      <p:sp>
        <p:nvSpPr>
          <p:cNvPr id="13" name="object-13">
            <a:extLst>
              <a:ext uri="{FF2B5EF4-FFF2-40B4-BE49-F238E27FC236}">
                <a16:creationId xmlns:a16="http://schemas.microsoft.com/office/drawing/2014/main" id="{4832042A-2B54-4E27-8CAD-B9EF270E2C29}"/>
              </a:ext>
            </a:extLst>
          </p:cNvPr>
          <p:cNvSpPr>
            <a:spLocks noGrp="1"/>
          </p:cNvSpPr>
          <p:nvPr/>
        </p:nvSpPr>
        <p:spPr>
          <a:xfrm>
            <a:off x="4711473"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ten</a:t>
            </a:r>
          </a:p>
          <a:p>
            <a:pPr algn="ctr">
              <a:defRPr sz="1781" b="0">
                <a:solidFill>
                  <a:srgbClr val="52647A"/>
                </a:solidFill>
                <a:latin typeface="Arial"/>
                <a:ea typeface="Arial"/>
                <a:cs typeface="Arial"/>
              </a:defRPr>
            </a:pPr>
            <a:r>
              <a:rPr sz="1781" b="0">
                <a:solidFill>
                  <a:srgbClr val="52647A"/>
                </a:solidFill>
                <a:latin typeface="Arial"/>
                <a:ea typeface="Arial"/>
                <a:cs typeface="Arial"/>
              </a:rPr>
              <a:t>thousands</a:t>
            </a:r>
          </a:p>
        </p:txBody>
      </p:sp>
      <p:sp>
        <p:nvSpPr>
          <p:cNvPr id="14" name="object-14">
            <a:extLst>
              <a:ext uri="{FF2B5EF4-FFF2-40B4-BE49-F238E27FC236}">
                <a16:creationId xmlns:a16="http://schemas.microsoft.com/office/drawing/2014/main" id="{6785D1B3-F867-463C-A73C-A3342A94A902}"/>
              </a:ext>
            </a:extLst>
          </p:cNvPr>
          <p:cNvSpPr>
            <a:spLocks noGrp="1"/>
          </p:cNvSpPr>
          <p:nvPr/>
        </p:nvSpPr>
        <p:spPr>
          <a:xfrm>
            <a:off x="4711473"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0</a:t>
            </a:r>
          </a:p>
        </p:txBody>
      </p:sp>
      <p:sp>
        <p:nvSpPr>
          <p:cNvPr id="15" name="object-15">
            <a:extLst>
              <a:ext uri="{FF2B5EF4-FFF2-40B4-BE49-F238E27FC236}">
                <a16:creationId xmlns:a16="http://schemas.microsoft.com/office/drawing/2014/main" id="{1CB765ED-D348-4600-A171-D32C3410CF63}"/>
              </a:ext>
            </a:extLst>
          </p:cNvPr>
          <p:cNvSpPr>
            <a:spLocks noGrp="1"/>
          </p:cNvSpPr>
          <p:nvPr/>
        </p:nvSpPr>
        <p:spPr>
          <a:xfrm>
            <a:off x="6650491" y="3988594"/>
            <a:ext cx="1939018" cy="1785938"/>
          </a:xfrm>
          <a:prstGeom prst="rect">
            <a:avLst/>
          </a:prstGeom>
          <a:solidFill>
            <a:srgbClr val="EFF6FF"/>
          </a:solidFill>
          <a:ln w="11906">
            <a:solidFill>
              <a:srgbClr val="BCD0EA"/>
            </a:solidFill>
          </a:ln>
        </p:spPr>
      </p:sp>
      <p:sp>
        <p:nvSpPr>
          <p:cNvPr id="16" name="object-16">
            <a:extLst>
              <a:ext uri="{FF2B5EF4-FFF2-40B4-BE49-F238E27FC236}">
                <a16:creationId xmlns:a16="http://schemas.microsoft.com/office/drawing/2014/main" id="{944EFC57-7942-430C-A245-765028E02B19}"/>
              </a:ext>
            </a:extLst>
          </p:cNvPr>
          <p:cNvSpPr>
            <a:spLocks noGrp="1"/>
          </p:cNvSpPr>
          <p:nvPr/>
        </p:nvSpPr>
        <p:spPr>
          <a:xfrm>
            <a:off x="6650491"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thousands</a:t>
            </a:r>
          </a:p>
        </p:txBody>
      </p:sp>
      <p:sp>
        <p:nvSpPr>
          <p:cNvPr id="17" name="object-17">
            <a:extLst>
              <a:ext uri="{FF2B5EF4-FFF2-40B4-BE49-F238E27FC236}">
                <a16:creationId xmlns:a16="http://schemas.microsoft.com/office/drawing/2014/main" id="{6971DD83-F0E4-452F-BF9B-DE99DB630D68}"/>
              </a:ext>
            </a:extLst>
          </p:cNvPr>
          <p:cNvSpPr>
            <a:spLocks noGrp="1"/>
          </p:cNvSpPr>
          <p:nvPr/>
        </p:nvSpPr>
        <p:spPr>
          <a:xfrm>
            <a:off x="6650491"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7</a:t>
            </a:r>
          </a:p>
        </p:txBody>
      </p:sp>
      <p:sp>
        <p:nvSpPr>
          <p:cNvPr id="18" name="object-18">
            <a:extLst>
              <a:ext uri="{FF2B5EF4-FFF2-40B4-BE49-F238E27FC236}">
                <a16:creationId xmlns:a16="http://schemas.microsoft.com/office/drawing/2014/main" id="{4D7F1A2F-9157-4919-B952-E4BEFE27CC14}"/>
              </a:ext>
            </a:extLst>
          </p:cNvPr>
          <p:cNvSpPr>
            <a:spLocks noGrp="1"/>
          </p:cNvSpPr>
          <p:nvPr/>
        </p:nvSpPr>
        <p:spPr>
          <a:xfrm>
            <a:off x="8589509" y="3988594"/>
            <a:ext cx="1939018" cy="1785938"/>
          </a:xfrm>
          <a:prstGeom prst="rect">
            <a:avLst/>
          </a:prstGeom>
          <a:solidFill>
            <a:srgbClr val="EFF6FF"/>
          </a:solidFill>
          <a:ln w="11906">
            <a:solidFill>
              <a:srgbClr val="BCD0EA"/>
            </a:solidFill>
          </a:ln>
        </p:spPr>
      </p:sp>
      <p:sp>
        <p:nvSpPr>
          <p:cNvPr id="19" name="object-19">
            <a:extLst>
              <a:ext uri="{FF2B5EF4-FFF2-40B4-BE49-F238E27FC236}">
                <a16:creationId xmlns:a16="http://schemas.microsoft.com/office/drawing/2014/main" id="{B6D98208-947F-46B0-A2C3-271A4FDD3527}"/>
              </a:ext>
            </a:extLst>
          </p:cNvPr>
          <p:cNvSpPr>
            <a:spLocks noGrp="1"/>
          </p:cNvSpPr>
          <p:nvPr/>
        </p:nvSpPr>
        <p:spPr>
          <a:xfrm>
            <a:off x="8589509"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hundreds</a:t>
            </a:r>
          </a:p>
        </p:txBody>
      </p:sp>
      <p:sp>
        <p:nvSpPr>
          <p:cNvPr id="20" name="object-20">
            <a:extLst>
              <a:ext uri="{FF2B5EF4-FFF2-40B4-BE49-F238E27FC236}">
                <a16:creationId xmlns:a16="http://schemas.microsoft.com/office/drawing/2014/main" id="{EF461662-91E5-47CA-85D2-119B90F32E43}"/>
              </a:ext>
            </a:extLst>
          </p:cNvPr>
          <p:cNvSpPr>
            <a:spLocks noGrp="1"/>
          </p:cNvSpPr>
          <p:nvPr/>
        </p:nvSpPr>
        <p:spPr>
          <a:xfrm>
            <a:off x="8589509"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2</a:t>
            </a:r>
          </a:p>
        </p:txBody>
      </p:sp>
      <p:sp>
        <p:nvSpPr>
          <p:cNvPr id="21" name="object-21">
            <a:extLst>
              <a:ext uri="{FF2B5EF4-FFF2-40B4-BE49-F238E27FC236}">
                <a16:creationId xmlns:a16="http://schemas.microsoft.com/office/drawing/2014/main" id="{20BFEE6B-D720-4F1D-BE26-81C1DFB17C55}"/>
              </a:ext>
            </a:extLst>
          </p:cNvPr>
          <p:cNvSpPr>
            <a:spLocks noGrp="1"/>
          </p:cNvSpPr>
          <p:nvPr/>
        </p:nvSpPr>
        <p:spPr>
          <a:xfrm>
            <a:off x="10528527" y="3988594"/>
            <a:ext cx="1939018" cy="1785938"/>
          </a:xfrm>
          <a:prstGeom prst="rect">
            <a:avLst/>
          </a:prstGeom>
          <a:solidFill>
            <a:srgbClr val="EFF6FF"/>
          </a:solidFill>
          <a:ln w="11906">
            <a:solidFill>
              <a:srgbClr val="BCD0EA"/>
            </a:solidFill>
          </a:ln>
        </p:spPr>
      </p:sp>
      <p:sp>
        <p:nvSpPr>
          <p:cNvPr id="22" name="object-22">
            <a:extLst>
              <a:ext uri="{FF2B5EF4-FFF2-40B4-BE49-F238E27FC236}">
                <a16:creationId xmlns:a16="http://schemas.microsoft.com/office/drawing/2014/main" id="{C49C6C9E-3DBB-4EF9-8987-39E2BAAE9DC3}"/>
              </a:ext>
            </a:extLst>
          </p:cNvPr>
          <p:cNvSpPr>
            <a:spLocks noGrp="1"/>
          </p:cNvSpPr>
          <p:nvPr/>
        </p:nvSpPr>
        <p:spPr>
          <a:xfrm>
            <a:off x="10528527"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tens</a:t>
            </a:r>
          </a:p>
        </p:txBody>
      </p:sp>
      <p:sp>
        <p:nvSpPr>
          <p:cNvPr id="23" name="object-23">
            <a:extLst>
              <a:ext uri="{FF2B5EF4-FFF2-40B4-BE49-F238E27FC236}">
                <a16:creationId xmlns:a16="http://schemas.microsoft.com/office/drawing/2014/main" id="{7F28E0B1-75A6-40DF-8A17-655A1458FDC9}"/>
              </a:ext>
            </a:extLst>
          </p:cNvPr>
          <p:cNvSpPr>
            <a:spLocks noGrp="1"/>
          </p:cNvSpPr>
          <p:nvPr/>
        </p:nvSpPr>
        <p:spPr>
          <a:xfrm>
            <a:off x="10528527"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1</a:t>
            </a:r>
          </a:p>
        </p:txBody>
      </p:sp>
      <p:sp>
        <p:nvSpPr>
          <p:cNvPr id="24" name="object-24">
            <a:extLst>
              <a:ext uri="{FF2B5EF4-FFF2-40B4-BE49-F238E27FC236}">
                <a16:creationId xmlns:a16="http://schemas.microsoft.com/office/drawing/2014/main" id="{E2FE1E27-1E9C-4DB8-AB28-A4A44A21CB48}"/>
              </a:ext>
            </a:extLst>
          </p:cNvPr>
          <p:cNvSpPr>
            <a:spLocks noGrp="1"/>
          </p:cNvSpPr>
          <p:nvPr/>
        </p:nvSpPr>
        <p:spPr>
          <a:xfrm>
            <a:off x="12467545" y="3988594"/>
            <a:ext cx="1939018" cy="1785938"/>
          </a:xfrm>
          <a:prstGeom prst="rect">
            <a:avLst/>
          </a:prstGeom>
          <a:solidFill>
            <a:srgbClr val="EFF6FF"/>
          </a:solidFill>
          <a:ln w="11906">
            <a:solidFill>
              <a:srgbClr val="BCD0EA"/>
            </a:solidFill>
          </a:ln>
        </p:spPr>
      </p:sp>
      <p:sp>
        <p:nvSpPr>
          <p:cNvPr id="25" name="object-25">
            <a:extLst>
              <a:ext uri="{FF2B5EF4-FFF2-40B4-BE49-F238E27FC236}">
                <a16:creationId xmlns:a16="http://schemas.microsoft.com/office/drawing/2014/main" id="{50C62093-4AC1-4822-A20F-703D24105A56}"/>
              </a:ext>
            </a:extLst>
          </p:cNvPr>
          <p:cNvSpPr>
            <a:spLocks noGrp="1"/>
          </p:cNvSpPr>
          <p:nvPr/>
        </p:nvSpPr>
        <p:spPr>
          <a:xfrm>
            <a:off x="12467545"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ones</a:t>
            </a:r>
          </a:p>
        </p:txBody>
      </p:sp>
      <p:sp>
        <p:nvSpPr>
          <p:cNvPr id="26" name="object-26">
            <a:extLst>
              <a:ext uri="{FF2B5EF4-FFF2-40B4-BE49-F238E27FC236}">
                <a16:creationId xmlns:a16="http://schemas.microsoft.com/office/drawing/2014/main" id="{D9338A54-ACA2-4E63-B512-9A63A6BC2A6A}"/>
              </a:ext>
            </a:extLst>
          </p:cNvPr>
          <p:cNvSpPr>
            <a:spLocks noGrp="1"/>
          </p:cNvSpPr>
          <p:nvPr/>
        </p:nvSpPr>
        <p:spPr>
          <a:xfrm>
            <a:off x="12467545"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5</a:t>
            </a:r>
          </a:p>
        </p:txBody>
      </p:sp>
      <p:sp>
        <p:nvSpPr>
          <p:cNvPr id="27" name="object-27">
            <a:extLst>
              <a:ext uri="{FF2B5EF4-FFF2-40B4-BE49-F238E27FC236}">
                <a16:creationId xmlns:a16="http://schemas.microsoft.com/office/drawing/2014/main" id="{7148AA15-66A1-4515-9A3A-E72C12D3694A}"/>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8,000,000 + 400,000 + 7,000 + 200 + 10 + 5</a:t>
            </a:r>
          </a:p>
        </p:txBody>
      </p:sp>
    </p:spTree>
    <p:extLst>
      <p:ext uri="{BB962C8B-B14F-4D97-AF65-F5344CB8AC3E}">
        <p14:creationId xmlns:p14="http://schemas.microsoft.com/office/powerpoint/2010/main" val="373173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0 0 L 0 0.22916667 E" pathEditMode="relative" ptsTypes="">
                                      <p:cBhvr>
                                        <p:cTn id="6" dur="800" fill="hold"/>
                                        <p:tgtEl>
                                          <p:spTgt spid="8"/>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grpId="0" nodeType="clickEffect">
                                  <p:stCondLst>
                                    <p:cond delay="0"/>
                                  </p:stCondLst>
                                  <p:childTnLst>
                                    <p:animMotion origin="layout" path="M 0 0 L 0 0.22916667 E" pathEditMode="relative" ptsTypes="">
                                      <p:cBhvr>
                                        <p:cTn id="10" dur="800" fill="hold"/>
                                        <p:tgtEl>
                                          <p:spTgt spid="11"/>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grpId="0" nodeType="clickEffect">
                                  <p:stCondLst>
                                    <p:cond delay="0"/>
                                  </p:stCondLst>
                                  <p:childTnLst>
                                    <p:animMotion origin="layout" path="M 0 0 L 0 0.22916667 E" pathEditMode="relative" ptsTypes="">
                                      <p:cBhvr>
                                        <p:cTn id="14" dur="800" fill="hold"/>
                                        <p:tgtEl>
                                          <p:spTgt spid="14"/>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grpId="0" nodeType="clickEffect">
                                  <p:stCondLst>
                                    <p:cond delay="0"/>
                                  </p:stCondLst>
                                  <p:childTnLst>
                                    <p:animMotion origin="layout" path="M 0 0 L 0 0.22916667 E" pathEditMode="relative" ptsTypes="">
                                      <p:cBhvr>
                                        <p:cTn id="18" dur="800" fill="hold"/>
                                        <p:tgtEl>
                                          <p:spTgt spid="17"/>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grpId="0" nodeType="clickEffect">
                                  <p:stCondLst>
                                    <p:cond delay="0"/>
                                  </p:stCondLst>
                                  <p:childTnLst>
                                    <p:animMotion origin="layout" path="M 0 0 L 0 0.22916667 E" pathEditMode="relative" ptsTypes="">
                                      <p:cBhvr>
                                        <p:cTn id="22" dur="800" fill="hold"/>
                                        <p:tgtEl>
                                          <p:spTgt spid="20"/>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grpId="0" nodeType="clickEffect">
                                  <p:stCondLst>
                                    <p:cond delay="0"/>
                                  </p:stCondLst>
                                  <p:childTnLst>
                                    <p:animMotion origin="layout" path="M 0 0 L 0 0.22916667 E" pathEditMode="relative" ptsTypes="">
                                      <p:cBhvr>
                                        <p:cTn id="26" dur="800" fill="hold"/>
                                        <p:tgtEl>
                                          <p:spTgt spid="23"/>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grpId="0" nodeType="clickEffect">
                                  <p:stCondLst>
                                    <p:cond delay="0"/>
                                  </p:stCondLst>
                                  <p:childTnLst>
                                    <p:animMotion origin="layout" path="M 0 0 L 0 0.22916667 E" pathEditMode="relative" ptsTypes="">
                                      <p:cBhvr>
                                        <p:cTn id="30" dur="800" fill="hold"/>
                                        <p:tgtEl>
                                          <p:spTgt spid="26"/>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4" grpId="0"/>
      <p:bldP spid="17" grpId="0"/>
      <p:bldP spid="20" grpId="0"/>
      <p:bldP spid="23" grpId="0"/>
      <p:bldP spid="26" grpId="0"/>
      <p:bldP spid="2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object-1">
            <a:extLst>
              <a:ext uri="{FF2B5EF4-FFF2-40B4-BE49-F238E27FC236}">
                <a16:creationId xmlns:a16="http://schemas.microsoft.com/office/drawing/2014/main" id="{388B51B4-89D3-44C7-8707-57C63BBDD96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A50A78F8-EC05-456E-A171-039EEEE3C071}"/>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495D78DC-84B8-4566-8360-8C9C2674AFE3}"/>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Read 9,407,215. What does each digit represent?</a:t>
            </a:r>
          </a:p>
        </p:txBody>
      </p:sp>
      <p:sp>
        <p:nvSpPr>
          <p:cNvPr id="4" name="object-4">
            <a:extLst>
              <a:ext uri="{FF2B5EF4-FFF2-40B4-BE49-F238E27FC236}">
                <a16:creationId xmlns:a16="http://schemas.microsoft.com/office/drawing/2014/main" id="{98EBE294-C588-46A1-8210-00EDFAC34032}"/>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1DD4C314-22D8-4D99-AA8E-EB4401C0E4F9}"/>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Read and write numbers to ten million</a:t>
            </a:r>
          </a:p>
        </p:txBody>
      </p:sp>
      <p:sp>
        <p:nvSpPr>
          <p:cNvPr id="6" name="object-6">
            <a:extLst>
              <a:ext uri="{FF2B5EF4-FFF2-40B4-BE49-F238E27FC236}">
                <a16:creationId xmlns:a16="http://schemas.microsoft.com/office/drawing/2014/main" id="{69F1869A-5995-4F2F-B320-957521AA5C18}"/>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40431F56-C316-457E-82BC-22D95F93C4B9}"/>
              </a:ext>
            </a:extLst>
          </p:cNvPr>
          <p:cNvSpPr>
            <a:spLocks noGrp="1"/>
          </p:cNvSpPr>
          <p:nvPr/>
        </p:nvSpPr>
        <p:spPr>
          <a:xfrm>
            <a:off x="833438" y="3988594"/>
            <a:ext cx="1939018" cy="1785938"/>
          </a:xfrm>
          <a:prstGeom prst="rect">
            <a:avLst/>
          </a:prstGeom>
          <a:solidFill>
            <a:srgbClr val="EFF6FF"/>
          </a:solidFill>
          <a:ln w="11906">
            <a:solidFill>
              <a:srgbClr val="BCD0EA"/>
            </a:solidFill>
          </a:ln>
        </p:spPr>
      </p:sp>
      <p:sp>
        <p:nvSpPr>
          <p:cNvPr id="8" name="object-8">
            <a:extLst>
              <a:ext uri="{FF2B5EF4-FFF2-40B4-BE49-F238E27FC236}">
                <a16:creationId xmlns:a16="http://schemas.microsoft.com/office/drawing/2014/main" id="{BC2E2118-AE01-4D8E-934F-D528A1E9C8D4}"/>
              </a:ext>
            </a:extLst>
          </p:cNvPr>
          <p:cNvSpPr>
            <a:spLocks noGrp="1"/>
          </p:cNvSpPr>
          <p:nvPr/>
        </p:nvSpPr>
        <p:spPr>
          <a:xfrm>
            <a:off x="833438"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millions</a:t>
            </a:r>
          </a:p>
        </p:txBody>
      </p:sp>
      <p:sp>
        <p:nvSpPr>
          <p:cNvPr id="9" name="object-9">
            <a:extLst>
              <a:ext uri="{FF2B5EF4-FFF2-40B4-BE49-F238E27FC236}">
                <a16:creationId xmlns:a16="http://schemas.microsoft.com/office/drawing/2014/main" id="{6B4AAA64-9DDA-49B0-B03F-91D14EFBD67E}"/>
              </a:ext>
            </a:extLst>
          </p:cNvPr>
          <p:cNvSpPr>
            <a:spLocks noGrp="1"/>
          </p:cNvSpPr>
          <p:nvPr/>
        </p:nvSpPr>
        <p:spPr>
          <a:xfrm>
            <a:off x="833438"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9</a:t>
            </a:r>
          </a:p>
        </p:txBody>
      </p:sp>
      <p:sp>
        <p:nvSpPr>
          <p:cNvPr id="10" name="object-10">
            <a:extLst>
              <a:ext uri="{FF2B5EF4-FFF2-40B4-BE49-F238E27FC236}">
                <a16:creationId xmlns:a16="http://schemas.microsoft.com/office/drawing/2014/main" id="{C0A495F7-07C6-4D16-80D0-0958D54F8C5E}"/>
              </a:ext>
            </a:extLst>
          </p:cNvPr>
          <p:cNvSpPr>
            <a:spLocks noGrp="1"/>
          </p:cNvSpPr>
          <p:nvPr/>
        </p:nvSpPr>
        <p:spPr>
          <a:xfrm>
            <a:off x="2772455" y="3988594"/>
            <a:ext cx="1939018" cy="1785938"/>
          </a:xfrm>
          <a:prstGeom prst="rect">
            <a:avLst/>
          </a:prstGeom>
          <a:solidFill>
            <a:srgbClr val="EFF6FF"/>
          </a:solidFill>
          <a:ln w="11906">
            <a:solidFill>
              <a:srgbClr val="BCD0EA"/>
            </a:solidFill>
          </a:ln>
        </p:spPr>
      </p:sp>
      <p:sp>
        <p:nvSpPr>
          <p:cNvPr id="11" name="object-11">
            <a:extLst>
              <a:ext uri="{FF2B5EF4-FFF2-40B4-BE49-F238E27FC236}">
                <a16:creationId xmlns:a16="http://schemas.microsoft.com/office/drawing/2014/main" id="{23E00D1F-E122-4E29-A4E8-9B006D8F322C}"/>
              </a:ext>
            </a:extLst>
          </p:cNvPr>
          <p:cNvSpPr>
            <a:spLocks noGrp="1"/>
          </p:cNvSpPr>
          <p:nvPr/>
        </p:nvSpPr>
        <p:spPr>
          <a:xfrm>
            <a:off x="2772455"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hundred</a:t>
            </a:r>
          </a:p>
          <a:p>
            <a:pPr algn="ctr">
              <a:defRPr sz="1781" b="0">
                <a:solidFill>
                  <a:srgbClr val="52647A"/>
                </a:solidFill>
                <a:latin typeface="Arial"/>
                <a:ea typeface="Arial"/>
                <a:cs typeface="Arial"/>
              </a:defRPr>
            </a:pPr>
            <a:r>
              <a:rPr sz="1781" b="0">
                <a:solidFill>
                  <a:srgbClr val="52647A"/>
                </a:solidFill>
                <a:latin typeface="Arial"/>
                <a:ea typeface="Arial"/>
                <a:cs typeface="Arial"/>
              </a:rPr>
              <a:t>thousands</a:t>
            </a:r>
          </a:p>
        </p:txBody>
      </p:sp>
      <p:sp>
        <p:nvSpPr>
          <p:cNvPr id="12" name="object-12">
            <a:extLst>
              <a:ext uri="{FF2B5EF4-FFF2-40B4-BE49-F238E27FC236}">
                <a16:creationId xmlns:a16="http://schemas.microsoft.com/office/drawing/2014/main" id="{99FD6388-C143-48EE-BF58-E0CD588C24B1}"/>
              </a:ext>
            </a:extLst>
          </p:cNvPr>
          <p:cNvSpPr>
            <a:spLocks noGrp="1"/>
          </p:cNvSpPr>
          <p:nvPr/>
        </p:nvSpPr>
        <p:spPr>
          <a:xfrm>
            <a:off x="2772455"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8F2BB38E-AC1F-461C-946F-455A378969E2}"/>
              </a:ext>
            </a:extLst>
          </p:cNvPr>
          <p:cNvSpPr>
            <a:spLocks noGrp="1"/>
          </p:cNvSpPr>
          <p:nvPr/>
        </p:nvSpPr>
        <p:spPr>
          <a:xfrm>
            <a:off x="4711473" y="3988594"/>
            <a:ext cx="1939018" cy="1785938"/>
          </a:xfrm>
          <a:prstGeom prst="rect">
            <a:avLst/>
          </a:prstGeom>
          <a:solidFill>
            <a:srgbClr val="EFF6FF"/>
          </a:solidFill>
          <a:ln w="11906">
            <a:solidFill>
              <a:srgbClr val="BCD0EA"/>
            </a:solidFill>
          </a:ln>
        </p:spPr>
      </p:sp>
      <p:sp>
        <p:nvSpPr>
          <p:cNvPr id="14" name="object-14">
            <a:extLst>
              <a:ext uri="{FF2B5EF4-FFF2-40B4-BE49-F238E27FC236}">
                <a16:creationId xmlns:a16="http://schemas.microsoft.com/office/drawing/2014/main" id="{C98CE69F-B1C6-4465-A84D-E6B8C4F85E07}"/>
              </a:ext>
            </a:extLst>
          </p:cNvPr>
          <p:cNvSpPr>
            <a:spLocks noGrp="1"/>
          </p:cNvSpPr>
          <p:nvPr/>
        </p:nvSpPr>
        <p:spPr>
          <a:xfrm>
            <a:off x="4711473"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ten</a:t>
            </a:r>
          </a:p>
          <a:p>
            <a:pPr algn="ctr">
              <a:defRPr sz="1781" b="0">
                <a:solidFill>
                  <a:srgbClr val="52647A"/>
                </a:solidFill>
                <a:latin typeface="Arial"/>
                <a:ea typeface="Arial"/>
                <a:cs typeface="Arial"/>
              </a:defRPr>
            </a:pPr>
            <a:r>
              <a:rPr sz="1781" b="0">
                <a:solidFill>
                  <a:srgbClr val="52647A"/>
                </a:solidFill>
                <a:latin typeface="Arial"/>
                <a:ea typeface="Arial"/>
                <a:cs typeface="Arial"/>
              </a:rPr>
              <a:t>thousands</a:t>
            </a:r>
          </a:p>
        </p:txBody>
      </p:sp>
      <p:sp>
        <p:nvSpPr>
          <p:cNvPr id="15" name="object-15">
            <a:extLst>
              <a:ext uri="{FF2B5EF4-FFF2-40B4-BE49-F238E27FC236}">
                <a16:creationId xmlns:a16="http://schemas.microsoft.com/office/drawing/2014/main" id="{91BAFB71-8AC4-4406-A74C-E7EE5AAA93DF}"/>
              </a:ext>
            </a:extLst>
          </p:cNvPr>
          <p:cNvSpPr>
            <a:spLocks noGrp="1"/>
          </p:cNvSpPr>
          <p:nvPr/>
        </p:nvSpPr>
        <p:spPr>
          <a:xfrm>
            <a:off x="4711473"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0</a:t>
            </a:r>
          </a:p>
        </p:txBody>
      </p:sp>
      <p:sp>
        <p:nvSpPr>
          <p:cNvPr id="16" name="object-16">
            <a:extLst>
              <a:ext uri="{FF2B5EF4-FFF2-40B4-BE49-F238E27FC236}">
                <a16:creationId xmlns:a16="http://schemas.microsoft.com/office/drawing/2014/main" id="{453305AD-0E5F-459A-80FA-376F25C63AE1}"/>
              </a:ext>
            </a:extLst>
          </p:cNvPr>
          <p:cNvSpPr>
            <a:spLocks noGrp="1"/>
          </p:cNvSpPr>
          <p:nvPr/>
        </p:nvSpPr>
        <p:spPr>
          <a:xfrm>
            <a:off x="6650491" y="3988594"/>
            <a:ext cx="1939018" cy="1785938"/>
          </a:xfrm>
          <a:prstGeom prst="rect">
            <a:avLst/>
          </a:prstGeom>
          <a:solidFill>
            <a:srgbClr val="EFF6FF"/>
          </a:solidFill>
          <a:ln w="11906">
            <a:solidFill>
              <a:srgbClr val="BCD0EA"/>
            </a:solidFill>
          </a:ln>
        </p:spPr>
      </p:sp>
      <p:sp>
        <p:nvSpPr>
          <p:cNvPr id="17" name="object-17">
            <a:extLst>
              <a:ext uri="{FF2B5EF4-FFF2-40B4-BE49-F238E27FC236}">
                <a16:creationId xmlns:a16="http://schemas.microsoft.com/office/drawing/2014/main" id="{83D7648F-D810-45EF-9085-1121999FB189}"/>
              </a:ext>
            </a:extLst>
          </p:cNvPr>
          <p:cNvSpPr>
            <a:spLocks noGrp="1"/>
          </p:cNvSpPr>
          <p:nvPr/>
        </p:nvSpPr>
        <p:spPr>
          <a:xfrm>
            <a:off x="6650491"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thousands</a:t>
            </a:r>
          </a:p>
        </p:txBody>
      </p:sp>
      <p:sp>
        <p:nvSpPr>
          <p:cNvPr id="18" name="object-18">
            <a:extLst>
              <a:ext uri="{FF2B5EF4-FFF2-40B4-BE49-F238E27FC236}">
                <a16:creationId xmlns:a16="http://schemas.microsoft.com/office/drawing/2014/main" id="{1B17AF35-63A9-4ECA-89BB-BE1BB69FC6DE}"/>
              </a:ext>
            </a:extLst>
          </p:cNvPr>
          <p:cNvSpPr>
            <a:spLocks noGrp="1"/>
          </p:cNvSpPr>
          <p:nvPr/>
        </p:nvSpPr>
        <p:spPr>
          <a:xfrm>
            <a:off x="6650491"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08082D00-DC52-492B-AC79-A49685FE4B29}"/>
              </a:ext>
            </a:extLst>
          </p:cNvPr>
          <p:cNvSpPr>
            <a:spLocks noGrp="1"/>
          </p:cNvSpPr>
          <p:nvPr/>
        </p:nvSpPr>
        <p:spPr>
          <a:xfrm>
            <a:off x="8589509" y="3988594"/>
            <a:ext cx="1939018" cy="1785938"/>
          </a:xfrm>
          <a:prstGeom prst="rect">
            <a:avLst/>
          </a:prstGeom>
          <a:solidFill>
            <a:srgbClr val="EFF6FF"/>
          </a:solidFill>
          <a:ln w="11906">
            <a:solidFill>
              <a:srgbClr val="BCD0EA"/>
            </a:solidFill>
          </a:ln>
        </p:spPr>
      </p:sp>
      <p:sp>
        <p:nvSpPr>
          <p:cNvPr id="20" name="object-20">
            <a:extLst>
              <a:ext uri="{FF2B5EF4-FFF2-40B4-BE49-F238E27FC236}">
                <a16:creationId xmlns:a16="http://schemas.microsoft.com/office/drawing/2014/main" id="{5343BBAB-0CF5-43E6-B6E0-CE61D1B2A5DD}"/>
              </a:ext>
            </a:extLst>
          </p:cNvPr>
          <p:cNvSpPr>
            <a:spLocks noGrp="1"/>
          </p:cNvSpPr>
          <p:nvPr/>
        </p:nvSpPr>
        <p:spPr>
          <a:xfrm>
            <a:off x="8589509"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hundreds</a:t>
            </a:r>
          </a:p>
        </p:txBody>
      </p:sp>
      <p:sp>
        <p:nvSpPr>
          <p:cNvPr id="21" name="object-21">
            <a:extLst>
              <a:ext uri="{FF2B5EF4-FFF2-40B4-BE49-F238E27FC236}">
                <a16:creationId xmlns:a16="http://schemas.microsoft.com/office/drawing/2014/main" id="{E82E55BC-937F-4123-A1F7-7B0BDF59D64D}"/>
              </a:ext>
            </a:extLst>
          </p:cNvPr>
          <p:cNvSpPr>
            <a:spLocks noGrp="1"/>
          </p:cNvSpPr>
          <p:nvPr/>
        </p:nvSpPr>
        <p:spPr>
          <a:xfrm>
            <a:off x="8589509"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2</a:t>
            </a:r>
          </a:p>
        </p:txBody>
      </p:sp>
      <p:sp>
        <p:nvSpPr>
          <p:cNvPr id="22" name="object-22">
            <a:extLst>
              <a:ext uri="{FF2B5EF4-FFF2-40B4-BE49-F238E27FC236}">
                <a16:creationId xmlns:a16="http://schemas.microsoft.com/office/drawing/2014/main" id="{D9BEC112-1522-42C4-9AA1-8B67484E3D8D}"/>
              </a:ext>
            </a:extLst>
          </p:cNvPr>
          <p:cNvSpPr>
            <a:spLocks noGrp="1"/>
          </p:cNvSpPr>
          <p:nvPr/>
        </p:nvSpPr>
        <p:spPr>
          <a:xfrm>
            <a:off x="10528527" y="3988594"/>
            <a:ext cx="1939018" cy="1785938"/>
          </a:xfrm>
          <a:prstGeom prst="rect">
            <a:avLst/>
          </a:prstGeom>
          <a:solidFill>
            <a:srgbClr val="EFF6FF"/>
          </a:solidFill>
          <a:ln w="11906">
            <a:solidFill>
              <a:srgbClr val="BCD0EA"/>
            </a:solidFill>
          </a:ln>
        </p:spPr>
      </p:sp>
      <p:sp>
        <p:nvSpPr>
          <p:cNvPr id="23" name="object-23">
            <a:extLst>
              <a:ext uri="{FF2B5EF4-FFF2-40B4-BE49-F238E27FC236}">
                <a16:creationId xmlns:a16="http://schemas.microsoft.com/office/drawing/2014/main" id="{2F42D260-AB70-4CFB-B820-EF019B961D24}"/>
              </a:ext>
            </a:extLst>
          </p:cNvPr>
          <p:cNvSpPr>
            <a:spLocks noGrp="1"/>
          </p:cNvSpPr>
          <p:nvPr/>
        </p:nvSpPr>
        <p:spPr>
          <a:xfrm>
            <a:off x="10528527"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tens</a:t>
            </a:r>
          </a:p>
        </p:txBody>
      </p:sp>
      <p:sp>
        <p:nvSpPr>
          <p:cNvPr id="24" name="object-24">
            <a:extLst>
              <a:ext uri="{FF2B5EF4-FFF2-40B4-BE49-F238E27FC236}">
                <a16:creationId xmlns:a16="http://schemas.microsoft.com/office/drawing/2014/main" id="{816EF695-7130-4699-8414-14996C2BB7AB}"/>
              </a:ext>
            </a:extLst>
          </p:cNvPr>
          <p:cNvSpPr>
            <a:spLocks noGrp="1"/>
          </p:cNvSpPr>
          <p:nvPr/>
        </p:nvSpPr>
        <p:spPr>
          <a:xfrm>
            <a:off x="10528527"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1</a:t>
            </a:r>
          </a:p>
        </p:txBody>
      </p:sp>
      <p:sp>
        <p:nvSpPr>
          <p:cNvPr id="25" name="object-25">
            <a:extLst>
              <a:ext uri="{FF2B5EF4-FFF2-40B4-BE49-F238E27FC236}">
                <a16:creationId xmlns:a16="http://schemas.microsoft.com/office/drawing/2014/main" id="{B120B2A8-2EE6-4738-98C8-CF24755C96A2}"/>
              </a:ext>
            </a:extLst>
          </p:cNvPr>
          <p:cNvSpPr>
            <a:spLocks noGrp="1"/>
          </p:cNvSpPr>
          <p:nvPr/>
        </p:nvSpPr>
        <p:spPr>
          <a:xfrm>
            <a:off x="12467545" y="3988594"/>
            <a:ext cx="1939018" cy="1785938"/>
          </a:xfrm>
          <a:prstGeom prst="rect">
            <a:avLst/>
          </a:prstGeom>
          <a:solidFill>
            <a:srgbClr val="EFF6FF"/>
          </a:solidFill>
          <a:ln w="11906">
            <a:solidFill>
              <a:srgbClr val="BCD0EA"/>
            </a:solidFill>
          </a:ln>
        </p:spPr>
      </p:sp>
      <p:sp>
        <p:nvSpPr>
          <p:cNvPr id="26" name="object-26">
            <a:extLst>
              <a:ext uri="{FF2B5EF4-FFF2-40B4-BE49-F238E27FC236}">
                <a16:creationId xmlns:a16="http://schemas.microsoft.com/office/drawing/2014/main" id="{A8A6CAF7-733B-436A-855B-04200D744CF0}"/>
              </a:ext>
            </a:extLst>
          </p:cNvPr>
          <p:cNvSpPr>
            <a:spLocks noGrp="1"/>
          </p:cNvSpPr>
          <p:nvPr/>
        </p:nvSpPr>
        <p:spPr>
          <a:xfrm>
            <a:off x="12467545" y="3155156"/>
            <a:ext cx="1939018" cy="773906"/>
          </a:xfrm>
          <a:prstGeom prst="rect">
            <a:avLst/>
          </a:prstGeom>
          <a:noFill/>
          <a:ln w="0">
            <a:noFill/>
          </a:ln>
        </p:spPr>
        <p:txBody>
          <a:bodyPr anchor="ctr">
            <a:noAutofit/>
          </a:bodyPr>
          <a:lstStyle/>
          <a:p>
            <a:pPr algn="ctr">
              <a:defRPr sz="1781" b="0">
                <a:solidFill>
                  <a:srgbClr val="52647A"/>
                </a:solidFill>
                <a:latin typeface="Arial"/>
                <a:ea typeface="Arial"/>
                <a:cs typeface="Arial"/>
              </a:defRPr>
            </a:pPr>
            <a:r>
              <a:rPr sz="1781" b="0">
                <a:solidFill>
                  <a:srgbClr val="52647A"/>
                </a:solidFill>
                <a:latin typeface="Arial"/>
                <a:ea typeface="Arial"/>
                <a:cs typeface="Arial"/>
              </a:rPr>
              <a:t>ones</a:t>
            </a:r>
          </a:p>
        </p:txBody>
      </p:sp>
      <p:sp>
        <p:nvSpPr>
          <p:cNvPr id="27" name="object-27">
            <a:extLst>
              <a:ext uri="{FF2B5EF4-FFF2-40B4-BE49-F238E27FC236}">
                <a16:creationId xmlns:a16="http://schemas.microsoft.com/office/drawing/2014/main" id="{23981B44-B83B-4B48-9DEA-138D674766C1}"/>
              </a:ext>
            </a:extLst>
          </p:cNvPr>
          <p:cNvSpPr>
            <a:spLocks noGrp="1"/>
          </p:cNvSpPr>
          <p:nvPr/>
        </p:nvSpPr>
        <p:spPr>
          <a:xfrm>
            <a:off x="12467545" y="2559844"/>
            <a:ext cx="1939018" cy="773906"/>
          </a:xfrm>
          <a:prstGeom prst="rect">
            <a:avLst/>
          </a:prstGeom>
          <a:noFill/>
          <a:ln w="0">
            <a:noFill/>
          </a:ln>
        </p:spPr>
        <p:txBody>
          <a:bodyPr anchor="ctr">
            <a:noAutofit/>
          </a:bodyPr>
          <a:lstStyle/>
          <a:p>
            <a:pPr algn="ctr">
              <a:defRPr sz="4875" b="1">
                <a:solidFill>
                  <a:srgbClr val="1D4ED8"/>
                </a:solidFill>
                <a:latin typeface="Arial"/>
                <a:ea typeface="Arial"/>
                <a:cs typeface="Arial"/>
              </a:defRPr>
            </a:pPr>
            <a:r>
              <a:rPr sz="4875" b="1">
                <a:solidFill>
                  <a:srgbClr val="1D4ED8"/>
                </a:solidFill>
                <a:latin typeface="Arial"/>
                <a:ea typeface="Arial"/>
                <a:cs typeface="Arial"/>
              </a:rPr>
              <a:t>5</a:t>
            </a:r>
          </a:p>
        </p:txBody>
      </p:sp>
      <p:sp>
        <p:nvSpPr>
          <p:cNvPr id="28" name="object-28">
            <a:extLst>
              <a:ext uri="{FF2B5EF4-FFF2-40B4-BE49-F238E27FC236}">
                <a16:creationId xmlns:a16="http://schemas.microsoft.com/office/drawing/2014/main" id="{3CD8C3B1-D131-4317-AC73-A103F69FCB0A}"/>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9,000,000 + 400,000 + 7,000 + 200 + 10 + 5</a:t>
            </a:r>
          </a:p>
        </p:txBody>
      </p:sp>
    </p:spTree>
    <p:extLst>
      <p:ext uri="{BB962C8B-B14F-4D97-AF65-F5344CB8AC3E}">
        <p14:creationId xmlns:p14="http://schemas.microsoft.com/office/powerpoint/2010/main" val="35814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0 0 L 0 0.22916667 E" pathEditMode="relative" ptsTypes="">
                                      <p:cBhvr>
                                        <p:cTn id="6" dur="800" fill="hold"/>
                                        <p:tgtEl>
                                          <p:spTgt spid="9"/>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grpId="0" nodeType="clickEffect">
                                  <p:stCondLst>
                                    <p:cond delay="0"/>
                                  </p:stCondLst>
                                  <p:childTnLst>
                                    <p:animMotion origin="layout" path="M 0 0 L 0 0.22916667 E" pathEditMode="relative" ptsTypes="">
                                      <p:cBhvr>
                                        <p:cTn id="10" dur="800" fill="hold"/>
                                        <p:tgtEl>
                                          <p:spTgt spid="12"/>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grpId="0" nodeType="clickEffect">
                                  <p:stCondLst>
                                    <p:cond delay="0"/>
                                  </p:stCondLst>
                                  <p:childTnLst>
                                    <p:animMotion origin="layout" path="M 0 0 L 0 0.22916667 E" pathEditMode="relative" ptsTypes="">
                                      <p:cBhvr>
                                        <p:cTn id="14" dur="800" fill="hold"/>
                                        <p:tgtEl>
                                          <p:spTgt spid="15"/>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grpId="0" nodeType="clickEffect">
                                  <p:stCondLst>
                                    <p:cond delay="0"/>
                                  </p:stCondLst>
                                  <p:childTnLst>
                                    <p:animMotion origin="layout" path="M 0 0 L 0 0.22916667 E" pathEditMode="relative" ptsTypes="">
                                      <p:cBhvr>
                                        <p:cTn id="18" dur="800" fill="hold"/>
                                        <p:tgtEl>
                                          <p:spTgt spid="18"/>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grpId="0" nodeType="clickEffect">
                                  <p:stCondLst>
                                    <p:cond delay="0"/>
                                  </p:stCondLst>
                                  <p:childTnLst>
                                    <p:animMotion origin="layout" path="M 0 0 L 0 0.22916667 E" pathEditMode="relative" ptsTypes="">
                                      <p:cBhvr>
                                        <p:cTn id="22" dur="800" fill="hold"/>
                                        <p:tgtEl>
                                          <p:spTgt spid="21"/>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grpId="0" nodeType="clickEffect">
                                  <p:stCondLst>
                                    <p:cond delay="0"/>
                                  </p:stCondLst>
                                  <p:childTnLst>
                                    <p:animMotion origin="layout" path="M 0 0 L 0 0.22916667 E" pathEditMode="relative" ptsTypes="">
                                      <p:cBhvr>
                                        <p:cTn id="26" dur="800" fill="hold"/>
                                        <p:tgtEl>
                                          <p:spTgt spid="24"/>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grpId="0" nodeType="clickEffect">
                                  <p:stCondLst>
                                    <p:cond delay="0"/>
                                  </p:stCondLst>
                                  <p:childTnLst>
                                    <p:animMotion origin="layout" path="M 0 0 L 0 0.22916667 E" pathEditMode="relative" ptsTypes="">
                                      <p:cBhvr>
                                        <p:cTn id="30" dur="800" fill="hold"/>
                                        <p:tgtEl>
                                          <p:spTgt spid="27"/>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5" grpId="0"/>
      <p:bldP spid="18" grpId="0"/>
      <p:bldP spid="21" grpId="0"/>
      <p:bldP spid="24" grpId="0"/>
      <p:bldP spid="27" grpId="0"/>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5AB638DE-2918-4BD3-A6DA-8CFC3EEB791B}"/>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7D276419-70F6-4F51-AC26-13654C52FDD6}"/>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EDD95E15-88EE-406C-8DCF-2762B7F8270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2F26A645-6FDC-4C55-BA85-722DCF16FDB2}"/>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E0DBEB20-EA4A-4DF7-ABB2-593516B622D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Read and write numbers to ten million</a:t>
            </a:r>
          </a:p>
        </p:txBody>
      </p:sp>
      <p:sp>
        <p:nvSpPr>
          <p:cNvPr id="6" name="object-6">
            <a:extLst>
              <a:ext uri="{FF2B5EF4-FFF2-40B4-BE49-F238E27FC236}">
                <a16:creationId xmlns:a16="http://schemas.microsoft.com/office/drawing/2014/main" id="{560919D9-7112-48E9-A671-3CFADB2E441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87C04967-D0DD-4C3D-911C-9A7EC1201F65}"/>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486AAF0E-8139-4AD6-B8C2-AEDEC86CF5A0}"/>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Read 6,407,215 aloud and write it in words.</a:t>
            </a:r>
          </a:p>
        </p:txBody>
      </p:sp>
      <p:sp>
        <p:nvSpPr>
          <p:cNvPr id="9" name="object-9">
            <a:extLst>
              <a:ext uri="{FF2B5EF4-FFF2-40B4-BE49-F238E27FC236}">
                <a16:creationId xmlns:a16="http://schemas.microsoft.com/office/drawing/2014/main" id="{64890ED4-0595-477E-9241-106858D7E64A}"/>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35DD05DA-1353-4D98-8B98-B060DF4D4203}"/>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8,030,006 in words.</a:t>
            </a:r>
          </a:p>
        </p:txBody>
      </p:sp>
      <p:sp>
        <p:nvSpPr>
          <p:cNvPr id="11" name="object-11">
            <a:extLst>
              <a:ext uri="{FF2B5EF4-FFF2-40B4-BE49-F238E27FC236}">
                <a16:creationId xmlns:a16="http://schemas.microsoft.com/office/drawing/2014/main" id="{A90FEF83-13B7-4F03-923C-2F901B21F2DE}"/>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C80D1DF0-AD97-46B0-8201-96FE3BC17A0C}"/>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in digits: five million, two hundred thousand and nineteen.</a:t>
            </a:r>
          </a:p>
        </p:txBody>
      </p:sp>
      <p:sp>
        <p:nvSpPr>
          <p:cNvPr id="13" name="object-13">
            <a:extLst>
              <a:ext uri="{FF2B5EF4-FFF2-40B4-BE49-F238E27FC236}">
                <a16:creationId xmlns:a16="http://schemas.microsoft.com/office/drawing/2014/main" id="{C0B2A2DE-16C7-40CA-B290-83BEA105B8AD}"/>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325CD35B-5656-4DB3-B842-AC43C699CCD6}"/>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Read 6,407,215 aloud and write it in words.</a:t>
            </a:r>
          </a:p>
        </p:txBody>
      </p:sp>
      <p:sp>
        <p:nvSpPr>
          <p:cNvPr id="15" name="object-15">
            <a:extLst>
              <a:ext uri="{FF2B5EF4-FFF2-40B4-BE49-F238E27FC236}">
                <a16:creationId xmlns:a16="http://schemas.microsoft.com/office/drawing/2014/main" id="{37A2C141-2AC0-452A-AC5E-9435D069DBE8}"/>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819E4F54-A742-415E-9AB0-E6DD269A97F8}"/>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Write 8,030,006 in words.</a:t>
            </a:r>
          </a:p>
        </p:txBody>
      </p:sp>
      <p:sp>
        <p:nvSpPr>
          <p:cNvPr id="17" name="object-17">
            <a:extLst>
              <a:ext uri="{FF2B5EF4-FFF2-40B4-BE49-F238E27FC236}">
                <a16:creationId xmlns:a16="http://schemas.microsoft.com/office/drawing/2014/main" id="{62CB56B3-7398-4DF3-B4A7-1FC79A74BA8F}"/>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6B037EAB-3FA9-445B-80C2-482162674193}"/>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Write in digits: five million, two hundred thousand and nineteen.</a:t>
            </a:r>
          </a:p>
        </p:txBody>
      </p:sp>
      <p:sp>
        <p:nvSpPr>
          <p:cNvPr id="19" name="object-19">
            <a:extLst>
              <a:ext uri="{FF2B5EF4-FFF2-40B4-BE49-F238E27FC236}">
                <a16:creationId xmlns:a16="http://schemas.microsoft.com/office/drawing/2014/main" id="{F1EB3495-C5D6-46E4-91AA-37E72A8EB3C9}"/>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72919B49-0742-455E-916E-0C884F0C25F6}"/>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8, 8, 0, 0, 3, 1 and 5 once each to make the smallest seven-digit number.</a:t>
            </a:r>
          </a:p>
        </p:txBody>
      </p:sp>
      <p:sp>
        <p:nvSpPr>
          <p:cNvPr id="21" name="object-21">
            <a:extLst>
              <a:ext uri="{FF2B5EF4-FFF2-40B4-BE49-F238E27FC236}">
                <a16:creationId xmlns:a16="http://schemas.microsoft.com/office/drawing/2014/main" id="{83769C8C-14F4-4C79-B44A-6197D9100BE5}"/>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47999C1A-D13B-4E16-8A66-692018E70A0A}"/>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reads 6,407,215 as six million, forty-seven thousand, two hundred and fifteen.</a:t>
            </a:r>
          </a:p>
        </p:txBody>
      </p:sp>
      <p:sp>
        <p:nvSpPr>
          <p:cNvPr id="23" name="object-23">
            <a:extLst>
              <a:ext uri="{FF2B5EF4-FFF2-40B4-BE49-F238E27FC236}">
                <a16:creationId xmlns:a16="http://schemas.microsoft.com/office/drawing/2014/main" id="{7F2FC3D5-AEA6-47A2-A81D-EF514640DB40}"/>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08477604-F803-45BB-9A13-8552FAC05162}"/>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69FDB578-E267-4948-9124-75AA30E16DCB}"/>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29F2A69D-B4DB-41DD-A872-0B76B08F521A}"/>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Write in digits: five million, two hundred thousand and nineteen.</a:t>
            </a:r>
          </a:p>
        </p:txBody>
      </p:sp>
    </p:spTree>
    <p:extLst>
      <p:ext uri="{BB962C8B-B14F-4D97-AF65-F5344CB8AC3E}">
        <p14:creationId xmlns:p14="http://schemas.microsoft.com/office/powerpoint/2010/main" val="527182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1299BE82-5F55-459A-9DE8-A08B30E19477}"/>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F1BE44B6-705A-4B05-B14A-5398EAA2514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AAD0460B-BFAD-4F1F-9ACF-00BB77072A3B}"/>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EA995FFA-60DE-47E5-AB3B-91494BC7392D}"/>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Read and write numbers to ten million</a:t>
            </a:r>
          </a:p>
        </p:txBody>
      </p:sp>
      <p:sp>
        <p:nvSpPr>
          <p:cNvPr id="5" name="object-5">
            <a:extLst>
              <a:ext uri="{FF2B5EF4-FFF2-40B4-BE49-F238E27FC236}">
                <a16:creationId xmlns:a16="http://schemas.microsoft.com/office/drawing/2014/main" id="{9FA651DD-2696-47B1-AC32-3C3A776D196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60B61F1B-FECD-4569-8117-BF6FC450C7DB}"/>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BD3BD741-1598-4B3B-B649-0399EEDD26BA}"/>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Six million, four hundred and seven thousand, two hundred and fifteen.</a:t>
            </a:r>
          </a:p>
        </p:txBody>
      </p:sp>
      <p:sp>
        <p:nvSpPr>
          <p:cNvPr id="8" name="object-8">
            <a:extLst>
              <a:ext uri="{FF2B5EF4-FFF2-40B4-BE49-F238E27FC236}">
                <a16:creationId xmlns:a16="http://schemas.microsoft.com/office/drawing/2014/main" id="{B9D78498-D555-4730-8339-4AE427CCB314}"/>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72A139DB-045B-47DC-83F9-2099A2B6F9B9}"/>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Eight million, thirty thousand and six.</a:t>
            </a:r>
          </a:p>
        </p:txBody>
      </p:sp>
      <p:sp>
        <p:nvSpPr>
          <p:cNvPr id="10" name="object-10">
            <a:extLst>
              <a:ext uri="{FF2B5EF4-FFF2-40B4-BE49-F238E27FC236}">
                <a16:creationId xmlns:a16="http://schemas.microsoft.com/office/drawing/2014/main" id="{2FBBA469-90E6-4838-A411-948154112C70}"/>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70BA0520-C9C0-4EFE-AE24-24E33D17AAE4}"/>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5,200,019.</a:t>
            </a:r>
          </a:p>
        </p:txBody>
      </p:sp>
      <p:sp>
        <p:nvSpPr>
          <p:cNvPr id="12" name="object-12">
            <a:extLst>
              <a:ext uri="{FF2B5EF4-FFF2-40B4-BE49-F238E27FC236}">
                <a16:creationId xmlns:a16="http://schemas.microsoft.com/office/drawing/2014/main" id="{F3AF3BD2-B409-44BC-871D-C9C076E311AC}"/>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AFCAA67E-13BC-4230-A575-647F077BCE12}"/>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Six million, four hundred and seven thousand, two hundred and fifteen.</a:t>
            </a:r>
          </a:p>
        </p:txBody>
      </p:sp>
      <p:sp>
        <p:nvSpPr>
          <p:cNvPr id="14" name="object-14">
            <a:extLst>
              <a:ext uri="{FF2B5EF4-FFF2-40B4-BE49-F238E27FC236}">
                <a16:creationId xmlns:a16="http://schemas.microsoft.com/office/drawing/2014/main" id="{25970C3A-967B-4C9A-ABA1-C6DA6A064876}"/>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5FF64207-6CEF-4F18-B1DE-08690CCBE2AF}"/>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Eight million, thirty thousand and six. Method or representation may vary.</a:t>
            </a:r>
          </a:p>
        </p:txBody>
      </p:sp>
      <p:sp>
        <p:nvSpPr>
          <p:cNvPr id="16" name="object-16">
            <a:extLst>
              <a:ext uri="{FF2B5EF4-FFF2-40B4-BE49-F238E27FC236}">
                <a16:creationId xmlns:a16="http://schemas.microsoft.com/office/drawing/2014/main" id="{2BB4B8BF-E501-49DD-BDB3-979C59FEDE5E}"/>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CFDC760B-B4DF-4F42-947F-CACD800E792A}"/>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5,200,019. A valid check must be shown.</a:t>
            </a:r>
          </a:p>
        </p:txBody>
      </p:sp>
      <p:sp>
        <p:nvSpPr>
          <p:cNvPr id="18" name="object-18">
            <a:extLst>
              <a:ext uri="{FF2B5EF4-FFF2-40B4-BE49-F238E27FC236}">
                <a16:creationId xmlns:a16="http://schemas.microsoft.com/office/drawing/2014/main" id="{87A48F8A-66DA-4563-B17D-5C97E6CDB1BB}"/>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E4E49CC7-174B-4916-8F70-9008666E6F07}"/>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1,003,588.</a:t>
            </a:r>
          </a:p>
        </p:txBody>
      </p:sp>
      <p:sp>
        <p:nvSpPr>
          <p:cNvPr id="20" name="object-20">
            <a:extLst>
              <a:ext uri="{FF2B5EF4-FFF2-40B4-BE49-F238E27FC236}">
                <a16:creationId xmlns:a16="http://schemas.microsoft.com/office/drawing/2014/main" id="{AD8478C1-2575-4896-8BA8-36499215079F}"/>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D310053C-8772-4C42-BE7F-56739E86E630}"/>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The zero holds the ten-thousands place, so the middle period is four hundred and seven thousand.</a:t>
            </a:r>
          </a:p>
        </p:txBody>
      </p:sp>
      <p:sp>
        <p:nvSpPr>
          <p:cNvPr id="22" name="object-22">
            <a:extLst>
              <a:ext uri="{FF2B5EF4-FFF2-40B4-BE49-F238E27FC236}">
                <a16:creationId xmlns:a16="http://schemas.microsoft.com/office/drawing/2014/main" id="{9AC1F8CB-4600-4AD5-B22B-95FD18124C03}"/>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988037E8-7049-405D-9288-7F0A4EA85D92}"/>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A3BB3944-96DC-48B2-A7FA-186BCCF5B30D}"/>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5D5C9A94-44F5-480D-8F77-930472F9E318}"/>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10067868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1040</Words>
  <Application>Microsoft Office PowerPoint</Application>
  <DocSecurity>0</DocSecurity>
  <PresentationFormat>Custom</PresentationFormat>
  <Paragraphs>154</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2026-09-14T13:19:09Z</dcterms:created>
  <dcterms:modified xsi:type="dcterms:W3CDTF">2026-09-14T13:19:24Z</dcterms:modified>
</cp:coreProperties>
</file>