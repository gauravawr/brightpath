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Revisit multiplication by one digit. Revisit multiplication by one digit.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Revisit multiplication by one digit. I do. Reveal each digit multiplication and the carried amount. On a tens row, reveal the zero placeholder before calculating. For a decimal, use the same place-value scale in the answer.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Revisit multiplication by one digit. You do. Pause before clicking. Let pupils try independently, then reveal and discuss every step. Reveal each digit multiplication and the carried amount. On a tens row, reveal the zero placeholder before calculating. For a decimal, use the same place-value scale in the answer.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Revisit multiplication by one digit. I do. Reveal each digit multiplication and the carried amount. On a tens row, reveal the zero placeholder before calculating. For a decimal, use the same place-value scale in the answer.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Revisit multiplication by one digit. You do. Pause before clicking. Let pupils try independently, then reveal and discuss every step. Reveal each digit multiplication and the carried amount. On a tens row, reveal the zero placeholder before calculating. For a decimal, use the same place-value scale in the answer.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Revisit multiplication by one digit.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Revisit multiplication by one digit.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B1293721-F02D-453A-8A2D-8F7364756242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Revisit multiplication by one digit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9AFCDEA8-C63A-4175-8B44-E7C402531DBC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6631025D-9982-4028-BA69-CA2E919EAFEB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9C8E02D9-7907-403C-ACBC-749B3CE5259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Revisit multiplication by one digit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F0944170-999A-4370-AF23-F034D19BB1F6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13268B72-6112-4A18-98DA-42DC33C53875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multiply numbers up to four digits by one digit accurately.</a:t>
            </a:r>
          </a:p>
        </p:txBody>
      </p:sp>
    </p:spTree>
    <p:extLst>
      <p:ext uri="{BB962C8B-B14F-4D97-AF65-F5344CB8AC3E}">
        <p14:creationId xmlns:p14="http://schemas.microsoft.com/office/powerpoint/2010/main" val="975882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E50C1588-F6D2-4868-A390-DCA99B3F03DC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81B774C0-4A3E-4D65-BD58-48725E7E55BE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3,482 × 6.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6A38F7DE-8A9F-4FC1-B19B-C370C10BFB5E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C0026D62-A2E1-452A-B99E-B16E511C0169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Revisit multiplication by one digit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A353E8DE-9D60-435F-A871-C067FFEA18CD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4594346D-7FED-4FF3-B749-FF7DE36B7BD2}"/>
              </a:ext>
            </a:extLst>
          </p:cNvPr>
          <p:cNvSpPr>
            <a:spLocks noGrp="1"/>
          </p:cNvSpPr>
          <p:nvPr/>
        </p:nvSpPr>
        <p:spPr>
          <a:xfrm>
            <a:off x="740568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18F0CC8A-C304-452E-AA22-69812EACD0C0}"/>
              </a:ext>
            </a:extLst>
          </p:cNvPr>
          <p:cNvSpPr>
            <a:spLocks noGrp="1"/>
          </p:cNvSpPr>
          <p:nvPr/>
        </p:nvSpPr>
        <p:spPr>
          <a:xfrm>
            <a:off x="826293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5B24C322-6C58-4E81-B467-702783279700}"/>
              </a:ext>
            </a:extLst>
          </p:cNvPr>
          <p:cNvSpPr>
            <a:spLocks noGrp="1"/>
          </p:cNvSpPr>
          <p:nvPr/>
        </p:nvSpPr>
        <p:spPr>
          <a:xfrm>
            <a:off x="912018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AF8E219E-095E-44E1-BE03-799C3DB79546}"/>
              </a:ext>
            </a:extLst>
          </p:cNvPr>
          <p:cNvSpPr>
            <a:spLocks noGrp="1"/>
          </p:cNvSpPr>
          <p:nvPr/>
        </p:nvSpPr>
        <p:spPr>
          <a:xfrm>
            <a:off x="997743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1B3C9C6E-B9E0-4207-9810-7E8341B2769A}"/>
              </a:ext>
            </a:extLst>
          </p:cNvPr>
          <p:cNvSpPr>
            <a:spLocks noGrp="1"/>
          </p:cNvSpPr>
          <p:nvPr/>
        </p:nvSpPr>
        <p:spPr>
          <a:xfrm>
            <a:off x="5834063" y="3690938"/>
            <a:ext cx="7143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B7EAE42F-FEFB-46D9-B4F9-6B6903EE31C6}"/>
              </a:ext>
            </a:extLst>
          </p:cNvPr>
          <p:cNvSpPr>
            <a:spLocks noGrp="1"/>
          </p:cNvSpPr>
          <p:nvPr/>
        </p:nvSpPr>
        <p:spPr>
          <a:xfrm>
            <a:off x="9120188" y="3690938"/>
            <a:ext cx="1619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F0F65F98-FD96-4081-8218-5B35FC4A0D22}"/>
              </a:ext>
            </a:extLst>
          </p:cNvPr>
          <p:cNvSpPr>
            <a:spLocks noGrp="1"/>
          </p:cNvSpPr>
          <p:nvPr/>
        </p:nvSpPr>
        <p:spPr>
          <a:xfrm>
            <a:off x="6369844" y="4464844"/>
            <a:ext cx="4583906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BC2B3705-B9E5-4BBA-8DB7-2EB39FE7827A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 × 2 = 12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541ED75A-D64A-4580-8036-F3BB342962F7}"/>
              </a:ext>
            </a:extLst>
          </p:cNvPr>
          <p:cNvSpPr>
            <a:spLocks noGrp="1"/>
          </p:cNvSpPr>
          <p:nvPr/>
        </p:nvSpPr>
        <p:spPr>
          <a:xfrm>
            <a:off x="99774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8B5411B8-40F5-4900-A72D-A3BCE7CB1C4B}"/>
              </a:ext>
            </a:extLst>
          </p:cNvPr>
          <p:cNvSpPr>
            <a:spLocks noGrp="1"/>
          </p:cNvSpPr>
          <p:nvPr/>
        </p:nvSpPr>
        <p:spPr>
          <a:xfrm>
            <a:off x="997743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2BC2198E-F3C3-45FD-9467-56BC0BAA1C78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 × 8 + 1 = 49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653E0A1E-0903-4317-9DB7-F204BD7234A4}"/>
              </a:ext>
            </a:extLst>
          </p:cNvPr>
          <p:cNvSpPr>
            <a:spLocks noGrp="1"/>
          </p:cNvSpPr>
          <p:nvPr/>
        </p:nvSpPr>
        <p:spPr>
          <a:xfrm>
            <a:off x="912018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0EE8D4DE-A61B-4C25-B3C6-C9176EB6BD01}"/>
              </a:ext>
            </a:extLst>
          </p:cNvPr>
          <p:cNvSpPr>
            <a:spLocks noGrp="1"/>
          </p:cNvSpPr>
          <p:nvPr/>
        </p:nvSpPr>
        <p:spPr>
          <a:xfrm>
            <a:off x="912018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B60372C7-0DE0-4EFF-86B9-ED6218545D9B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 × 4 + 4 = 28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0461F7F5-7328-4D42-9A69-A446AF7F94C3}"/>
              </a:ext>
            </a:extLst>
          </p:cNvPr>
          <p:cNvSpPr>
            <a:spLocks noGrp="1"/>
          </p:cNvSpPr>
          <p:nvPr/>
        </p:nvSpPr>
        <p:spPr>
          <a:xfrm>
            <a:off x="82629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35FDA982-5D88-4C30-AAF0-7E4BF3B4B5ED}"/>
              </a:ext>
            </a:extLst>
          </p:cNvPr>
          <p:cNvSpPr>
            <a:spLocks noGrp="1"/>
          </p:cNvSpPr>
          <p:nvPr/>
        </p:nvSpPr>
        <p:spPr>
          <a:xfrm>
            <a:off x="826293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97286713-F1D4-4AD7-98EE-F7DEE52BF342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 × 3 + 2 = 20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961291C7-FDEF-4A3D-BA21-52B15742480E}"/>
              </a:ext>
            </a:extLst>
          </p:cNvPr>
          <p:cNvSpPr>
            <a:spLocks noGrp="1"/>
          </p:cNvSpPr>
          <p:nvPr/>
        </p:nvSpPr>
        <p:spPr>
          <a:xfrm>
            <a:off x="65484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A863554D-AC49-47E8-8FD1-05043F5905A2}"/>
              </a:ext>
            </a:extLst>
          </p:cNvPr>
          <p:cNvSpPr>
            <a:spLocks noGrp="1"/>
          </p:cNvSpPr>
          <p:nvPr/>
        </p:nvSpPr>
        <p:spPr>
          <a:xfrm>
            <a:off x="740568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9314C41A-9A0B-4B42-8F9A-A6C27C647778}"/>
              </a:ext>
            </a:extLst>
          </p:cNvPr>
          <p:cNvSpPr>
            <a:spLocks noGrp="1"/>
          </p:cNvSpPr>
          <p:nvPr/>
        </p:nvSpPr>
        <p:spPr>
          <a:xfrm>
            <a:off x="892969" y="7286625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3,482 × 6 = 20,892</a:t>
            </a:r>
          </a:p>
        </p:txBody>
      </p:sp>
    </p:spTree>
    <p:extLst>
      <p:ext uri="{BB962C8B-B14F-4D97-AF65-F5344CB8AC3E}">
        <p14:creationId xmlns:p14="http://schemas.microsoft.com/office/powerpoint/2010/main" val="731923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14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30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46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4" grpId="0"/>
      <p:bldP spid="15" grpId="0"/>
      <p:bldP spid="15" grpId="1"/>
      <p:bldP spid="15" grpId="2"/>
      <p:bldP spid="16" grpId="0"/>
      <p:bldP spid="16" grpId="1"/>
      <p:bldP spid="17" grpId="0"/>
      <p:bldP spid="18" grpId="0"/>
      <p:bldP spid="18" grpId="1"/>
      <p:bldP spid="18" grpId="2"/>
      <p:bldP spid="19" grpId="0"/>
      <p:bldP spid="19" grpId="1"/>
      <p:bldP spid="20" grpId="0"/>
      <p:bldP spid="21" grpId="0"/>
      <p:bldP spid="21" grpId="1"/>
      <p:bldP spid="21" grpId="2"/>
      <p:bldP spid="22" grpId="0"/>
      <p:bldP spid="23" grpId="0"/>
      <p:bldP spid="24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66D62FFF-FAA1-4E47-995A-4F323C1C842C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FCCE4C49-111D-4810-B7E3-758F56901C62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5E2CCC95-8AF8-40ED-B1EC-E8D5273D68ED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3,493 × 6.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EFF74118-CD9D-4DCC-BFE4-935C002018F1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27B324B8-957C-49F7-A0CC-F7F33CBEB5C6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Revisit multiplication by one digit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DDFE084C-51E8-4E07-B692-35DA91B4DD53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C42EBCA3-75B3-40D8-A1EC-094F98928D3D}"/>
              </a:ext>
            </a:extLst>
          </p:cNvPr>
          <p:cNvSpPr>
            <a:spLocks noGrp="1"/>
          </p:cNvSpPr>
          <p:nvPr/>
        </p:nvSpPr>
        <p:spPr>
          <a:xfrm>
            <a:off x="740568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DEADACDA-42AA-4D6C-B979-AC1412184201}"/>
              </a:ext>
            </a:extLst>
          </p:cNvPr>
          <p:cNvSpPr>
            <a:spLocks noGrp="1"/>
          </p:cNvSpPr>
          <p:nvPr/>
        </p:nvSpPr>
        <p:spPr>
          <a:xfrm>
            <a:off x="826293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F11C37A4-EC14-4329-9FAB-8CBBC0D7FFB4}"/>
              </a:ext>
            </a:extLst>
          </p:cNvPr>
          <p:cNvSpPr>
            <a:spLocks noGrp="1"/>
          </p:cNvSpPr>
          <p:nvPr/>
        </p:nvSpPr>
        <p:spPr>
          <a:xfrm>
            <a:off x="912018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875EACA4-B6CD-49F4-8490-F434E1A07D85}"/>
              </a:ext>
            </a:extLst>
          </p:cNvPr>
          <p:cNvSpPr>
            <a:spLocks noGrp="1"/>
          </p:cNvSpPr>
          <p:nvPr/>
        </p:nvSpPr>
        <p:spPr>
          <a:xfrm>
            <a:off x="997743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AF2AF3B5-AEC8-466D-93A2-4187F62F9482}"/>
              </a:ext>
            </a:extLst>
          </p:cNvPr>
          <p:cNvSpPr>
            <a:spLocks noGrp="1"/>
          </p:cNvSpPr>
          <p:nvPr/>
        </p:nvSpPr>
        <p:spPr>
          <a:xfrm>
            <a:off x="5834063" y="3690938"/>
            <a:ext cx="7143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DDA421CA-655B-4F45-A097-06C17C56EBE5}"/>
              </a:ext>
            </a:extLst>
          </p:cNvPr>
          <p:cNvSpPr>
            <a:spLocks noGrp="1"/>
          </p:cNvSpPr>
          <p:nvPr/>
        </p:nvSpPr>
        <p:spPr>
          <a:xfrm>
            <a:off x="9120188" y="3690938"/>
            <a:ext cx="1619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BFEEA7AF-B004-469C-B16D-4630B388CA71}"/>
              </a:ext>
            </a:extLst>
          </p:cNvPr>
          <p:cNvSpPr>
            <a:spLocks noGrp="1"/>
          </p:cNvSpPr>
          <p:nvPr/>
        </p:nvSpPr>
        <p:spPr>
          <a:xfrm>
            <a:off x="6369844" y="4464844"/>
            <a:ext cx="4583906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9AE99DAA-6783-4115-B6B9-D32CDC209054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 × 3 = 18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829E4D4C-E4F7-4A56-AD82-D9A7CD11C174}"/>
              </a:ext>
            </a:extLst>
          </p:cNvPr>
          <p:cNvSpPr>
            <a:spLocks noGrp="1"/>
          </p:cNvSpPr>
          <p:nvPr/>
        </p:nvSpPr>
        <p:spPr>
          <a:xfrm>
            <a:off x="99774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6FB74E9E-F89E-4CD0-AC55-A143C894F33F}"/>
              </a:ext>
            </a:extLst>
          </p:cNvPr>
          <p:cNvSpPr>
            <a:spLocks noGrp="1"/>
          </p:cNvSpPr>
          <p:nvPr/>
        </p:nvSpPr>
        <p:spPr>
          <a:xfrm>
            <a:off x="997743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96FB396D-85F2-45F5-B57D-7DFF409407D1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 × 9 + 1 = 55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BB01C150-CBBD-45A6-8E7A-9CA7B702E0FF}"/>
              </a:ext>
            </a:extLst>
          </p:cNvPr>
          <p:cNvSpPr>
            <a:spLocks noGrp="1"/>
          </p:cNvSpPr>
          <p:nvPr/>
        </p:nvSpPr>
        <p:spPr>
          <a:xfrm>
            <a:off x="912018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305E23C5-24A0-49EC-A7C8-A402A228F787}"/>
              </a:ext>
            </a:extLst>
          </p:cNvPr>
          <p:cNvSpPr>
            <a:spLocks noGrp="1"/>
          </p:cNvSpPr>
          <p:nvPr/>
        </p:nvSpPr>
        <p:spPr>
          <a:xfrm>
            <a:off x="912018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1590A991-C824-4DAE-A353-8B7007CBCD7C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 × 4 + 5 = 29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DA23B153-B532-4468-B7D0-12EFAE015869}"/>
              </a:ext>
            </a:extLst>
          </p:cNvPr>
          <p:cNvSpPr>
            <a:spLocks noGrp="1"/>
          </p:cNvSpPr>
          <p:nvPr/>
        </p:nvSpPr>
        <p:spPr>
          <a:xfrm>
            <a:off x="82629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D1FD1F35-CCE5-49D8-AB3F-88BD2933AFB7}"/>
              </a:ext>
            </a:extLst>
          </p:cNvPr>
          <p:cNvSpPr>
            <a:spLocks noGrp="1"/>
          </p:cNvSpPr>
          <p:nvPr/>
        </p:nvSpPr>
        <p:spPr>
          <a:xfrm>
            <a:off x="826293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773F281C-B0EC-463D-AEC9-F4FDC4F0C8C1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 × 3 + 2 = 20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55017E31-98FF-490E-A06F-6703437B67ED}"/>
              </a:ext>
            </a:extLst>
          </p:cNvPr>
          <p:cNvSpPr>
            <a:spLocks noGrp="1"/>
          </p:cNvSpPr>
          <p:nvPr/>
        </p:nvSpPr>
        <p:spPr>
          <a:xfrm>
            <a:off x="65484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FD224969-05A4-4C18-B3E9-5D5BF211ABC6}"/>
              </a:ext>
            </a:extLst>
          </p:cNvPr>
          <p:cNvSpPr>
            <a:spLocks noGrp="1"/>
          </p:cNvSpPr>
          <p:nvPr/>
        </p:nvSpPr>
        <p:spPr>
          <a:xfrm>
            <a:off x="740568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30F6042C-8A43-48DF-98C5-1CDD10484B81}"/>
              </a:ext>
            </a:extLst>
          </p:cNvPr>
          <p:cNvSpPr>
            <a:spLocks noGrp="1"/>
          </p:cNvSpPr>
          <p:nvPr/>
        </p:nvSpPr>
        <p:spPr>
          <a:xfrm>
            <a:off x="892969" y="7286625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3,493 × 6 = 20,958</a:t>
            </a:r>
          </a:p>
        </p:txBody>
      </p:sp>
    </p:spTree>
    <p:extLst>
      <p:ext uri="{BB962C8B-B14F-4D97-AF65-F5344CB8AC3E}">
        <p14:creationId xmlns:p14="http://schemas.microsoft.com/office/powerpoint/2010/main" val="2029338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14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30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46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5" grpId="0"/>
      <p:bldP spid="16" grpId="0"/>
      <p:bldP spid="16" grpId="1"/>
      <p:bldP spid="16" grpId="2"/>
      <p:bldP spid="17" grpId="0"/>
      <p:bldP spid="17" grpId="1"/>
      <p:bldP spid="18" grpId="0"/>
      <p:bldP spid="19" grpId="0"/>
      <p:bldP spid="19" grpId="1"/>
      <p:bldP spid="19" grpId="2"/>
      <p:bldP spid="20" grpId="0"/>
      <p:bldP spid="20" grpId="1"/>
      <p:bldP spid="21" grpId="0"/>
      <p:bldP spid="22" grpId="0"/>
      <p:bldP spid="22" grpId="1"/>
      <p:bldP spid="22" grpId="2"/>
      <p:bldP spid="23" grpId="0"/>
      <p:bldP spid="24" grpId="0"/>
      <p:bldP spid="25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-1">
            <a:extLst>
              <a:ext uri="{FF2B5EF4-FFF2-40B4-BE49-F238E27FC236}">
                <a16:creationId xmlns:a16="http://schemas.microsoft.com/office/drawing/2014/main" id="{C694C190-FE7F-4E96-9C49-60D3A4C7AC32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98E625ED-31ED-4A79-A23C-AC29C87EC673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3,504 × 6.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D67F789C-1C28-420B-8B3D-589F65608FA8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D8868EDE-F1B6-4341-9EF0-760599B9DD51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Revisit multiplication by one digit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799E4B1C-8BF9-4F96-BF49-5EDEDB6E0D04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E1A4D7F3-32ED-44BD-8FBB-AACCC854369B}"/>
              </a:ext>
            </a:extLst>
          </p:cNvPr>
          <p:cNvSpPr>
            <a:spLocks noGrp="1"/>
          </p:cNvSpPr>
          <p:nvPr/>
        </p:nvSpPr>
        <p:spPr>
          <a:xfrm>
            <a:off x="740568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C2CB2B55-E915-4A1F-89B9-C1ECBA868546}"/>
              </a:ext>
            </a:extLst>
          </p:cNvPr>
          <p:cNvSpPr>
            <a:spLocks noGrp="1"/>
          </p:cNvSpPr>
          <p:nvPr/>
        </p:nvSpPr>
        <p:spPr>
          <a:xfrm>
            <a:off x="826293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9D3B5B44-C671-48E2-AABA-279799F366A5}"/>
              </a:ext>
            </a:extLst>
          </p:cNvPr>
          <p:cNvSpPr>
            <a:spLocks noGrp="1"/>
          </p:cNvSpPr>
          <p:nvPr/>
        </p:nvSpPr>
        <p:spPr>
          <a:xfrm>
            <a:off x="912018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E8ECBC91-C7C9-4DF5-93AD-D9A025E79ED3}"/>
              </a:ext>
            </a:extLst>
          </p:cNvPr>
          <p:cNvSpPr>
            <a:spLocks noGrp="1"/>
          </p:cNvSpPr>
          <p:nvPr/>
        </p:nvSpPr>
        <p:spPr>
          <a:xfrm>
            <a:off x="997743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413A0861-CD2C-42F8-833D-A8D324DB6B6E}"/>
              </a:ext>
            </a:extLst>
          </p:cNvPr>
          <p:cNvSpPr>
            <a:spLocks noGrp="1"/>
          </p:cNvSpPr>
          <p:nvPr/>
        </p:nvSpPr>
        <p:spPr>
          <a:xfrm>
            <a:off x="5834063" y="3690938"/>
            <a:ext cx="7143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3D1054E3-6B1C-4E5B-AC2D-D9F446A68E7D}"/>
              </a:ext>
            </a:extLst>
          </p:cNvPr>
          <p:cNvSpPr>
            <a:spLocks noGrp="1"/>
          </p:cNvSpPr>
          <p:nvPr/>
        </p:nvSpPr>
        <p:spPr>
          <a:xfrm>
            <a:off x="9120188" y="3690938"/>
            <a:ext cx="1619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3E630A20-E122-45C9-BED5-A73791EECEB9}"/>
              </a:ext>
            </a:extLst>
          </p:cNvPr>
          <p:cNvSpPr>
            <a:spLocks noGrp="1"/>
          </p:cNvSpPr>
          <p:nvPr/>
        </p:nvSpPr>
        <p:spPr>
          <a:xfrm>
            <a:off x="6369844" y="4464844"/>
            <a:ext cx="4583906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C0401854-93DE-444A-B33E-B9BBBFF45758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 × 4 = 24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DC8BEA75-229C-4A3A-9D2A-B8B026AF61E5}"/>
              </a:ext>
            </a:extLst>
          </p:cNvPr>
          <p:cNvSpPr>
            <a:spLocks noGrp="1"/>
          </p:cNvSpPr>
          <p:nvPr/>
        </p:nvSpPr>
        <p:spPr>
          <a:xfrm>
            <a:off x="99774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A5551A74-D444-4C7D-A160-E5113F2BB2A4}"/>
              </a:ext>
            </a:extLst>
          </p:cNvPr>
          <p:cNvSpPr>
            <a:spLocks noGrp="1"/>
          </p:cNvSpPr>
          <p:nvPr/>
        </p:nvSpPr>
        <p:spPr>
          <a:xfrm>
            <a:off x="997743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20559AC7-BDA4-46B5-AE53-4659E5073C89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 × 0 + 2 = 2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D9F81BD8-003C-48DD-94F2-14E5AED4BB98}"/>
              </a:ext>
            </a:extLst>
          </p:cNvPr>
          <p:cNvSpPr>
            <a:spLocks noGrp="1"/>
          </p:cNvSpPr>
          <p:nvPr/>
        </p:nvSpPr>
        <p:spPr>
          <a:xfrm>
            <a:off x="912018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6DD5111F-B4E4-45FF-9F7B-F1347060E3E8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 × 5 = 30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4F4F8601-93E6-4194-9AA9-46DCD9C958F8}"/>
              </a:ext>
            </a:extLst>
          </p:cNvPr>
          <p:cNvSpPr>
            <a:spLocks noGrp="1"/>
          </p:cNvSpPr>
          <p:nvPr/>
        </p:nvSpPr>
        <p:spPr>
          <a:xfrm>
            <a:off x="82629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B5332422-555F-496D-88FA-673E8D193E94}"/>
              </a:ext>
            </a:extLst>
          </p:cNvPr>
          <p:cNvSpPr>
            <a:spLocks noGrp="1"/>
          </p:cNvSpPr>
          <p:nvPr/>
        </p:nvSpPr>
        <p:spPr>
          <a:xfrm>
            <a:off x="826293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D9592D81-DBE5-4917-9EE7-89381383185F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 × 3 + 3 = 21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75A33F52-2640-40B9-96D0-18DB0C93403F}"/>
              </a:ext>
            </a:extLst>
          </p:cNvPr>
          <p:cNvSpPr>
            <a:spLocks noGrp="1"/>
          </p:cNvSpPr>
          <p:nvPr/>
        </p:nvSpPr>
        <p:spPr>
          <a:xfrm>
            <a:off x="65484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4FFBD810-69D6-455E-A4D0-6E512BD59466}"/>
              </a:ext>
            </a:extLst>
          </p:cNvPr>
          <p:cNvSpPr>
            <a:spLocks noGrp="1"/>
          </p:cNvSpPr>
          <p:nvPr/>
        </p:nvSpPr>
        <p:spPr>
          <a:xfrm>
            <a:off x="740568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95E49E86-04FB-4408-9795-6BFE8BE4F45B}"/>
              </a:ext>
            </a:extLst>
          </p:cNvPr>
          <p:cNvSpPr>
            <a:spLocks noGrp="1"/>
          </p:cNvSpPr>
          <p:nvPr/>
        </p:nvSpPr>
        <p:spPr>
          <a:xfrm>
            <a:off x="892969" y="7286625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3,504 × 6 = 21,024</a:t>
            </a:r>
          </a:p>
        </p:txBody>
      </p:sp>
    </p:spTree>
    <p:extLst>
      <p:ext uri="{BB962C8B-B14F-4D97-AF65-F5344CB8AC3E}">
        <p14:creationId xmlns:p14="http://schemas.microsoft.com/office/powerpoint/2010/main" val="172677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14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39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4" grpId="0"/>
      <p:bldP spid="15" grpId="0"/>
      <p:bldP spid="15" grpId="1"/>
      <p:bldP spid="15" grpId="2"/>
      <p:bldP spid="16" grpId="0"/>
      <p:bldP spid="16" grpId="1"/>
      <p:bldP spid="17" grpId="0"/>
      <p:bldP spid="18" grpId="0"/>
      <p:bldP spid="18" grpId="1"/>
      <p:bldP spid="19" grpId="0"/>
      <p:bldP spid="20" grpId="0"/>
      <p:bldP spid="20" grpId="1"/>
      <p:bldP spid="20" grpId="2"/>
      <p:bldP spid="21" grpId="0"/>
      <p:bldP spid="22" grpId="0"/>
      <p:bldP spid="23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B2ED45A4-B9AE-46E4-B19C-40CDBE8486A3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5D9FA05C-2B1E-4445-9458-2C80B1D9280A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2EC15734-5ABB-4E1A-BB68-D094342D9FFB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3,515 × 6.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315ACBF7-49E4-45CB-9916-8C4E85CAC3DA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D09CE4F4-6137-41FB-902B-E0A3914FE907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Revisit multiplication by one digit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CF4063F9-9C64-42B2-9BFF-C83A599F1A59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023CBEA0-CA32-4440-BA60-8B38B8012ED5}"/>
              </a:ext>
            </a:extLst>
          </p:cNvPr>
          <p:cNvSpPr>
            <a:spLocks noGrp="1"/>
          </p:cNvSpPr>
          <p:nvPr/>
        </p:nvSpPr>
        <p:spPr>
          <a:xfrm>
            <a:off x="740568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2F84313F-19A9-41B9-82BE-9FB618EDA4CC}"/>
              </a:ext>
            </a:extLst>
          </p:cNvPr>
          <p:cNvSpPr>
            <a:spLocks noGrp="1"/>
          </p:cNvSpPr>
          <p:nvPr/>
        </p:nvSpPr>
        <p:spPr>
          <a:xfrm>
            <a:off x="826293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FE340BE0-9FFB-4600-BB5A-0500FFAC2E1E}"/>
              </a:ext>
            </a:extLst>
          </p:cNvPr>
          <p:cNvSpPr>
            <a:spLocks noGrp="1"/>
          </p:cNvSpPr>
          <p:nvPr/>
        </p:nvSpPr>
        <p:spPr>
          <a:xfrm>
            <a:off x="912018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615F7E5E-C257-4BF9-882B-9653656EBD1E}"/>
              </a:ext>
            </a:extLst>
          </p:cNvPr>
          <p:cNvSpPr>
            <a:spLocks noGrp="1"/>
          </p:cNvSpPr>
          <p:nvPr/>
        </p:nvSpPr>
        <p:spPr>
          <a:xfrm>
            <a:off x="997743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5D5A2066-8294-473D-AB30-2C19E7859886}"/>
              </a:ext>
            </a:extLst>
          </p:cNvPr>
          <p:cNvSpPr>
            <a:spLocks noGrp="1"/>
          </p:cNvSpPr>
          <p:nvPr/>
        </p:nvSpPr>
        <p:spPr>
          <a:xfrm>
            <a:off x="5834063" y="3690938"/>
            <a:ext cx="7143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D798ECE3-FA15-4943-93B0-C06E02C79EF4}"/>
              </a:ext>
            </a:extLst>
          </p:cNvPr>
          <p:cNvSpPr>
            <a:spLocks noGrp="1"/>
          </p:cNvSpPr>
          <p:nvPr/>
        </p:nvSpPr>
        <p:spPr>
          <a:xfrm>
            <a:off x="9120188" y="3690938"/>
            <a:ext cx="1619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B789794C-FDA0-4806-9DA8-EBBAB648BB6F}"/>
              </a:ext>
            </a:extLst>
          </p:cNvPr>
          <p:cNvSpPr>
            <a:spLocks noGrp="1"/>
          </p:cNvSpPr>
          <p:nvPr/>
        </p:nvSpPr>
        <p:spPr>
          <a:xfrm>
            <a:off x="6369844" y="4464844"/>
            <a:ext cx="4583906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136B7C75-4A3D-4167-9141-E00B374EB8E7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 × 5 = 30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1EACA1C0-B625-4644-8843-1FB0BA6953E6}"/>
              </a:ext>
            </a:extLst>
          </p:cNvPr>
          <p:cNvSpPr>
            <a:spLocks noGrp="1"/>
          </p:cNvSpPr>
          <p:nvPr/>
        </p:nvSpPr>
        <p:spPr>
          <a:xfrm>
            <a:off x="99774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397BB563-7D2B-45FB-98D8-A70EEB3C0AC0}"/>
              </a:ext>
            </a:extLst>
          </p:cNvPr>
          <p:cNvSpPr>
            <a:spLocks noGrp="1"/>
          </p:cNvSpPr>
          <p:nvPr/>
        </p:nvSpPr>
        <p:spPr>
          <a:xfrm>
            <a:off x="997743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3A65C834-5E2D-4874-BF0A-9DE9B67307F2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 × 1 + 3 = 9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54256B3E-6315-479D-BB1B-2A95D6BD2162}"/>
              </a:ext>
            </a:extLst>
          </p:cNvPr>
          <p:cNvSpPr>
            <a:spLocks noGrp="1"/>
          </p:cNvSpPr>
          <p:nvPr/>
        </p:nvSpPr>
        <p:spPr>
          <a:xfrm>
            <a:off x="912018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E44409F7-6219-4D85-B9FD-CFE7BA7A6E95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 × 5 = 30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BCAC709A-ACF7-40DA-B86E-D7814CB7B5D3}"/>
              </a:ext>
            </a:extLst>
          </p:cNvPr>
          <p:cNvSpPr>
            <a:spLocks noGrp="1"/>
          </p:cNvSpPr>
          <p:nvPr/>
        </p:nvSpPr>
        <p:spPr>
          <a:xfrm>
            <a:off x="82629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F116D94F-3E5C-469E-A450-884193F67B50}"/>
              </a:ext>
            </a:extLst>
          </p:cNvPr>
          <p:cNvSpPr>
            <a:spLocks noGrp="1"/>
          </p:cNvSpPr>
          <p:nvPr/>
        </p:nvSpPr>
        <p:spPr>
          <a:xfrm>
            <a:off x="826293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E0D40E79-2F22-4974-B3F0-7D1713B0848B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 × 3 + 3 = 21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4467E340-500B-4350-A62D-C9DE244F7A9D}"/>
              </a:ext>
            </a:extLst>
          </p:cNvPr>
          <p:cNvSpPr>
            <a:spLocks noGrp="1"/>
          </p:cNvSpPr>
          <p:nvPr/>
        </p:nvSpPr>
        <p:spPr>
          <a:xfrm>
            <a:off x="65484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AB61AF87-09B5-4564-8E6A-2AC356E10675}"/>
              </a:ext>
            </a:extLst>
          </p:cNvPr>
          <p:cNvSpPr>
            <a:spLocks noGrp="1"/>
          </p:cNvSpPr>
          <p:nvPr/>
        </p:nvSpPr>
        <p:spPr>
          <a:xfrm>
            <a:off x="740568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E4CA2C9E-212F-47F7-A3ED-4944EB11B579}"/>
              </a:ext>
            </a:extLst>
          </p:cNvPr>
          <p:cNvSpPr>
            <a:spLocks noGrp="1"/>
          </p:cNvSpPr>
          <p:nvPr/>
        </p:nvSpPr>
        <p:spPr>
          <a:xfrm>
            <a:off x="892969" y="7286625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3,515 × 6 = 21,090</a:t>
            </a:r>
          </a:p>
        </p:txBody>
      </p:sp>
    </p:spTree>
    <p:extLst>
      <p:ext uri="{BB962C8B-B14F-4D97-AF65-F5344CB8AC3E}">
        <p14:creationId xmlns:p14="http://schemas.microsoft.com/office/powerpoint/2010/main" val="1081424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14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39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5" grpId="0"/>
      <p:bldP spid="16" grpId="0"/>
      <p:bldP spid="16" grpId="1"/>
      <p:bldP spid="16" grpId="2"/>
      <p:bldP spid="17" grpId="0"/>
      <p:bldP spid="17" grpId="1"/>
      <p:bldP spid="18" grpId="0"/>
      <p:bldP spid="19" grpId="0"/>
      <p:bldP spid="19" grpId="1"/>
      <p:bldP spid="20" grpId="0"/>
      <p:bldP spid="21" grpId="0"/>
      <p:bldP spid="21" grpId="1"/>
      <p:bldP spid="21" grpId="2"/>
      <p:bldP spid="22" grpId="0"/>
      <p:bldP spid="23" grpId="0"/>
      <p:bldP spid="24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659C33C0-073B-4112-9C8F-4E3550AA9A66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18A27D02-3C19-4B39-BDCF-AEBF1892CFA2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83A6D6B9-EA18-484D-A145-5304EFC67AB7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00A59CD9-D621-4DD3-8882-143DC50D8180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8C3DF34E-83BA-49AA-AB2E-DA7CEB1311AD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Revisit multiplication by one digit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E968F238-24EF-4B53-BC1C-D2C412E3ECE9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565C733E-D9F0-489C-A42B-B2DAE288CA0A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B1600BDF-5B4C-4714-9E26-EC91C9CACF97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3,482 x 6.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A70D05D0-942C-4A24-9345-547BD2ACDEEF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427D9635-FCC4-4053-9544-1B80C35DB3B4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4,706 x 7.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E9CF7A4B-7BC4-48D7-9503-3F2CCFA05246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47A0D4B0-D886-4A9E-B7E5-E794A5BE96E6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8,035 x 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8B81F68B-D48D-4D74-8E87-3899E6390CBA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5790B0C5-ACED-4BA5-95A7-CBE4F45C8C20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Calculate 3,482 x 6.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B2E9CB1B-084F-4832-A6D0-2D60D4835950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7BA9509C-586E-4B79-AE11-76648587585E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Calculate 4,706 x 7.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5B0781CE-8564-4B30-B4DD-15023CFFAB9A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015C4BA8-9B82-4344-95BB-6736A9AF5093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Calculate 8,035 x 4.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EB95A22D-1B8F-496C-8A32-2A77765AD094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663172EC-8B1A-4295-8FAB-8021ACFC043C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product is 27,648 and one factor is 8. What is the other factor?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D4D539E9-9087-4140-9BE4-869044A6B305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70A638BE-828D-4812-A073-D17DC8C0365B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forgets to include the exchanged tens when multiplying the next digit.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81911E08-8232-4021-B05D-BDBE78B69B24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1A62FE6E-01AC-4A57-AF9C-C3850A6ECF36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AE5DB642-855F-4B98-892E-9E2BCAD91153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82D2C4BA-092D-453A-B43C-3DA3BACE4206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Calculate 8,035 x 4.</a:t>
            </a:r>
          </a:p>
        </p:txBody>
      </p:sp>
    </p:spTree>
    <p:extLst>
      <p:ext uri="{BB962C8B-B14F-4D97-AF65-F5344CB8AC3E}">
        <p14:creationId xmlns:p14="http://schemas.microsoft.com/office/powerpoint/2010/main" val="373145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F164D84D-D2DC-48E8-81F3-D6DEC3800F4B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FF4749A6-EF23-4468-BAB9-932BF53DA1DA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92D092AD-E05A-4D4E-A763-26D99E42412A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9BBC30A8-D75F-46D1-B99E-011B26D79A5A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Revisit multiplication by one digit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C92648D0-2131-407F-9695-F89A27552139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2291FB73-1C38-46E5-8FF5-9C7C740193EC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752C4890-4447-4EAF-85BA-C8EB852951B3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20,892.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817F5CBE-8509-42F4-9791-FA0AAE7C393B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01C325E0-37E1-4345-A9C5-9C1D2D4A639D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32,942.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A18867B1-4FBF-40AD-A308-320D7A4D8B95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CB41F000-578C-40BD-9966-0FAE2EC9E6FE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32,140.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3A40E3E1-5C6A-4226-ABE5-526584D49E7C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BF311A3E-AB5A-4671-A855-5863C409F274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20,892.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77AEDA17-C23B-4FD7-A380-B59410121B57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2560093F-38BE-4381-A85A-190B8D1DC49F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32,942.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D2FD4916-4BBA-4961-9E23-FCF0331E0109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ABED0304-0892-45C5-8A5E-6199A9434094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32,140.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3C720D06-D748-4C4D-8261-B07956565022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34A4E059-F2B7-472E-B6D8-2F59AA4A026B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3,456.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A2B9F685-24BF-433A-BF9E-36A312480ABB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36DF3C4C-C761-4589-997A-7E57A0AF6D3F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Record each exchange clearly and add it to the next place-value product.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771DBF0F-893B-4C3F-9BD4-6BFEE602711C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3AF39086-E089-48DE-A56C-88C1DF1564C7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25F81D0F-B60B-4B98-8A99-3A42AC438545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51FF89D0-8345-4DB0-9270-66AD661AE7F4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145890329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1050</Words>
  <Application>Microsoft Office PowerPoint</Application>
  <DocSecurity>0</DocSecurity>
  <PresentationFormat>Custom</PresentationFormat>
  <Paragraphs>160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2026-09-14T13:14:14Z</dcterms:created>
  <dcterms:modified xsi:type="dcterms:W3CDTF">2026-09-14T13:18:05Z</dcterms:modified>
</cp:coreProperties>
</file>