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Check with inverse operations.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I do.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You do. Pause before clicking. Let pupils try independently, then reveal and discuss every step. Work left to right. Divide, multiply back, subtract, then bring down the next digit. Digits move into the next partial dividend. Leading zero quotient digits are omitted unless needed for a decimal.</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 with inverse operations.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29FE0110-B7B5-48B7-B5A7-D9681DE2C308}"/>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Check with inverse operations</a:t>
            </a:r>
          </a:p>
        </p:txBody>
      </p:sp>
      <p:sp>
        <p:nvSpPr>
          <p:cNvPr id="2" name="object-2">
            <a:extLst>
              <a:ext uri="{FF2B5EF4-FFF2-40B4-BE49-F238E27FC236}">
                <a16:creationId xmlns:a16="http://schemas.microsoft.com/office/drawing/2014/main" id="{EE808FA5-6988-44FE-B312-D4AB6F6B37EE}"/>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45782CF1-2E6F-48B6-8307-7ECDC568F2E3}"/>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384604F-04F2-4CB6-89B1-773AADC9F447}"/>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5" name="object-5">
            <a:extLst>
              <a:ext uri="{FF2B5EF4-FFF2-40B4-BE49-F238E27FC236}">
                <a16:creationId xmlns:a16="http://schemas.microsoft.com/office/drawing/2014/main" id="{734BAECB-70E7-44A2-AD52-0925EE201A3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92007573-CECF-404D-B8E4-248107B5F8B9}"/>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use inverse operations to check calculations.</a:t>
            </a:r>
          </a:p>
        </p:txBody>
      </p:sp>
    </p:spTree>
    <p:extLst>
      <p:ext uri="{BB962C8B-B14F-4D97-AF65-F5344CB8AC3E}">
        <p14:creationId xmlns:p14="http://schemas.microsoft.com/office/powerpoint/2010/main" val="10183532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B26A1478-10F1-43D9-9885-F1710A1E6CAB}"/>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4F80B258-F639-437D-86E1-59A9BB725E58}"/>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7,056 ÷ 24.</a:t>
            </a:r>
          </a:p>
        </p:txBody>
      </p:sp>
      <p:sp>
        <p:nvSpPr>
          <p:cNvPr id="3" name="object-3">
            <a:extLst>
              <a:ext uri="{FF2B5EF4-FFF2-40B4-BE49-F238E27FC236}">
                <a16:creationId xmlns:a16="http://schemas.microsoft.com/office/drawing/2014/main" id="{9153D593-FAAF-467E-AC33-FE42735E5A8A}"/>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6A78CAD5-66FE-4B66-B4B6-021D13D078D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5" name="object-5">
            <a:extLst>
              <a:ext uri="{FF2B5EF4-FFF2-40B4-BE49-F238E27FC236}">
                <a16:creationId xmlns:a16="http://schemas.microsoft.com/office/drawing/2014/main" id="{118BE3D8-06B5-45E6-AB31-1D90D66D08F3}"/>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AA3E53F5-50E4-425B-B3B0-FEBA5F89FD52}"/>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7" name="object-7">
            <a:extLst>
              <a:ext uri="{FF2B5EF4-FFF2-40B4-BE49-F238E27FC236}">
                <a16:creationId xmlns:a16="http://schemas.microsoft.com/office/drawing/2014/main" id="{50CC6DAD-4C88-4F79-9FFB-5E6EEC29EA3E}"/>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7D043580-693E-40F2-A8C0-50A053348A2A}"/>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F5C170D9-AFF3-4335-972B-2C429BCC12E1}"/>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0" name="object-10">
            <a:extLst>
              <a:ext uri="{FF2B5EF4-FFF2-40B4-BE49-F238E27FC236}">
                <a16:creationId xmlns:a16="http://schemas.microsoft.com/office/drawing/2014/main" id="{A4569C9C-071E-48F5-B533-BB320798E908}"/>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1" name="object-11">
            <a:extLst>
              <a:ext uri="{FF2B5EF4-FFF2-40B4-BE49-F238E27FC236}">
                <a16:creationId xmlns:a16="http://schemas.microsoft.com/office/drawing/2014/main" id="{4C5CF097-43CC-4034-9517-464D53744979}"/>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5</a:t>
            </a:r>
          </a:p>
        </p:txBody>
      </p:sp>
      <p:sp>
        <p:nvSpPr>
          <p:cNvPr id="12" name="object-12">
            <a:extLst>
              <a:ext uri="{FF2B5EF4-FFF2-40B4-BE49-F238E27FC236}">
                <a16:creationId xmlns:a16="http://schemas.microsoft.com/office/drawing/2014/main" id="{F20A3FB9-2CF9-42C9-B46F-7D58C3F76DF2}"/>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6</a:t>
            </a:r>
          </a:p>
        </p:txBody>
      </p:sp>
      <p:sp>
        <p:nvSpPr>
          <p:cNvPr id="13" name="object-13">
            <a:extLst>
              <a:ext uri="{FF2B5EF4-FFF2-40B4-BE49-F238E27FC236}">
                <a16:creationId xmlns:a16="http://schemas.microsoft.com/office/drawing/2014/main" id="{7241ECC5-1C3C-4A76-98C3-5AEA8D815429}"/>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4" name="object-14">
            <a:extLst>
              <a:ext uri="{FF2B5EF4-FFF2-40B4-BE49-F238E27FC236}">
                <a16:creationId xmlns:a16="http://schemas.microsoft.com/office/drawing/2014/main" id="{5DB43D84-D79C-4AAB-A221-C2B47681FCEE}"/>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70: 2 times</a:t>
            </a:r>
          </a:p>
        </p:txBody>
      </p:sp>
      <p:sp>
        <p:nvSpPr>
          <p:cNvPr id="15" name="object-15">
            <a:extLst>
              <a:ext uri="{FF2B5EF4-FFF2-40B4-BE49-F238E27FC236}">
                <a16:creationId xmlns:a16="http://schemas.microsoft.com/office/drawing/2014/main" id="{6762EF45-3EDE-402E-BE7B-6AA64DAEC3FE}"/>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70 − 48 = 22</a:t>
            </a:r>
          </a:p>
        </p:txBody>
      </p:sp>
      <p:sp>
        <p:nvSpPr>
          <p:cNvPr id="16" name="object-16">
            <a:extLst>
              <a:ext uri="{FF2B5EF4-FFF2-40B4-BE49-F238E27FC236}">
                <a16:creationId xmlns:a16="http://schemas.microsoft.com/office/drawing/2014/main" id="{81078A77-B066-4F1F-A636-FE009BF1B809}"/>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5</a:t>
            </a:r>
          </a:p>
        </p:txBody>
      </p:sp>
      <p:sp>
        <p:nvSpPr>
          <p:cNvPr id="17" name="object-17">
            <a:extLst>
              <a:ext uri="{FF2B5EF4-FFF2-40B4-BE49-F238E27FC236}">
                <a16:creationId xmlns:a16="http://schemas.microsoft.com/office/drawing/2014/main" id="{AEBDD946-D964-4C3D-B464-1E7B3EA24327}"/>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9</a:t>
            </a:r>
          </a:p>
        </p:txBody>
      </p:sp>
      <p:sp>
        <p:nvSpPr>
          <p:cNvPr id="18" name="object-18">
            <a:extLst>
              <a:ext uri="{FF2B5EF4-FFF2-40B4-BE49-F238E27FC236}">
                <a16:creationId xmlns:a16="http://schemas.microsoft.com/office/drawing/2014/main" id="{B02D6560-8941-42E0-88EA-35814277F690}"/>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225: 9 times</a:t>
            </a:r>
          </a:p>
        </p:txBody>
      </p:sp>
      <p:sp>
        <p:nvSpPr>
          <p:cNvPr id="19" name="object-19">
            <a:extLst>
              <a:ext uri="{FF2B5EF4-FFF2-40B4-BE49-F238E27FC236}">
                <a16:creationId xmlns:a16="http://schemas.microsoft.com/office/drawing/2014/main" id="{F93C9BD0-59A7-4074-9890-4A91546DDE5A}"/>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225 − 216 = 9</a:t>
            </a:r>
          </a:p>
        </p:txBody>
      </p:sp>
      <p:sp>
        <p:nvSpPr>
          <p:cNvPr id="20" name="object-20">
            <a:extLst>
              <a:ext uri="{FF2B5EF4-FFF2-40B4-BE49-F238E27FC236}">
                <a16:creationId xmlns:a16="http://schemas.microsoft.com/office/drawing/2014/main" id="{2A77EC92-3B26-4050-A39C-A475E6F1DE2C}"/>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6</a:t>
            </a:r>
          </a:p>
        </p:txBody>
      </p:sp>
      <p:sp>
        <p:nvSpPr>
          <p:cNvPr id="21" name="object-21">
            <a:extLst>
              <a:ext uri="{FF2B5EF4-FFF2-40B4-BE49-F238E27FC236}">
                <a16:creationId xmlns:a16="http://schemas.microsoft.com/office/drawing/2014/main" id="{E7F1D193-385E-4D2D-9F62-D51DAA5BBDB2}"/>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4</a:t>
            </a:r>
          </a:p>
        </p:txBody>
      </p:sp>
      <p:sp>
        <p:nvSpPr>
          <p:cNvPr id="22" name="object-22">
            <a:extLst>
              <a:ext uri="{FF2B5EF4-FFF2-40B4-BE49-F238E27FC236}">
                <a16:creationId xmlns:a16="http://schemas.microsoft.com/office/drawing/2014/main" id="{5A1D81E9-1533-4463-B62B-0D67B212A1C1}"/>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96: 4 times</a:t>
            </a:r>
          </a:p>
        </p:txBody>
      </p:sp>
      <p:sp>
        <p:nvSpPr>
          <p:cNvPr id="23" name="object-23">
            <a:extLst>
              <a:ext uri="{FF2B5EF4-FFF2-40B4-BE49-F238E27FC236}">
                <a16:creationId xmlns:a16="http://schemas.microsoft.com/office/drawing/2014/main" id="{0CD6F61C-2E1D-4935-B7BA-FB15B03005BC}"/>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96 − 96 = 0</a:t>
            </a:r>
          </a:p>
        </p:txBody>
      </p:sp>
      <p:sp>
        <p:nvSpPr>
          <p:cNvPr id="24" name="object-24">
            <a:extLst>
              <a:ext uri="{FF2B5EF4-FFF2-40B4-BE49-F238E27FC236}">
                <a16:creationId xmlns:a16="http://schemas.microsoft.com/office/drawing/2014/main" id="{B94CBAE9-AF7B-4950-A1DE-AF05A301F2E1}"/>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7,056 ÷ 24 = 294</a:t>
            </a:r>
          </a:p>
        </p:txBody>
      </p:sp>
    </p:spTree>
    <p:extLst>
      <p:ext uri="{BB962C8B-B14F-4D97-AF65-F5344CB8AC3E}">
        <p14:creationId xmlns:p14="http://schemas.microsoft.com/office/powerpoint/2010/main" val="1810893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20282073-83CF-4DB1-9443-86113D550EE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3A9FB081-2069-47B8-AEC9-A29AC305AB0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B54AB5B8-662A-4525-97D3-4EC6B0E95D73}"/>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7,320 ÷ 24.</a:t>
            </a:r>
          </a:p>
        </p:txBody>
      </p:sp>
      <p:sp>
        <p:nvSpPr>
          <p:cNvPr id="4" name="object-4">
            <a:extLst>
              <a:ext uri="{FF2B5EF4-FFF2-40B4-BE49-F238E27FC236}">
                <a16:creationId xmlns:a16="http://schemas.microsoft.com/office/drawing/2014/main" id="{B4D6AB43-E33E-45C5-9554-E05E1577D78E}"/>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9251E35D-AE1D-40B3-BFF4-9F1B9BAAD95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6" name="object-6">
            <a:extLst>
              <a:ext uri="{FF2B5EF4-FFF2-40B4-BE49-F238E27FC236}">
                <a16:creationId xmlns:a16="http://schemas.microsoft.com/office/drawing/2014/main" id="{2A084FAD-D893-471A-BE89-3FF795B10D9A}"/>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ED484CE8-1D59-41BD-95D2-4DF96F69D10A}"/>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EE900E12-4D6F-41D5-AA6F-377FF94BEB9D}"/>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0684E6C6-77E3-424A-8221-F83BA90E7C20}"/>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60C5527F-746F-43F1-A5DC-7D255EE7C8D8}"/>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3A74EEAA-BEB6-4404-965D-A9E07809022C}"/>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311E945B-94DD-4F72-9AC6-4936BB04C948}"/>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2</a:t>
            </a:r>
          </a:p>
        </p:txBody>
      </p:sp>
      <p:sp>
        <p:nvSpPr>
          <p:cNvPr id="13" name="object-13">
            <a:extLst>
              <a:ext uri="{FF2B5EF4-FFF2-40B4-BE49-F238E27FC236}">
                <a16:creationId xmlns:a16="http://schemas.microsoft.com/office/drawing/2014/main" id="{0065E629-1AE2-4A8D-B4DD-FAC4C6CAA528}"/>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0</a:t>
            </a:r>
          </a:p>
        </p:txBody>
      </p:sp>
      <p:sp>
        <p:nvSpPr>
          <p:cNvPr id="14" name="object-14">
            <a:extLst>
              <a:ext uri="{FF2B5EF4-FFF2-40B4-BE49-F238E27FC236}">
                <a16:creationId xmlns:a16="http://schemas.microsoft.com/office/drawing/2014/main" id="{72CC48A9-61D7-46E0-AD01-60834E32CC21}"/>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5" name="object-15">
            <a:extLst>
              <a:ext uri="{FF2B5EF4-FFF2-40B4-BE49-F238E27FC236}">
                <a16:creationId xmlns:a16="http://schemas.microsoft.com/office/drawing/2014/main" id="{1404472B-DE4D-422E-8BBF-091C7105ADB5}"/>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73: 3 times</a:t>
            </a:r>
          </a:p>
        </p:txBody>
      </p:sp>
      <p:sp>
        <p:nvSpPr>
          <p:cNvPr id="16" name="object-16">
            <a:extLst>
              <a:ext uri="{FF2B5EF4-FFF2-40B4-BE49-F238E27FC236}">
                <a16:creationId xmlns:a16="http://schemas.microsoft.com/office/drawing/2014/main" id="{FE760A51-8283-4A4C-8EF7-E150C6966CFB}"/>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73 − 72 = 1</a:t>
            </a:r>
          </a:p>
        </p:txBody>
      </p:sp>
      <p:sp>
        <p:nvSpPr>
          <p:cNvPr id="17" name="object-17">
            <a:extLst>
              <a:ext uri="{FF2B5EF4-FFF2-40B4-BE49-F238E27FC236}">
                <a16:creationId xmlns:a16="http://schemas.microsoft.com/office/drawing/2014/main" id="{87DE0D89-BA41-4556-BFFF-317F9D29625D}"/>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2</a:t>
            </a:r>
          </a:p>
        </p:txBody>
      </p:sp>
      <p:sp>
        <p:nvSpPr>
          <p:cNvPr id="18" name="object-18">
            <a:extLst>
              <a:ext uri="{FF2B5EF4-FFF2-40B4-BE49-F238E27FC236}">
                <a16:creationId xmlns:a16="http://schemas.microsoft.com/office/drawing/2014/main" id="{15B7FD41-3241-4979-9A0B-4E9F1914E719}"/>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0</a:t>
            </a:r>
          </a:p>
        </p:txBody>
      </p:sp>
      <p:sp>
        <p:nvSpPr>
          <p:cNvPr id="19" name="object-19">
            <a:extLst>
              <a:ext uri="{FF2B5EF4-FFF2-40B4-BE49-F238E27FC236}">
                <a16:creationId xmlns:a16="http://schemas.microsoft.com/office/drawing/2014/main" id="{E499AFF4-F6A7-43EF-BFC4-84781525BE2D}"/>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12: 0 times</a:t>
            </a:r>
          </a:p>
        </p:txBody>
      </p:sp>
      <p:sp>
        <p:nvSpPr>
          <p:cNvPr id="20" name="object-20">
            <a:extLst>
              <a:ext uri="{FF2B5EF4-FFF2-40B4-BE49-F238E27FC236}">
                <a16:creationId xmlns:a16="http://schemas.microsoft.com/office/drawing/2014/main" id="{81E55E60-80C2-4204-848B-407E6A3B5FCB}"/>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12 − 0 = 12</a:t>
            </a:r>
          </a:p>
        </p:txBody>
      </p:sp>
      <p:sp>
        <p:nvSpPr>
          <p:cNvPr id="21" name="object-21">
            <a:extLst>
              <a:ext uri="{FF2B5EF4-FFF2-40B4-BE49-F238E27FC236}">
                <a16:creationId xmlns:a16="http://schemas.microsoft.com/office/drawing/2014/main" id="{81E0D191-4B7D-470F-A667-5F1A19F68B6F}"/>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0</a:t>
            </a:r>
          </a:p>
        </p:txBody>
      </p:sp>
      <p:sp>
        <p:nvSpPr>
          <p:cNvPr id="22" name="object-22">
            <a:extLst>
              <a:ext uri="{FF2B5EF4-FFF2-40B4-BE49-F238E27FC236}">
                <a16:creationId xmlns:a16="http://schemas.microsoft.com/office/drawing/2014/main" id="{F347B819-C731-4C12-A27C-D33D111E1D63}"/>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5</a:t>
            </a:r>
          </a:p>
        </p:txBody>
      </p:sp>
      <p:sp>
        <p:nvSpPr>
          <p:cNvPr id="23" name="object-23">
            <a:extLst>
              <a:ext uri="{FF2B5EF4-FFF2-40B4-BE49-F238E27FC236}">
                <a16:creationId xmlns:a16="http://schemas.microsoft.com/office/drawing/2014/main" id="{F517E8BF-7781-4ECA-ACB9-95E9A6E504BC}"/>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120: 5 times</a:t>
            </a:r>
          </a:p>
        </p:txBody>
      </p:sp>
      <p:sp>
        <p:nvSpPr>
          <p:cNvPr id="24" name="object-24">
            <a:extLst>
              <a:ext uri="{FF2B5EF4-FFF2-40B4-BE49-F238E27FC236}">
                <a16:creationId xmlns:a16="http://schemas.microsoft.com/office/drawing/2014/main" id="{D6C38609-5975-4318-AC2F-4D85378F8732}"/>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120 − 120 = 0</a:t>
            </a:r>
          </a:p>
        </p:txBody>
      </p:sp>
      <p:sp>
        <p:nvSpPr>
          <p:cNvPr id="25" name="object-25">
            <a:extLst>
              <a:ext uri="{FF2B5EF4-FFF2-40B4-BE49-F238E27FC236}">
                <a16:creationId xmlns:a16="http://schemas.microsoft.com/office/drawing/2014/main" id="{8BAB9003-9442-4287-9603-D3A5BE407224}"/>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7,320 ÷ 24 = 305</a:t>
            </a:r>
          </a:p>
        </p:txBody>
      </p:sp>
    </p:spTree>
    <p:extLst>
      <p:ext uri="{BB962C8B-B14F-4D97-AF65-F5344CB8AC3E}">
        <p14:creationId xmlns:p14="http://schemas.microsoft.com/office/powerpoint/2010/main" val="356188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object-1">
            <a:extLst>
              <a:ext uri="{FF2B5EF4-FFF2-40B4-BE49-F238E27FC236}">
                <a16:creationId xmlns:a16="http://schemas.microsoft.com/office/drawing/2014/main" id="{A356A805-7183-4318-81DF-B58679C93387}"/>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0677A214-6CB5-4F72-9786-FEF39DA60FC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7,584 ÷ 24.</a:t>
            </a:r>
          </a:p>
        </p:txBody>
      </p:sp>
      <p:sp>
        <p:nvSpPr>
          <p:cNvPr id="3" name="object-3">
            <a:extLst>
              <a:ext uri="{FF2B5EF4-FFF2-40B4-BE49-F238E27FC236}">
                <a16:creationId xmlns:a16="http://schemas.microsoft.com/office/drawing/2014/main" id="{5B5051F2-7F9D-4B05-BF01-38EB905CA485}"/>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2053CB5C-9E52-4535-A334-FFC11F007AFC}"/>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5" name="object-5">
            <a:extLst>
              <a:ext uri="{FF2B5EF4-FFF2-40B4-BE49-F238E27FC236}">
                <a16:creationId xmlns:a16="http://schemas.microsoft.com/office/drawing/2014/main" id="{29129B86-6C58-4DA9-A418-0572A5C2F77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22BB2F8F-3296-4479-9FE3-FE41C3E90750}"/>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7" name="object-7">
            <a:extLst>
              <a:ext uri="{FF2B5EF4-FFF2-40B4-BE49-F238E27FC236}">
                <a16:creationId xmlns:a16="http://schemas.microsoft.com/office/drawing/2014/main" id="{915BEA18-046F-4793-A46A-15A037FF4E06}"/>
              </a:ext>
            </a:extLst>
          </p:cNvPr>
          <p:cNvSpPr>
            <a:spLocks noGrp="1"/>
          </p:cNvSpPr>
          <p:nvPr/>
        </p:nvSpPr>
        <p:spPr>
          <a:xfrm>
            <a:off x="3393281" y="3833813"/>
            <a:ext cx="0" cy="1226344"/>
          </a:xfrm>
          <a:prstGeom prst="line">
            <a:avLst/>
          </a:prstGeom>
          <a:noFill/>
          <a:ln w="35719">
            <a:solidFill>
              <a:srgbClr val="172B4D"/>
            </a:solidFill>
          </a:ln>
        </p:spPr>
      </p:sp>
      <p:sp>
        <p:nvSpPr>
          <p:cNvPr id="8" name="object-8">
            <a:extLst>
              <a:ext uri="{FF2B5EF4-FFF2-40B4-BE49-F238E27FC236}">
                <a16:creationId xmlns:a16="http://schemas.microsoft.com/office/drawing/2014/main" id="{8B7CDC87-BA68-43E2-BF80-F7F0CB17E171}"/>
              </a:ext>
            </a:extLst>
          </p:cNvPr>
          <p:cNvSpPr>
            <a:spLocks noGrp="1"/>
          </p:cNvSpPr>
          <p:nvPr/>
        </p:nvSpPr>
        <p:spPr>
          <a:xfrm>
            <a:off x="3393281" y="3833813"/>
            <a:ext cx="9644063" cy="35719"/>
          </a:xfrm>
          <a:prstGeom prst="rect">
            <a:avLst/>
          </a:prstGeom>
          <a:solidFill>
            <a:srgbClr val="172B4D"/>
          </a:solidFill>
          <a:ln w="0">
            <a:noFill/>
          </a:ln>
        </p:spPr>
      </p:sp>
      <p:sp>
        <p:nvSpPr>
          <p:cNvPr id="9" name="object-9">
            <a:extLst>
              <a:ext uri="{FF2B5EF4-FFF2-40B4-BE49-F238E27FC236}">
                <a16:creationId xmlns:a16="http://schemas.microsoft.com/office/drawing/2014/main" id="{23D5B675-7E0F-413F-B5A8-BF3B953E656B}"/>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0" name="object-10">
            <a:extLst>
              <a:ext uri="{FF2B5EF4-FFF2-40B4-BE49-F238E27FC236}">
                <a16:creationId xmlns:a16="http://schemas.microsoft.com/office/drawing/2014/main" id="{5AC48743-E6A6-43CA-9535-9D88D79209C3}"/>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5</a:t>
            </a:r>
          </a:p>
        </p:txBody>
      </p:sp>
      <p:sp>
        <p:nvSpPr>
          <p:cNvPr id="11" name="object-11">
            <a:extLst>
              <a:ext uri="{FF2B5EF4-FFF2-40B4-BE49-F238E27FC236}">
                <a16:creationId xmlns:a16="http://schemas.microsoft.com/office/drawing/2014/main" id="{E2DD49E8-B42C-4C9A-BC48-CE9008F901B5}"/>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2" name="object-12">
            <a:extLst>
              <a:ext uri="{FF2B5EF4-FFF2-40B4-BE49-F238E27FC236}">
                <a16:creationId xmlns:a16="http://schemas.microsoft.com/office/drawing/2014/main" id="{8CE7D0EE-C726-4486-8BD1-4700262331B2}"/>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FFFFA30C-808D-4054-866E-3E1BAD97DD73}"/>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4" name="object-14">
            <a:extLst>
              <a:ext uri="{FF2B5EF4-FFF2-40B4-BE49-F238E27FC236}">
                <a16:creationId xmlns:a16="http://schemas.microsoft.com/office/drawing/2014/main" id="{4FACD1EC-058D-40E1-825D-FAF6465AADD0}"/>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75: 3 times</a:t>
            </a:r>
          </a:p>
        </p:txBody>
      </p:sp>
      <p:sp>
        <p:nvSpPr>
          <p:cNvPr id="15" name="object-15">
            <a:extLst>
              <a:ext uri="{FF2B5EF4-FFF2-40B4-BE49-F238E27FC236}">
                <a16:creationId xmlns:a16="http://schemas.microsoft.com/office/drawing/2014/main" id="{99A3214D-B1CE-454A-A8BE-DE8A230B0A11}"/>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75 − 72 = 3</a:t>
            </a:r>
          </a:p>
        </p:txBody>
      </p:sp>
      <p:sp>
        <p:nvSpPr>
          <p:cNvPr id="16" name="object-16">
            <a:extLst>
              <a:ext uri="{FF2B5EF4-FFF2-40B4-BE49-F238E27FC236}">
                <a16:creationId xmlns:a16="http://schemas.microsoft.com/office/drawing/2014/main" id="{9AD1467E-32D7-4F65-9BDF-9A621C1D787C}"/>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8</a:t>
            </a:r>
          </a:p>
        </p:txBody>
      </p:sp>
      <p:sp>
        <p:nvSpPr>
          <p:cNvPr id="17" name="object-17">
            <a:extLst>
              <a:ext uri="{FF2B5EF4-FFF2-40B4-BE49-F238E27FC236}">
                <a16:creationId xmlns:a16="http://schemas.microsoft.com/office/drawing/2014/main" id="{1B0D3138-3246-441D-AF37-AED45F29AA56}"/>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1</a:t>
            </a:r>
          </a:p>
        </p:txBody>
      </p:sp>
      <p:sp>
        <p:nvSpPr>
          <p:cNvPr id="18" name="object-18">
            <a:extLst>
              <a:ext uri="{FF2B5EF4-FFF2-40B4-BE49-F238E27FC236}">
                <a16:creationId xmlns:a16="http://schemas.microsoft.com/office/drawing/2014/main" id="{511854E3-A274-43A1-A10C-601B6929DACB}"/>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38: 1 times</a:t>
            </a:r>
          </a:p>
        </p:txBody>
      </p:sp>
      <p:sp>
        <p:nvSpPr>
          <p:cNvPr id="19" name="object-19">
            <a:extLst>
              <a:ext uri="{FF2B5EF4-FFF2-40B4-BE49-F238E27FC236}">
                <a16:creationId xmlns:a16="http://schemas.microsoft.com/office/drawing/2014/main" id="{F5DA8974-E0C9-4EC9-B17D-D45918094F4B}"/>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38 − 24 = 14</a:t>
            </a:r>
          </a:p>
        </p:txBody>
      </p:sp>
      <p:sp>
        <p:nvSpPr>
          <p:cNvPr id="20" name="object-20">
            <a:extLst>
              <a:ext uri="{FF2B5EF4-FFF2-40B4-BE49-F238E27FC236}">
                <a16:creationId xmlns:a16="http://schemas.microsoft.com/office/drawing/2014/main" id="{7EB0E928-0DF7-47D7-B54D-F6E53042DFCA}"/>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4</a:t>
            </a:r>
          </a:p>
        </p:txBody>
      </p:sp>
      <p:sp>
        <p:nvSpPr>
          <p:cNvPr id="21" name="object-21">
            <a:extLst>
              <a:ext uri="{FF2B5EF4-FFF2-40B4-BE49-F238E27FC236}">
                <a16:creationId xmlns:a16="http://schemas.microsoft.com/office/drawing/2014/main" id="{6F8056C2-D7C8-48E2-A348-8B2D4A8DC41E}"/>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6</a:t>
            </a:r>
          </a:p>
        </p:txBody>
      </p:sp>
      <p:sp>
        <p:nvSpPr>
          <p:cNvPr id="22" name="object-22">
            <a:extLst>
              <a:ext uri="{FF2B5EF4-FFF2-40B4-BE49-F238E27FC236}">
                <a16:creationId xmlns:a16="http://schemas.microsoft.com/office/drawing/2014/main" id="{AC4BBE76-2601-4FE5-9DE5-DEAEB839EFAF}"/>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144: 6 times</a:t>
            </a:r>
          </a:p>
        </p:txBody>
      </p:sp>
      <p:sp>
        <p:nvSpPr>
          <p:cNvPr id="23" name="object-23">
            <a:extLst>
              <a:ext uri="{FF2B5EF4-FFF2-40B4-BE49-F238E27FC236}">
                <a16:creationId xmlns:a16="http://schemas.microsoft.com/office/drawing/2014/main" id="{1639FA4F-D151-4515-944D-E57EEC8E01C7}"/>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144 − 144 = 0</a:t>
            </a:r>
          </a:p>
        </p:txBody>
      </p:sp>
      <p:sp>
        <p:nvSpPr>
          <p:cNvPr id="24" name="object-24">
            <a:extLst>
              <a:ext uri="{FF2B5EF4-FFF2-40B4-BE49-F238E27FC236}">
                <a16:creationId xmlns:a16="http://schemas.microsoft.com/office/drawing/2014/main" id="{C94A1E63-5C70-4DB9-AB61-71D7EC471D34}"/>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7,584 ÷ 24 = 316</a:t>
            </a:r>
          </a:p>
        </p:txBody>
      </p:sp>
    </p:spTree>
    <p:extLst>
      <p:ext uri="{BB962C8B-B14F-4D97-AF65-F5344CB8AC3E}">
        <p14:creationId xmlns:p14="http://schemas.microsoft.com/office/powerpoint/2010/main" val="1307252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6"/>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0"/>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0"/>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8"/>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4" grpId="1"/>
      <p:bldP spid="15" grpId="0"/>
      <p:bldP spid="15" grpId="1"/>
      <p:bldP spid="16" grpId="0"/>
      <p:bldP spid="16" grpId="1"/>
      <p:bldP spid="16" grpId="2"/>
      <p:bldP spid="17" grpId="0"/>
      <p:bldP spid="18" grpId="0"/>
      <p:bldP spid="18" grpId="1"/>
      <p:bldP spid="19" grpId="0"/>
      <p:bldP spid="19" grpId="1"/>
      <p:bldP spid="20" grpId="0"/>
      <p:bldP spid="20" grpId="1"/>
      <p:bldP spid="20" grpId="2"/>
      <p:bldP spid="21" grpId="0"/>
      <p:bldP spid="22" grpId="0"/>
      <p:bldP spid="23" grpId="0"/>
      <p:bldP spid="2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616932F4-6146-4088-8610-C2C57F9CB44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87817FC6-BF34-414D-98FB-E0A09452D52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F29FD4B2-6227-4EC1-A7F2-BD6FDDBCFB8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Calculate 7,848 ÷ 24.</a:t>
            </a:r>
          </a:p>
        </p:txBody>
      </p:sp>
      <p:sp>
        <p:nvSpPr>
          <p:cNvPr id="4" name="object-4">
            <a:extLst>
              <a:ext uri="{FF2B5EF4-FFF2-40B4-BE49-F238E27FC236}">
                <a16:creationId xmlns:a16="http://schemas.microsoft.com/office/drawing/2014/main" id="{2B30B6B2-1DE6-4E31-84F0-F7639AB47C3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443E0726-C5B8-44E8-9683-A6EFD1C867F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6" name="object-6">
            <a:extLst>
              <a:ext uri="{FF2B5EF4-FFF2-40B4-BE49-F238E27FC236}">
                <a16:creationId xmlns:a16="http://schemas.microsoft.com/office/drawing/2014/main" id="{52EC6EEF-1E56-4F04-83DE-3714C34B80C7}"/>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5FF94AC9-6D9E-4483-8290-EE3309BFA146}"/>
              </a:ext>
            </a:extLst>
          </p:cNvPr>
          <p:cNvSpPr>
            <a:spLocks noGrp="1"/>
          </p:cNvSpPr>
          <p:nvPr/>
        </p:nvSpPr>
        <p:spPr>
          <a:xfrm>
            <a:off x="1785938" y="4012406"/>
            <a:ext cx="1428750" cy="833438"/>
          </a:xfrm>
          <a:prstGeom prst="rect">
            <a:avLst/>
          </a:prstGeom>
          <a:noFill/>
          <a:ln w="0">
            <a:noFill/>
          </a:ln>
        </p:spPr>
        <p:txBody>
          <a:bodyPr anchor="ctr">
            <a:noAutofit/>
          </a:bodyPr>
          <a:lstStyle/>
          <a:p>
            <a:pPr algn="ctr">
              <a:defRPr sz="4313" b="1">
                <a:solidFill>
                  <a:srgbClr val="1D4ED8"/>
                </a:solidFill>
                <a:latin typeface="Arial"/>
                <a:ea typeface="Arial"/>
                <a:cs typeface="Arial"/>
              </a:defRPr>
            </a:pPr>
            <a:r>
              <a:rPr sz="4313" b="1">
                <a:solidFill>
                  <a:srgbClr val="1D4ED8"/>
                </a:solidFill>
                <a:latin typeface="Arial"/>
                <a:ea typeface="Arial"/>
                <a:cs typeface="Arial"/>
              </a:rPr>
              <a:t>24</a:t>
            </a:r>
          </a:p>
        </p:txBody>
      </p:sp>
      <p:sp>
        <p:nvSpPr>
          <p:cNvPr id="8" name="object-8">
            <a:extLst>
              <a:ext uri="{FF2B5EF4-FFF2-40B4-BE49-F238E27FC236}">
                <a16:creationId xmlns:a16="http://schemas.microsoft.com/office/drawing/2014/main" id="{DCC16EE4-0A81-4097-A1D1-7ACD710DB1C0}"/>
              </a:ext>
            </a:extLst>
          </p:cNvPr>
          <p:cNvSpPr>
            <a:spLocks noGrp="1"/>
          </p:cNvSpPr>
          <p:nvPr/>
        </p:nvSpPr>
        <p:spPr>
          <a:xfrm>
            <a:off x="3393281" y="3833813"/>
            <a:ext cx="0" cy="1226344"/>
          </a:xfrm>
          <a:prstGeom prst="line">
            <a:avLst/>
          </a:prstGeom>
          <a:noFill/>
          <a:ln w="35719">
            <a:solidFill>
              <a:srgbClr val="172B4D"/>
            </a:solidFill>
          </a:ln>
        </p:spPr>
      </p:sp>
      <p:sp>
        <p:nvSpPr>
          <p:cNvPr id="9" name="object-9">
            <a:extLst>
              <a:ext uri="{FF2B5EF4-FFF2-40B4-BE49-F238E27FC236}">
                <a16:creationId xmlns:a16="http://schemas.microsoft.com/office/drawing/2014/main" id="{7D96F6E2-DA59-4C51-8F35-BF0F761E9CB4}"/>
              </a:ext>
            </a:extLst>
          </p:cNvPr>
          <p:cNvSpPr>
            <a:spLocks noGrp="1"/>
          </p:cNvSpPr>
          <p:nvPr/>
        </p:nvSpPr>
        <p:spPr>
          <a:xfrm>
            <a:off x="3393281" y="3833813"/>
            <a:ext cx="9644063" cy="35719"/>
          </a:xfrm>
          <a:prstGeom prst="rect">
            <a:avLst/>
          </a:prstGeom>
          <a:solidFill>
            <a:srgbClr val="172B4D"/>
          </a:solidFill>
          <a:ln w="0">
            <a:noFill/>
          </a:ln>
        </p:spPr>
      </p:sp>
      <p:sp>
        <p:nvSpPr>
          <p:cNvPr id="10" name="object-10">
            <a:extLst>
              <a:ext uri="{FF2B5EF4-FFF2-40B4-BE49-F238E27FC236}">
                <a16:creationId xmlns:a16="http://schemas.microsoft.com/office/drawing/2014/main" id="{43FCA8FB-3DE3-4957-9497-2929D05A298E}"/>
              </a:ext>
            </a:extLst>
          </p:cNvPr>
          <p:cNvSpPr>
            <a:spLocks noGrp="1"/>
          </p:cNvSpPr>
          <p:nvPr/>
        </p:nvSpPr>
        <p:spPr>
          <a:xfrm>
            <a:off x="3810000"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7</a:t>
            </a:r>
          </a:p>
        </p:txBody>
      </p:sp>
      <p:sp>
        <p:nvSpPr>
          <p:cNvPr id="11" name="object-11">
            <a:extLst>
              <a:ext uri="{FF2B5EF4-FFF2-40B4-BE49-F238E27FC236}">
                <a16:creationId xmlns:a16="http://schemas.microsoft.com/office/drawing/2014/main" id="{229803D5-A2D2-46E2-83DB-E7903326591B}"/>
              </a:ext>
            </a:extLst>
          </p:cNvPr>
          <p:cNvSpPr>
            <a:spLocks noGrp="1"/>
          </p:cNvSpPr>
          <p:nvPr/>
        </p:nvSpPr>
        <p:spPr>
          <a:xfrm>
            <a:off x="4702969"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2" name="object-12">
            <a:extLst>
              <a:ext uri="{FF2B5EF4-FFF2-40B4-BE49-F238E27FC236}">
                <a16:creationId xmlns:a16="http://schemas.microsoft.com/office/drawing/2014/main" id="{804662B3-4EFA-495D-B987-19A0B34E948D}"/>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A00B19F0-F5D9-44C7-8735-AF616FFC55EB}"/>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1D4ED8"/>
                </a:solidFill>
                <a:latin typeface="Arial"/>
                <a:ea typeface="Arial"/>
                <a:cs typeface="Arial"/>
              </a:defRPr>
            </a:pPr>
            <a:r>
              <a:rPr sz="4125" b="1">
                <a:solidFill>
                  <a:srgbClr val="1D4ED8"/>
                </a:solidFill>
                <a:latin typeface="Arial"/>
                <a:ea typeface="Arial"/>
                <a:cs typeface="Arial"/>
              </a:rPr>
              <a:t>8</a:t>
            </a:r>
          </a:p>
        </p:txBody>
      </p:sp>
      <p:sp>
        <p:nvSpPr>
          <p:cNvPr id="14" name="object-14">
            <a:extLst>
              <a:ext uri="{FF2B5EF4-FFF2-40B4-BE49-F238E27FC236}">
                <a16:creationId xmlns:a16="http://schemas.microsoft.com/office/drawing/2014/main" id="{A105B998-1AE9-4B67-B82B-6CEDCA187EC4}"/>
              </a:ext>
            </a:extLst>
          </p:cNvPr>
          <p:cNvSpPr>
            <a:spLocks noGrp="1"/>
          </p:cNvSpPr>
          <p:nvPr/>
        </p:nvSpPr>
        <p:spPr>
          <a:xfrm>
            <a:off x="4702969"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3</a:t>
            </a:r>
          </a:p>
        </p:txBody>
      </p:sp>
      <p:sp>
        <p:nvSpPr>
          <p:cNvPr id="15" name="object-15">
            <a:extLst>
              <a:ext uri="{FF2B5EF4-FFF2-40B4-BE49-F238E27FC236}">
                <a16:creationId xmlns:a16="http://schemas.microsoft.com/office/drawing/2014/main" id="{35CA0082-0F2E-4F1B-BA0E-CFB7418143B2}"/>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78: 3 times</a:t>
            </a:r>
          </a:p>
        </p:txBody>
      </p:sp>
      <p:sp>
        <p:nvSpPr>
          <p:cNvPr id="16" name="object-16">
            <a:extLst>
              <a:ext uri="{FF2B5EF4-FFF2-40B4-BE49-F238E27FC236}">
                <a16:creationId xmlns:a16="http://schemas.microsoft.com/office/drawing/2014/main" id="{ABD773CC-240F-47C1-96AA-08C1CE7370D1}"/>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78 − 72 = 6</a:t>
            </a:r>
          </a:p>
        </p:txBody>
      </p:sp>
      <p:sp>
        <p:nvSpPr>
          <p:cNvPr id="17" name="object-17">
            <a:extLst>
              <a:ext uri="{FF2B5EF4-FFF2-40B4-BE49-F238E27FC236}">
                <a16:creationId xmlns:a16="http://schemas.microsoft.com/office/drawing/2014/main" id="{560AF44A-F0DA-4FB3-83EE-B2D0311E69E3}"/>
              </a:ext>
            </a:extLst>
          </p:cNvPr>
          <p:cNvSpPr>
            <a:spLocks noGrp="1"/>
          </p:cNvSpPr>
          <p:nvPr/>
        </p:nvSpPr>
        <p:spPr>
          <a:xfrm>
            <a:off x="5595938"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4</a:t>
            </a:r>
          </a:p>
        </p:txBody>
      </p:sp>
      <p:sp>
        <p:nvSpPr>
          <p:cNvPr id="18" name="object-18">
            <a:extLst>
              <a:ext uri="{FF2B5EF4-FFF2-40B4-BE49-F238E27FC236}">
                <a16:creationId xmlns:a16="http://schemas.microsoft.com/office/drawing/2014/main" id="{82068ACF-0156-4BEC-AB5E-3333708FBB17}"/>
              </a:ext>
            </a:extLst>
          </p:cNvPr>
          <p:cNvSpPr>
            <a:spLocks noGrp="1"/>
          </p:cNvSpPr>
          <p:nvPr/>
        </p:nvSpPr>
        <p:spPr>
          <a:xfrm>
            <a:off x="5595938"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2</a:t>
            </a:r>
          </a:p>
        </p:txBody>
      </p:sp>
      <p:sp>
        <p:nvSpPr>
          <p:cNvPr id="19" name="object-19">
            <a:extLst>
              <a:ext uri="{FF2B5EF4-FFF2-40B4-BE49-F238E27FC236}">
                <a16:creationId xmlns:a16="http://schemas.microsoft.com/office/drawing/2014/main" id="{D485500E-A820-454E-B666-5BDA973C65FE}"/>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64: 2 times</a:t>
            </a:r>
          </a:p>
        </p:txBody>
      </p:sp>
      <p:sp>
        <p:nvSpPr>
          <p:cNvPr id="20" name="object-20">
            <a:extLst>
              <a:ext uri="{FF2B5EF4-FFF2-40B4-BE49-F238E27FC236}">
                <a16:creationId xmlns:a16="http://schemas.microsoft.com/office/drawing/2014/main" id="{A4A858F0-554F-4C57-80F6-64E6E1D5D16C}"/>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64 − 48 = 16</a:t>
            </a:r>
          </a:p>
        </p:txBody>
      </p:sp>
      <p:sp>
        <p:nvSpPr>
          <p:cNvPr id="21" name="object-21">
            <a:extLst>
              <a:ext uri="{FF2B5EF4-FFF2-40B4-BE49-F238E27FC236}">
                <a16:creationId xmlns:a16="http://schemas.microsoft.com/office/drawing/2014/main" id="{7B1FD2FD-D90D-4685-9AC2-3DCB595F030F}"/>
              </a:ext>
            </a:extLst>
          </p:cNvPr>
          <p:cNvSpPr>
            <a:spLocks noGrp="1"/>
          </p:cNvSpPr>
          <p:nvPr/>
        </p:nvSpPr>
        <p:spPr>
          <a:xfrm>
            <a:off x="6488906" y="4036219"/>
            <a:ext cx="833438" cy="773906"/>
          </a:xfrm>
          <a:prstGeom prst="rect">
            <a:avLst/>
          </a:prstGeom>
          <a:noFill/>
          <a:ln w="0">
            <a:noFill/>
          </a:ln>
        </p:spPr>
        <p:txBody>
          <a:bodyPr anchor="ctr">
            <a:noAutofit/>
          </a:bodyPr>
          <a:lstStyle/>
          <a:p>
            <a:pPr algn="ctr">
              <a:defRPr sz="4125" b="1">
                <a:solidFill>
                  <a:srgbClr val="9A5800"/>
                </a:solidFill>
                <a:latin typeface="Arial"/>
                <a:ea typeface="Arial"/>
                <a:cs typeface="Arial"/>
              </a:defRPr>
            </a:pPr>
            <a:r>
              <a:rPr sz="4125" b="1">
                <a:solidFill>
                  <a:srgbClr val="9A5800"/>
                </a:solidFill>
                <a:latin typeface="Arial"/>
                <a:ea typeface="Arial"/>
                <a:cs typeface="Arial"/>
              </a:rPr>
              <a:t>8</a:t>
            </a:r>
          </a:p>
        </p:txBody>
      </p:sp>
      <p:sp>
        <p:nvSpPr>
          <p:cNvPr id="22" name="object-22">
            <a:extLst>
              <a:ext uri="{FF2B5EF4-FFF2-40B4-BE49-F238E27FC236}">
                <a16:creationId xmlns:a16="http://schemas.microsoft.com/office/drawing/2014/main" id="{7BE4D450-EB9F-4195-A5AE-683825BC0170}"/>
              </a:ext>
            </a:extLst>
          </p:cNvPr>
          <p:cNvSpPr>
            <a:spLocks noGrp="1"/>
          </p:cNvSpPr>
          <p:nvPr/>
        </p:nvSpPr>
        <p:spPr>
          <a:xfrm>
            <a:off x="6488906" y="2857500"/>
            <a:ext cx="833438" cy="773906"/>
          </a:xfrm>
          <a:prstGeom prst="rect">
            <a:avLst/>
          </a:prstGeom>
          <a:noFill/>
          <a:ln w="0">
            <a:noFill/>
          </a:ln>
        </p:spPr>
        <p:txBody>
          <a:bodyPr anchor="ctr">
            <a:noAutofit/>
          </a:bodyPr>
          <a:lstStyle/>
          <a:p>
            <a:pPr algn="ctr">
              <a:defRPr sz="4031" b="1">
                <a:solidFill>
                  <a:srgbClr val="11745A"/>
                </a:solidFill>
                <a:latin typeface="Arial"/>
                <a:ea typeface="Arial"/>
                <a:cs typeface="Arial"/>
              </a:defRPr>
            </a:pPr>
            <a:r>
              <a:rPr sz="4031" b="1">
                <a:solidFill>
                  <a:srgbClr val="11745A"/>
                </a:solidFill>
                <a:latin typeface="Arial"/>
                <a:ea typeface="Arial"/>
                <a:cs typeface="Arial"/>
              </a:rPr>
              <a:t>7</a:t>
            </a:r>
          </a:p>
        </p:txBody>
      </p:sp>
      <p:sp>
        <p:nvSpPr>
          <p:cNvPr id="23" name="object-23">
            <a:extLst>
              <a:ext uri="{FF2B5EF4-FFF2-40B4-BE49-F238E27FC236}">
                <a16:creationId xmlns:a16="http://schemas.microsoft.com/office/drawing/2014/main" id="{E2341B3C-6994-42E9-ADA8-5801BBC16F9D}"/>
              </a:ext>
            </a:extLst>
          </p:cNvPr>
          <p:cNvSpPr>
            <a:spLocks noGrp="1"/>
          </p:cNvSpPr>
          <p:nvPr/>
        </p:nvSpPr>
        <p:spPr>
          <a:xfrm>
            <a:off x="1190625" y="5453063"/>
            <a:ext cx="6548438"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24 fits into 168: 7 times</a:t>
            </a:r>
          </a:p>
        </p:txBody>
      </p:sp>
      <p:sp>
        <p:nvSpPr>
          <p:cNvPr id="24" name="object-24">
            <a:extLst>
              <a:ext uri="{FF2B5EF4-FFF2-40B4-BE49-F238E27FC236}">
                <a16:creationId xmlns:a16="http://schemas.microsoft.com/office/drawing/2014/main" id="{581D24BE-A9DD-4E44-8A41-95FD6E6AADB6}"/>
              </a:ext>
            </a:extLst>
          </p:cNvPr>
          <p:cNvSpPr>
            <a:spLocks noGrp="1"/>
          </p:cNvSpPr>
          <p:nvPr/>
        </p:nvSpPr>
        <p:spPr>
          <a:xfrm>
            <a:off x="7739063" y="5453063"/>
            <a:ext cx="6310313" cy="642938"/>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168 − 168 = 0</a:t>
            </a:r>
          </a:p>
        </p:txBody>
      </p:sp>
      <p:sp>
        <p:nvSpPr>
          <p:cNvPr id="25" name="object-25">
            <a:extLst>
              <a:ext uri="{FF2B5EF4-FFF2-40B4-BE49-F238E27FC236}">
                <a16:creationId xmlns:a16="http://schemas.microsoft.com/office/drawing/2014/main" id="{00F8F5DE-5957-459E-B789-34CCD11CBCC8}"/>
              </a:ext>
            </a:extLst>
          </p:cNvPr>
          <p:cNvSpPr>
            <a:spLocks noGrp="1"/>
          </p:cNvSpPr>
          <p:nvPr/>
        </p:nvSpPr>
        <p:spPr>
          <a:xfrm>
            <a:off x="892969" y="7227094"/>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7,848 ÷ 24 = 327</a:t>
            </a:r>
          </a:p>
        </p:txBody>
      </p:sp>
    </p:spTree>
    <p:extLst>
      <p:ext uri="{BB962C8B-B14F-4D97-AF65-F5344CB8AC3E}">
        <p14:creationId xmlns:p14="http://schemas.microsoft.com/office/powerpoint/2010/main" val="107453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childTnLst>
                          </p:cTn>
                        </p:par>
                        <p:par>
                          <p:cTn id="13" fill="hold">
                            <p:stCondLst>
                              <p:cond delay="0"/>
                            </p:stCondLst>
                            <p:childTnLst>
                              <p:par>
                                <p:cTn id="14" presetID="63" presetClass="path" presetSubtype="0" accel="50000" decel="50000" fill="hold" grpId="1" nodeType="afterEffect">
                                  <p:stCondLst>
                                    <p:cond delay="0"/>
                                  </p:stCondLst>
                                  <p:childTnLst>
                                    <p:animMotion origin="layout" path="M 0 0 L 0.296875 0.27083333 E" pathEditMode="relative" ptsTypes="">
                                      <p:cBhvr>
                                        <p:cTn id="15" dur="800" fill="hold"/>
                                        <p:tgtEl>
                                          <p:spTgt spid="17"/>
                                        </p:tgtEl>
                                        <p:attrNameLst>
                                          <p:attrName>ppt_x</p:attrName>
                                          <p:attrName>ppt_y</p:attrName>
                                        </p:attrNameLst>
                                      </p:cBhvr>
                                    </p:animMotion>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18"/>
                                        </p:tgtEl>
                                        <p:attrNameLst>
                                          <p:attrName>style.visibility</p:attrName>
                                        </p:attrNameLst>
                                      </p:cBhvr>
                                      <p:to>
                                        <p:strVal val="visible"/>
                                      </p:to>
                                    </p:set>
                                  </p:childTnLst>
                                </p:cTn>
                              </p:par>
                              <p:par>
                                <p:cTn id="20" presetID="1" presetClass="exit" presetSubtype="0" fill="hold" grpId="1" nodeType="withEffect">
                                  <p:stCondLst>
                                    <p:cond delay="0"/>
                                  </p:stCondLst>
                                  <p:childTnLst>
                                    <p:set>
                                      <p:cBhvr>
                                        <p:cTn id="21" dur="1" fill="hold">
                                          <p:stCondLst>
                                            <p:cond delay="0"/>
                                          </p:stCondLst>
                                        </p:cTn>
                                        <p:tgtEl>
                                          <p:spTgt spid="15"/>
                                        </p:tgtEl>
                                        <p:attrNameLst>
                                          <p:attrName>style.visibility</p:attrName>
                                        </p:attrNameLst>
                                      </p:cBhvr>
                                      <p:to>
                                        <p:strVal val="hidden"/>
                                      </p:to>
                                    </p:set>
                                  </p:childTnLst>
                                </p:cTn>
                              </p:par>
                              <p:par>
                                <p:cTn id="22" presetID="1" presetClass="exit" presetSubtype="0" fill="hold" grpId="1" nodeType="withEffect">
                                  <p:stCondLst>
                                    <p:cond delay="0"/>
                                  </p:stCondLst>
                                  <p:childTnLst>
                                    <p:set>
                                      <p:cBhvr>
                                        <p:cTn id="23" dur="1" fill="hold">
                                          <p:stCondLst>
                                            <p:cond delay="0"/>
                                          </p:stCondLst>
                                        </p:cTn>
                                        <p:tgtEl>
                                          <p:spTgt spid="16"/>
                                        </p:tgtEl>
                                        <p:attrNameLst>
                                          <p:attrName>style.visibility</p:attrName>
                                        </p:attrNameLst>
                                      </p:cBhvr>
                                      <p:to>
                                        <p:strVal val="hidden"/>
                                      </p:to>
                                    </p:set>
                                  </p:childTnLst>
                                </p:cTn>
                              </p:par>
                              <p:par>
                                <p:cTn id="24" presetID="1" presetClass="exit" presetSubtype="0" fill="hold" grpId="2" nodeType="withEffect">
                                  <p:stCondLst>
                                    <p:cond delay="0"/>
                                  </p:stCondLst>
                                  <p:childTnLst>
                                    <p:set>
                                      <p:cBhvr>
                                        <p:cTn id="25" dur="1" fill="hold">
                                          <p:stCondLst>
                                            <p:cond delay="0"/>
                                          </p:stCondLst>
                                        </p:cTn>
                                        <p:tgtEl>
                                          <p:spTgt spid="17"/>
                                        </p:tgtEl>
                                        <p:attrNameLst>
                                          <p:attrName>style.visibility</p:attrName>
                                        </p:attrNameLst>
                                      </p:cBhvr>
                                      <p:to>
                                        <p:strVal val="hidden"/>
                                      </p:to>
                                    </p:set>
                                  </p:childTnLst>
                                </p:cTn>
                              </p:par>
                              <p:par>
                                <p:cTn id="26" presetID="1" presetClass="entr" presetSubtype="0" fill="hold" grpId="0" nodeType="withEffect">
                                  <p:stCondLst>
                                    <p:cond delay="0"/>
                                  </p:stCondLst>
                                  <p:childTnLst>
                                    <p:set>
                                      <p:cBhvr>
                                        <p:cTn id="27" dur="1" fill="hold">
                                          <p:stCondLst>
                                            <p:cond delay="0"/>
                                          </p:stCondLst>
                                        </p:cTn>
                                        <p:tgtEl>
                                          <p:spTgt spid="19"/>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par>
                          <p:cTn id="32" fill="hold">
                            <p:stCondLst>
                              <p:cond delay="0"/>
                            </p:stCondLst>
                            <p:childTnLst>
                              <p:par>
                                <p:cTn id="33" presetID="63" presetClass="path" presetSubtype="0" accel="50000" decel="50000" fill="hold" grpId="1" nodeType="afterEffect">
                                  <p:stCondLst>
                                    <p:cond delay="0"/>
                                  </p:stCondLst>
                                  <p:childTnLst>
                                    <p:animMotion origin="layout" path="M 0 0 L 0.23828125 0.27083333 E" pathEditMode="relative" ptsTypes="">
                                      <p:cBhvr>
                                        <p:cTn id="34" dur="800" fill="hold"/>
                                        <p:tgtEl>
                                          <p:spTgt spid="21"/>
                                        </p:tgtEl>
                                        <p:attrNameLst>
                                          <p:attrName>ppt_x</p:attrName>
                                          <p:attrName>ppt_y</p:attrName>
                                        </p:attrNameLst>
                                      </p:cBhvr>
                                    </p:animMotion>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xit" presetSubtype="0" fill="hold" grpId="1" nodeType="withEffect">
                                  <p:stCondLst>
                                    <p:cond delay="0"/>
                                  </p:stCondLst>
                                  <p:childTnLst>
                                    <p:set>
                                      <p:cBhvr>
                                        <p:cTn id="40" dur="1" fill="hold">
                                          <p:stCondLst>
                                            <p:cond delay="0"/>
                                          </p:stCondLst>
                                        </p:cTn>
                                        <p:tgtEl>
                                          <p:spTgt spid="19"/>
                                        </p:tgtEl>
                                        <p:attrNameLst>
                                          <p:attrName>style.visibility</p:attrName>
                                        </p:attrNameLst>
                                      </p:cBhvr>
                                      <p:to>
                                        <p:strVal val="hidden"/>
                                      </p:to>
                                    </p:set>
                                  </p:childTnLst>
                                </p:cTn>
                              </p:par>
                              <p:par>
                                <p:cTn id="41" presetID="1" presetClass="exit" presetSubtype="0" fill="hold" grpId="1" nodeType="withEffect">
                                  <p:stCondLst>
                                    <p:cond delay="0"/>
                                  </p:stCondLst>
                                  <p:childTnLst>
                                    <p:set>
                                      <p:cBhvr>
                                        <p:cTn id="42" dur="1" fill="hold">
                                          <p:stCondLst>
                                            <p:cond delay="0"/>
                                          </p:stCondLst>
                                        </p:cTn>
                                        <p:tgtEl>
                                          <p:spTgt spid="20"/>
                                        </p:tgtEl>
                                        <p:attrNameLst>
                                          <p:attrName>style.visibility</p:attrName>
                                        </p:attrNameLst>
                                      </p:cBhvr>
                                      <p:to>
                                        <p:strVal val="hidden"/>
                                      </p:to>
                                    </p:set>
                                  </p:childTnLst>
                                </p:cTn>
                              </p:par>
                              <p:par>
                                <p:cTn id="43" presetID="1" presetClass="exit" presetSubtype="0" fill="hold" grpId="2" nodeType="withEffect">
                                  <p:stCondLst>
                                    <p:cond delay="0"/>
                                  </p:stCondLst>
                                  <p:childTnLst>
                                    <p:set>
                                      <p:cBhvr>
                                        <p:cTn id="44" dur="1" fill="hold">
                                          <p:stCondLst>
                                            <p:cond delay="0"/>
                                          </p:stCondLst>
                                        </p:cTn>
                                        <p:tgtEl>
                                          <p:spTgt spid="21"/>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5" grpId="1"/>
      <p:bldP spid="16" grpId="0"/>
      <p:bldP spid="16" grpId="1"/>
      <p:bldP spid="17" grpId="0"/>
      <p:bldP spid="17" grpId="1"/>
      <p:bldP spid="17" grpId="2"/>
      <p:bldP spid="18" grpId="0"/>
      <p:bldP spid="19" grpId="0"/>
      <p:bldP spid="19" grpId="1"/>
      <p:bldP spid="20" grpId="0"/>
      <p:bldP spid="20" grpId="1"/>
      <p:bldP spid="21" grpId="0"/>
      <p:bldP spid="21" grpId="1"/>
      <p:bldP spid="21" grpId="2"/>
      <p:bldP spid="22" grpId="0"/>
      <p:bldP spid="23" grpId="0"/>
      <p:bldP spid="24" grpId="0"/>
      <p:bldP spid="2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C68BC09D-C39F-4BD2-BA6A-1BE6EB7F6C7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D36D36E1-C2FB-4D75-A5E3-400971DB6908}"/>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2D804A78-3854-42A6-9619-EB40A3402E89}"/>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D734650E-2F84-4DCB-B72D-CAEBF81C2569}"/>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B8D6588E-0CD3-4509-9204-46163826FE9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6" name="object-6">
            <a:extLst>
              <a:ext uri="{FF2B5EF4-FFF2-40B4-BE49-F238E27FC236}">
                <a16:creationId xmlns:a16="http://schemas.microsoft.com/office/drawing/2014/main" id="{3651510F-E3F6-479C-8B9F-7A49F1F0BD4F}"/>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5DA8AE63-E269-4DB3-AA64-C42F926F1611}"/>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6DFF8422-8B3B-4E80-BDF2-9766B88C26A9}"/>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7,056 / 24 = 294.</a:t>
            </a:r>
          </a:p>
        </p:txBody>
      </p:sp>
      <p:sp>
        <p:nvSpPr>
          <p:cNvPr id="9" name="object-9">
            <a:extLst>
              <a:ext uri="{FF2B5EF4-FFF2-40B4-BE49-F238E27FC236}">
                <a16:creationId xmlns:a16="http://schemas.microsoft.com/office/drawing/2014/main" id="{C355219A-45CA-435D-92FF-1E7084F5770E}"/>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A950C513-3599-4B38-B8A5-81368A9A30EC}"/>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4,398 + 6,725 = 11,123.</a:t>
            </a:r>
          </a:p>
        </p:txBody>
      </p:sp>
      <p:sp>
        <p:nvSpPr>
          <p:cNvPr id="11" name="object-11">
            <a:extLst>
              <a:ext uri="{FF2B5EF4-FFF2-40B4-BE49-F238E27FC236}">
                <a16:creationId xmlns:a16="http://schemas.microsoft.com/office/drawing/2014/main" id="{554060B4-A605-43E7-A0CE-A86A7B7D2A12}"/>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214714F9-5580-4562-844F-743B3013183B}"/>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8,402 - 3,765 = 4,637.</a:t>
            </a:r>
          </a:p>
        </p:txBody>
      </p:sp>
      <p:sp>
        <p:nvSpPr>
          <p:cNvPr id="13" name="object-13">
            <a:extLst>
              <a:ext uri="{FF2B5EF4-FFF2-40B4-BE49-F238E27FC236}">
                <a16:creationId xmlns:a16="http://schemas.microsoft.com/office/drawing/2014/main" id="{4C799FF6-AC50-446F-8F40-9D4E3FA4101C}"/>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FFF7CC7D-7CC6-484E-A8AE-273E86933F99}"/>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Check 7,056 / 24 = 294.</a:t>
            </a:r>
          </a:p>
        </p:txBody>
      </p:sp>
      <p:sp>
        <p:nvSpPr>
          <p:cNvPr id="15" name="object-15">
            <a:extLst>
              <a:ext uri="{FF2B5EF4-FFF2-40B4-BE49-F238E27FC236}">
                <a16:creationId xmlns:a16="http://schemas.microsoft.com/office/drawing/2014/main" id="{CABB2EB8-462A-45E5-AACC-50B37A288C3E}"/>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778C9EB5-B4EF-49DC-BE52-B5C242048EBF}"/>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Check 4,398 + 6,725 = 11,123.</a:t>
            </a:r>
          </a:p>
        </p:txBody>
      </p:sp>
      <p:sp>
        <p:nvSpPr>
          <p:cNvPr id="17" name="object-17">
            <a:extLst>
              <a:ext uri="{FF2B5EF4-FFF2-40B4-BE49-F238E27FC236}">
                <a16:creationId xmlns:a16="http://schemas.microsoft.com/office/drawing/2014/main" id="{8E9F481D-AFDD-462B-9D93-D89BEF5C441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524D776F-D3C1-4633-BA8D-87313456AF0D}"/>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Check 8,402 - 3,765 = 4,637.</a:t>
            </a:r>
          </a:p>
        </p:txBody>
      </p:sp>
      <p:sp>
        <p:nvSpPr>
          <p:cNvPr id="19" name="object-19">
            <a:extLst>
              <a:ext uri="{FF2B5EF4-FFF2-40B4-BE49-F238E27FC236}">
                <a16:creationId xmlns:a16="http://schemas.microsoft.com/office/drawing/2014/main" id="{38789016-3145-4C98-BD01-352CDD0AD76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DB76BCCB-B50D-4750-8E59-8395F4B9CDAD}"/>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division has quotient 318 remainder 7 and divisor 29. Find the dividend.</a:t>
            </a:r>
          </a:p>
        </p:txBody>
      </p:sp>
      <p:sp>
        <p:nvSpPr>
          <p:cNvPr id="21" name="object-21">
            <a:extLst>
              <a:ext uri="{FF2B5EF4-FFF2-40B4-BE49-F238E27FC236}">
                <a16:creationId xmlns:a16="http://schemas.microsoft.com/office/drawing/2014/main" id="{58CDC197-B3D9-4EAE-95A2-48EFDC2DA097}"/>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0D336202-1229-4FBD-9A79-1FCFB587430C}"/>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repeats the same operation and calls it an inverse check.</a:t>
            </a:r>
          </a:p>
        </p:txBody>
      </p:sp>
      <p:sp>
        <p:nvSpPr>
          <p:cNvPr id="23" name="object-23">
            <a:extLst>
              <a:ext uri="{FF2B5EF4-FFF2-40B4-BE49-F238E27FC236}">
                <a16:creationId xmlns:a16="http://schemas.microsoft.com/office/drawing/2014/main" id="{E797D4CC-B9AE-4870-ACC9-656E32AF49A0}"/>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C816CB10-1D36-40FE-BC4C-4D4A2446B9BB}"/>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B6B997C5-4DA5-4438-9A32-96D6C93C0CB3}"/>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BE8926BC-94D2-48B9-97E9-034055B9CF2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Check 8,402 - 3,765 = 4,637.</a:t>
            </a:r>
          </a:p>
        </p:txBody>
      </p:sp>
    </p:spTree>
    <p:extLst>
      <p:ext uri="{BB962C8B-B14F-4D97-AF65-F5344CB8AC3E}">
        <p14:creationId xmlns:p14="http://schemas.microsoft.com/office/powerpoint/2010/main" val="1043965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393FD51F-1EAE-4357-8F94-EC12AC990A1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FFF739D7-3D07-4D33-A8C7-0F6AD42F0CB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AEA4FE19-72B5-4E30-8AFE-C0EC5EF999D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4DBA3A9F-F415-46A4-BFAB-D03C5DA8D399}"/>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Check with inverse operations</a:t>
            </a:r>
          </a:p>
        </p:txBody>
      </p:sp>
      <p:sp>
        <p:nvSpPr>
          <p:cNvPr id="5" name="object-5">
            <a:extLst>
              <a:ext uri="{FF2B5EF4-FFF2-40B4-BE49-F238E27FC236}">
                <a16:creationId xmlns:a16="http://schemas.microsoft.com/office/drawing/2014/main" id="{72B94E9C-8F20-403D-B2A8-AAEEAAF1657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AADDB7BF-BC3E-4A81-93AB-AA8B3B2D9C72}"/>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BF07C52E-D954-43E9-A672-A81FB624B47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294 x 24 = 7,056, so the quotient is correct.</a:t>
            </a:r>
          </a:p>
        </p:txBody>
      </p:sp>
      <p:sp>
        <p:nvSpPr>
          <p:cNvPr id="8" name="object-8">
            <a:extLst>
              <a:ext uri="{FF2B5EF4-FFF2-40B4-BE49-F238E27FC236}">
                <a16:creationId xmlns:a16="http://schemas.microsoft.com/office/drawing/2014/main" id="{3847EEE5-A4F8-4F46-8B61-ED1865E2A1CB}"/>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B60F3771-1EA1-423B-92B2-A90B04D9E118}"/>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11,123 - 6,725 = 4,398.</a:t>
            </a:r>
          </a:p>
        </p:txBody>
      </p:sp>
      <p:sp>
        <p:nvSpPr>
          <p:cNvPr id="10" name="object-10">
            <a:extLst>
              <a:ext uri="{FF2B5EF4-FFF2-40B4-BE49-F238E27FC236}">
                <a16:creationId xmlns:a16="http://schemas.microsoft.com/office/drawing/2014/main" id="{2761EC38-D389-40C6-84D6-828E074ABB8D}"/>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58C3E073-7383-4905-878C-53648B9BB5D3}"/>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4,637 + 3,765 = 8,402.</a:t>
            </a:r>
          </a:p>
        </p:txBody>
      </p:sp>
      <p:sp>
        <p:nvSpPr>
          <p:cNvPr id="12" name="object-12">
            <a:extLst>
              <a:ext uri="{FF2B5EF4-FFF2-40B4-BE49-F238E27FC236}">
                <a16:creationId xmlns:a16="http://schemas.microsoft.com/office/drawing/2014/main" id="{77232996-CCF1-4F8E-9379-76ED186BD70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843DB2F1-97B0-4AE9-B234-CB0AD7356166}"/>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294 x 24 = 7,056, so the quotient is correct.</a:t>
            </a:r>
          </a:p>
        </p:txBody>
      </p:sp>
      <p:sp>
        <p:nvSpPr>
          <p:cNvPr id="14" name="object-14">
            <a:extLst>
              <a:ext uri="{FF2B5EF4-FFF2-40B4-BE49-F238E27FC236}">
                <a16:creationId xmlns:a16="http://schemas.microsoft.com/office/drawing/2014/main" id="{6FD85A32-6936-4479-83DB-F720FFCB5EF1}"/>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53A05698-D01A-4F7D-B672-141CD1C1A17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11,123 - 6,725 = 4,398. Method or representation may vary.</a:t>
            </a:r>
          </a:p>
        </p:txBody>
      </p:sp>
      <p:sp>
        <p:nvSpPr>
          <p:cNvPr id="16" name="object-16">
            <a:extLst>
              <a:ext uri="{FF2B5EF4-FFF2-40B4-BE49-F238E27FC236}">
                <a16:creationId xmlns:a16="http://schemas.microsoft.com/office/drawing/2014/main" id="{2EDCAFCE-1D0C-4432-96BF-0DC56A52EF26}"/>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1E9121B7-F301-4EFE-9E82-3129562352C5}"/>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4,637 + 3,765 = 8,402. A valid check must be shown.</a:t>
            </a:r>
          </a:p>
        </p:txBody>
      </p:sp>
      <p:sp>
        <p:nvSpPr>
          <p:cNvPr id="18" name="object-18">
            <a:extLst>
              <a:ext uri="{FF2B5EF4-FFF2-40B4-BE49-F238E27FC236}">
                <a16:creationId xmlns:a16="http://schemas.microsoft.com/office/drawing/2014/main" id="{8E285FC4-EB69-4D3D-A151-72616F32E1BD}"/>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220C46F1-9EAF-4667-8734-BD8313187B11}"/>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9,229 because 318 x 29 + 7 = 9,229.</a:t>
            </a:r>
          </a:p>
        </p:txBody>
      </p:sp>
      <p:sp>
        <p:nvSpPr>
          <p:cNvPr id="20" name="object-20">
            <a:extLst>
              <a:ext uri="{FF2B5EF4-FFF2-40B4-BE49-F238E27FC236}">
                <a16:creationId xmlns:a16="http://schemas.microsoft.com/office/drawing/2014/main" id="{FDA13F9E-7D97-487B-A383-98210D0CB365}"/>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D21CFC65-B26B-494E-867A-5DDD605FCF4D}"/>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Use the opposite operation so the result returns to the starting value.</a:t>
            </a:r>
          </a:p>
        </p:txBody>
      </p:sp>
      <p:sp>
        <p:nvSpPr>
          <p:cNvPr id="22" name="object-22">
            <a:extLst>
              <a:ext uri="{FF2B5EF4-FFF2-40B4-BE49-F238E27FC236}">
                <a16:creationId xmlns:a16="http://schemas.microsoft.com/office/drawing/2014/main" id="{69AD5F7B-8DD3-4F42-9330-E53BC96D4EDF}"/>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AE83078E-59E6-4328-86D5-71DFD48710F1}"/>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DF3FAF0D-0B9A-4A02-8C53-1EA573E8A060}"/>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0F9C4CB8-843B-4847-B8F2-150AF931D06A}"/>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181656656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1136</Words>
  <Application>Microsoft Office PowerPoint</Application>
  <DocSecurity>0</DocSecurity>
  <PresentationFormat>Custom</PresentationFormat>
  <Paragraphs>154</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2026-09-14T13:14:18Z</dcterms:created>
  <dcterms:modified xsi:type="dcterms:W3CDTF">2026-09-14T13:18:44Z</dcterms:modified>
</cp:coreProperties>
</file>