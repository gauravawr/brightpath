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 the size of answers. Estimate the size of answers.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 the size of answers. I do.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 the size of answers. You do. Pause before clicking. Let pupils try independently, then reveal and discuss every step.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 the size of answers. I do.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 the size of answers. You do. Pause before clicking. Let pupils try independently, then reveal and discuss every step. Identify the operation represented by each part. Reveal one calculation at a time, then follow the result into the next step.</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 the size of answers.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 the size of answers.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794AA0EE-6C69-419E-80A8-C56E197B4D7B}"/>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Estimate the size of answers</a:t>
            </a:r>
          </a:p>
        </p:txBody>
      </p:sp>
      <p:sp>
        <p:nvSpPr>
          <p:cNvPr id="2" name="object-2">
            <a:extLst>
              <a:ext uri="{FF2B5EF4-FFF2-40B4-BE49-F238E27FC236}">
                <a16:creationId xmlns:a16="http://schemas.microsoft.com/office/drawing/2014/main" id="{782172EC-1451-4B91-AA0E-1A975C0D9FE1}"/>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B6109776-9EAE-4A03-9566-6C948A133644}"/>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F192BEF9-09CC-4AFB-94E7-C9989FC4F3F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Estimate the size of answers</a:t>
            </a:r>
          </a:p>
        </p:txBody>
      </p:sp>
      <p:sp>
        <p:nvSpPr>
          <p:cNvPr id="5" name="object-5">
            <a:extLst>
              <a:ext uri="{FF2B5EF4-FFF2-40B4-BE49-F238E27FC236}">
                <a16:creationId xmlns:a16="http://schemas.microsoft.com/office/drawing/2014/main" id="{21BE8948-DEEB-4F40-AC80-B2F731F4DE1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34563F96-228E-4912-8659-18FB4F6E32A1}"/>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estimate answers and identify unreasonable results.</a:t>
            </a:r>
          </a:p>
        </p:txBody>
      </p:sp>
    </p:spTree>
    <p:extLst>
      <p:ext uri="{BB962C8B-B14F-4D97-AF65-F5344CB8AC3E}">
        <p14:creationId xmlns:p14="http://schemas.microsoft.com/office/powerpoint/2010/main" val="1054950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object-1">
            <a:extLst>
              <a:ext uri="{FF2B5EF4-FFF2-40B4-BE49-F238E27FC236}">
                <a16:creationId xmlns:a16="http://schemas.microsoft.com/office/drawing/2014/main" id="{DC912157-E8D0-4CB4-A33B-81F66031880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225C571F-D7F8-494C-A2F8-75A67E3F274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Estimate 6,782 × 49 by rounding.</a:t>
            </a:r>
          </a:p>
        </p:txBody>
      </p:sp>
      <p:sp>
        <p:nvSpPr>
          <p:cNvPr id="3" name="object-3">
            <a:extLst>
              <a:ext uri="{FF2B5EF4-FFF2-40B4-BE49-F238E27FC236}">
                <a16:creationId xmlns:a16="http://schemas.microsoft.com/office/drawing/2014/main" id="{27744DB8-857F-4632-A738-336FBC07653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02E4847E-617E-410C-91C9-52B5F8542D3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Estimate the size of answers</a:t>
            </a:r>
          </a:p>
        </p:txBody>
      </p:sp>
      <p:sp>
        <p:nvSpPr>
          <p:cNvPr id="5" name="object-5">
            <a:extLst>
              <a:ext uri="{FF2B5EF4-FFF2-40B4-BE49-F238E27FC236}">
                <a16:creationId xmlns:a16="http://schemas.microsoft.com/office/drawing/2014/main" id="{207EBDC2-2CDF-42D2-9225-9EBCA3FF953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FCE592D3-FA91-444F-BABF-FFB7E6DB8F69}"/>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6,782 rounds to</a:t>
            </a:r>
          </a:p>
        </p:txBody>
      </p:sp>
      <p:sp>
        <p:nvSpPr>
          <p:cNvPr id="7" name="object-7">
            <a:extLst>
              <a:ext uri="{FF2B5EF4-FFF2-40B4-BE49-F238E27FC236}">
                <a16:creationId xmlns:a16="http://schemas.microsoft.com/office/drawing/2014/main" id="{DE9427AD-B692-4DB2-9DE3-D88DE1B6F9BE}"/>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6,800</a:t>
            </a:r>
          </a:p>
        </p:txBody>
      </p:sp>
      <p:sp>
        <p:nvSpPr>
          <p:cNvPr id="8" name="object-8">
            <a:extLst>
              <a:ext uri="{FF2B5EF4-FFF2-40B4-BE49-F238E27FC236}">
                <a16:creationId xmlns:a16="http://schemas.microsoft.com/office/drawing/2014/main" id="{C28A7F78-3874-4594-BBAA-88B707E99B51}"/>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49 rounds to</a:t>
            </a:r>
          </a:p>
        </p:txBody>
      </p:sp>
      <p:sp>
        <p:nvSpPr>
          <p:cNvPr id="9" name="object-9">
            <a:extLst>
              <a:ext uri="{FF2B5EF4-FFF2-40B4-BE49-F238E27FC236}">
                <a16:creationId xmlns:a16="http://schemas.microsoft.com/office/drawing/2014/main" id="{ADBB3A5B-1B1A-40B5-B8FC-E44DF9735901}"/>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50</a:t>
            </a:r>
          </a:p>
        </p:txBody>
      </p:sp>
      <p:sp>
        <p:nvSpPr>
          <p:cNvPr id="10" name="object-10">
            <a:extLst>
              <a:ext uri="{FF2B5EF4-FFF2-40B4-BE49-F238E27FC236}">
                <a16:creationId xmlns:a16="http://schemas.microsoft.com/office/drawing/2014/main" id="{8293308F-32DC-4D0C-A9E4-9D4968CA9904}"/>
              </a:ext>
            </a:extLst>
          </p:cNvPr>
          <p:cNvSpPr>
            <a:spLocks noGrp="1"/>
          </p:cNvSpPr>
          <p:nvPr/>
        </p:nvSpPr>
        <p:spPr>
          <a:xfrm>
            <a:off x="1012031" y="541337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6,800 × 50 ≈</a:t>
            </a:r>
          </a:p>
        </p:txBody>
      </p:sp>
      <p:sp>
        <p:nvSpPr>
          <p:cNvPr id="11" name="object-11">
            <a:extLst>
              <a:ext uri="{FF2B5EF4-FFF2-40B4-BE49-F238E27FC236}">
                <a16:creationId xmlns:a16="http://schemas.microsoft.com/office/drawing/2014/main" id="{62C09DF7-7100-4327-9F6F-D6FCAB3B759D}"/>
              </a:ext>
            </a:extLst>
          </p:cNvPr>
          <p:cNvSpPr>
            <a:spLocks noGrp="1"/>
          </p:cNvSpPr>
          <p:nvPr/>
        </p:nvSpPr>
        <p:spPr>
          <a:xfrm>
            <a:off x="9346406" y="541337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340,000</a:t>
            </a:r>
          </a:p>
        </p:txBody>
      </p:sp>
    </p:spTree>
    <p:extLst>
      <p:ext uri="{BB962C8B-B14F-4D97-AF65-F5344CB8AC3E}">
        <p14:creationId xmlns:p14="http://schemas.microsoft.com/office/powerpoint/2010/main" val="1863174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7"/>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9"/>
                                        </p:tgtEl>
                                        <p:attrNameLst>
                                          <p:attrName>ppt_x</p:attrName>
                                          <p:attrName>ppt_y</p:attrName>
                                        </p:attrNameLst>
                                      </p:cBhvr>
                                    </p:animMotion>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par>
                          <p:cTn id="27" fill="hold">
                            <p:stCondLst>
                              <p:cond delay="0"/>
                            </p:stCondLst>
                            <p:childTnLst>
                              <p:par>
                                <p:cTn id="28" presetID="1"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childTnLst>
                                </p:cTn>
                              </p:par>
                            </p:childTnLst>
                          </p:cTn>
                        </p:par>
                        <p:par>
                          <p:cTn id="30" fill="hold">
                            <p:stCondLst>
                              <p:cond delay="0"/>
                            </p:stCondLst>
                            <p:childTnLst>
                              <p:par>
                                <p:cTn id="31" presetID="63" presetClass="path" presetSubtype="0" accel="50000" decel="50000" fill="hold" grpId="1" nodeType="afterEffect">
                                  <p:stCondLst>
                                    <p:cond delay="0"/>
                                  </p:stCondLst>
                                  <p:childTnLst>
                                    <p:animMotion origin="layout" path="M 0 0 L 0.03515625 0 E" pathEditMode="relative" ptsTypes="">
                                      <p:cBhvr>
                                        <p:cTn id="32" dur="800" fill="hold"/>
                                        <p:tgtEl>
                                          <p:spTgt spid="11"/>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7" grpId="1"/>
      <p:bldP spid="8" grpId="0"/>
      <p:bldP spid="9" grpId="0"/>
      <p:bldP spid="9" grpId="1"/>
      <p:bldP spid="10" grpId="0"/>
      <p:bldP spid="11" grpId="0"/>
      <p:bldP spid="11" grpId="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object-1">
            <a:extLst>
              <a:ext uri="{FF2B5EF4-FFF2-40B4-BE49-F238E27FC236}">
                <a16:creationId xmlns:a16="http://schemas.microsoft.com/office/drawing/2014/main" id="{21C457B0-3084-4999-BA71-E3975DD925A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58F90785-0D52-4104-8811-FE3ED090DB01}"/>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5732A961-BBB2-4D42-A9D0-E34FCDA87CD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Estimate 6,882 × 49 by rounding.</a:t>
            </a:r>
          </a:p>
        </p:txBody>
      </p:sp>
      <p:sp>
        <p:nvSpPr>
          <p:cNvPr id="4" name="object-4">
            <a:extLst>
              <a:ext uri="{FF2B5EF4-FFF2-40B4-BE49-F238E27FC236}">
                <a16:creationId xmlns:a16="http://schemas.microsoft.com/office/drawing/2014/main" id="{A45F94C0-448F-4470-8C07-7889049E4196}"/>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C2F47AB5-01B9-4635-8726-B3C8B90B7F0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Estimate the size of answers</a:t>
            </a:r>
          </a:p>
        </p:txBody>
      </p:sp>
      <p:sp>
        <p:nvSpPr>
          <p:cNvPr id="6" name="object-6">
            <a:extLst>
              <a:ext uri="{FF2B5EF4-FFF2-40B4-BE49-F238E27FC236}">
                <a16:creationId xmlns:a16="http://schemas.microsoft.com/office/drawing/2014/main" id="{7490D609-D3AB-4937-85D4-F0BCDD4FDCA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1D9C5353-1355-4E38-996F-D7381202BEAC}"/>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6,882 rounds to</a:t>
            </a:r>
          </a:p>
        </p:txBody>
      </p:sp>
      <p:sp>
        <p:nvSpPr>
          <p:cNvPr id="8" name="object-8">
            <a:extLst>
              <a:ext uri="{FF2B5EF4-FFF2-40B4-BE49-F238E27FC236}">
                <a16:creationId xmlns:a16="http://schemas.microsoft.com/office/drawing/2014/main" id="{FEE6F0DC-EB42-4F2D-87C7-211792508416}"/>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6,900</a:t>
            </a:r>
          </a:p>
        </p:txBody>
      </p:sp>
      <p:sp>
        <p:nvSpPr>
          <p:cNvPr id="9" name="object-9">
            <a:extLst>
              <a:ext uri="{FF2B5EF4-FFF2-40B4-BE49-F238E27FC236}">
                <a16:creationId xmlns:a16="http://schemas.microsoft.com/office/drawing/2014/main" id="{76CFDC6D-B094-48BF-9DB0-20272921FBDF}"/>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49 rounds to</a:t>
            </a:r>
          </a:p>
        </p:txBody>
      </p:sp>
      <p:sp>
        <p:nvSpPr>
          <p:cNvPr id="10" name="object-10">
            <a:extLst>
              <a:ext uri="{FF2B5EF4-FFF2-40B4-BE49-F238E27FC236}">
                <a16:creationId xmlns:a16="http://schemas.microsoft.com/office/drawing/2014/main" id="{E6EAC3CB-35E2-427B-9C94-9A8BBDD59E33}"/>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50</a:t>
            </a:r>
          </a:p>
        </p:txBody>
      </p:sp>
      <p:sp>
        <p:nvSpPr>
          <p:cNvPr id="11" name="object-11">
            <a:extLst>
              <a:ext uri="{FF2B5EF4-FFF2-40B4-BE49-F238E27FC236}">
                <a16:creationId xmlns:a16="http://schemas.microsoft.com/office/drawing/2014/main" id="{A82B0CAB-49FE-46E8-878F-611FA272A86E}"/>
              </a:ext>
            </a:extLst>
          </p:cNvPr>
          <p:cNvSpPr>
            <a:spLocks noGrp="1"/>
          </p:cNvSpPr>
          <p:nvPr/>
        </p:nvSpPr>
        <p:spPr>
          <a:xfrm>
            <a:off x="1012031" y="541337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6,900 × 50 ≈</a:t>
            </a:r>
          </a:p>
        </p:txBody>
      </p:sp>
      <p:sp>
        <p:nvSpPr>
          <p:cNvPr id="12" name="object-12">
            <a:extLst>
              <a:ext uri="{FF2B5EF4-FFF2-40B4-BE49-F238E27FC236}">
                <a16:creationId xmlns:a16="http://schemas.microsoft.com/office/drawing/2014/main" id="{858EC538-7D1D-4F05-9F97-843D8BDFB72C}"/>
              </a:ext>
            </a:extLst>
          </p:cNvPr>
          <p:cNvSpPr>
            <a:spLocks noGrp="1"/>
          </p:cNvSpPr>
          <p:nvPr/>
        </p:nvSpPr>
        <p:spPr>
          <a:xfrm>
            <a:off x="9346406" y="541337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345,000</a:t>
            </a:r>
          </a:p>
        </p:txBody>
      </p:sp>
    </p:spTree>
    <p:extLst>
      <p:ext uri="{BB962C8B-B14F-4D97-AF65-F5344CB8AC3E}">
        <p14:creationId xmlns:p14="http://schemas.microsoft.com/office/powerpoint/2010/main" val="1739114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10"/>
                                        </p:tgtEl>
                                        <p:attrNameLst>
                                          <p:attrName>ppt_x</p:attrName>
                                          <p:attrName>ppt_y</p:attrName>
                                        </p:attrNameLst>
                                      </p:cBhvr>
                                    </p:animMotion>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par>
                          <p:cTn id="27" fill="hold">
                            <p:stCondLst>
                              <p:cond delay="0"/>
                            </p:stCondLst>
                            <p:childTnLst>
                              <p:par>
                                <p:cTn id="28" presetID="1" presetClass="entr" presetSubtype="0" fill="hold" grpId="0" nodeType="afterEffect">
                                  <p:stCondLst>
                                    <p:cond delay="0"/>
                                  </p:stCondLst>
                                  <p:childTnLst>
                                    <p:set>
                                      <p:cBhvr>
                                        <p:cTn id="29" dur="1" fill="hold">
                                          <p:stCondLst>
                                            <p:cond delay="0"/>
                                          </p:stCondLst>
                                        </p:cTn>
                                        <p:tgtEl>
                                          <p:spTgt spid="12"/>
                                        </p:tgtEl>
                                        <p:attrNameLst>
                                          <p:attrName>style.visibility</p:attrName>
                                        </p:attrNameLst>
                                      </p:cBhvr>
                                      <p:to>
                                        <p:strVal val="visible"/>
                                      </p:to>
                                    </p:set>
                                  </p:childTnLst>
                                </p:cTn>
                              </p:par>
                            </p:childTnLst>
                          </p:cTn>
                        </p:par>
                        <p:par>
                          <p:cTn id="30" fill="hold">
                            <p:stCondLst>
                              <p:cond delay="0"/>
                            </p:stCondLst>
                            <p:childTnLst>
                              <p:par>
                                <p:cTn id="31" presetID="63" presetClass="path" presetSubtype="0" accel="50000" decel="50000" fill="hold" grpId="1" nodeType="afterEffect">
                                  <p:stCondLst>
                                    <p:cond delay="0"/>
                                  </p:stCondLst>
                                  <p:childTnLst>
                                    <p:animMotion origin="layout" path="M 0 0 L 0.03515625 0 E" pathEditMode="relative" ptsTypes="">
                                      <p:cBhvr>
                                        <p:cTn id="32" dur="8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8" grpId="1"/>
      <p:bldP spid="9" grpId="0"/>
      <p:bldP spid="10" grpId="0"/>
      <p:bldP spid="10" grpId="1"/>
      <p:bldP spid="11" grpId="0"/>
      <p:bldP spid="12" grpId="0"/>
      <p:bldP spid="12"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object-1">
            <a:extLst>
              <a:ext uri="{FF2B5EF4-FFF2-40B4-BE49-F238E27FC236}">
                <a16:creationId xmlns:a16="http://schemas.microsoft.com/office/drawing/2014/main" id="{18B078ED-540C-4047-A032-EE8FDA3E0E9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BB3616E8-B80C-4390-A6AA-3D0AD4B68A31}"/>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Estimate 6,982 × 49 by rounding.</a:t>
            </a:r>
          </a:p>
        </p:txBody>
      </p:sp>
      <p:sp>
        <p:nvSpPr>
          <p:cNvPr id="3" name="object-3">
            <a:extLst>
              <a:ext uri="{FF2B5EF4-FFF2-40B4-BE49-F238E27FC236}">
                <a16:creationId xmlns:a16="http://schemas.microsoft.com/office/drawing/2014/main" id="{B01B1BB6-A5E8-4652-A5F0-1FF79BDE7129}"/>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FE17C212-AD0E-4ADB-863C-A7EF80490F9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Estimate the size of answers</a:t>
            </a:r>
          </a:p>
        </p:txBody>
      </p:sp>
      <p:sp>
        <p:nvSpPr>
          <p:cNvPr id="5" name="object-5">
            <a:extLst>
              <a:ext uri="{FF2B5EF4-FFF2-40B4-BE49-F238E27FC236}">
                <a16:creationId xmlns:a16="http://schemas.microsoft.com/office/drawing/2014/main" id="{469A8434-1D0E-41D3-9457-39AEF3146C7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EEC83CC7-104A-4898-95ED-458B6586CF3A}"/>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6,982 rounds to</a:t>
            </a:r>
          </a:p>
        </p:txBody>
      </p:sp>
      <p:sp>
        <p:nvSpPr>
          <p:cNvPr id="7" name="object-7">
            <a:extLst>
              <a:ext uri="{FF2B5EF4-FFF2-40B4-BE49-F238E27FC236}">
                <a16:creationId xmlns:a16="http://schemas.microsoft.com/office/drawing/2014/main" id="{9F19666A-3C2F-4D7A-BA9C-1003EFCBE94E}"/>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7,000</a:t>
            </a:r>
          </a:p>
        </p:txBody>
      </p:sp>
      <p:sp>
        <p:nvSpPr>
          <p:cNvPr id="8" name="object-8">
            <a:extLst>
              <a:ext uri="{FF2B5EF4-FFF2-40B4-BE49-F238E27FC236}">
                <a16:creationId xmlns:a16="http://schemas.microsoft.com/office/drawing/2014/main" id="{A0860D9C-0B08-46E0-913E-3C6B23D2D639}"/>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49 rounds to</a:t>
            </a:r>
          </a:p>
        </p:txBody>
      </p:sp>
      <p:sp>
        <p:nvSpPr>
          <p:cNvPr id="9" name="object-9">
            <a:extLst>
              <a:ext uri="{FF2B5EF4-FFF2-40B4-BE49-F238E27FC236}">
                <a16:creationId xmlns:a16="http://schemas.microsoft.com/office/drawing/2014/main" id="{380D6A95-128F-4320-840B-6EE9DD3FA8A8}"/>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50</a:t>
            </a:r>
          </a:p>
        </p:txBody>
      </p:sp>
      <p:sp>
        <p:nvSpPr>
          <p:cNvPr id="10" name="object-10">
            <a:extLst>
              <a:ext uri="{FF2B5EF4-FFF2-40B4-BE49-F238E27FC236}">
                <a16:creationId xmlns:a16="http://schemas.microsoft.com/office/drawing/2014/main" id="{CC717A5F-6E9C-41F3-ACE3-662C33B4625D}"/>
              </a:ext>
            </a:extLst>
          </p:cNvPr>
          <p:cNvSpPr>
            <a:spLocks noGrp="1"/>
          </p:cNvSpPr>
          <p:nvPr/>
        </p:nvSpPr>
        <p:spPr>
          <a:xfrm>
            <a:off x="1012031" y="541337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7,000 × 50 ≈</a:t>
            </a:r>
          </a:p>
        </p:txBody>
      </p:sp>
      <p:sp>
        <p:nvSpPr>
          <p:cNvPr id="11" name="object-11">
            <a:extLst>
              <a:ext uri="{FF2B5EF4-FFF2-40B4-BE49-F238E27FC236}">
                <a16:creationId xmlns:a16="http://schemas.microsoft.com/office/drawing/2014/main" id="{72EB7418-201C-42B5-9D5C-FAF418EA88B9}"/>
              </a:ext>
            </a:extLst>
          </p:cNvPr>
          <p:cNvSpPr>
            <a:spLocks noGrp="1"/>
          </p:cNvSpPr>
          <p:nvPr/>
        </p:nvSpPr>
        <p:spPr>
          <a:xfrm>
            <a:off x="9346406" y="541337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350,000</a:t>
            </a:r>
          </a:p>
        </p:txBody>
      </p:sp>
    </p:spTree>
    <p:extLst>
      <p:ext uri="{BB962C8B-B14F-4D97-AF65-F5344CB8AC3E}">
        <p14:creationId xmlns:p14="http://schemas.microsoft.com/office/powerpoint/2010/main" val="707037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7"/>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9"/>
                                        </p:tgtEl>
                                        <p:attrNameLst>
                                          <p:attrName>ppt_x</p:attrName>
                                          <p:attrName>ppt_y</p:attrName>
                                        </p:attrNameLst>
                                      </p:cBhvr>
                                    </p:animMotion>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par>
                          <p:cTn id="27" fill="hold">
                            <p:stCondLst>
                              <p:cond delay="0"/>
                            </p:stCondLst>
                            <p:childTnLst>
                              <p:par>
                                <p:cTn id="28" presetID="1"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childTnLst>
                                </p:cTn>
                              </p:par>
                            </p:childTnLst>
                          </p:cTn>
                        </p:par>
                        <p:par>
                          <p:cTn id="30" fill="hold">
                            <p:stCondLst>
                              <p:cond delay="0"/>
                            </p:stCondLst>
                            <p:childTnLst>
                              <p:par>
                                <p:cTn id="31" presetID="63" presetClass="path" presetSubtype="0" accel="50000" decel="50000" fill="hold" grpId="1" nodeType="afterEffect">
                                  <p:stCondLst>
                                    <p:cond delay="0"/>
                                  </p:stCondLst>
                                  <p:childTnLst>
                                    <p:animMotion origin="layout" path="M 0 0 L 0.03515625 0 E" pathEditMode="relative" ptsTypes="">
                                      <p:cBhvr>
                                        <p:cTn id="32" dur="800" fill="hold"/>
                                        <p:tgtEl>
                                          <p:spTgt spid="11"/>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7" grpId="1"/>
      <p:bldP spid="8" grpId="0"/>
      <p:bldP spid="9" grpId="0"/>
      <p:bldP spid="9" grpId="1"/>
      <p:bldP spid="10" grpId="0"/>
      <p:bldP spid="11" grpId="0"/>
      <p:bldP spid="11" grpId="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object-1">
            <a:extLst>
              <a:ext uri="{FF2B5EF4-FFF2-40B4-BE49-F238E27FC236}">
                <a16:creationId xmlns:a16="http://schemas.microsoft.com/office/drawing/2014/main" id="{D26EB0FE-3B6F-4D19-83A5-576B0283F0A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EF3858E4-A96A-4C98-B675-888731103AAA}"/>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F81836A-D1AB-4D12-93A4-DABFD4F8F30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Estimate 7,082 × 49 by rounding.</a:t>
            </a:r>
          </a:p>
        </p:txBody>
      </p:sp>
      <p:sp>
        <p:nvSpPr>
          <p:cNvPr id="4" name="object-4">
            <a:extLst>
              <a:ext uri="{FF2B5EF4-FFF2-40B4-BE49-F238E27FC236}">
                <a16:creationId xmlns:a16="http://schemas.microsoft.com/office/drawing/2014/main" id="{F11C25C2-5A96-4F89-952F-F092CC39F5B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B09C127D-517B-401F-91DF-22D9CDD9E6E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Estimate the size of answers</a:t>
            </a:r>
          </a:p>
        </p:txBody>
      </p:sp>
      <p:sp>
        <p:nvSpPr>
          <p:cNvPr id="6" name="object-6">
            <a:extLst>
              <a:ext uri="{FF2B5EF4-FFF2-40B4-BE49-F238E27FC236}">
                <a16:creationId xmlns:a16="http://schemas.microsoft.com/office/drawing/2014/main" id="{FC7B76EC-6B26-4C51-B228-40FA6FC91AD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0619DF06-184B-4E1F-A99D-57D78308D22B}"/>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7,082 rounds to</a:t>
            </a:r>
          </a:p>
        </p:txBody>
      </p:sp>
      <p:sp>
        <p:nvSpPr>
          <p:cNvPr id="8" name="object-8">
            <a:extLst>
              <a:ext uri="{FF2B5EF4-FFF2-40B4-BE49-F238E27FC236}">
                <a16:creationId xmlns:a16="http://schemas.microsoft.com/office/drawing/2014/main" id="{B761BCDA-5983-4449-AD47-678C93A55BE3}"/>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7,100</a:t>
            </a:r>
          </a:p>
        </p:txBody>
      </p:sp>
      <p:sp>
        <p:nvSpPr>
          <p:cNvPr id="9" name="object-9">
            <a:extLst>
              <a:ext uri="{FF2B5EF4-FFF2-40B4-BE49-F238E27FC236}">
                <a16:creationId xmlns:a16="http://schemas.microsoft.com/office/drawing/2014/main" id="{AFEEECD1-71D3-4F5F-821E-AB97CD6595AA}"/>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49 rounds to</a:t>
            </a:r>
          </a:p>
        </p:txBody>
      </p:sp>
      <p:sp>
        <p:nvSpPr>
          <p:cNvPr id="10" name="object-10">
            <a:extLst>
              <a:ext uri="{FF2B5EF4-FFF2-40B4-BE49-F238E27FC236}">
                <a16:creationId xmlns:a16="http://schemas.microsoft.com/office/drawing/2014/main" id="{1C286B24-FC7C-405C-8E34-6AF3DAB54E34}"/>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50</a:t>
            </a:r>
          </a:p>
        </p:txBody>
      </p:sp>
      <p:sp>
        <p:nvSpPr>
          <p:cNvPr id="11" name="object-11">
            <a:extLst>
              <a:ext uri="{FF2B5EF4-FFF2-40B4-BE49-F238E27FC236}">
                <a16:creationId xmlns:a16="http://schemas.microsoft.com/office/drawing/2014/main" id="{16925B20-04C0-4ECC-B7B0-F5820E68106A}"/>
              </a:ext>
            </a:extLst>
          </p:cNvPr>
          <p:cNvSpPr>
            <a:spLocks noGrp="1"/>
          </p:cNvSpPr>
          <p:nvPr/>
        </p:nvSpPr>
        <p:spPr>
          <a:xfrm>
            <a:off x="1012031" y="541337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7,100 × 50 ≈</a:t>
            </a:r>
          </a:p>
        </p:txBody>
      </p:sp>
      <p:sp>
        <p:nvSpPr>
          <p:cNvPr id="12" name="object-12">
            <a:extLst>
              <a:ext uri="{FF2B5EF4-FFF2-40B4-BE49-F238E27FC236}">
                <a16:creationId xmlns:a16="http://schemas.microsoft.com/office/drawing/2014/main" id="{F6F0B016-53EA-4B09-A6F1-AB52B46F0134}"/>
              </a:ext>
            </a:extLst>
          </p:cNvPr>
          <p:cNvSpPr>
            <a:spLocks noGrp="1"/>
          </p:cNvSpPr>
          <p:nvPr/>
        </p:nvSpPr>
        <p:spPr>
          <a:xfrm>
            <a:off x="9346406" y="541337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355,000</a:t>
            </a:r>
          </a:p>
        </p:txBody>
      </p:sp>
    </p:spTree>
    <p:extLst>
      <p:ext uri="{BB962C8B-B14F-4D97-AF65-F5344CB8AC3E}">
        <p14:creationId xmlns:p14="http://schemas.microsoft.com/office/powerpoint/2010/main" val="41846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10"/>
                                        </p:tgtEl>
                                        <p:attrNameLst>
                                          <p:attrName>ppt_x</p:attrName>
                                          <p:attrName>ppt_y</p:attrName>
                                        </p:attrNameLst>
                                      </p:cBhvr>
                                    </p:animMotion>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par>
                          <p:cTn id="27" fill="hold">
                            <p:stCondLst>
                              <p:cond delay="0"/>
                            </p:stCondLst>
                            <p:childTnLst>
                              <p:par>
                                <p:cTn id="28" presetID="1" presetClass="entr" presetSubtype="0" fill="hold" grpId="0" nodeType="afterEffect">
                                  <p:stCondLst>
                                    <p:cond delay="0"/>
                                  </p:stCondLst>
                                  <p:childTnLst>
                                    <p:set>
                                      <p:cBhvr>
                                        <p:cTn id="29" dur="1" fill="hold">
                                          <p:stCondLst>
                                            <p:cond delay="0"/>
                                          </p:stCondLst>
                                        </p:cTn>
                                        <p:tgtEl>
                                          <p:spTgt spid="12"/>
                                        </p:tgtEl>
                                        <p:attrNameLst>
                                          <p:attrName>style.visibility</p:attrName>
                                        </p:attrNameLst>
                                      </p:cBhvr>
                                      <p:to>
                                        <p:strVal val="visible"/>
                                      </p:to>
                                    </p:set>
                                  </p:childTnLst>
                                </p:cTn>
                              </p:par>
                            </p:childTnLst>
                          </p:cTn>
                        </p:par>
                        <p:par>
                          <p:cTn id="30" fill="hold">
                            <p:stCondLst>
                              <p:cond delay="0"/>
                            </p:stCondLst>
                            <p:childTnLst>
                              <p:par>
                                <p:cTn id="31" presetID="63" presetClass="path" presetSubtype="0" accel="50000" decel="50000" fill="hold" grpId="1" nodeType="afterEffect">
                                  <p:stCondLst>
                                    <p:cond delay="0"/>
                                  </p:stCondLst>
                                  <p:childTnLst>
                                    <p:animMotion origin="layout" path="M 0 0 L 0.03515625 0 E" pathEditMode="relative" ptsTypes="">
                                      <p:cBhvr>
                                        <p:cTn id="32" dur="8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8" grpId="1"/>
      <p:bldP spid="9" grpId="0"/>
      <p:bldP spid="10" grpId="0"/>
      <p:bldP spid="10" grpId="1"/>
      <p:bldP spid="11" grpId="0"/>
      <p:bldP spid="12" grpId="0"/>
      <p:bldP spid="12" grpId="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79384071-92F5-45A4-AAE4-0112B3F9F4F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BF4B7E56-B04C-4D96-A6E8-6D97E2B45A7B}"/>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5097A5B3-F597-40AC-8530-41CE877ADAD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55F9DCA2-670C-423F-85D6-4D943C730A8A}"/>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8A929B42-E3C4-4412-9290-0B4CD088D03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Estimate the size of answers</a:t>
            </a:r>
          </a:p>
        </p:txBody>
      </p:sp>
      <p:sp>
        <p:nvSpPr>
          <p:cNvPr id="6" name="object-6">
            <a:extLst>
              <a:ext uri="{FF2B5EF4-FFF2-40B4-BE49-F238E27FC236}">
                <a16:creationId xmlns:a16="http://schemas.microsoft.com/office/drawing/2014/main" id="{8B572A59-0D17-4F4F-8FD4-D945B881DA5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F33E7CE4-89EE-467F-A311-6B22DDA86990}"/>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A81791B6-3423-4D61-BAC1-3FF36103C30E}"/>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Estimate 6,782 x 49.</a:t>
            </a:r>
          </a:p>
        </p:txBody>
      </p:sp>
      <p:sp>
        <p:nvSpPr>
          <p:cNvPr id="9" name="object-9">
            <a:extLst>
              <a:ext uri="{FF2B5EF4-FFF2-40B4-BE49-F238E27FC236}">
                <a16:creationId xmlns:a16="http://schemas.microsoft.com/office/drawing/2014/main" id="{109B4269-249B-40AD-9AE0-5F96972B8F71}"/>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42A7E850-3822-4241-9423-4BF6729DEDF8}"/>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Estimate 92,410 / 31.</a:t>
            </a:r>
          </a:p>
        </p:txBody>
      </p:sp>
      <p:sp>
        <p:nvSpPr>
          <p:cNvPr id="11" name="object-11">
            <a:extLst>
              <a:ext uri="{FF2B5EF4-FFF2-40B4-BE49-F238E27FC236}">
                <a16:creationId xmlns:a16="http://schemas.microsoft.com/office/drawing/2014/main" id="{9E11ADD9-DCEE-4BB0-93BE-72A0B7BEDBBC}"/>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23CB85A2-2947-4662-A29D-725238791083}"/>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Estimate 487,205 + 218,770 - 96,420.</a:t>
            </a:r>
          </a:p>
        </p:txBody>
      </p:sp>
      <p:sp>
        <p:nvSpPr>
          <p:cNvPr id="13" name="object-13">
            <a:extLst>
              <a:ext uri="{FF2B5EF4-FFF2-40B4-BE49-F238E27FC236}">
                <a16:creationId xmlns:a16="http://schemas.microsoft.com/office/drawing/2014/main" id="{5C08D677-C7C6-489F-B14E-520859C508B2}"/>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C3364879-8AA4-4D89-BFD9-8B7F70DC6B01}"/>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Estimate 6,782 x 49.</a:t>
            </a:r>
          </a:p>
        </p:txBody>
      </p:sp>
      <p:sp>
        <p:nvSpPr>
          <p:cNvPr id="15" name="object-15">
            <a:extLst>
              <a:ext uri="{FF2B5EF4-FFF2-40B4-BE49-F238E27FC236}">
                <a16:creationId xmlns:a16="http://schemas.microsoft.com/office/drawing/2014/main" id="{A70B52A4-215F-41CB-867F-E655DF0A1336}"/>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C50C5B44-C5CF-431A-AB91-84918EBA1E2B}"/>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Estimate 92,410 / 31.</a:t>
            </a:r>
          </a:p>
        </p:txBody>
      </p:sp>
      <p:sp>
        <p:nvSpPr>
          <p:cNvPr id="17" name="object-17">
            <a:extLst>
              <a:ext uri="{FF2B5EF4-FFF2-40B4-BE49-F238E27FC236}">
                <a16:creationId xmlns:a16="http://schemas.microsoft.com/office/drawing/2014/main" id="{3F9C9EC4-8029-4EBF-8C09-B3BE9B4FEB2C}"/>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65151CC7-F19C-4554-B810-03352D506425}"/>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Estimate 487,205 + 218,770 - 96,420.</a:t>
            </a:r>
          </a:p>
        </p:txBody>
      </p:sp>
      <p:sp>
        <p:nvSpPr>
          <p:cNvPr id="19" name="object-19">
            <a:extLst>
              <a:ext uri="{FF2B5EF4-FFF2-40B4-BE49-F238E27FC236}">
                <a16:creationId xmlns:a16="http://schemas.microsoft.com/office/drawing/2014/main" id="{0D282315-903D-4746-AE4E-E707C8E8CE17}"/>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3198F625-B2A2-4C9F-8893-1A65BC21FDF8}"/>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calculator shows 7,204 x 58 = 41,783. Explain without exact calculation why it is wrong.</a:t>
            </a:r>
          </a:p>
        </p:txBody>
      </p:sp>
      <p:sp>
        <p:nvSpPr>
          <p:cNvPr id="21" name="object-21">
            <a:extLst>
              <a:ext uri="{FF2B5EF4-FFF2-40B4-BE49-F238E27FC236}">
                <a16:creationId xmlns:a16="http://schemas.microsoft.com/office/drawing/2014/main" id="{2183CF7F-CF4A-4549-84AD-C2D4E6D4D20A}"/>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821FE92C-DA00-4BA4-8664-DF4B6E21C5EB}"/>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rounds every number to one significant digit even when this gives a poor estimate.</a:t>
            </a:r>
          </a:p>
        </p:txBody>
      </p:sp>
      <p:sp>
        <p:nvSpPr>
          <p:cNvPr id="23" name="object-23">
            <a:extLst>
              <a:ext uri="{FF2B5EF4-FFF2-40B4-BE49-F238E27FC236}">
                <a16:creationId xmlns:a16="http://schemas.microsoft.com/office/drawing/2014/main" id="{28C30DE4-CBFB-4CC3-A25E-84E363BBBB13}"/>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9457FB24-50FB-4A3D-8207-96881D83E641}"/>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30B2E29D-6279-4DCF-A4F9-E7453BC5E80C}"/>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CB11F407-4819-490D-97D1-1B3723278154}"/>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Estimate 487,205 + 218,770 - 96,420.</a:t>
            </a:r>
          </a:p>
        </p:txBody>
      </p:sp>
    </p:spTree>
    <p:extLst>
      <p:ext uri="{BB962C8B-B14F-4D97-AF65-F5344CB8AC3E}">
        <p14:creationId xmlns:p14="http://schemas.microsoft.com/office/powerpoint/2010/main" val="15537264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388D16D2-DD87-40EA-B96B-51067C4AE43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FB63D731-9D24-47A7-BA70-0B3F36FB39E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264A2120-D4CE-4AA0-ADA5-14DF060A6E10}"/>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3E0C7B89-D97E-4FE8-AEC6-E871A3874A5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Estimate the size of answers</a:t>
            </a:r>
          </a:p>
        </p:txBody>
      </p:sp>
      <p:sp>
        <p:nvSpPr>
          <p:cNvPr id="5" name="object-5">
            <a:extLst>
              <a:ext uri="{FF2B5EF4-FFF2-40B4-BE49-F238E27FC236}">
                <a16:creationId xmlns:a16="http://schemas.microsoft.com/office/drawing/2014/main" id="{51E3C55C-E99C-4EAB-B9F5-8C2680BB09F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5E99A092-718B-44E6-89BA-F94C48BF2E51}"/>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5F2BA48B-EFFF-435A-AA1A-092AA557FF07}"/>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About 6,800 x 50 = 340,000.</a:t>
            </a:r>
          </a:p>
        </p:txBody>
      </p:sp>
      <p:sp>
        <p:nvSpPr>
          <p:cNvPr id="8" name="object-8">
            <a:extLst>
              <a:ext uri="{FF2B5EF4-FFF2-40B4-BE49-F238E27FC236}">
                <a16:creationId xmlns:a16="http://schemas.microsoft.com/office/drawing/2014/main" id="{1142E82F-4ADC-4516-800D-4E20C9A6CBB1}"/>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979FE94F-E5A5-428D-89FC-709CDD7D0C95}"/>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About 90,000 / 30 = 3,000.</a:t>
            </a:r>
          </a:p>
        </p:txBody>
      </p:sp>
      <p:sp>
        <p:nvSpPr>
          <p:cNvPr id="10" name="object-10">
            <a:extLst>
              <a:ext uri="{FF2B5EF4-FFF2-40B4-BE49-F238E27FC236}">
                <a16:creationId xmlns:a16="http://schemas.microsoft.com/office/drawing/2014/main" id="{E3B65646-265A-43DB-BB0A-CC5BC63A7BFD}"/>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EEFAD741-64E2-453C-84FF-456B39567C19}"/>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About 490,000 + 220,000 - 100,000 = 610,000.</a:t>
            </a:r>
          </a:p>
        </p:txBody>
      </p:sp>
      <p:sp>
        <p:nvSpPr>
          <p:cNvPr id="12" name="object-12">
            <a:extLst>
              <a:ext uri="{FF2B5EF4-FFF2-40B4-BE49-F238E27FC236}">
                <a16:creationId xmlns:a16="http://schemas.microsoft.com/office/drawing/2014/main" id="{CD20A78D-E7CB-4D4F-9B25-AD30FE93CC5D}"/>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AB3A6A27-6139-4A75-AB2E-AD4AE423CE1D}"/>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About 6,800 x 50 = 340,000.</a:t>
            </a:r>
          </a:p>
        </p:txBody>
      </p:sp>
      <p:sp>
        <p:nvSpPr>
          <p:cNvPr id="14" name="object-14">
            <a:extLst>
              <a:ext uri="{FF2B5EF4-FFF2-40B4-BE49-F238E27FC236}">
                <a16:creationId xmlns:a16="http://schemas.microsoft.com/office/drawing/2014/main" id="{9207E00B-2DD8-4E30-BD7A-428B7F1686E0}"/>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231A4145-E659-41C0-8610-D46932D08D09}"/>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About 90,000 / 30 = 3,000. Method or representation may vary.</a:t>
            </a:r>
          </a:p>
        </p:txBody>
      </p:sp>
      <p:sp>
        <p:nvSpPr>
          <p:cNvPr id="16" name="object-16">
            <a:extLst>
              <a:ext uri="{FF2B5EF4-FFF2-40B4-BE49-F238E27FC236}">
                <a16:creationId xmlns:a16="http://schemas.microsoft.com/office/drawing/2014/main" id="{AD29B5EA-B8AF-43CD-B254-086959FBEB80}"/>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63B43457-2F22-4A97-A36D-E521E98E3283}"/>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About 490,000 + 220,000 - 100,000 = 610,000. A valid check must be shown.</a:t>
            </a:r>
          </a:p>
        </p:txBody>
      </p:sp>
      <p:sp>
        <p:nvSpPr>
          <p:cNvPr id="18" name="object-18">
            <a:extLst>
              <a:ext uri="{FF2B5EF4-FFF2-40B4-BE49-F238E27FC236}">
                <a16:creationId xmlns:a16="http://schemas.microsoft.com/office/drawing/2014/main" id="{422C5CB4-16A4-4088-B0D0-CA621C41259E}"/>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D8A7D03A-89FC-4D98-9C84-9BDC4ED9B6C1}"/>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The product should be about 7,200 x 60 = 432,000, so the displayed answer is far too small.</a:t>
            </a:r>
          </a:p>
        </p:txBody>
      </p:sp>
      <p:sp>
        <p:nvSpPr>
          <p:cNvPr id="20" name="object-20">
            <a:extLst>
              <a:ext uri="{FF2B5EF4-FFF2-40B4-BE49-F238E27FC236}">
                <a16:creationId xmlns:a16="http://schemas.microsoft.com/office/drawing/2014/main" id="{149895AC-B2FD-4AA0-A378-5671D60898D6}"/>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1A6F7D5B-01A1-4A03-8F22-335DA45461DB}"/>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Choose compatible rounded values that keep the calculation easy and reasonably close.</a:t>
            </a:r>
          </a:p>
        </p:txBody>
      </p:sp>
      <p:sp>
        <p:nvSpPr>
          <p:cNvPr id="22" name="object-22">
            <a:extLst>
              <a:ext uri="{FF2B5EF4-FFF2-40B4-BE49-F238E27FC236}">
                <a16:creationId xmlns:a16="http://schemas.microsoft.com/office/drawing/2014/main" id="{C4DEBD40-22F9-4121-B33E-A91CE5F9E297}"/>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61C35D3A-5921-4536-8854-B21D28C26C5A}"/>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7AAC6DBC-B054-4222-8E62-C65AA036962C}"/>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6E9494E1-5BB5-4E57-AABA-75EF62F8C55F}"/>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64218110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955</Words>
  <Application>Microsoft Office PowerPoint</Application>
  <DocSecurity>0</DocSecurity>
  <PresentationFormat>Custom</PresentationFormat>
  <Paragraphs>110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2026-09-14T13:14:18Z</dcterms:created>
  <dcterms:modified xsi:type="dcterms:W3CDTF">2026-09-14T13:18:43Z</dcterms:modified>
</cp:coreProperties>
</file>