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Change the date before teaching. Check resources. Read the learning intention aloud and clarify success. Resources: Mini whiteboards, assessment questions, number lines, multiplication grid, reflection sheet.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each prompt on click. Use responses to identify pupils who need immediate rehearsal. Suggested responses: Pupil identifies a relevant fact, representation or method. | HCF 24; result 60. | Retrieve the relevant fact or method before answering. | A useful next step names the exact concept, example and support required.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Teach the mathematical idea before asking pupils to solve. Define the vocabulary in context: retrieve, explain, justify, method, misconception, next step. Reveal the three statements one at a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 do. Pupils watch and listen before copying. Think aloud without skipping place value or checking. Model question: Complete: 7,305,019 rounded to 100,000; 2,407 x 38; 7,488 / 26. Answer: 7,300,000; 91,466; 288.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We do. Give silent thinking time before paired talk. Take one step at a time. Do not reveal the answer until every pupil has committed. Answer: HCF 24; result 60.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Miro is a deliberate misconception prompt. Reveal his claim, let pupils identify the error, then reveal the correction. Do not present Miro as lacking ability. Correction: A useful next step names the exact concept, example and support required.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whole-class response routines. Reveal each prompt separately. Expected answer: HCF 24; result 60.. Insist on a reason, not only a numerical response.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You do. Pupils complete the core question independently before discussion. Answer: 2,325 items.. Circulate and note methods as well as accuracy.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after secure fluency or as the higher worksheet route. Accept different correct approaches when fully justified. Expected response: Answers vary. The question must target a specific objective and explain the likely error.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This slide comes after teaching. Select a route by current learning need, not a fixed pupil label. Lower: Find the HCF of 72 and 120, then calculate 18 + 6 x 7. Expected: Solve: 25 boxes hold 144 items each. 1,275 items are used. How many remain? Higher: Choose one autumn objective and create a diagnostic question that would reveal a common misconception.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one exit question at a time. Answers: 2,325 items. | A useful next step names the exact concept, example and support required.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4FDBBF38-85F0-40AC-A402-A1C95C7675D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714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6FD0EA9-75FB-42B7-971D-AA4307D161C7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54292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D658174D-1989-44A7-B224-CE9D6FFBF3F3}"/>
              </a:ext>
            </a:extLst>
          </p:cNvPr>
          <p:cNvSpPr>
            <a:spLocks noGrp="1"/>
          </p:cNvSpPr>
          <p:nvPr/>
        </p:nvSpPr>
        <p:spPr>
          <a:xfrm>
            <a:off x="8572500" y="381000"/>
            <a:ext cx="2952750" cy="68580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4288">
            <a:solidFill>
              <a:srgbClr val="18324A"/>
            </a:solidFill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9270425-A75F-4A6A-BC56-A360698AB618}"/>
              </a:ext>
            </a:extLst>
          </p:cNvPr>
          <p:cNvSpPr>
            <a:spLocks noGrp="1"/>
          </p:cNvSpPr>
          <p:nvPr/>
        </p:nvSpPr>
        <p:spPr>
          <a:xfrm>
            <a:off x="8858250" y="523875"/>
            <a:ext cx="238125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452"/>
          </a:bodyPr>
          <a:lstStyle/>
          <a:p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F6D8BE0-F6CE-4355-906A-99E7F9E12926}"/>
              </a:ext>
            </a:extLst>
          </p:cNvPr>
          <p:cNvSpPr>
            <a:spLocks noGrp="1"/>
          </p:cNvSpPr>
          <p:nvPr/>
        </p:nvSpPr>
        <p:spPr>
          <a:xfrm>
            <a:off x="609600" y="1066800"/>
            <a:ext cx="7239000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2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Year 6 Maths  |  Autumn  |  Week 10  |  Day 5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BC4CE43-2F32-460A-A12B-1A4DB48FA278}"/>
              </a:ext>
            </a:extLst>
          </p:cNvPr>
          <p:cNvSpPr>
            <a:spLocks noGrp="1"/>
          </p:cNvSpPr>
          <p:nvPr/>
        </p:nvSpPr>
        <p:spPr>
          <a:xfrm>
            <a:off x="609600" y="1600200"/>
            <a:ext cx="8572500" cy="1047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Assess learning and plan next steps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9E5641FB-C639-46EA-B7A4-45F659E3070D}"/>
              </a:ext>
            </a:extLst>
          </p:cNvPr>
          <p:cNvSpPr>
            <a:spLocks noGrp="1"/>
          </p:cNvSpPr>
          <p:nvPr/>
        </p:nvSpPr>
        <p:spPr>
          <a:xfrm>
            <a:off x="609600" y="2971800"/>
            <a:ext cx="8096250" cy="142875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18324A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8AA7115-2DE5-4BFD-83DF-27C252F934DE}"/>
              </a:ext>
            </a:extLst>
          </p:cNvPr>
          <p:cNvSpPr>
            <a:spLocks noGrp="1"/>
          </p:cNvSpPr>
          <p:nvPr/>
        </p:nvSpPr>
        <p:spPr>
          <a:xfrm>
            <a:off x="876300" y="3162300"/>
            <a:ext cx="95250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4667"/>
          </a:bodyPr>
          <a:lstStyle/>
          <a:p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3A3CC90-2D95-4D35-8063-6489F05DDDB6}"/>
              </a:ext>
            </a:extLst>
          </p:cNvPr>
          <p:cNvSpPr>
            <a:spLocks noGrp="1"/>
          </p:cNvSpPr>
          <p:nvPr/>
        </p:nvSpPr>
        <p:spPr>
          <a:xfrm>
            <a:off x="876300" y="3571875"/>
            <a:ext cx="7524750" cy="609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9343"/>
          </a:bodyPr>
          <a:lstStyle/>
          <a:p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demonstrate autumn learning and identify a precise next step.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CFBB83A-0043-424E-9F4B-5ACA6F518AC5}"/>
              </a:ext>
            </a:extLst>
          </p:cNvPr>
          <p:cNvSpPr>
            <a:spLocks noGrp="1"/>
          </p:cNvSpPr>
          <p:nvPr/>
        </p:nvSpPr>
        <p:spPr>
          <a:xfrm>
            <a:off x="609600" y="4781550"/>
            <a:ext cx="2476500" cy="323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D83A1B9-6BD2-4AAA-A06F-8DCAB982B162}"/>
              </a:ext>
            </a:extLst>
          </p:cNvPr>
          <p:cNvSpPr>
            <a:spLocks noGrp="1"/>
          </p:cNvSpPr>
          <p:nvPr/>
        </p:nvSpPr>
        <p:spPr>
          <a:xfrm>
            <a:off x="609600" y="5143500"/>
            <a:ext cx="10287000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Mini whiteboards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0868AF1-A1E8-46B2-A9DD-F2CAFBA0E80F}"/>
              </a:ext>
            </a:extLst>
          </p:cNvPr>
          <p:cNvSpPr>
            <a:spLocks noGrp="1"/>
          </p:cNvSpPr>
          <p:nvPr/>
        </p:nvSpPr>
        <p:spPr>
          <a:xfrm>
            <a:off x="609600" y="5953125"/>
            <a:ext cx="5715000" cy="304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1453073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8586B720-EF14-4C6A-86D9-C47E1894F8C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505412A-EEAE-4A1D-A8ED-FB3BA68745F2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10  |  DAY 5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B08C6DB-DD4A-4A47-94B4-00719236B079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C746EF3C-68D9-4997-BA75-CE15C0D6E4A8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80093E3-76E1-4009-81F0-AE3F9665CDE5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CC456A3-42B6-4420-A80C-EA945598865D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A61C476-391F-43FC-A13C-DF51693CAD8D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89E3AE7-2FB9-4E62-A72F-01B352BB3B9B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D3C9092-F219-4704-B9F2-EBB92FAF8CF0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36705BB-F4F0-4917-A797-EA987EA3C128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Assess learning and plan next steps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4FD7E3BC-6D97-4F86-9192-C2EB2D923B9E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281090AC-7E88-453F-89BF-0690D8295E53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CE0CECA-F28E-4DB9-A5A2-E302FE7716D0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CCCD6C2-E267-4948-AC5A-3EDBEE7D85D6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Autumn learning about place value, rounding, calculation, number properties and problem solving.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796C6801-5966-48B1-8D9C-C4D2C7FC0A5D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089F47FE-E83F-4C82-A4BF-D1E986284D86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FA08672-EA33-4689-B48B-BDF5C2DC510A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4376DA4F-6675-4D3B-9108-AA04FD436695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Find the HCF of 72 and 120, then calculate 18 + 6 x 7.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C41A8983-E7B6-4049-872B-D839D53CE053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536E6DC5-474D-4A78-864A-B654158D4EBA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9E0F251D-4D39-4CC2-8C07-2F1E9DA61C69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89ED3BFD-5632-491D-9337-A8644F1EFC90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Complete: 7,305,019 rounded to 100,000; 2,407 x 38; 7,488 / 26.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31DDDC1-7CE1-42E5-A4E2-A3489A4713D3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632659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257D7D73-1256-4F45-8C70-F3D4D24144F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7E82140-0881-47E8-9FF4-0FBB2837E11F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10  |  DAY 5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B2A9F80-1BD8-406B-9140-45743AE15DDC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98A92DD8-4E49-4E40-82AA-6B84D9BEEA51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CB653AF-567D-4B89-A173-89CE83A90D8F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868D1AC-3136-49F6-82E8-EF12BBACC0FA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369BD9C-5698-4C9E-99A0-F3B1BC35EC8F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09425CC-CE75-47E0-A91B-077BDDFB474E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51851A1-933D-485B-8D52-BDB686079367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7BFA703-4318-4BAD-A3FF-DFA5CCFE6E2C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Assess learning and plan next steps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B45F25A-4C81-42DD-BFA9-6049F454179D}"/>
              </a:ext>
            </a:extLst>
          </p:cNvPr>
          <p:cNvSpPr>
            <a:spLocks noGrp="1"/>
          </p:cNvSpPr>
          <p:nvPr/>
        </p:nvSpPr>
        <p:spPr>
          <a:xfrm>
            <a:off x="857250" y="1428750"/>
            <a:ext cx="1047750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demonstrate autumn learning and identify a precise next step.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1E12B7D-752C-4B92-AA15-941101E2391B}"/>
              </a:ext>
            </a:extLst>
          </p:cNvPr>
          <p:cNvSpPr>
            <a:spLocks noGrp="1"/>
          </p:cNvSpPr>
          <p:nvPr/>
        </p:nvSpPr>
        <p:spPr>
          <a:xfrm>
            <a:off x="1047750" y="2400300"/>
            <a:ext cx="100965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1D76DDC-A9F2-44ED-8C15-381D965F8D9E}"/>
              </a:ext>
            </a:extLst>
          </p:cNvPr>
          <p:cNvSpPr>
            <a:spLocks noGrp="1"/>
          </p:cNvSpPr>
          <p:nvPr/>
        </p:nvSpPr>
        <p:spPr>
          <a:xfrm>
            <a:off x="1190625" y="2667000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Retrieve the relevant fact or method before answering.</a:t>
            </a:r>
            <a:endParaRPr sz="1875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CBB22D6-4775-478D-932D-5DCF62BCEE21}"/>
              </a:ext>
            </a:extLst>
          </p:cNvPr>
          <p:cNvSpPr>
            <a:spLocks noGrp="1"/>
          </p:cNvSpPr>
          <p:nvPr/>
        </p:nvSpPr>
        <p:spPr>
          <a:xfrm>
            <a:off x="1190625" y="3571875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Show a clear calculation or representation and explain the decision.</a:t>
            </a:r>
            <a:endParaRPr sz="1875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5BA6219-90B3-40BC-B232-8BE77F1124B9}"/>
              </a:ext>
            </a:extLst>
          </p:cNvPr>
          <p:cNvSpPr>
            <a:spLocks noGrp="1"/>
          </p:cNvSpPr>
          <p:nvPr/>
        </p:nvSpPr>
        <p:spPr>
          <a:xfrm>
            <a:off x="1190625" y="4476750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Check the result, identify any misconception and record the next step.</a:t>
            </a:r>
            <a:endParaRPr sz="1875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C09221E-4A8C-4B3B-9BA3-8F8FE9E842A5}"/>
              </a:ext>
            </a:extLst>
          </p:cNvPr>
          <p:cNvSpPr>
            <a:spLocks noGrp="1"/>
          </p:cNvSpPr>
          <p:nvPr/>
        </p:nvSpPr>
        <p:spPr>
          <a:xfrm>
            <a:off x="1143000" y="5572125"/>
            <a:ext cx="99060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retrieve  |  explain  |  justify  |  method  |  misconception  |  next step</a:t>
            </a:r>
          </a:p>
        </p:txBody>
      </p:sp>
    </p:spTree>
    <p:extLst>
      <p:ext uri="{BB962C8B-B14F-4D97-AF65-F5344CB8AC3E}">
        <p14:creationId xmlns:p14="http://schemas.microsoft.com/office/powerpoint/2010/main" val="7565430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  <p:bldP spid="15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AF9E2CBB-EA3D-471D-896F-EB518CE7D21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F8F38B5-2796-4D2B-81BB-7C417F3532BE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10  |  DAY 5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B18E937-6C89-4655-9C11-FC0471D3E0B2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536B8A7A-3691-4ECC-99C0-DE8880C9EBA4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18324A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02EE6AC-328C-44AF-8EDD-9B14395B46F8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9AD4FE3-03D4-4E24-8ED6-53B1E725736E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F06B337-71F7-42AD-B961-F13D57BF0D64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11E3439-F644-4759-8E0F-37A108BF56CD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EB1295B-D9CD-46F4-A96A-036777327B3A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DEA32A4-1583-4849-BEDD-16B64C34A725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Assess learning and plan next steps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3329AB1-1438-4578-B6D1-F6F27AB211C0}"/>
              </a:ext>
            </a:extLst>
          </p:cNvPr>
          <p:cNvSpPr>
            <a:spLocks noGrp="1"/>
          </p:cNvSpPr>
          <p:nvPr/>
        </p:nvSpPr>
        <p:spPr>
          <a:xfrm>
            <a:off x="914400" y="1428750"/>
            <a:ext cx="10363200" cy="876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Complete: 7,305,019 rounded to 100,000; 2,407 x 38; 7,488 / 26.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717E853-171B-46CA-AFD8-684FD6E20385}"/>
              </a:ext>
            </a:extLst>
          </p:cNvPr>
          <p:cNvSpPr>
            <a:spLocks noGrp="1"/>
          </p:cNvSpPr>
          <p:nvPr/>
        </p:nvSpPr>
        <p:spPr>
          <a:xfrm>
            <a:off x="1095375" y="27146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33ECC946-2338-4A9D-94C9-95B202CB7323}"/>
              </a:ext>
            </a:extLst>
          </p:cNvPr>
          <p:cNvSpPr>
            <a:spLocks noGrp="1"/>
          </p:cNvSpPr>
          <p:nvPr/>
        </p:nvSpPr>
        <p:spPr>
          <a:xfrm>
            <a:off x="1095375" y="2714625"/>
            <a:ext cx="457200" cy="457200"/>
          </a:xfrm>
          <a:prstGeom prst="ellipse">
            <a:avLst/>
          </a:prstGeom>
          <a:solidFill>
            <a:srgbClr val="18324A"/>
          </a:solidFill>
          <a:ln w="0">
            <a:noFill/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1C2F987-B027-4508-8604-CBB82E094DDA}"/>
              </a:ext>
            </a:extLst>
          </p:cNvPr>
          <p:cNvSpPr>
            <a:spLocks noGrp="1"/>
          </p:cNvSpPr>
          <p:nvPr/>
        </p:nvSpPr>
        <p:spPr>
          <a:xfrm>
            <a:off x="1095375" y="27432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EDCBDF3-E620-43AB-AEB1-C9B29B97ED25}"/>
              </a:ext>
            </a:extLst>
          </p:cNvPr>
          <p:cNvSpPr>
            <a:spLocks noGrp="1"/>
          </p:cNvSpPr>
          <p:nvPr/>
        </p:nvSpPr>
        <p:spPr>
          <a:xfrm>
            <a:off x="1809750" y="26003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Retrieve the relevant fact or method before answering.</a:t>
            </a:r>
            <a:endParaRPr sz="1800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E0367D8C-DA28-4175-A1B8-5DFB38680C3F}"/>
              </a:ext>
            </a:extLst>
          </p:cNvPr>
          <p:cNvSpPr>
            <a:spLocks noGrp="1"/>
          </p:cNvSpPr>
          <p:nvPr/>
        </p:nvSpPr>
        <p:spPr>
          <a:xfrm>
            <a:off x="1095375" y="35909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0A304FBE-7991-4A14-9369-719E7872BAAE}"/>
              </a:ext>
            </a:extLst>
          </p:cNvPr>
          <p:cNvSpPr>
            <a:spLocks noGrp="1"/>
          </p:cNvSpPr>
          <p:nvPr/>
        </p:nvSpPr>
        <p:spPr>
          <a:xfrm>
            <a:off x="1095375" y="3590925"/>
            <a:ext cx="457200" cy="457200"/>
          </a:xfrm>
          <a:prstGeom prst="ellipse">
            <a:avLst/>
          </a:prstGeom>
          <a:solidFill>
            <a:srgbClr val="2C6E73"/>
          </a:solidFill>
          <a:ln w="0">
            <a:noFill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602C508-AC22-4CF0-8457-48CB68DF3816}"/>
              </a:ext>
            </a:extLst>
          </p:cNvPr>
          <p:cNvSpPr>
            <a:spLocks noGrp="1"/>
          </p:cNvSpPr>
          <p:nvPr/>
        </p:nvSpPr>
        <p:spPr>
          <a:xfrm>
            <a:off x="1095375" y="36195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F7081DB5-CABE-40DA-AD67-507B87DB018B}"/>
              </a:ext>
            </a:extLst>
          </p:cNvPr>
          <p:cNvSpPr>
            <a:spLocks noGrp="1"/>
          </p:cNvSpPr>
          <p:nvPr/>
        </p:nvSpPr>
        <p:spPr>
          <a:xfrm>
            <a:off x="1809750" y="34766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a clear calculation or representation and explain the decision.</a:t>
            </a:r>
            <a:endParaRPr sz="1800" b="0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ACAE1A1-49D9-440C-AACA-D755D2ACC11C}"/>
              </a:ext>
            </a:extLst>
          </p:cNvPr>
          <p:cNvSpPr>
            <a:spLocks noGrp="1"/>
          </p:cNvSpPr>
          <p:nvPr/>
        </p:nvSpPr>
        <p:spPr>
          <a:xfrm>
            <a:off x="1095375" y="44672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B966C2DE-A8EB-4771-B8B4-0741B0CB5C4E}"/>
              </a:ext>
            </a:extLst>
          </p:cNvPr>
          <p:cNvSpPr>
            <a:spLocks noGrp="1"/>
          </p:cNvSpPr>
          <p:nvPr/>
        </p:nvSpPr>
        <p:spPr>
          <a:xfrm>
            <a:off x="1095375" y="4467225"/>
            <a:ext cx="457200" cy="457200"/>
          </a:xfrm>
          <a:prstGeom prst="ellipse">
            <a:avLst/>
          </a:prstGeom>
          <a:solidFill>
            <a:srgbClr val="2C6E73"/>
          </a:solidFill>
          <a:ln w="0">
            <a:noFill/>
          </a:ln>
        </p:spPr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270382E-6541-4576-9070-BF01C50B9B34}"/>
              </a:ext>
            </a:extLst>
          </p:cNvPr>
          <p:cNvSpPr>
            <a:spLocks noGrp="1"/>
          </p:cNvSpPr>
          <p:nvPr/>
        </p:nvSpPr>
        <p:spPr>
          <a:xfrm>
            <a:off x="1095375" y="44958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DD1B5B3-8FCD-419D-B162-550BA066A043}"/>
              </a:ext>
            </a:extLst>
          </p:cNvPr>
          <p:cNvSpPr>
            <a:spLocks noGrp="1"/>
          </p:cNvSpPr>
          <p:nvPr/>
        </p:nvSpPr>
        <p:spPr>
          <a:xfrm>
            <a:off x="1809750" y="43529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Check the result, identify any misconception and record the next step.</a:t>
            </a:r>
            <a:endParaRPr sz="1800" b="0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9589384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9" grpId="0"/>
      <p:bldP spid="23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50CCD343-9FBA-4860-A967-1AE0D447B18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11D4E71-A1BA-4D60-B9B6-78BCBFC6CE36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10  |  DAY 5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1DA3FBA-C5D5-4486-A127-1F510B886852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92E5CC2C-6D4C-4972-AAB5-A70378B9E0A2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18324A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FEB2536-2AE6-4353-8C51-FC5CF36EEC1B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D7FC07A-F2B1-4448-B1EF-5FB8B070DD57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E472F75-55E5-4F4F-8519-0F633F654015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779BA64-0861-46D3-879C-28B179128E3A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D9437DB-46A6-4414-9169-123D8AB31704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E3D1241-9C36-41E4-897F-EB8D7A98881E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Assess learning and plan next steps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79A85AD-D7A1-4F22-80A0-4D9B15540AC5}"/>
              </a:ext>
            </a:extLst>
          </p:cNvPr>
          <p:cNvSpPr>
            <a:spLocks noGrp="1"/>
          </p:cNvSpPr>
          <p:nvPr/>
        </p:nvSpPr>
        <p:spPr>
          <a:xfrm>
            <a:off x="1000125" y="1524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6C84683-BCA9-4144-AF8B-AA812F46B86B}"/>
              </a:ext>
            </a:extLst>
          </p:cNvPr>
          <p:cNvSpPr>
            <a:spLocks noGrp="1"/>
          </p:cNvSpPr>
          <p:nvPr/>
        </p:nvSpPr>
        <p:spPr>
          <a:xfrm>
            <a:off x="1000125" y="2047875"/>
            <a:ext cx="10191750" cy="1238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GB"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7,300,000; 91,466; 288.</a:t>
            </a:r>
            <a:endParaRPr sz="2850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D83279B-AC0C-4D04-8AE3-6B19A0CA7997}"/>
              </a:ext>
            </a:extLst>
          </p:cNvPr>
          <p:cNvSpPr>
            <a:spLocks noGrp="1"/>
          </p:cNvSpPr>
          <p:nvPr/>
        </p:nvSpPr>
        <p:spPr>
          <a:xfrm>
            <a:off x="1000125" y="3638550"/>
            <a:ext cx="1019175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9F8A3F8-C645-4B79-ABB4-56594B255A9A}"/>
              </a:ext>
            </a:extLst>
          </p:cNvPr>
          <p:cNvSpPr>
            <a:spLocks noGrp="1"/>
          </p:cNvSpPr>
          <p:nvPr/>
        </p:nvSpPr>
        <p:spPr>
          <a:xfrm>
            <a:off x="1381125" y="4000500"/>
            <a:ext cx="9429750" cy="704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Check the result, identify any misconception and record the next step.</a:t>
            </a:r>
            <a:endParaRPr sz="1875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4423850-78E5-4054-806B-A557B26D75E3}"/>
              </a:ext>
            </a:extLst>
          </p:cNvPr>
          <p:cNvSpPr>
            <a:spLocks noGrp="1"/>
          </p:cNvSpPr>
          <p:nvPr/>
        </p:nvSpPr>
        <p:spPr>
          <a:xfrm>
            <a:off x="1381125" y="5000625"/>
            <a:ext cx="9429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  <a:endParaRPr sz="1800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3833850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4" grpId="0"/>
      <p:bldP spid="15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BE252EEC-1AA2-41CE-966D-D14603BE770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30B3D1C-CBEA-4BC7-88D8-E372DFB9BCB9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10  |  DAY 5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61E2ADE-FFA9-4C9C-A555-A363DAA7D4F8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00075027-CFAA-4B72-B245-3B4595068549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C6E73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A2CE57A-C558-4600-8BB9-F6766574294E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54F65DF-FF19-4803-876A-729DE0E93AA4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A380252-43AB-4C53-A4FE-BC2F7CA6C3CE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7425365-E0D9-49E2-A310-A7F474D84E33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0D3134D-A8C6-4907-B415-9D261FB6E309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37FBE06-C11F-49B9-B75D-45F07343EBB3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Assess learning and plan next steps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F5641D7-22D8-4BDE-9190-2CF105900C4F}"/>
              </a:ext>
            </a:extLst>
          </p:cNvPr>
          <p:cNvSpPr>
            <a:spLocks noGrp="1"/>
          </p:cNvSpPr>
          <p:nvPr/>
        </p:nvSpPr>
        <p:spPr>
          <a:xfrm>
            <a:off x="952500" y="1524000"/>
            <a:ext cx="10287000" cy="1000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Find the HCF of 72 and 120, then calculate 18 + 6 x 7.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49E7DD4-5943-4E30-B24C-4F43A50525F8}"/>
              </a:ext>
            </a:extLst>
          </p:cNvPr>
          <p:cNvSpPr>
            <a:spLocks noGrp="1"/>
          </p:cNvSpPr>
          <p:nvPr/>
        </p:nvSpPr>
        <p:spPr>
          <a:xfrm>
            <a:off x="12382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E62E696-E053-4CCE-8464-2F0361A259EE}"/>
              </a:ext>
            </a:extLst>
          </p:cNvPr>
          <p:cNvSpPr>
            <a:spLocks noGrp="1"/>
          </p:cNvSpPr>
          <p:nvPr/>
        </p:nvSpPr>
        <p:spPr>
          <a:xfrm>
            <a:off x="48577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EBD6446-4B7D-42AA-9EAF-6168A6D39E52}"/>
              </a:ext>
            </a:extLst>
          </p:cNvPr>
          <p:cNvSpPr>
            <a:spLocks noGrp="1"/>
          </p:cNvSpPr>
          <p:nvPr/>
        </p:nvSpPr>
        <p:spPr>
          <a:xfrm>
            <a:off x="84772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8D7F053-43F3-418D-89A9-3BE6973D81E9}"/>
              </a:ext>
            </a:extLst>
          </p:cNvPr>
          <p:cNvSpPr>
            <a:spLocks noGrp="1"/>
          </p:cNvSpPr>
          <p:nvPr/>
        </p:nvSpPr>
        <p:spPr>
          <a:xfrm>
            <a:off x="1714500" y="3857625"/>
            <a:ext cx="8763000" cy="5143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094FA75-8081-4D26-AD55-5BE4C526E914}"/>
              </a:ext>
            </a:extLst>
          </p:cNvPr>
          <p:cNvSpPr>
            <a:spLocks noGrp="1"/>
          </p:cNvSpPr>
          <p:nvPr/>
        </p:nvSpPr>
        <p:spPr>
          <a:xfrm>
            <a:off x="1714500" y="4810125"/>
            <a:ext cx="876300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US"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HCF 24; result 60.</a:t>
            </a:r>
            <a:endParaRPr sz="2250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6104340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49F1EE9A-371D-4A48-A0A9-96BFF955523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538D7F2-72BE-4C12-B6B7-CACB8F158253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10  |  DAY 5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87FAE55-322C-4F8E-A0A0-1E079404FFEA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4914EA02-DA3F-47BC-A530-FD4F0B42FADB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3149CC4-22E7-4D4B-8488-A58A1699945E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585CFA9-3B2B-4F81-BFBC-398F801E009E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47C45F1-1D2D-4225-9267-A3CEA9273F1A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00D39B8-70DC-4163-B157-94BBD93559A9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D4151DC-6597-4356-BCAA-E0AC8B32ADB0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C045189-943D-44AD-9ED8-E5897A7A5D63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Assess learning and plan next steps</a:t>
            </a:r>
          </a:p>
        </p:txBody>
      </p:sp>
      <p:pic>
        <p:nvPicPr>
          <p:cNvPr id="27" name="Picture 26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8056563" y="1381125"/>
            <a:ext cx="2984500" cy="4476750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7ADDF8C2-4038-4682-ADD5-6E6702709ABA}"/>
              </a:ext>
            </a:extLst>
          </p:cNvPr>
          <p:cNvSpPr>
            <a:spLocks noGrp="1"/>
          </p:cNvSpPr>
          <p:nvPr/>
        </p:nvSpPr>
        <p:spPr>
          <a:xfrm>
            <a:off x="904875" y="1524000"/>
            <a:ext cx="28575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E364B7F-81DE-4EDC-8BEB-2F49C1B23CF2}"/>
              </a:ext>
            </a:extLst>
          </p:cNvPr>
          <p:cNvSpPr>
            <a:spLocks noGrp="1"/>
          </p:cNvSpPr>
          <p:nvPr/>
        </p:nvSpPr>
        <p:spPr>
          <a:xfrm>
            <a:off x="904875" y="2095500"/>
            <a:ext cx="6477000" cy="1381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writes 'more practice' as a next step without naming the knowledge needed.</a:t>
            </a:r>
            <a:endParaRPr sz="217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9902992-E915-4B98-8606-0477E5F87514}"/>
              </a:ext>
            </a:extLst>
          </p:cNvPr>
          <p:cNvSpPr>
            <a:spLocks noGrp="1"/>
          </p:cNvSpPr>
          <p:nvPr/>
        </p:nvSpPr>
        <p:spPr>
          <a:xfrm>
            <a:off x="904875" y="3857625"/>
            <a:ext cx="64770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9F0C8CF-F8EA-4C8B-98D1-135EB4A490EE}"/>
              </a:ext>
            </a:extLst>
          </p:cNvPr>
          <p:cNvSpPr>
            <a:spLocks noGrp="1"/>
          </p:cNvSpPr>
          <p:nvPr/>
        </p:nvSpPr>
        <p:spPr>
          <a:xfrm>
            <a:off x="904875" y="4171950"/>
            <a:ext cx="5905500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D265C9A-5A2C-4446-8975-1F2F28709AA9}"/>
              </a:ext>
            </a:extLst>
          </p:cNvPr>
          <p:cNvSpPr>
            <a:spLocks noGrp="1"/>
          </p:cNvSpPr>
          <p:nvPr/>
        </p:nvSpPr>
        <p:spPr>
          <a:xfrm>
            <a:off x="904875" y="4714875"/>
            <a:ext cx="6477000" cy="1047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A useful next step names the exact concept, example and support required.</a:t>
            </a:r>
            <a:endParaRPr sz="1800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1654386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6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D1B683E9-3DD0-4841-89C4-9434B60599D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4765D60-8625-4627-ADCE-D62E4E112949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10  |  DAY 5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F995753-7F94-4052-BFB9-81B8F7C82A85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6E8CB534-3AFD-400A-802E-80374F9306AB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C6E73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669A044-7167-4025-95A3-F6EC548FE874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57B03A0-77DD-481F-AA47-4DA2CD7B5345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72CE03F-5665-4CDA-AFE1-B3676073710D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3509779-0E36-421A-9067-1C03516D1E31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123E766-A13D-4A5C-9276-A92391064922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F047633-FCEB-4007-8C9B-9C093ADC24FF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Assess learning and plan next steps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6D7A1CDF-09A0-4EBC-B176-FC01C44501AA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49006451-B113-4807-BFE1-05E557BC8612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C2219D6-8B4B-4890-AB55-8EFB76985EB0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AE16AD1-AF34-4FF5-87B4-3E216EBF5A39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Find the HCF of 72 and 120, then calculate 18 + 6 x 7.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DBE1E2AE-B011-465E-9D5C-78F7FE823212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4C2710F7-4E00-4162-A13A-B63F63EDED35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2C3BF31-0046-4F04-8FFB-B4DE1685E77C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745FA98-5E48-44BF-8202-1F19F95D31E7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39CB3D6F-6364-43FB-9EC6-475196BDC27A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5810FF2B-CB94-451D-8E77-39636D49B528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805C7F5-3D23-49CB-9966-2711F462CD3B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7DB893F-C19A-4668-869C-13C4A7D8E8D5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HCF 24; result 60.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E22565BC-BCAF-4594-BA5D-37E7D679325B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2955474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2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961A2EC2-5BC5-4A28-A3E5-95D970A28B7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0E9B63E-F43C-4DD5-BE40-6AFE4946E0E1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10  |  DAY 5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54A284B-B505-479C-998D-751542D0CF2A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A9F4410A-1BB7-4058-9F87-A521CFFB6C0D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F785D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78A45C5-EEE1-4D96-B98F-0C39DEA100EA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44E94C2-B49E-4E9E-84AC-42CD3630FD8D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D02DCCD-72EB-48C9-8642-4DF2F728E04C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F0B86BC-E996-4F55-9C84-83FB9E12C03D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A68417B-0E20-4AF9-BE50-7BCCE2EE53F4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C909574-A562-45E8-8DC7-3AAF01DF1D09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Assess learning and plan next steps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37152DE4-D996-4D84-81B5-8CF9FD6A8DA5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EA8E9847-4000-4A5F-9A3E-69973A198A64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5D9DD66-1AE5-4F5A-96E8-DD63B428811F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6AAA28A-60B4-4C87-97D7-C0A4581B2758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Solve: 25 boxes hold 144 items each. 1,275 items are used. How many remain?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EAF0B5E8-ADB0-4345-8A3A-F27AA3AFE9CE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73A08AE4-3D75-485B-88F8-25C061046FD5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523DCD5-ACDA-4067-AB77-858714677C39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7D8CC30-106F-4EF7-86EC-69D5124F97AD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5AC68D39-B01F-45A5-8B3A-4A9AC9ECCE7C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3067DD8A-67A3-4BE5-A951-AF55917ABAF1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4578594-8BA3-41F4-9A53-5A47DA700559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71E0F9CC-9B5D-4E2B-82F2-03FDC3485453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213014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2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8B6DB3AC-9097-4FD7-B49E-37BCDEED1DC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DA0554F-E486-4A1A-859C-D6B720AA1648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10  |  DAY 5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FBAB701-EE92-4668-B2D1-B78C6B30107E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99C9D315-0012-4522-BF03-3F372AC6A4C4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F785D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ACC4BB7-0AA3-4C32-8324-F864A8A5F557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BD9F34C-8EBB-471F-8185-694ABC89316E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6F84985-6C2E-4A2F-9B1E-9ACDA482DD79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C04AFF4-9592-423C-B87E-F40730E82A5E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03E432E-75B8-49CC-BA8F-F9600164B9FE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2841F95-18ED-4334-A1F8-CD2240155EF2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Assess learning and plan next steps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89C4E48-819A-4D67-9F17-5ADC89CCD4B9}"/>
              </a:ext>
            </a:extLst>
          </p:cNvPr>
          <p:cNvSpPr>
            <a:spLocks noGrp="1"/>
          </p:cNvSpPr>
          <p:nvPr/>
        </p:nvSpPr>
        <p:spPr>
          <a:xfrm>
            <a:off x="1000125" y="1524000"/>
            <a:ext cx="10191750" cy="1143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Choose one autumn objective and create a diagnostic question that would reveal a common misconception.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6E83B34-D0A2-4C47-82D6-0EA141E3D593}"/>
              </a:ext>
            </a:extLst>
          </p:cNvPr>
          <p:cNvSpPr>
            <a:spLocks noGrp="1"/>
          </p:cNvSpPr>
          <p:nvPr/>
        </p:nvSpPr>
        <p:spPr>
          <a:xfrm>
            <a:off x="1428750" y="3143250"/>
            <a:ext cx="933450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  <a:endParaRPr sz="1800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ACE2A86-A403-403C-A939-D1D5B7585DE2}"/>
              </a:ext>
            </a:extLst>
          </p:cNvPr>
          <p:cNvSpPr>
            <a:spLocks noGrp="1"/>
          </p:cNvSpPr>
          <p:nvPr/>
        </p:nvSpPr>
        <p:spPr>
          <a:xfrm>
            <a:off x="1428750" y="4143375"/>
            <a:ext cx="933450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  <a:endParaRPr sz="1800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7FCAA49-6DF3-4528-B51C-9B96D82124B4}"/>
              </a:ext>
            </a:extLst>
          </p:cNvPr>
          <p:cNvSpPr>
            <a:spLocks noGrp="1"/>
          </p:cNvSpPr>
          <p:nvPr/>
        </p:nvSpPr>
        <p:spPr>
          <a:xfrm>
            <a:off x="1428750" y="5143500"/>
            <a:ext cx="9334500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9242"/>
          </a:bodyPr>
          <a:lstStyle/>
          <a:p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Answers vary. The question must target a specific objective and explain the likely error.</a:t>
            </a:r>
            <a:endParaRPr sz="1650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6372018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A5B38BED-5242-44E3-9C41-9EEB78CDF67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45A5814-6A01-49C1-9519-D9AE2518C51C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10  |  DAY 5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3001C13-868A-480A-818F-7765268AEEAE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584EFC10-468F-41AE-B3AF-7FFB2A902E68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91C9AC0-43B2-46BA-B88A-D175D2C53DD0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0514362-E00C-41FC-BD0D-0D424670B5B5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 routes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12A3D0C-193E-42F5-AD6C-3C23E9FCBABA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1A5FFDE-5C49-4053-937A-9BC86AA9F997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61B1005-6292-41FA-BF8B-8A015561A6F4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826B233-F73B-4DE2-88B9-F76CC686232D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Assess learning and plan next steps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0B85C51-66DE-4C24-A8C2-F7A75C5AE41C}"/>
              </a:ext>
            </a:extLst>
          </p:cNvPr>
          <p:cNvSpPr>
            <a:spLocks noGrp="1"/>
          </p:cNvSpPr>
          <p:nvPr/>
        </p:nvSpPr>
        <p:spPr>
          <a:xfrm>
            <a:off x="809625" y="1666875"/>
            <a:ext cx="523875" cy="523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1BB12696-DF85-447D-A7DE-ED6C0771879C}"/>
              </a:ext>
            </a:extLst>
          </p:cNvPr>
          <p:cNvSpPr>
            <a:spLocks noGrp="1"/>
          </p:cNvSpPr>
          <p:nvPr/>
        </p:nvSpPr>
        <p:spPr>
          <a:xfrm>
            <a:off x="809625" y="1666875"/>
            <a:ext cx="523875" cy="523875"/>
          </a:xfrm>
          <a:prstGeom prst="ellipse">
            <a:avLst/>
          </a:prstGeom>
          <a:solidFill>
            <a:srgbClr val="18324A"/>
          </a:solidFill>
          <a:ln w="0">
            <a:noFill/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47BBB62-DF5A-442A-8167-3263D52D235E}"/>
              </a:ext>
            </a:extLst>
          </p:cNvPr>
          <p:cNvSpPr>
            <a:spLocks noGrp="1"/>
          </p:cNvSpPr>
          <p:nvPr/>
        </p:nvSpPr>
        <p:spPr>
          <a:xfrm>
            <a:off x="809625" y="1714500"/>
            <a:ext cx="523875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A3A9D9E-67B0-4AAD-B128-C9FBBA257997}"/>
              </a:ext>
            </a:extLst>
          </p:cNvPr>
          <p:cNvSpPr>
            <a:spLocks noGrp="1"/>
          </p:cNvSpPr>
          <p:nvPr/>
        </p:nvSpPr>
        <p:spPr>
          <a:xfrm>
            <a:off x="762000" y="2476500"/>
            <a:ext cx="28575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Lower support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BCE55CF-0A42-4494-887D-5AB84B60D9D6}"/>
              </a:ext>
            </a:extLst>
          </p:cNvPr>
          <p:cNvSpPr>
            <a:spLocks noGrp="1"/>
          </p:cNvSpPr>
          <p:nvPr/>
        </p:nvSpPr>
        <p:spPr>
          <a:xfrm>
            <a:off x="762000" y="3162300"/>
            <a:ext cx="2857500" cy="1285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Worked first line, smaller step, vocabulary prompt and adult check.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347A012-E95D-47CA-942D-575E1EF61A78}"/>
              </a:ext>
            </a:extLst>
          </p:cNvPr>
          <p:cNvSpPr>
            <a:spLocks noGrp="1"/>
          </p:cNvSpPr>
          <p:nvPr/>
        </p:nvSpPr>
        <p:spPr>
          <a:xfrm>
            <a:off x="4286250" y="1666875"/>
            <a:ext cx="523875" cy="523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82498DCD-C7E3-484F-9F65-0354515A2E94}"/>
              </a:ext>
            </a:extLst>
          </p:cNvPr>
          <p:cNvSpPr>
            <a:spLocks noGrp="1"/>
          </p:cNvSpPr>
          <p:nvPr/>
        </p:nvSpPr>
        <p:spPr>
          <a:xfrm>
            <a:off x="4286250" y="1666875"/>
            <a:ext cx="523875" cy="523875"/>
          </a:xfrm>
          <a:prstGeom prst="ellipse">
            <a:avLst/>
          </a:prstGeom>
          <a:solidFill>
            <a:srgbClr val="2C6E73"/>
          </a:solidFill>
          <a:ln w="0">
            <a:noFill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D06F122-CF7C-4066-8B0F-B2FC11902B12}"/>
              </a:ext>
            </a:extLst>
          </p:cNvPr>
          <p:cNvSpPr>
            <a:spLocks noGrp="1"/>
          </p:cNvSpPr>
          <p:nvPr/>
        </p:nvSpPr>
        <p:spPr>
          <a:xfrm>
            <a:off x="4286250" y="1714500"/>
            <a:ext cx="523875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C1DA22C-DB3C-4134-8A17-43820780CFEA}"/>
              </a:ext>
            </a:extLst>
          </p:cNvPr>
          <p:cNvSpPr>
            <a:spLocks noGrp="1"/>
          </p:cNvSpPr>
          <p:nvPr/>
        </p:nvSpPr>
        <p:spPr>
          <a:xfrm>
            <a:off x="4238625" y="2476500"/>
            <a:ext cx="28575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Expected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779B51A-691F-4A98-8E46-73E44B14C04C}"/>
              </a:ext>
            </a:extLst>
          </p:cNvPr>
          <p:cNvSpPr>
            <a:spLocks noGrp="1"/>
          </p:cNvSpPr>
          <p:nvPr/>
        </p:nvSpPr>
        <p:spPr>
          <a:xfrm>
            <a:off x="4238625" y="3162300"/>
            <a:ext cx="2857500" cy="1285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Independent core calculation, complete method and reasonableness check.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BECC9A5-0B98-4CD6-9246-2C0EF372BF64}"/>
              </a:ext>
            </a:extLst>
          </p:cNvPr>
          <p:cNvSpPr>
            <a:spLocks noGrp="1"/>
          </p:cNvSpPr>
          <p:nvPr/>
        </p:nvSpPr>
        <p:spPr>
          <a:xfrm>
            <a:off x="7762875" y="1666875"/>
            <a:ext cx="523875" cy="523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F479ACCA-CEBF-4097-B5E4-DE5AD45CBA23}"/>
              </a:ext>
            </a:extLst>
          </p:cNvPr>
          <p:cNvSpPr>
            <a:spLocks noGrp="1"/>
          </p:cNvSpPr>
          <p:nvPr/>
        </p:nvSpPr>
        <p:spPr>
          <a:xfrm>
            <a:off x="7762875" y="1666875"/>
            <a:ext cx="523875" cy="523875"/>
          </a:xfrm>
          <a:prstGeom prst="ellipse">
            <a:avLst/>
          </a:prstGeom>
          <a:solidFill>
            <a:srgbClr val="2F785D"/>
          </a:solidFill>
          <a:ln w="0">
            <a:noFill/>
          </a:ln>
        </p:spPr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CA60B868-672C-45EF-B09B-6D8F46BA379B}"/>
              </a:ext>
            </a:extLst>
          </p:cNvPr>
          <p:cNvSpPr>
            <a:spLocks noGrp="1"/>
          </p:cNvSpPr>
          <p:nvPr/>
        </p:nvSpPr>
        <p:spPr>
          <a:xfrm>
            <a:off x="7762875" y="1714500"/>
            <a:ext cx="523875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B1D49AA2-C044-4638-B4E9-B0B9294B365A}"/>
              </a:ext>
            </a:extLst>
          </p:cNvPr>
          <p:cNvSpPr>
            <a:spLocks noGrp="1"/>
          </p:cNvSpPr>
          <p:nvPr/>
        </p:nvSpPr>
        <p:spPr>
          <a:xfrm>
            <a:off x="7715250" y="2476500"/>
            <a:ext cx="28575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Higher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C239DF6D-C2A4-4C6D-B6EF-348C15E3D035}"/>
              </a:ext>
            </a:extLst>
          </p:cNvPr>
          <p:cNvSpPr>
            <a:spLocks noGrp="1"/>
          </p:cNvSpPr>
          <p:nvPr/>
        </p:nvSpPr>
        <p:spPr>
          <a:xfrm>
            <a:off x="7715250" y="3162300"/>
            <a:ext cx="2857500" cy="1285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Reasoning, proof, comparison, creation or generalisation.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C7575D69-2653-4AFE-BC71-15A0CF8C724F}"/>
              </a:ext>
            </a:extLst>
          </p:cNvPr>
          <p:cNvSpPr>
            <a:spLocks noGrp="1"/>
          </p:cNvSpPr>
          <p:nvPr/>
        </p:nvSpPr>
        <p:spPr>
          <a:xfrm>
            <a:off x="1238250" y="5286375"/>
            <a:ext cx="9715500" cy="628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teacher selects today's route from current evidence. The full questions are in the worksheet pack.</a:t>
            </a:r>
          </a:p>
        </p:txBody>
      </p:sp>
    </p:spTree>
    <p:extLst>
      <p:ext uri="{BB962C8B-B14F-4D97-AF65-F5344CB8AC3E}">
        <p14:creationId xmlns:p14="http://schemas.microsoft.com/office/powerpoint/2010/main" val="29061217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CC3D368D-8C1F-4E32-9EB9-5AF55A0D7C0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A964019-96F5-46EA-8EB0-02BE591E33DC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10  |  DAY 5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49F7768-EAD2-468C-9050-AF390EFD2BED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F01AB52C-0DBC-4F7A-A8DA-3C71679ECB80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5161766-E21B-452D-BDC9-8E2C6C77A861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C715E26-F110-42DC-BD5F-E4B8D58AF982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4640DF0-4538-41F8-87F5-D12571CD8638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C3D7FAB-DA58-496C-A5D6-2257A63A5640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D6B601B-5640-4A5E-8D7D-C75CA3218C86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76A05C7-8045-453D-BDE7-ED01CC7B0B0F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Assess learning and plan next steps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7079465-770D-4C8A-93A8-63EB9CC64DAB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98F35219-A9BF-4E96-9E4E-74E76A091267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BD61BD1-987A-48CD-A2AF-27F54E1E0738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BDB79CC-BD7E-4086-9612-646689F682D1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Solve: 25 boxes hold 144 items each. 1,275 items are used. How many remain?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E3A3A457-A601-4728-9E8F-C0D27B0803F5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8EFBD860-A07E-4E81-939E-A53BD8D26099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BC0EB52-DF26-40A6-B866-BC42702C203C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37455E4-22D6-487B-B324-6C5524CE2F8F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writes 'more practice' as a next step without naming the knowledge needed.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314447AA-A424-434F-8A16-D7C5C644AC02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D9F3E0C5-A471-4CDC-B150-9860E431F43A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9C63A454-4FB3-4C57-A980-90839AE8D076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5B3CB5E-3106-434D-8DED-48A7D89452A5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C37F4D6B-6670-4BA5-A053-14534372A040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14533141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2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1471</Words>
  <Application>Microsoft Office PowerPoint</Application>
  <DocSecurity>0</DocSecurity>
  <PresentationFormat>Widescreen</PresentationFormat>
  <Paragraphs>171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Segoe Print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Garima Sharma</cp:lastModifiedBy>
  <cp:revision>1</cp:revision>
  <dcterms:created xsi:type="dcterms:W3CDTF">2026-09-08T22:39:17Z</dcterms:created>
  <dcterms:modified xsi:type="dcterms:W3CDTF">2026-09-08T22:41:26Z</dcterms:modified>
</cp:coreProperties>
</file>