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5240000" cy="85725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Apply reasoning. Apply reasoning. Introduce the mathematical idea using the first worked example. The lesson can be placed anywhere in the teaching sequence.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Apply reasoning. I do. Identify the operation represented by each part. Reveal one calculation at a time, then follow the result into the next step.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Apply reasoning. You do. Pause before clicking. Let pupils try independently, then reveal and discuss every step. Identify the operation represented by each part. Reveal one calculation at a time, then follow the result into the next step.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Apply reasoning. I do. Identify the operation represented by each part. Reveal one calculation at a time, then follow the result into the next step.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Apply reasoning. You do. Pause before clicking. Let pupils try independently, then reveal and discuss every step. Identify the operation represented by each part. Reveal one calculation at a time, then follow the result into the next step.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Apply reasoning. You do. Pause before clicking. Let pupils try independently, then reveal and discuss every step. These are the existing expected-level worksheet questions, in their original order. Do not advance to the answer slide until pupils have had time to finish.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Apply reasoning. Answers. Answers to the preceding complete activity question set, in matching order. Accept mathematically valid alternatives for open questions.</a:t>
            </a:r>
          </a:p>
          <a:p>
            <a:r>
              <a:t>All moving objects are editable. Each click advances a mathematical step. The final two slides reproduce the existing expected-level activity questions and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-1">
            <a:extLst>
              <a:ext uri="{FF2B5EF4-FFF2-40B4-BE49-F238E27FC236}">
                <a16:creationId xmlns:a16="http://schemas.microsoft.com/office/drawing/2014/main" id="{3118A0C7-0018-4772-8725-EB30AD8FAF97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15478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Apply reasoning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45BB8A02-A480-4E3E-AD9E-3786BB58FFD1}"/>
              </a:ext>
            </a:extLst>
          </p:cNvPr>
          <p:cNvSpPr>
            <a:spLocks noGrp="1"/>
          </p:cNvSpPr>
          <p:nvPr/>
        </p:nvSpPr>
        <p:spPr>
          <a:xfrm>
            <a:off x="654844" y="2024063"/>
            <a:ext cx="13930313" cy="1012031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Watch the model. Try the next question. Explain what changes.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BB5C2E6-7EEB-468F-9458-6EE05F0AC0DE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B09B317F-7F7E-497F-85C7-0197CE199440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Apply reasoning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03E0F3F2-47AF-47F6-8CD3-2C8D1DA5929B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EBEA9430-C584-461E-9119-C0F728486EEA}"/>
              </a:ext>
            </a:extLst>
          </p:cNvPr>
          <p:cNvSpPr>
            <a:spLocks noGrp="1"/>
          </p:cNvSpPr>
          <p:nvPr/>
        </p:nvSpPr>
        <p:spPr>
          <a:xfrm>
            <a:off x="1190625" y="3631406"/>
            <a:ext cx="12858750" cy="2143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3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33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To solve and explain mixed multi-step problems.</a:t>
            </a:r>
          </a:p>
        </p:txBody>
      </p:sp>
    </p:spTree>
    <p:extLst>
      <p:ext uri="{BB962C8B-B14F-4D97-AF65-F5344CB8AC3E}">
        <p14:creationId xmlns:p14="http://schemas.microsoft.com/office/powerpoint/2010/main" val="20342272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4DC30780-5C90-4916-A52A-1075B6BE444C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D7ACF330-3D8F-43AE-9B49-649F85200394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32 × 145 − 18 × 240.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D93EB300-9D49-4924-9EF6-6CB4CEC64B27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E7086FC0-3598-4158-9986-AC188D10E2CB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Apply reasoning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49ECFCB3-91BC-4EFD-BBEA-442BE0FE36B1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D4306A61-0214-4BAB-9471-74603CF814B4}"/>
              </a:ext>
            </a:extLst>
          </p:cNvPr>
          <p:cNvSpPr>
            <a:spLocks noGrp="1"/>
          </p:cNvSpPr>
          <p:nvPr/>
        </p:nvSpPr>
        <p:spPr>
          <a:xfrm>
            <a:off x="1012031" y="271462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32 × 145 =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3DCC021-E56D-4414-8F69-4D2E079C3DE0}"/>
              </a:ext>
            </a:extLst>
          </p:cNvPr>
          <p:cNvSpPr>
            <a:spLocks noGrp="1"/>
          </p:cNvSpPr>
          <p:nvPr/>
        </p:nvSpPr>
        <p:spPr>
          <a:xfrm>
            <a:off x="9346406" y="271462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4,640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7B9AD735-62CF-482E-ABDF-FD63E25079D5}"/>
              </a:ext>
            </a:extLst>
          </p:cNvPr>
          <p:cNvSpPr>
            <a:spLocks noGrp="1"/>
          </p:cNvSpPr>
          <p:nvPr/>
        </p:nvSpPr>
        <p:spPr>
          <a:xfrm>
            <a:off x="1012031" y="4064000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18 × 240 =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8008FEED-80B7-46A1-A8B5-9F606E8DD638}"/>
              </a:ext>
            </a:extLst>
          </p:cNvPr>
          <p:cNvSpPr>
            <a:spLocks noGrp="1"/>
          </p:cNvSpPr>
          <p:nvPr/>
        </p:nvSpPr>
        <p:spPr>
          <a:xfrm>
            <a:off x="9346406" y="4064000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4,320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98E796E-534B-4174-9765-487A59D671CD}"/>
              </a:ext>
            </a:extLst>
          </p:cNvPr>
          <p:cNvSpPr>
            <a:spLocks noGrp="1"/>
          </p:cNvSpPr>
          <p:nvPr/>
        </p:nvSpPr>
        <p:spPr>
          <a:xfrm>
            <a:off x="1012031" y="541337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4640 − 4320 =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E08832CE-991B-4D02-8592-3203457299D7}"/>
              </a:ext>
            </a:extLst>
          </p:cNvPr>
          <p:cNvSpPr>
            <a:spLocks noGrp="1"/>
          </p:cNvSpPr>
          <p:nvPr/>
        </p:nvSpPr>
        <p:spPr>
          <a:xfrm>
            <a:off x="9346406" y="541337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320</a:t>
            </a:r>
          </a:p>
        </p:txBody>
      </p:sp>
    </p:spTree>
    <p:extLst>
      <p:ext uri="{BB962C8B-B14F-4D97-AF65-F5344CB8AC3E}">
        <p14:creationId xmlns:p14="http://schemas.microsoft.com/office/powerpoint/2010/main" val="1928913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12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22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32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7" grpId="1"/>
      <p:bldP spid="8" grpId="0"/>
      <p:bldP spid="9" grpId="0"/>
      <p:bldP spid="9" grpId="1"/>
      <p:bldP spid="10" grpId="0"/>
      <p:bldP spid="11" grpId="0"/>
      <p:bldP spid="11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16B349E7-4A08-44AA-BD01-6B39BCCEBF47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A6792223-5E23-4309-B56D-61BBC8EC1E54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4789B939-4991-48BC-8959-DBFEA13C5AF0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33 × 145 − 18 × 240.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8D47392B-32B0-48B7-B28F-5832804E5C1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BC466244-EF80-44DD-99BD-0B37E8EE9DF5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Apply reasoning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60A066CA-6B26-4783-8E2B-2AD078A8F708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1A9944A0-8243-4295-979B-A887F0576D0E}"/>
              </a:ext>
            </a:extLst>
          </p:cNvPr>
          <p:cNvSpPr>
            <a:spLocks noGrp="1"/>
          </p:cNvSpPr>
          <p:nvPr/>
        </p:nvSpPr>
        <p:spPr>
          <a:xfrm>
            <a:off x="1012031" y="271462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33 × 145 =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ADC5184D-A79A-4F00-A30B-247D0D49B77F}"/>
              </a:ext>
            </a:extLst>
          </p:cNvPr>
          <p:cNvSpPr>
            <a:spLocks noGrp="1"/>
          </p:cNvSpPr>
          <p:nvPr/>
        </p:nvSpPr>
        <p:spPr>
          <a:xfrm>
            <a:off x="9346406" y="271462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4,785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E6BEC680-C718-480F-A8EE-02E7664CAA70}"/>
              </a:ext>
            </a:extLst>
          </p:cNvPr>
          <p:cNvSpPr>
            <a:spLocks noGrp="1"/>
          </p:cNvSpPr>
          <p:nvPr/>
        </p:nvSpPr>
        <p:spPr>
          <a:xfrm>
            <a:off x="1012031" y="4064000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18 × 240 =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B9E5D8E2-D5CC-44A0-8C51-0D34C96716F1}"/>
              </a:ext>
            </a:extLst>
          </p:cNvPr>
          <p:cNvSpPr>
            <a:spLocks noGrp="1"/>
          </p:cNvSpPr>
          <p:nvPr/>
        </p:nvSpPr>
        <p:spPr>
          <a:xfrm>
            <a:off x="9346406" y="4064000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4,320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51DAB274-177B-46D2-85E8-64ACB42517D5}"/>
              </a:ext>
            </a:extLst>
          </p:cNvPr>
          <p:cNvSpPr>
            <a:spLocks noGrp="1"/>
          </p:cNvSpPr>
          <p:nvPr/>
        </p:nvSpPr>
        <p:spPr>
          <a:xfrm>
            <a:off x="1012031" y="541337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4785 − 4320 =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97B01888-25F7-4338-835B-9C169D516D2F}"/>
              </a:ext>
            </a:extLst>
          </p:cNvPr>
          <p:cNvSpPr>
            <a:spLocks noGrp="1"/>
          </p:cNvSpPr>
          <p:nvPr/>
        </p:nvSpPr>
        <p:spPr>
          <a:xfrm>
            <a:off x="9346406" y="541337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465</a:t>
            </a:r>
          </a:p>
        </p:txBody>
      </p:sp>
    </p:spTree>
    <p:extLst>
      <p:ext uri="{BB962C8B-B14F-4D97-AF65-F5344CB8AC3E}">
        <p14:creationId xmlns:p14="http://schemas.microsoft.com/office/powerpoint/2010/main" val="951806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12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2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32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8" grpId="1"/>
      <p:bldP spid="9" grpId="0"/>
      <p:bldP spid="10" grpId="0"/>
      <p:bldP spid="10" grpId="1"/>
      <p:bldP spid="11" grpId="0"/>
      <p:bldP spid="12" grpId="0"/>
      <p:bldP spid="12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bject-1">
            <a:extLst>
              <a:ext uri="{FF2B5EF4-FFF2-40B4-BE49-F238E27FC236}">
                <a16:creationId xmlns:a16="http://schemas.microsoft.com/office/drawing/2014/main" id="{7392FB92-FE6A-46B7-AB83-522EEF344529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9A0DA7AF-A2EC-4C69-9FCE-B7813F974E43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34 × 145 − 18 × 240.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9EE71CDB-CCE8-4AC1-90D9-64DC6449F6CF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88859675-04F8-4D64-8AD9-582E8169B532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Apply reasoning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EA866593-0250-49C4-B241-6DEA15CA1F64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73F7F1D8-07B4-4AB5-AA41-BE3F5FF00147}"/>
              </a:ext>
            </a:extLst>
          </p:cNvPr>
          <p:cNvSpPr>
            <a:spLocks noGrp="1"/>
          </p:cNvSpPr>
          <p:nvPr/>
        </p:nvSpPr>
        <p:spPr>
          <a:xfrm>
            <a:off x="1012031" y="271462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34 × 145 =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9A82179D-FAA6-4A4A-BFE2-8AFCAF6F8E21}"/>
              </a:ext>
            </a:extLst>
          </p:cNvPr>
          <p:cNvSpPr>
            <a:spLocks noGrp="1"/>
          </p:cNvSpPr>
          <p:nvPr/>
        </p:nvSpPr>
        <p:spPr>
          <a:xfrm>
            <a:off x="9346406" y="271462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4,930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CE994CCC-47BC-4B9C-90CB-3789E3EDEF34}"/>
              </a:ext>
            </a:extLst>
          </p:cNvPr>
          <p:cNvSpPr>
            <a:spLocks noGrp="1"/>
          </p:cNvSpPr>
          <p:nvPr/>
        </p:nvSpPr>
        <p:spPr>
          <a:xfrm>
            <a:off x="1012031" y="4064000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18 × 240 =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B89050C3-51A3-4896-93A9-D84B83FF8D60}"/>
              </a:ext>
            </a:extLst>
          </p:cNvPr>
          <p:cNvSpPr>
            <a:spLocks noGrp="1"/>
          </p:cNvSpPr>
          <p:nvPr/>
        </p:nvSpPr>
        <p:spPr>
          <a:xfrm>
            <a:off x="9346406" y="4064000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4,320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C8617345-AB23-49CF-8D10-9046CA772337}"/>
              </a:ext>
            </a:extLst>
          </p:cNvPr>
          <p:cNvSpPr>
            <a:spLocks noGrp="1"/>
          </p:cNvSpPr>
          <p:nvPr/>
        </p:nvSpPr>
        <p:spPr>
          <a:xfrm>
            <a:off x="1012031" y="541337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4930 − 4320 =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4F677285-DF39-40E2-9592-5E92F3B1263F}"/>
              </a:ext>
            </a:extLst>
          </p:cNvPr>
          <p:cNvSpPr>
            <a:spLocks noGrp="1"/>
          </p:cNvSpPr>
          <p:nvPr/>
        </p:nvSpPr>
        <p:spPr>
          <a:xfrm>
            <a:off x="9346406" y="541337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610</a:t>
            </a:r>
          </a:p>
        </p:txBody>
      </p:sp>
    </p:spTree>
    <p:extLst>
      <p:ext uri="{BB962C8B-B14F-4D97-AF65-F5344CB8AC3E}">
        <p14:creationId xmlns:p14="http://schemas.microsoft.com/office/powerpoint/2010/main" val="2721688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12" dur="8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22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32" dur="8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7" grpId="1"/>
      <p:bldP spid="8" grpId="0"/>
      <p:bldP spid="9" grpId="0"/>
      <p:bldP spid="9" grpId="1"/>
      <p:bldP spid="10" grpId="0"/>
      <p:bldP spid="11" grpId="0"/>
      <p:bldP spid="11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bject-1">
            <a:extLst>
              <a:ext uri="{FF2B5EF4-FFF2-40B4-BE49-F238E27FC236}">
                <a16:creationId xmlns:a16="http://schemas.microsoft.com/office/drawing/2014/main" id="{6AA06AF2-B867-4EFE-AF73-A0E4F63F8232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E4AD1C2B-04E0-4B00-95F8-B49A24E7F2C2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8F3EC70D-B1F7-4A4B-9036-080E9219B7FC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Find 35 × 145 − 18 × 240.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655A7B4D-9C47-465A-87AD-F507F99C3783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26CF5A30-3837-4549-B0DF-37A06618D0BC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Apply reasoning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29A8DBC1-34D3-4FC2-AAE7-8A5B7C003DFB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47B4ED61-BE8C-444D-91EE-1347A5A55A05}"/>
              </a:ext>
            </a:extLst>
          </p:cNvPr>
          <p:cNvSpPr>
            <a:spLocks noGrp="1"/>
          </p:cNvSpPr>
          <p:nvPr/>
        </p:nvSpPr>
        <p:spPr>
          <a:xfrm>
            <a:off x="1012031" y="271462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35 × 145 =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03B58A26-A858-4D4D-9FEE-ECD5E0F497C1}"/>
              </a:ext>
            </a:extLst>
          </p:cNvPr>
          <p:cNvSpPr>
            <a:spLocks noGrp="1"/>
          </p:cNvSpPr>
          <p:nvPr/>
        </p:nvSpPr>
        <p:spPr>
          <a:xfrm>
            <a:off x="9346406" y="271462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5,075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105B0DC5-70FB-4408-9F3C-54E3BC43C16A}"/>
              </a:ext>
            </a:extLst>
          </p:cNvPr>
          <p:cNvSpPr>
            <a:spLocks noGrp="1"/>
          </p:cNvSpPr>
          <p:nvPr/>
        </p:nvSpPr>
        <p:spPr>
          <a:xfrm>
            <a:off x="1012031" y="4064000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18 × 240 =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59048118-4269-4F37-B850-2ACF368F59DF}"/>
              </a:ext>
            </a:extLst>
          </p:cNvPr>
          <p:cNvSpPr>
            <a:spLocks noGrp="1"/>
          </p:cNvSpPr>
          <p:nvPr/>
        </p:nvSpPr>
        <p:spPr>
          <a:xfrm>
            <a:off x="9346406" y="4064000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4,320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214C6D22-4565-4741-B62B-32AF613EB424}"/>
              </a:ext>
            </a:extLst>
          </p:cNvPr>
          <p:cNvSpPr>
            <a:spLocks noGrp="1"/>
          </p:cNvSpPr>
          <p:nvPr/>
        </p:nvSpPr>
        <p:spPr>
          <a:xfrm>
            <a:off x="1012031" y="5413375"/>
            <a:ext cx="85725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188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3188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5075 − 4320 =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8CD8B1E0-3919-44BB-9A07-4F0B6DCA69D3}"/>
              </a:ext>
            </a:extLst>
          </p:cNvPr>
          <p:cNvSpPr>
            <a:spLocks noGrp="1"/>
          </p:cNvSpPr>
          <p:nvPr/>
        </p:nvSpPr>
        <p:spPr>
          <a:xfrm>
            <a:off x="9346406" y="5413375"/>
            <a:ext cx="3810000" cy="797719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ctr">
              <a:defRPr sz="3750" b="1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11745A"/>
                </a:solidFill>
                <a:latin typeface="Arial"/>
                <a:ea typeface="Arial"/>
                <a:cs typeface="Arial"/>
              </a:rPr>
              <a:t>755</a:t>
            </a:r>
          </a:p>
        </p:txBody>
      </p:sp>
    </p:spTree>
    <p:extLst>
      <p:ext uri="{BB962C8B-B14F-4D97-AF65-F5344CB8AC3E}">
        <p14:creationId xmlns:p14="http://schemas.microsoft.com/office/powerpoint/2010/main" val="11842920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12" dur="8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22" dur="8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3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.03515625 0 E" pathEditMode="relative" ptsTypes="">
                                      <p:cBhvr>
                                        <p:cTn id="32" dur="8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8" grpId="1"/>
      <p:bldP spid="9" grpId="0"/>
      <p:bldP spid="10" grpId="0"/>
      <p:bldP spid="10" grpId="1"/>
      <p:bldP spid="11" grpId="0"/>
      <p:bldP spid="12" grpId="0"/>
      <p:bldP spid="12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object-1">
            <a:extLst>
              <a:ext uri="{FF2B5EF4-FFF2-40B4-BE49-F238E27FC236}">
                <a16:creationId xmlns:a16="http://schemas.microsoft.com/office/drawing/2014/main" id="{78E63995-0E93-49EF-A5A6-A775BE381C85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03710E52-1DAF-4147-A273-DDE4344940B9}"/>
              </a:ext>
            </a:extLst>
          </p:cNvPr>
          <p:cNvSpPr>
            <a:spLocks noGrp="1"/>
          </p:cNvSpPr>
          <p:nvPr/>
        </p:nvSpPr>
        <p:spPr>
          <a:xfrm>
            <a:off x="11430000" y="476250"/>
            <a:ext cx="3155156" cy="547688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2625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You try.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AD42C1F8-4068-4EAC-B177-C90138F330E5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Try these questions.</a:t>
            </a:r>
          </a:p>
        </p:txBody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06C732F2-2A91-4DC8-AF73-7630FF6432F0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527A7B93-7A05-4B64-8AAB-D3831B767EF4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Apply reasoning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5A53BAC2-5A57-47CE-AF6A-5D4200D4687B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2B4F1009-0E7F-43D1-97C6-B507D545D1B7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3A803052-9A1A-4EA6-900A-BB299E894F2E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school buys 32 packs of 145 books and gives 18 books to each of 240 pupils. How many books remain?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7F3E6277-C9E1-4DCA-B644-38887A2AC5C4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73138A14-247B-4B0F-9CD3-780049CCFFD3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journey starts at -12 m, rises 37 m, then drops 18 m. Final position?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D16D9B93-B0FB-4979-AE6E-CF6A07FB9363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4DBB1250-EA67-4B74-A238-DBC8464EF776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A budget of £20,000 pays for 48 items at £375 each. How much remains?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09FB19F2-AF50-4652-8BD2-3F31F93E722E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76029DD5-2196-4011-A7D7-8F8EA9707DDE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Solve this independently and show every stage: A school buys 32 packs of 145 books and gives 18 books to each of 240 pupils. How many books remain?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532988C2-AADC-45C5-B66C-88D08418C672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0447F54C-63FD-4E30-9FE4-81C0A53192FD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Use a second method or representation for: A journey starts at -12 m, rises 37 m, then drops 18 m. Final position?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1EC6019B-2FBD-4A1C-8A50-A72DFC90DCD1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29EDF8E9-BF51-40A8-9405-2B43C451FDDF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this result using an inverse, estimate or known fact: A budget of £20,000 pays for 48 items at £375 each. How much remains?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616F0DE7-6B6A-48CA-BC96-5AB20EF94F92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925B7D4D-1012-49D9-AD95-55D2ED45054B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mixed problem using rounding, multiplication and subtraction, then solve it.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0BD2D766-27BB-4616-A23E-B9D39ECB850A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05E444FC-5E9E-4E22-AAA1-77BF66358072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Identify and correct this misconception: Miro completes correct calculations but answers a different question from the one asked.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B8E2DE7E-5C52-4A02-8253-508AC6C1AD87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0646FAC5-DC00-499A-89AB-904385858030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 complete sentence explaining how you checked one answer.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452D7F76-F5CC-4406-A468-29C3818537D9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6" name="object-26">
            <a:extLst>
              <a:ext uri="{FF2B5EF4-FFF2-40B4-BE49-F238E27FC236}">
                <a16:creationId xmlns:a16="http://schemas.microsoft.com/office/drawing/2014/main" id="{0B67EDD5-15B9-40DE-BD97-811D14A5FBF2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2B4D"/>
                </a:solidFill>
                <a:latin typeface="Arial"/>
                <a:ea typeface="Arial"/>
                <a:cs typeface="Arial"/>
              </a:rPr>
              <a:t>Write and solve a similar question to: A budget of £20,000 pays for 48 items at £375 each. How much remains?</a:t>
            </a:r>
          </a:p>
        </p:txBody>
      </p:sp>
    </p:spTree>
    <p:extLst>
      <p:ext uri="{BB962C8B-B14F-4D97-AF65-F5344CB8AC3E}">
        <p14:creationId xmlns:p14="http://schemas.microsoft.com/office/powerpoint/2010/main" val="21392095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object-1">
            <a:extLst>
              <a:ext uri="{FF2B5EF4-FFF2-40B4-BE49-F238E27FC236}">
                <a16:creationId xmlns:a16="http://schemas.microsoft.com/office/drawing/2014/main" id="{40F666C0-DEFE-44A1-9025-E7619F670AA0}"/>
              </a:ext>
            </a:extLst>
          </p:cNvPr>
          <p:cNvSpPr>
            <a:spLocks noGrp="1"/>
          </p:cNvSpPr>
          <p:nvPr/>
        </p:nvSpPr>
        <p:spPr>
          <a:xfrm>
            <a:off x="654844" y="357188"/>
            <a:ext cx="13930313" cy="714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412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Answers</a:t>
            </a:r>
          </a:p>
        </p:txBody>
      </p:sp>
      <p:sp>
        <p:nvSpPr>
          <p:cNvPr id="2" name="object-2">
            <a:extLst>
              <a:ext uri="{FF2B5EF4-FFF2-40B4-BE49-F238E27FC236}">
                <a16:creationId xmlns:a16="http://schemas.microsoft.com/office/drawing/2014/main" id="{BC386930-A243-4A81-AAE3-A38BCF9F7074}"/>
              </a:ext>
            </a:extLst>
          </p:cNvPr>
          <p:cNvSpPr>
            <a:spLocks noGrp="1"/>
          </p:cNvSpPr>
          <p:nvPr/>
        </p:nvSpPr>
        <p:spPr>
          <a:xfrm>
            <a:off x="654844" y="1250156"/>
            <a:ext cx="13930313" cy="1190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625" b="1">
                <a:solidFill>
                  <a:srgbClr val="172B4D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72B4D"/>
                </a:solidFill>
                <a:latin typeface="Arial"/>
                <a:ea typeface="Arial"/>
                <a:cs typeface="Arial"/>
              </a:rPr>
              <a:t>Check your answers. Explain any corrections.</a:t>
            </a:r>
          </a:p>
        </p:txBody>
      </p:sp>
      <p:sp>
        <p:nvSpPr>
          <p:cNvPr id="3" name="object-3">
            <a:extLst>
              <a:ext uri="{FF2B5EF4-FFF2-40B4-BE49-F238E27FC236}">
                <a16:creationId xmlns:a16="http://schemas.microsoft.com/office/drawing/2014/main" id="{717CBD63-5374-4879-A876-2247DF288BD5}"/>
              </a:ext>
            </a:extLst>
          </p:cNvPr>
          <p:cNvSpPr>
            <a:spLocks noGrp="1"/>
          </p:cNvSpPr>
          <p:nvPr/>
        </p:nvSpPr>
        <p:spPr>
          <a:xfrm>
            <a:off x="654844" y="8012906"/>
            <a:ext cx="13930313" cy="11906"/>
          </a:xfrm>
          <a:prstGeom prst="rect">
            <a:avLst/>
          </a:prstGeom>
          <a:solidFill>
            <a:srgbClr val="BCD0EA"/>
          </a:solidFill>
          <a:ln w="0">
            <a:noFill/>
          </a:ln>
        </p:spPr>
      </p:sp>
      <p:sp>
        <p:nvSpPr>
          <p:cNvPr id="4" name="object-4">
            <a:extLst>
              <a:ext uri="{FF2B5EF4-FFF2-40B4-BE49-F238E27FC236}">
                <a16:creationId xmlns:a16="http://schemas.microsoft.com/office/drawing/2014/main" id="{5391F04A-1205-4112-82A4-13402EA22B47}"/>
              </a:ext>
            </a:extLst>
          </p:cNvPr>
          <p:cNvSpPr>
            <a:spLocks noGrp="1"/>
          </p:cNvSpPr>
          <p:nvPr/>
        </p:nvSpPr>
        <p:spPr>
          <a:xfrm>
            <a:off x="654844" y="8120063"/>
            <a:ext cx="12977813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BrightPath · Apply reasoning</a:t>
            </a:r>
          </a:p>
        </p:txBody>
      </p:sp>
      <p:sp>
        <p:nvSpPr>
          <p:cNvPr id="5" name="object-5">
            <a:extLst>
              <a:ext uri="{FF2B5EF4-FFF2-40B4-BE49-F238E27FC236}">
                <a16:creationId xmlns:a16="http://schemas.microsoft.com/office/drawing/2014/main" id="{432A0FC9-59B2-405B-8881-F32822014401}"/>
              </a:ext>
            </a:extLst>
          </p:cNvPr>
          <p:cNvSpPr>
            <a:spLocks noGrp="1"/>
          </p:cNvSpPr>
          <p:nvPr/>
        </p:nvSpPr>
        <p:spPr>
          <a:xfrm>
            <a:off x="13811250" y="8120063"/>
            <a:ext cx="773906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219" b="0">
                <a:solidFill>
                  <a:srgbClr val="52647A"/>
                </a:solidFill>
                <a:latin typeface="Arial"/>
                <a:ea typeface="Arial"/>
                <a:cs typeface="Arial"/>
              </a:defRPr>
            </a:pPr>
            <a:r>
              <a:rPr sz="1219" b="0">
                <a:solidFill>
                  <a:srgbClr val="52647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6" name="object-6">
            <a:extLst>
              <a:ext uri="{FF2B5EF4-FFF2-40B4-BE49-F238E27FC236}">
                <a16:creationId xmlns:a16="http://schemas.microsoft.com/office/drawing/2014/main" id="{B2798F50-EBCE-4076-82F7-AEF5A72734F9}"/>
              </a:ext>
            </a:extLst>
          </p:cNvPr>
          <p:cNvSpPr>
            <a:spLocks noGrp="1"/>
          </p:cNvSpPr>
          <p:nvPr/>
        </p:nvSpPr>
        <p:spPr>
          <a:xfrm>
            <a:off x="773906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7" name="object-7">
            <a:extLst>
              <a:ext uri="{FF2B5EF4-FFF2-40B4-BE49-F238E27FC236}">
                <a16:creationId xmlns:a16="http://schemas.microsoft.com/office/drawing/2014/main" id="{501B3F5E-C102-4687-ACE4-BB87B520CEDF}"/>
              </a:ext>
            </a:extLst>
          </p:cNvPr>
          <p:cNvSpPr>
            <a:spLocks noGrp="1"/>
          </p:cNvSpPr>
          <p:nvPr/>
        </p:nvSpPr>
        <p:spPr>
          <a:xfrm>
            <a:off x="1464469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320 books.</a:t>
            </a:r>
          </a:p>
        </p:txBody>
      </p:sp>
      <p:sp>
        <p:nvSpPr>
          <p:cNvPr id="8" name="object-8">
            <a:extLst>
              <a:ext uri="{FF2B5EF4-FFF2-40B4-BE49-F238E27FC236}">
                <a16:creationId xmlns:a16="http://schemas.microsoft.com/office/drawing/2014/main" id="{3C9C6AF8-6717-4032-A627-D7B4B6FAC84D}"/>
              </a:ext>
            </a:extLst>
          </p:cNvPr>
          <p:cNvSpPr>
            <a:spLocks noGrp="1"/>
          </p:cNvSpPr>
          <p:nvPr/>
        </p:nvSpPr>
        <p:spPr>
          <a:xfrm>
            <a:off x="773906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9" name="object-9">
            <a:extLst>
              <a:ext uri="{FF2B5EF4-FFF2-40B4-BE49-F238E27FC236}">
                <a16:creationId xmlns:a16="http://schemas.microsoft.com/office/drawing/2014/main" id="{D89A1961-8FE1-4062-A1AC-D8635E3970D4}"/>
              </a:ext>
            </a:extLst>
          </p:cNvPr>
          <p:cNvSpPr>
            <a:spLocks noGrp="1"/>
          </p:cNvSpPr>
          <p:nvPr/>
        </p:nvSpPr>
        <p:spPr>
          <a:xfrm>
            <a:off x="1464469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7 m.</a:t>
            </a:r>
          </a:p>
        </p:txBody>
      </p:sp>
      <p:sp>
        <p:nvSpPr>
          <p:cNvPr id="10" name="object-10">
            <a:extLst>
              <a:ext uri="{FF2B5EF4-FFF2-40B4-BE49-F238E27FC236}">
                <a16:creationId xmlns:a16="http://schemas.microsoft.com/office/drawing/2014/main" id="{7E654247-2B60-4B15-B71F-C9F91FA95595}"/>
              </a:ext>
            </a:extLst>
          </p:cNvPr>
          <p:cNvSpPr>
            <a:spLocks noGrp="1"/>
          </p:cNvSpPr>
          <p:nvPr/>
        </p:nvSpPr>
        <p:spPr>
          <a:xfrm>
            <a:off x="773906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1" name="object-11">
            <a:extLst>
              <a:ext uri="{FF2B5EF4-FFF2-40B4-BE49-F238E27FC236}">
                <a16:creationId xmlns:a16="http://schemas.microsoft.com/office/drawing/2014/main" id="{B4958BFE-17EC-4350-9769-62FDDF4045EF}"/>
              </a:ext>
            </a:extLst>
          </p:cNvPr>
          <p:cNvSpPr>
            <a:spLocks noGrp="1"/>
          </p:cNvSpPr>
          <p:nvPr/>
        </p:nvSpPr>
        <p:spPr>
          <a:xfrm>
            <a:off x="1464469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£2,000.</a:t>
            </a:r>
          </a:p>
        </p:txBody>
      </p:sp>
      <p:sp>
        <p:nvSpPr>
          <p:cNvPr id="12" name="object-12">
            <a:extLst>
              <a:ext uri="{FF2B5EF4-FFF2-40B4-BE49-F238E27FC236}">
                <a16:creationId xmlns:a16="http://schemas.microsoft.com/office/drawing/2014/main" id="{3F70EDFE-B69A-4644-A0DF-08F6F7B4F75D}"/>
              </a:ext>
            </a:extLst>
          </p:cNvPr>
          <p:cNvSpPr>
            <a:spLocks noGrp="1"/>
          </p:cNvSpPr>
          <p:nvPr/>
        </p:nvSpPr>
        <p:spPr>
          <a:xfrm>
            <a:off x="773906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3" name="object-13">
            <a:extLst>
              <a:ext uri="{FF2B5EF4-FFF2-40B4-BE49-F238E27FC236}">
                <a16:creationId xmlns:a16="http://schemas.microsoft.com/office/drawing/2014/main" id="{79362169-4ECE-45C7-A9E4-1E732D1B8766}"/>
              </a:ext>
            </a:extLst>
          </p:cNvPr>
          <p:cNvSpPr>
            <a:spLocks noGrp="1"/>
          </p:cNvSpPr>
          <p:nvPr/>
        </p:nvSpPr>
        <p:spPr>
          <a:xfrm>
            <a:off x="1464469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320 books.</a:t>
            </a:r>
          </a:p>
        </p:txBody>
      </p:sp>
      <p:sp>
        <p:nvSpPr>
          <p:cNvPr id="14" name="object-14">
            <a:extLst>
              <a:ext uri="{FF2B5EF4-FFF2-40B4-BE49-F238E27FC236}">
                <a16:creationId xmlns:a16="http://schemas.microsoft.com/office/drawing/2014/main" id="{DEB46B88-7029-417C-B961-3286E1047B74}"/>
              </a:ext>
            </a:extLst>
          </p:cNvPr>
          <p:cNvSpPr>
            <a:spLocks noGrp="1"/>
          </p:cNvSpPr>
          <p:nvPr/>
        </p:nvSpPr>
        <p:spPr>
          <a:xfrm>
            <a:off x="773906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15" name="object-15">
            <a:extLst>
              <a:ext uri="{FF2B5EF4-FFF2-40B4-BE49-F238E27FC236}">
                <a16:creationId xmlns:a16="http://schemas.microsoft.com/office/drawing/2014/main" id="{E689633F-CFBE-433C-8085-E54420B9A231}"/>
              </a:ext>
            </a:extLst>
          </p:cNvPr>
          <p:cNvSpPr>
            <a:spLocks noGrp="1"/>
          </p:cNvSpPr>
          <p:nvPr/>
        </p:nvSpPr>
        <p:spPr>
          <a:xfrm>
            <a:off x="1464469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7 m. Method or representation may vary.</a:t>
            </a:r>
          </a:p>
        </p:txBody>
      </p:sp>
      <p:sp>
        <p:nvSpPr>
          <p:cNvPr id="16" name="object-16">
            <a:extLst>
              <a:ext uri="{FF2B5EF4-FFF2-40B4-BE49-F238E27FC236}">
                <a16:creationId xmlns:a16="http://schemas.microsoft.com/office/drawing/2014/main" id="{05BF642F-B91E-45B2-A745-EAA9FEE137BF}"/>
              </a:ext>
            </a:extLst>
          </p:cNvPr>
          <p:cNvSpPr>
            <a:spLocks noGrp="1"/>
          </p:cNvSpPr>
          <p:nvPr/>
        </p:nvSpPr>
        <p:spPr>
          <a:xfrm>
            <a:off x="8215313" y="2512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17" name="object-17">
            <a:extLst>
              <a:ext uri="{FF2B5EF4-FFF2-40B4-BE49-F238E27FC236}">
                <a16:creationId xmlns:a16="http://schemas.microsoft.com/office/drawing/2014/main" id="{2A399EF5-D0B0-47B0-BA76-52D991A15234}"/>
              </a:ext>
            </a:extLst>
          </p:cNvPr>
          <p:cNvSpPr>
            <a:spLocks noGrp="1"/>
          </p:cNvSpPr>
          <p:nvPr/>
        </p:nvSpPr>
        <p:spPr>
          <a:xfrm>
            <a:off x="8905875" y="2512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Expected result: £2,000. A valid check must be shown.</a:t>
            </a:r>
          </a:p>
        </p:txBody>
      </p:sp>
      <p:sp>
        <p:nvSpPr>
          <p:cNvPr id="18" name="object-18">
            <a:extLst>
              <a:ext uri="{FF2B5EF4-FFF2-40B4-BE49-F238E27FC236}">
                <a16:creationId xmlns:a16="http://schemas.microsoft.com/office/drawing/2014/main" id="{EEE17A06-53A7-4F6A-918F-5EEF7EF22ADA}"/>
              </a:ext>
            </a:extLst>
          </p:cNvPr>
          <p:cNvSpPr>
            <a:spLocks noGrp="1"/>
          </p:cNvSpPr>
          <p:nvPr/>
        </p:nvSpPr>
        <p:spPr>
          <a:xfrm>
            <a:off x="8215313" y="35599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7.</a:t>
            </a:r>
          </a:p>
        </p:txBody>
      </p:sp>
      <p:sp>
        <p:nvSpPr>
          <p:cNvPr id="19" name="object-19">
            <a:extLst>
              <a:ext uri="{FF2B5EF4-FFF2-40B4-BE49-F238E27FC236}">
                <a16:creationId xmlns:a16="http://schemas.microsoft.com/office/drawing/2014/main" id="{A9C037E4-DDDE-4B6B-9A5C-B3EA30C5313D}"/>
              </a:ext>
            </a:extLst>
          </p:cNvPr>
          <p:cNvSpPr>
            <a:spLocks noGrp="1"/>
          </p:cNvSpPr>
          <p:nvPr/>
        </p:nvSpPr>
        <p:spPr>
          <a:xfrm>
            <a:off x="8905875" y="35599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calculation and rounding decision must be justified.</a:t>
            </a:r>
          </a:p>
        </p:txBody>
      </p:sp>
      <p:sp>
        <p:nvSpPr>
          <p:cNvPr id="20" name="object-20">
            <a:extLst>
              <a:ext uri="{FF2B5EF4-FFF2-40B4-BE49-F238E27FC236}">
                <a16:creationId xmlns:a16="http://schemas.microsoft.com/office/drawing/2014/main" id="{1C5C560E-2229-495D-B737-BD5903A98827}"/>
              </a:ext>
            </a:extLst>
          </p:cNvPr>
          <p:cNvSpPr>
            <a:spLocks noGrp="1"/>
          </p:cNvSpPr>
          <p:nvPr/>
        </p:nvSpPr>
        <p:spPr>
          <a:xfrm>
            <a:off x="8215313" y="46077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8.</a:t>
            </a:r>
          </a:p>
        </p:txBody>
      </p:sp>
      <p:sp>
        <p:nvSpPr>
          <p:cNvPr id="21" name="object-21">
            <a:extLst>
              <a:ext uri="{FF2B5EF4-FFF2-40B4-BE49-F238E27FC236}">
                <a16:creationId xmlns:a16="http://schemas.microsoft.com/office/drawing/2014/main" id="{501BEB61-A475-4112-A79B-DDBF70916EF4}"/>
              </a:ext>
            </a:extLst>
          </p:cNvPr>
          <p:cNvSpPr>
            <a:spLocks noGrp="1"/>
          </p:cNvSpPr>
          <p:nvPr/>
        </p:nvSpPr>
        <p:spPr>
          <a:xfrm>
            <a:off x="8905875" y="46077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Return to the final question, label the answer and test whether it is reasonable in context.</a:t>
            </a:r>
          </a:p>
        </p:txBody>
      </p:sp>
      <p:sp>
        <p:nvSpPr>
          <p:cNvPr id="22" name="object-22">
            <a:extLst>
              <a:ext uri="{FF2B5EF4-FFF2-40B4-BE49-F238E27FC236}">
                <a16:creationId xmlns:a16="http://schemas.microsoft.com/office/drawing/2014/main" id="{4DE65631-9D8A-40B1-8DBE-EF3B58F9C992}"/>
              </a:ext>
            </a:extLst>
          </p:cNvPr>
          <p:cNvSpPr>
            <a:spLocks noGrp="1"/>
          </p:cNvSpPr>
          <p:nvPr/>
        </p:nvSpPr>
        <p:spPr>
          <a:xfrm>
            <a:off x="8215313" y="565546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9.</a:t>
            </a:r>
          </a:p>
        </p:txBody>
      </p:sp>
      <p:sp>
        <p:nvSpPr>
          <p:cNvPr id="23" name="object-23">
            <a:extLst>
              <a:ext uri="{FF2B5EF4-FFF2-40B4-BE49-F238E27FC236}">
                <a16:creationId xmlns:a16="http://schemas.microsoft.com/office/drawing/2014/main" id="{4AEF228B-3784-497B-859B-7FD511D0B131}"/>
              </a:ext>
            </a:extLst>
          </p:cNvPr>
          <p:cNvSpPr>
            <a:spLocks noGrp="1"/>
          </p:cNvSpPr>
          <p:nvPr/>
        </p:nvSpPr>
        <p:spPr>
          <a:xfrm>
            <a:off x="8905875" y="565546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 should name an inverse, estimate, boundary, known fact or equivalent representation.</a:t>
            </a:r>
          </a:p>
        </p:txBody>
      </p:sp>
      <p:sp>
        <p:nvSpPr>
          <p:cNvPr id="24" name="object-24">
            <a:extLst>
              <a:ext uri="{FF2B5EF4-FFF2-40B4-BE49-F238E27FC236}">
                <a16:creationId xmlns:a16="http://schemas.microsoft.com/office/drawing/2014/main" id="{798BE59E-4066-407D-AF16-6BE5721C2398}"/>
              </a:ext>
            </a:extLst>
          </p:cNvPr>
          <p:cNvSpPr>
            <a:spLocks noGrp="1"/>
          </p:cNvSpPr>
          <p:nvPr/>
        </p:nvSpPr>
        <p:spPr>
          <a:xfrm>
            <a:off x="8215313" y="6703219"/>
            <a:ext cx="67865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75" b="1">
                <a:solidFill>
                  <a:srgbClr val="1D4ED8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D4ED8"/>
                </a:solidFill>
                <a:latin typeface="Arial"/>
                <a:ea typeface="Arial"/>
                <a:cs typeface="Arial"/>
              </a:rPr>
              <a:t>10.</a:t>
            </a:r>
          </a:p>
        </p:txBody>
      </p:sp>
      <p:sp>
        <p:nvSpPr>
          <p:cNvPr id="25" name="object-25">
            <a:extLst>
              <a:ext uri="{FF2B5EF4-FFF2-40B4-BE49-F238E27FC236}">
                <a16:creationId xmlns:a16="http://schemas.microsoft.com/office/drawing/2014/main" id="{85347BDE-B8B5-41ED-89A7-D6FA4E43B60C}"/>
              </a:ext>
            </a:extLst>
          </p:cNvPr>
          <p:cNvSpPr>
            <a:spLocks noGrp="1"/>
          </p:cNvSpPr>
          <p:nvPr/>
        </p:nvSpPr>
        <p:spPr>
          <a:xfrm>
            <a:off x="8905875" y="6703219"/>
            <a:ext cx="5917406" cy="976313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1745A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1745A"/>
                </a:solidFill>
                <a:latin typeface="Arial"/>
                <a:ea typeface="Arial"/>
                <a:cs typeface="Arial"/>
              </a:rPr>
              <a:t>Answers vary. The new question must use the same mathematical structure and include a correct solution.</a:t>
            </a:r>
          </a:p>
        </p:txBody>
      </p:sp>
    </p:spTree>
    <p:extLst>
      <p:ext uri="{BB962C8B-B14F-4D97-AF65-F5344CB8AC3E}">
        <p14:creationId xmlns:p14="http://schemas.microsoft.com/office/powerpoint/2010/main" val="52881134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986</Words>
  <Application>Microsoft Office PowerPoint</Application>
  <DocSecurity>0</DocSecurity>
  <PresentationFormat>Custom</PresentationFormat>
  <Paragraphs>110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Garima Sharma</cp:lastModifiedBy>
  <cp:revision>1</cp:revision>
  <dcterms:created xsi:type="dcterms:W3CDTF">2026-09-14T13:22:03Z</dcterms:created>
  <dcterms:modified xsi:type="dcterms:W3CDTF">2026-09-14T13:22:06Z</dcterms:modified>
</cp:coreProperties>
</file>