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Retrieve place value and rounding.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I do.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You do. Pause before clicking. Let pupils try independently, then reveal and discuss every step.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I do.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You do. Pause before clicking. Let pupils try independently, then reveal and discuss every step. Compare the greatest place first. Move each whole number to its ordered position.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Retrieve place value and rounding.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3DD7387F-2108-49E2-9EFB-46C3F122E30B}"/>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Retrieve place value and rounding</a:t>
            </a:r>
          </a:p>
        </p:txBody>
      </p:sp>
      <p:sp>
        <p:nvSpPr>
          <p:cNvPr id="2" name="object-2">
            <a:extLst>
              <a:ext uri="{FF2B5EF4-FFF2-40B4-BE49-F238E27FC236}">
                <a16:creationId xmlns:a16="http://schemas.microsoft.com/office/drawing/2014/main" id="{9463BADA-BA73-49BD-A2D2-EDB2BD02B73D}"/>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C600B58E-6DE2-49E1-94A5-0C9613501BF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75FD0A1B-F0A0-4D21-B13D-9C9CE56C40B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5" name="object-5">
            <a:extLst>
              <a:ext uri="{FF2B5EF4-FFF2-40B4-BE49-F238E27FC236}">
                <a16:creationId xmlns:a16="http://schemas.microsoft.com/office/drawing/2014/main" id="{6539CDD8-FC5A-4990-ABE0-708D8B4B62B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62792F37-EC5D-4ADF-8220-D6AE949B28B5}"/>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retrieve and apply place-value and rounding knowledge.</a:t>
            </a:r>
          </a:p>
        </p:txBody>
      </p:sp>
    </p:spTree>
    <p:extLst>
      <p:ext uri="{BB962C8B-B14F-4D97-AF65-F5344CB8AC3E}">
        <p14:creationId xmlns:p14="http://schemas.microsoft.com/office/powerpoint/2010/main" val="20038614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object-1">
            <a:extLst>
              <a:ext uri="{FF2B5EF4-FFF2-40B4-BE49-F238E27FC236}">
                <a16:creationId xmlns:a16="http://schemas.microsoft.com/office/drawing/2014/main" id="{32CF32C7-7177-4927-8FEB-74D1BA69621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1C47A10D-43D9-4C89-A5D5-2B744190C09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6,908,210, 6,890,201, 6,980,120.</a:t>
            </a:r>
          </a:p>
        </p:txBody>
      </p:sp>
      <p:sp>
        <p:nvSpPr>
          <p:cNvPr id="3" name="object-3">
            <a:extLst>
              <a:ext uri="{FF2B5EF4-FFF2-40B4-BE49-F238E27FC236}">
                <a16:creationId xmlns:a16="http://schemas.microsoft.com/office/drawing/2014/main" id="{18689098-AE91-458D-A667-681903D3A5F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79E3A30-D384-47F3-84A3-E1C782A5FD8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5" name="object-5">
            <a:extLst>
              <a:ext uri="{FF2B5EF4-FFF2-40B4-BE49-F238E27FC236}">
                <a16:creationId xmlns:a16="http://schemas.microsoft.com/office/drawing/2014/main" id="{38A7E5AF-FAF2-4F88-AD7E-90DE21EDB5F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41200025-90B9-4EC4-81D8-0E8A46190612}"/>
              </a:ext>
            </a:extLst>
          </p:cNvPr>
          <p:cNvSpPr>
            <a:spLocks noGrp="1"/>
          </p:cNvSpPr>
          <p:nvPr/>
        </p:nvSpPr>
        <p:spPr>
          <a:xfrm>
            <a:off x="10715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6,908,210</a:t>
            </a:r>
          </a:p>
        </p:txBody>
      </p:sp>
      <p:sp>
        <p:nvSpPr>
          <p:cNvPr id="7" name="object-7">
            <a:extLst>
              <a:ext uri="{FF2B5EF4-FFF2-40B4-BE49-F238E27FC236}">
                <a16:creationId xmlns:a16="http://schemas.microsoft.com/office/drawing/2014/main" id="{F4F343A4-710B-45AD-ACEA-8E40F0AEF312}"/>
              </a:ext>
            </a:extLst>
          </p:cNvPr>
          <p:cNvSpPr>
            <a:spLocks noGrp="1"/>
          </p:cNvSpPr>
          <p:nvPr/>
        </p:nvSpPr>
        <p:spPr>
          <a:xfrm>
            <a:off x="535781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6,890,201</a:t>
            </a:r>
          </a:p>
        </p:txBody>
      </p:sp>
      <p:sp>
        <p:nvSpPr>
          <p:cNvPr id="8" name="object-8">
            <a:extLst>
              <a:ext uri="{FF2B5EF4-FFF2-40B4-BE49-F238E27FC236}">
                <a16:creationId xmlns:a16="http://schemas.microsoft.com/office/drawing/2014/main" id="{AB88EA09-F1DD-4031-933A-5F9E4D2F0375}"/>
              </a:ext>
            </a:extLst>
          </p:cNvPr>
          <p:cNvSpPr>
            <a:spLocks noGrp="1"/>
          </p:cNvSpPr>
          <p:nvPr/>
        </p:nvSpPr>
        <p:spPr>
          <a:xfrm>
            <a:off x="96440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6,980,120</a:t>
            </a:r>
          </a:p>
        </p:txBody>
      </p:sp>
      <p:sp>
        <p:nvSpPr>
          <p:cNvPr id="9" name="object-9">
            <a:extLst>
              <a:ext uri="{FF2B5EF4-FFF2-40B4-BE49-F238E27FC236}">
                <a16:creationId xmlns:a16="http://schemas.microsoft.com/office/drawing/2014/main" id="{7D0AC12D-EBC2-4009-B9A2-42B9679EE8B7}"/>
              </a:ext>
            </a:extLst>
          </p:cNvPr>
          <p:cNvSpPr>
            <a:spLocks noGrp="1"/>
          </p:cNvSpPr>
          <p:nvPr/>
        </p:nvSpPr>
        <p:spPr>
          <a:xfrm>
            <a:off x="482203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0" name="object-10">
            <a:extLst>
              <a:ext uri="{FF2B5EF4-FFF2-40B4-BE49-F238E27FC236}">
                <a16:creationId xmlns:a16="http://schemas.microsoft.com/office/drawing/2014/main" id="{DDAC1EBF-694C-4267-88D7-80A1A887B7A2}"/>
              </a:ext>
            </a:extLst>
          </p:cNvPr>
          <p:cNvSpPr>
            <a:spLocks noGrp="1"/>
          </p:cNvSpPr>
          <p:nvPr/>
        </p:nvSpPr>
        <p:spPr>
          <a:xfrm>
            <a:off x="910828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1" name="object-11">
            <a:extLst>
              <a:ext uri="{FF2B5EF4-FFF2-40B4-BE49-F238E27FC236}">
                <a16:creationId xmlns:a16="http://schemas.microsoft.com/office/drawing/2014/main" id="{29E212C2-D9B9-4E79-937F-33BFF5898881}"/>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513193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28125 0.26388889 E" pathEditMode="relative" ptsTypes="">
                                      <p:cBhvr>
                                        <p:cTn id="6" dur="8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28125 0.26388889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6388889 E" pathEditMode="relative" ptsTypes="">
                                      <p:cBhvr>
                                        <p:cTn id="14" dur="800" fill="hold"/>
                                        <p:tgtEl>
                                          <p:spTgt spid="8"/>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5A2D38F8-63FA-4AD1-BC72-44595496066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947AB45-2BAD-4696-B45F-340C6D20094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E6F0A4E-68A1-455B-896B-EA7136EDFF6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7,008,210, 6,990,201, 7,080,120.</a:t>
            </a:r>
          </a:p>
        </p:txBody>
      </p:sp>
      <p:sp>
        <p:nvSpPr>
          <p:cNvPr id="4" name="object-4">
            <a:extLst>
              <a:ext uri="{FF2B5EF4-FFF2-40B4-BE49-F238E27FC236}">
                <a16:creationId xmlns:a16="http://schemas.microsoft.com/office/drawing/2014/main" id="{B86C6A68-2A50-442F-BDE0-6D070F8D3007}"/>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CE283BE-8238-4F4E-AD0F-28AFD2F7BCF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6" name="object-6">
            <a:extLst>
              <a:ext uri="{FF2B5EF4-FFF2-40B4-BE49-F238E27FC236}">
                <a16:creationId xmlns:a16="http://schemas.microsoft.com/office/drawing/2014/main" id="{39F1D364-57F4-43DD-898A-1F51C12E97E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8C9F0B2F-6A69-4DBA-831A-1F4B6409800F}"/>
              </a:ext>
            </a:extLst>
          </p:cNvPr>
          <p:cNvSpPr>
            <a:spLocks noGrp="1"/>
          </p:cNvSpPr>
          <p:nvPr/>
        </p:nvSpPr>
        <p:spPr>
          <a:xfrm>
            <a:off x="10715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7,008,210</a:t>
            </a:r>
          </a:p>
        </p:txBody>
      </p:sp>
      <p:sp>
        <p:nvSpPr>
          <p:cNvPr id="8" name="object-8">
            <a:extLst>
              <a:ext uri="{FF2B5EF4-FFF2-40B4-BE49-F238E27FC236}">
                <a16:creationId xmlns:a16="http://schemas.microsoft.com/office/drawing/2014/main" id="{79DBDF15-FA0C-4A1E-9570-6AEB2F54CDCD}"/>
              </a:ext>
            </a:extLst>
          </p:cNvPr>
          <p:cNvSpPr>
            <a:spLocks noGrp="1"/>
          </p:cNvSpPr>
          <p:nvPr/>
        </p:nvSpPr>
        <p:spPr>
          <a:xfrm>
            <a:off x="535781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6,990,201</a:t>
            </a:r>
          </a:p>
        </p:txBody>
      </p:sp>
      <p:sp>
        <p:nvSpPr>
          <p:cNvPr id="9" name="object-9">
            <a:extLst>
              <a:ext uri="{FF2B5EF4-FFF2-40B4-BE49-F238E27FC236}">
                <a16:creationId xmlns:a16="http://schemas.microsoft.com/office/drawing/2014/main" id="{EB7BB042-7F0D-4107-8C18-D3B643BCECC7}"/>
              </a:ext>
            </a:extLst>
          </p:cNvPr>
          <p:cNvSpPr>
            <a:spLocks noGrp="1"/>
          </p:cNvSpPr>
          <p:nvPr/>
        </p:nvSpPr>
        <p:spPr>
          <a:xfrm>
            <a:off x="96440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7,080,120</a:t>
            </a:r>
          </a:p>
        </p:txBody>
      </p:sp>
      <p:sp>
        <p:nvSpPr>
          <p:cNvPr id="10" name="object-10">
            <a:extLst>
              <a:ext uri="{FF2B5EF4-FFF2-40B4-BE49-F238E27FC236}">
                <a16:creationId xmlns:a16="http://schemas.microsoft.com/office/drawing/2014/main" id="{4A66424B-7923-4901-8A53-1121F4632150}"/>
              </a:ext>
            </a:extLst>
          </p:cNvPr>
          <p:cNvSpPr>
            <a:spLocks noGrp="1"/>
          </p:cNvSpPr>
          <p:nvPr/>
        </p:nvSpPr>
        <p:spPr>
          <a:xfrm>
            <a:off x="482203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1" name="object-11">
            <a:extLst>
              <a:ext uri="{FF2B5EF4-FFF2-40B4-BE49-F238E27FC236}">
                <a16:creationId xmlns:a16="http://schemas.microsoft.com/office/drawing/2014/main" id="{CDE40B8A-0F09-440A-9D08-5D6FE7EF68B2}"/>
              </a:ext>
            </a:extLst>
          </p:cNvPr>
          <p:cNvSpPr>
            <a:spLocks noGrp="1"/>
          </p:cNvSpPr>
          <p:nvPr/>
        </p:nvSpPr>
        <p:spPr>
          <a:xfrm>
            <a:off x="910828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2" name="object-12">
            <a:extLst>
              <a:ext uri="{FF2B5EF4-FFF2-40B4-BE49-F238E27FC236}">
                <a16:creationId xmlns:a16="http://schemas.microsoft.com/office/drawing/2014/main" id="{2E54763B-B093-45EC-BA38-12F9FE6A2AF4}"/>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1885529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28125 0.26388889 E" pathEditMode="relative" ptsTypes="">
                                      <p:cBhvr>
                                        <p:cTn id="6" dur="800" fill="hold"/>
                                        <p:tgtEl>
                                          <p:spTgt spid="7"/>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28125 0.26388889 E" pathEditMode="relative" ptsTypes="">
                                      <p:cBhvr>
                                        <p:cTn id="10" dur="800" fill="hold"/>
                                        <p:tgtEl>
                                          <p:spTgt spid="8"/>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6388889 E" pathEditMode="relative" ptsTypes="">
                                      <p:cBhvr>
                                        <p:cTn id="14" dur="800" fill="hold"/>
                                        <p:tgtEl>
                                          <p:spTgt spid="9"/>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object-1">
            <a:extLst>
              <a:ext uri="{FF2B5EF4-FFF2-40B4-BE49-F238E27FC236}">
                <a16:creationId xmlns:a16="http://schemas.microsoft.com/office/drawing/2014/main" id="{D0D033C4-696A-4C4D-A292-349D4214997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83EA6102-01D0-486C-81D8-9744D89B1ED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7,108,210, 7,090,201, 7,180,120.</a:t>
            </a:r>
          </a:p>
        </p:txBody>
      </p:sp>
      <p:sp>
        <p:nvSpPr>
          <p:cNvPr id="3" name="object-3">
            <a:extLst>
              <a:ext uri="{FF2B5EF4-FFF2-40B4-BE49-F238E27FC236}">
                <a16:creationId xmlns:a16="http://schemas.microsoft.com/office/drawing/2014/main" id="{30AADC23-D4CF-4E54-940F-B3BA75E8C43C}"/>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D1404B9-BE3E-4FBE-901E-12FD0466F28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5" name="object-5">
            <a:extLst>
              <a:ext uri="{FF2B5EF4-FFF2-40B4-BE49-F238E27FC236}">
                <a16:creationId xmlns:a16="http://schemas.microsoft.com/office/drawing/2014/main" id="{A9B69F28-DC37-4C82-8470-4817C9ABD54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09124573-EB87-4D94-BFA3-E7D50F1438F1}"/>
              </a:ext>
            </a:extLst>
          </p:cNvPr>
          <p:cNvSpPr>
            <a:spLocks noGrp="1"/>
          </p:cNvSpPr>
          <p:nvPr/>
        </p:nvSpPr>
        <p:spPr>
          <a:xfrm>
            <a:off x="10715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7,108,210</a:t>
            </a:r>
          </a:p>
        </p:txBody>
      </p:sp>
      <p:sp>
        <p:nvSpPr>
          <p:cNvPr id="7" name="object-7">
            <a:extLst>
              <a:ext uri="{FF2B5EF4-FFF2-40B4-BE49-F238E27FC236}">
                <a16:creationId xmlns:a16="http://schemas.microsoft.com/office/drawing/2014/main" id="{C2F9658A-E0BF-4069-B205-8D301DAA7BD5}"/>
              </a:ext>
            </a:extLst>
          </p:cNvPr>
          <p:cNvSpPr>
            <a:spLocks noGrp="1"/>
          </p:cNvSpPr>
          <p:nvPr/>
        </p:nvSpPr>
        <p:spPr>
          <a:xfrm>
            <a:off x="535781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7,090,201</a:t>
            </a:r>
          </a:p>
        </p:txBody>
      </p:sp>
      <p:sp>
        <p:nvSpPr>
          <p:cNvPr id="8" name="object-8">
            <a:extLst>
              <a:ext uri="{FF2B5EF4-FFF2-40B4-BE49-F238E27FC236}">
                <a16:creationId xmlns:a16="http://schemas.microsoft.com/office/drawing/2014/main" id="{AA85BDFD-A1A2-4005-A46D-26AD8B13AA5D}"/>
              </a:ext>
            </a:extLst>
          </p:cNvPr>
          <p:cNvSpPr>
            <a:spLocks noGrp="1"/>
          </p:cNvSpPr>
          <p:nvPr/>
        </p:nvSpPr>
        <p:spPr>
          <a:xfrm>
            <a:off x="96440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7,180,120</a:t>
            </a:r>
          </a:p>
        </p:txBody>
      </p:sp>
      <p:sp>
        <p:nvSpPr>
          <p:cNvPr id="9" name="object-9">
            <a:extLst>
              <a:ext uri="{FF2B5EF4-FFF2-40B4-BE49-F238E27FC236}">
                <a16:creationId xmlns:a16="http://schemas.microsoft.com/office/drawing/2014/main" id="{4BF25616-FC87-4755-9B39-55FEC39CB5D7}"/>
              </a:ext>
            </a:extLst>
          </p:cNvPr>
          <p:cNvSpPr>
            <a:spLocks noGrp="1"/>
          </p:cNvSpPr>
          <p:nvPr/>
        </p:nvSpPr>
        <p:spPr>
          <a:xfrm>
            <a:off x="482203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0" name="object-10">
            <a:extLst>
              <a:ext uri="{FF2B5EF4-FFF2-40B4-BE49-F238E27FC236}">
                <a16:creationId xmlns:a16="http://schemas.microsoft.com/office/drawing/2014/main" id="{562BE152-CFB0-449D-972F-F5AC4772AE48}"/>
              </a:ext>
            </a:extLst>
          </p:cNvPr>
          <p:cNvSpPr>
            <a:spLocks noGrp="1"/>
          </p:cNvSpPr>
          <p:nvPr/>
        </p:nvSpPr>
        <p:spPr>
          <a:xfrm>
            <a:off x="910828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1" name="object-11">
            <a:extLst>
              <a:ext uri="{FF2B5EF4-FFF2-40B4-BE49-F238E27FC236}">
                <a16:creationId xmlns:a16="http://schemas.microsoft.com/office/drawing/2014/main" id="{FBA35C31-1EDC-4F0B-B8F3-60E1181849F8}"/>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463702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28125 0.26388889 E" pathEditMode="relative" ptsTypes="">
                                      <p:cBhvr>
                                        <p:cTn id="6" dur="8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28125 0.26388889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6388889 E" pathEditMode="relative" ptsTypes="">
                                      <p:cBhvr>
                                        <p:cTn id="14" dur="800" fill="hold"/>
                                        <p:tgtEl>
                                          <p:spTgt spid="8"/>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248F0846-D48F-403D-9E22-406F4254B9A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6B23769-27C4-4B9F-90F1-6DEAC84D695A}"/>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FA1C6F0B-22AD-4076-AA4B-D252DEA027B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Put these numbers in order, smallest first: 7,208,210, 7,190,201, 7,280,120.</a:t>
            </a:r>
          </a:p>
        </p:txBody>
      </p:sp>
      <p:sp>
        <p:nvSpPr>
          <p:cNvPr id="4" name="object-4">
            <a:extLst>
              <a:ext uri="{FF2B5EF4-FFF2-40B4-BE49-F238E27FC236}">
                <a16:creationId xmlns:a16="http://schemas.microsoft.com/office/drawing/2014/main" id="{7C0322DA-91F5-4286-B084-ACEA309F116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691E85DB-1D81-46FF-8EA9-923DAA43199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6" name="object-6">
            <a:extLst>
              <a:ext uri="{FF2B5EF4-FFF2-40B4-BE49-F238E27FC236}">
                <a16:creationId xmlns:a16="http://schemas.microsoft.com/office/drawing/2014/main" id="{DDDB70BB-0321-4983-B5E2-98BA91D9406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6CF686BB-3B6F-41C3-B3ED-F9FC55DA8A93}"/>
              </a:ext>
            </a:extLst>
          </p:cNvPr>
          <p:cNvSpPr>
            <a:spLocks noGrp="1"/>
          </p:cNvSpPr>
          <p:nvPr/>
        </p:nvSpPr>
        <p:spPr>
          <a:xfrm>
            <a:off x="10715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7,208,210</a:t>
            </a:r>
          </a:p>
        </p:txBody>
      </p:sp>
      <p:sp>
        <p:nvSpPr>
          <p:cNvPr id="8" name="object-8">
            <a:extLst>
              <a:ext uri="{FF2B5EF4-FFF2-40B4-BE49-F238E27FC236}">
                <a16:creationId xmlns:a16="http://schemas.microsoft.com/office/drawing/2014/main" id="{C3FAD0DB-9389-486E-AF68-72C59CFCD86E}"/>
              </a:ext>
            </a:extLst>
          </p:cNvPr>
          <p:cNvSpPr>
            <a:spLocks noGrp="1"/>
          </p:cNvSpPr>
          <p:nvPr/>
        </p:nvSpPr>
        <p:spPr>
          <a:xfrm>
            <a:off x="535781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7,190,201</a:t>
            </a:r>
          </a:p>
        </p:txBody>
      </p:sp>
      <p:sp>
        <p:nvSpPr>
          <p:cNvPr id="9" name="object-9">
            <a:extLst>
              <a:ext uri="{FF2B5EF4-FFF2-40B4-BE49-F238E27FC236}">
                <a16:creationId xmlns:a16="http://schemas.microsoft.com/office/drawing/2014/main" id="{6689F092-8419-497D-951E-88C9CD05A26F}"/>
              </a:ext>
            </a:extLst>
          </p:cNvPr>
          <p:cNvSpPr>
            <a:spLocks noGrp="1"/>
          </p:cNvSpPr>
          <p:nvPr/>
        </p:nvSpPr>
        <p:spPr>
          <a:xfrm>
            <a:off x="9644063" y="2976563"/>
            <a:ext cx="4048125" cy="892969"/>
          </a:xfrm>
          <a:prstGeom prst="rect">
            <a:avLst/>
          </a:prstGeom>
          <a:noFill/>
          <a:ln w="0">
            <a:noFill/>
          </a:ln>
        </p:spPr>
        <p:txBody>
          <a:bodyPr anchor="ctr">
            <a:noAutofit/>
          </a:bodyPr>
          <a:lstStyle/>
          <a:p>
            <a:pPr algn="ctr">
              <a:defRPr sz="4031" b="1">
                <a:solidFill>
                  <a:srgbClr val="1D4ED8"/>
                </a:solidFill>
                <a:latin typeface="Arial"/>
                <a:ea typeface="Arial"/>
                <a:cs typeface="Arial"/>
              </a:defRPr>
            </a:pPr>
            <a:r>
              <a:rPr sz="4031" b="1">
                <a:solidFill>
                  <a:srgbClr val="1D4ED8"/>
                </a:solidFill>
                <a:latin typeface="Arial"/>
                <a:ea typeface="Arial"/>
                <a:cs typeface="Arial"/>
              </a:rPr>
              <a:t>7,280,120</a:t>
            </a:r>
          </a:p>
        </p:txBody>
      </p:sp>
      <p:sp>
        <p:nvSpPr>
          <p:cNvPr id="10" name="object-10">
            <a:extLst>
              <a:ext uri="{FF2B5EF4-FFF2-40B4-BE49-F238E27FC236}">
                <a16:creationId xmlns:a16="http://schemas.microsoft.com/office/drawing/2014/main" id="{9133B7EB-E01A-44BC-970D-97ED59329773}"/>
              </a:ext>
            </a:extLst>
          </p:cNvPr>
          <p:cNvSpPr>
            <a:spLocks noGrp="1"/>
          </p:cNvSpPr>
          <p:nvPr/>
        </p:nvSpPr>
        <p:spPr>
          <a:xfrm>
            <a:off x="482203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1" name="object-11">
            <a:extLst>
              <a:ext uri="{FF2B5EF4-FFF2-40B4-BE49-F238E27FC236}">
                <a16:creationId xmlns:a16="http://schemas.microsoft.com/office/drawing/2014/main" id="{35FBA4DA-5537-4245-A942-4D0D6C257EA1}"/>
              </a:ext>
            </a:extLst>
          </p:cNvPr>
          <p:cNvSpPr>
            <a:spLocks noGrp="1"/>
          </p:cNvSpPr>
          <p:nvPr/>
        </p:nvSpPr>
        <p:spPr>
          <a:xfrm>
            <a:off x="9108281" y="5322094"/>
            <a:ext cx="654844" cy="773906"/>
          </a:xfrm>
          <a:prstGeom prst="rect">
            <a:avLst/>
          </a:prstGeom>
          <a:noFill/>
          <a:ln w="0">
            <a:noFill/>
          </a:ln>
        </p:spPr>
        <p:txBody>
          <a:bodyPr anchor="ctr">
            <a:noAutofit/>
          </a:bodyPr>
          <a:lstStyle/>
          <a:p>
            <a:pPr algn="ctr">
              <a:defRPr sz="3938" b="1">
                <a:solidFill>
                  <a:srgbClr val="172B4D"/>
                </a:solidFill>
                <a:latin typeface="Arial"/>
                <a:ea typeface="Arial"/>
                <a:cs typeface="Arial"/>
              </a:defRPr>
            </a:pPr>
            <a:r>
              <a:rPr sz="3938" b="1">
                <a:solidFill>
                  <a:srgbClr val="172B4D"/>
                </a:solidFill>
                <a:latin typeface="Arial"/>
                <a:ea typeface="Arial"/>
                <a:cs typeface="Arial"/>
              </a:rPr>
              <a:t>&lt;</a:t>
            </a:r>
          </a:p>
        </p:txBody>
      </p:sp>
      <p:sp>
        <p:nvSpPr>
          <p:cNvPr id="12" name="object-12">
            <a:extLst>
              <a:ext uri="{FF2B5EF4-FFF2-40B4-BE49-F238E27FC236}">
                <a16:creationId xmlns:a16="http://schemas.microsoft.com/office/drawing/2014/main" id="{25AD4252-C3F1-4FB7-85A1-06CC51AB6D60}"/>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Compare from the greatest place. Stop at the first different digit.</a:t>
            </a:r>
          </a:p>
        </p:txBody>
      </p:sp>
    </p:spTree>
    <p:extLst>
      <p:ext uri="{BB962C8B-B14F-4D97-AF65-F5344CB8AC3E}">
        <p14:creationId xmlns:p14="http://schemas.microsoft.com/office/powerpoint/2010/main" val="1891414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28125 0.26388889 E" pathEditMode="relative" ptsTypes="">
                                      <p:cBhvr>
                                        <p:cTn id="6" dur="800" fill="hold"/>
                                        <p:tgtEl>
                                          <p:spTgt spid="7"/>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28125 0.26388889 E" pathEditMode="relative" ptsTypes="">
                                      <p:cBhvr>
                                        <p:cTn id="10" dur="800" fill="hold"/>
                                        <p:tgtEl>
                                          <p:spTgt spid="8"/>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6388889 E" pathEditMode="relative" ptsTypes="">
                                      <p:cBhvr>
                                        <p:cTn id="14" dur="800" fill="hold"/>
                                        <p:tgtEl>
                                          <p:spTgt spid="9"/>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FDA4D2A2-F4D3-44B2-AB09-298B29F0E61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E1833C58-0CF3-4FEC-B760-E1B886EFA7C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8BD9741-22F8-4C7B-88D9-286DED74292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C54BF9CD-8FFE-47A6-A315-5DCDBB3767D7}"/>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B13519B-B2BA-4962-80D7-C8816A73326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6" name="object-6">
            <a:extLst>
              <a:ext uri="{FF2B5EF4-FFF2-40B4-BE49-F238E27FC236}">
                <a16:creationId xmlns:a16="http://schemas.microsoft.com/office/drawing/2014/main" id="{AE8DB5EE-2492-44A8-8BF6-989363A1E75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F7FFA127-3D22-44A9-AC8C-7A38072D2F7C}"/>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2EDF7CB7-C9A6-4FC2-B914-73F42DD40F90}"/>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Order 6,908,210, 6,890,201 and 6,980,120, then round each to the nearest 100,000.</a:t>
            </a:r>
          </a:p>
        </p:txBody>
      </p:sp>
      <p:sp>
        <p:nvSpPr>
          <p:cNvPr id="9" name="object-9">
            <a:extLst>
              <a:ext uri="{FF2B5EF4-FFF2-40B4-BE49-F238E27FC236}">
                <a16:creationId xmlns:a16="http://schemas.microsoft.com/office/drawing/2014/main" id="{9DE29BE8-B2CE-45A3-A90B-5B38026EEEC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50A34DC7-193C-4C20-B019-212B504E4936}"/>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the interval from -18 to 27.</a:t>
            </a:r>
          </a:p>
        </p:txBody>
      </p:sp>
      <p:sp>
        <p:nvSpPr>
          <p:cNvPr id="11" name="object-11">
            <a:extLst>
              <a:ext uri="{FF2B5EF4-FFF2-40B4-BE49-F238E27FC236}">
                <a16:creationId xmlns:a16="http://schemas.microsoft.com/office/drawing/2014/main" id="{CB2E5593-FEBD-4909-B613-B4720EAE9281}"/>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F8D99342-14D7-4504-A3DB-F54C4B3DC3DE}"/>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Give the range of whole numbers that round to 3,600,000 to the nearest 100,000.</a:t>
            </a:r>
          </a:p>
        </p:txBody>
      </p:sp>
      <p:sp>
        <p:nvSpPr>
          <p:cNvPr id="13" name="object-13">
            <a:extLst>
              <a:ext uri="{FF2B5EF4-FFF2-40B4-BE49-F238E27FC236}">
                <a16:creationId xmlns:a16="http://schemas.microsoft.com/office/drawing/2014/main" id="{2FBCFD0D-3B12-4EB3-8B80-1396ABFEFAE6}"/>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D7D63FAF-DFB3-448B-9331-A37FC270283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Order 6,908,210, 6,890,201 and 6,980,120, then round each to the nearest 100,000.</a:t>
            </a:r>
          </a:p>
        </p:txBody>
      </p:sp>
      <p:sp>
        <p:nvSpPr>
          <p:cNvPr id="15" name="object-15">
            <a:extLst>
              <a:ext uri="{FF2B5EF4-FFF2-40B4-BE49-F238E27FC236}">
                <a16:creationId xmlns:a16="http://schemas.microsoft.com/office/drawing/2014/main" id="{29DABC9C-8873-457D-88B2-3532FEB0472C}"/>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D26A0BE8-69D2-45C6-ADE7-F0BB43C1692C}"/>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Find the interval from -18 to 27.</a:t>
            </a:r>
          </a:p>
        </p:txBody>
      </p:sp>
      <p:sp>
        <p:nvSpPr>
          <p:cNvPr id="17" name="object-17">
            <a:extLst>
              <a:ext uri="{FF2B5EF4-FFF2-40B4-BE49-F238E27FC236}">
                <a16:creationId xmlns:a16="http://schemas.microsoft.com/office/drawing/2014/main" id="{DED5906F-7454-4C44-8B33-36E3980B48AE}"/>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14596D43-C305-4064-8CD3-4C493C976185}"/>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Give the range of whole numbers that round to 3,600,000 to the nearest 100,000.</a:t>
            </a:r>
          </a:p>
        </p:txBody>
      </p:sp>
      <p:sp>
        <p:nvSpPr>
          <p:cNvPr id="19" name="object-19">
            <a:extLst>
              <a:ext uri="{FF2B5EF4-FFF2-40B4-BE49-F238E27FC236}">
                <a16:creationId xmlns:a16="http://schemas.microsoft.com/office/drawing/2014/main" id="{762F3083-A197-4A86-A867-FF2E3939028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AF032C18-695C-46EC-97F4-C19FFC2F8284}"/>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Create a seven-digit number that rounds down to 5,000,000 to the nearest million and up to 5,400,000 to the nearest 100,000.</a:t>
            </a:r>
          </a:p>
        </p:txBody>
      </p:sp>
      <p:sp>
        <p:nvSpPr>
          <p:cNvPr id="21" name="object-21">
            <a:extLst>
              <a:ext uri="{FF2B5EF4-FFF2-40B4-BE49-F238E27FC236}">
                <a16:creationId xmlns:a16="http://schemas.microsoft.com/office/drawing/2014/main" id="{AD877489-793E-4FBA-B476-327DF82ED7E7}"/>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574EDC51-C8CE-4B2E-92BC-861E827343CD}"/>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applies one rounding rule to every requested place.</a:t>
            </a:r>
          </a:p>
        </p:txBody>
      </p:sp>
      <p:sp>
        <p:nvSpPr>
          <p:cNvPr id="23" name="object-23">
            <a:extLst>
              <a:ext uri="{FF2B5EF4-FFF2-40B4-BE49-F238E27FC236}">
                <a16:creationId xmlns:a16="http://schemas.microsoft.com/office/drawing/2014/main" id="{9F776219-A4BC-437A-ADB1-8A37499200FB}"/>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540FF059-3641-40F2-99DE-8F2CB2238BF0}"/>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A9812A02-E768-41CB-AB59-4B139C883A39}"/>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849CEF3E-F74F-4F76-ABA2-9F5F36D7681E}"/>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Give the range of whole numbers that round to 3,600,000 to the nearest 100,000.</a:t>
            </a:r>
          </a:p>
        </p:txBody>
      </p:sp>
    </p:spTree>
    <p:extLst>
      <p:ext uri="{BB962C8B-B14F-4D97-AF65-F5344CB8AC3E}">
        <p14:creationId xmlns:p14="http://schemas.microsoft.com/office/powerpoint/2010/main" val="6021725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F7450499-2B9D-4337-AD34-D9E3ED5D83A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24561FA0-312A-4419-8D03-C5EBC943E8F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B9028BDD-6167-4F7B-B897-B484E4EB918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1C28F9D-85B6-4D79-A6EF-872E686E61B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Retrieve place value and rounding</a:t>
            </a:r>
          </a:p>
        </p:txBody>
      </p:sp>
      <p:sp>
        <p:nvSpPr>
          <p:cNvPr id="5" name="object-5">
            <a:extLst>
              <a:ext uri="{FF2B5EF4-FFF2-40B4-BE49-F238E27FC236}">
                <a16:creationId xmlns:a16="http://schemas.microsoft.com/office/drawing/2014/main" id="{037D5EAE-B2AF-4FD1-9335-1B7372BED0A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A368AAC7-EDA4-4B03-86D6-67AA4525B2A7}"/>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761DA74A-E7DF-4105-99CE-017A66102C1F}"/>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Order: 6,890,201; 6,908,210; 6,980,120. Rounded: 6,900,000; 6,900,000; 7,000,000.</a:t>
            </a:r>
          </a:p>
        </p:txBody>
      </p:sp>
      <p:sp>
        <p:nvSpPr>
          <p:cNvPr id="8" name="object-8">
            <a:extLst>
              <a:ext uri="{FF2B5EF4-FFF2-40B4-BE49-F238E27FC236}">
                <a16:creationId xmlns:a16="http://schemas.microsoft.com/office/drawing/2014/main" id="{E16420E2-2601-41E0-A8A0-8A2BCEBD5AF7}"/>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4302DC4B-FE37-41C4-8FFC-FAE7865FA050}"/>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45.</a:t>
            </a:r>
          </a:p>
        </p:txBody>
      </p:sp>
      <p:sp>
        <p:nvSpPr>
          <p:cNvPr id="10" name="object-10">
            <a:extLst>
              <a:ext uri="{FF2B5EF4-FFF2-40B4-BE49-F238E27FC236}">
                <a16:creationId xmlns:a16="http://schemas.microsoft.com/office/drawing/2014/main" id="{2110335F-EAAD-4D80-AAE5-23C849F869F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D78E4A87-AA0F-4DE2-AAF1-E6C67D17F6D5}"/>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3,550,000 to 3,649,999.</a:t>
            </a:r>
          </a:p>
        </p:txBody>
      </p:sp>
      <p:sp>
        <p:nvSpPr>
          <p:cNvPr id="12" name="object-12">
            <a:extLst>
              <a:ext uri="{FF2B5EF4-FFF2-40B4-BE49-F238E27FC236}">
                <a16:creationId xmlns:a16="http://schemas.microsoft.com/office/drawing/2014/main" id="{1A2A745D-3FD1-46F1-991F-8134C84C112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FFAC24DA-16B3-4EC7-9372-D7ECDAB510CA}"/>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Order: 6,890,201; 6,908,210; 6,980,120. Rounded: 6,900,000; 6,900,000; 7,000,000.</a:t>
            </a:r>
          </a:p>
        </p:txBody>
      </p:sp>
      <p:sp>
        <p:nvSpPr>
          <p:cNvPr id="14" name="object-14">
            <a:extLst>
              <a:ext uri="{FF2B5EF4-FFF2-40B4-BE49-F238E27FC236}">
                <a16:creationId xmlns:a16="http://schemas.microsoft.com/office/drawing/2014/main" id="{1ABD5503-F5F8-4301-A51E-7D4104FA7B92}"/>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8A91518C-3A96-4A93-9822-9474C35723FA}"/>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45. Method or representation may vary.</a:t>
            </a:r>
          </a:p>
        </p:txBody>
      </p:sp>
      <p:sp>
        <p:nvSpPr>
          <p:cNvPr id="16" name="object-16">
            <a:extLst>
              <a:ext uri="{FF2B5EF4-FFF2-40B4-BE49-F238E27FC236}">
                <a16:creationId xmlns:a16="http://schemas.microsoft.com/office/drawing/2014/main" id="{834BCCF4-2345-4EF2-9752-E110BCF0EA1F}"/>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F816BFF2-EF7A-421A-B15A-A41CA3AAA541}"/>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3,550,000 to 3,649,999. A valid check must be shown.</a:t>
            </a:r>
          </a:p>
        </p:txBody>
      </p:sp>
      <p:sp>
        <p:nvSpPr>
          <p:cNvPr id="18" name="object-18">
            <a:extLst>
              <a:ext uri="{FF2B5EF4-FFF2-40B4-BE49-F238E27FC236}">
                <a16:creationId xmlns:a16="http://schemas.microsoft.com/office/drawing/2014/main" id="{D05EE1F6-A188-41D7-9AE4-B9CA07696ADA}"/>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B23CB33C-3EDE-46B9-8549-8018526B5622}"/>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for example 5,360,000.</a:t>
            </a:r>
          </a:p>
        </p:txBody>
      </p:sp>
      <p:sp>
        <p:nvSpPr>
          <p:cNvPr id="20" name="object-20">
            <a:extLst>
              <a:ext uri="{FF2B5EF4-FFF2-40B4-BE49-F238E27FC236}">
                <a16:creationId xmlns:a16="http://schemas.microsoft.com/office/drawing/2014/main" id="{0443CBE2-A55B-4387-A39E-9B6516AAC66D}"/>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956841BE-7409-4B03-A213-2F840FF9222E}"/>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Mark each rounding place separately and reconsider the deciding digit each time.</a:t>
            </a:r>
          </a:p>
        </p:txBody>
      </p:sp>
      <p:sp>
        <p:nvSpPr>
          <p:cNvPr id="22" name="object-22">
            <a:extLst>
              <a:ext uri="{FF2B5EF4-FFF2-40B4-BE49-F238E27FC236}">
                <a16:creationId xmlns:a16="http://schemas.microsoft.com/office/drawing/2014/main" id="{C52217E8-EED8-403E-AD61-88434E6EF71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F997E49D-4DD5-48AC-96BF-A6794A0BA585}"/>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D3450B3A-9295-44F3-B72B-0297A94A30D6}"/>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E23E4CEF-0FCE-46ED-AB71-B5EBB100308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3094621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1007</Words>
  <Application>Microsoft Office PowerPoint</Application>
  <DocSecurity>0</DocSecurity>
  <PresentationFormat>Custom</PresentationFormat>
  <Paragraphs>110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2026-09-14T13:14:20Z</dcterms:created>
  <dcterms:modified xsi:type="dcterms:W3CDTF">2026-09-14T13:15:05Z</dcterms:modified>
</cp:coreProperties>
</file>