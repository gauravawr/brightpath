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Interpret division remainders.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Interpret division remainders.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8ADC9B3-CEB5-4487-908D-2CBBC2F45617}"/>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Interpret division remainders</a:t>
            </a:r>
          </a:p>
        </p:txBody>
      </p:sp>
      <p:sp>
        <p:nvSpPr>
          <p:cNvPr id="2" name="object-2">
            <a:extLst>
              <a:ext uri="{FF2B5EF4-FFF2-40B4-BE49-F238E27FC236}">
                <a16:creationId xmlns:a16="http://schemas.microsoft.com/office/drawing/2014/main" id="{98E23EC8-ED16-4BC6-BAF9-0D9CDF018C13}"/>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6B7C58ED-83FF-455B-81D3-2A50DB1862E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E426D74-6FC0-4D8D-826E-162935860AC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5" name="object-5">
            <a:extLst>
              <a:ext uri="{FF2B5EF4-FFF2-40B4-BE49-F238E27FC236}">
                <a16:creationId xmlns:a16="http://schemas.microsoft.com/office/drawing/2014/main" id="{07955405-B781-4BD7-A0E2-F216F67B1E9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E91129D1-7F2E-46B9-B596-5D9FF9EC82A3}"/>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interpret remainders as whole numbers, fractions or rounded answers.</a:t>
            </a:r>
          </a:p>
        </p:txBody>
      </p:sp>
    </p:spTree>
    <p:extLst>
      <p:ext uri="{BB962C8B-B14F-4D97-AF65-F5344CB8AC3E}">
        <p14:creationId xmlns:p14="http://schemas.microsoft.com/office/powerpoint/2010/main" val="241045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53CB79CF-56BB-465A-9029-9D563075D6D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1A87CF0-3EC6-4D56-B088-9F8BB9A34A2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6,745 ÷ 32.</a:t>
            </a:r>
          </a:p>
        </p:txBody>
      </p:sp>
      <p:sp>
        <p:nvSpPr>
          <p:cNvPr id="3" name="object-3">
            <a:extLst>
              <a:ext uri="{FF2B5EF4-FFF2-40B4-BE49-F238E27FC236}">
                <a16:creationId xmlns:a16="http://schemas.microsoft.com/office/drawing/2014/main" id="{34238B84-37B7-40EF-A138-65D32E6F1C0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B3B7F59-B5A4-4294-8B77-79DDB7D4825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5" name="object-5">
            <a:extLst>
              <a:ext uri="{FF2B5EF4-FFF2-40B4-BE49-F238E27FC236}">
                <a16:creationId xmlns:a16="http://schemas.microsoft.com/office/drawing/2014/main" id="{F86F0384-E822-4638-B4C9-A3ED8827493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BA8C2A2A-ADE1-437E-99D7-8A986EF0DDF5}"/>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32</a:t>
            </a:r>
          </a:p>
        </p:txBody>
      </p:sp>
      <p:sp>
        <p:nvSpPr>
          <p:cNvPr id="7" name="object-7">
            <a:extLst>
              <a:ext uri="{FF2B5EF4-FFF2-40B4-BE49-F238E27FC236}">
                <a16:creationId xmlns:a16="http://schemas.microsoft.com/office/drawing/2014/main" id="{BF85F7FC-9FF3-4785-A356-DADEE69FF1B2}"/>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7DC95218-8EB3-45BB-907B-11267144BFD7}"/>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7CF85D3A-14F0-4683-AA12-1AAC7F09EC63}"/>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6</a:t>
            </a:r>
          </a:p>
        </p:txBody>
      </p:sp>
      <p:sp>
        <p:nvSpPr>
          <p:cNvPr id="10" name="object-10">
            <a:extLst>
              <a:ext uri="{FF2B5EF4-FFF2-40B4-BE49-F238E27FC236}">
                <a16:creationId xmlns:a16="http://schemas.microsoft.com/office/drawing/2014/main" id="{8680C8A6-A1BA-4123-B1D0-2ACAD56D3D98}"/>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7ED90BF8-6CB8-4367-8B67-064AEF447A58}"/>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2" name="object-12">
            <a:extLst>
              <a:ext uri="{FF2B5EF4-FFF2-40B4-BE49-F238E27FC236}">
                <a16:creationId xmlns:a16="http://schemas.microsoft.com/office/drawing/2014/main" id="{B8645A7F-F216-4A3B-9183-6035621492F2}"/>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5</a:t>
            </a:r>
          </a:p>
        </p:txBody>
      </p:sp>
      <p:sp>
        <p:nvSpPr>
          <p:cNvPr id="13" name="object-13">
            <a:extLst>
              <a:ext uri="{FF2B5EF4-FFF2-40B4-BE49-F238E27FC236}">
                <a16:creationId xmlns:a16="http://schemas.microsoft.com/office/drawing/2014/main" id="{93B2BE52-F377-4E9D-8FFF-A0F34C44ABE1}"/>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4" name="object-14">
            <a:extLst>
              <a:ext uri="{FF2B5EF4-FFF2-40B4-BE49-F238E27FC236}">
                <a16:creationId xmlns:a16="http://schemas.microsoft.com/office/drawing/2014/main" id="{7074F375-D1BF-48D5-A411-149745D4F4A6}"/>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67: 2 times</a:t>
            </a:r>
          </a:p>
        </p:txBody>
      </p:sp>
      <p:sp>
        <p:nvSpPr>
          <p:cNvPr id="15" name="object-15">
            <a:extLst>
              <a:ext uri="{FF2B5EF4-FFF2-40B4-BE49-F238E27FC236}">
                <a16:creationId xmlns:a16="http://schemas.microsoft.com/office/drawing/2014/main" id="{6B730E8D-44CE-411F-9DB3-540732D0E297}"/>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67 − 64 = 3</a:t>
            </a:r>
          </a:p>
        </p:txBody>
      </p:sp>
      <p:sp>
        <p:nvSpPr>
          <p:cNvPr id="16" name="object-16">
            <a:extLst>
              <a:ext uri="{FF2B5EF4-FFF2-40B4-BE49-F238E27FC236}">
                <a16:creationId xmlns:a16="http://schemas.microsoft.com/office/drawing/2014/main" id="{0F4DF773-2095-4F53-8F5C-740DF1E50D7C}"/>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053F744B-ECD0-40AA-AABE-2F1FAD164CE1}"/>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18" name="object-18">
            <a:extLst>
              <a:ext uri="{FF2B5EF4-FFF2-40B4-BE49-F238E27FC236}">
                <a16:creationId xmlns:a16="http://schemas.microsoft.com/office/drawing/2014/main" id="{FBA56F00-390A-4933-A7F1-413E08452E4B}"/>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34: 1 times</a:t>
            </a:r>
          </a:p>
        </p:txBody>
      </p:sp>
      <p:sp>
        <p:nvSpPr>
          <p:cNvPr id="19" name="object-19">
            <a:extLst>
              <a:ext uri="{FF2B5EF4-FFF2-40B4-BE49-F238E27FC236}">
                <a16:creationId xmlns:a16="http://schemas.microsoft.com/office/drawing/2014/main" id="{323DF3AA-E56C-4692-BEEF-586A37D4DAFA}"/>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34 − 32 = 2</a:t>
            </a:r>
          </a:p>
        </p:txBody>
      </p:sp>
      <p:sp>
        <p:nvSpPr>
          <p:cNvPr id="20" name="object-20">
            <a:extLst>
              <a:ext uri="{FF2B5EF4-FFF2-40B4-BE49-F238E27FC236}">
                <a16:creationId xmlns:a16="http://schemas.microsoft.com/office/drawing/2014/main" id="{AADD3BD3-58DC-4978-B7A2-1D6232E4794F}"/>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5</a:t>
            </a:r>
          </a:p>
        </p:txBody>
      </p:sp>
      <p:sp>
        <p:nvSpPr>
          <p:cNvPr id="21" name="object-21">
            <a:extLst>
              <a:ext uri="{FF2B5EF4-FFF2-40B4-BE49-F238E27FC236}">
                <a16:creationId xmlns:a16="http://schemas.microsoft.com/office/drawing/2014/main" id="{E08C536A-0946-4ECE-9FAA-D802570781AB}"/>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0</a:t>
            </a:r>
          </a:p>
        </p:txBody>
      </p:sp>
      <p:sp>
        <p:nvSpPr>
          <p:cNvPr id="22" name="object-22">
            <a:extLst>
              <a:ext uri="{FF2B5EF4-FFF2-40B4-BE49-F238E27FC236}">
                <a16:creationId xmlns:a16="http://schemas.microsoft.com/office/drawing/2014/main" id="{EFC0DC14-F958-43CA-ACA6-6A354F03254F}"/>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25: 0 times</a:t>
            </a:r>
          </a:p>
        </p:txBody>
      </p:sp>
      <p:sp>
        <p:nvSpPr>
          <p:cNvPr id="23" name="object-23">
            <a:extLst>
              <a:ext uri="{FF2B5EF4-FFF2-40B4-BE49-F238E27FC236}">
                <a16:creationId xmlns:a16="http://schemas.microsoft.com/office/drawing/2014/main" id="{8FBD7360-FDA3-468D-B7EC-1CBA236DE5F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25 − 0 = 25</a:t>
            </a:r>
          </a:p>
        </p:txBody>
      </p:sp>
      <p:sp>
        <p:nvSpPr>
          <p:cNvPr id="24" name="object-24">
            <a:extLst>
              <a:ext uri="{FF2B5EF4-FFF2-40B4-BE49-F238E27FC236}">
                <a16:creationId xmlns:a16="http://schemas.microsoft.com/office/drawing/2014/main" id="{D482207E-64A9-4308-B80B-38BD48EBF391}"/>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210 remainder 25; 211 groups are needed to fit everyone.</a:t>
            </a:r>
          </a:p>
        </p:txBody>
      </p:sp>
    </p:spTree>
    <p:extLst>
      <p:ext uri="{BB962C8B-B14F-4D97-AF65-F5344CB8AC3E}">
        <p14:creationId xmlns:p14="http://schemas.microsoft.com/office/powerpoint/2010/main" val="442346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5182EBBA-732D-43AD-8C0E-23091EAF0AA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7C494C84-428A-495C-97FB-E5F7A0C9CAF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F22EFB8-8555-4AF1-9ADD-29298E62919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7,097 ÷ 32.</a:t>
            </a:r>
          </a:p>
        </p:txBody>
      </p:sp>
      <p:sp>
        <p:nvSpPr>
          <p:cNvPr id="4" name="object-4">
            <a:extLst>
              <a:ext uri="{FF2B5EF4-FFF2-40B4-BE49-F238E27FC236}">
                <a16:creationId xmlns:a16="http://schemas.microsoft.com/office/drawing/2014/main" id="{CD3E0F3C-F13B-4E22-9D3F-10FB889CE1D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0383061B-23F2-4DA1-82E1-3385D31F9DE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6" name="object-6">
            <a:extLst>
              <a:ext uri="{FF2B5EF4-FFF2-40B4-BE49-F238E27FC236}">
                <a16:creationId xmlns:a16="http://schemas.microsoft.com/office/drawing/2014/main" id="{6D3C7ADA-F905-451E-8D70-94B96369C06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8BAAC4B7-0E72-4B7D-8A0B-B4989897B31A}"/>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32</a:t>
            </a:r>
          </a:p>
        </p:txBody>
      </p:sp>
      <p:sp>
        <p:nvSpPr>
          <p:cNvPr id="8" name="object-8">
            <a:extLst>
              <a:ext uri="{FF2B5EF4-FFF2-40B4-BE49-F238E27FC236}">
                <a16:creationId xmlns:a16="http://schemas.microsoft.com/office/drawing/2014/main" id="{8A7B1D3F-EF71-4653-A028-E9E7EE85F618}"/>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8A41D3AB-D739-4CA6-9EE2-428EB929D45E}"/>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2291B8A0-6049-4ADE-8734-7427696F884B}"/>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2E66B81F-1E25-4162-9A01-4653351000F3}"/>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2" name="object-12">
            <a:extLst>
              <a:ext uri="{FF2B5EF4-FFF2-40B4-BE49-F238E27FC236}">
                <a16:creationId xmlns:a16="http://schemas.microsoft.com/office/drawing/2014/main" id="{0F179659-2531-4929-B77F-3A33D7C1B1CC}"/>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9</a:t>
            </a:r>
          </a:p>
        </p:txBody>
      </p:sp>
      <p:sp>
        <p:nvSpPr>
          <p:cNvPr id="13" name="object-13">
            <a:extLst>
              <a:ext uri="{FF2B5EF4-FFF2-40B4-BE49-F238E27FC236}">
                <a16:creationId xmlns:a16="http://schemas.microsoft.com/office/drawing/2014/main" id="{4CACAAC1-E44A-4A79-A48E-4C12DEF1E545}"/>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4" name="object-14">
            <a:extLst>
              <a:ext uri="{FF2B5EF4-FFF2-40B4-BE49-F238E27FC236}">
                <a16:creationId xmlns:a16="http://schemas.microsoft.com/office/drawing/2014/main" id="{8961EA12-6F67-4D0B-8153-931640BCB95F}"/>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5" name="object-15">
            <a:extLst>
              <a:ext uri="{FF2B5EF4-FFF2-40B4-BE49-F238E27FC236}">
                <a16:creationId xmlns:a16="http://schemas.microsoft.com/office/drawing/2014/main" id="{0F2E24E7-CD8A-4B37-923E-066F727630D6}"/>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70: 2 times</a:t>
            </a:r>
          </a:p>
        </p:txBody>
      </p:sp>
      <p:sp>
        <p:nvSpPr>
          <p:cNvPr id="16" name="object-16">
            <a:extLst>
              <a:ext uri="{FF2B5EF4-FFF2-40B4-BE49-F238E27FC236}">
                <a16:creationId xmlns:a16="http://schemas.microsoft.com/office/drawing/2014/main" id="{D054EBAB-BF94-4DD9-A5F0-A6808CD817B1}"/>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70 − 64 = 6</a:t>
            </a:r>
          </a:p>
        </p:txBody>
      </p:sp>
      <p:sp>
        <p:nvSpPr>
          <p:cNvPr id="17" name="object-17">
            <a:extLst>
              <a:ext uri="{FF2B5EF4-FFF2-40B4-BE49-F238E27FC236}">
                <a16:creationId xmlns:a16="http://schemas.microsoft.com/office/drawing/2014/main" id="{EB06F567-E30B-49C8-B4B9-FA8F1F7ACE31}"/>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9</a:t>
            </a:r>
          </a:p>
        </p:txBody>
      </p:sp>
      <p:sp>
        <p:nvSpPr>
          <p:cNvPr id="18" name="object-18">
            <a:extLst>
              <a:ext uri="{FF2B5EF4-FFF2-40B4-BE49-F238E27FC236}">
                <a16:creationId xmlns:a16="http://schemas.microsoft.com/office/drawing/2014/main" id="{0AC39D04-6BAF-4258-BFE0-C1C815DCD676}"/>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9" name="object-19">
            <a:extLst>
              <a:ext uri="{FF2B5EF4-FFF2-40B4-BE49-F238E27FC236}">
                <a16:creationId xmlns:a16="http://schemas.microsoft.com/office/drawing/2014/main" id="{D0B46644-0B6F-440D-804D-C20333CDDC6F}"/>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69: 2 times</a:t>
            </a:r>
          </a:p>
        </p:txBody>
      </p:sp>
      <p:sp>
        <p:nvSpPr>
          <p:cNvPr id="20" name="object-20">
            <a:extLst>
              <a:ext uri="{FF2B5EF4-FFF2-40B4-BE49-F238E27FC236}">
                <a16:creationId xmlns:a16="http://schemas.microsoft.com/office/drawing/2014/main" id="{361821C8-2976-49E7-9A1D-C795BB00BD60}"/>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69 − 64 = 5</a:t>
            </a:r>
          </a:p>
        </p:txBody>
      </p:sp>
      <p:sp>
        <p:nvSpPr>
          <p:cNvPr id="21" name="object-21">
            <a:extLst>
              <a:ext uri="{FF2B5EF4-FFF2-40B4-BE49-F238E27FC236}">
                <a16:creationId xmlns:a16="http://schemas.microsoft.com/office/drawing/2014/main" id="{1B959C17-598A-44FA-B657-309D1D74DF76}"/>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7</a:t>
            </a:r>
          </a:p>
        </p:txBody>
      </p:sp>
      <p:sp>
        <p:nvSpPr>
          <p:cNvPr id="22" name="object-22">
            <a:extLst>
              <a:ext uri="{FF2B5EF4-FFF2-40B4-BE49-F238E27FC236}">
                <a16:creationId xmlns:a16="http://schemas.microsoft.com/office/drawing/2014/main" id="{C209DFD3-500D-435F-91AD-0073B23E79D5}"/>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3" name="object-23">
            <a:extLst>
              <a:ext uri="{FF2B5EF4-FFF2-40B4-BE49-F238E27FC236}">
                <a16:creationId xmlns:a16="http://schemas.microsoft.com/office/drawing/2014/main" id="{D02100CA-9394-4601-90DC-62625BB478F3}"/>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57: 1 times</a:t>
            </a:r>
          </a:p>
        </p:txBody>
      </p:sp>
      <p:sp>
        <p:nvSpPr>
          <p:cNvPr id="24" name="object-24">
            <a:extLst>
              <a:ext uri="{FF2B5EF4-FFF2-40B4-BE49-F238E27FC236}">
                <a16:creationId xmlns:a16="http://schemas.microsoft.com/office/drawing/2014/main" id="{758D1D15-866F-424A-ABF5-B9E03DBEF908}"/>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57 − 32 = 25</a:t>
            </a:r>
          </a:p>
        </p:txBody>
      </p:sp>
      <p:sp>
        <p:nvSpPr>
          <p:cNvPr id="25" name="object-25">
            <a:extLst>
              <a:ext uri="{FF2B5EF4-FFF2-40B4-BE49-F238E27FC236}">
                <a16:creationId xmlns:a16="http://schemas.microsoft.com/office/drawing/2014/main" id="{0A8C0EB9-98BF-4873-B5C9-17EA9F39E4E6}"/>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221 remainder 25; 222 groups are needed to fit everyone.</a:t>
            </a:r>
          </a:p>
        </p:txBody>
      </p:sp>
    </p:spTree>
    <p:extLst>
      <p:ext uri="{BB962C8B-B14F-4D97-AF65-F5344CB8AC3E}">
        <p14:creationId xmlns:p14="http://schemas.microsoft.com/office/powerpoint/2010/main" val="2139377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FE8C5461-CC50-4A53-94CA-FBCA773C6A4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34A9E5B-D24F-41E0-AE01-735A0BB40CC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7,449 ÷ 32.</a:t>
            </a:r>
          </a:p>
        </p:txBody>
      </p:sp>
      <p:sp>
        <p:nvSpPr>
          <p:cNvPr id="3" name="object-3">
            <a:extLst>
              <a:ext uri="{FF2B5EF4-FFF2-40B4-BE49-F238E27FC236}">
                <a16:creationId xmlns:a16="http://schemas.microsoft.com/office/drawing/2014/main" id="{B390009A-A532-4D06-85C7-D4D0B4D510F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414D7383-B9D4-4183-8D67-418D55E0215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5" name="object-5">
            <a:extLst>
              <a:ext uri="{FF2B5EF4-FFF2-40B4-BE49-F238E27FC236}">
                <a16:creationId xmlns:a16="http://schemas.microsoft.com/office/drawing/2014/main" id="{5C55F866-9E5E-4535-9D1E-8CC3E525612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F5209A34-D803-47F5-8AD3-2631A1424293}"/>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32</a:t>
            </a:r>
          </a:p>
        </p:txBody>
      </p:sp>
      <p:sp>
        <p:nvSpPr>
          <p:cNvPr id="7" name="object-7">
            <a:extLst>
              <a:ext uri="{FF2B5EF4-FFF2-40B4-BE49-F238E27FC236}">
                <a16:creationId xmlns:a16="http://schemas.microsoft.com/office/drawing/2014/main" id="{B59BD673-35A4-43D6-BEB3-5CF24A08068B}"/>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CBECD1E0-3105-44C4-AC09-67F30351A78B}"/>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EA064A1E-E048-4D1B-89AF-F4D86898BCEE}"/>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0" name="object-10">
            <a:extLst>
              <a:ext uri="{FF2B5EF4-FFF2-40B4-BE49-F238E27FC236}">
                <a16:creationId xmlns:a16="http://schemas.microsoft.com/office/drawing/2014/main" id="{81CBDE76-6B92-41E7-B701-A43C55DE97C2}"/>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1" name="object-11">
            <a:extLst>
              <a:ext uri="{FF2B5EF4-FFF2-40B4-BE49-F238E27FC236}">
                <a16:creationId xmlns:a16="http://schemas.microsoft.com/office/drawing/2014/main" id="{37586C88-B2EA-4ADE-A362-3D79A49EA6D3}"/>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2" name="object-12">
            <a:extLst>
              <a:ext uri="{FF2B5EF4-FFF2-40B4-BE49-F238E27FC236}">
                <a16:creationId xmlns:a16="http://schemas.microsoft.com/office/drawing/2014/main" id="{832AC044-2570-45A7-81D6-DFA43B0634D3}"/>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9</a:t>
            </a:r>
          </a:p>
        </p:txBody>
      </p:sp>
      <p:sp>
        <p:nvSpPr>
          <p:cNvPr id="13" name="object-13">
            <a:extLst>
              <a:ext uri="{FF2B5EF4-FFF2-40B4-BE49-F238E27FC236}">
                <a16:creationId xmlns:a16="http://schemas.microsoft.com/office/drawing/2014/main" id="{D5D9C20A-1F62-4151-B9CE-ADE8311104A8}"/>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4" name="object-14">
            <a:extLst>
              <a:ext uri="{FF2B5EF4-FFF2-40B4-BE49-F238E27FC236}">
                <a16:creationId xmlns:a16="http://schemas.microsoft.com/office/drawing/2014/main" id="{5DAB89F2-3915-4490-B949-4061A98C7E56}"/>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74: 2 times</a:t>
            </a:r>
          </a:p>
        </p:txBody>
      </p:sp>
      <p:sp>
        <p:nvSpPr>
          <p:cNvPr id="15" name="object-15">
            <a:extLst>
              <a:ext uri="{FF2B5EF4-FFF2-40B4-BE49-F238E27FC236}">
                <a16:creationId xmlns:a16="http://schemas.microsoft.com/office/drawing/2014/main" id="{E83FC39D-CE50-42C2-A91A-A495B4E9B8B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74 − 64 = 10</a:t>
            </a:r>
          </a:p>
        </p:txBody>
      </p:sp>
      <p:sp>
        <p:nvSpPr>
          <p:cNvPr id="16" name="object-16">
            <a:extLst>
              <a:ext uri="{FF2B5EF4-FFF2-40B4-BE49-F238E27FC236}">
                <a16:creationId xmlns:a16="http://schemas.microsoft.com/office/drawing/2014/main" id="{C5A3C4F6-EF33-415A-B5A3-C219AF164C8B}"/>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7E4D7ECB-4A83-4C94-8AEF-76765A270AB5}"/>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8" name="object-18">
            <a:extLst>
              <a:ext uri="{FF2B5EF4-FFF2-40B4-BE49-F238E27FC236}">
                <a16:creationId xmlns:a16="http://schemas.microsoft.com/office/drawing/2014/main" id="{52A3A17A-39E7-4245-B789-DB2F8C638BA0}"/>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104: 3 times</a:t>
            </a:r>
          </a:p>
        </p:txBody>
      </p:sp>
      <p:sp>
        <p:nvSpPr>
          <p:cNvPr id="19" name="object-19">
            <a:extLst>
              <a:ext uri="{FF2B5EF4-FFF2-40B4-BE49-F238E27FC236}">
                <a16:creationId xmlns:a16="http://schemas.microsoft.com/office/drawing/2014/main" id="{806E20D1-200F-4CB1-9561-D53D948CA50A}"/>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104 − 96 = 8</a:t>
            </a:r>
          </a:p>
        </p:txBody>
      </p:sp>
      <p:sp>
        <p:nvSpPr>
          <p:cNvPr id="20" name="object-20">
            <a:extLst>
              <a:ext uri="{FF2B5EF4-FFF2-40B4-BE49-F238E27FC236}">
                <a16:creationId xmlns:a16="http://schemas.microsoft.com/office/drawing/2014/main" id="{20C82B3D-C107-4B0C-A0B2-96809AE028B4}"/>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9</a:t>
            </a:r>
          </a:p>
        </p:txBody>
      </p:sp>
      <p:sp>
        <p:nvSpPr>
          <p:cNvPr id="21" name="object-21">
            <a:extLst>
              <a:ext uri="{FF2B5EF4-FFF2-40B4-BE49-F238E27FC236}">
                <a16:creationId xmlns:a16="http://schemas.microsoft.com/office/drawing/2014/main" id="{38D6B334-3331-4C70-A009-914530864989}"/>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22" name="object-22">
            <a:extLst>
              <a:ext uri="{FF2B5EF4-FFF2-40B4-BE49-F238E27FC236}">
                <a16:creationId xmlns:a16="http://schemas.microsoft.com/office/drawing/2014/main" id="{9435D374-C0E1-4F64-BFB0-25BF884EF107}"/>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89: 2 times</a:t>
            </a:r>
          </a:p>
        </p:txBody>
      </p:sp>
      <p:sp>
        <p:nvSpPr>
          <p:cNvPr id="23" name="object-23">
            <a:extLst>
              <a:ext uri="{FF2B5EF4-FFF2-40B4-BE49-F238E27FC236}">
                <a16:creationId xmlns:a16="http://schemas.microsoft.com/office/drawing/2014/main" id="{CFB444BB-D705-481E-B8E8-B15F2F7B3EC1}"/>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89 − 64 = 25</a:t>
            </a:r>
          </a:p>
        </p:txBody>
      </p:sp>
      <p:sp>
        <p:nvSpPr>
          <p:cNvPr id="24" name="object-24">
            <a:extLst>
              <a:ext uri="{FF2B5EF4-FFF2-40B4-BE49-F238E27FC236}">
                <a16:creationId xmlns:a16="http://schemas.microsoft.com/office/drawing/2014/main" id="{17D5EF97-E4C5-4ED0-BF6B-66BC23D2461F}"/>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232 remainder 25; 233 groups are needed to fit everyone.</a:t>
            </a:r>
          </a:p>
        </p:txBody>
      </p:sp>
    </p:spTree>
    <p:extLst>
      <p:ext uri="{BB962C8B-B14F-4D97-AF65-F5344CB8AC3E}">
        <p14:creationId xmlns:p14="http://schemas.microsoft.com/office/powerpoint/2010/main" val="1791500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40A9470A-B113-4EF9-8D20-84A9CA2E536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37B15F10-B9D0-4105-9BED-7A839A6E4D2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FE3DF3AD-76F2-49C4-A5BE-C9F1335C069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7,801 ÷ 32.</a:t>
            </a:r>
          </a:p>
        </p:txBody>
      </p:sp>
      <p:sp>
        <p:nvSpPr>
          <p:cNvPr id="4" name="object-4">
            <a:extLst>
              <a:ext uri="{FF2B5EF4-FFF2-40B4-BE49-F238E27FC236}">
                <a16:creationId xmlns:a16="http://schemas.microsoft.com/office/drawing/2014/main" id="{D3A52304-17AE-41E4-B985-39AFF2D2884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C9E5220-135E-468E-A106-63150FC05FC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6" name="object-6">
            <a:extLst>
              <a:ext uri="{FF2B5EF4-FFF2-40B4-BE49-F238E27FC236}">
                <a16:creationId xmlns:a16="http://schemas.microsoft.com/office/drawing/2014/main" id="{AAE8C9B7-DDA3-49BB-BA10-6FB28907D2E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D6A99551-2BA9-45CA-B660-5DB6E6A8724B}"/>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32</a:t>
            </a:r>
          </a:p>
        </p:txBody>
      </p:sp>
      <p:sp>
        <p:nvSpPr>
          <p:cNvPr id="8" name="object-8">
            <a:extLst>
              <a:ext uri="{FF2B5EF4-FFF2-40B4-BE49-F238E27FC236}">
                <a16:creationId xmlns:a16="http://schemas.microsoft.com/office/drawing/2014/main" id="{941FC103-4674-4105-9782-16CD3593126A}"/>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628EB7B2-1098-4210-B7EA-5C312344BF6B}"/>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43149170-EA8F-42D9-BD01-8093A7DBA665}"/>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3F9101A2-138F-42D5-A42D-7E1F5083A4B3}"/>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2" name="object-12">
            <a:extLst>
              <a:ext uri="{FF2B5EF4-FFF2-40B4-BE49-F238E27FC236}">
                <a16:creationId xmlns:a16="http://schemas.microsoft.com/office/drawing/2014/main" id="{160B5778-C43D-48CF-AC18-9CE80A3A6ACA}"/>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3" name="object-13">
            <a:extLst>
              <a:ext uri="{FF2B5EF4-FFF2-40B4-BE49-F238E27FC236}">
                <a16:creationId xmlns:a16="http://schemas.microsoft.com/office/drawing/2014/main" id="{63C8181B-A283-4348-9E87-B3350882E9A6}"/>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1</a:t>
            </a:r>
          </a:p>
        </p:txBody>
      </p:sp>
      <p:sp>
        <p:nvSpPr>
          <p:cNvPr id="14" name="object-14">
            <a:extLst>
              <a:ext uri="{FF2B5EF4-FFF2-40B4-BE49-F238E27FC236}">
                <a16:creationId xmlns:a16="http://schemas.microsoft.com/office/drawing/2014/main" id="{51F4E5D8-8BBE-48EC-AFC2-92E2D7944A77}"/>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5" name="object-15">
            <a:extLst>
              <a:ext uri="{FF2B5EF4-FFF2-40B4-BE49-F238E27FC236}">
                <a16:creationId xmlns:a16="http://schemas.microsoft.com/office/drawing/2014/main" id="{2B7A7BC1-4DD6-4950-8479-9BC910DE8AFF}"/>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78: 2 times</a:t>
            </a:r>
          </a:p>
        </p:txBody>
      </p:sp>
      <p:sp>
        <p:nvSpPr>
          <p:cNvPr id="16" name="object-16">
            <a:extLst>
              <a:ext uri="{FF2B5EF4-FFF2-40B4-BE49-F238E27FC236}">
                <a16:creationId xmlns:a16="http://schemas.microsoft.com/office/drawing/2014/main" id="{C9CD0E2E-A3B4-4245-B663-54707CE5114C}"/>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78 − 64 = 14</a:t>
            </a:r>
          </a:p>
        </p:txBody>
      </p:sp>
      <p:sp>
        <p:nvSpPr>
          <p:cNvPr id="17" name="object-17">
            <a:extLst>
              <a:ext uri="{FF2B5EF4-FFF2-40B4-BE49-F238E27FC236}">
                <a16:creationId xmlns:a16="http://schemas.microsoft.com/office/drawing/2014/main" id="{E0A95A57-11E9-4681-A919-4685251E888D}"/>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0</a:t>
            </a:r>
          </a:p>
        </p:txBody>
      </p:sp>
      <p:sp>
        <p:nvSpPr>
          <p:cNvPr id="18" name="object-18">
            <a:extLst>
              <a:ext uri="{FF2B5EF4-FFF2-40B4-BE49-F238E27FC236}">
                <a16:creationId xmlns:a16="http://schemas.microsoft.com/office/drawing/2014/main" id="{6EE196EB-9C41-48A8-A05D-6063B0193F10}"/>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19" name="object-19">
            <a:extLst>
              <a:ext uri="{FF2B5EF4-FFF2-40B4-BE49-F238E27FC236}">
                <a16:creationId xmlns:a16="http://schemas.microsoft.com/office/drawing/2014/main" id="{DCC108EE-88A6-4A94-91AE-F4DE0B0F1649}"/>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140: 4 times</a:t>
            </a:r>
          </a:p>
        </p:txBody>
      </p:sp>
      <p:sp>
        <p:nvSpPr>
          <p:cNvPr id="20" name="object-20">
            <a:extLst>
              <a:ext uri="{FF2B5EF4-FFF2-40B4-BE49-F238E27FC236}">
                <a16:creationId xmlns:a16="http://schemas.microsoft.com/office/drawing/2014/main" id="{BBAE6C7D-21DA-4A94-BEC2-B6D5AC2F8606}"/>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140 − 128 = 12</a:t>
            </a:r>
          </a:p>
        </p:txBody>
      </p:sp>
      <p:sp>
        <p:nvSpPr>
          <p:cNvPr id="21" name="object-21">
            <a:extLst>
              <a:ext uri="{FF2B5EF4-FFF2-40B4-BE49-F238E27FC236}">
                <a16:creationId xmlns:a16="http://schemas.microsoft.com/office/drawing/2014/main" id="{299513FF-7461-4170-819D-64E752889405}"/>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1</a:t>
            </a:r>
          </a:p>
        </p:txBody>
      </p:sp>
      <p:sp>
        <p:nvSpPr>
          <p:cNvPr id="22" name="object-22">
            <a:extLst>
              <a:ext uri="{FF2B5EF4-FFF2-40B4-BE49-F238E27FC236}">
                <a16:creationId xmlns:a16="http://schemas.microsoft.com/office/drawing/2014/main" id="{1F353E63-00F4-406C-A802-3855C96BB5E5}"/>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23" name="object-23">
            <a:extLst>
              <a:ext uri="{FF2B5EF4-FFF2-40B4-BE49-F238E27FC236}">
                <a16:creationId xmlns:a16="http://schemas.microsoft.com/office/drawing/2014/main" id="{A174F99E-1398-4AAA-BE56-B3C7B2C96DB4}"/>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32 fits into 121: 3 times</a:t>
            </a:r>
          </a:p>
        </p:txBody>
      </p:sp>
      <p:sp>
        <p:nvSpPr>
          <p:cNvPr id="24" name="object-24">
            <a:extLst>
              <a:ext uri="{FF2B5EF4-FFF2-40B4-BE49-F238E27FC236}">
                <a16:creationId xmlns:a16="http://schemas.microsoft.com/office/drawing/2014/main" id="{A042C20B-DD66-4601-843D-A5AE6CD7D278}"/>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121 − 96 = 25</a:t>
            </a:r>
          </a:p>
        </p:txBody>
      </p:sp>
      <p:sp>
        <p:nvSpPr>
          <p:cNvPr id="25" name="object-25">
            <a:extLst>
              <a:ext uri="{FF2B5EF4-FFF2-40B4-BE49-F238E27FC236}">
                <a16:creationId xmlns:a16="http://schemas.microsoft.com/office/drawing/2014/main" id="{4A08F861-3F63-414B-B881-BBD59FBCA3E0}"/>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243 remainder 25; 244 groups are needed to fit everyone.</a:t>
            </a:r>
          </a:p>
        </p:txBody>
      </p:sp>
    </p:spTree>
    <p:extLst>
      <p:ext uri="{BB962C8B-B14F-4D97-AF65-F5344CB8AC3E}">
        <p14:creationId xmlns:p14="http://schemas.microsoft.com/office/powerpoint/2010/main" val="1672927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6F41C5C9-FF6E-4374-8765-3E21199A386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7CAE6D01-6A42-425A-864E-158563469DD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B17B3AC-5B0F-48E4-9338-015A4755768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F298D2C4-32F0-473E-A100-1CAFCD657C8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979682D-E902-4F69-BB61-24B3BDC55BF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6" name="object-6">
            <a:extLst>
              <a:ext uri="{FF2B5EF4-FFF2-40B4-BE49-F238E27FC236}">
                <a16:creationId xmlns:a16="http://schemas.microsoft.com/office/drawing/2014/main" id="{6F840C1B-35CF-48D2-A189-806C51E45AA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65AA341E-F641-4B46-87F1-92DB9C1F6C27}"/>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4CAEF9DB-F177-4CC7-BFB2-0889EF51F1FA}"/>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6,745 / 32 and interpret the answer for 32-seat coaches.</a:t>
            </a:r>
          </a:p>
        </p:txBody>
      </p:sp>
      <p:sp>
        <p:nvSpPr>
          <p:cNvPr id="9" name="object-9">
            <a:extLst>
              <a:ext uri="{FF2B5EF4-FFF2-40B4-BE49-F238E27FC236}">
                <a16:creationId xmlns:a16="http://schemas.microsoft.com/office/drawing/2014/main" id="{393E07A6-9219-4678-AAD2-66C6E97E91D6}"/>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607979DB-B8AF-44CF-8452-2C0D338F88FC}"/>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5,126 / 24 and write the remainder as a fraction.</a:t>
            </a:r>
          </a:p>
        </p:txBody>
      </p:sp>
      <p:sp>
        <p:nvSpPr>
          <p:cNvPr id="11" name="object-11">
            <a:extLst>
              <a:ext uri="{FF2B5EF4-FFF2-40B4-BE49-F238E27FC236}">
                <a16:creationId xmlns:a16="http://schemas.microsoft.com/office/drawing/2014/main" id="{769DEDB4-4B92-401C-AC25-3FBF52CA2E9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247487A1-C94E-4CA4-8568-6CE7AE4F878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Share 3,850 stickers equally among 16 classes. How many each and how many left?</a:t>
            </a:r>
          </a:p>
        </p:txBody>
      </p:sp>
      <p:sp>
        <p:nvSpPr>
          <p:cNvPr id="13" name="object-13">
            <a:extLst>
              <a:ext uri="{FF2B5EF4-FFF2-40B4-BE49-F238E27FC236}">
                <a16:creationId xmlns:a16="http://schemas.microsoft.com/office/drawing/2014/main" id="{595B8E1B-08B0-46C0-B40B-A4A0D10C44B9}"/>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2AE8FAF4-C7B4-40BE-A8C4-51C0DDE419CF}"/>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Calculate 6,745 / 32 and interpret the answer for 32-seat coaches.</a:t>
            </a:r>
          </a:p>
        </p:txBody>
      </p:sp>
      <p:sp>
        <p:nvSpPr>
          <p:cNvPr id="15" name="object-15">
            <a:extLst>
              <a:ext uri="{FF2B5EF4-FFF2-40B4-BE49-F238E27FC236}">
                <a16:creationId xmlns:a16="http://schemas.microsoft.com/office/drawing/2014/main" id="{AF45F446-E1C0-4B9D-9BFD-8D32EF006B7C}"/>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212B5A76-3EA7-4E91-8500-AA6E6FC51B8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5,126 / 24 and write the remainder as a fraction.</a:t>
            </a:r>
          </a:p>
        </p:txBody>
      </p:sp>
      <p:sp>
        <p:nvSpPr>
          <p:cNvPr id="17" name="object-17">
            <a:extLst>
              <a:ext uri="{FF2B5EF4-FFF2-40B4-BE49-F238E27FC236}">
                <a16:creationId xmlns:a16="http://schemas.microsoft.com/office/drawing/2014/main" id="{84A3BBD8-3BB7-4C20-9EEB-B9F24CFEBEC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3480C993-1DE0-4D30-AD35-C65411D62A81}"/>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Share 3,850 stickers equally among 16 classes. How many each and how many left?</a:t>
            </a:r>
          </a:p>
        </p:txBody>
      </p:sp>
      <p:sp>
        <p:nvSpPr>
          <p:cNvPr id="19" name="object-19">
            <a:extLst>
              <a:ext uri="{FF2B5EF4-FFF2-40B4-BE49-F238E27FC236}">
                <a16:creationId xmlns:a16="http://schemas.microsoft.com/office/drawing/2014/main" id="{8ACEEA4F-232A-4416-8D76-A3436BC2961C}"/>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55ADF2B7-0E4C-4A2B-A87B-BFFE0C448E4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2,500 ml drink fills 180 ml cups. How many full cups?</a:t>
            </a:r>
          </a:p>
        </p:txBody>
      </p:sp>
      <p:sp>
        <p:nvSpPr>
          <p:cNvPr id="21" name="object-21">
            <a:extLst>
              <a:ext uri="{FF2B5EF4-FFF2-40B4-BE49-F238E27FC236}">
                <a16:creationId xmlns:a16="http://schemas.microsoft.com/office/drawing/2014/main" id="{E17CCD1F-3368-4695-B2E4-FB774686170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FA15F9D3-2452-4752-9427-B328FABD6E71}"/>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always rounds a quotient with a remainder up.</a:t>
            </a:r>
          </a:p>
        </p:txBody>
      </p:sp>
      <p:sp>
        <p:nvSpPr>
          <p:cNvPr id="23" name="object-23">
            <a:extLst>
              <a:ext uri="{FF2B5EF4-FFF2-40B4-BE49-F238E27FC236}">
                <a16:creationId xmlns:a16="http://schemas.microsoft.com/office/drawing/2014/main" id="{0A75C7C7-60C1-4698-A12D-8F6FF4F5CE4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848AE1A8-E74D-49B8-AE7D-7AA91C2CCC5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BFF6AAF7-BB04-4B35-A9CC-77F72E154B24}"/>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F8C59CE5-FCDF-4EDB-BEC0-7DF66EF791D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Share 3,850 stickers equally among 16 classes. How many each and how many left?</a:t>
            </a:r>
          </a:p>
        </p:txBody>
      </p:sp>
    </p:spTree>
    <p:extLst>
      <p:ext uri="{BB962C8B-B14F-4D97-AF65-F5344CB8AC3E}">
        <p14:creationId xmlns:p14="http://schemas.microsoft.com/office/powerpoint/2010/main" val="9563239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92CFD06-2CE9-4D6C-B9B8-B7E94861AB7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C606CFA8-E415-4A5B-B231-C1D54B33B0D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FCC8B075-FE1D-47B0-99E6-BD0AACD0190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A2C716E-881A-4604-8AFB-BA43902722A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Interpret division remainders</a:t>
            </a:r>
          </a:p>
        </p:txBody>
      </p:sp>
      <p:sp>
        <p:nvSpPr>
          <p:cNvPr id="5" name="object-5">
            <a:extLst>
              <a:ext uri="{FF2B5EF4-FFF2-40B4-BE49-F238E27FC236}">
                <a16:creationId xmlns:a16="http://schemas.microsoft.com/office/drawing/2014/main" id="{49DA12B8-FEE1-46AA-979B-5D3F6C1298D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37D14C09-6B92-4A29-B2F6-6158C190CC17}"/>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55E6F599-80B5-43E6-AD6C-3FD94B93418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210 remainder 25, so 211 coaches are needed.</a:t>
            </a:r>
          </a:p>
        </p:txBody>
      </p:sp>
      <p:sp>
        <p:nvSpPr>
          <p:cNvPr id="8" name="object-8">
            <a:extLst>
              <a:ext uri="{FF2B5EF4-FFF2-40B4-BE49-F238E27FC236}">
                <a16:creationId xmlns:a16="http://schemas.microsoft.com/office/drawing/2014/main" id="{CF99A597-2E00-4ED5-AAF6-4A89023CD5D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02E23E98-F2F1-490D-A49A-DD1CDBF2E4A3}"/>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213 remainder 14, or 213 7/12.</a:t>
            </a:r>
          </a:p>
        </p:txBody>
      </p:sp>
      <p:sp>
        <p:nvSpPr>
          <p:cNvPr id="10" name="object-10">
            <a:extLst>
              <a:ext uri="{FF2B5EF4-FFF2-40B4-BE49-F238E27FC236}">
                <a16:creationId xmlns:a16="http://schemas.microsoft.com/office/drawing/2014/main" id="{338FB95B-2702-4890-8E68-06CA9579243E}"/>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ED50D72B-FCB0-4F25-B70B-DFC1096DF9EB}"/>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240 each with 10 left.</a:t>
            </a:r>
          </a:p>
        </p:txBody>
      </p:sp>
      <p:sp>
        <p:nvSpPr>
          <p:cNvPr id="12" name="object-12">
            <a:extLst>
              <a:ext uri="{FF2B5EF4-FFF2-40B4-BE49-F238E27FC236}">
                <a16:creationId xmlns:a16="http://schemas.microsoft.com/office/drawing/2014/main" id="{8F4E089B-C5BD-4CE5-9D69-7AE630517B5A}"/>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178AC0BC-2172-460F-95C4-D49EE12C172A}"/>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210 remainder 25, so 211 coaches are needed.</a:t>
            </a:r>
          </a:p>
        </p:txBody>
      </p:sp>
      <p:sp>
        <p:nvSpPr>
          <p:cNvPr id="14" name="object-14">
            <a:extLst>
              <a:ext uri="{FF2B5EF4-FFF2-40B4-BE49-F238E27FC236}">
                <a16:creationId xmlns:a16="http://schemas.microsoft.com/office/drawing/2014/main" id="{A8D3B771-2C82-4979-A041-417C77B7EBFA}"/>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2AF95B2C-4FFD-4906-A4BA-A5DBEF7A5F1E}"/>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213 remainder 14, or 213 7/12. Method or representation may vary.</a:t>
            </a:r>
          </a:p>
        </p:txBody>
      </p:sp>
      <p:sp>
        <p:nvSpPr>
          <p:cNvPr id="16" name="object-16">
            <a:extLst>
              <a:ext uri="{FF2B5EF4-FFF2-40B4-BE49-F238E27FC236}">
                <a16:creationId xmlns:a16="http://schemas.microsoft.com/office/drawing/2014/main" id="{8C4E4004-CA09-4A67-B032-C179288D797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C0A3684B-C33F-491E-8765-8560DC1E7BA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240 each with 10 left. A valid check must be shown.</a:t>
            </a:r>
          </a:p>
        </p:txBody>
      </p:sp>
      <p:sp>
        <p:nvSpPr>
          <p:cNvPr id="18" name="object-18">
            <a:extLst>
              <a:ext uri="{FF2B5EF4-FFF2-40B4-BE49-F238E27FC236}">
                <a16:creationId xmlns:a16="http://schemas.microsoft.com/office/drawing/2014/main" id="{16B19121-2ECE-4E18-9F80-4AD8DD85992A}"/>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A085F50E-2C68-4309-A7A6-947BD495128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13 full cups with 160 ml left.</a:t>
            </a:r>
          </a:p>
        </p:txBody>
      </p:sp>
      <p:sp>
        <p:nvSpPr>
          <p:cNvPr id="20" name="object-20">
            <a:extLst>
              <a:ext uri="{FF2B5EF4-FFF2-40B4-BE49-F238E27FC236}">
                <a16:creationId xmlns:a16="http://schemas.microsoft.com/office/drawing/2014/main" id="{8F4B2E9C-C01C-4C21-A3FF-38C7A5DD4269}"/>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01008270-A239-4211-B0E7-75AEA13FBBD1}"/>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The context decides whether to round up, round down, keep the remainder or express it as a fraction.</a:t>
            </a:r>
          </a:p>
        </p:txBody>
      </p:sp>
      <p:sp>
        <p:nvSpPr>
          <p:cNvPr id="22" name="object-22">
            <a:extLst>
              <a:ext uri="{FF2B5EF4-FFF2-40B4-BE49-F238E27FC236}">
                <a16:creationId xmlns:a16="http://schemas.microsoft.com/office/drawing/2014/main" id="{59CBED86-4D6D-4EDB-A8CE-C1FD84B7DD0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4B8CA91C-0763-4A52-B7CE-53832ED9F99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BB45CF75-BBCE-4F0A-999F-D1FEF1403D57}"/>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59AD72C4-45A3-4770-864A-170B7E0FE0B2}"/>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02167302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1202</Words>
  <Application>Microsoft Office PowerPoint</Application>
  <DocSecurity>0</DocSecurity>
  <PresentationFormat>Custom</PresentationFormat>
  <Paragraphs>154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2026-09-14T13:14:16Z</dcterms:created>
  <dcterms:modified xsi:type="dcterms:W3CDTF">2026-09-14T13:18:23Z</dcterms:modified>
</cp:coreProperties>
</file>