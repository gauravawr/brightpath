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long division with exact answers. Use long division with exact answers.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long division with exact answers. I do.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long division with exact answers. You do. Pause before clicking. Let pupils try independently, then reveal and discuss every step.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long division with exact answers. I do.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long division with exact answers. You do. Pause before clicking. Let pupils try independently, then reveal and discuss every step.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long division with exact answers.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long division with exact answers.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29B7BF8B-FF0F-40E3-9325-4DD063A3EB4E}"/>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Use long division with exact answers</a:t>
            </a:r>
          </a:p>
        </p:txBody>
      </p:sp>
      <p:sp>
        <p:nvSpPr>
          <p:cNvPr id="2" name="object-2">
            <a:extLst>
              <a:ext uri="{FF2B5EF4-FFF2-40B4-BE49-F238E27FC236}">
                <a16:creationId xmlns:a16="http://schemas.microsoft.com/office/drawing/2014/main" id="{23A43CEF-0BA1-4C1C-89D3-0EE48358D0CD}"/>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E029A956-A82C-4265-993B-4EF49A136C5C}"/>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4A974ACA-0501-4517-8F46-3927256D9A5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long division with exact answers</a:t>
            </a:r>
          </a:p>
        </p:txBody>
      </p:sp>
      <p:sp>
        <p:nvSpPr>
          <p:cNvPr id="5" name="object-5">
            <a:extLst>
              <a:ext uri="{FF2B5EF4-FFF2-40B4-BE49-F238E27FC236}">
                <a16:creationId xmlns:a16="http://schemas.microsoft.com/office/drawing/2014/main" id="{CDAC3510-5374-45D8-A254-BA9B9CB1D31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DBD6DDC8-B8F1-4953-A9DE-7928F7E3786A}"/>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divide up to four digits by a two-digit number using long division.</a:t>
            </a:r>
          </a:p>
        </p:txBody>
      </p:sp>
    </p:spTree>
    <p:extLst>
      <p:ext uri="{BB962C8B-B14F-4D97-AF65-F5344CB8AC3E}">
        <p14:creationId xmlns:p14="http://schemas.microsoft.com/office/powerpoint/2010/main" val="20720366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object-1">
            <a:extLst>
              <a:ext uri="{FF2B5EF4-FFF2-40B4-BE49-F238E27FC236}">
                <a16:creationId xmlns:a16="http://schemas.microsoft.com/office/drawing/2014/main" id="{00E8039A-B95A-4A76-BF40-0E376209CCF5}"/>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B9A229F9-2DA3-440C-AF7B-F7310E83395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8,736 ÷ 24.</a:t>
            </a:r>
          </a:p>
        </p:txBody>
      </p:sp>
      <p:sp>
        <p:nvSpPr>
          <p:cNvPr id="3" name="object-3">
            <a:extLst>
              <a:ext uri="{FF2B5EF4-FFF2-40B4-BE49-F238E27FC236}">
                <a16:creationId xmlns:a16="http://schemas.microsoft.com/office/drawing/2014/main" id="{E70F009E-C690-4774-9E54-74F965F9C2F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EEAD43DB-74F1-4250-9F06-289EE979D2F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long division with exact answers</a:t>
            </a:r>
          </a:p>
        </p:txBody>
      </p:sp>
      <p:sp>
        <p:nvSpPr>
          <p:cNvPr id="5" name="object-5">
            <a:extLst>
              <a:ext uri="{FF2B5EF4-FFF2-40B4-BE49-F238E27FC236}">
                <a16:creationId xmlns:a16="http://schemas.microsoft.com/office/drawing/2014/main" id="{26FF05A8-B3D9-4FB1-A78C-5EB40D0468A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A47767F9-70C9-476C-84EE-BF8294EF6FE9}"/>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24</a:t>
            </a:r>
          </a:p>
        </p:txBody>
      </p:sp>
      <p:sp>
        <p:nvSpPr>
          <p:cNvPr id="7" name="object-7">
            <a:extLst>
              <a:ext uri="{FF2B5EF4-FFF2-40B4-BE49-F238E27FC236}">
                <a16:creationId xmlns:a16="http://schemas.microsoft.com/office/drawing/2014/main" id="{BED33A0A-ED2E-4F44-BF53-3CA716FD8FB5}"/>
              </a:ext>
            </a:extLst>
          </p:cNvPr>
          <p:cNvSpPr>
            <a:spLocks noGrp="1"/>
          </p:cNvSpPr>
          <p:nvPr/>
        </p:nvSpPr>
        <p:spPr>
          <a:xfrm>
            <a:off x="3393281" y="3833813"/>
            <a:ext cx="0" cy="1226344"/>
          </a:xfrm>
          <a:prstGeom prst="line">
            <a:avLst/>
          </a:prstGeom>
          <a:noFill/>
          <a:ln w="35719">
            <a:solidFill>
              <a:srgbClr val="172B4D"/>
            </a:solidFill>
          </a:ln>
        </p:spPr>
      </p:sp>
      <p:sp>
        <p:nvSpPr>
          <p:cNvPr id="8" name="object-8">
            <a:extLst>
              <a:ext uri="{FF2B5EF4-FFF2-40B4-BE49-F238E27FC236}">
                <a16:creationId xmlns:a16="http://schemas.microsoft.com/office/drawing/2014/main" id="{166EDA27-03F3-439E-965B-5DB40E277A9D}"/>
              </a:ext>
            </a:extLst>
          </p:cNvPr>
          <p:cNvSpPr>
            <a:spLocks noGrp="1"/>
          </p:cNvSpPr>
          <p:nvPr/>
        </p:nvSpPr>
        <p:spPr>
          <a:xfrm>
            <a:off x="3393281" y="3833813"/>
            <a:ext cx="9644063" cy="35719"/>
          </a:xfrm>
          <a:prstGeom prst="rect">
            <a:avLst/>
          </a:prstGeom>
          <a:solidFill>
            <a:srgbClr val="172B4D"/>
          </a:solidFill>
          <a:ln w="0">
            <a:noFill/>
          </a:ln>
        </p:spPr>
      </p:sp>
      <p:sp>
        <p:nvSpPr>
          <p:cNvPr id="9" name="object-9">
            <a:extLst>
              <a:ext uri="{FF2B5EF4-FFF2-40B4-BE49-F238E27FC236}">
                <a16:creationId xmlns:a16="http://schemas.microsoft.com/office/drawing/2014/main" id="{7B4BBF73-D777-4228-97A6-EB13472AB967}"/>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8</a:t>
            </a:r>
          </a:p>
        </p:txBody>
      </p:sp>
      <p:sp>
        <p:nvSpPr>
          <p:cNvPr id="10" name="object-10">
            <a:extLst>
              <a:ext uri="{FF2B5EF4-FFF2-40B4-BE49-F238E27FC236}">
                <a16:creationId xmlns:a16="http://schemas.microsoft.com/office/drawing/2014/main" id="{C3D60546-2F42-47DE-B2E4-F4B2E35D4D7A}"/>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7</a:t>
            </a:r>
          </a:p>
        </p:txBody>
      </p:sp>
      <p:sp>
        <p:nvSpPr>
          <p:cNvPr id="11" name="object-11">
            <a:extLst>
              <a:ext uri="{FF2B5EF4-FFF2-40B4-BE49-F238E27FC236}">
                <a16:creationId xmlns:a16="http://schemas.microsoft.com/office/drawing/2014/main" id="{38F05A02-565E-43B5-A458-772105E3B4A5}"/>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3ADA34E7-1872-49CD-A369-E80C3D1827D7}"/>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6</a:t>
            </a:r>
          </a:p>
        </p:txBody>
      </p:sp>
      <p:sp>
        <p:nvSpPr>
          <p:cNvPr id="13" name="object-13">
            <a:extLst>
              <a:ext uri="{FF2B5EF4-FFF2-40B4-BE49-F238E27FC236}">
                <a16:creationId xmlns:a16="http://schemas.microsoft.com/office/drawing/2014/main" id="{2923A3C9-B017-4431-A3BE-BD741DEC3375}"/>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14" name="object-14">
            <a:extLst>
              <a:ext uri="{FF2B5EF4-FFF2-40B4-BE49-F238E27FC236}">
                <a16:creationId xmlns:a16="http://schemas.microsoft.com/office/drawing/2014/main" id="{F1D37817-8067-4E1B-B000-79BF1E54B734}"/>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87: 3 times</a:t>
            </a:r>
          </a:p>
        </p:txBody>
      </p:sp>
      <p:sp>
        <p:nvSpPr>
          <p:cNvPr id="15" name="object-15">
            <a:extLst>
              <a:ext uri="{FF2B5EF4-FFF2-40B4-BE49-F238E27FC236}">
                <a16:creationId xmlns:a16="http://schemas.microsoft.com/office/drawing/2014/main" id="{7932A8B7-FDA7-4B2D-A782-3C8A9C2CEC5C}"/>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87 − 72 = 15</a:t>
            </a:r>
          </a:p>
        </p:txBody>
      </p:sp>
      <p:sp>
        <p:nvSpPr>
          <p:cNvPr id="16" name="object-16">
            <a:extLst>
              <a:ext uri="{FF2B5EF4-FFF2-40B4-BE49-F238E27FC236}">
                <a16:creationId xmlns:a16="http://schemas.microsoft.com/office/drawing/2014/main" id="{9BCEBB4E-A450-4C67-820E-124882CDAEF5}"/>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3</a:t>
            </a:r>
          </a:p>
        </p:txBody>
      </p:sp>
      <p:sp>
        <p:nvSpPr>
          <p:cNvPr id="17" name="object-17">
            <a:extLst>
              <a:ext uri="{FF2B5EF4-FFF2-40B4-BE49-F238E27FC236}">
                <a16:creationId xmlns:a16="http://schemas.microsoft.com/office/drawing/2014/main" id="{3FEB1D19-551D-4A4F-BB0F-62D7AB110326}"/>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18" name="object-18">
            <a:extLst>
              <a:ext uri="{FF2B5EF4-FFF2-40B4-BE49-F238E27FC236}">
                <a16:creationId xmlns:a16="http://schemas.microsoft.com/office/drawing/2014/main" id="{D50CBEEC-BFD9-4512-A82A-98ECC06E3C94}"/>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153: 6 times</a:t>
            </a:r>
          </a:p>
        </p:txBody>
      </p:sp>
      <p:sp>
        <p:nvSpPr>
          <p:cNvPr id="19" name="object-19">
            <a:extLst>
              <a:ext uri="{FF2B5EF4-FFF2-40B4-BE49-F238E27FC236}">
                <a16:creationId xmlns:a16="http://schemas.microsoft.com/office/drawing/2014/main" id="{A356D7B7-9E71-4AC9-B14E-C3FE469E8FEE}"/>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153 − 144 = 9</a:t>
            </a:r>
          </a:p>
        </p:txBody>
      </p:sp>
      <p:sp>
        <p:nvSpPr>
          <p:cNvPr id="20" name="object-20">
            <a:extLst>
              <a:ext uri="{FF2B5EF4-FFF2-40B4-BE49-F238E27FC236}">
                <a16:creationId xmlns:a16="http://schemas.microsoft.com/office/drawing/2014/main" id="{3E72A234-CA23-4687-B459-ECF3F4DDF75C}"/>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6</a:t>
            </a:r>
          </a:p>
        </p:txBody>
      </p:sp>
      <p:sp>
        <p:nvSpPr>
          <p:cNvPr id="21" name="object-21">
            <a:extLst>
              <a:ext uri="{FF2B5EF4-FFF2-40B4-BE49-F238E27FC236}">
                <a16:creationId xmlns:a16="http://schemas.microsoft.com/office/drawing/2014/main" id="{24096C16-EF0F-41EA-866A-1FA836C69B80}"/>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4</a:t>
            </a:r>
          </a:p>
        </p:txBody>
      </p:sp>
      <p:sp>
        <p:nvSpPr>
          <p:cNvPr id="22" name="object-22">
            <a:extLst>
              <a:ext uri="{FF2B5EF4-FFF2-40B4-BE49-F238E27FC236}">
                <a16:creationId xmlns:a16="http://schemas.microsoft.com/office/drawing/2014/main" id="{A7E58E4E-28A6-4D6C-B350-853B7F383DCD}"/>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96: 4 times</a:t>
            </a:r>
          </a:p>
        </p:txBody>
      </p:sp>
      <p:sp>
        <p:nvSpPr>
          <p:cNvPr id="23" name="object-23">
            <a:extLst>
              <a:ext uri="{FF2B5EF4-FFF2-40B4-BE49-F238E27FC236}">
                <a16:creationId xmlns:a16="http://schemas.microsoft.com/office/drawing/2014/main" id="{DC3EF273-7CA8-4DA8-9775-2212DB396B63}"/>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96 − 96 = 0</a:t>
            </a:r>
          </a:p>
        </p:txBody>
      </p:sp>
      <p:sp>
        <p:nvSpPr>
          <p:cNvPr id="24" name="object-24">
            <a:extLst>
              <a:ext uri="{FF2B5EF4-FFF2-40B4-BE49-F238E27FC236}">
                <a16:creationId xmlns:a16="http://schemas.microsoft.com/office/drawing/2014/main" id="{E871B3DF-9048-49F7-A169-2DA32CACCE21}"/>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8,736 ÷ 24 = 364</a:t>
            </a:r>
          </a:p>
        </p:txBody>
      </p:sp>
    </p:spTree>
    <p:extLst>
      <p:ext uri="{BB962C8B-B14F-4D97-AF65-F5344CB8AC3E}">
        <p14:creationId xmlns:p14="http://schemas.microsoft.com/office/powerpoint/2010/main" val="699629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6"/>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4"/>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5"/>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6"/>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8"/>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4" grpId="1"/>
      <p:bldP spid="15" grpId="0"/>
      <p:bldP spid="15" grpId="1"/>
      <p:bldP spid="16" grpId="0"/>
      <p:bldP spid="16" grpId="1"/>
      <p:bldP spid="16" grpId="2"/>
      <p:bldP spid="17" grpId="0"/>
      <p:bldP spid="18" grpId="0"/>
      <p:bldP spid="18" grpId="1"/>
      <p:bldP spid="19" grpId="0"/>
      <p:bldP spid="19" grpId="1"/>
      <p:bldP spid="20" grpId="0"/>
      <p:bldP spid="20" grpId="1"/>
      <p:bldP spid="20" grpId="2"/>
      <p:bldP spid="21" grpId="0"/>
      <p:bldP spid="22" grpId="0"/>
      <p:bldP spid="23" grpId="0"/>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AADBDF1F-0CB9-4D8A-BA37-8C48339346B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962B1FFA-BE7E-4E68-9555-C2BD6D66D186}"/>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EF85418-9B8D-487F-B0FD-340A5AFF1AA1}"/>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9,000 ÷ 24.</a:t>
            </a:r>
          </a:p>
        </p:txBody>
      </p:sp>
      <p:sp>
        <p:nvSpPr>
          <p:cNvPr id="4" name="object-4">
            <a:extLst>
              <a:ext uri="{FF2B5EF4-FFF2-40B4-BE49-F238E27FC236}">
                <a16:creationId xmlns:a16="http://schemas.microsoft.com/office/drawing/2014/main" id="{1E6F98FE-938A-45B5-8AA5-B7158A3E9A44}"/>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21D28758-E9DD-44D0-9081-A79CDC8CCD32}"/>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long division with exact answers</a:t>
            </a:r>
          </a:p>
        </p:txBody>
      </p:sp>
      <p:sp>
        <p:nvSpPr>
          <p:cNvPr id="6" name="object-6">
            <a:extLst>
              <a:ext uri="{FF2B5EF4-FFF2-40B4-BE49-F238E27FC236}">
                <a16:creationId xmlns:a16="http://schemas.microsoft.com/office/drawing/2014/main" id="{FF8F9D4B-9EB1-4ADE-9AC2-1880E81641F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D0169D7C-D3FE-4E6F-8E76-33EC662808E8}"/>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24</a:t>
            </a:r>
          </a:p>
        </p:txBody>
      </p:sp>
      <p:sp>
        <p:nvSpPr>
          <p:cNvPr id="8" name="object-8">
            <a:extLst>
              <a:ext uri="{FF2B5EF4-FFF2-40B4-BE49-F238E27FC236}">
                <a16:creationId xmlns:a16="http://schemas.microsoft.com/office/drawing/2014/main" id="{B038110D-A035-482C-8061-D710A3C61DC4}"/>
              </a:ext>
            </a:extLst>
          </p:cNvPr>
          <p:cNvSpPr>
            <a:spLocks noGrp="1"/>
          </p:cNvSpPr>
          <p:nvPr/>
        </p:nvSpPr>
        <p:spPr>
          <a:xfrm>
            <a:off x="3393281" y="3833813"/>
            <a:ext cx="0" cy="1226344"/>
          </a:xfrm>
          <a:prstGeom prst="line">
            <a:avLst/>
          </a:prstGeom>
          <a:noFill/>
          <a:ln w="35719">
            <a:solidFill>
              <a:srgbClr val="172B4D"/>
            </a:solidFill>
          </a:ln>
        </p:spPr>
      </p:sp>
      <p:sp>
        <p:nvSpPr>
          <p:cNvPr id="9" name="object-9">
            <a:extLst>
              <a:ext uri="{FF2B5EF4-FFF2-40B4-BE49-F238E27FC236}">
                <a16:creationId xmlns:a16="http://schemas.microsoft.com/office/drawing/2014/main" id="{AC66BD55-126C-4BBA-AEFE-4C43FF50AB2A}"/>
              </a:ext>
            </a:extLst>
          </p:cNvPr>
          <p:cNvSpPr>
            <a:spLocks noGrp="1"/>
          </p:cNvSpPr>
          <p:nvPr/>
        </p:nvSpPr>
        <p:spPr>
          <a:xfrm>
            <a:off x="3393281" y="3833813"/>
            <a:ext cx="9644063" cy="35719"/>
          </a:xfrm>
          <a:prstGeom prst="rect">
            <a:avLst/>
          </a:prstGeom>
          <a:solidFill>
            <a:srgbClr val="172B4D"/>
          </a:solidFill>
          <a:ln w="0">
            <a:noFill/>
          </a:ln>
        </p:spPr>
      </p:sp>
      <p:sp>
        <p:nvSpPr>
          <p:cNvPr id="10" name="object-10">
            <a:extLst>
              <a:ext uri="{FF2B5EF4-FFF2-40B4-BE49-F238E27FC236}">
                <a16:creationId xmlns:a16="http://schemas.microsoft.com/office/drawing/2014/main" id="{D698A292-864F-4F89-9A9A-C0502FE126EA}"/>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9</a:t>
            </a:r>
          </a:p>
        </p:txBody>
      </p:sp>
      <p:sp>
        <p:nvSpPr>
          <p:cNvPr id="11" name="object-11">
            <a:extLst>
              <a:ext uri="{FF2B5EF4-FFF2-40B4-BE49-F238E27FC236}">
                <a16:creationId xmlns:a16="http://schemas.microsoft.com/office/drawing/2014/main" id="{B538E9AA-7AAB-4C1C-8189-68AEC67FE761}"/>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0</a:t>
            </a:r>
          </a:p>
        </p:txBody>
      </p:sp>
      <p:sp>
        <p:nvSpPr>
          <p:cNvPr id="12" name="object-12">
            <a:extLst>
              <a:ext uri="{FF2B5EF4-FFF2-40B4-BE49-F238E27FC236}">
                <a16:creationId xmlns:a16="http://schemas.microsoft.com/office/drawing/2014/main" id="{D4D1E109-919C-48C6-8B3D-C8FAC1AA5DEE}"/>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0</a:t>
            </a:r>
          </a:p>
        </p:txBody>
      </p:sp>
      <p:sp>
        <p:nvSpPr>
          <p:cNvPr id="13" name="object-13">
            <a:extLst>
              <a:ext uri="{FF2B5EF4-FFF2-40B4-BE49-F238E27FC236}">
                <a16:creationId xmlns:a16="http://schemas.microsoft.com/office/drawing/2014/main" id="{59E5FEE0-6FE3-487C-A7BB-A91E823DC6ED}"/>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0</a:t>
            </a:r>
          </a:p>
        </p:txBody>
      </p:sp>
      <p:sp>
        <p:nvSpPr>
          <p:cNvPr id="14" name="object-14">
            <a:extLst>
              <a:ext uri="{FF2B5EF4-FFF2-40B4-BE49-F238E27FC236}">
                <a16:creationId xmlns:a16="http://schemas.microsoft.com/office/drawing/2014/main" id="{CD86A2D4-A306-4D89-B993-8A438ABA12A3}"/>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15" name="object-15">
            <a:extLst>
              <a:ext uri="{FF2B5EF4-FFF2-40B4-BE49-F238E27FC236}">
                <a16:creationId xmlns:a16="http://schemas.microsoft.com/office/drawing/2014/main" id="{57498EB0-3358-4B67-A0ED-639A6CFFCA81}"/>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90: 3 times</a:t>
            </a:r>
          </a:p>
        </p:txBody>
      </p:sp>
      <p:sp>
        <p:nvSpPr>
          <p:cNvPr id="16" name="object-16">
            <a:extLst>
              <a:ext uri="{FF2B5EF4-FFF2-40B4-BE49-F238E27FC236}">
                <a16:creationId xmlns:a16="http://schemas.microsoft.com/office/drawing/2014/main" id="{55EE522E-D7C8-406C-B660-A8536CAD0329}"/>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90 − 72 = 18</a:t>
            </a:r>
          </a:p>
        </p:txBody>
      </p:sp>
      <p:sp>
        <p:nvSpPr>
          <p:cNvPr id="17" name="object-17">
            <a:extLst>
              <a:ext uri="{FF2B5EF4-FFF2-40B4-BE49-F238E27FC236}">
                <a16:creationId xmlns:a16="http://schemas.microsoft.com/office/drawing/2014/main" id="{D6DE6497-1782-4216-A30C-A25D1BD8A8D1}"/>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0</a:t>
            </a:r>
          </a:p>
        </p:txBody>
      </p:sp>
      <p:sp>
        <p:nvSpPr>
          <p:cNvPr id="18" name="object-18">
            <a:extLst>
              <a:ext uri="{FF2B5EF4-FFF2-40B4-BE49-F238E27FC236}">
                <a16:creationId xmlns:a16="http://schemas.microsoft.com/office/drawing/2014/main" id="{7A9247C4-A438-46F2-ADEE-E3E0D75385C8}"/>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7</a:t>
            </a:r>
          </a:p>
        </p:txBody>
      </p:sp>
      <p:sp>
        <p:nvSpPr>
          <p:cNvPr id="19" name="object-19">
            <a:extLst>
              <a:ext uri="{FF2B5EF4-FFF2-40B4-BE49-F238E27FC236}">
                <a16:creationId xmlns:a16="http://schemas.microsoft.com/office/drawing/2014/main" id="{42C73D2E-1F80-443E-A077-C670A9D8AC8C}"/>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180: 7 times</a:t>
            </a:r>
          </a:p>
        </p:txBody>
      </p:sp>
      <p:sp>
        <p:nvSpPr>
          <p:cNvPr id="20" name="object-20">
            <a:extLst>
              <a:ext uri="{FF2B5EF4-FFF2-40B4-BE49-F238E27FC236}">
                <a16:creationId xmlns:a16="http://schemas.microsoft.com/office/drawing/2014/main" id="{1AEB4C0C-E9F7-4849-BB04-E827E0FBB797}"/>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180 − 168 = 12</a:t>
            </a:r>
          </a:p>
        </p:txBody>
      </p:sp>
      <p:sp>
        <p:nvSpPr>
          <p:cNvPr id="21" name="object-21">
            <a:extLst>
              <a:ext uri="{FF2B5EF4-FFF2-40B4-BE49-F238E27FC236}">
                <a16:creationId xmlns:a16="http://schemas.microsoft.com/office/drawing/2014/main" id="{D32D13AE-3538-4817-883F-C064B3787A18}"/>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0</a:t>
            </a:r>
          </a:p>
        </p:txBody>
      </p:sp>
      <p:sp>
        <p:nvSpPr>
          <p:cNvPr id="22" name="object-22">
            <a:extLst>
              <a:ext uri="{FF2B5EF4-FFF2-40B4-BE49-F238E27FC236}">
                <a16:creationId xmlns:a16="http://schemas.microsoft.com/office/drawing/2014/main" id="{72E43902-9AD0-4C64-8B5C-640BEE9CD30C}"/>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5</a:t>
            </a:r>
          </a:p>
        </p:txBody>
      </p:sp>
      <p:sp>
        <p:nvSpPr>
          <p:cNvPr id="23" name="object-23">
            <a:extLst>
              <a:ext uri="{FF2B5EF4-FFF2-40B4-BE49-F238E27FC236}">
                <a16:creationId xmlns:a16="http://schemas.microsoft.com/office/drawing/2014/main" id="{F9095A5B-65CF-499B-8FB2-947C98DA5A64}"/>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120: 5 times</a:t>
            </a:r>
          </a:p>
        </p:txBody>
      </p:sp>
      <p:sp>
        <p:nvSpPr>
          <p:cNvPr id="24" name="object-24">
            <a:extLst>
              <a:ext uri="{FF2B5EF4-FFF2-40B4-BE49-F238E27FC236}">
                <a16:creationId xmlns:a16="http://schemas.microsoft.com/office/drawing/2014/main" id="{48BDA433-A523-4DAB-9107-C90D00EEACAE}"/>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120 − 120 = 0</a:t>
            </a:r>
          </a:p>
        </p:txBody>
      </p:sp>
      <p:sp>
        <p:nvSpPr>
          <p:cNvPr id="25" name="object-25">
            <a:extLst>
              <a:ext uri="{FF2B5EF4-FFF2-40B4-BE49-F238E27FC236}">
                <a16:creationId xmlns:a16="http://schemas.microsoft.com/office/drawing/2014/main" id="{4B19EF80-C600-4244-A219-20D3181C2DDA}"/>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9,000 ÷ 24 = 375</a:t>
            </a:r>
          </a:p>
        </p:txBody>
      </p:sp>
    </p:spTree>
    <p:extLst>
      <p:ext uri="{BB962C8B-B14F-4D97-AF65-F5344CB8AC3E}">
        <p14:creationId xmlns:p14="http://schemas.microsoft.com/office/powerpoint/2010/main" val="190345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7"/>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5"/>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7"/>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1"/>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9"/>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20"/>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1"/>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5" grpId="1"/>
      <p:bldP spid="16" grpId="0"/>
      <p:bldP spid="16" grpId="1"/>
      <p:bldP spid="17" grpId="0"/>
      <p:bldP spid="17" grpId="1"/>
      <p:bldP spid="17" grpId="2"/>
      <p:bldP spid="18" grpId="0"/>
      <p:bldP spid="19" grpId="0"/>
      <p:bldP spid="19" grpId="1"/>
      <p:bldP spid="20" grpId="0"/>
      <p:bldP spid="20" grpId="1"/>
      <p:bldP spid="21" grpId="0"/>
      <p:bldP spid="21" grpId="1"/>
      <p:bldP spid="21" grpId="2"/>
      <p:bldP spid="22" grpId="0"/>
      <p:bldP spid="23" grpId="0"/>
      <p:bldP spid="24" grpId="0"/>
      <p:bldP spid="25"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object-1">
            <a:extLst>
              <a:ext uri="{FF2B5EF4-FFF2-40B4-BE49-F238E27FC236}">
                <a16:creationId xmlns:a16="http://schemas.microsoft.com/office/drawing/2014/main" id="{B289909A-3F25-47EA-96AB-2BA02BE179C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E7C87BAE-782B-4A26-9FC7-A5C4961545D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9,264 ÷ 24.</a:t>
            </a:r>
          </a:p>
        </p:txBody>
      </p:sp>
      <p:sp>
        <p:nvSpPr>
          <p:cNvPr id="3" name="object-3">
            <a:extLst>
              <a:ext uri="{FF2B5EF4-FFF2-40B4-BE49-F238E27FC236}">
                <a16:creationId xmlns:a16="http://schemas.microsoft.com/office/drawing/2014/main" id="{5C390DD8-EACD-4C4F-B8E7-9CCE4A0E8C46}"/>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276FAD9-945A-4DE9-AD5A-5A3DACC5CA3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long division with exact answers</a:t>
            </a:r>
          </a:p>
        </p:txBody>
      </p:sp>
      <p:sp>
        <p:nvSpPr>
          <p:cNvPr id="5" name="object-5">
            <a:extLst>
              <a:ext uri="{FF2B5EF4-FFF2-40B4-BE49-F238E27FC236}">
                <a16:creationId xmlns:a16="http://schemas.microsoft.com/office/drawing/2014/main" id="{BF58F006-ABF4-467D-B59F-8C8D75EECC5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494B468E-6FC0-4D51-9B71-6E8213EC901D}"/>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24</a:t>
            </a:r>
          </a:p>
        </p:txBody>
      </p:sp>
      <p:sp>
        <p:nvSpPr>
          <p:cNvPr id="7" name="object-7">
            <a:extLst>
              <a:ext uri="{FF2B5EF4-FFF2-40B4-BE49-F238E27FC236}">
                <a16:creationId xmlns:a16="http://schemas.microsoft.com/office/drawing/2014/main" id="{81053B0F-73DC-47F6-8515-CFE7AFDCA896}"/>
              </a:ext>
            </a:extLst>
          </p:cNvPr>
          <p:cNvSpPr>
            <a:spLocks noGrp="1"/>
          </p:cNvSpPr>
          <p:nvPr/>
        </p:nvSpPr>
        <p:spPr>
          <a:xfrm>
            <a:off x="3393281" y="3833813"/>
            <a:ext cx="0" cy="1226344"/>
          </a:xfrm>
          <a:prstGeom prst="line">
            <a:avLst/>
          </a:prstGeom>
          <a:noFill/>
          <a:ln w="35719">
            <a:solidFill>
              <a:srgbClr val="172B4D"/>
            </a:solidFill>
          </a:ln>
        </p:spPr>
      </p:sp>
      <p:sp>
        <p:nvSpPr>
          <p:cNvPr id="8" name="object-8">
            <a:extLst>
              <a:ext uri="{FF2B5EF4-FFF2-40B4-BE49-F238E27FC236}">
                <a16:creationId xmlns:a16="http://schemas.microsoft.com/office/drawing/2014/main" id="{4C0A7DD8-36B3-47CB-8E6C-CDD9C6EC3F81}"/>
              </a:ext>
            </a:extLst>
          </p:cNvPr>
          <p:cNvSpPr>
            <a:spLocks noGrp="1"/>
          </p:cNvSpPr>
          <p:nvPr/>
        </p:nvSpPr>
        <p:spPr>
          <a:xfrm>
            <a:off x="3393281" y="3833813"/>
            <a:ext cx="9644063" cy="35719"/>
          </a:xfrm>
          <a:prstGeom prst="rect">
            <a:avLst/>
          </a:prstGeom>
          <a:solidFill>
            <a:srgbClr val="172B4D"/>
          </a:solidFill>
          <a:ln w="0">
            <a:noFill/>
          </a:ln>
        </p:spPr>
      </p:sp>
      <p:sp>
        <p:nvSpPr>
          <p:cNvPr id="9" name="object-9">
            <a:extLst>
              <a:ext uri="{FF2B5EF4-FFF2-40B4-BE49-F238E27FC236}">
                <a16:creationId xmlns:a16="http://schemas.microsoft.com/office/drawing/2014/main" id="{2F8D7C28-003D-46DB-8C32-369AF32D863D}"/>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9</a:t>
            </a:r>
          </a:p>
        </p:txBody>
      </p:sp>
      <p:sp>
        <p:nvSpPr>
          <p:cNvPr id="10" name="object-10">
            <a:extLst>
              <a:ext uri="{FF2B5EF4-FFF2-40B4-BE49-F238E27FC236}">
                <a16:creationId xmlns:a16="http://schemas.microsoft.com/office/drawing/2014/main" id="{C3D593E1-EF6F-4E9B-A535-DDF3347075D4}"/>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2</a:t>
            </a:r>
          </a:p>
        </p:txBody>
      </p:sp>
      <p:sp>
        <p:nvSpPr>
          <p:cNvPr id="11" name="object-11">
            <a:extLst>
              <a:ext uri="{FF2B5EF4-FFF2-40B4-BE49-F238E27FC236}">
                <a16:creationId xmlns:a16="http://schemas.microsoft.com/office/drawing/2014/main" id="{01A13608-5FCF-479F-888A-47E198FA1FB9}"/>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6</a:t>
            </a:r>
          </a:p>
        </p:txBody>
      </p:sp>
      <p:sp>
        <p:nvSpPr>
          <p:cNvPr id="12" name="object-12">
            <a:extLst>
              <a:ext uri="{FF2B5EF4-FFF2-40B4-BE49-F238E27FC236}">
                <a16:creationId xmlns:a16="http://schemas.microsoft.com/office/drawing/2014/main" id="{E61A3F77-9899-4DD6-8156-E44306D78E57}"/>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62DBDE7B-A0C4-4423-AD5B-C01CD60FEFA1}"/>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14" name="object-14">
            <a:extLst>
              <a:ext uri="{FF2B5EF4-FFF2-40B4-BE49-F238E27FC236}">
                <a16:creationId xmlns:a16="http://schemas.microsoft.com/office/drawing/2014/main" id="{400A1364-DB87-412C-B296-8192C1AEA248}"/>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92: 3 times</a:t>
            </a:r>
          </a:p>
        </p:txBody>
      </p:sp>
      <p:sp>
        <p:nvSpPr>
          <p:cNvPr id="15" name="object-15">
            <a:extLst>
              <a:ext uri="{FF2B5EF4-FFF2-40B4-BE49-F238E27FC236}">
                <a16:creationId xmlns:a16="http://schemas.microsoft.com/office/drawing/2014/main" id="{C9B09DD2-1F31-4B0B-B049-21D195751A4E}"/>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92 − 72 = 20</a:t>
            </a:r>
          </a:p>
        </p:txBody>
      </p:sp>
      <p:sp>
        <p:nvSpPr>
          <p:cNvPr id="16" name="object-16">
            <a:extLst>
              <a:ext uri="{FF2B5EF4-FFF2-40B4-BE49-F238E27FC236}">
                <a16:creationId xmlns:a16="http://schemas.microsoft.com/office/drawing/2014/main" id="{3296EEBD-5E91-4C06-9FA7-61B3E92741F3}"/>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6</a:t>
            </a:r>
          </a:p>
        </p:txBody>
      </p:sp>
      <p:sp>
        <p:nvSpPr>
          <p:cNvPr id="17" name="object-17">
            <a:extLst>
              <a:ext uri="{FF2B5EF4-FFF2-40B4-BE49-F238E27FC236}">
                <a16:creationId xmlns:a16="http://schemas.microsoft.com/office/drawing/2014/main" id="{6F992294-7A66-43A3-9069-B1A10CD549E7}"/>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8</a:t>
            </a:r>
          </a:p>
        </p:txBody>
      </p:sp>
      <p:sp>
        <p:nvSpPr>
          <p:cNvPr id="18" name="object-18">
            <a:extLst>
              <a:ext uri="{FF2B5EF4-FFF2-40B4-BE49-F238E27FC236}">
                <a16:creationId xmlns:a16="http://schemas.microsoft.com/office/drawing/2014/main" id="{546C2CED-FFE6-43D1-A4DD-79E55A5C23DA}"/>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206: 8 times</a:t>
            </a:r>
          </a:p>
        </p:txBody>
      </p:sp>
      <p:sp>
        <p:nvSpPr>
          <p:cNvPr id="19" name="object-19">
            <a:extLst>
              <a:ext uri="{FF2B5EF4-FFF2-40B4-BE49-F238E27FC236}">
                <a16:creationId xmlns:a16="http://schemas.microsoft.com/office/drawing/2014/main" id="{5483279C-D230-4AAE-85A6-9CF9A9AD53C0}"/>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206 − 192 = 14</a:t>
            </a:r>
          </a:p>
        </p:txBody>
      </p:sp>
      <p:sp>
        <p:nvSpPr>
          <p:cNvPr id="20" name="object-20">
            <a:extLst>
              <a:ext uri="{FF2B5EF4-FFF2-40B4-BE49-F238E27FC236}">
                <a16:creationId xmlns:a16="http://schemas.microsoft.com/office/drawing/2014/main" id="{0430102C-0B13-4A42-8BDB-B55DDCBAF49C}"/>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4</a:t>
            </a:r>
          </a:p>
        </p:txBody>
      </p:sp>
      <p:sp>
        <p:nvSpPr>
          <p:cNvPr id="21" name="object-21">
            <a:extLst>
              <a:ext uri="{FF2B5EF4-FFF2-40B4-BE49-F238E27FC236}">
                <a16:creationId xmlns:a16="http://schemas.microsoft.com/office/drawing/2014/main" id="{9AE460F7-0B1D-421B-9CBB-C098870A050F}"/>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22" name="object-22">
            <a:extLst>
              <a:ext uri="{FF2B5EF4-FFF2-40B4-BE49-F238E27FC236}">
                <a16:creationId xmlns:a16="http://schemas.microsoft.com/office/drawing/2014/main" id="{8AFA964E-1763-4B6B-BDFB-8C4AF04AAD3A}"/>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144: 6 times</a:t>
            </a:r>
          </a:p>
        </p:txBody>
      </p:sp>
      <p:sp>
        <p:nvSpPr>
          <p:cNvPr id="23" name="object-23">
            <a:extLst>
              <a:ext uri="{FF2B5EF4-FFF2-40B4-BE49-F238E27FC236}">
                <a16:creationId xmlns:a16="http://schemas.microsoft.com/office/drawing/2014/main" id="{3A0E98E6-2586-4498-AD2F-EFD24E691656}"/>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144 − 144 = 0</a:t>
            </a:r>
          </a:p>
        </p:txBody>
      </p:sp>
      <p:sp>
        <p:nvSpPr>
          <p:cNvPr id="24" name="object-24">
            <a:extLst>
              <a:ext uri="{FF2B5EF4-FFF2-40B4-BE49-F238E27FC236}">
                <a16:creationId xmlns:a16="http://schemas.microsoft.com/office/drawing/2014/main" id="{22D84B59-ECF2-4F32-BC5E-169F21DD83B4}"/>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9,264 ÷ 24 = 386</a:t>
            </a:r>
          </a:p>
        </p:txBody>
      </p:sp>
    </p:spTree>
    <p:extLst>
      <p:ext uri="{BB962C8B-B14F-4D97-AF65-F5344CB8AC3E}">
        <p14:creationId xmlns:p14="http://schemas.microsoft.com/office/powerpoint/2010/main" val="1432036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6"/>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4"/>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5"/>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6"/>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8"/>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4" grpId="1"/>
      <p:bldP spid="15" grpId="0"/>
      <p:bldP spid="15" grpId="1"/>
      <p:bldP spid="16" grpId="0"/>
      <p:bldP spid="16" grpId="1"/>
      <p:bldP spid="16" grpId="2"/>
      <p:bldP spid="17" grpId="0"/>
      <p:bldP spid="18" grpId="0"/>
      <p:bldP spid="18" grpId="1"/>
      <p:bldP spid="19" grpId="0"/>
      <p:bldP spid="19" grpId="1"/>
      <p:bldP spid="20" grpId="0"/>
      <p:bldP spid="20" grpId="1"/>
      <p:bldP spid="20" grpId="2"/>
      <p:bldP spid="21" grpId="0"/>
      <p:bldP spid="22" grpId="0"/>
      <p:bldP spid="23" grpId="0"/>
      <p:bldP spid="2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5D7FE667-9315-439B-892E-06777E2D0F5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B4179627-F744-46F3-8E3E-18B8C14C4FDC}"/>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5365CDC9-A14E-4505-9B90-0BC5A45565A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9,528 ÷ 24.</a:t>
            </a:r>
          </a:p>
        </p:txBody>
      </p:sp>
      <p:sp>
        <p:nvSpPr>
          <p:cNvPr id="4" name="object-4">
            <a:extLst>
              <a:ext uri="{FF2B5EF4-FFF2-40B4-BE49-F238E27FC236}">
                <a16:creationId xmlns:a16="http://schemas.microsoft.com/office/drawing/2014/main" id="{6ECCFBE3-B9D8-43E0-BE23-E6C8A4F4FEAE}"/>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88E4B8E0-19A2-489F-BEB9-FCF3730B80C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long division with exact answers</a:t>
            </a:r>
          </a:p>
        </p:txBody>
      </p:sp>
      <p:sp>
        <p:nvSpPr>
          <p:cNvPr id="6" name="object-6">
            <a:extLst>
              <a:ext uri="{FF2B5EF4-FFF2-40B4-BE49-F238E27FC236}">
                <a16:creationId xmlns:a16="http://schemas.microsoft.com/office/drawing/2014/main" id="{1AB50FCE-31D8-4376-AF8A-D86BB6A7F3A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176C7259-C01B-4658-9C89-206B73B23941}"/>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24</a:t>
            </a:r>
          </a:p>
        </p:txBody>
      </p:sp>
      <p:sp>
        <p:nvSpPr>
          <p:cNvPr id="8" name="object-8">
            <a:extLst>
              <a:ext uri="{FF2B5EF4-FFF2-40B4-BE49-F238E27FC236}">
                <a16:creationId xmlns:a16="http://schemas.microsoft.com/office/drawing/2014/main" id="{2911380B-EAFC-4A7E-8C55-36AFED561C6C}"/>
              </a:ext>
            </a:extLst>
          </p:cNvPr>
          <p:cNvSpPr>
            <a:spLocks noGrp="1"/>
          </p:cNvSpPr>
          <p:nvPr/>
        </p:nvSpPr>
        <p:spPr>
          <a:xfrm>
            <a:off x="3393281" y="3833813"/>
            <a:ext cx="0" cy="1226344"/>
          </a:xfrm>
          <a:prstGeom prst="line">
            <a:avLst/>
          </a:prstGeom>
          <a:noFill/>
          <a:ln w="35719">
            <a:solidFill>
              <a:srgbClr val="172B4D"/>
            </a:solidFill>
          </a:ln>
        </p:spPr>
      </p:sp>
      <p:sp>
        <p:nvSpPr>
          <p:cNvPr id="9" name="object-9">
            <a:extLst>
              <a:ext uri="{FF2B5EF4-FFF2-40B4-BE49-F238E27FC236}">
                <a16:creationId xmlns:a16="http://schemas.microsoft.com/office/drawing/2014/main" id="{BB8C8B3B-ED4C-4551-B18F-BC84EFCCB6E0}"/>
              </a:ext>
            </a:extLst>
          </p:cNvPr>
          <p:cNvSpPr>
            <a:spLocks noGrp="1"/>
          </p:cNvSpPr>
          <p:nvPr/>
        </p:nvSpPr>
        <p:spPr>
          <a:xfrm>
            <a:off x="3393281" y="3833813"/>
            <a:ext cx="9644063" cy="35719"/>
          </a:xfrm>
          <a:prstGeom prst="rect">
            <a:avLst/>
          </a:prstGeom>
          <a:solidFill>
            <a:srgbClr val="172B4D"/>
          </a:solidFill>
          <a:ln w="0">
            <a:noFill/>
          </a:ln>
        </p:spPr>
      </p:sp>
      <p:sp>
        <p:nvSpPr>
          <p:cNvPr id="10" name="object-10">
            <a:extLst>
              <a:ext uri="{FF2B5EF4-FFF2-40B4-BE49-F238E27FC236}">
                <a16:creationId xmlns:a16="http://schemas.microsoft.com/office/drawing/2014/main" id="{AB585F8E-11EF-4A3E-9DA5-888C8C3E3991}"/>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9</a:t>
            </a:r>
          </a:p>
        </p:txBody>
      </p:sp>
      <p:sp>
        <p:nvSpPr>
          <p:cNvPr id="11" name="object-11">
            <a:extLst>
              <a:ext uri="{FF2B5EF4-FFF2-40B4-BE49-F238E27FC236}">
                <a16:creationId xmlns:a16="http://schemas.microsoft.com/office/drawing/2014/main" id="{D56D425E-490D-4DAE-92D4-FAC414D05336}"/>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5</a:t>
            </a:r>
          </a:p>
        </p:txBody>
      </p:sp>
      <p:sp>
        <p:nvSpPr>
          <p:cNvPr id="12" name="object-12">
            <a:extLst>
              <a:ext uri="{FF2B5EF4-FFF2-40B4-BE49-F238E27FC236}">
                <a16:creationId xmlns:a16="http://schemas.microsoft.com/office/drawing/2014/main" id="{8BFB8E2E-A8CD-4CF0-A61E-5D116EBE2ADF}"/>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2</a:t>
            </a:r>
          </a:p>
        </p:txBody>
      </p:sp>
      <p:sp>
        <p:nvSpPr>
          <p:cNvPr id="13" name="object-13">
            <a:extLst>
              <a:ext uri="{FF2B5EF4-FFF2-40B4-BE49-F238E27FC236}">
                <a16:creationId xmlns:a16="http://schemas.microsoft.com/office/drawing/2014/main" id="{ED0B89CC-5C1F-439F-9FAE-6A91916EAC53}"/>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8</a:t>
            </a:r>
          </a:p>
        </p:txBody>
      </p:sp>
      <p:sp>
        <p:nvSpPr>
          <p:cNvPr id="14" name="object-14">
            <a:extLst>
              <a:ext uri="{FF2B5EF4-FFF2-40B4-BE49-F238E27FC236}">
                <a16:creationId xmlns:a16="http://schemas.microsoft.com/office/drawing/2014/main" id="{85643984-6DE6-46F3-86EC-43459BF0212C}"/>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15" name="object-15">
            <a:extLst>
              <a:ext uri="{FF2B5EF4-FFF2-40B4-BE49-F238E27FC236}">
                <a16:creationId xmlns:a16="http://schemas.microsoft.com/office/drawing/2014/main" id="{A1CFCF2A-AEFC-4FB3-835D-163A681CE5B6}"/>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95: 3 times</a:t>
            </a:r>
          </a:p>
        </p:txBody>
      </p:sp>
      <p:sp>
        <p:nvSpPr>
          <p:cNvPr id="16" name="object-16">
            <a:extLst>
              <a:ext uri="{FF2B5EF4-FFF2-40B4-BE49-F238E27FC236}">
                <a16:creationId xmlns:a16="http://schemas.microsoft.com/office/drawing/2014/main" id="{4B45BB46-633D-4AFC-8EEA-20A24EAF0B4B}"/>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95 − 72 = 23</a:t>
            </a:r>
          </a:p>
        </p:txBody>
      </p:sp>
      <p:sp>
        <p:nvSpPr>
          <p:cNvPr id="17" name="object-17">
            <a:extLst>
              <a:ext uri="{FF2B5EF4-FFF2-40B4-BE49-F238E27FC236}">
                <a16:creationId xmlns:a16="http://schemas.microsoft.com/office/drawing/2014/main" id="{B7B8BB37-221E-49F1-AE41-BB56E24C06E7}"/>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2</a:t>
            </a:r>
          </a:p>
        </p:txBody>
      </p:sp>
      <p:sp>
        <p:nvSpPr>
          <p:cNvPr id="18" name="object-18">
            <a:extLst>
              <a:ext uri="{FF2B5EF4-FFF2-40B4-BE49-F238E27FC236}">
                <a16:creationId xmlns:a16="http://schemas.microsoft.com/office/drawing/2014/main" id="{7AAD8C44-AC5C-4252-9150-54ACD6B7E7EC}"/>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9</a:t>
            </a:r>
          </a:p>
        </p:txBody>
      </p:sp>
      <p:sp>
        <p:nvSpPr>
          <p:cNvPr id="19" name="object-19">
            <a:extLst>
              <a:ext uri="{FF2B5EF4-FFF2-40B4-BE49-F238E27FC236}">
                <a16:creationId xmlns:a16="http://schemas.microsoft.com/office/drawing/2014/main" id="{2CCE4DA3-C680-4D7B-8825-70CE0C058CC9}"/>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232: 9 times</a:t>
            </a:r>
          </a:p>
        </p:txBody>
      </p:sp>
      <p:sp>
        <p:nvSpPr>
          <p:cNvPr id="20" name="object-20">
            <a:extLst>
              <a:ext uri="{FF2B5EF4-FFF2-40B4-BE49-F238E27FC236}">
                <a16:creationId xmlns:a16="http://schemas.microsoft.com/office/drawing/2014/main" id="{60936E13-2120-4728-91DB-40CB477541A6}"/>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232 − 216 = 16</a:t>
            </a:r>
          </a:p>
        </p:txBody>
      </p:sp>
      <p:sp>
        <p:nvSpPr>
          <p:cNvPr id="21" name="object-21">
            <a:extLst>
              <a:ext uri="{FF2B5EF4-FFF2-40B4-BE49-F238E27FC236}">
                <a16:creationId xmlns:a16="http://schemas.microsoft.com/office/drawing/2014/main" id="{F88769B2-E87D-4DF6-89D9-72073B31717C}"/>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8</a:t>
            </a:r>
          </a:p>
        </p:txBody>
      </p:sp>
      <p:sp>
        <p:nvSpPr>
          <p:cNvPr id="22" name="object-22">
            <a:extLst>
              <a:ext uri="{FF2B5EF4-FFF2-40B4-BE49-F238E27FC236}">
                <a16:creationId xmlns:a16="http://schemas.microsoft.com/office/drawing/2014/main" id="{B618B238-C10D-4012-8B36-DF4A07DA3A36}"/>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7</a:t>
            </a:r>
          </a:p>
        </p:txBody>
      </p:sp>
      <p:sp>
        <p:nvSpPr>
          <p:cNvPr id="23" name="object-23">
            <a:extLst>
              <a:ext uri="{FF2B5EF4-FFF2-40B4-BE49-F238E27FC236}">
                <a16:creationId xmlns:a16="http://schemas.microsoft.com/office/drawing/2014/main" id="{0512C1FB-B5B7-408A-ACC6-AFECFC722988}"/>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168: 7 times</a:t>
            </a:r>
          </a:p>
        </p:txBody>
      </p:sp>
      <p:sp>
        <p:nvSpPr>
          <p:cNvPr id="24" name="object-24">
            <a:extLst>
              <a:ext uri="{FF2B5EF4-FFF2-40B4-BE49-F238E27FC236}">
                <a16:creationId xmlns:a16="http://schemas.microsoft.com/office/drawing/2014/main" id="{DBD2A064-A863-48CD-B202-C37B52849982}"/>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168 − 168 = 0</a:t>
            </a:r>
          </a:p>
        </p:txBody>
      </p:sp>
      <p:sp>
        <p:nvSpPr>
          <p:cNvPr id="25" name="object-25">
            <a:extLst>
              <a:ext uri="{FF2B5EF4-FFF2-40B4-BE49-F238E27FC236}">
                <a16:creationId xmlns:a16="http://schemas.microsoft.com/office/drawing/2014/main" id="{B51E0E44-39B3-4D75-9FDB-DD34441D00E7}"/>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9,528 ÷ 24 = 397</a:t>
            </a:r>
          </a:p>
        </p:txBody>
      </p:sp>
    </p:spTree>
    <p:extLst>
      <p:ext uri="{BB962C8B-B14F-4D97-AF65-F5344CB8AC3E}">
        <p14:creationId xmlns:p14="http://schemas.microsoft.com/office/powerpoint/2010/main" val="44217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7"/>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5"/>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7"/>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1"/>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9"/>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20"/>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1"/>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5" grpId="1"/>
      <p:bldP spid="16" grpId="0"/>
      <p:bldP spid="16" grpId="1"/>
      <p:bldP spid="17" grpId="0"/>
      <p:bldP spid="17" grpId="1"/>
      <p:bldP spid="17" grpId="2"/>
      <p:bldP spid="18" grpId="0"/>
      <p:bldP spid="19" grpId="0"/>
      <p:bldP spid="19" grpId="1"/>
      <p:bldP spid="20" grpId="0"/>
      <p:bldP spid="20" grpId="1"/>
      <p:bldP spid="21" grpId="0"/>
      <p:bldP spid="21" grpId="1"/>
      <p:bldP spid="21" grpId="2"/>
      <p:bldP spid="22" grpId="0"/>
      <p:bldP spid="23" grpId="0"/>
      <p:bldP spid="24" grpId="0"/>
      <p:bldP spid="25"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FF0459F1-0CBB-495C-861A-0B2235C2F47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ED5AC82-C5FE-4E39-AC71-36FE06D3A0E9}"/>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6749F2F-0FA4-4CDA-944B-AB3DDFC6362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19E64A54-DB80-4340-BE7B-9ED60DCBD1B6}"/>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F6663CD4-420C-43AA-B82D-B1C6649FB06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long division with exact answers</a:t>
            </a:r>
          </a:p>
        </p:txBody>
      </p:sp>
      <p:sp>
        <p:nvSpPr>
          <p:cNvPr id="6" name="object-6">
            <a:extLst>
              <a:ext uri="{FF2B5EF4-FFF2-40B4-BE49-F238E27FC236}">
                <a16:creationId xmlns:a16="http://schemas.microsoft.com/office/drawing/2014/main" id="{568A16A8-D6E1-4BA9-BEA8-2C6AF22CED8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5737283C-2BC3-433C-BC89-73249275434A}"/>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951F269A-FE58-461D-8EC6-EA1BAFBA3635}"/>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8,736 / 24.</a:t>
            </a:r>
          </a:p>
        </p:txBody>
      </p:sp>
      <p:sp>
        <p:nvSpPr>
          <p:cNvPr id="9" name="object-9">
            <a:extLst>
              <a:ext uri="{FF2B5EF4-FFF2-40B4-BE49-F238E27FC236}">
                <a16:creationId xmlns:a16="http://schemas.microsoft.com/office/drawing/2014/main" id="{DB5D02DD-6A1E-4966-99A2-BA618EF44E35}"/>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0F68EC9B-16D4-4F61-89FD-ECC072A9DECB}"/>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9,408 / 32.</a:t>
            </a:r>
          </a:p>
        </p:txBody>
      </p:sp>
      <p:sp>
        <p:nvSpPr>
          <p:cNvPr id="11" name="object-11">
            <a:extLst>
              <a:ext uri="{FF2B5EF4-FFF2-40B4-BE49-F238E27FC236}">
                <a16:creationId xmlns:a16="http://schemas.microsoft.com/office/drawing/2014/main" id="{9FE82270-FD00-47DB-8028-B47A472D82FB}"/>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DF6E7F4F-5588-4CAE-87EB-36AC0584010C}"/>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7,245 / 35.</a:t>
            </a:r>
          </a:p>
        </p:txBody>
      </p:sp>
      <p:sp>
        <p:nvSpPr>
          <p:cNvPr id="13" name="object-13">
            <a:extLst>
              <a:ext uri="{FF2B5EF4-FFF2-40B4-BE49-F238E27FC236}">
                <a16:creationId xmlns:a16="http://schemas.microsoft.com/office/drawing/2014/main" id="{6BE8EA94-8BED-41B7-80E6-0616DA3C64F3}"/>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98788340-15A8-4CFA-BF40-12CD4820F90D}"/>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Calculate 8,736 / 24.</a:t>
            </a:r>
          </a:p>
        </p:txBody>
      </p:sp>
      <p:sp>
        <p:nvSpPr>
          <p:cNvPr id="15" name="object-15">
            <a:extLst>
              <a:ext uri="{FF2B5EF4-FFF2-40B4-BE49-F238E27FC236}">
                <a16:creationId xmlns:a16="http://schemas.microsoft.com/office/drawing/2014/main" id="{E003F6F0-38DE-4996-8DE2-B87E7F3E0AE9}"/>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E38D8001-5C84-4BFB-83A5-BD4DC5EFDE84}"/>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Calculate 9,408 / 32.</a:t>
            </a:r>
          </a:p>
        </p:txBody>
      </p:sp>
      <p:sp>
        <p:nvSpPr>
          <p:cNvPr id="17" name="object-17">
            <a:extLst>
              <a:ext uri="{FF2B5EF4-FFF2-40B4-BE49-F238E27FC236}">
                <a16:creationId xmlns:a16="http://schemas.microsoft.com/office/drawing/2014/main" id="{7FFDFE46-C9AB-4CDC-85CF-0D4F27A74163}"/>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1759FFA4-B254-434C-A4C4-F19CCFF8AF9F}"/>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Calculate 7,245 / 35.</a:t>
            </a:r>
          </a:p>
        </p:txBody>
      </p:sp>
      <p:sp>
        <p:nvSpPr>
          <p:cNvPr id="19" name="object-19">
            <a:extLst>
              <a:ext uri="{FF2B5EF4-FFF2-40B4-BE49-F238E27FC236}">
                <a16:creationId xmlns:a16="http://schemas.microsoft.com/office/drawing/2014/main" id="{E212045A-C8C6-40F9-B632-249C72A8ACC1}"/>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34A252DC-8DB7-4D04-ADA2-DFBDC26FB5C0}"/>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9,984 / 48 and prove the answer by multiplication.</a:t>
            </a:r>
          </a:p>
        </p:txBody>
      </p:sp>
      <p:sp>
        <p:nvSpPr>
          <p:cNvPr id="21" name="object-21">
            <a:extLst>
              <a:ext uri="{FF2B5EF4-FFF2-40B4-BE49-F238E27FC236}">
                <a16:creationId xmlns:a16="http://schemas.microsoft.com/office/drawing/2014/main" id="{DFF31961-C3BF-4CB5-B98E-6B6D2E15A0D1}"/>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D2CBB8E5-134C-4CE2-B667-04E80F0D906C}"/>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subtracts the multiple correctly but forgets to bring down the next digit.</a:t>
            </a:r>
          </a:p>
        </p:txBody>
      </p:sp>
      <p:sp>
        <p:nvSpPr>
          <p:cNvPr id="23" name="object-23">
            <a:extLst>
              <a:ext uri="{FF2B5EF4-FFF2-40B4-BE49-F238E27FC236}">
                <a16:creationId xmlns:a16="http://schemas.microsoft.com/office/drawing/2014/main" id="{39D31EA3-B103-4D90-9114-5599AF4A10AD}"/>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A2AAD57E-49F2-4562-A7E1-BDFC63E00CD5}"/>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07821442-1CE5-4F60-8826-449306052383}"/>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4EE6A2A9-72A0-4CD6-B07F-970B6C6081D3}"/>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Calculate 7,245 / 35.</a:t>
            </a:r>
          </a:p>
        </p:txBody>
      </p:sp>
    </p:spTree>
    <p:extLst>
      <p:ext uri="{BB962C8B-B14F-4D97-AF65-F5344CB8AC3E}">
        <p14:creationId xmlns:p14="http://schemas.microsoft.com/office/powerpoint/2010/main" val="5177235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6ED9ABC0-2DA8-4ECF-B2D4-3395752A05F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F14D3014-CA32-4E31-85BD-881FAAEF643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A56CAA27-6FA6-4096-AE20-176995E9C184}"/>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E8905DBA-7ADB-482E-8B4A-2466FB4253E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long division with exact answers</a:t>
            </a:r>
          </a:p>
        </p:txBody>
      </p:sp>
      <p:sp>
        <p:nvSpPr>
          <p:cNvPr id="5" name="object-5">
            <a:extLst>
              <a:ext uri="{FF2B5EF4-FFF2-40B4-BE49-F238E27FC236}">
                <a16:creationId xmlns:a16="http://schemas.microsoft.com/office/drawing/2014/main" id="{964F9C1D-9108-4D32-844E-C8B7B2433AA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2033168F-AD09-497E-9D8F-E4C131B63279}"/>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9D9C5F7C-2978-4178-901F-E639516E5B77}"/>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364.</a:t>
            </a:r>
          </a:p>
        </p:txBody>
      </p:sp>
      <p:sp>
        <p:nvSpPr>
          <p:cNvPr id="8" name="object-8">
            <a:extLst>
              <a:ext uri="{FF2B5EF4-FFF2-40B4-BE49-F238E27FC236}">
                <a16:creationId xmlns:a16="http://schemas.microsoft.com/office/drawing/2014/main" id="{011BA527-3C5A-49C9-A71A-FBBF946831DA}"/>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B71B2C9F-211C-4360-A9A7-30EF4FED2BCC}"/>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294.</a:t>
            </a:r>
          </a:p>
        </p:txBody>
      </p:sp>
      <p:sp>
        <p:nvSpPr>
          <p:cNvPr id="10" name="object-10">
            <a:extLst>
              <a:ext uri="{FF2B5EF4-FFF2-40B4-BE49-F238E27FC236}">
                <a16:creationId xmlns:a16="http://schemas.microsoft.com/office/drawing/2014/main" id="{4B88E1FC-A7A3-430E-AA63-4E0F78B6BEE5}"/>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3675DDE3-A496-435A-B87E-FB0C6EBB0B7A}"/>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207.</a:t>
            </a:r>
          </a:p>
        </p:txBody>
      </p:sp>
      <p:sp>
        <p:nvSpPr>
          <p:cNvPr id="12" name="object-12">
            <a:extLst>
              <a:ext uri="{FF2B5EF4-FFF2-40B4-BE49-F238E27FC236}">
                <a16:creationId xmlns:a16="http://schemas.microsoft.com/office/drawing/2014/main" id="{7627DF9A-C418-4509-AB55-7E43BB53CF8A}"/>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5049452A-F2AC-4E10-994B-E6EFB4C454EF}"/>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364.</a:t>
            </a:r>
          </a:p>
        </p:txBody>
      </p:sp>
      <p:sp>
        <p:nvSpPr>
          <p:cNvPr id="14" name="object-14">
            <a:extLst>
              <a:ext uri="{FF2B5EF4-FFF2-40B4-BE49-F238E27FC236}">
                <a16:creationId xmlns:a16="http://schemas.microsoft.com/office/drawing/2014/main" id="{F050CB96-877F-4D82-9157-D44442A10086}"/>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5FACF9C1-D4D5-4935-956D-FA09232A9368}"/>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294. Method or representation may vary.</a:t>
            </a:r>
          </a:p>
        </p:txBody>
      </p:sp>
      <p:sp>
        <p:nvSpPr>
          <p:cNvPr id="16" name="object-16">
            <a:extLst>
              <a:ext uri="{FF2B5EF4-FFF2-40B4-BE49-F238E27FC236}">
                <a16:creationId xmlns:a16="http://schemas.microsoft.com/office/drawing/2014/main" id="{9EE47C47-9FC9-4A74-A2C5-725825C44075}"/>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7B1BBB52-E8B4-413F-867A-1600BD549E2D}"/>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207. A valid check must be shown.</a:t>
            </a:r>
          </a:p>
        </p:txBody>
      </p:sp>
      <p:sp>
        <p:nvSpPr>
          <p:cNvPr id="18" name="object-18">
            <a:extLst>
              <a:ext uri="{FF2B5EF4-FFF2-40B4-BE49-F238E27FC236}">
                <a16:creationId xmlns:a16="http://schemas.microsoft.com/office/drawing/2014/main" id="{E277A7F0-C286-4C2A-B29C-4D5F48D292E8}"/>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C19A0930-9817-4BB6-9595-4E452F27F184}"/>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208 because 208 x 48 = 9,984.</a:t>
            </a:r>
          </a:p>
        </p:txBody>
      </p:sp>
      <p:sp>
        <p:nvSpPr>
          <p:cNvPr id="20" name="object-20">
            <a:extLst>
              <a:ext uri="{FF2B5EF4-FFF2-40B4-BE49-F238E27FC236}">
                <a16:creationId xmlns:a16="http://schemas.microsoft.com/office/drawing/2014/main" id="{06AA31F3-F267-4249-A8EF-718019C98D1F}"/>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ABC77D65-7B03-45F1-8E4F-20066F118BA2}"/>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After each subtraction, bring down exactly one next place-value digit.</a:t>
            </a:r>
          </a:p>
        </p:txBody>
      </p:sp>
      <p:sp>
        <p:nvSpPr>
          <p:cNvPr id="22" name="object-22">
            <a:extLst>
              <a:ext uri="{FF2B5EF4-FFF2-40B4-BE49-F238E27FC236}">
                <a16:creationId xmlns:a16="http://schemas.microsoft.com/office/drawing/2014/main" id="{939718DA-74C6-4D91-9919-2287CD1D42A6}"/>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FE210DAF-A3DA-4A3A-8E4A-58DFDE09379A}"/>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85883DF5-C772-4744-949D-CBB53ADDF97E}"/>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0E3AA7D9-C391-47AD-95BA-2B81D05FCD76}"/>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69726628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1119</Words>
  <Application>Microsoft Office PowerPoint</Application>
  <DocSecurity>0</DocSecurity>
  <PresentationFormat>Custom</PresentationFormat>
  <Paragraphs>154</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2026-09-14T13:14:15Z</dcterms:created>
  <dcterms:modified xsi:type="dcterms:W3CDTF">2026-09-14T13:18:22Z</dcterms:modified>
</cp:coreProperties>
</file>