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5240000" cy="8572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and check division problems. Solve and check division problems. Introduce the mathematical idea using the first worked example. The lesson can be placed anywhere in the teaching sequence.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and check division problems. I do. Work left to right. Divide, multiply back, subtract, then bring down the next digit. Digits move into the next partial dividend. Leading zero quotient digits are omitted unless needed for a decimal.</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and check division problems. You do. Pause before clicking. Let pupils try independently, then reveal and discuss every step. Work left to right. Divide, multiply back, subtract, then bring down the next digit. Digits move into the next partial dividend. Leading zero quotient digits are omitted unless needed for a decimal.</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and check division problems. I do. Work left to right. Divide, multiply back, subtract, then bring down the next digit. Digits move into the next partial dividend. Leading zero quotient digits are omitted unless needed for a decimal.</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and check division problems. You do. Pause before clicking. Let pupils try independently, then reveal and discuss every step. Work left to right. Divide, multiply back, subtract, then bring down the next digit. Digits move into the next partial dividend. Leading zero quotient digits are omitted unless needed for a decimal.</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and check division problems. You do. Pause before clicking. Let pupils try independently, then reveal and discuss every step. These are the existing expected-level worksheet questions, in their original order. Do not advance to the answer slide until pupils have had time to finish.</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and check division problems. Answers. Answers to the preceding complete activity question set, in matching order. Accept mathematically valid alternatives for open questions.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object-1">
            <a:extLst>
              <a:ext uri="{FF2B5EF4-FFF2-40B4-BE49-F238E27FC236}">
                <a16:creationId xmlns:a16="http://schemas.microsoft.com/office/drawing/2014/main" id="{3F19B710-D115-4248-82CE-27CFF85F93DE}"/>
              </a:ext>
            </a:extLst>
          </p:cNvPr>
          <p:cNvSpPr>
            <a:spLocks noGrp="1"/>
          </p:cNvSpPr>
          <p:nvPr/>
        </p:nvSpPr>
        <p:spPr>
          <a:xfrm>
            <a:off x="654844" y="357188"/>
            <a:ext cx="13930313" cy="1547813"/>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Solve and check division problems</a:t>
            </a:r>
          </a:p>
        </p:txBody>
      </p:sp>
      <p:sp>
        <p:nvSpPr>
          <p:cNvPr id="2" name="object-2">
            <a:extLst>
              <a:ext uri="{FF2B5EF4-FFF2-40B4-BE49-F238E27FC236}">
                <a16:creationId xmlns:a16="http://schemas.microsoft.com/office/drawing/2014/main" id="{11AEE5C6-8C49-4D3B-837B-A95BFECCDD57}"/>
              </a:ext>
            </a:extLst>
          </p:cNvPr>
          <p:cNvSpPr>
            <a:spLocks noGrp="1"/>
          </p:cNvSpPr>
          <p:nvPr/>
        </p:nvSpPr>
        <p:spPr>
          <a:xfrm>
            <a:off x="654844" y="2024063"/>
            <a:ext cx="13930313" cy="1012031"/>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Watch the model. Try the next question. Explain what changes.</a:t>
            </a:r>
          </a:p>
        </p:txBody>
      </p:sp>
      <p:sp>
        <p:nvSpPr>
          <p:cNvPr id="3" name="object-3">
            <a:extLst>
              <a:ext uri="{FF2B5EF4-FFF2-40B4-BE49-F238E27FC236}">
                <a16:creationId xmlns:a16="http://schemas.microsoft.com/office/drawing/2014/main" id="{177D812B-7EFF-4FB5-9374-017D3CA0700F}"/>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C1CDBF73-06E7-45C7-A5CB-5BB21B2B5F3E}"/>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and check division problems</a:t>
            </a:r>
          </a:p>
        </p:txBody>
      </p:sp>
      <p:sp>
        <p:nvSpPr>
          <p:cNvPr id="5" name="object-5">
            <a:extLst>
              <a:ext uri="{FF2B5EF4-FFF2-40B4-BE49-F238E27FC236}">
                <a16:creationId xmlns:a16="http://schemas.microsoft.com/office/drawing/2014/main" id="{6D0420EE-D1F7-43BD-AE99-A30714767BD6}"/>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1</a:t>
            </a:r>
          </a:p>
        </p:txBody>
      </p:sp>
      <p:sp>
        <p:nvSpPr>
          <p:cNvPr id="6" name="object-6">
            <a:extLst>
              <a:ext uri="{FF2B5EF4-FFF2-40B4-BE49-F238E27FC236}">
                <a16:creationId xmlns:a16="http://schemas.microsoft.com/office/drawing/2014/main" id="{38FB67D3-C73E-4C69-A702-69DB14B59C54}"/>
              </a:ext>
            </a:extLst>
          </p:cNvPr>
          <p:cNvSpPr>
            <a:spLocks noGrp="1"/>
          </p:cNvSpPr>
          <p:nvPr/>
        </p:nvSpPr>
        <p:spPr>
          <a:xfrm>
            <a:off x="1190625" y="3631406"/>
            <a:ext cx="12858750" cy="2143125"/>
          </a:xfrm>
          <a:prstGeom prst="rect">
            <a:avLst/>
          </a:prstGeom>
          <a:noFill/>
          <a:ln w="0">
            <a:noFill/>
          </a:ln>
        </p:spPr>
        <p:txBody>
          <a:bodyPr anchor="ctr">
            <a:noAutofit/>
          </a:bodyPr>
          <a:lstStyle/>
          <a:p>
            <a:pPr algn="ctr">
              <a:defRPr sz="3375" b="1">
                <a:solidFill>
                  <a:srgbClr val="1D4ED8"/>
                </a:solidFill>
                <a:latin typeface="Arial"/>
                <a:ea typeface="Arial"/>
                <a:cs typeface="Arial"/>
              </a:defRPr>
            </a:pPr>
            <a:r>
              <a:rPr sz="3375" b="1">
                <a:solidFill>
                  <a:srgbClr val="1D4ED8"/>
                </a:solidFill>
                <a:latin typeface="Arial"/>
                <a:ea typeface="Arial"/>
                <a:cs typeface="Arial"/>
              </a:rPr>
              <a:t>To select, solve and check division calculations.</a:t>
            </a:r>
          </a:p>
        </p:txBody>
      </p:sp>
    </p:spTree>
    <p:extLst>
      <p:ext uri="{BB962C8B-B14F-4D97-AF65-F5344CB8AC3E}">
        <p14:creationId xmlns:p14="http://schemas.microsoft.com/office/powerpoint/2010/main" val="9716794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object-1">
            <a:extLst>
              <a:ext uri="{FF2B5EF4-FFF2-40B4-BE49-F238E27FC236}">
                <a16:creationId xmlns:a16="http://schemas.microsoft.com/office/drawing/2014/main" id="{EF0D52B7-5B7F-4A12-A09E-56E4647C8476}"/>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03B3A8E7-3369-4CC2-B40F-62BAF1689CC0}"/>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9,360 ÷ 36.</a:t>
            </a:r>
          </a:p>
        </p:txBody>
      </p:sp>
      <p:sp>
        <p:nvSpPr>
          <p:cNvPr id="3" name="object-3">
            <a:extLst>
              <a:ext uri="{FF2B5EF4-FFF2-40B4-BE49-F238E27FC236}">
                <a16:creationId xmlns:a16="http://schemas.microsoft.com/office/drawing/2014/main" id="{7133A061-7AB0-4942-9248-E2DD70532DFD}"/>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02FBE59E-D267-4444-821A-025AC844C3A4}"/>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and check division problems</a:t>
            </a:r>
          </a:p>
        </p:txBody>
      </p:sp>
      <p:sp>
        <p:nvSpPr>
          <p:cNvPr id="5" name="object-5">
            <a:extLst>
              <a:ext uri="{FF2B5EF4-FFF2-40B4-BE49-F238E27FC236}">
                <a16:creationId xmlns:a16="http://schemas.microsoft.com/office/drawing/2014/main" id="{D86CC3F9-9739-4B95-B548-7441643AC013}"/>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2</a:t>
            </a:r>
          </a:p>
        </p:txBody>
      </p:sp>
      <p:sp>
        <p:nvSpPr>
          <p:cNvPr id="6" name="object-6">
            <a:extLst>
              <a:ext uri="{FF2B5EF4-FFF2-40B4-BE49-F238E27FC236}">
                <a16:creationId xmlns:a16="http://schemas.microsoft.com/office/drawing/2014/main" id="{DB7D9B8D-8780-4F9B-9FD5-94F220434845}"/>
              </a:ext>
            </a:extLst>
          </p:cNvPr>
          <p:cNvSpPr>
            <a:spLocks noGrp="1"/>
          </p:cNvSpPr>
          <p:nvPr/>
        </p:nvSpPr>
        <p:spPr>
          <a:xfrm>
            <a:off x="1785938" y="4012406"/>
            <a:ext cx="1428750" cy="833438"/>
          </a:xfrm>
          <a:prstGeom prst="rect">
            <a:avLst/>
          </a:prstGeom>
          <a:noFill/>
          <a:ln w="0">
            <a:noFill/>
          </a:ln>
        </p:spPr>
        <p:txBody>
          <a:bodyPr anchor="ctr">
            <a:noAutofit/>
          </a:bodyPr>
          <a:lstStyle/>
          <a:p>
            <a:pPr algn="ctr">
              <a:defRPr sz="4313" b="1">
                <a:solidFill>
                  <a:srgbClr val="1D4ED8"/>
                </a:solidFill>
                <a:latin typeface="Arial"/>
                <a:ea typeface="Arial"/>
                <a:cs typeface="Arial"/>
              </a:defRPr>
            </a:pPr>
            <a:r>
              <a:rPr sz="4313" b="1">
                <a:solidFill>
                  <a:srgbClr val="1D4ED8"/>
                </a:solidFill>
                <a:latin typeface="Arial"/>
                <a:ea typeface="Arial"/>
                <a:cs typeface="Arial"/>
              </a:rPr>
              <a:t>36</a:t>
            </a:r>
          </a:p>
        </p:txBody>
      </p:sp>
      <p:sp>
        <p:nvSpPr>
          <p:cNvPr id="7" name="object-7">
            <a:extLst>
              <a:ext uri="{FF2B5EF4-FFF2-40B4-BE49-F238E27FC236}">
                <a16:creationId xmlns:a16="http://schemas.microsoft.com/office/drawing/2014/main" id="{6420FE98-A0B3-4E5A-B940-0395205A602B}"/>
              </a:ext>
            </a:extLst>
          </p:cNvPr>
          <p:cNvSpPr>
            <a:spLocks noGrp="1"/>
          </p:cNvSpPr>
          <p:nvPr/>
        </p:nvSpPr>
        <p:spPr>
          <a:xfrm>
            <a:off x="3393281" y="3833813"/>
            <a:ext cx="0" cy="1226344"/>
          </a:xfrm>
          <a:prstGeom prst="line">
            <a:avLst/>
          </a:prstGeom>
          <a:noFill/>
          <a:ln w="35719">
            <a:solidFill>
              <a:srgbClr val="172B4D"/>
            </a:solidFill>
          </a:ln>
        </p:spPr>
      </p:sp>
      <p:sp>
        <p:nvSpPr>
          <p:cNvPr id="8" name="object-8">
            <a:extLst>
              <a:ext uri="{FF2B5EF4-FFF2-40B4-BE49-F238E27FC236}">
                <a16:creationId xmlns:a16="http://schemas.microsoft.com/office/drawing/2014/main" id="{C8698332-28FB-4C3D-9AE5-69017F21BF19}"/>
              </a:ext>
            </a:extLst>
          </p:cNvPr>
          <p:cNvSpPr>
            <a:spLocks noGrp="1"/>
          </p:cNvSpPr>
          <p:nvPr/>
        </p:nvSpPr>
        <p:spPr>
          <a:xfrm>
            <a:off x="3393281" y="3833813"/>
            <a:ext cx="9644063" cy="35719"/>
          </a:xfrm>
          <a:prstGeom prst="rect">
            <a:avLst/>
          </a:prstGeom>
          <a:solidFill>
            <a:srgbClr val="172B4D"/>
          </a:solidFill>
          <a:ln w="0">
            <a:noFill/>
          </a:ln>
        </p:spPr>
      </p:sp>
      <p:sp>
        <p:nvSpPr>
          <p:cNvPr id="9" name="object-9">
            <a:extLst>
              <a:ext uri="{FF2B5EF4-FFF2-40B4-BE49-F238E27FC236}">
                <a16:creationId xmlns:a16="http://schemas.microsoft.com/office/drawing/2014/main" id="{8CF7B1C8-2233-4D04-8165-9D26B7093F81}"/>
              </a:ext>
            </a:extLst>
          </p:cNvPr>
          <p:cNvSpPr>
            <a:spLocks noGrp="1"/>
          </p:cNvSpPr>
          <p:nvPr/>
        </p:nvSpPr>
        <p:spPr>
          <a:xfrm>
            <a:off x="3810000"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9</a:t>
            </a:r>
          </a:p>
        </p:txBody>
      </p:sp>
      <p:sp>
        <p:nvSpPr>
          <p:cNvPr id="10" name="object-10">
            <a:extLst>
              <a:ext uri="{FF2B5EF4-FFF2-40B4-BE49-F238E27FC236}">
                <a16:creationId xmlns:a16="http://schemas.microsoft.com/office/drawing/2014/main" id="{7737D23F-9110-415C-B572-E9A95F998EE8}"/>
              </a:ext>
            </a:extLst>
          </p:cNvPr>
          <p:cNvSpPr>
            <a:spLocks noGrp="1"/>
          </p:cNvSpPr>
          <p:nvPr/>
        </p:nvSpPr>
        <p:spPr>
          <a:xfrm>
            <a:off x="4702969"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3</a:t>
            </a:r>
          </a:p>
        </p:txBody>
      </p:sp>
      <p:sp>
        <p:nvSpPr>
          <p:cNvPr id="11" name="object-11">
            <a:extLst>
              <a:ext uri="{FF2B5EF4-FFF2-40B4-BE49-F238E27FC236}">
                <a16:creationId xmlns:a16="http://schemas.microsoft.com/office/drawing/2014/main" id="{3896D833-F816-41C9-99A9-B1EA422F1188}"/>
              </a:ext>
            </a:extLst>
          </p:cNvPr>
          <p:cNvSpPr>
            <a:spLocks noGrp="1"/>
          </p:cNvSpPr>
          <p:nvPr/>
        </p:nvSpPr>
        <p:spPr>
          <a:xfrm>
            <a:off x="5595938"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6</a:t>
            </a:r>
          </a:p>
        </p:txBody>
      </p:sp>
      <p:sp>
        <p:nvSpPr>
          <p:cNvPr id="12" name="object-12">
            <a:extLst>
              <a:ext uri="{FF2B5EF4-FFF2-40B4-BE49-F238E27FC236}">
                <a16:creationId xmlns:a16="http://schemas.microsoft.com/office/drawing/2014/main" id="{0DD16991-4764-4C7E-A49B-CE8C2DC722EE}"/>
              </a:ext>
            </a:extLst>
          </p:cNvPr>
          <p:cNvSpPr>
            <a:spLocks noGrp="1"/>
          </p:cNvSpPr>
          <p:nvPr/>
        </p:nvSpPr>
        <p:spPr>
          <a:xfrm>
            <a:off x="6488906"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0</a:t>
            </a:r>
          </a:p>
        </p:txBody>
      </p:sp>
      <p:sp>
        <p:nvSpPr>
          <p:cNvPr id="13" name="object-13">
            <a:extLst>
              <a:ext uri="{FF2B5EF4-FFF2-40B4-BE49-F238E27FC236}">
                <a16:creationId xmlns:a16="http://schemas.microsoft.com/office/drawing/2014/main" id="{AABD8A71-274F-4C56-BEE4-D32322917BF5}"/>
              </a:ext>
            </a:extLst>
          </p:cNvPr>
          <p:cNvSpPr>
            <a:spLocks noGrp="1"/>
          </p:cNvSpPr>
          <p:nvPr/>
        </p:nvSpPr>
        <p:spPr>
          <a:xfrm>
            <a:off x="4702969"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2</a:t>
            </a:r>
          </a:p>
        </p:txBody>
      </p:sp>
      <p:sp>
        <p:nvSpPr>
          <p:cNvPr id="14" name="object-14">
            <a:extLst>
              <a:ext uri="{FF2B5EF4-FFF2-40B4-BE49-F238E27FC236}">
                <a16:creationId xmlns:a16="http://schemas.microsoft.com/office/drawing/2014/main" id="{96357DFD-CB24-4BC0-9A69-87D96EDD9160}"/>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36 fits into 93: 2 times</a:t>
            </a:r>
          </a:p>
        </p:txBody>
      </p:sp>
      <p:sp>
        <p:nvSpPr>
          <p:cNvPr id="15" name="object-15">
            <a:extLst>
              <a:ext uri="{FF2B5EF4-FFF2-40B4-BE49-F238E27FC236}">
                <a16:creationId xmlns:a16="http://schemas.microsoft.com/office/drawing/2014/main" id="{2D46FE4C-9ED2-431F-B67A-7C73F43E5995}"/>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93 − 72 = 21</a:t>
            </a:r>
          </a:p>
        </p:txBody>
      </p:sp>
      <p:sp>
        <p:nvSpPr>
          <p:cNvPr id="16" name="object-16">
            <a:extLst>
              <a:ext uri="{FF2B5EF4-FFF2-40B4-BE49-F238E27FC236}">
                <a16:creationId xmlns:a16="http://schemas.microsoft.com/office/drawing/2014/main" id="{FA0588E6-E186-486A-B0C8-C58A7F0767CE}"/>
              </a:ext>
            </a:extLst>
          </p:cNvPr>
          <p:cNvSpPr>
            <a:spLocks noGrp="1"/>
          </p:cNvSpPr>
          <p:nvPr/>
        </p:nvSpPr>
        <p:spPr>
          <a:xfrm>
            <a:off x="5595938"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6</a:t>
            </a:r>
          </a:p>
        </p:txBody>
      </p:sp>
      <p:sp>
        <p:nvSpPr>
          <p:cNvPr id="17" name="object-17">
            <a:extLst>
              <a:ext uri="{FF2B5EF4-FFF2-40B4-BE49-F238E27FC236}">
                <a16:creationId xmlns:a16="http://schemas.microsoft.com/office/drawing/2014/main" id="{0951F087-9376-4140-A856-FAD288680FC6}"/>
              </a:ext>
            </a:extLst>
          </p:cNvPr>
          <p:cNvSpPr>
            <a:spLocks noGrp="1"/>
          </p:cNvSpPr>
          <p:nvPr/>
        </p:nvSpPr>
        <p:spPr>
          <a:xfrm>
            <a:off x="5595938"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6</a:t>
            </a:r>
          </a:p>
        </p:txBody>
      </p:sp>
      <p:sp>
        <p:nvSpPr>
          <p:cNvPr id="18" name="object-18">
            <a:extLst>
              <a:ext uri="{FF2B5EF4-FFF2-40B4-BE49-F238E27FC236}">
                <a16:creationId xmlns:a16="http://schemas.microsoft.com/office/drawing/2014/main" id="{105AF32C-2A32-4D96-A7C1-BD856229305E}"/>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36 fits into 216: 6 times</a:t>
            </a:r>
          </a:p>
        </p:txBody>
      </p:sp>
      <p:sp>
        <p:nvSpPr>
          <p:cNvPr id="19" name="object-19">
            <a:extLst>
              <a:ext uri="{FF2B5EF4-FFF2-40B4-BE49-F238E27FC236}">
                <a16:creationId xmlns:a16="http://schemas.microsoft.com/office/drawing/2014/main" id="{90A28886-7435-4824-A59C-899C13207643}"/>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216 − 216 = 0</a:t>
            </a:r>
          </a:p>
        </p:txBody>
      </p:sp>
      <p:sp>
        <p:nvSpPr>
          <p:cNvPr id="20" name="object-20">
            <a:extLst>
              <a:ext uri="{FF2B5EF4-FFF2-40B4-BE49-F238E27FC236}">
                <a16:creationId xmlns:a16="http://schemas.microsoft.com/office/drawing/2014/main" id="{317D186C-AE85-4E58-AF8C-1180A0E79D39}"/>
              </a:ext>
            </a:extLst>
          </p:cNvPr>
          <p:cNvSpPr>
            <a:spLocks noGrp="1"/>
          </p:cNvSpPr>
          <p:nvPr/>
        </p:nvSpPr>
        <p:spPr>
          <a:xfrm>
            <a:off x="6488906"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0</a:t>
            </a:r>
          </a:p>
        </p:txBody>
      </p:sp>
      <p:sp>
        <p:nvSpPr>
          <p:cNvPr id="21" name="object-21">
            <a:extLst>
              <a:ext uri="{FF2B5EF4-FFF2-40B4-BE49-F238E27FC236}">
                <a16:creationId xmlns:a16="http://schemas.microsoft.com/office/drawing/2014/main" id="{D8A45174-2DC9-48AE-9110-B1BDAF2BAE21}"/>
              </a:ext>
            </a:extLst>
          </p:cNvPr>
          <p:cNvSpPr>
            <a:spLocks noGrp="1"/>
          </p:cNvSpPr>
          <p:nvPr/>
        </p:nvSpPr>
        <p:spPr>
          <a:xfrm>
            <a:off x="6488906"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0</a:t>
            </a:r>
          </a:p>
        </p:txBody>
      </p:sp>
      <p:sp>
        <p:nvSpPr>
          <p:cNvPr id="22" name="object-22">
            <a:extLst>
              <a:ext uri="{FF2B5EF4-FFF2-40B4-BE49-F238E27FC236}">
                <a16:creationId xmlns:a16="http://schemas.microsoft.com/office/drawing/2014/main" id="{0FCF2FDC-F778-40B9-850E-3DC940F60903}"/>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36 fits into 0: 0 times</a:t>
            </a:r>
          </a:p>
        </p:txBody>
      </p:sp>
      <p:sp>
        <p:nvSpPr>
          <p:cNvPr id="23" name="object-23">
            <a:extLst>
              <a:ext uri="{FF2B5EF4-FFF2-40B4-BE49-F238E27FC236}">
                <a16:creationId xmlns:a16="http://schemas.microsoft.com/office/drawing/2014/main" id="{A130B219-B456-46EE-A3D1-29B7956CB541}"/>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0 − 0 = 0</a:t>
            </a:r>
          </a:p>
        </p:txBody>
      </p:sp>
      <p:sp>
        <p:nvSpPr>
          <p:cNvPr id="24" name="object-24">
            <a:extLst>
              <a:ext uri="{FF2B5EF4-FFF2-40B4-BE49-F238E27FC236}">
                <a16:creationId xmlns:a16="http://schemas.microsoft.com/office/drawing/2014/main" id="{9A4684E9-51B5-45F6-AFC0-355C65CDB132}"/>
              </a:ext>
            </a:extLst>
          </p:cNvPr>
          <p:cNvSpPr>
            <a:spLocks noGrp="1"/>
          </p:cNvSpPr>
          <p:nvPr/>
        </p:nvSpPr>
        <p:spPr>
          <a:xfrm>
            <a:off x="892969" y="7227094"/>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9,360 ÷ 36 = 260</a:t>
            </a:r>
          </a:p>
        </p:txBody>
      </p:sp>
    </p:spTree>
    <p:extLst>
      <p:ext uri="{BB962C8B-B14F-4D97-AF65-F5344CB8AC3E}">
        <p14:creationId xmlns:p14="http://schemas.microsoft.com/office/powerpoint/2010/main" val="370895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par>
                          <p:cTn id="13" fill="hold">
                            <p:stCondLst>
                              <p:cond delay="0"/>
                            </p:stCondLst>
                            <p:childTnLst>
                              <p:par>
                                <p:cTn id="14" presetID="63" presetClass="path" presetSubtype="0" accel="50000" decel="50000" fill="hold" grpId="1" nodeType="afterEffect">
                                  <p:stCondLst>
                                    <p:cond delay="0"/>
                                  </p:stCondLst>
                                  <p:childTnLst>
                                    <p:animMotion origin="layout" path="M 0 0 L 0.296875 0.27083333 E" pathEditMode="relative" ptsTypes="">
                                      <p:cBhvr>
                                        <p:cTn id="15" dur="800" fill="hold"/>
                                        <p:tgtEl>
                                          <p:spTgt spid="16"/>
                                        </p:tgtEl>
                                        <p:attrNameLst>
                                          <p:attrName>ppt_x</p:attrName>
                                          <p:attrName>ppt_y</p:attrName>
                                        </p:attrNameLst>
                                      </p:cBhvr>
                                    </p:animMotion>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childTnLst>
                                </p:cTn>
                              </p:par>
                              <p:par>
                                <p:cTn id="20" presetID="1" presetClass="exit" presetSubtype="0" fill="hold" grpId="1" nodeType="withEffect">
                                  <p:stCondLst>
                                    <p:cond delay="0"/>
                                  </p:stCondLst>
                                  <p:childTnLst>
                                    <p:set>
                                      <p:cBhvr>
                                        <p:cTn id="21" dur="1" fill="hold">
                                          <p:stCondLst>
                                            <p:cond delay="0"/>
                                          </p:stCondLst>
                                        </p:cTn>
                                        <p:tgtEl>
                                          <p:spTgt spid="14"/>
                                        </p:tgtEl>
                                        <p:attrNameLst>
                                          <p:attrName>style.visibility</p:attrName>
                                        </p:attrNameLst>
                                      </p:cBhvr>
                                      <p:to>
                                        <p:strVal val="hidden"/>
                                      </p:to>
                                    </p:set>
                                  </p:childTnLst>
                                </p:cTn>
                              </p:par>
                              <p:par>
                                <p:cTn id="22" presetID="1" presetClass="exit" presetSubtype="0" fill="hold" grpId="1" nodeType="withEffect">
                                  <p:stCondLst>
                                    <p:cond delay="0"/>
                                  </p:stCondLst>
                                  <p:childTnLst>
                                    <p:set>
                                      <p:cBhvr>
                                        <p:cTn id="23" dur="1" fill="hold">
                                          <p:stCondLst>
                                            <p:cond delay="0"/>
                                          </p:stCondLst>
                                        </p:cTn>
                                        <p:tgtEl>
                                          <p:spTgt spid="15"/>
                                        </p:tgtEl>
                                        <p:attrNameLst>
                                          <p:attrName>style.visibility</p:attrName>
                                        </p:attrNameLst>
                                      </p:cBhvr>
                                      <p:to>
                                        <p:strVal val="hidden"/>
                                      </p:to>
                                    </p:set>
                                  </p:childTnLst>
                                </p:cTn>
                              </p:par>
                              <p:par>
                                <p:cTn id="24" presetID="1" presetClass="exit" presetSubtype="0" fill="hold" grpId="2" nodeType="withEffect">
                                  <p:stCondLst>
                                    <p:cond delay="0"/>
                                  </p:stCondLst>
                                  <p:childTnLst>
                                    <p:set>
                                      <p:cBhvr>
                                        <p:cTn id="25" dur="1" fill="hold">
                                          <p:stCondLst>
                                            <p:cond delay="0"/>
                                          </p:stCondLst>
                                        </p:cTn>
                                        <p:tgtEl>
                                          <p:spTgt spid="16"/>
                                        </p:tgtEl>
                                        <p:attrNameLst>
                                          <p:attrName>style.visibility</p:attrName>
                                        </p:attrNameLst>
                                      </p:cBhvr>
                                      <p:to>
                                        <p:strVal val="hidden"/>
                                      </p:to>
                                    </p:set>
                                  </p:childTnLst>
                                </p:cTn>
                              </p:par>
                              <p:par>
                                <p:cTn id="26" presetID="1"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childTnLst>
                          </p:cTn>
                        </p:par>
                        <p:par>
                          <p:cTn id="32" fill="hold">
                            <p:stCondLst>
                              <p:cond delay="0"/>
                            </p:stCondLst>
                            <p:childTnLst>
                              <p:par>
                                <p:cTn id="33" presetID="63" presetClass="path" presetSubtype="0" accel="50000" decel="50000" fill="hold" grpId="1" nodeType="afterEffect">
                                  <p:stCondLst>
                                    <p:cond delay="0"/>
                                  </p:stCondLst>
                                  <p:childTnLst>
                                    <p:animMotion origin="layout" path="M 0 0 L 0.23828125 0.27083333 E" pathEditMode="relative" ptsTypes="">
                                      <p:cBhvr>
                                        <p:cTn id="34" dur="800" fill="hold"/>
                                        <p:tgtEl>
                                          <p:spTgt spid="20"/>
                                        </p:tgtEl>
                                        <p:attrNameLst>
                                          <p:attrName>ppt_x</p:attrName>
                                          <p:attrName>ppt_y</p:attrName>
                                        </p:attrNameLst>
                                      </p:cBhvr>
                                    </p:animMotion>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xit" presetSubtype="0" fill="hold" grpId="1" nodeType="withEffect">
                                  <p:stCondLst>
                                    <p:cond delay="0"/>
                                  </p:stCondLst>
                                  <p:childTnLst>
                                    <p:set>
                                      <p:cBhvr>
                                        <p:cTn id="40" dur="1" fill="hold">
                                          <p:stCondLst>
                                            <p:cond delay="0"/>
                                          </p:stCondLst>
                                        </p:cTn>
                                        <p:tgtEl>
                                          <p:spTgt spid="18"/>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19"/>
                                        </p:tgtEl>
                                        <p:attrNameLst>
                                          <p:attrName>style.visibility</p:attrName>
                                        </p:attrNameLst>
                                      </p:cBhvr>
                                      <p:to>
                                        <p:strVal val="hidden"/>
                                      </p:to>
                                    </p:set>
                                  </p:childTnLst>
                                </p:cTn>
                              </p:par>
                              <p:par>
                                <p:cTn id="43" presetID="1" presetClass="exit" presetSubtype="0" fill="hold" grpId="2" nodeType="withEffect">
                                  <p:stCondLst>
                                    <p:cond delay="0"/>
                                  </p:stCondLst>
                                  <p:childTnLst>
                                    <p:set>
                                      <p:cBhvr>
                                        <p:cTn id="44" dur="1" fill="hold">
                                          <p:stCondLst>
                                            <p:cond delay="0"/>
                                          </p:stCondLst>
                                        </p:cTn>
                                        <p:tgtEl>
                                          <p:spTgt spid="20"/>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4" grpId="1"/>
      <p:bldP spid="15" grpId="0"/>
      <p:bldP spid="15" grpId="1"/>
      <p:bldP spid="16" grpId="0"/>
      <p:bldP spid="16" grpId="1"/>
      <p:bldP spid="16" grpId="2"/>
      <p:bldP spid="17" grpId="0"/>
      <p:bldP spid="18" grpId="0"/>
      <p:bldP spid="18" grpId="1"/>
      <p:bldP spid="19" grpId="0"/>
      <p:bldP spid="19" grpId="1"/>
      <p:bldP spid="20" grpId="0"/>
      <p:bldP spid="20" grpId="1"/>
      <p:bldP spid="20" grpId="2"/>
      <p:bldP spid="21" grpId="0"/>
      <p:bldP spid="22" grpId="0"/>
      <p:bldP spid="23" grpId="0"/>
      <p:bldP spid="2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object-1">
            <a:extLst>
              <a:ext uri="{FF2B5EF4-FFF2-40B4-BE49-F238E27FC236}">
                <a16:creationId xmlns:a16="http://schemas.microsoft.com/office/drawing/2014/main" id="{81648417-960B-44A7-9E64-13C9F67C785D}"/>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32C7CC89-0ED4-45CD-BF11-F65EA5F65C8B}"/>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9A1E6FAE-AD34-4C97-9B6B-4E0F0C92F2F3}"/>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9,756 ÷ 36.</a:t>
            </a:r>
          </a:p>
        </p:txBody>
      </p:sp>
      <p:sp>
        <p:nvSpPr>
          <p:cNvPr id="4" name="object-4">
            <a:extLst>
              <a:ext uri="{FF2B5EF4-FFF2-40B4-BE49-F238E27FC236}">
                <a16:creationId xmlns:a16="http://schemas.microsoft.com/office/drawing/2014/main" id="{088E6D07-CDC3-46F1-A0C3-4A0FA7606E06}"/>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42F69C95-EC3F-4B12-86F3-92B7FE7C198E}"/>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and check division problems</a:t>
            </a:r>
          </a:p>
        </p:txBody>
      </p:sp>
      <p:sp>
        <p:nvSpPr>
          <p:cNvPr id="6" name="object-6">
            <a:extLst>
              <a:ext uri="{FF2B5EF4-FFF2-40B4-BE49-F238E27FC236}">
                <a16:creationId xmlns:a16="http://schemas.microsoft.com/office/drawing/2014/main" id="{F8EBC0FD-11F8-4833-83A3-8ACA1ABF319C}"/>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3</a:t>
            </a:r>
          </a:p>
        </p:txBody>
      </p:sp>
      <p:sp>
        <p:nvSpPr>
          <p:cNvPr id="7" name="object-7">
            <a:extLst>
              <a:ext uri="{FF2B5EF4-FFF2-40B4-BE49-F238E27FC236}">
                <a16:creationId xmlns:a16="http://schemas.microsoft.com/office/drawing/2014/main" id="{273E9C0E-862A-47E4-9359-C639DD5EC511}"/>
              </a:ext>
            </a:extLst>
          </p:cNvPr>
          <p:cNvSpPr>
            <a:spLocks noGrp="1"/>
          </p:cNvSpPr>
          <p:nvPr/>
        </p:nvSpPr>
        <p:spPr>
          <a:xfrm>
            <a:off x="1785938" y="4012406"/>
            <a:ext cx="1428750" cy="833438"/>
          </a:xfrm>
          <a:prstGeom prst="rect">
            <a:avLst/>
          </a:prstGeom>
          <a:noFill/>
          <a:ln w="0">
            <a:noFill/>
          </a:ln>
        </p:spPr>
        <p:txBody>
          <a:bodyPr anchor="ctr">
            <a:noAutofit/>
          </a:bodyPr>
          <a:lstStyle/>
          <a:p>
            <a:pPr algn="ctr">
              <a:defRPr sz="4313" b="1">
                <a:solidFill>
                  <a:srgbClr val="1D4ED8"/>
                </a:solidFill>
                <a:latin typeface="Arial"/>
                <a:ea typeface="Arial"/>
                <a:cs typeface="Arial"/>
              </a:defRPr>
            </a:pPr>
            <a:r>
              <a:rPr sz="4313" b="1">
                <a:solidFill>
                  <a:srgbClr val="1D4ED8"/>
                </a:solidFill>
                <a:latin typeface="Arial"/>
                <a:ea typeface="Arial"/>
                <a:cs typeface="Arial"/>
              </a:rPr>
              <a:t>36</a:t>
            </a:r>
          </a:p>
        </p:txBody>
      </p:sp>
      <p:sp>
        <p:nvSpPr>
          <p:cNvPr id="8" name="object-8">
            <a:extLst>
              <a:ext uri="{FF2B5EF4-FFF2-40B4-BE49-F238E27FC236}">
                <a16:creationId xmlns:a16="http://schemas.microsoft.com/office/drawing/2014/main" id="{E28C046F-3750-4752-BF8F-20425BD0A8C8}"/>
              </a:ext>
            </a:extLst>
          </p:cNvPr>
          <p:cNvSpPr>
            <a:spLocks noGrp="1"/>
          </p:cNvSpPr>
          <p:nvPr/>
        </p:nvSpPr>
        <p:spPr>
          <a:xfrm>
            <a:off x="3393281" y="3833813"/>
            <a:ext cx="0" cy="1226344"/>
          </a:xfrm>
          <a:prstGeom prst="line">
            <a:avLst/>
          </a:prstGeom>
          <a:noFill/>
          <a:ln w="35719">
            <a:solidFill>
              <a:srgbClr val="172B4D"/>
            </a:solidFill>
          </a:ln>
        </p:spPr>
      </p:sp>
      <p:sp>
        <p:nvSpPr>
          <p:cNvPr id="9" name="object-9">
            <a:extLst>
              <a:ext uri="{FF2B5EF4-FFF2-40B4-BE49-F238E27FC236}">
                <a16:creationId xmlns:a16="http://schemas.microsoft.com/office/drawing/2014/main" id="{ED8B74DD-D566-4050-B3D7-84BD70E2F029}"/>
              </a:ext>
            </a:extLst>
          </p:cNvPr>
          <p:cNvSpPr>
            <a:spLocks noGrp="1"/>
          </p:cNvSpPr>
          <p:nvPr/>
        </p:nvSpPr>
        <p:spPr>
          <a:xfrm>
            <a:off x="3393281" y="3833813"/>
            <a:ext cx="9644063" cy="35719"/>
          </a:xfrm>
          <a:prstGeom prst="rect">
            <a:avLst/>
          </a:prstGeom>
          <a:solidFill>
            <a:srgbClr val="172B4D"/>
          </a:solidFill>
          <a:ln w="0">
            <a:noFill/>
          </a:ln>
        </p:spPr>
      </p:sp>
      <p:sp>
        <p:nvSpPr>
          <p:cNvPr id="10" name="object-10">
            <a:extLst>
              <a:ext uri="{FF2B5EF4-FFF2-40B4-BE49-F238E27FC236}">
                <a16:creationId xmlns:a16="http://schemas.microsoft.com/office/drawing/2014/main" id="{F8011180-6C4A-4965-A4B8-FFF13AF6E10E}"/>
              </a:ext>
            </a:extLst>
          </p:cNvPr>
          <p:cNvSpPr>
            <a:spLocks noGrp="1"/>
          </p:cNvSpPr>
          <p:nvPr/>
        </p:nvSpPr>
        <p:spPr>
          <a:xfrm>
            <a:off x="3810000"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9</a:t>
            </a:r>
          </a:p>
        </p:txBody>
      </p:sp>
      <p:sp>
        <p:nvSpPr>
          <p:cNvPr id="11" name="object-11">
            <a:extLst>
              <a:ext uri="{FF2B5EF4-FFF2-40B4-BE49-F238E27FC236}">
                <a16:creationId xmlns:a16="http://schemas.microsoft.com/office/drawing/2014/main" id="{F2544417-0E56-42A3-A0E4-AF25EE21A5A6}"/>
              </a:ext>
            </a:extLst>
          </p:cNvPr>
          <p:cNvSpPr>
            <a:spLocks noGrp="1"/>
          </p:cNvSpPr>
          <p:nvPr/>
        </p:nvSpPr>
        <p:spPr>
          <a:xfrm>
            <a:off x="4702969"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7</a:t>
            </a:r>
          </a:p>
        </p:txBody>
      </p:sp>
      <p:sp>
        <p:nvSpPr>
          <p:cNvPr id="12" name="object-12">
            <a:extLst>
              <a:ext uri="{FF2B5EF4-FFF2-40B4-BE49-F238E27FC236}">
                <a16:creationId xmlns:a16="http://schemas.microsoft.com/office/drawing/2014/main" id="{446446C5-6652-4517-831C-7A884E9EC634}"/>
              </a:ext>
            </a:extLst>
          </p:cNvPr>
          <p:cNvSpPr>
            <a:spLocks noGrp="1"/>
          </p:cNvSpPr>
          <p:nvPr/>
        </p:nvSpPr>
        <p:spPr>
          <a:xfrm>
            <a:off x="5595938"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5</a:t>
            </a:r>
          </a:p>
        </p:txBody>
      </p:sp>
      <p:sp>
        <p:nvSpPr>
          <p:cNvPr id="13" name="object-13">
            <a:extLst>
              <a:ext uri="{FF2B5EF4-FFF2-40B4-BE49-F238E27FC236}">
                <a16:creationId xmlns:a16="http://schemas.microsoft.com/office/drawing/2014/main" id="{69F4BA6E-787B-4C5E-BC54-5F37A88D0817}"/>
              </a:ext>
            </a:extLst>
          </p:cNvPr>
          <p:cNvSpPr>
            <a:spLocks noGrp="1"/>
          </p:cNvSpPr>
          <p:nvPr/>
        </p:nvSpPr>
        <p:spPr>
          <a:xfrm>
            <a:off x="6488906"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6</a:t>
            </a:r>
          </a:p>
        </p:txBody>
      </p:sp>
      <p:sp>
        <p:nvSpPr>
          <p:cNvPr id="14" name="object-14">
            <a:extLst>
              <a:ext uri="{FF2B5EF4-FFF2-40B4-BE49-F238E27FC236}">
                <a16:creationId xmlns:a16="http://schemas.microsoft.com/office/drawing/2014/main" id="{8069441F-FE02-47E7-AE28-7AA941A95D4F}"/>
              </a:ext>
            </a:extLst>
          </p:cNvPr>
          <p:cNvSpPr>
            <a:spLocks noGrp="1"/>
          </p:cNvSpPr>
          <p:nvPr/>
        </p:nvSpPr>
        <p:spPr>
          <a:xfrm>
            <a:off x="4702969"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2</a:t>
            </a:r>
          </a:p>
        </p:txBody>
      </p:sp>
      <p:sp>
        <p:nvSpPr>
          <p:cNvPr id="15" name="object-15">
            <a:extLst>
              <a:ext uri="{FF2B5EF4-FFF2-40B4-BE49-F238E27FC236}">
                <a16:creationId xmlns:a16="http://schemas.microsoft.com/office/drawing/2014/main" id="{58EB92E7-12DF-48AA-84BB-14668A4F2203}"/>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36 fits into 97: 2 times</a:t>
            </a:r>
          </a:p>
        </p:txBody>
      </p:sp>
      <p:sp>
        <p:nvSpPr>
          <p:cNvPr id="16" name="object-16">
            <a:extLst>
              <a:ext uri="{FF2B5EF4-FFF2-40B4-BE49-F238E27FC236}">
                <a16:creationId xmlns:a16="http://schemas.microsoft.com/office/drawing/2014/main" id="{13D34F59-15DA-4320-99E9-ED35CE6620CB}"/>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97 − 72 = 25</a:t>
            </a:r>
          </a:p>
        </p:txBody>
      </p:sp>
      <p:sp>
        <p:nvSpPr>
          <p:cNvPr id="17" name="object-17">
            <a:extLst>
              <a:ext uri="{FF2B5EF4-FFF2-40B4-BE49-F238E27FC236}">
                <a16:creationId xmlns:a16="http://schemas.microsoft.com/office/drawing/2014/main" id="{A5E472E8-FFB2-44E8-9056-8EB93916B221}"/>
              </a:ext>
            </a:extLst>
          </p:cNvPr>
          <p:cNvSpPr>
            <a:spLocks noGrp="1"/>
          </p:cNvSpPr>
          <p:nvPr/>
        </p:nvSpPr>
        <p:spPr>
          <a:xfrm>
            <a:off x="5595938"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5</a:t>
            </a:r>
          </a:p>
        </p:txBody>
      </p:sp>
      <p:sp>
        <p:nvSpPr>
          <p:cNvPr id="18" name="object-18">
            <a:extLst>
              <a:ext uri="{FF2B5EF4-FFF2-40B4-BE49-F238E27FC236}">
                <a16:creationId xmlns:a16="http://schemas.microsoft.com/office/drawing/2014/main" id="{85234FD5-AE19-4226-8EBA-E8A527D8F9B4}"/>
              </a:ext>
            </a:extLst>
          </p:cNvPr>
          <p:cNvSpPr>
            <a:spLocks noGrp="1"/>
          </p:cNvSpPr>
          <p:nvPr/>
        </p:nvSpPr>
        <p:spPr>
          <a:xfrm>
            <a:off x="5595938"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7</a:t>
            </a:r>
          </a:p>
        </p:txBody>
      </p:sp>
      <p:sp>
        <p:nvSpPr>
          <p:cNvPr id="19" name="object-19">
            <a:extLst>
              <a:ext uri="{FF2B5EF4-FFF2-40B4-BE49-F238E27FC236}">
                <a16:creationId xmlns:a16="http://schemas.microsoft.com/office/drawing/2014/main" id="{770D8672-1282-4955-A177-BE50FAA0FC7A}"/>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36 fits into 255: 7 times</a:t>
            </a:r>
          </a:p>
        </p:txBody>
      </p:sp>
      <p:sp>
        <p:nvSpPr>
          <p:cNvPr id="20" name="object-20">
            <a:extLst>
              <a:ext uri="{FF2B5EF4-FFF2-40B4-BE49-F238E27FC236}">
                <a16:creationId xmlns:a16="http://schemas.microsoft.com/office/drawing/2014/main" id="{7762534F-0687-4941-8608-A8C300187AF9}"/>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255 − 252 = 3</a:t>
            </a:r>
          </a:p>
        </p:txBody>
      </p:sp>
      <p:sp>
        <p:nvSpPr>
          <p:cNvPr id="21" name="object-21">
            <a:extLst>
              <a:ext uri="{FF2B5EF4-FFF2-40B4-BE49-F238E27FC236}">
                <a16:creationId xmlns:a16="http://schemas.microsoft.com/office/drawing/2014/main" id="{39A5F8EC-48A8-4881-939D-D77E3B8F2C15}"/>
              </a:ext>
            </a:extLst>
          </p:cNvPr>
          <p:cNvSpPr>
            <a:spLocks noGrp="1"/>
          </p:cNvSpPr>
          <p:nvPr/>
        </p:nvSpPr>
        <p:spPr>
          <a:xfrm>
            <a:off x="6488906"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6</a:t>
            </a:r>
          </a:p>
        </p:txBody>
      </p:sp>
      <p:sp>
        <p:nvSpPr>
          <p:cNvPr id="22" name="object-22">
            <a:extLst>
              <a:ext uri="{FF2B5EF4-FFF2-40B4-BE49-F238E27FC236}">
                <a16:creationId xmlns:a16="http://schemas.microsoft.com/office/drawing/2014/main" id="{F737F01C-D23F-4F90-A305-E54A24718044}"/>
              </a:ext>
            </a:extLst>
          </p:cNvPr>
          <p:cNvSpPr>
            <a:spLocks noGrp="1"/>
          </p:cNvSpPr>
          <p:nvPr/>
        </p:nvSpPr>
        <p:spPr>
          <a:xfrm>
            <a:off x="6488906"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1</a:t>
            </a:r>
          </a:p>
        </p:txBody>
      </p:sp>
      <p:sp>
        <p:nvSpPr>
          <p:cNvPr id="23" name="object-23">
            <a:extLst>
              <a:ext uri="{FF2B5EF4-FFF2-40B4-BE49-F238E27FC236}">
                <a16:creationId xmlns:a16="http://schemas.microsoft.com/office/drawing/2014/main" id="{9D4839D3-7469-4DC6-9DE0-9553CB0F16CA}"/>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36 fits into 36: 1 times</a:t>
            </a:r>
          </a:p>
        </p:txBody>
      </p:sp>
      <p:sp>
        <p:nvSpPr>
          <p:cNvPr id="24" name="object-24">
            <a:extLst>
              <a:ext uri="{FF2B5EF4-FFF2-40B4-BE49-F238E27FC236}">
                <a16:creationId xmlns:a16="http://schemas.microsoft.com/office/drawing/2014/main" id="{6D30753B-2B97-4C7D-8E70-02140E1E9B65}"/>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36 − 36 = 0</a:t>
            </a:r>
          </a:p>
        </p:txBody>
      </p:sp>
      <p:sp>
        <p:nvSpPr>
          <p:cNvPr id="25" name="object-25">
            <a:extLst>
              <a:ext uri="{FF2B5EF4-FFF2-40B4-BE49-F238E27FC236}">
                <a16:creationId xmlns:a16="http://schemas.microsoft.com/office/drawing/2014/main" id="{939EE602-EA26-47A1-91BD-42D59CB0128A}"/>
              </a:ext>
            </a:extLst>
          </p:cNvPr>
          <p:cNvSpPr>
            <a:spLocks noGrp="1"/>
          </p:cNvSpPr>
          <p:nvPr/>
        </p:nvSpPr>
        <p:spPr>
          <a:xfrm>
            <a:off x="892969" y="7227094"/>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9,756 ÷ 36 = 271</a:t>
            </a:r>
          </a:p>
        </p:txBody>
      </p:sp>
    </p:spTree>
    <p:extLst>
      <p:ext uri="{BB962C8B-B14F-4D97-AF65-F5344CB8AC3E}">
        <p14:creationId xmlns:p14="http://schemas.microsoft.com/office/powerpoint/2010/main" val="2056350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par>
                          <p:cTn id="13" fill="hold">
                            <p:stCondLst>
                              <p:cond delay="0"/>
                            </p:stCondLst>
                            <p:childTnLst>
                              <p:par>
                                <p:cTn id="14" presetID="63" presetClass="path" presetSubtype="0" accel="50000" decel="50000" fill="hold" grpId="1" nodeType="afterEffect">
                                  <p:stCondLst>
                                    <p:cond delay="0"/>
                                  </p:stCondLst>
                                  <p:childTnLst>
                                    <p:animMotion origin="layout" path="M 0 0 L 0.296875 0.27083333 E" pathEditMode="relative" ptsTypes="">
                                      <p:cBhvr>
                                        <p:cTn id="15" dur="800" fill="hold"/>
                                        <p:tgtEl>
                                          <p:spTgt spid="17"/>
                                        </p:tgtEl>
                                        <p:attrNameLst>
                                          <p:attrName>ppt_x</p:attrName>
                                          <p:attrName>ppt_y</p:attrName>
                                        </p:attrNameLst>
                                      </p:cBhvr>
                                    </p:animMotion>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childTnLst>
                                </p:cTn>
                              </p:par>
                              <p:par>
                                <p:cTn id="20" presetID="1" presetClass="exit" presetSubtype="0" fill="hold" grpId="1" nodeType="withEffect">
                                  <p:stCondLst>
                                    <p:cond delay="0"/>
                                  </p:stCondLst>
                                  <p:childTnLst>
                                    <p:set>
                                      <p:cBhvr>
                                        <p:cTn id="21" dur="1" fill="hold">
                                          <p:stCondLst>
                                            <p:cond delay="0"/>
                                          </p:stCondLst>
                                        </p:cTn>
                                        <p:tgtEl>
                                          <p:spTgt spid="15"/>
                                        </p:tgtEl>
                                        <p:attrNameLst>
                                          <p:attrName>style.visibility</p:attrName>
                                        </p:attrNameLst>
                                      </p:cBhvr>
                                      <p:to>
                                        <p:strVal val="hidden"/>
                                      </p:to>
                                    </p:set>
                                  </p:childTnLst>
                                </p:cTn>
                              </p:par>
                              <p:par>
                                <p:cTn id="22" presetID="1" presetClass="exit" presetSubtype="0" fill="hold" grpId="1" nodeType="withEffect">
                                  <p:stCondLst>
                                    <p:cond delay="0"/>
                                  </p:stCondLst>
                                  <p:childTnLst>
                                    <p:set>
                                      <p:cBhvr>
                                        <p:cTn id="23" dur="1" fill="hold">
                                          <p:stCondLst>
                                            <p:cond delay="0"/>
                                          </p:stCondLst>
                                        </p:cTn>
                                        <p:tgtEl>
                                          <p:spTgt spid="16"/>
                                        </p:tgtEl>
                                        <p:attrNameLst>
                                          <p:attrName>style.visibility</p:attrName>
                                        </p:attrNameLst>
                                      </p:cBhvr>
                                      <p:to>
                                        <p:strVal val="hidden"/>
                                      </p:to>
                                    </p:set>
                                  </p:childTnLst>
                                </p:cTn>
                              </p:par>
                              <p:par>
                                <p:cTn id="24" presetID="1" presetClass="exit" presetSubtype="0" fill="hold" grpId="2" nodeType="withEffect">
                                  <p:stCondLst>
                                    <p:cond delay="0"/>
                                  </p:stCondLst>
                                  <p:childTnLst>
                                    <p:set>
                                      <p:cBhvr>
                                        <p:cTn id="25" dur="1" fill="hold">
                                          <p:stCondLst>
                                            <p:cond delay="0"/>
                                          </p:stCondLst>
                                        </p:cTn>
                                        <p:tgtEl>
                                          <p:spTgt spid="17"/>
                                        </p:tgtEl>
                                        <p:attrNameLst>
                                          <p:attrName>style.visibility</p:attrName>
                                        </p:attrNameLst>
                                      </p:cBhvr>
                                      <p:to>
                                        <p:strVal val="hidden"/>
                                      </p:to>
                                    </p:set>
                                  </p:childTnLst>
                                </p:cTn>
                              </p:par>
                              <p:par>
                                <p:cTn id="26" presetID="1" presetClass="entr" presetSubtype="0"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childTnLst>
                                </p:cTn>
                              </p:par>
                            </p:childTnLst>
                          </p:cTn>
                        </p:par>
                        <p:par>
                          <p:cTn id="32" fill="hold">
                            <p:stCondLst>
                              <p:cond delay="0"/>
                            </p:stCondLst>
                            <p:childTnLst>
                              <p:par>
                                <p:cTn id="33" presetID="63" presetClass="path" presetSubtype="0" accel="50000" decel="50000" fill="hold" grpId="1" nodeType="afterEffect">
                                  <p:stCondLst>
                                    <p:cond delay="0"/>
                                  </p:stCondLst>
                                  <p:childTnLst>
                                    <p:animMotion origin="layout" path="M 0 0 L 0.23828125 0.27083333 E" pathEditMode="relative" ptsTypes="">
                                      <p:cBhvr>
                                        <p:cTn id="34" dur="800" fill="hold"/>
                                        <p:tgtEl>
                                          <p:spTgt spid="21"/>
                                        </p:tgtEl>
                                        <p:attrNameLst>
                                          <p:attrName>ppt_x</p:attrName>
                                          <p:attrName>ppt_y</p:attrName>
                                        </p:attrNameLst>
                                      </p:cBhvr>
                                    </p:animMotion>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xit" presetSubtype="0" fill="hold" grpId="1" nodeType="withEffect">
                                  <p:stCondLst>
                                    <p:cond delay="0"/>
                                  </p:stCondLst>
                                  <p:childTnLst>
                                    <p:set>
                                      <p:cBhvr>
                                        <p:cTn id="40" dur="1" fill="hold">
                                          <p:stCondLst>
                                            <p:cond delay="0"/>
                                          </p:stCondLst>
                                        </p:cTn>
                                        <p:tgtEl>
                                          <p:spTgt spid="19"/>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20"/>
                                        </p:tgtEl>
                                        <p:attrNameLst>
                                          <p:attrName>style.visibility</p:attrName>
                                        </p:attrNameLst>
                                      </p:cBhvr>
                                      <p:to>
                                        <p:strVal val="hidden"/>
                                      </p:to>
                                    </p:set>
                                  </p:childTnLst>
                                </p:cTn>
                              </p:par>
                              <p:par>
                                <p:cTn id="43" presetID="1" presetClass="exit" presetSubtype="0" fill="hold" grpId="2" nodeType="withEffect">
                                  <p:stCondLst>
                                    <p:cond delay="0"/>
                                  </p:stCondLst>
                                  <p:childTnLst>
                                    <p:set>
                                      <p:cBhvr>
                                        <p:cTn id="44" dur="1" fill="hold">
                                          <p:stCondLst>
                                            <p:cond delay="0"/>
                                          </p:stCondLst>
                                        </p:cTn>
                                        <p:tgtEl>
                                          <p:spTgt spid="21"/>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5" grpId="1"/>
      <p:bldP spid="16" grpId="0"/>
      <p:bldP spid="16" grpId="1"/>
      <p:bldP spid="17" grpId="0"/>
      <p:bldP spid="17" grpId="1"/>
      <p:bldP spid="17" grpId="2"/>
      <p:bldP spid="18" grpId="0"/>
      <p:bldP spid="19" grpId="0"/>
      <p:bldP spid="19" grpId="1"/>
      <p:bldP spid="20" grpId="0"/>
      <p:bldP spid="20" grpId="1"/>
      <p:bldP spid="21" grpId="0"/>
      <p:bldP spid="21" grpId="1"/>
      <p:bldP spid="21" grpId="2"/>
      <p:bldP spid="22" grpId="0"/>
      <p:bldP spid="23" grpId="0"/>
      <p:bldP spid="24" grpId="0"/>
      <p:bldP spid="25"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object-1">
            <a:extLst>
              <a:ext uri="{FF2B5EF4-FFF2-40B4-BE49-F238E27FC236}">
                <a16:creationId xmlns:a16="http://schemas.microsoft.com/office/drawing/2014/main" id="{8840117D-C685-4FCE-924E-73F95B6337D5}"/>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F5C13AD5-9A1A-4771-9A9F-A7716BBBF1C4}"/>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10,152 ÷ 36.</a:t>
            </a:r>
          </a:p>
        </p:txBody>
      </p:sp>
      <p:sp>
        <p:nvSpPr>
          <p:cNvPr id="3" name="object-3">
            <a:extLst>
              <a:ext uri="{FF2B5EF4-FFF2-40B4-BE49-F238E27FC236}">
                <a16:creationId xmlns:a16="http://schemas.microsoft.com/office/drawing/2014/main" id="{A9CA2146-221E-40FA-9BA2-E15B23791E7F}"/>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50D7CF0B-7821-4E25-A3AD-636DD96DB334}"/>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and check division problems</a:t>
            </a:r>
          </a:p>
        </p:txBody>
      </p:sp>
      <p:sp>
        <p:nvSpPr>
          <p:cNvPr id="5" name="object-5">
            <a:extLst>
              <a:ext uri="{FF2B5EF4-FFF2-40B4-BE49-F238E27FC236}">
                <a16:creationId xmlns:a16="http://schemas.microsoft.com/office/drawing/2014/main" id="{F1A2ECF5-6440-4EF3-8C30-D7E96E6DCC21}"/>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4</a:t>
            </a:r>
          </a:p>
        </p:txBody>
      </p:sp>
      <p:sp>
        <p:nvSpPr>
          <p:cNvPr id="6" name="object-6">
            <a:extLst>
              <a:ext uri="{FF2B5EF4-FFF2-40B4-BE49-F238E27FC236}">
                <a16:creationId xmlns:a16="http://schemas.microsoft.com/office/drawing/2014/main" id="{623198D6-0406-480E-81A0-4F65D22E7529}"/>
              </a:ext>
            </a:extLst>
          </p:cNvPr>
          <p:cNvSpPr>
            <a:spLocks noGrp="1"/>
          </p:cNvSpPr>
          <p:nvPr/>
        </p:nvSpPr>
        <p:spPr>
          <a:xfrm>
            <a:off x="1785938" y="4012406"/>
            <a:ext cx="1428750" cy="833438"/>
          </a:xfrm>
          <a:prstGeom prst="rect">
            <a:avLst/>
          </a:prstGeom>
          <a:noFill/>
          <a:ln w="0">
            <a:noFill/>
          </a:ln>
        </p:spPr>
        <p:txBody>
          <a:bodyPr anchor="ctr">
            <a:noAutofit/>
          </a:bodyPr>
          <a:lstStyle/>
          <a:p>
            <a:pPr algn="ctr">
              <a:defRPr sz="4313" b="1">
                <a:solidFill>
                  <a:srgbClr val="1D4ED8"/>
                </a:solidFill>
                <a:latin typeface="Arial"/>
                <a:ea typeface="Arial"/>
                <a:cs typeface="Arial"/>
              </a:defRPr>
            </a:pPr>
            <a:r>
              <a:rPr sz="4313" b="1">
                <a:solidFill>
                  <a:srgbClr val="1D4ED8"/>
                </a:solidFill>
                <a:latin typeface="Arial"/>
                <a:ea typeface="Arial"/>
                <a:cs typeface="Arial"/>
              </a:rPr>
              <a:t>36</a:t>
            </a:r>
          </a:p>
        </p:txBody>
      </p:sp>
      <p:sp>
        <p:nvSpPr>
          <p:cNvPr id="7" name="object-7">
            <a:extLst>
              <a:ext uri="{FF2B5EF4-FFF2-40B4-BE49-F238E27FC236}">
                <a16:creationId xmlns:a16="http://schemas.microsoft.com/office/drawing/2014/main" id="{086061C5-5319-4355-AB70-27B4B0D7DEC6}"/>
              </a:ext>
            </a:extLst>
          </p:cNvPr>
          <p:cNvSpPr>
            <a:spLocks noGrp="1"/>
          </p:cNvSpPr>
          <p:nvPr/>
        </p:nvSpPr>
        <p:spPr>
          <a:xfrm>
            <a:off x="3393281" y="3833813"/>
            <a:ext cx="0" cy="1226344"/>
          </a:xfrm>
          <a:prstGeom prst="line">
            <a:avLst/>
          </a:prstGeom>
          <a:noFill/>
          <a:ln w="35719">
            <a:solidFill>
              <a:srgbClr val="172B4D"/>
            </a:solidFill>
          </a:ln>
        </p:spPr>
      </p:sp>
      <p:sp>
        <p:nvSpPr>
          <p:cNvPr id="8" name="object-8">
            <a:extLst>
              <a:ext uri="{FF2B5EF4-FFF2-40B4-BE49-F238E27FC236}">
                <a16:creationId xmlns:a16="http://schemas.microsoft.com/office/drawing/2014/main" id="{80B983CC-DB81-4C25-A5C5-70A16713786F}"/>
              </a:ext>
            </a:extLst>
          </p:cNvPr>
          <p:cNvSpPr>
            <a:spLocks noGrp="1"/>
          </p:cNvSpPr>
          <p:nvPr/>
        </p:nvSpPr>
        <p:spPr>
          <a:xfrm>
            <a:off x="3393281" y="3833813"/>
            <a:ext cx="9644063" cy="35719"/>
          </a:xfrm>
          <a:prstGeom prst="rect">
            <a:avLst/>
          </a:prstGeom>
          <a:solidFill>
            <a:srgbClr val="172B4D"/>
          </a:solidFill>
          <a:ln w="0">
            <a:noFill/>
          </a:ln>
        </p:spPr>
      </p:sp>
      <p:sp>
        <p:nvSpPr>
          <p:cNvPr id="9" name="object-9">
            <a:extLst>
              <a:ext uri="{FF2B5EF4-FFF2-40B4-BE49-F238E27FC236}">
                <a16:creationId xmlns:a16="http://schemas.microsoft.com/office/drawing/2014/main" id="{2CF4E9C7-DCC3-4FEE-AEE2-41377B6B1D27}"/>
              </a:ext>
            </a:extLst>
          </p:cNvPr>
          <p:cNvSpPr>
            <a:spLocks noGrp="1"/>
          </p:cNvSpPr>
          <p:nvPr/>
        </p:nvSpPr>
        <p:spPr>
          <a:xfrm>
            <a:off x="3810000"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1</a:t>
            </a:r>
          </a:p>
        </p:txBody>
      </p:sp>
      <p:sp>
        <p:nvSpPr>
          <p:cNvPr id="10" name="object-10">
            <a:extLst>
              <a:ext uri="{FF2B5EF4-FFF2-40B4-BE49-F238E27FC236}">
                <a16:creationId xmlns:a16="http://schemas.microsoft.com/office/drawing/2014/main" id="{1B18F8BE-1B48-4CE3-A3B5-60D12FCAB07C}"/>
              </a:ext>
            </a:extLst>
          </p:cNvPr>
          <p:cNvSpPr>
            <a:spLocks noGrp="1"/>
          </p:cNvSpPr>
          <p:nvPr/>
        </p:nvSpPr>
        <p:spPr>
          <a:xfrm>
            <a:off x="4702969"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0</a:t>
            </a:r>
          </a:p>
        </p:txBody>
      </p:sp>
      <p:sp>
        <p:nvSpPr>
          <p:cNvPr id="11" name="object-11">
            <a:extLst>
              <a:ext uri="{FF2B5EF4-FFF2-40B4-BE49-F238E27FC236}">
                <a16:creationId xmlns:a16="http://schemas.microsoft.com/office/drawing/2014/main" id="{592074A4-4C92-4D44-AA62-B5F55922913D}"/>
              </a:ext>
            </a:extLst>
          </p:cNvPr>
          <p:cNvSpPr>
            <a:spLocks noGrp="1"/>
          </p:cNvSpPr>
          <p:nvPr/>
        </p:nvSpPr>
        <p:spPr>
          <a:xfrm>
            <a:off x="5595938"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1</a:t>
            </a:r>
          </a:p>
        </p:txBody>
      </p:sp>
      <p:sp>
        <p:nvSpPr>
          <p:cNvPr id="12" name="object-12">
            <a:extLst>
              <a:ext uri="{FF2B5EF4-FFF2-40B4-BE49-F238E27FC236}">
                <a16:creationId xmlns:a16="http://schemas.microsoft.com/office/drawing/2014/main" id="{47220BDC-3593-495A-B7D2-3ABA258B2B87}"/>
              </a:ext>
            </a:extLst>
          </p:cNvPr>
          <p:cNvSpPr>
            <a:spLocks noGrp="1"/>
          </p:cNvSpPr>
          <p:nvPr/>
        </p:nvSpPr>
        <p:spPr>
          <a:xfrm>
            <a:off x="6488906"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5</a:t>
            </a:r>
          </a:p>
        </p:txBody>
      </p:sp>
      <p:sp>
        <p:nvSpPr>
          <p:cNvPr id="13" name="object-13">
            <a:extLst>
              <a:ext uri="{FF2B5EF4-FFF2-40B4-BE49-F238E27FC236}">
                <a16:creationId xmlns:a16="http://schemas.microsoft.com/office/drawing/2014/main" id="{D1EC4B91-4A96-411B-80B9-CAECFBBC52C4}"/>
              </a:ext>
            </a:extLst>
          </p:cNvPr>
          <p:cNvSpPr>
            <a:spLocks noGrp="1"/>
          </p:cNvSpPr>
          <p:nvPr/>
        </p:nvSpPr>
        <p:spPr>
          <a:xfrm>
            <a:off x="7381875"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2</a:t>
            </a:r>
          </a:p>
        </p:txBody>
      </p:sp>
      <p:sp>
        <p:nvSpPr>
          <p:cNvPr id="14" name="object-14">
            <a:extLst>
              <a:ext uri="{FF2B5EF4-FFF2-40B4-BE49-F238E27FC236}">
                <a16:creationId xmlns:a16="http://schemas.microsoft.com/office/drawing/2014/main" id="{DF9AA3C9-B6FF-4F93-AEE6-6C69C8F04538}"/>
              </a:ext>
            </a:extLst>
          </p:cNvPr>
          <p:cNvSpPr>
            <a:spLocks noGrp="1"/>
          </p:cNvSpPr>
          <p:nvPr/>
        </p:nvSpPr>
        <p:spPr>
          <a:xfrm>
            <a:off x="5595938"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2</a:t>
            </a:r>
          </a:p>
        </p:txBody>
      </p:sp>
      <p:sp>
        <p:nvSpPr>
          <p:cNvPr id="15" name="object-15">
            <a:extLst>
              <a:ext uri="{FF2B5EF4-FFF2-40B4-BE49-F238E27FC236}">
                <a16:creationId xmlns:a16="http://schemas.microsoft.com/office/drawing/2014/main" id="{B4C914C6-8BE4-4FF1-BCFE-C15FA138B07E}"/>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36 fits into 101: 2 times</a:t>
            </a:r>
          </a:p>
        </p:txBody>
      </p:sp>
      <p:sp>
        <p:nvSpPr>
          <p:cNvPr id="16" name="object-16">
            <a:extLst>
              <a:ext uri="{FF2B5EF4-FFF2-40B4-BE49-F238E27FC236}">
                <a16:creationId xmlns:a16="http://schemas.microsoft.com/office/drawing/2014/main" id="{FAA00613-2945-40CF-AD9E-2D304CEDD558}"/>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101 − 72 = 29</a:t>
            </a:r>
          </a:p>
        </p:txBody>
      </p:sp>
      <p:sp>
        <p:nvSpPr>
          <p:cNvPr id="17" name="object-17">
            <a:extLst>
              <a:ext uri="{FF2B5EF4-FFF2-40B4-BE49-F238E27FC236}">
                <a16:creationId xmlns:a16="http://schemas.microsoft.com/office/drawing/2014/main" id="{36555EB4-CD0E-4E02-9BF6-ACDA9FF165CA}"/>
              </a:ext>
            </a:extLst>
          </p:cNvPr>
          <p:cNvSpPr>
            <a:spLocks noGrp="1"/>
          </p:cNvSpPr>
          <p:nvPr/>
        </p:nvSpPr>
        <p:spPr>
          <a:xfrm>
            <a:off x="6488906"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5</a:t>
            </a:r>
          </a:p>
        </p:txBody>
      </p:sp>
      <p:sp>
        <p:nvSpPr>
          <p:cNvPr id="18" name="object-18">
            <a:extLst>
              <a:ext uri="{FF2B5EF4-FFF2-40B4-BE49-F238E27FC236}">
                <a16:creationId xmlns:a16="http://schemas.microsoft.com/office/drawing/2014/main" id="{6D00707A-1950-450B-8377-79F81CA18E7E}"/>
              </a:ext>
            </a:extLst>
          </p:cNvPr>
          <p:cNvSpPr>
            <a:spLocks noGrp="1"/>
          </p:cNvSpPr>
          <p:nvPr/>
        </p:nvSpPr>
        <p:spPr>
          <a:xfrm>
            <a:off x="6488906"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8</a:t>
            </a:r>
          </a:p>
        </p:txBody>
      </p:sp>
      <p:sp>
        <p:nvSpPr>
          <p:cNvPr id="19" name="object-19">
            <a:extLst>
              <a:ext uri="{FF2B5EF4-FFF2-40B4-BE49-F238E27FC236}">
                <a16:creationId xmlns:a16="http://schemas.microsoft.com/office/drawing/2014/main" id="{78C61F1B-F0DC-40E1-B43D-C5DB0D061859}"/>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36 fits into 295: 8 times</a:t>
            </a:r>
          </a:p>
        </p:txBody>
      </p:sp>
      <p:sp>
        <p:nvSpPr>
          <p:cNvPr id="20" name="object-20">
            <a:extLst>
              <a:ext uri="{FF2B5EF4-FFF2-40B4-BE49-F238E27FC236}">
                <a16:creationId xmlns:a16="http://schemas.microsoft.com/office/drawing/2014/main" id="{6BDC48CF-E77F-4246-A23A-5238A915AE8B}"/>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295 − 288 = 7</a:t>
            </a:r>
          </a:p>
        </p:txBody>
      </p:sp>
      <p:sp>
        <p:nvSpPr>
          <p:cNvPr id="21" name="object-21">
            <a:extLst>
              <a:ext uri="{FF2B5EF4-FFF2-40B4-BE49-F238E27FC236}">
                <a16:creationId xmlns:a16="http://schemas.microsoft.com/office/drawing/2014/main" id="{E56719E7-EDF3-4A9B-B6AF-9AF6F842D8FE}"/>
              </a:ext>
            </a:extLst>
          </p:cNvPr>
          <p:cNvSpPr>
            <a:spLocks noGrp="1"/>
          </p:cNvSpPr>
          <p:nvPr/>
        </p:nvSpPr>
        <p:spPr>
          <a:xfrm>
            <a:off x="7381875"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2</a:t>
            </a:r>
          </a:p>
        </p:txBody>
      </p:sp>
      <p:sp>
        <p:nvSpPr>
          <p:cNvPr id="22" name="object-22">
            <a:extLst>
              <a:ext uri="{FF2B5EF4-FFF2-40B4-BE49-F238E27FC236}">
                <a16:creationId xmlns:a16="http://schemas.microsoft.com/office/drawing/2014/main" id="{DE0D649F-F98D-4FE9-9D05-F16784F72EE4}"/>
              </a:ext>
            </a:extLst>
          </p:cNvPr>
          <p:cNvSpPr>
            <a:spLocks noGrp="1"/>
          </p:cNvSpPr>
          <p:nvPr/>
        </p:nvSpPr>
        <p:spPr>
          <a:xfrm>
            <a:off x="7381875"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2</a:t>
            </a:r>
          </a:p>
        </p:txBody>
      </p:sp>
      <p:sp>
        <p:nvSpPr>
          <p:cNvPr id="23" name="object-23">
            <a:extLst>
              <a:ext uri="{FF2B5EF4-FFF2-40B4-BE49-F238E27FC236}">
                <a16:creationId xmlns:a16="http://schemas.microsoft.com/office/drawing/2014/main" id="{E104A4D7-1A90-4FDA-BC1B-C92AEA6178A7}"/>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36 fits into 72: 2 times</a:t>
            </a:r>
          </a:p>
        </p:txBody>
      </p:sp>
      <p:sp>
        <p:nvSpPr>
          <p:cNvPr id="24" name="object-24">
            <a:extLst>
              <a:ext uri="{FF2B5EF4-FFF2-40B4-BE49-F238E27FC236}">
                <a16:creationId xmlns:a16="http://schemas.microsoft.com/office/drawing/2014/main" id="{FD52F084-84F9-4810-A3A9-7C3090871B40}"/>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72 − 72 = 0</a:t>
            </a:r>
          </a:p>
        </p:txBody>
      </p:sp>
      <p:sp>
        <p:nvSpPr>
          <p:cNvPr id="25" name="object-25">
            <a:extLst>
              <a:ext uri="{FF2B5EF4-FFF2-40B4-BE49-F238E27FC236}">
                <a16:creationId xmlns:a16="http://schemas.microsoft.com/office/drawing/2014/main" id="{F11EA1DA-D477-4DD7-BAE2-E17734F981DE}"/>
              </a:ext>
            </a:extLst>
          </p:cNvPr>
          <p:cNvSpPr>
            <a:spLocks noGrp="1"/>
          </p:cNvSpPr>
          <p:nvPr/>
        </p:nvSpPr>
        <p:spPr>
          <a:xfrm>
            <a:off x="892969" y="7227094"/>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10,152 ÷ 36 = 282</a:t>
            </a:r>
          </a:p>
        </p:txBody>
      </p:sp>
    </p:spTree>
    <p:extLst>
      <p:ext uri="{BB962C8B-B14F-4D97-AF65-F5344CB8AC3E}">
        <p14:creationId xmlns:p14="http://schemas.microsoft.com/office/powerpoint/2010/main" val="777943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par>
                          <p:cTn id="13" fill="hold">
                            <p:stCondLst>
                              <p:cond delay="0"/>
                            </p:stCondLst>
                            <p:childTnLst>
                              <p:par>
                                <p:cTn id="14" presetID="63" presetClass="path" presetSubtype="0" accel="50000" decel="50000" fill="hold" grpId="1" nodeType="afterEffect">
                                  <p:stCondLst>
                                    <p:cond delay="0"/>
                                  </p:stCondLst>
                                  <p:childTnLst>
                                    <p:animMotion origin="layout" path="M 0 0 L 0.23828125 0.27083333 E" pathEditMode="relative" ptsTypes="">
                                      <p:cBhvr>
                                        <p:cTn id="15" dur="800" fill="hold"/>
                                        <p:tgtEl>
                                          <p:spTgt spid="17"/>
                                        </p:tgtEl>
                                        <p:attrNameLst>
                                          <p:attrName>ppt_x</p:attrName>
                                          <p:attrName>ppt_y</p:attrName>
                                        </p:attrNameLst>
                                      </p:cBhvr>
                                    </p:animMotion>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childTnLst>
                                </p:cTn>
                              </p:par>
                              <p:par>
                                <p:cTn id="20" presetID="1" presetClass="exit" presetSubtype="0" fill="hold" grpId="1" nodeType="withEffect">
                                  <p:stCondLst>
                                    <p:cond delay="0"/>
                                  </p:stCondLst>
                                  <p:childTnLst>
                                    <p:set>
                                      <p:cBhvr>
                                        <p:cTn id="21" dur="1" fill="hold">
                                          <p:stCondLst>
                                            <p:cond delay="0"/>
                                          </p:stCondLst>
                                        </p:cTn>
                                        <p:tgtEl>
                                          <p:spTgt spid="15"/>
                                        </p:tgtEl>
                                        <p:attrNameLst>
                                          <p:attrName>style.visibility</p:attrName>
                                        </p:attrNameLst>
                                      </p:cBhvr>
                                      <p:to>
                                        <p:strVal val="hidden"/>
                                      </p:to>
                                    </p:set>
                                  </p:childTnLst>
                                </p:cTn>
                              </p:par>
                              <p:par>
                                <p:cTn id="22" presetID="1" presetClass="exit" presetSubtype="0" fill="hold" grpId="1" nodeType="withEffect">
                                  <p:stCondLst>
                                    <p:cond delay="0"/>
                                  </p:stCondLst>
                                  <p:childTnLst>
                                    <p:set>
                                      <p:cBhvr>
                                        <p:cTn id="23" dur="1" fill="hold">
                                          <p:stCondLst>
                                            <p:cond delay="0"/>
                                          </p:stCondLst>
                                        </p:cTn>
                                        <p:tgtEl>
                                          <p:spTgt spid="16"/>
                                        </p:tgtEl>
                                        <p:attrNameLst>
                                          <p:attrName>style.visibility</p:attrName>
                                        </p:attrNameLst>
                                      </p:cBhvr>
                                      <p:to>
                                        <p:strVal val="hidden"/>
                                      </p:to>
                                    </p:set>
                                  </p:childTnLst>
                                </p:cTn>
                              </p:par>
                              <p:par>
                                <p:cTn id="24" presetID="1" presetClass="exit" presetSubtype="0" fill="hold" grpId="2" nodeType="withEffect">
                                  <p:stCondLst>
                                    <p:cond delay="0"/>
                                  </p:stCondLst>
                                  <p:childTnLst>
                                    <p:set>
                                      <p:cBhvr>
                                        <p:cTn id="25" dur="1" fill="hold">
                                          <p:stCondLst>
                                            <p:cond delay="0"/>
                                          </p:stCondLst>
                                        </p:cTn>
                                        <p:tgtEl>
                                          <p:spTgt spid="17"/>
                                        </p:tgtEl>
                                        <p:attrNameLst>
                                          <p:attrName>style.visibility</p:attrName>
                                        </p:attrNameLst>
                                      </p:cBhvr>
                                      <p:to>
                                        <p:strVal val="hidden"/>
                                      </p:to>
                                    </p:set>
                                  </p:childTnLst>
                                </p:cTn>
                              </p:par>
                              <p:par>
                                <p:cTn id="26" presetID="1" presetClass="entr" presetSubtype="0"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childTnLst>
                                </p:cTn>
                              </p:par>
                            </p:childTnLst>
                          </p:cTn>
                        </p:par>
                        <p:par>
                          <p:cTn id="32" fill="hold">
                            <p:stCondLst>
                              <p:cond delay="0"/>
                            </p:stCondLst>
                            <p:childTnLst>
                              <p:par>
                                <p:cTn id="33" presetID="63" presetClass="path" presetSubtype="0" accel="50000" decel="50000" fill="hold" grpId="1" nodeType="afterEffect">
                                  <p:stCondLst>
                                    <p:cond delay="0"/>
                                  </p:stCondLst>
                                  <p:childTnLst>
                                    <p:animMotion origin="layout" path="M 0 0 L 0.1796875 0.27083333 E" pathEditMode="relative" ptsTypes="">
                                      <p:cBhvr>
                                        <p:cTn id="34" dur="800" fill="hold"/>
                                        <p:tgtEl>
                                          <p:spTgt spid="21"/>
                                        </p:tgtEl>
                                        <p:attrNameLst>
                                          <p:attrName>ppt_x</p:attrName>
                                          <p:attrName>ppt_y</p:attrName>
                                        </p:attrNameLst>
                                      </p:cBhvr>
                                    </p:animMotion>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xit" presetSubtype="0" fill="hold" grpId="1" nodeType="withEffect">
                                  <p:stCondLst>
                                    <p:cond delay="0"/>
                                  </p:stCondLst>
                                  <p:childTnLst>
                                    <p:set>
                                      <p:cBhvr>
                                        <p:cTn id="40" dur="1" fill="hold">
                                          <p:stCondLst>
                                            <p:cond delay="0"/>
                                          </p:stCondLst>
                                        </p:cTn>
                                        <p:tgtEl>
                                          <p:spTgt spid="19"/>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20"/>
                                        </p:tgtEl>
                                        <p:attrNameLst>
                                          <p:attrName>style.visibility</p:attrName>
                                        </p:attrNameLst>
                                      </p:cBhvr>
                                      <p:to>
                                        <p:strVal val="hidden"/>
                                      </p:to>
                                    </p:set>
                                  </p:childTnLst>
                                </p:cTn>
                              </p:par>
                              <p:par>
                                <p:cTn id="43" presetID="1" presetClass="exit" presetSubtype="0" fill="hold" grpId="2" nodeType="withEffect">
                                  <p:stCondLst>
                                    <p:cond delay="0"/>
                                  </p:stCondLst>
                                  <p:childTnLst>
                                    <p:set>
                                      <p:cBhvr>
                                        <p:cTn id="44" dur="1" fill="hold">
                                          <p:stCondLst>
                                            <p:cond delay="0"/>
                                          </p:stCondLst>
                                        </p:cTn>
                                        <p:tgtEl>
                                          <p:spTgt spid="21"/>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5" grpId="1"/>
      <p:bldP spid="16" grpId="0"/>
      <p:bldP spid="16" grpId="1"/>
      <p:bldP spid="17" grpId="0"/>
      <p:bldP spid="17" grpId="1"/>
      <p:bldP spid="17" grpId="2"/>
      <p:bldP spid="18" grpId="0"/>
      <p:bldP spid="19" grpId="0"/>
      <p:bldP spid="19" grpId="1"/>
      <p:bldP spid="20" grpId="0"/>
      <p:bldP spid="20" grpId="1"/>
      <p:bldP spid="21" grpId="0"/>
      <p:bldP spid="21" grpId="1"/>
      <p:bldP spid="21" grpId="2"/>
      <p:bldP spid="22" grpId="0"/>
      <p:bldP spid="23" grpId="0"/>
      <p:bldP spid="24" grpId="0"/>
      <p:bldP spid="25"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object-1">
            <a:extLst>
              <a:ext uri="{FF2B5EF4-FFF2-40B4-BE49-F238E27FC236}">
                <a16:creationId xmlns:a16="http://schemas.microsoft.com/office/drawing/2014/main" id="{1C7EB333-CB43-4DB4-8A0F-1EC225511F28}"/>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B9F16577-4D80-48B1-879C-C0AC4751E089}"/>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80B3EE9A-4841-4F77-9BF3-FB4F827D2F23}"/>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10,548 ÷ 36.</a:t>
            </a:r>
          </a:p>
        </p:txBody>
      </p:sp>
      <p:sp>
        <p:nvSpPr>
          <p:cNvPr id="4" name="object-4">
            <a:extLst>
              <a:ext uri="{FF2B5EF4-FFF2-40B4-BE49-F238E27FC236}">
                <a16:creationId xmlns:a16="http://schemas.microsoft.com/office/drawing/2014/main" id="{BEB1B3E1-3F24-4DB6-B9F7-4AF6A8559715}"/>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6B31CE31-E4A5-4BD4-8FE7-40D8F468DBC0}"/>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and check division problems</a:t>
            </a:r>
          </a:p>
        </p:txBody>
      </p:sp>
      <p:sp>
        <p:nvSpPr>
          <p:cNvPr id="6" name="object-6">
            <a:extLst>
              <a:ext uri="{FF2B5EF4-FFF2-40B4-BE49-F238E27FC236}">
                <a16:creationId xmlns:a16="http://schemas.microsoft.com/office/drawing/2014/main" id="{4A772019-1577-4D9F-B48F-414EA2050D39}"/>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5</a:t>
            </a:r>
          </a:p>
        </p:txBody>
      </p:sp>
      <p:sp>
        <p:nvSpPr>
          <p:cNvPr id="7" name="object-7">
            <a:extLst>
              <a:ext uri="{FF2B5EF4-FFF2-40B4-BE49-F238E27FC236}">
                <a16:creationId xmlns:a16="http://schemas.microsoft.com/office/drawing/2014/main" id="{72936C79-44A4-4FFD-9FF6-B04F6AB3D494}"/>
              </a:ext>
            </a:extLst>
          </p:cNvPr>
          <p:cNvSpPr>
            <a:spLocks noGrp="1"/>
          </p:cNvSpPr>
          <p:nvPr/>
        </p:nvSpPr>
        <p:spPr>
          <a:xfrm>
            <a:off x="1785938" y="4012406"/>
            <a:ext cx="1428750" cy="833438"/>
          </a:xfrm>
          <a:prstGeom prst="rect">
            <a:avLst/>
          </a:prstGeom>
          <a:noFill/>
          <a:ln w="0">
            <a:noFill/>
          </a:ln>
        </p:spPr>
        <p:txBody>
          <a:bodyPr anchor="ctr">
            <a:noAutofit/>
          </a:bodyPr>
          <a:lstStyle/>
          <a:p>
            <a:pPr algn="ctr">
              <a:defRPr sz="4313" b="1">
                <a:solidFill>
                  <a:srgbClr val="1D4ED8"/>
                </a:solidFill>
                <a:latin typeface="Arial"/>
                <a:ea typeface="Arial"/>
                <a:cs typeface="Arial"/>
              </a:defRPr>
            </a:pPr>
            <a:r>
              <a:rPr sz="4313" b="1">
                <a:solidFill>
                  <a:srgbClr val="1D4ED8"/>
                </a:solidFill>
                <a:latin typeface="Arial"/>
                <a:ea typeface="Arial"/>
                <a:cs typeface="Arial"/>
              </a:rPr>
              <a:t>36</a:t>
            </a:r>
          </a:p>
        </p:txBody>
      </p:sp>
      <p:sp>
        <p:nvSpPr>
          <p:cNvPr id="8" name="object-8">
            <a:extLst>
              <a:ext uri="{FF2B5EF4-FFF2-40B4-BE49-F238E27FC236}">
                <a16:creationId xmlns:a16="http://schemas.microsoft.com/office/drawing/2014/main" id="{F82FA06B-76C7-469D-876A-C270A811D9F9}"/>
              </a:ext>
            </a:extLst>
          </p:cNvPr>
          <p:cNvSpPr>
            <a:spLocks noGrp="1"/>
          </p:cNvSpPr>
          <p:nvPr/>
        </p:nvSpPr>
        <p:spPr>
          <a:xfrm>
            <a:off x="3393281" y="3833813"/>
            <a:ext cx="0" cy="1226344"/>
          </a:xfrm>
          <a:prstGeom prst="line">
            <a:avLst/>
          </a:prstGeom>
          <a:noFill/>
          <a:ln w="35719">
            <a:solidFill>
              <a:srgbClr val="172B4D"/>
            </a:solidFill>
          </a:ln>
        </p:spPr>
      </p:sp>
      <p:sp>
        <p:nvSpPr>
          <p:cNvPr id="9" name="object-9">
            <a:extLst>
              <a:ext uri="{FF2B5EF4-FFF2-40B4-BE49-F238E27FC236}">
                <a16:creationId xmlns:a16="http://schemas.microsoft.com/office/drawing/2014/main" id="{0E7CF245-A878-44ED-A2B4-C115CA57DCF4}"/>
              </a:ext>
            </a:extLst>
          </p:cNvPr>
          <p:cNvSpPr>
            <a:spLocks noGrp="1"/>
          </p:cNvSpPr>
          <p:nvPr/>
        </p:nvSpPr>
        <p:spPr>
          <a:xfrm>
            <a:off x="3393281" y="3833813"/>
            <a:ext cx="9644063" cy="35719"/>
          </a:xfrm>
          <a:prstGeom prst="rect">
            <a:avLst/>
          </a:prstGeom>
          <a:solidFill>
            <a:srgbClr val="172B4D"/>
          </a:solidFill>
          <a:ln w="0">
            <a:noFill/>
          </a:ln>
        </p:spPr>
      </p:sp>
      <p:sp>
        <p:nvSpPr>
          <p:cNvPr id="10" name="object-10">
            <a:extLst>
              <a:ext uri="{FF2B5EF4-FFF2-40B4-BE49-F238E27FC236}">
                <a16:creationId xmlns:a16="http://schemas.microsoft.com/office/drawing/2014/main" id="{A23C18CD-E9C8-45B3-A387-8C14BC60C148}"/>
              </a:ext>
            </a:extLst>
          </p:cNvPr>
          <p:cNvSpPr>
            <a:spLocks noGrp="1"/>
          </p:cNvSpPr>
          <p:nvPr/>
        </p:nvSpPr>
        <p:spPr>
          <a:xfrm>
            <a:off x="3810000"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1</a:t>
            </a:r>
          </a:p>
        </p:txBody>
      </p:sp>
      <p:sp>
        <p:nvSpPr>
          <p:cNvPr id="11" name="object-11">
            <a:extLst>
              <a:ext uri="{FF2B5EF4-FFF2-40B4-BE49-F238E27FC236}">
                <a16:creationId xmlns:a16="http://schemas.microsoft.com/office/drawing/2014/main" id="{23F679EA-5F60-49CD-A006-D6278DB21848}"/>
              </a:ext>
            </a:extLst>
          </p:cNvPr>
          <p:cNvSpPr>
            <a:spLocks noGrp="1"/>
          </p:cNvSpPr>
          <p:nvPr/>
        </p:nvSpPr>
        <p:spPr>
          <a:xfrm>
            <a:off x="4702969"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0</a:t>
            </a:r>
          </a:p>
        </p:txBody>
      </p:sp>
      <p:sp>
        <p:nvSpPr>
          <p:cNvPr id="12" name="object-12">
            <a:extLst>
              <a:ext uri="{FF2B5EF4-FFF2-40B4-BE49-F238E27FC236}">
                <a16:creationId xmlns:a16="http://schemas.microsoft.com/office/drawing/2014/main" id="{FD83387B-0942-4289-AB7A-9E489A01E66D}"/>
              </a:ext>
            </a:extLst>
          </p:cNvPr>
          <p:cNvSpPr>
            <a:spLocks noGrp="1"/>
          </p:cNvSpPr>
          <p:nvPr/>
        </p:nvSpPr>
        <p:spPr>
          <a:xfrm>
            <a:off x="5595938"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5</a:t>
            </a:r>
          </a:p>
        </p:txBody>
      </p:sp>
      <p:sp>
        <p:nvSpPr>
          <p:cNvPr id="13" name="object-13">
            <a:extLst>
              <a:ext uri="{FF2B5EF4-FFF2-40B4-BE49-F238E27FC236}">
                <a16:creationId xmlns:a16="http://schemas.microsoft.com/office/drawing/2014/main" id="{C75B81E4-092E-4FC7-872B-096C772CB7A7}"/>
              </a:ext>
            </a:extLst>
          </p:cNvPr>
          <p:cNvSpPr>
            <a:spLocks noGrp="1"/>
          </p:cNvSpPr>
          <p:nvPr/>
        </p:nvSpPr>
        <p:spPr>
          <a:xfrm>
            <a:off x="6488906"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4</a:t>
            </a:r>
          </a:p>
        </p:txBody>
      </p:sp>
      <p:sp>
        <p:nvSpPr>
          <p:cNvPr id="14" name="object-14">
            <a:extLst>
              <a:ext uri="{FF2B5EF4-FFF2-40B4-BE49-F238E27FC236}">
                <a16:creationId xmlns:a16="http://schemas.microsoft.com/office/drawing/2014/main" id="{1199CD61-E848-44A3-965C-5A8D9E2A83DA}"/>
              </a:ext>
            </a:extLst>
          </p:cNvPr>
          <p:cNvSpPr>
            <a:spLocks noGrp="1"/>
          </p:cNvSpPr>
          <p:nvPr/>
        </p:nvSpPr>
        <p:spPr>
          <a:xfrm>
            <a:off x="7381875"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8</a:t>
            </a:r>
          </a:p>
        </p:txBody>
      </p:sp>
      <p:sp>
        <p:nvSpPr>
          <p:cNvPr id="15" name="object-15">
            <a:extLst>
              <a:ext uri="{FF2B5EF4-FFF2-40B4-BE49-F238E27FC236}">
                <a16:creationId xmlns:a16="http://schemas.microsoft.com/office/drawing/2014/main" id="{71CAD202-824F-48EA-A26A-9D49511262C2}"/>
              </a:ext>
            </a:extLst>
          </p:cNvPr>
          <p:cNvSpPr>
            <a:spLocks noGrp="1"/>
          </p:cNvSpPr>
          <p:nvPr/>
        </p:nvSpPr>
        <p:spPr>
          <a:xfrm>
            <a:off x="5595938"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2</a:t>
            </a:r>
          </a:p>
        </p:txBody>
      </p:sp>
      <p:sp>
        <p:nvSpPr>
          <p:cNvPr id="16" name="object-16">
            <a:extLst>
              <a:ext uri="{FF2B5EF4-FFF2-40B4-BE49-F238E27FC236}">
                <a16:creationId xmlns:a16="http://schemas.microsoft.com/office/drawing/2014/main" id="{064690AA-A3D4-4B9E-AE0D-6E7A4C6F28F1}"/>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36 fits into 105: 2 times</a:t>
            </a:r>
          </a:p>
        </p:txBody>
      </p:sp>
      <p:sp>
        <p:nvSpPr>
          <p:cNvPr id="17" name="object-17">
            <a:extLst>
              <a:ext uri="{FF2B5EF4-FFF2-40B4-BE49-F238E27FC236}">
                <a16:creationId xmlns:a16="http://schemas.microsoft.com/office/drawing/2014/main" id="{F2BE6257-FA7C-4961-B954-73DF1B4D254F}"/>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105 − 72 = 33</a:t>
            </a:r>
          </a:p>
        </p:txBody>
      </p:sp>
      <p:sp>
        <p:nvSpPr>
          <p:cNvPr id="18" name="object-18">
            <a:extLst>
              <a:ext uri="{FF2B5EF4-FFF2-40B4-BE49-F238E27FC236}">
                <a16:creationId xmlns:a16="http://schemas.microsoft.com/office/drawing/2014/main" id="{09D2AC5C-414D-4BEC-ACF0-F46D3005C934}"/>
              </a:ext>
            </a:extLst>
          </p:cNvPr>
          <p:cNvSpPr>
            <a:spLocks noGrp="1"/>
          </p:cNvSpPr>
          <p:nvPr/>
        </p:nvSpPr>
        <p:spPr>
          <a:xfrm>
            <a:off x="6488906"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4</a:t>
            </a:r>
          </a:p>
        </p:txBody>
      </p:sp>
      <p:sp>
        <p:nvSpPr>
          <p:cNvPr id="19" name="object-19">
            <a:extLst>
              <a:ext uri="{FF2B5EF4-FFF2-40B4-BE49-F238E27FC236}">
                <a16:creationId xmlns:a16="http://schemas.microsoft.com/office/drawing/2014/main" id="{EF10BCB3-A65F-4B7E-B5E6-728657906959}"/>
              </a:ext>
            </a:extLst>
          </p:cNvPr>
          <p:cNvSpPr>
            <a:spLocks noGrp="1"/>
          </p:cNvSpPr>
          <p:nvPr/>
        </p:nvSpPr>
        <p:spPr>
          <a:xfrm>
            <a:off x="6488906"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9</a:t>
            </a:r>
          </a:p>
        </p:txBody>
      </p:sp>
      <p:sp>
        <p:nvSpPr>
          <p:cNvPr id="20" name="object-20">
            <a:extLst>
              <a:ext uri="{FF2B5EF4-FFF2-40B4-BE49-F238E27FC236}">
                <a16:creationId xmlns:a16="http://schemas.microsoft.com/office/drawing/2014/main" id="{7888AD2C-B416-4B81-AA86-2D0F2EED5662}"/>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36 fits into 334: 9 times</a:t>
            </a:r>
          </a:p>
        </p:txBody>
      </p:sp>
      <p:sp>
        <p:nvSpPr>
          <p:cNvPr id="21" name="object-21">
            <a:extLst>
              <a:ext uri="{FF2B5EF4-FFF2-40B4-BE49-F238E27FC236}">
                <a16:creationId xmlns:a16="http://schemas.microsoft.com/office/drawing/2014/main" id="{5390DFE1-5AFE-43BE-982B-13EC1728AFB2}"/>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334 − 324 = 10</a:t>
            </a:r>
          </a:p>
        </p:txBody>
      </p:sp>
      <p:sp>
        <p:nvSpPr>
          <p:cNvPr id="22" name="object-22">
            <a:extLst>
              <a:ext uri="{FF2B5EF4-FFF2-40B4-BE49-F238E27FC236}">
                <a16:creationId xmlns:a16="http://schemas.microsoft.com/office/drawing/2014/main" id="{6E7C4191-EEC4-48BC-AA51-07D6D395B67A}"/>
              </a:ext>
            </a:extLst>
          </p:cNvPr>
          <p:cNvSpPr>
            <a:spLocks noGrp="1"/>
          </p:cNvSpPr>
          <p:nvPr/>
        </p:nvSpPr>
        <p:spPr>
          <a:xfrm>
            <a:off x="7381875"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8</a:t>
            </a:r>
          </a:p>
        </p:txBody>
      </p:sp>
      <p:sp>
        <p:nvSpPr>
          <p:cNvPr id="23" name="object-23">
            <a:extLst>
              <a:ext uri="{FF2B5EF4-FFF2-40B4-BE49-F238E27FC236}">
                <a16:creationId xmlns:a16="http://schemas.microsoft.com/office/drawing/2014/main" id="{1459B84B-B6ED-4DDF-969D-4254BDEE8C3D}"/>
              </a:ext>
            </a:extLst>
          </p:cNvPr>
          <p:cNvSpPr>
            <a:spLocks noGrp="1"/>
          </p:cNvSpPr>
          <p:nvPr/>
        </p:nvSpPr>
        <p:spPr>
          <a:xfrm>
            <a:off x="7381875"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3</a:t>
            </a:r>
          </a:p>
        </p:txBody>
      </p:sp>
      <p:sp>
        <p:nvSpPr>
          <p:cNvPr id="24" name="object-24">
            <a:extLst>
              <a:ext uri="{FF2B5EF4-FFF2-40B4-BE49-F238E27FC236}">
                <a16:creationId xmlns:a16="http://schemas.microsoft.com/office/drawing/2014/main" id="{76A371F6-1468-4DFE-985C-690D5DB24D18}"/>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36 fits into 108: 3 times</a:t>
            </a:r>
          </a:p>
        </p:txBody>
      </p:sp>
      <p:sp>
        <p:nvSpPr>
          <p:cNvPr id="25" name="object-25">
            <a:extLst>
              <a:ext uri="{FF2B5EF4-FFF2-40B4-BE49-F238E27FC236}">
                <a16:creationId xmlns:a16="http://schemas.microsoft.com/office/drawing/2014/main" id="{FA076508-31B3-4CE9-8FD2-F7187C3D0C12}"/>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108 − 108 = 0</a:t>
            </a:r>
          </a:p>
        </p:txBody>
      </p:sp>
      <p:sp>
        <p:nvSpPr>
          <p:cNvPr id="26" name="object-26">
            <a:extLst>
              <a:ext uri="{FF2B5EF4-FFF2-40B4-BE49-F238E27FC236}">
                <a16:creationId xmlns:a16="http://schemas.microsoft.com/office/drawing/2014/main" id="{245A4495-21E9-4790-8A57-5F87E069BB1B}"/>
              </a:ext>
            </a:extLst>
          </p:cNvPr>
          <p:cNvSpPr>
            <a:spLocks noGrp="1"/>
          </p:cNvSpPr>
          <p:nvPr/>
        </p:nvSpPr>
        <p:spPr>
          <a:xfrm>
            <a:off x="892969" y="7227094"/>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10,548 ÷ 36 = 293</a:t>
            </a:r>
          </a:p>
        </p:txBody>
      </p:sp>
    </p:spTree>
    <p:extLst>
      <p:ext uri="{BB962C8B-B14F-4D97-AF65-F5344CB8AC3E}">
        <p14:creationId xmlns:p14="http://schemas.microsoft.com/office/powerpoint/2010/main" val="2027454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par>
                          <p:cTn id="13" fill="hold">
                            <p:stCondLst>
                              <p:cond delay="0"/>
                            </p:stCondLst>
                            <p:childTnLst>
                              <p:par>
                                <p:cTn id="14" presetID="63" presetClass="path" presetSubtype="0" accel="50000" decel="50000" fill="hold" grpId="1" nodeType="afterEffect">
                                  <p:stCondLst>
                                    <p:cond delay="0"/>
                                  </p:stCondLst>
                                  <p:childTnLst>
                                    <p:animMotion origin="layout" path="M 0 0 L 0.23828125 0.27083333 E" pathEditMode="relative" ptsTypes="">
                                      <p:cBhvr>
                                        <p:cTn id="15" dur="800" fill="hold"/>
                                        <p:tgtEl>
                                          <p:spTgt spid="18"/>
                                        </p:tgtEl>
                                        <p:attrNameLst>
                                          <p:attrName>ppt_x</p:attrName>
                                          <p:attrName>ppt_y</p:attrName>
                                        </p:attrNameLst>
                                      </p:cBhvr>
                                    </p:animMotion>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childTnLst>
                                </p:cTn>
                              </p:par>
                              <p:par>
                                <p:cTn id="20" presetID="1" presetClass="exit" presetSubtype="0" fill="hold" grpId="1" nodeType="withEffect">
                                  <p:stCondLst>
                                    <p:cond delay="0"/>
                                  </p:stCondLst>
                                  <p:childTnLst>
                                    <p:set>
                                      <p:cBhvr>
                                        <p:cTn id="21" dur="1" fill="hold">
                                          <p:stCondLst>
                                            <p:cond delay="0"/>
                                          </p:stCondLst>
                                        </p:cTn>
                                        <p:tgtEl>
                                          <p:spTgt spid="16"/>
                                        </p:tgtEl>
                                        <p:attrNameLst>
                                          <p:attrName>style.visibility</p:attrName>
                                        </p:attrNameLst>
                                      </p:cBhvr>
                                      <p:to>
                                        <p:strVal val="hidden"/>
                                      </p:to>
                                    </p:set>
                                  </p:childTnLst>
                                </p:cTn>
                              </p:par>
                              <p:par>
                                <p:cTn id="22" presetID="1" presetClass="exit" presetSubtype="0" fill="hold" grpId="1" nodeType="withEffect">
                                  <p:stCondLst>
                                    <p:cond delay="0"/>
                                  </p:stCondLst>
                                  <p:childTnLst>
                                    <p:set>
                                      <p:cBhvr>
                                        <p:cTn id="23" dur="1" fill="hold">
                                          <p:stCondLst>
                                            <p:cond delay="0"/>
                                          </p:stCondLst>
                                        </p:cTn>
                                        <p:tgtEl>
                                          <p:spTgt spid="17"/>
                                        </p:tgtEl>
                                        <p:attrNameLst>
                                          <p:attrName>style.visibility</p:attrName>
                                        </p:attrNameLst>
                                      </p:cBhvr>
                                      <p:to>
                                        <p:strVal val="hidden"/>
                                      </p:to>
                                    </p:set>
                                  </p:childTnLst>
                                </p:cTn>
                              </p:par>
                              <p:par>
                                <p:cTn id="24" presetID="1" presetClass="exit" presetSubtype="0" fill="hold" grpId="2" nodeType="withEffect">
                                  <p:stCondLst>
                                    <p:cond delay="0"/>
                                  </p:stCondLst>
                                  <p:childTnLst>
                                    <p:set>
                                      <p:cBhvr>
                                        <p:cTn id="25" dur="1" fill="hold">
                                          <p:stCondLst>
                                            <p:cond delay="0"/>
                                          </p:stCondLst>
                                        </p:cTn>
                                        <p:tgtEl>
                                          <p:spTgt spid="18"/>
                                        </p:tgtEl>
                                        <p:attrNameLst>
                                          <p:attrName>style.visibility</p:attrName>
                                        </p:attrNameLst>
                                      </p:cBhvr>
                                      <p:to>
                                        <p:strVal val="hidden"/>
                                      </p:to>
                                    </p:set>
                                  </p:childTnLst>
                                </p:cTn>
                              </p:par>
                              <p:par>
                                <p:cTn id="26" presetID="1"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childTnLst>
                                </p:cTn>
                              </p:par>
                            </p:childTnLst>
                          </p:cTn>
                        </p:par>
                        <p:par>
                          <p:cTn id="32" fill="hold">
                            <p:stCondLst>
                              <p:cond delay="0"/>
                            </p:stCondLst>
                            <p:childTnLst>
                              <p:par>
                                <p:cTn id="33" presetID="63" presetClass="path" presetSubtype="0" accel="50000" decel="50000" fill="hold" grpId="1" nodeType="afterEffect">
                                  <p:stCondLst>
                                    <p:cond delay="0"/>
                                  </p:stCondLst>
                                  <p:childTnLst>
                                    <p:animMotion origin="layout" path="M 0 0 L 0.1796875 0.27083333 E" pathEditMode="relative" ptsTypes="">
                                      <p:cBhvr>
                                        <p:cTn id="34" dur="800" fill="hold"/>
                                        <p:tgtEl>
                                          <p:spTgt spid="22"/>
                                        </p:tgtEl>
                                        <p:attrNameLst>
                                          <p:attrName>ppt_x</p:attrName>
                                          <p:attrName>ppt_y</p:attrName>
                                        </p:attrNameLst>
                                      </p:cBhvr>
                                    </p:animMotion>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xit" presetSubtype="0" fill="hold" grpId="1" nodeType="withEffect">
                                  <p:stCondLst>
                                    <p:cond delay="0"/>
                                  </p:stCondLst>
                                  <p:childTnLst>
                                    <p:set>
                                      <p:cBhvr>
                                        <p:cTn id="40" dur="1" fill="hold">
                                          <p:stCondLst>
                                            <p:cond delay="0"/>
                                          </p:stCondLst>
                                        </p:cTn>
                                        <p:tgtEl>
                                          <p:spTgt spid="20"/>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21"/>
                                        </p:tgtEl>
                                        <p:attrNameLst>
                                          <p:attrName>style.visibility</p:attrName>
                                        </p:attrNameLst>
                                      </p:cBhvr>
                                      <p:to>
                                        <p:strVal val="hidden"/>
                                      </p:to>
                                    </p:set>
                                  </p:childTnLst>
                                </p:cTn>
                              </p:par>
                              <p:par>
                                <p:cTn id="43" presetID="1" presetClass="exit" presetSubtype="0" fill="hold" grpId="2" nodeType="withEffect">
                                  <p:stCondLst>
                                    <p:cond delay="0"/>
                                  </p:stCondLst>
                                  <p:childTnLst>
                                    <p:set>
                                      <p:cBhvr>
                                        <p:cTn id="44" dur="1" fill="hold">
                                          <p:stCondLst>
                                            <p:cond delay="0"/>
                                          </p:stCondLst>
                                        </p:cTn>
                                        <p:tgtEl>
                                          <p:spTgt spid="22"/>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6" grpId="1"/>
      <p:bldP spid="17" grpId="0"/>
      <p:bldP spid="17" grpId="1"/>
      <p:bldP spid="18" grpId="0"/>
      <p:bldP spid="18" grpId="1"/>
      <p:bldP spid="18" grpId="2"/>
      <p:bldP spid="19" grpId="0"/>
      <p:bldP spid="20" grpId="0"/>
      <p:bldP spid="20" grpId="1"/>
      <p:bldP spid="21" grpId="0"/>
      <p:bldP spid="21" grpId="1"/>
      <p:bldP spid="22" grpId="0"/>
      <p:bldP spid="22" grpId="1"/>
      <p:bldP spid="22" grpId="2"/>
      <p:bldP spid="23" grpId="0"/>
      <p:bldP spid="24" grpId="0"/>
      <p:bldP spid="25" grpId="0"/>
      <p:bldP spid="26"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object-1">
            <a:extLst>
              <a:ext uri="{FF2B5EF4-FFF2-40B4-BE49-F238E27FC236}">
                <a16:creationId xmlns:a16="http://schemas.microsoft.com/office/drawing/2014/main" id="{D2E80D50-E2F6-4AAB-BB23-F87796DD9F62}"/>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06D76698-DE4C-434D-BDB7-1750032D58CA}"/>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59B7F137-C336-450B-A246-BF1B0A8E91D7}"/>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Try these questions.</a:t>
            </a:r>
          </a:p>
        </p:txBody>
      </p:sp>
      <p:sp>
        <p:nvSpPr>
          <p:cNvPr id="4" name="object-4">
            <a:extLst>
              <a:ext uri="{FF2B5EF4-FFF2-40B4-BE49-F238E27FC236}">
                <a16:creationId xmlns:a16="http://schemas.microsoft.com/office/drawing/2014/main" id="{D573E0B4-84CB-433C-8723-C9C8B51B433C}"/>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AF7453B6-8997-463F-A81C-BEBA9ECDA86C}"/>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and check division problems</a:t>
            </a:r>
          </a:p>
        </p:txBody>
      </p:sp>
      <p:sp>
        <p:nvSpPr>
          <p:cNvPr id="6" name="object-6">
            <a:extLst>
              <a:ext uri="{FF2B5EF4-FFF2-40B4-BE49-F238E27FC236}">
                <a16:creationId xmlns:a16="http://schemas.microsoft.com/office/drawing/2014/main" id="{2A280761-94A0-4024-87F0-36E5ECFE503E}"/>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6</a:t>
            </a:r>
          </a:p>
        </p:txBody>
      </p:sp>
      <p:sp>
        <p:nvSpPr>
          <p:cNvPr id="7" name="object-7">
            <a:extLst>
              <a:ext uri="{FF2B5EF4-FFF2-40B4-BE49-F238E27FC236}">
                <a16:creationId xmlns:a16="http://schemas.microsoft.com/office/drawing/2014/main" id="{2984170F-1E82-48C1-9CE4-CB2F1B01D4AD}"/>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8" name="object-8">
            <a:extLst>
              <a:ext uri="{FF2B5EF4-FFF2-40B4-BE49-F238E27FC236}">
                <a16:creationId xmlns:a16="http://schemas.microsoft.com/office/drawing/2014/main" id="{9A1BCC44-7E52-41F7-A438-4DDA5DD05C2B}"/>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A charity packs 9,360 tins equally into 36 crates. How many tins per crate?</a:t>
            </a:r>
          </a:p>
        </p:txBody>
      </p:sp>
      <p:sp>
        <p:nvSpPr>
          <p:cNvPr id="9" name="object-9">
            <a:extLst>
              <a:ext uri="{FF2B5EF4-FFF2-40B4-BE49-F238E27FC236}">
                <a16:creationId xmlns:a16="http://schemas.microsoft.com/office/drawing/2014/main" id="{224DB7C6-E0BC-49A8-A950-CB2A4F89C55A}"/>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10" name="object-10">
            <a:extLst>
              <a:ext uri="{FF2B5EF4-FFF2-40B4-BE49-F238E27FC236}">
                <a16:creationId xmlns:a16="http://schemas.microsoft.com/office/drawing/2014/main" id="{FC4D71C3-3EF5-447B-AD82-BF346D0809FC}"/>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4,725 pupils travel in coaches holding 48. How many coaches are needed?</a:t>
            </a:r>
          </a:p>
        </p:txBody>
      </p:sp>
      <p:sp>
        <p:nvSpPr>
          <p:cNvPr id="11" name="object-11">
            <a:extLst>
              <a:ext uri="{FF2B5EF4-FFF2-40B4-BE49-F238E27FC236}">
                <a16:creationId xmlns:a16="http://schemas.microsoft.com/office/drawing/2014/main" id="{A169512E-82D7-41FC-92FC-9AC87F08177A}"/>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2" name="object-12">
            <a:extLst>
              <a:ext uri="{FF2B5EF4-FFF2-40B4-BE49-F238E27FC236}">
                <a16:creationId xmlns:a16="http://schemas.microsoft.com/office/drawing/2014/main" id="{2869FEB2-8B4C-42DB-9AEE-E66305F7EA87}"/>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Calculate 7,488 / 26 and check by multiplication.</a:t>
            </a:r>
          </a:p>
        </p:txBody>
      </p:sp>
      <p:sp>
        <p:nvSpPr>
          <p:cNvPr id="13" name="object-13">
            <a:extLst>
              <a:ext uri="{FF2B5EF4-FFF2-40B4-BE49-F238E27FC236}">
                <a16:creationId xmlns:a16="http://schemas.microsoft.com/office/drawing/2014/main" id="{6E184604-413D-4CE6-B7C4-ADC557C4FABD}"/>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4" name="object-14">
            <a:extLst>
              <a:ext uri="{FF2B5EF4-FFF2-40B4-BE49-F238E27FC236}">
                <a16:creationId xmlns:a16="http://schemas.microsoft.com/office/drawing/2014/main" id="{D334FD29-A67B-4E5C-939D-7E2FF2B4F107}"/>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Solve this independently and show every stage: A charity packs 9,360 tins equally into 36 crates. How many tins per crate?</a:t>
            </a:r>
          </a:p>
        </p:txBody>
      </p:sp>
      <p:sp>
        <p:nvSpPr>
          <p:cNvPr id="15" name="object-15">
            <a:extLst>
              <a:ext uri="{FF2B5EF4-FFF2-40B4-BE49-F238E27FC236}">
                <a16:creationId xmlns:a16="http://schemas.microsoft.com/office/drawing/2014/main" id="{851EE023-33FE-4DC9-A737-D352E1959B64}"/>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6" name="object-16">
            <a:extLst>
              <a:ext uri="{FF2B5EF4-FFF2-40B4-BE49-F238E27FC236}">
                <a16:creationId xmlns:a16="http://schemas.microsoft.com/office/drawing/2014/main" id="{5D475AA7-4B0C-4A9F-B612-199A7DD7F2F0}"/>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Use a second method or representation for: 4,725 pupils travel in coaches holding 48. How many coaches are needed?</a:t>
            </a:r>
          </a:p>
        </p:txBody>
      </p:sp>
      <p:sp>
        <p:nvSpPr>
          <p:cNvPr id="17" name="object-17">
            <a:extLst>
              <a:ext uri="{FF2B5EF4-FFF2-40B4-BE49-F238E27FC236}">
                <a16:creationId xmlns:a16="http://schemas.microsoft.com/office/drawing/2014/main" id="{F7406186-07CE-414E-B904-97B43DCFA187}"/>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8" name="object-18">
            <a:extLst>
              <a:ext uri="{FF2B5EF4-FFF2-40B4-BE49-F238E27FC236}">
                <a16:creationId xmlns:a16="http://schemas.microsoft.com/office/drawing/2014/main" id="{3368C6D7-DC62-4B28-903E-5E009D93A914}"/>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Check this result using an inverse, estimate or known fact: Calculate 7,488 / 26 and check by multiplication.</a:t>
            </a:r>
          </a:p>
        </p:txBody>
      </p:sp>
      <p:sp>
        <p:nvSpPr>
          <p:cNvPr id="19" name="object-19">
            <a:extLst>
              <a:ext uri="{FF2B5EF4-FFF2-40B4-BE49-F238E27FC236}">
                <a16:creationId xmlns:a16="http://schemas.microsoft.com/office/drawing/2014/main" id="{7061A0FE-0504-4C6B-A819-9D631DB8BB40}"/>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20" name="object-20">
            <a:extLst>
              <a:ext uri="{FF2B5EF4-FFF2-40B4-BE49-F238E27FC236}">
                <a16:creationId xmlns:a16="http://schemas.microsoft.com/office/drawing/2014/main" id="{A87707C3-4B26-413E-8458-62256C4299AF}"/>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Create a division with divisor 28, quotient 135 and remainder 7.</a:t>
            </a:r>
          </a:p>
        </p:txBody>
      </p:sp>
      <p:sp>
        <p:nvSpPr>
          <p:cNvPr id="21" name="object-21">
            <a:extLst>
              <a:ext uri="{FF2B5EF4-FFF2-40B4-BE49-F238E27FC236}">
                <a16:creationId xmlns:a16="http://schemas.microsoft.com/office/drawing/2014/main" id="{F925803C-49E3-4456-A61C-8907FB53D238}"/>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2" name="object-22">
            <a:extLst>
              <a:ext uri="{FF2B5EF4-FFF2-40B4-BE49-F238E27FC236}">
                <a16:creationId xmlns:a16="http://schemas.microsoft.com/office/drawing/2014/main" id="{8B9637DC-8995-433D-BA6E-75554B4B384A}"/>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Identify and correct this misconception: Miro accepts a remainder that is larger than the divisor.</a:t>
            </a:r>
          </a:p>
        </p:txBody>
      </p:sp>
      <p:sp>
        <p:nvSpPr>
          <p:cNvPr id="23" name="object-23">
            <a:extLst>
              <a:ext uri="{FF2B5EF4-FFF2-40B4-BE49-F238E27FC236}">
                <a16:creationId xmlns:a16="http://schemas.microsoft.com/office/drawing/2014/main" id="{981B351D-6CC9-4491-8C46-7F3026903381}"/>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4" name="object-24">
            <a:extLst>
              <a:ext uri="{FF2B5EF4-FFF2-40B4-BE49-F238E27FC236}">
                <a16:creationId xmlns:a16="http://schemas.microsoft.com/office/drawing/2014/main" id="{55C0728F-C2BE-41EB-A5F7-91DD2E18EF52}"/>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 complete sentence explaining how you checked one answer.</a:t>
            </a:r>
          </a:p>
        </p:txBody>
      </p:sp>
      <p:sp>
        <p:nvSpPr>
          <p:cNvPr id="25" name="object-25">
            <a:extLst>
              <a:ext uri="{FF2B5EF4-FFF2-40B4-BE49-F238E27FC236}">
                <a16:creationId xmlns:a16="http://schemas.microsoft.com/office/drawing/2014/main" id="{44112A36-FA7B-4EE4-8CD5-1D8048128323}"/>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6" name="object-26">
            <a:extLst>
              <a:ext uri="{FF2B5EF4-FFF2-40B4-BE49-F238E27FC236}">
                <a16:creationId xmlns:a16="http://schemas.microsoft.com/office/drawing/2014/main" id="{1B2D50B2-EE70-48A9-AC07-C2F5E27568BE}"/>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and solve a similar question to: Calculate 7,488 / 26 and check by multiplication.</a:t>
            </a:r>
          </a:p>
        </p:txBody>
      </p:sp>
    </p:spTree>
    <p:extLst>
      <p:ext uri="{BB962C8B-B14F-4D97-AF65-F5344CB8AC3E}">
        <p14:creationId xmlns:p14="http://schemas.microsoft.com/office/powerpoint/2010/main" val="120777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object-1">
            <a:extLst>
              <a:ext uri="{FF2B5EF4-FFF2-40B4-BE49-F238E27FC236}">
                <a16:creationId xmlns:a16="http://schemas.microsoft.com/office/drawing/2014/main" id="{69082937-0352-4E3E-8F35-D73D40ED5E87}"/>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Answers</a:t>
            </a:r>
          </a:p>
        </p:txBody>
      </p:sp>
      <p:sp>
        <p:nvSpPr>
          <p:cNvPr id="2" name="object-2">
            <a:extLst>
              <a:ext uri="{FF2B5EF4-FFF2-40B4-BE49-F238E27FC236}">
                <a16:creationId xmlns:a16="http://schemas.microsoft.com/office/drawing/2014/main" id="{12D44BC5-2D24-4EF7-911E-E85C891C5417}"/>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Check your answers. Explain any corrections.</a:t>
            </a:r>
          </a:p>
        </p:txBody>
      </p:sp>
      <p:sp>
        <p:nvSpPr>
          <p:cNvPr id="3" name="object-3">
            <a:extLst>
              <a:ext uri="{FF2B5EF4-FFF2-40B4-BE49-F238E27FC236}">
                <a16:creationId xmlns:a16="http://schemas.microsoft.com/office/drawing/2014/main" id="{F8F0616D-1407-4339-A147-383AFEAD53E4}"/>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14989187-ED05-4E9F-97A9-218E1F1228AB}"/>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and check division problems</a:t>
            </a:r>
          </a:p>
        </p:txBody>
      </p:sp>
      <p:sp>
        <p:nvSpPr>
          <p:cNvPr id="5" name="object-5">
            <a:extLst>
              <a:ext uri="{FF2B5EF4-FFF2-40B4-BE49-F238E27FC236}">
                <a16:creationId xmlns:a16="http://schemas.microsoft.com/office/drawing/2014/main" id="{4ED07825-8BE4-4B88-AC29-A199DF05F71A}"/>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7</a:t>
            </a:r>
          </a:p>
        </p:txBody>
      </p:sp>
      <p:sp>
        <p:nvSpPr>
          <p:cNvPr id="6" name="object-6">
            <a:extLst>
              <a:ext uri="{FF2B5EF4-FFF2-40B4-BE49-F238E27FC236}">
                <a16:creationId xmlns:a16="http://schemas.microsoft.com/office/drawing/2014/main" id="{C8AE2029-0B2E-4D8E-9D5D-96A5EB82E218}"/>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7" name="object-7">
            <a:extLst>
              <a:ext uri="{FF2B5EF4-FFF2-40B4-BE49-F238E27FC236}">
                <a16:creationId xmlns:a16="http://schemas.microsoft.com/office/drawing/2014/main" id="{4D890CB7-76AB-4EA0-A8DC-324A33E49813}"/>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260.</a:t>
            </a:r>
          </a:p>
        </p:txBody>
      </p:sp>
      <p:sp>
        <p:nvSpPr>
          <p:cNvPr id="8" name="object-8">
            <a:extLst>
              <a:ext uri="{FF2B5EF4-FFF2-40B4-BE49-F238E27FC236}">
                <a16:creationId xmlns:a16="http://schemas.microsoft.com/office/drawing/2014/main" id="{F23B5609-6B91-4565-8949-CA3AC63CD23C}"/>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9" name="object-9">
            <a:extLst>
              <a:ext uri="{FF2B5EF4-FFF2-40B4-BE49-F238E27FC236}">
                <a16:creationId xmlns:a16="http://schemas.microsoft.com/office/drawing/2014/main" id="{D5134290-7C4E-4E8E-B5D5-44DA46F954C5}"/>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99 coaches.</a:t>
            </a:r>
          </a:p>
        </p:txBody>
      </p:sp>
      <p:sp>
        <p:nvSpPr>
          <p:cNvPr id="10" name="object-10">
            <a:extLst>
              <a:ext uri="{FF2B5EF4-FFF2-40B4-BE49-F238E27FC236}">
                <a16:creationId xmlns:a16="http://schemas.microsoft.com/office/drawing/2014/main" id="{AC7973DE-CEA8-4CC4-9D91-E512563A4BBC}"/>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1" name="object-11">
            <a:extLst>
              <a:ext uri="{FF2B5EF4-FFF2-40B4-BE49-F238E27FC236}">
                <a16:creationId xmlns:a16="http://schemas.microsoft.com/office/drawing/2014/main" id="{E81586F5-F13E-4258-BE3D-935E1291D88A}"/>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288 because 288 x 26 = 7,488.</a:t>
            </a:r>
          </a:p>
        </p:txBody>
      </p:sp>
      <p:sp>
        <p:nvSpPr>
          <p:cNvPr id="12" name="object-12">
            <a:extLst>
              <a:ext uri="{FF2B5EF4-FFF2-40B4-BE49-F238E27FC236}">
                <a16:creationId xmlns:a16="http://schemas.microsoft.com/office/drawing/2014/main" id="{B0985229-9D0A-4C39-B137-EAD5EDD2BAFD}"/>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3" name="object-13">
            <a:extLst>
              <a:ext uri="{FF2B5EF4-FFF2-40B4-BE49-F238E27FC236}">
                <a16:creationId xmlns:a16="http://schemas.microsoft.com/office/drawing/2014/main" id="{21D7762E-938E-43F8-8CEC-39395B3653A7}"/>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260.</a:t>
            </a:r>
          </a:p>
        </p:txBody>
      </p:sp>
      <p:sp>
        <p:nvSpPr>
          <p:cNvPr id="14" name="object-14">
            <a:extLst>
              <a:ext uri="{FF2B5EF4-FFF2-40B4-BE49-F238E27FC236}">
                <a16:creationId xmlns:a16="http://schemas.microsoft.com/office/drawing/2014/main" id="{AB1745D3-2FA8-43E1-915B-E357927FCD84}"/>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5" name="object-15">
            <a:extLst>
              <a:ext uri="{FF2B5EF4-FFF2-40B4-BE49-F238E27FC236}">
                <a16:creationId xmlns:a16="http://schemas.microsoft.com/office/drawing/2014/main" id="{9C34F45F-8B93-4510-A72F-435F1FBBBC6D}"/>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99 coaches. Method or representation may vary.</a:t>
            </a:r>
          </a:p>
        </p:txBody>
      </p:sp>
      <p:sp>
        <p:nvSpPr>
          <p:cNvPr id="16" name="object-16">
            <a:extLst>
              <a:ext uri="{FF2B5EF4-FFF2-40B4-BE49-F238E27FC236}">
                <a16:creationId xmlns:a16="http://schemas.microsoft.com/office/drawing/2014/main" id="{8F073E43-8DA9-4857-B1F2-49165A14116A}"/>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7" name="object-17">
            <a:extLst>
              <a:ext uri="{FF2B5EF4-FFF2-40B4-BE49-F238E27FC236}">
                <a16:creationId xmlns:a16="http://schemas.microsoft.com/office/drawing/2014/main" id="{D52914B5-66CF-42F2-9F55-1193F5D28FC8}"/>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288 because 288 x 26 = 7,488. A valid check must be shown.</a:t>
            </a:r>
          </a:p>
        </p:txBody>
      </p:sp>
      <p:sp>
        <p:nvSpPr>
          <p:cNvPr id="18" name="object-18">
            <a:extLst>
              <a:ext uri="{FF2B5EF4-FFF2-40B4-BE49-F238E27FC236}">
                <a16:creationId xmlns:a16="http://schemas.microsoft.com/office/drawing/2014/main" id="{B4C66396-74EF-4438-85F8-618746ACBD78}"/>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19" name="object-19">
            <a:extLst>
              <a:ext uri="{FF2B5EF4-FFF2-40B4-BE49-F238E27FC236}">
                <a16:creationId xmlns:a16="http://schemas.microsoft.com/office/drawing/2014/main" id="{0975B851-61F6-467A-B747-C372C593DE2D}"/>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3,787 / 28 = 135 remainder 7.</a:t>
            </a:r>
          </a:p>
        </p:txBody>
      </p:sp>
      <p:sp>
        <p:nvSpPr>
          <p:cNvPr id="20" name="object-20">
            <a:extLst>
              <a:ext uri="{FF2B5EF4-FFF2-40B4-BE49-F238E27FC236}">
                <a16:creationId xmlns:a16="http://schemas.microsoft.com/office/drawing/2014/main" id="{3B5D8F7B-3F1F-49FD-B049-D1CDC4952B5F}"/>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1" name="object-21">
            <a:extLst>
              <a:ext uri="{FF2B5EF4-FFF2-40B4-BE49-F238E27FC236}">
                <a16:creationId xmlns:a16="http://schemas.microsoft.com/office/drawing/2014/main" id="{4AF0AC95-B6CD-4848-BA3D-B47CA4842922}"/>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 valid remainder must be smaller than the divisor.</a:t>
            </a:r>
          </a:p>
        </p:txBody>
      </p:sp>
      <p:sp>
        <p:nvSpPr>
          <p:cNvPr id="22" name="object-22">
            <a:extLst>
              <a:ext uri="{FF2B5EF4-FFF2-40B4-BE49-F238E27FC236}">
                <a16:creationId xmlns:a16="http://schemas.microsoft.com/office/drawing/2014/main" id="{47AC4958-1556-4043-9060-AE45143D283B}"/>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3" name="object-23">
            <a:extLst>
              <a:ext uri="{FF2B5EF4-FFF2-40B4-BE49-F238E27FC236}">
                <a16:creationId xmlns:a16="http://schemas.microsoft.com/office/drawing/2014/main" id="{DC4C47FF-EB4F-473D-9034-40292891FBDD}"/>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 should name an inverse, estimate, boundary, known fact or equivalent representation.</a:t>
            </a:r>
          </a:p>
        </p:txBody>
      </p:sp>
      <p:sp>
        <p:nvSpPr>
          <p:cNvPr id="24" name="object-24">
            <a:extLst>
              <a:ext uri="{FF2B5EF4-FFF2-40B4-BE49-F238E27FC236}">
                <a16:creationId xmlns:a16="http://schemas.microsoft.com/office/drawing/2014/main" id="{9CB35B1A-B285-4E6F-9DE9-E9B201C0AE95}"/>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5" name="object-25">
            <a:extLst>
              <a:ext uri="{FF2B5EF4-FFF2-40B4-BE49-F238E27FC236}">
                <a16:creationId xmlns:a16="http://schemas.microsoft.com/office/drawing/2014/main" id="{EF683757-8660-4109-92C9-26EE0756EA67}"/>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Answers vary. The new question must use the same mathematical structure and include a correct solution.</a:t>
            </a:r>
          </a:p>
        </p:txBody>
      </p:sp>
    </p:spTree>
    <p:extLst>
      <p:ext uri="{BB962C8B-B14F-4D97-AF65-F5344CB8AC3E}">
        <p14:creationId xmlns:p14="http://schemas.microsoft.com/office/powerpoint/2010/main" val="63157522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1163</Words>
  <Application>Microsoft Office PowerPoint</Application>
  <DocSecurity>0</DocSecurity>
  <PresentationFormat>Custom</PresentationFormat>
  <Paragraphs>156</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Garima Sharma</cp:lastModifiedBy>
  <cp:revision>1</cp:revision>
  <dcterms:created xsi:type="dcterms:W3CDTF">2026-09-14T13:14:16Z</dcterms:created>
  <dcterms:modified xsi:type="dcterms:W3CDTF">2026-09-14T13:18:24Z</dcterms:modified>
</cp:coreProperties>
</file>