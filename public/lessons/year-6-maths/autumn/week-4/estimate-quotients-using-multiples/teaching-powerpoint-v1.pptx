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Estimate quotients using multiples.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 quotients using multiples.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8829205-B9D3-4DC1-BE79-F20D157D8B1E}"/>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Estimate quotients using multiples</a:t>
            </a:r>
          </a:p>
        </p:txBody>
      </p:sp>
      <p:sp>
        <p:nvSpPr>
          <p:cNvPr id="2" name="object-2">
            <a:extLst>
              <a:ext uri="{FF2B5EF4-FFF2-40B4-BE49-F238E27FC236}">
                <a16:creationId xmlns:a16="http://schemas.microsoft.com/office/drawing/2014/main" id="{970300F9-18E9-4DE0-B6C1-9C314B815EB6}"/>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50052AF3-874F-4F64-B3A7-6D437FD802D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E61804A-F3EA-41F4-9740-AE61EA24FF9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5" name="object-5">
            <a:extLst>
              <a:ext uri="{FF2B5EF4-FFF2-40B4-BE49-F238E27FC236}">
                <a16:creationId xmlns:a16="http://schemas.microsoft.com/office/drawing/2014/main" id="{E72DB8DE-D204-40BA-BD11-2A88A875DB6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4CE311FC-440A-46A8-A96A-0091FABB412A}"/>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estimate quotients before using a written method.</a:t>
            </a:r>
          </a:p>
        </p:txBody>
      </p:sp>
    </p:spTree>
    <p:extLst>
      <p:ext uri="{BB962C8B-B14F-4D97-AF65-F5344CB8AC3E}">
        <p14:creationId xmlns:p14="http://schemas.microsoft.com/office/powerpoint/2010/main" val="738601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6CF59154-9187-453F-9551-F3673860DE2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1D2BE30-3C8A-406E-8928-E0ED3F322C7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7,392 ÷ 24.</a:t>
            </a:r>
          </a:p>
        </p:txBody>
      </p:sp>
      <p:sp>
        <p:nvSpPr>
          <p:cNvPr id="3" name="object-3">
            <a:extLst>
              <a:ext uri="{FF2B5EF4-FFF2-40B4-BE49-F238E27FC236}">
                <a16:creationId xmlns:a16="http://schemas.microsoft.com/office/drawing/2014/main" id="{E0775E15-90C9-4C61-BB07-7CEDBCAB94D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9DDC479-5601-45FC-B970-327CE7E2371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5" name="object-5">
            <a:extLst>
              <a:ext uri="{FF2B5EF4-FFF2-40B4-BE49-F238E27FC236}">
                <a16:creationId xmlns:a16="http://schemas.microsoft.com/office/drawing/2014/main" id="{44DA6B7C-0490-4B1A-83CF-C389AE8DA4E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A618CB3C-3BAA-4F18-A507-F74D0DD55872}"/>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24</a:t>
            </a:r>
          </a:p>
        </p:txBody>
      </p:sp>
      <p:sp>
        <p:nvSpPr>
          <p:cNvPr id="7" name="object-7">
            <a:extLst>
              <a:ext uri="{FF2B5EF4-FFF2-40B4-BE49-F238E27FC236}">
                <a16:creationId xmlns:a16="http://schemas.microsoft.com/office/drawing/2014/main" id="{EA60D6BE-E996-4869-AAB0-D5CD948FCA4C}"/>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FD45E762-C755-492B-BE2C-CD16E14082B9}"/>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F5525789-6307-4C2C-A134-FD3640E57867}"/>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0" name="object-10">
            <a:extLst>
              <a:ext uri="{FF2B5EF4-FFF2-40B4-BE49-F238E27FC236}">
                <a16:creationId xmlns:a16="http://schemas.microsoft.com/office/drawing/2014/main" id="{0B5BA43A-3A60-49D4-B515-50A0C66FBA2B}"/>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36410B92-AF51-40E1-981C-EE9C4EC75EAE}"/>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9</a:t>
            </a:r>
          </a:p>
        </p:txBody>
      </p:sp>
      <p:sp>
        <p:nvSpPr>
          <p:cNvPr id="12" name="object-12">
            <a:extLst>
              <a:ext uri="{FF2B5EF4-FFF2-40B4-BE49-F238E27FC236}">
                <a16:creationId xmlns:a16="http://schemas.microsoft.com/office/drawing/2014/main" id="{C571E1E2-E1A3-4775-BCC6-F38E407C09C6}"/>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0339A254-B32F-4F6B-83D6-37EB63CBFE57}"/>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4" name="object-14">
            <a:extLst>
              <a:ext uri="{FF2B5EF4-FFF2-40B4-BE49-F238E27FC236}">
                <a16:creationId xmlns:a16="http://schemas.microsoft.com/office/drawing/2014/main" id="{560C286E-D5CB-4922-88F3-84769B81499E}"/>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73: 3 times</a:t>
            </a:r>
          </a:p>
        </p:txBody>
      </p:sp>
      <p:sp>
        <p:nvSpPr>
          <p:cNvPr id="15" name="object-15">
            <a:extLst>
              <a:ext uri="{FF2B5EF4-FFF2-40B4-BE49-F238E27FC236}">
                <a16:creationId xmlns:a16="http://schemas.microsoft.com/office/drawing/2014/main" id="{B03884C7-4F8F-4924-9E1B-B9FBBF91E12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73 − 72 = 1</a:t>
            </a:r>
          </a:p>
        </p:txBody>
      </p:sp>
      <p:sp>
        <p:nvSpPr>
          <p:cNvPr id="16" name="object-16">
            <a:extLst>
              <a:ext uri="{FF2B5EF4-FFF2-40B4-BE49-F238E27FC236}">
                <a16:creationId xmlns:a16="http://schemas.microsoft.com/office/drawing/2014/main" id="{8B22CBD0-B4F7-4998-A4F9-13904E7E73B7}"/>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9</a:t>
            </a:r>
          </a:p>
        </p:txBody>
      </p:sp>
      <p:sp>
        <p:nvSpPr>
          <p:cNvPr id="17" name="object-17">
            <a:extLst>
              <a:ext uri="{FF2B5EF4-FFF2-40B4-BE49-F238E27FC236}">
                <a16:creationId xmlns:a16="http://schemas.microsoft.com/office/drawing/2014/main" id="{C799176E-A72C-4B37-8313-37A4BB0ECE7E}"/>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8" name="object-18">
            <a:extLst>
              <a:ext uri="{FF2B5EF4-FFF2-40B4-BE49-F238E27FC236}">
                <a16:creationId xmlns:a16="http://schemas.microsoft.com/office/drawing/2014/main" id="{B2C950DA-A2F3-4B04-8CEF-5923B72D02FC}"/>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19: 0 times</a:t>
            </a:r>
          </a:p>
        </p:txBody>
      </p:sp>
      <p:sp>
        <p:nvSpPr>
          <p:cNvPr id="19" name="object-19">
            <a:extLst>
              <a:ext uri="{FF2B5EF4-FFF2-40B4-BE49-F238E27FC236}">
                <a16:creationId xmlns:a16="http://schemas.microsoft.com/office/drawing/2014/main" id="{40E8BC78-1CF3-4FA3-B9BE-522D65E1DDF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19 − 0 = 19</a:t>
            </a:r>
          </a:p>
        </p:txBody>
      </p:sp>
      <p:sp>
        <p:nvSpPr>
          <p:cNvPr id="20" name="object-20">
            <a:extLst>
              <a:ext uri="{FF2B5EF4-FFF2-40B4-BE49-F238E27FC236}">
                <a16:creationId xmlns:a16="http://schemas.microsoft.com/office/drawing/2014/main" id="{7AF0BC5C-3AF4-4A9C-8032-6EE54B61649C}"/>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2</a:t>
            </a:r>
          </a:p>
        </p:txBody>
      </p:sp>
      <p:sp>
        <p:nvSpPr>
          <p:cNvPr id="21" name="object-21">
            <a:extLst>
              <a:ext uri="{FF2B5EF4-FFF2-40B4-BE49-F238E27FC236}">
                <a16:creationId xmlns:a16="http://schemas.microsoft.com/office/drawing/2014/main" id="{71C1714A-E925-4B3B-9DED-F60365C21E09}"/>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22" name="object-22">
            <a:extLst>
              <a:ext uri="{FF2B5EF4-FFF2-40B4-BE49-F238E27FC236}">
                <a16:creationId xmlns:a16="http://schemas.microsoft.com/office/drawing/2014/main" id="{96DDBD19-FCD5-4052-A768-248DC3D7B5D9}"/>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192: 8 times</a:t>
            </a:r>
          </a:p>
        </p:txBody>
      </p:sp>
      <p:sp>
        <p:nvSpPr>
          <p:cNvPr id="23" name="object-23">
            <a:extLst>
              <a:ext uri="{FF2B5EF4-FFF2-40B4-BE49-F238E27FC236}">
                <a16:creationId xmlns:a16="http://schemas.microsoft.com/office/drawing/2014/main" id="{4938CC58-CAC1-4E58-9347-519C6C13F6C9}"/>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192 − 192 = 0</a:t>
            </a:r>
          </a:p>
        </p:txBody>
      </p:sp>
      <p:sp>
        <p:nvSpPr>
          <p:cNvPr id="24" name="object-24">
            <a:extLst>
              <a:ext uri="{FF2B5EF4-FFF2-40B4-BE49-F238E27FC236}">
                <a16:creationId xmlns:a16="http://schemas.microsoft.com/office/drawing/2014/main" id="{681DD2D2-265A-434C-91F3-C7DE068A5F85}"/>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7,392 ÷ 24 = 308</a:t>
            </a:r>
          </a:p>
        </p:txBody>
      </p:sp>
    </p:spTree>
    <p:extLst>
      <p:ext uri="{BB962C8B-B14F-4D97-AF65-F5344CB8AC3E}">
        <p14:creationId xmlns:p14="http://schemas.microsoft.com/office/powerpoint/2010/main" val="145350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6"/>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0"/>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p:bldP spid="16" grpId="1"/>
      <p:bldP spid="16" grpId="2"/>
      <p:bldP spid="17" grpId="0"/>
      <p:bldP spid="18" grpId="0"/>
      <p:bldP spid="18" grpId="1"/>
      <p:bldP spid="19" grpId="0"/>
      <p:bldP spid="19" grpId="1"/>
      <p:bldP spid="20" grpId="0"/>
      <p:bldP spid="20" grpId="1"/>
      <p:bldP spid="20" grpId="2"/>
      <p:bldP spid="21"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FB9666AE-0819-461B-9413-20B1467688D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7585B941-9297-4401-84C8-FD201D25E7D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A6596BE-A978-40A9-AB76-D69C65C1395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7,656 ÷ 24.</a:t>
            </a:r>
          </a:p>
        </p:txBody>
      </p:sp>
      <p:sp>
        <p:nvSpPr>
          <p:cNvPr id="4" name="object-4">
            <a:extLst>
              <a:ext uri="{FF2B5EF4-FFF2-40B4-BE49-F238E27FC236}">
                <a16:creationId xmlns:a16="http://schemas.microsoft.com/office/drawing/2014/main" id="{68627844-91B8-483D-8170-2C02C34EEB2A}"/>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E4C2766-0651-40E2-A545-263FFF30614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6" name="object-6">
            <a:extLst>
              <a:ext uri="{FF2B5EF4-FFF2-40B4-BE49-F238E27FC236}">
                <a16:creationId xmlns:a16="http://schemas.microsoft.com/office/drawing/2014/main" id="{F092B8A9-028D-420B-B015-6533E193164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8A80DE49-A94E-41D7-B350-2B2A13C17BE4}"/>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24</a:t>
            </a:r>
          </a:p>
        </p:txBody>
      </p:sp>
      <p:sp>
        <p:nvSpPr>
          <p:cNvPr id="8" name="object-8">
            <a:extLst>
              <a:ext uri="{FF2B5EF4-FFF2-40B4-BE49-F238E27FC236}">
                <a16:creationId xmlns:a16="http://schemas.microsoft.com/office/drawing/2014/main" id="{664AFA13-A26E-4EFD-A9AD-2EBCFA310386}"/>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46FDF0BD-8A68-4DA7-A248-F0D173901624}"/>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4700EF58-DC96-4DC0-B449-5BAE4179DC61}"/>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1" name="object-11">
            <a:extLst>
              <a:ext uri="{FF2B5EF4-FFF2-40B4-BE49-F238E27FC236}">
                <a16:creationId xmlns:a16="http://schemas.microsoft.com/office/drawing/2014/main" id="{578A67F5-AD6C-4B88-AB7B-EFA8126E5640}"/>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2" name="object-12">
            <a:extLst>
              <a:ext uri="{FF2B5EF4-FFF2-40B4-BE49-F238E27FC236}">
                <a16:creationId xmlns:a16="http://schemas.microsoft.com/office/drawing/2014/main" id="{D7F7D427-932D-42EA-8C59-AFD6CD836B8B}"/>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5</a:t>
            </a:r>
          </a:p>
        </p:txBody>
      </p:sp>
      <p:sp>
        <p:nvSpPr>
          <p:cNvPr id="13" name="object-13">
            <a:extLst>
              <a:ext uri="{FF2B5EF4-FFF2-40B4-BE49-F238E27FC236}">
                <a16:creationId xmlns:a16="http://schemas.microsoft.com/office/drawing/2014/main" id="{820CF57E-B6C7-4314-AA04-BBDCCFD2C0FF}"/>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4" name="object-14">
            <a:extLst>
              <a:ext uri="{FF2B5EF4-FFF2-40B4-BE49-F238E27FC236}">
                <a16:creationId xmlns:a16="http://schemas.microsoft.com/office/drawing/2014/main" id="{95960A44-1E80-4C7C-A8D6-BBD563AC0803}"/>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5" name="object-15">
            <a:extLst>
              <a:ext uri="{FF2B5EF4-FFF2-40B4-BE49-F238E27FC236}">
                <a16:creationId xmlns:a16="http://schemas.microsoft.com/office/drawing/2014/main" id="{FA96E5CD-616D-4B80-8433-D47BC2B8FAC7}"/>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76: 3 times</a:t>
            </a:r>
          </a:p>
        </p:txBody>
      </p:sp>
      <p:sp>
        <p:nvSpPr>
          <p:cNvPr id="16" name="object-16">
            <a:extLst>
              <a:ext uri="{FF2B5EF4-FFF2-40B4-BE49-F238E27FC236}">
                <a16:creationId xmlns:a16="http://schemas.microsoft.com/office/drawing/2014/main" id="{0BC8DD98-0BDF-45FB-ADA3-E09D06EB42C9}"/>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76 − 72 = 4</a:t>
            </a:r>
          </a:p>
        </p:txBody>
      </p:sp>
      <p:sp>
        <p:nvSpPr>
          <p:cNvPr id="17" name="object-17">
            <a:extLst>
              <a:ext uri="{FF2B5EF4-FFF2-40B4-BE49-F238E27FC236}">
                <a16:creationId xmlns:a16="http://schemas.microsoft.com/office/drawing/2014/main" id="{3A9F3EEF-EA1A-4810-96EA-617ED94B6980}"/>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5</a:t>
            </a:r>
          </a:p>
        </p:txBody>
      </p:sp>
      <p:sp>
        <p:nvSpPr>
          <p:cNvPr id="18" name="object-18">
            <a:extLst>
              <a:ext uri="{FF2B5EF4-FFF2-40B4-BE49-F238E27FC236}">
                <a16:creationId xmlns:a16="http://schemas.microsoft.com/office/drawing/2014/main" id="{4E023AF7-6303-45AB-8BBE-08BDFEFC7581}"/>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19" name="object-19">
            <a:extLst>
              <a:ext uri="{FF2B5EF4-FFF2-40B4-BE49-F238E27FC236}">
                <a16:creationId xmlns:a16="http://schemas.microsoft.com/office/drawing/2014/main" id="{BB7E277A-8C24-4F8D-B39C-6EE9F1DB733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45: 1 times</a:t>
            </a:r>
          </a:p>
        </p:txBody>
      </p:sp>
      <p:sp>
        <p:nvSpPr>
          <p:cNvPr id="20" name="object-20">
            <a:extLst>
              <a:ext uri="{FF2B5EF4-FFF2-40B4-BE49-F238E27FC236}">
                <a16:creationId xmlns:a16="http://schemas.microsoft.com/office/drawing/2014/main" id="{DB4A6420-86AB-4B21-9FEC-D1C85A01F91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45 − 24 = 21</a:t>
            </a:r>
          </a:p>
        </p:txBody>
      </p:sp>
      <p:sp>
        <p:nvSpPr>
          <p:cNvPr id="21" name="object-21">
            <a:extLst>
              <a:ext uri="{FF2B5EF4-FFF2-40B4-BE49-F238E27FC236}">
                <a16:creationId xmlns:a16="http://schemas.microsoft.com/office/drawing/2014/main" id="{AAC02795-80FD-4147-AA1D-74CAC036483F}"/>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2" name="object-22">
            <a:extLst>
              <a:ext uri="{FF2B5EF4-FFF2-40B4-BE49-F238E27FC236}">
                <a16:creationId xmlns:a16="http://schemas.microsoft.com/office/drawing/2014/main" id="{5D34E93C-C81D-4255-B498-78814202DC17}"/>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3" name="object-23">
            <a:extLst>
              <a:ext uri="{FF2B5EF4-FFF2-40B4-BE49-F238E27FC236}">
                <a16:creationId xmlns:a16="http://schemas.microsoft.com/office/drawing/2014/main" id="{78FAD699-5A7F-4FF5-BA7D-438C30CDC7DC}"/>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216: 9 times</a:t>
            </a:r>
          </a:p>
        </p:txBody>
      </p:sp>
      <p:sp>
        <p:nvSpPr>
          <p:cNvPr id="24" name="object-24">
            <a:extLst>
              <a:ext uri="{FF2B5EF4-FFF2-40B4-BE49-F238E27FC236}">
                <a16:creationId xmlns:a16="http://schemas.microsoft.com/office/drawing/2014/main" id="{657FFB20-4B79-4E29-96F6-8535F15A3E7F}"/>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216 − 216 = 0</a:t>
            </a:r>
          </a:p>
        </p:txBody>
      </p:sp>
      <p:sp>
        <p:nvSpPr>
          <p:cNvPr id="25" name="object-25">
            <a:extLst>
              <a:ext uri="{FF2B5EF4-FFF2-40B4-BE49-F238E27FC236}">
                <a16:creationId xmlns:a16="http://schemas.microsoft.com/office/drawing/2014/main" id="{EB0B42DA-3940-459D-93C4-BB8071BAFB08}"/>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7,656 ÷ 24 = 319</a:t>
            </a:r>
          </a:p>
        </p:txBody>
      </p:sp>
    </p:spTree>
    <p:extLst>
      <p:ext uri="{BB962C8B-B14F-4D97-AF65-F5344CB8AC3E}">
        <p14:creationId xmlns:p14="http://schemas.microsoft.com/office/powerpoint/2010/main" val="107325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121318F1-A96F-477E-9ED8-0668EC75E97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FAC6E46-C183-4CA0-A21A-405BC74FAFD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7,920 ÷ 24.</a:t>
            </a:r>
          </a:p>
        </p:txBody>
      </p:sp>
      <p:sp>
        <p:nvSpPr>
          <p:cNvPr id="3" name="object-3">
            <a:extLst>
              <a:ext uri="{FF2B5EF4-FFF2-40B4-BE49-F238E27FC236}">
                <a16:creationId xmlns:a16="http://schemas.microsoft.com/office/drawing/2014/main" id="{615280A1-2BD4-4487-ACFF-9D839BA5505C}"/>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140C08E-6387-472A-8EE2-C40E336E213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5" name="object-5">
            <a:extLst>
              <a:ext uri="{FF2B5EF4-FFF2-40B4-BE49-F238E27FC236}">
                <a16:creationId xmlns:a16="http://schemas.microsoft.com/office/drawing/2014/main" id="{BC32760D-10AE-44FE-A326-1BCAFBC1359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353877F0-7D3F-4DDE-97CF-B1DCB9809E73}"/>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24</a:t>
            </a:r>
          </a:p>
        </p:txBody>
      </p:sp>
      <p:sp>
        <p:nvSpPr>
          <p:cNvPr id="7" name="object-7">
            <a:extLst>
              <a:ext uri="{FF2B5EF4-FFF2-40B4-BE49-F238E27FC236}">
                <a16:creationId xmlns:a16="http://schemas.microsoft.com/office/drawing/2014/main" id="{5E5E89B5-5C92-4176-A6B7-5C290069D96C}"/>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E60BAD8F-4AEF-426E-8CDD-AC0FA95D635F}"/>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3B7CFF63-6A04-4270-9529-6501DE115351}"/>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0" name="object-10">
            <a:extLst>
              <a:ext uri="{FF2B5EF4-FFF2-40B4-BE49-F238E27FC236}">
                <a16:creationId xmlns:a16="http://schemas.microsoft.com/office/drawing/2014/main" id="{9A2FB1A8-AC6A-4B47-B18F-8ADE860C9F68}"/>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9</a:t>
            </a:r>
          </a:p>
        </p:txBody>
      </p:sp>
      <p:sp>
        <p:nvSpPr>
          <p:cNvPr id="11" name="object-11">
            <a:extLst>
              <a:ext uri="{FF2B5EF4-FFF2-40B4-BE49-F238E27FC236}">
                <a16:creationId xmlns:a16="http://schemas.microsoft.com/office/drawing/2014/main" id="{625D06FD-26FF-4BAE-BC8F-5D0C50B15321}"/>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2</a:t>
            </a:r>
          </a:p>
        </p:txBody>
      </p:sp>
      <p:sp>
        <p:nvSpPr>
          <p:cNvPr id="12" name="object-12">
            <a:extLst>
              <a:ext uri="{FF2B5EF4-FFF2-40B4-BE49-F238E27FC236}">
                <a16:creationId xmlns:a16="http://schemas.microsoft.com/office/drawing/2014/main" id="{EC52917E-5DC9-4961-9071-DF803299FB7B}"/>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3" name="object-13">
            <a:extLst>
              <a:ext uri="{FF2B5EF4-FFF2-40B4-BE49-F238E27FC236}">
                <a16:creationId xmlns:a16="http://schemas.microsoft.com/office/drawing/2014/main" id="{755FE6CB-6CAA-4FC9-86B6-183DF1DDC240}"/>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4" name="object-14">
            <a:extLst>
              <a:ext uri="{FF2B5EF4-FFF2-40B4-BE49-F238E27FC236}">
                <a16:creationId xmlns:a16="http://schemas.microsoft.com/office/drawing/2014/main" id="{EA66B9FE-7B75-44DC-B25E-23ECC57319AB}"/>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79: 3 times</a:t>
            </a:r>
          </a:p>
        </p:txBody>
      </p:sp>
      <p:sp>
        <p:nvSpPr>
          <p:cNvPr id="15" name="object-15">
            <a:extLst>
              <a:ext uri="{FF2B5EF4-FFF2-40B4-BE49-F238E27FC236}">
                <a16:creationId xmlns:a16="http://schemas.microsoft.com/office/drawing/2014/main" id="{939D2867-2CA7-4D7A-9268-9B032210DF46}"/>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79 − 72 = 7</a:t>
            </a:r>
          </a:p>
        </p:txBody>
      </p:sp>
      <p:sp>
        <p:nvSpPr>
          <p:cNvPr id="16" name="object-16">
            <a:extLst>
              <a:ext uri="{FF2B5EF4-FFF2-40B4-BE49-F238E27FC236}">
                <a16:creationId xmlns:a16="http://schemas.microsoft.com/office/drawing/2014/main" id="{45C1155E-B0F5-47F4-B354-0A75C87614D9}"/>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2</a:t>
            </a:r>
          </a:p>
        </p:txBody>
      </p:sp>
      <p:sp>
        <p:nvSpPr>
          <p:cNvPr id="17" name="object-17">
            <a:extLst>
              <a:ext uri="{FF2B5EF4-FFF2-40B4-BE49-F238E27FC236}">
                <a16:creationId xmlns:a16="http://schemas.microsoft.com/office/drawing/2014/main" id="{696D3822-C8F4-4D10-8A28-2046C84346D2}"/>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8" name="object-18">
            <a:extLst>
              <a:ext uri="{FF2B5EF4-FFF2-40B4-BE49-F238E27FC236}">
                <a16:creationId xmlns:a16="http://schemas.microsoft.com/office/drawing/2014/main" id="{268C6FCA-4F5A-4F7B-A4ED-AC3F2D6EC73C}"/>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72: 3 times</a:t>
            </a:r>
          </a:p>
        </p:txBody>
      </p:sp>
      <p:sp>
        <p:nvSpPr>
          <p:cNvPr id="19" name="object-19">
            <a:extLst>
              <a:ext uri="{FF2B5EF4-FFF2-40B4-BE49-F238E27FC236}">
                <a16:creationId xmlns:a16="http://schemas.microsoft.com/office/drawing/2014/main" id="{88874F6F-C1E0-45BD-90F5-3851880324E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72 − 72 = 0</a:t>
            </a:r>
          </a:p>
        </p:txBody>
      </p:sp>
      <p:sp>
        <p:nvSpPr>
          <p:cNvPr id="20" name="object-20">
            <a:extLst>
              <a:ext uri="{FF2B5EF4-FFF2-40B4-BE49-F238E27FC236}">
                <a16:creationId xmlns:a16="http://schemas.microsoft.com/office/drawing/2014/main" id="{7CDDF619-CFDB-44E9-A571-6758922D5F51}"/>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21" name="object-21">
            <a:extLst>
              <a:ext uri="{FF2B5EF4-FFF2-40B4-BE49-F238E27FC236}">
                <a16:creationId xmlns:a16="http://schemas.microsoft.com/office/drawing/2014/main" id="{CCCF3E1E-B8AF-4FDE-8730-377FCB75174A}"/>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2" name="object-22">
            <a:extLst>
              <a:ext uri="{FF2B5EF4-FFF2-40B4-BE49-F238E27FC236}">
                <a16:creationId xmlns:a16="http://schemas.microsoft.com/office/drawing/2014/main" id="{D3EFAEF5-12D2-4ECE-92E1-D75111751114}"/>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0: 0 times</a:t>
            </a:r>
          </a:p>
        </p:txBody>
      </p:sp>
      <p:sp>
        <p:nvSpPr>
          <p:cNvPr id="23" name="object-23">
            <a:extLst>
              <a:ext uri="{FF2B5EF4-FFF2-40B4-BE49-F238E27FC236}">
                <a16:creationId xmlns:a16="http://schemas.microsoft.com/office/drawing/2014/main" id="{A25A11A4-2999-4762-A017-5BE59AD57F36}"/>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4" name="object-24">
            <a:extLst>
              <a:ext uri="{FF2B5EF4-FFF2-40B4-BE49-F238E27FC236}">
                <a16:creationId xmlns:a16="http://schemas.microsoft.com/office/drawing/2014/main" id="{03352A7B-01DF-4761-9135-19AAB76A05D1}"/>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7,920 ÷ 24 = 330</a:t>
            </a:r>
          </a:p>
        </p:txBody>
      </p:sp>
    </p:spTree>
    <p:extLst>
      <p:ext uri="{BB962C8B-B14F-4D97-AF65-F5344CB8AC3E}">
        <p14:creationId xmlns:p14="http://schemas.microsoft.com/office/powerpoint/2010/main" val="811321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6"/>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0"/>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p:bldP spid="16" grpId="1"/>
      <p:bldP spid="16" grpId="2"/>
      <p:bldP spid="17" grpId="0"/>
      <p:bldP spid="18" grpId="0"/>
      <p:bldP spid="18" grpId="1"/>
      <p:bldP spid="19" grpId="0"/>
      <p:bldP spid="19" grpId="1"/>
      <p:bldP spid="20" grpId="0"/>
      <p:bldP spid="20" grpId="1"/>
      <p:bldP spid="20" grpId="2"/>
      <p:bldP spid="21" grpId="0"/>
      <p:bldP spid="22" grpId="0"/>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2BC32084-DF92-4156-BB03-F00E5C0C9E8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F1A0B79B-B882-4D0E-B053-01840D46509D}"/>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BCDADE1-40E5-4EEF-8D5E-DE8A2FB4DFB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8,184 ÷ 24.</a:t>
            </a:r>
          </a:p>
        </p:txBody>
      </p:sp>
      <p:sp>
        <p:nvSpPr>
          <p:cNvPr id="4" name="object-4">
            <a:extLst>
              <a:ext uri="{FF2B5EF4-FFF2-40B4-BE49-F238E27FC236}">
                <a16:creationId xmlns:a16="http://schemas.microsoft.com/office/drawing/2014/main" id="{63FA41FC-BABD-4525-8AA4-DE4BD193DF33}"/>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B8CCADCB-80EF-4735-A538-800F053A229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6" name="object-6">
            <a:extLst>
              <a:ext uri="{FF2B5EF4-FFF2-40B4-BE49-F238E27FC236}">
                <a16:creationId xmlns:a16="http://schemas.microsoft.com/office/drawing/2014/main" id="{62A58B29-2338-4EE7-81AB-0E90C0FA542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BE550E34-41A2-4A0E-A177-B7DFBE673784}"/>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24</a:t>
            </a:r>
          </a:p>
        </p:txBody>
      </p:sp>
      <p:sp>
        <p:nvSpPr>
          <p:cNvPr id="8" name="object-8">
            <a:extLst>
              <a:ext uri="{FF2B5EF4-FFF2-40B4-BE49-F238E27FC236}">
                <a16:creationId xmlns:a16="http://schemas.microsoft.com/office/drawing/2014/main" id="{86102335-3A16-4E80-9AC9-E0CE3BE3C6B3}"/>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374A5EE4-0A02-47D2-9C1D-D866188A1BBD}"/>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C9C171D5-2546-40BB-947C-8C39D0423486}"/>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1" name="object-11">
            <a:extLst>
              <a:ext uri="{FF2B5EF4-FFF2-40B4-BE49-F238E27FC236}">
                <a16:creationId xmlns:a16="http://schemas.microsoft.com/office/drawing/2014/main" id="{83F743B1-8689-43F4-8555-D8D1DDAEDB24}"/>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2" name="object-12">
            <a:extLst>
              <a:ext uri="{FF2B5EF4-FFF2-40B4-BE49-F238E27FC236}">
                <a16:creationId xmlns:a16="http://schemas.microsoft.com/office/drawing/2014/main" id="{BF72CD77-2AD4-4951-9C8F-87CC3733DFE5}"/>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3" name="object-13">
            <a:extLst>
              <a:ext uri="{FF2B5EF4-FFF2-40B4-BE49-F238E27FC236}">
                <a16:creationId xmlns:a16="http://schemas.microsoft.com/office/drawing/2014/main" id="{F767EC82-6A1F-4D06-BD4D-7F097AB017B3}"/>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5506B7C6-A184-4039-BF43-1B9E5AAEC234}"/>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5" name="object-15">
            <a:extLst>
              <a:ext uri="{FF2B5EF4-FFF2-40B4-BE49-F238E27FC236}">
                <a16:creationId xmlns:a16="http://schemas.microsoft.com/office/drawing/2014/main" id="{5AF2EE8E-65B2-4756-897C-7856E9A77F25}"/>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81: 3 times</a:t>
            </a:r>
          </a:p>
        </p:txBody>
      </p:sp>
      <p:sp>
        <p:nvSpPr>
          <p:cNvPr id="16" name="object-16">
            <a:extLst>
              <a:ext uri="{FF2B5EF4-FFF2-40B4-BE49-F238E27FC236}">
                <a16:creationId xmlns:a16="http://schemas.microsoft.com/office/drawing/2014/main" id="{C46B2383-4CD0-47CA-974A-1847293C48E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81 − 72 = 9</a:t>
            </a:r>
          </a:p>
        </p:txBody>
      </p:sp>
      <p:sp>
        <p:nvSpPr>
          <p:cNvPr id="17" name="object-17">
            <a:extLst>
              <a:ext uri="{FF2B5EF4-FFF2-40B4-BE49-F238E27FC236}">
                <a16:creationId xmlns:a16="http://schemas.microsoft.com/office/drawing/2014/main" id="{9153A5CD-F9FA-47F0-A712-ACEF15AA4310}"/>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8</a:t>
            </a:r>
          </a:p>
        </p:txBody>
      </p:sp>
      <p:sp>
        <p:nvSpPr>
          <p:cNvPr id="18" name="object-18">
            <a:extLst>
              <a:ext uri="{FF2B5EF4-FFF2-40B4-BE49-F238E27FC236}">
                <a16:creationId xmlns:a16="http://schemas.microsoft.com/office/drawing/2014/main" id="{8358A015-F676-4A9F-B195-29761D79AAFC}"/>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19" name="object-19">
            <a:extLst>
              <a:ext uri="{FF2B5EF4-FFF2-40B4-BE49-F238E27FC236}">
                <a16:creationId xmlns:a16="http://schemas.microsoft.com/office/drawing/2014/main" id="{DFCCDF46-6261-4375-9516-1ACC71D14805}"/>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98: 4 times</a:t>
            </a:r>
          </a:p>
        </p:txBody>
      </p:sp>
      <p:sp>
        <p:nvSpPr>
          <p:cNvPr id="20" name="object-20">
            <a:extLst>
              <a:ext uri="{FF2B5EF4-FFF2-40B4-BE49-F238E27FC236}">
                <a16:creationId xmlns:a16="http://schemas.microsoft.com/office/drawing/2014/main" id="{7AF60101-C2DE-45D8-9C24-015D7086B5D8}"/>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98 − 96 = 2</a:t>
            </a:r>
          </a:p>
        </p:txBody>
      </p:sp>
      <p:sp>
        <p:nvSpPr>
          <p:cNvPr id="21" name="object-21">
            <a:extLst>
              <a:ext uri="{FF2B5EF4-FFF2-40B4-BE49-F238E27FC236}">
                <a16:creationId xmlns:a16="http://schemas.microsoft.com/office/drawing/2014/main" id="{96ABAB43-D963-4D50-93E7-A21CFD604A46}"/>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22" name="object-22">
            <a:extLst>
              <a:ext uri="{FF2B5EF4-FFF2-40B4-BE49-F238E27FC236}">
                <a16:creationId xmlns:a16="http://schemas.microsoft.com/office/drawing/2014/main" id="{7E9E924B-4024-436C-B290-52D4B86B6DA8}"/>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3" name="object-23">
            <a:extLst>
              <a:ext uri="{FF2B5EF4-FFF2-40B4-BE49-F238E27FC236}">
                <a16:creationId xmlns:a16="http://schemas.microsoft.com/office/drawing/2014/main" id="{AA9AD492-12DE-4E4F-A001-E7CCF28F8355}"/>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fits into 24: 1 times</a:t>
            </a:r>
          </a:p>
        </p:txBody>
      </p:sp>
      <p:sp>
        <p:nvSpPr>
          <p:cNvPr id="24" name="object-24">
            <a:extLst>
              <a:ext uri="{FF2B5EF4-FFF2-40B4-BE49-F238E27FC236}">
                <a16:creationId xmlns:a16="http://schemas.microsoft.com/office/drawing/2014/main" id="{CD870B92-A81C-441E-B204-58A77C4BCCBD}"/>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24 − 24 = 0</a:t>
            </a:r>
          </a:p>
        </p:txBody>
      </p:sp>
      <p:sp>
        <p:nvSpPr>
          <p:cNvPr id="25" name="object-25">
            <a:extLst>
              <a:ext uri="{FF2B5EF4-FFF2-40B4-BE49-F238E27FC236}">
                <a16:creationId xmlns:a16="http://schemas.microsoft.com/office/drawing/2014/main" id="{C292BC96-2853-411B-9E82-5895288E083E}"/>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8,184 ÷ 24 = 341</a:t>
            </a:r>
          </a:p>
        </p:txBody>
      </p:sp>
    </p:spTree>
    <p:extLst>
      <p:ext uri="{BB962C8B-B14F-4D97-AF65-F5344CB8AC3E}">
        <p14:creationId xmlns:p14="http://schemas.microsoft.com/office/powerpoint/2010/main" val="89964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E7226393-6C5F-42A3-8E48-7F7B1176BDA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E354307-25E1-4F5B-92E9-5531ECAA9567}"/>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A55E1AF-6AB9-4A78-B98F-86B7030393A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7308E055-6CF0-46B4-BD24-FDC43AAA2345}"/>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8B1A428-9E78-4E8A-8D61-316A2F86125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6" name="object-6">
            <a:extLst>
              <a:ext uri="{FF2B5EF4-FFF2-40B4-BE49-F238E27FC236}">
                <a16:creationId xmlns:a16="http://schemas.microsoft.com/office/drawing/2014/main" id="{CFD0ECCF-658B-4C79-ACBC-F56A2EE5DB5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0BEFBB5C-12E6-4F31-BADF-F81B0D390DEE}"/>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1C86B841-A94E-464E-B780-0384CF3FED7C}"/>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Estimate and then calculate 7,392 / 24.</a:t>
            </a:r>
          </a:p>
        </p:txBody>
      </p:sp>
      <p:sp>
        <p:nvSpPr>
          <p:cNvPr id="9" name="object-9">
            <a:extLst>
              <a:ext uri="{FF2B5EF4-FFF2-40B4-BE49-F238E27FC236}">
                <a16:creationId xmlns:a16="http://schemas.microsoft.com/office/drawing/2014/main" id="{8B793D44-1411-4A25-8547-33A54DB1FDB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22AFAA5E-395A-4ACE-AEAF-EBC4EB68E187}"/>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Estimate 5,985 / 31.</a:t>
            </a:r>
          </a:p>
        </p:txBody>
      </p:sp>
      <p:sp>
        <p:nvSpPr>
          <p:cNvPr id="11" name="object-11">
            <a:extLst>
              <a:ext uri="{FF2B5EF4-FFF2-40B4-BE49-F238E27FC236}">
                <a16:creationId xmlns:a16="http://schemas.microsoft.com/office/drawing/2014/main" id="{3ACA8FF4-1EF8-4966-B39B-741ADD877293}"/>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8783D279-87D6-41DE-9B89-428E45BFD5D1}"/>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Which is a better estimate for 8,316 / 42: 20, 200 or 2,000?</a:t>
            </a:r>
          </a:p>
        </p:txBody>
      </p:sp>
      <p:sp>
        <p:nvSpPr>
          <p:cNvPr id="13" name="object-13">
            <a:extLst>
              <a:ext uri="{FF2B5EF4-FFF2-40B4-BE49-F238E27FC236}">
                <a16:creationId xmlns:a16="http://schemas.microsoft.com/office/drawing/2014/main" id="{C7147F23-8AAC-48BB-A9B9-D67C95741D89}"/>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990107CF-AA2B-455F-974D-4912464DF5F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Estimate and then calculate 7,392 / 24.</a:t>
            </a:r>
          </a:p>
        </p:txBody>
      </p:sp>
      <p:sp>
        <p:nvSpPr>
          <p:cNvPr id="15" name="object-15">
            <a:extLst>
              <a:ext uri="{FF2B5EF4-FFF2-40B4-BE49-F238E27FC236}">
                <a16:creationId xmlns:a16="http://schemas.microsoft.com/office/drawing/2014/main" id="{86197CF5-35E0-4888-947D-67D3E0C75218}"/>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F71A6639-4443-42EE-BBCF-9895E3875AC1}"/>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Estimate 5,985 / 31.</a:t>
            </a:r>
          </a:p>
        </p:txBody>
      </p:sp>
      <p:sp>
        <p:nvSpPr>
          <p:cNvPr id="17" name="object-17">
            <a:extLst>
              <a:ext uri="{FF2B5EF4-FFF2-40B4-BE49-F238E27FC236}">
                <a16:creationId xmlns:a16="http://schemas.microsoft.com/office/drawing/2014/main" id="{5AFB116B-82EF-4BFB-B6B1-65443D615A0A}"/>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04590F70-EACE-4600-ACA0-C5CA33C7761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Which is a better estimate for 8,316 / 42: 20, 200 or 2,000?</a:t>
            </a:r>
          </a:p>
        </p:txBody>
      </p:sp>
      <p:sp>
        <p:nvSpPr>
          <p:cNvPr id="19" name="object-19">
            <a:extLst>
              <a:ext uri="{FF2B5EF4-FFF2-40B4-BE49-F238E27FC236}">
                <a16:creationId xmlns:a16="http://schemas.microsoft.com/office/drawing/2014/main" id="{FBEF9A30-F58E-4626-8E33-2D43C5101C10}"/>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4022DA19-029A-43A1-B5E5-ED7B263648B5}"/>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a divisor between 20 and 30 that makes 6,048 divide exactly.</a:t>
            </a:r>
          </a:p>
        </p:txBody>
      </p:sp>
      <p:sp>
        <p:nvSpPr>
          <p:cNvPr id="21" name="object-21">
            <a:extLst>
              <a:ext uri="{FF2B5EF4-FFF2-40B4-BE49-F238E27FC236}">
                <a16:creationId xmlns:a16="http://schemas.microsoft.com/office/drawing/2014/main" id="{92238CCC-0F65-4295-8235-EF3E77690068}"/>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C709B4A0-301E-4F6C-9584-D7638A6212D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estimates division by rounding only the dividend.</a:t>
            </a:r>
          </a:p>
        </p:txBody>
      </p:sp>
      <p:sp>
        <p:nvSpPr>
          <p:cNvPr id="23" name="object-23">
            <a:extLst>
              <a:ext uri="{FF2B5EF4-FFF2-40B4-BE49-F238E27FC236}">
                <a16:creationId xmlns:a16="http://schemas.microsoft.com/office/drawing/2014/main" id="{07243751-A0B6-4957-9B8F-F5F10A934AAD}"/>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23B9B02B-4A02-4EFA-8CDD-28051649A9DF}"/>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30E15B80-6D2D-4473-97B0-6ECADA5A37FC}"/>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F15BD09C-83C5-4688-AF02-D51F1544E8E5}"/>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Which is a better estimate for 8,316 / 42: 20, 200 or 2,000?</a:t>
            </a:r>
          </a:p>
        </p:txBody>
      </p:sp>
    </p:spTree>
    <p:extLst>
      <p:ext uri="{BB962C8B-B14F-4D97-AF65-F5344CB8AC3E}">
        <p14:creationId xmlns:p14="http://schemas.microsoft.com/office/powerpoint/2010/main" val="160829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535B80B3-9BC1-47E5-946F-D57C5DACD1F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E2B23282-5856-4533-A61D-6096E9A1036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E59315F4-ED5C-4D6C-BDA6-0FA7D4F1B76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28F7D85-82C2-4E1D-A2DB-D877172EBD2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Estimate quotients using multiples</a:t>
            </a:r>
          </a:p>
        </p:txBody>
      </p:sp>
      <p:sp>
        <p:nvSpPr>
          <p:cNvPr id="5" name="object-5">
            <a:extLst>
              <a:ext uri="{FF2B5EF4-FFF2-40B4-BE49-F238E27FC236}">
                <a16:creationId xmlns:a16="http://schemas.microsoft.com/office/drawing/2014/main" id="{8C830B9C-5BC9-4801-AB37-4A128EE6219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FFEE411D-B23B-487C-A7AB-CD37AAE4581D}"/>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106F92E0-E007-4923-9186-D802F3340E43}"/>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About 300; exactly 308.</a:t>
            </a:r>
          </a:p>
        </p:txBody>
      </p:sp>
      <p:sp>
        <p:nvSpPr>
          <p:cNvPr id="8" name="object-8">
            <a:extLst>
              <a:ext uri="{FF2B5EF4-FFF2-40B4-BE49-F238E27FC236}">
                <a16:creationId xmlns:a16="http://schemas.microsoft.com/office/drawing/2014/main" id="{30494D51-46DB-4005-A439-5BE73364DB2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9AF2DADC-A176-46EE-B280-8A424F8CAC23}"/>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About 200 because 6,000 / 30 is 200.</a:t>
            </a:r>
          </a:p>
        </p:txBody>
      </p:sp>
      <p:sp>
        <p:nvSpPr>
          <p:cNvPr id="10" name="object-10">
            <a:extLst>
              <a:ext uri="{FF2B5EF4-FFF2-40B4-BE49-F238E27FC236}">
                <a16:creationId xmlns:a16="http://schemas.microsoft.com/office/drawing/2014/main" id="{5BE4AC50-878B-485B-B581-197FF04306E1}"/>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92F7EF4B-F6BB-4EFF-BEC2-786CFFF08FC2}"/>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200.</a:t>
            </a:r>
          </a:p>
        </p:txBody>
      </p:sp>
      <p:sp>
        <p:nvSpPr>
          <p:cNvPr id="12" name="object-12">
            <a:extLst>
              <a:ext uri="{FF2B5EF4-FFF2-40B4-BE49-F238E27FC236}">
                <a16:creationId xmlns:a16="http://schemas.microsoft.com/office/drawing/2014/main" id="{6734BAC3-F407-4732-81C4-50BD8DD74FD4}"/>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919E5443-2657-4169-BBCE-EEF052337CD0}"/>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About 300; exactly 308.</a:t>
            </a:r>
          </a:p>
        </p:txBody>
      </p:sp>
      <p:sp>
        <p:nvSpPr>
          <p:cNvPr id="14" name="object-14">
            <a:extLst>
              <a:ext uri="{FF2B5EF4-FFF2-40B4-BE49-F238E27FC236}">
                <a16:creationId xmlns:a16="http://schemas.microsoft.com/office/drawing/2014/main" id="{95ED3D85-8748-4608-B4F2-FA14114F015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EA11CCD0-E187-41EE-BF68-90AC76210197}"/>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About 200 because 6,000 / 30 is 200. Method or representation may vary.</a:t>
            </a:r>
          </a:p>
        </p:txBody>
      </p:sp>
      <p:sp>
        <p:nvSpPr>
          <p:cNvPr id="16" name="object-16">
            <a:extLst>
              <a:ext uri="{FF2B5EF4-FFF2-40B4-BE49-F238E27FC236}">
                <a16:creationId xmlns:a16="http://schemas.microsoft.com/office/drawing/2014/main" id="{89D0BB40-0CF7-417F-AF81-A54712D8B491}"/>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455EFE3A-728B-423D-9912-49A403EAA989}"/>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200. A valid check must be shown.</a:t>
            </a:r>
          </a:p>
        </p:txBody>
      </p:sp>
      <p:sp>
        <p:nvSpPr>
          <p:cNvPr id="18" name="object-18">
            <a:extLst>
              <a:ext uri="{FF2B5EF4-FFF2-40B4-BE49-F238E27FC236}">
                <a16:creationId xmlns:a16="http://schemas.microsoft.com/office/drawing/2014/main" id="{35F8A353-2D2E-49F5-8ACE-1318F147DCF8}"/>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9479BB83-CB8B-4344-AEC3-287CE9CBCC12}"/>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Possible answers include 21, 24 or 28.</a:t>
            </a:r>
          </a:p>
        </p:txBody>
      </p:sp>
      <p:sp>
        <p:nvSpPr>
          <p:cNvPr id="20" name="object-20">
            <a:extLst>
              <a:ext uri="{FF2B5EF4-FFF2-40B4-BE49-F238E27FC236}">
                <a16:creationId xmlns:a16="http://schemas.microsoft.com/office/drawing/2014/main" id="{41724C83-A859-484F-BBD3-ED24859A2296}"/>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5999E935-3870-414F-AFA1-AE59FAF09983}"/>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Round both numbers to compatible values that are easy to divide.</a:t>
            </a:r>
          </a:p>
        </p:txBody>
      </p:sp>
      <p:sp>
        <p:nvSpPr>
          <p:cNvPr id="22" name="object-22">
            <a:extLst>
              <a:ext uri="{FF2B5EF4-FFF2-40B4-BE49-F238E27FC236}">
                <a16:creationId xmlns:a16="http://schemas.microsoft.com/office/drawing/2014/main" id="{D90E9847-B0CA-4243-BA91-3C17B5BA49DC}"/>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F7BDDBB2-F2FC-4CD5-864A-C114DA841FCD}"/>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D3422B4A-8FA8-46E6-AC34-F83245D518C7}"/>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9BE9AFEA-2F57-450C-A16F-B48CDC3B19C4}"/>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7084326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1141</Words>
  <Application>Microsoft Office PowerPoint</Application>
  <DocSecurity>0</DocSecurity>
  <PresentationFormat>Custom</PresentationFormat>
  <Paragraphs>154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2026-09-14T13:14:15Z</dcterms:created>
  <dcterms:modified xsi:type="dcterms:W3CDTF">2026-09-14T13:18:20Z</dcterms:modified>
</cp:coreProperties>
</file>