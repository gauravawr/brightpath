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5240000" cy="85725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short division with two-digit divisors. Use short division with two-digit divisors. Introduce the mathematical idea using the first worked example. The lesson can be placed anywhere in the teaching sequence.</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short division with two-digit divisors. I do. Work left to right. Divide, multiply back, subtract, then bring down the next digit. Digits move into the next partial dividend. Leading zero quotient digits are omitted unless needed for a decimal.</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short division with two-digit divisors. You do. Pause before clicking. Let pupils try independently, then reveal and discuss every step. Work left to right. Divide, multiply back, subtract, then bring down the next digit. Digits move into the next partial dividend. Leading zero quotient digits are omitted unless needed for a decimal.</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short division with two-digit divisors. I do. Work left to right. Divide, multiply back, subtract, then bring down the next digit. Digits move into the next partial dividend. Leading zero quotient digits are omitted unless needed for a decimal.</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short division with two-digit divisors. You do. Pause before clicking. Let pupils try independently, then reveal and discuss every step. Work left to right. Divide, multiply back, subtract, then bring down the next digit. Digits move into the next partial dividend. Leading zero quotient digits are omitted unless needed for a decimal.</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short division with two-digit divisors. You do. Pause before clicking. Let pupils try independently, then reveal and discuss every step. These are the existing expected-level worksheet questions, in their original order. Do not advance to the answer slide until pupils have had time to finish.</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short division with two-digit divisors. Answers. Answers to the preceding complete activity question set, in matching order. Accept mathematically valid alternatives for open questions.</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object-1">
            <a:extLst>
              <a:ext uri="{FF2B5EF4-FFF2-40B4-BE49-F238E27FC236}">
                <a16:creationId xmlns:a16="http://schemas.microsoft.com/office/drawing/2014/main" id="{1C9690DA-D6A3-4086-B354-C6F59D9834D5}"/>
              </a:ext>
            </a:extLst>
          </p:cNvPr>
          <p:cNvSpPr>
            <a:spLocks noGrp="1"/>
          </p:cNvSpPr>
          <p:nvPr/>
        </p:nvSpPr>
        <p:spPr>
          <a:xfrm>
            <a:off x="654844" y="357188"/>
            <a:ext cx="13930313" cy="1547813"/>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Use short division with two-digit divisors</a:t>
            </a:r>
          </a:p>
        </p:txBody>
      </p:sp>
      <p:sp>
        <p:nvSpPr>
          <p:cNvPr id="2" name="object-2">
            <a:extLst>
              <a:ext uri="{FF2B5EF4-FFF2-40B4-BE49-F238E27FC236}">
                <a16:creationId xmlns:a16="http://schemas.microsoft.com/office/drawing/2014/main" id="{A3B0E2FD-C2A4-4330-AE34-C026DA4B32B2}"/>
              </a:ext>
            </a:extLst>
          </p:cNvPr>
          <p:cNvSpPr>
            <a:spLocks noGrp="1"/>
          </p:cNvSpPr>
          <p:nvPr/>
        </p:nvSpPr>
        <p:spPr>
          <a:xfrm>
            <a:off x="654844" y="2024063"/>
            <a:ext cx="13930313" cy="1012031"/>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Watch the model. Try the next question. Explain what changes.</a:t>
            </a:r>
          </a:p>
        </p:txBody>
      </p:sp>
      <p:sp>
        <p:nvSpPr>
          <p:cNvPr id="3" name="object-3">
            <a:extLst>
              <a:ext uri="{FF2B5EF4-FFF2-40B4-BE49-F238E27FC236}">
                <a16:creationId xmlns:a16="http://schemas.microsoft.com/office/drawing/2014/main" id="{6B227C99-2992-4D42-BED9-170E16D3FD64}"/>
              </a:ext>
            </a:extLst>
          </p:cNvPr>
          <p:cNvSpPr>
            <a:spLocks noGrp="1"/>
          </p:cNvSpPr>
          <p:nvPr/>
        </p:nvSpPr>
        <p:spPr>
          <a:xfrm>
            <a:off x="654844" y="8012906"/>
            <a:ext cx="13930313" cy="11906"/>
          </a:xfrm>
          <a:prstGeom prst="rect">
            <a:avLst/>
          </a:prstGeom>
          <a:solidFill>
            <a:srgbClr val="BCD0EA"/>
          </a:solidFill>
          <a:ln w="0">
            <a:noFill/>
          </a:ln>
        </p:spPr>
      </p:sp>
      <p:sp>
        <p:nvSpPr>
          <p:cNvPr id="4" name="object-4">
            <a:extLst>
              <a:ext uri="{FF2B5EF4-FFF2-40B4-BE49-F238E27FC236}">
                <a16:creationId xmlns:a16="http://schemas.microsoft.com/office/drawing/2014/main" id="{EBE75B32-586E-4261-AE13-4C1A37734E9F}"/>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Use short division with two-digit divisors</a:t>
            </a:r>
          </a:p>
        </p:txBody>
      </p:sp>
      <p:sp>
        <p:nvSpPr>
          <p:cNvPr id="5" name="object-5">
            <a:extLst>
              <a:ext uri="{FF2B5EF4-FFF2-40B4-BE49-F238E27FC236}">
                <a16:creationId xmlns:a16="http://schemas.microsoft.com/office/drawing/2014/main" id="{D1EA0DA6-AE68-4894-AA2E-E8786A5F8F91}"/>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1</a:t>
            </a:r>
          </a:p>
        </p:txBody>
      </p:sp>
      <p:sp>
        <p:nvSpPr>
          <p:cNvPr id="6" name="object-6">
            <a:extLst>
              <a:ext uri="{FF2B5EF4-FFF2-40B4-BE49-F238E27FC236}">
                <a16:creationId xmlns:a16="http://schemas.microsoft.com/office/drawing/2014/main" id="{4B620CF4-3A77-43C5-A937-815F1AE89232}"/>
              </a:ext>
            </a:extLst>
          </p:cNvPr>
          <p:cNvSpPr>
            <a:spLocks noGrp="1"/>
          </p:cNvSpPr>
          <p:nvPr/>
        </p:nvSpPr>
        <p:spPr>
          <a:xfrm>
            <a:off x="1190625" y="3631406"/>
            <a:ext cx="12858750" cy="2143125"/>
          </a:xfrm>
          <a:prstGeom prst="rect">
            <a:avLst/>
          </a:prstGeom>
          <a:noFill/>
          <a:ln w="0">
            <a:noFill/>
          </a:ln>
        </p:spPr>
        <p:txBody>
          <a:bodyPr anchor="ctr">
            <a:noAutofit/>
          </a:bodyPr>
          <a:lstStyle/>
          <a:p>
            <a:pPr algn="ctr">
              <a:defRPr sz="3375" b="1">
                <a:solidFill>
                  <a:srgbClr val="1D4ED8"/>
                </a:solidFill>
                <a:latin typeface="Arial"/>
                <a:ea typeface="Arial"/>
                <a:cs typeface="Arial"/>
              </a:defRPr>
            </a:pPr>
            <a:r>
              <a:rPr sz="3375" b="1">
                <a:solidFill>
                  <a:srgbClr val="1D4ED8"/>
                </a:solidFill>
                <a:latin typeface="Arial"/>
                <a:ea typeface="Arial"/>
                <a:cs typeface="Arial"/>
              </a:rPr>
              <a:t>To divide by a two-digit number using short division where appropriate.</a:t>
            </a:r>
          </a:p>
        </p:txBody>
      </p:sp>
    </p:spTree>
    <p:extLst>
      <p:ext uri="{BB962C8B-B14F-4D97-AF65-F5344CB8AC3E}">
        <p14:creationId xmlns:p14="http://schemas.microsoft.com/office/powerpoint/2010/main" val="11582318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 name="object-1">
            <a:extLst>
              <a:ext uri="{FF2B5EF4-FFF2-40B4-BE49-F238E27FC236}">
                <a16:creationId xmlns:a16="http://schemas.microsoft.com/office/drawing/2014/main" id="{0809FBC4-5D43-4CEA-9DEF-A286FEDE452B}"/>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I do</a:t>
            </a:r>
          </a:p>
        </p:txBody>
      </p:sp>
      <p:sp>
        <p:nvSpPr>
          <p:cNvPr id="2" name="object-2">
            <a:extLst>
              <a:ext uri="{FF2B5EF4-FFF2-40B4-BE49-F238E27FC236}">
                <a16:creationId xmlns:a16="http://schemas.microsoft.com/office/drawing/2014/main" id="{A8A835CF-A036-481C-A33A-6DF94D19AB64}"/>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Calculate 3,744 ÷ 12.</a:t>
            </a:r>
          </a:p>
        </p:txBody>
      </p:sp>
      <p:sp>
        <p:nvSpPr>
          <p:cNvPr id="3" name="object-3">
            <a:extLst>
              <a:ext uri="{FF2B5EF4-FFF2-40B4-BE49-F238E27FC236}">
                <a16:creationId xmlns:a16="http://schemas.microsoft.com/office/drawing/2014/main" id="{4B1D5F45-DDD2-4F10-B770-92BED57BFF59}"/>
              </a:ext>
            </a:extLst>
          </p:cNvPr>
          <p:cNvSpPr>
            <a:spLocks noGrp="1"/>
          </p:cNvSpPr>
          <p:nvPr/>
        </p:nvSpPr>
        <p:spPr>
          <a:xfrm>
            <a:off x="654844" y="8012906"/>
            <a:ext cx="13930313" cy="11906"/>
          </a:xfrm>
          <a:prstGeom prst="rect">
            <a:avLst/>
          </a:prstGeom>
          <a:solidFill>
            <a:srgbClr val="BCD0EA"/>
          </a:solidFill>
          <a:ln w="0">
            <a:noFill/>
          </a:ln>
        </p:spPr>
      </p:sp>
      <p:sp>
        <p:nvSpPr>
          <p:cNvPr id="4" name="object-4">
            <a:extLst>
              <a:ext uri="{FF2B5EF4-FFF2-40B4-BE49-F238E27FC236}">
                <a16:creationId xmlns:a16="http://schemas.microsoft.com/office/drawing/2014/main" id="{63492AEE-7A02-4F82-89D7-0392A95C6388}"/>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Use short division with two-digit divisors</a:t>
            </a:r>
          </a:p>
        </p:txBody>
      </p:sp>
      <p:sp>
        <p:nvSpPr>
          <p:cNvPr id="5" name="object-5">
            <a:extLst>
              <a:ext uri="{FF2B5EF4-FFF2-40B4-BE49-F238E27FC236}">
                <a16:creationId xmlns:a16="http://schemas.microsoft.com/office/drawing/2014/main" id="{A5E635D3-68F4-4F54-8D9B-B52395A05795}"/>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2</a:t>
            </a:r>
          </a:p>
        </p:txBody>
      </p:sp>
      <p:sp>
        <p:nvSpPr>
          <p:cNvPr id="6" name="object-6">
            <a:extLst>
              <a:ext uri="{FF2B5EF4-FFF2-40B4-BE49-F238E27FC236}">
                <a16:creationId xmlns:a16="http://schemas.microsoft.com/office/drawing/2014/main" id="{2BDDA4FA-99EB-482A-9057-071474628819}"/>
              </a:ext>
            </a:extLst>
          </p:cNvPr>
          <p:cNvSpPr>
            <a:spLocks noGrp="1"/>
          </p:cNvSpPr>
          <p:nvPr/>
        </p:nvSpPr>
        <p:spPr>
          <a:xfrm>
            <a:off x="1785938" y="4012406"/>
            <a:ext cx="1428750" cy="833438"/>
          </a:xfrm>
          <a:prstGeom prst="rect">
            <a:avLst/>
          </a:prstGeom>
          <a:noFill/>
          <a:ln w="0">
            <a:noFill/>
          </a:ln>
        </p:spPr>
        <p:txBody>
          <a:bodyPr anchor="ctr">
            <a:noAutofit/>
          </a:bodyPr>
          <a:lstStyle/>
          <a:p>
            <a:pPr algn="ctr">
              <a:defRPr sz="4313" b="1">
                <a:solidFill>
                  <a:srgbClr val="1D4ED8"/>
                </a:solidFill>
                <a:latin typeface="Arial"/>
                <a:ea typeface="Arial"/>
                <a:cs typeface="Arial"/>
              </a:defRPr>
            </a:pPr>
            <a:r>
              <a:rPr sz="4313" b="1">
                <a:solidFill>
                  <a:srgbClr val="1D4ED8"/>
                </a:solidFill>
                <a:latin typeface="Arial"/>
                <a:ea typeface="Arial"/>
                <a:cs typeface="Arial"/>
              </a:rPr>
              <a:t>12</a:t>
            </a:r>
          </a:p>
        </p:txBody>
      </p:sp>
      <p:sp>
        <p:nvSpPr>
          <p:cNvPr id="7" name="object-7">
            <a:extLst>
              <a:ext uri="{FF2B5EF4-FFF2-40B4-BE49-F238E27FC236}">
                <a16:creationId xmlns:a16="http://schemas.microsoft.com/office/drawing/2014/main" id="{F850B401-C58E-48AD-AD68-8F2D7E3B993A}"/>
              </a:ext>
            </a:extLst>
          </p:cNvPr>
          <p:cNvSpPr>
            <a:spLocks noGrp="1"/>
          </p:cNvSpPr>
          <p:nvPr/>
        </p:nvSpPr>
        <p:spPr>
          <a:xfrm>
            <a:off x="3393281" y="3833813"/>
            <a:ext cx="0" cy="1226344"/>
          </a:xfrm>
          <a:prstGeom prst="line">
            <a:avLst/>
          </a:prstGeom>
          <a:noFill/>
          <a:ln w="35719">
            <a:solidFill>
              <a:srgbClr val="172B4D"/>
            </a:solidFill>
          </a:ln>
        </p:spPr>
      </p:sp>
      <p:sp>
        <p:nvSpPr>
          <p:cNvPr id="8" name="object-8">
            <a:extLst>
              <a:ext uri="{FF2B5EF4-FFF2-40B4-BE49-F238E27FC236}">
                <a16:creationId xmlns:a16="http://schemas.microsoft.com/office/drawing/2014/main" id="{FF685E07-0B70-48A8-B0A0-4F2F4982468B}"/>
              </a:ext>
            </a:extLst>
          </p:cNvPr>
          <p:cNvSpPr>
            <a:spLocks noGrp="1"/>
          </p:cNvSpPr>
          <p:nvPr/>
        </p:nvSpPr>
        <p:spPr>
          <a:xfrm>
            <a:off x="3393281" y="3833813"/>
            <a:ext cx="9644063" cy="35719"/>
          </a:xfrm>
          <a:prstGeom prst="rect">
            <a:avLst/>
          </a:prstGeom>
          <a:solidFill>
            <a:srgbClr val="172B4D"/>
          </a:solidFill>
          <a:ln w="0">
            <a:noFill/>
          </a:ln>
        </p:spPr>
      </p:sp>
      <p:sp>
        <p:nvSpPr>
          <p:cNvPr id="9" name="object-9">
            <a:extLst>
              <a:ext uri="{FF2B5EF4-FFF2-40B4-BE49-F238E27FC236}">
                <a16:creationId xmlns:a16="http://schemas.microsoft.com/office/drawing/2014/main" id="{28030599-6099-44B3-9A96-5D46726DDE38}"/>
              </a:ext>
            </a:extLst>
          </p:cNvPr>
          <p:cNvSpPr>
            <a:spLocks noGrp="1"/>
          </p:cNvSpPr>
          <p:nvPr/>
        </p:nvSpPr>
        <p:spPr>
          <a:xfrm>
            <a:off x="3810000" y="4036219"/>
            <a:ext cx="833438" cy="773906"/>
          </a:xfrm>
          <a:prstGeom prst="rect">
            <a:avLst/>
          </a:prstGeom>
          <a:noFill/>
          <a:ln w="0">
            <a:noFill/>
          </a:ln>
        </p:spPr>
        <p:txBody>
          <a:bodyPr anchor="ctr">
            <a:noAutofit/>
          </a:bodyPr>
          <a:lstStyle/>
          <a:p>
            <a:pPr algn="ctr">
              <a:defRPr sz="4125" b="1">
                <a:solidFill>
                  <a:srgbClr val="1D4ED8"/>
                </a:solidFill>
                <a:latin typeface="Arial"/>
                <a:ea typeface="Arial"/>
                <a:cs typeface="Arial"/>
              </a:defRPr>
            </a:pPr>
            <a:r>
              <a:rPr sz="4125" b="1">
                <a:solidFill>
                  <a:srgbClr val="1D4ED8"/>
                </a:solidFill>
                <a:latin typeface="Arial"/>
                <a:ea typeface="Arial"/>
                <a:cs typeface="Arial"/>
              </a:rPr>
              <a:t>3</a:t>
            </a:r>
          </a:p>
        </p:txBody>
      </p:sp>
      <p:sp>
        <p:nvSpPr>
          <p:cNvPr id="10" name="object-10">
            <a:extLst>
              <a:ext uri="{FF2B5EF4-FFF2-40B4-BE49-F238E27FC236}">
                <a16:creationId xmlns:a16="http://schemas.microsoft.com/office/drawing/2014/main" id="{98BB736F-4E85-44C7-9F11-E724D50AAA33}"/>
              </a:ext>
            </a:extLst>
          </p:cNvPr>
          <p:cNvSpPr>
            <a:spLocks noGrp="1"/>
          </p:cNvSpPr>
          <p:nvPr/>
        </p:nvSpPr>
        <p:spPr>
          <a:xfrm>
            <a:off x="4702969" y="4036219"/>
            <a:ext cx="833438" cy="773906"/>
          </a:xfrm>
          <a:prstGeom prst="rect">
            <a:avLst/>
          </a:prstGeom>
          <a:noFill/>
          <a:ln w="0">
            <a:noFill/>
          </a:ln>
        </p:spPr>
        <p:txBody>
          <a:bodyPr anchor="ctr">
            <a:noAutofit/>
          </a:bodyPr>
          <a:lstStyle/>
          <a:p>
            <a:pPr algn="ctr">
              <a:defRPr sz="4125" b="1">
                <a:solidFill>
                  <a:srgbClr val="1D4ED8"/>
                </a:solidFill>
                <a:latin typeface="Arial"/>
                <a:ea typeface="Arial"/>
                <a:cs typeface="Arial"/>
              </a:defRPr>
            </a:pPr>
            <a:r>
              <a:rPr sz="4125" b="1">
                <a:solidFill>
                  <a:srgbClr val="1D4ED8"/>
                </a:solidFill>
                <a:latin typeface="Arial"/>
                <a:ea typeface="Arial"/>
                <a:cs typeface="Arial"/>
              </a:rPr>
              <a:t>7</a:t>
            </a:r>
          </a:p>
        </p:txBody>
      </p:sp>
      <p:sp>
        <p:nvSpPr>
          <p:cNvPr id="11" name="object-11">
            <a:extLst>
              <a:ext uri="{FF2B5EF4-FFF2-40B4-BE49-F238E27FC236}">
                <a16:creationId xmlns:a16="http://schemas.microsoft.com/office/drawing/2014/main" id="{7FC293AE-200F-4C8C-9069-EA26A9D5DAFC}"/>
              </a:ext>
            </a:extLst>
          </p:cNvPr>
          <p:cNvSpPr>
            <a:spLocks noGrp="1"/>
          </p:cNvSpPr>
          <p:nvPr/>
        </p:nvSpPr>
        <p:spPr>
          <a:xfrm>
            <a:off x="5595938" y="4036219"/>
            <a:ext cx="833438" cy="773906"/>
          </a:xfrm>
          <a:prstGeom prst="rect">
            <a:avLst/>
          </a:prstGeom>
          <a:noFill/>
          <a:ln w="0">
            <a:noFill/>
          </a:ln>
        </p:spPr>
        <p:txBody>
          <a:bodyPr anchor="ctr">
            <a:noAutofit/>
          </a:bodyPr>
          <a:lstStyle/>
          <a:p>
            <a:pPr algn="ctr">
              <a:defRPr sz="4125" b="1">
                <a:solidFill>
                  <a:srgbClr val="1D4ED8"/>
                </a:solidFill>
                <a:latin typeface="Arial"/>
                <a:ea typeface="Arial"/>
                <a:cs typeface="Arial"/>
              </a:defRPr>
            </a:pPr>
            <a:r>
              <a:rPr sz="4125" b="1">
                <a:solidFill>
                  <a:srgbClr val="1D4ED8"/>
                </a:solidFill>
                <a:latin typeface="Arial"/>
                <a:ea typeface="Arial"/>
                <a:cs typeface="Arial"/>
              </a:rPr>
              <a:t>4</a:t>
            </a:r>
          </a:p>
        </p:txBody>
      </p:sp>
      <p:sp>
        <p:nvSpPr>
          <p:cNvPr id="12" name="object-12">
            <a:extLst>
              <a:ext uri="{FF2B5EF4-FFF2-40B4-BE49-F238E27FC236}">
                <a16:creationId xmlns:a16="http://schemas.microsoft.com/office/drawing/2014/main" id="{8E220562-A21E-46DB-BFFC-C260D16037F5}"/>
              </a:ext>
            </a:extLst>
          </p:cNvPr>
          <p:cNvSpPr>
            <a:spLocks noGrp="1"/>
          </p:cNvSpPr>
          <p:nvPr/>
        </p:nvSpPr>
        <p:spPr>
          <a:xfrm>
            <a:off x="6488906" y="4036219"/>
            <a:ext cx="833438" cy="773906"/>
          </a:xfrm>
          <a:prstGeom prst="rect">
            <a:avLst/>
          </a:prstGeom>
          <a:noFill/>
          <a:ln w="0">
            <a:noFill/>
          </a:ln>
        </p:spPr>
        <p:txBody>
          <a:bodyPr anchor="ctr">
            <a:noAutofit/>
          </a:bodyPr>
          <a:lstStyle/>
          <a:p>
            <a:pPr algn="ctr">
              <a:defRPr sz="4125" b="1">
                <a:solidFill>
                  <a:srgbClr val="1D4ED8"/>
                </a:solidFill>
                <a:latin typeface="Arial"/>
                <a:ea typeface="Arial"/>
                <a:cs typeface="Arial"/>
              </a:defRPr>
            </a:pPr>
            <a:r>
              <a:rPr sz="4125" b="1">
                <a:solidFill>
                  <a:srgbClr val="1D4ED8"/>
                </a:solidFill>
                <a:latin typeface="Arial"/>
                <a:ea typeface="Arial"/>
                <a:cs typeface="Arial"/>
              </a:rPr>
              <a:t>4</a:t>
            </a:r>
          </a:p>
        </p:txBody>
      </p:sp>
      <p:sp>
        <p:nvSpPr>
          <p:cNvPr id="13" name="object-13">
            <a:extLst>
              <a:ext uri="{FF2B5EF4-FFF2-40B4-BE49-F238E27FC236}">
                <a16:creationId xmlns:a16="http://schemas.microsoft.com/office/drawing/2014/main" id="{B3CF6A1B-77CC-4E94-9924-B70C560C0F49}"/>
              </a:ext>
            </a:extLst>
          </p:cNvPr>
          <p:cNvSpPr>
            <a:spLocks noGrp="1"/>
          </p:cNvSpPr>
          <p:nvPr/>
        </p:nvSpPr>
        <p:spPr>
          <a:xfrm>
            <a:off x="4702969" y="2857500"/>
            <a:ext cx="833438" cy="773906"/>
          </a:xfrm>
          <a:prstGeom prst="rect">
            <a:avLst/>
          </a:prstGeom>
          <a:noFill/>
          <a:ln w="0">
            <a:noFill/>
          </a:ln>
        </p:spPr>
        <p:txBody>
          <a:bodyPr anchor="ctr">
            <a:noAutofit/>
          </a:bodyPr>
          <a:lstStyle/>
          <a:p>
            <a:pPr algn="ctr">
              <a:defRPr sz="4031" b="1">
                <a:solidFill>
                  <a:srgbClr val="11745A"/>
                </a:solidFill>
                <a:latin typeface="Arial"/>
                <a:ea typeface="Arial"/>
                <a:cs typeface="Arial"/>
              </a:defRPr>
            </a:pPr>
            <a:r>
              <a:rPr sz="4031" b="1">
                <a:solidFill>
                  <a:srgbClr val="11745A"/>
                </a:solidFill>
                <a:latin typeface="Arial"/>
                <a:ea typeface="Arial"/>
                <a:cs typeface="Arial"/>
              </a:rPr>
              <a:t>3</a:t>
            </a:r>
          </a:p>
        </p:txBody>
      </p:sp>
      <p:sp>
        <p:nvSpPr>
          <p:cNvPr id="14" name="object-14">
            <a:extLst>
              <a:ext uri="{FF2B5EF4-FFF2-40B4-BE49-F238E27FC236}">
                <a16:creationId xmlns:a16="http://schemas.microsoft.com/office/drawing/2014/main" id="{E110230B-3A47-4AAF-B6A4-F17E2E4E9B9B}"/>
              </a:ext>
            </a:extLst>
          </p:cNvPr>
          <p:cNvSpPr>
            <a:spLocks noGrp="1"/>
          </p:cNvSpPr>
          <p:nvPr/>
        </p:nvSpPr>
        <p:spPr>
          <a:xfrm>
            <a:off x="1190625" y="5453063"/>
            <a:ext cx="6548438" cy="642938"/>
          </a:xfrm>
          <a:prstGeom prst="rect">
            <a:avLst/>
          </a:prstGeom>
          <a:noFill/>
          <a:ln w="0">
            <a:noFill/>
          </a:ln>
        </p:spPr>
        <p:txBody>
          <a:bodyPr anchor="ctr">
            <a:noAutofit/>
          </a:bodyPr>
          <a:lstStyle/>
          <a:p>
            <a:pPr algn="l">
              <a:defRPr sz="2906" b="1">
                <a:solidFill>
                  <a:srgbClr val="172B4D"/>
                </a:solidFill>
                <a:latin typeface="Arial"/>
                <a:ea typeface="Arial"/>
                <a:cs typeface="Arial"/>
              </a:defRPr>
            </a:pPr>
            <a:r>
              <a:rPr sz="2906" b="1">
                <a:solidFill>
                  <a:srgbClr val="172B4D"/>
                </a:solidFill>
                <a:latin typeface="Arial"/>
                <a:ea typeface="Arial"/>
                <a:cs typeface="Arial"/>
              </a:rPr>
              <a:t>12 fits into 37: 3 times</a:t>
            </a:r>
          </a:p>
        </p:txBody>
      </p:sp>
      <p:sp>
        <p:nvSpPr>
          <p:cNvPr id="15" name="object-15">
            <a:extLst>
              <a:ext uri="{FF2B5EF4-FFF2-40B4-BE49-F238E27FC236}">
                <a16:creationId xmlns:a16="http://schemas.microsoft.com/office/drawing/2014/main" id="{55F7EE00-B7AE-4D7E-BC38-283057AF940B}"/>
              </a:ext>
            </a:extLst>
          </p:cNvPr>
          <p:cNvSpPr>
            <a:spLocks noGrp="1"/>
          </p:cNvSpPr>
          <p:nvPr/>
        </p:nvSpPr>
        <p:spPr>
          <a:xfrm>
            <a:off x="7739063" y="5453063"/>
            <a:ext cx="6310313" cy="642938"/>
          </a:xfrm>
          <a:prstGeom prst="rect">
            <a:avLst/>
          </a:prstGeom>
          <a:noFill/>
          <a:ln w="0">
            <a:noFill/>
          </a:ln>
        </p:spPr>
        <p:txBody>
          <a:bodyPr anchor="ctr">
            <a:noAutofit/>
          </a:bodyPr>
          <a:lstStyle/>
          <a:p>
            <a:pPr algn="l">
              <a:defRPr sz="2906" b="1">
                <a:solidFill>
                  <a:srgbClr val="172B4D"/>
                </a:solidFill>
                <a:latin typeface="Arial"/>
                <a:ea typeface="Arial"/>
                <a:cs typeface="Arial"/>
              </a:defRPr>
            </a:pPr>
            <a:r>
              <a:rPr sz="2906" b="1">
                <a:solidFill>
                  <a:srgbClr val="172B4D"/>
                </a:solidFill>
                <a:latin typeface="Arial"/>
                <a:ea typeface="Arial"/>
                <a:cs typeface="Arial"/>
              </a:rPr>
              <a:t>37 − 36 = 1</a:t>
            </a:r>
          </a:p>
        </p:txBody>
      </p:sp>
      <p:sp>
        <p:nvSpPr>
          <p:cNvPr id="16" name="object-16">
            <a:extLst>
              <a:ext uri="{FF2B5EF4-FFF2-40B4-BE49-F238E27FC236}">
                <a16:creationId xmlns:a16="http://schemas.microsoft.com/office/drawing/2014/main" id="{1CCDC540-397F-4706-84AD-2F10A52592A9}"/>
              </a:ext>
            </a:extLst>
          </p:cNvPr>
          <p:cNvSpPr>
            <a:spLocks noGrp="1"/>
          </p:cNvSpPr>
          <p:nvPr/>
        </p:nvSpPr>
        <p:spPr>
          <a:xfrm>
            <a:off x="5595938" y="4036219"/>
            <a:ext cx="833438" cy="773906"/>
          </a:xfrm>
          <a:prstGeom prst="rect">
            <a:avLst/>
          </a:prstGeom>
          <a:noFill/>
          <a:ln w="0">
            <a:noFill/>
          </a:ln>
        </p:spPr>
        <p:txBody>
          <a:bodyPr anchor="ctr">
            <a:noAutofit/>
          </a:bodyPr>
          <a:lstStyle/>
          <a:p>
            <a:pPr algn="ctr">
              <a:defRPr sz="4125" b="1">
                <a:solidFill>
                  <a:srgbClr val="9A5800"/>
                </a:solidFill>
                <a:latin typeface="Arial"/>
                <a:ea typeface="Arial"/>
                <a:cs typeface="Arial"/>
              </a:defRPr>
            </a:pPr>
            <a:r>
              <a:rPr sz="4125" b="1">
                <a:solidFill>
                  <a:srgbClr val="9A5800"/>
                </a:solidFill>
                <a:latin typeface="Arial"/>
                <a:ea typeface="Arial"/>
                <a:cs typeface="Arial"/>
              </a:rPr>
              <a:t>4</a:t>
            </a:r>
          </a:p>
        </p:txBody>
      </p:sp>
      <p:sp>
        <p:nvSpPr>
          <p:cNvPr id="17" name="object-17">
            <a:extLst>
              <a:ext uri="{FF2B5EF4-FFF2-40B4-BE49-F238E27FC236}">
                <a16:creationId xmlns:a16="http://schemas.microsoft.com/office/drawing/2014/main" id="{5B55E5A1-6B6E-456C-A171-42209B1E0FB3}"/>
              </a:ext>
            </a:extLst>
          </p:cNvPr>
          <p:cNvSpPr>
            <a:spLocks noGrp="1"/>
          </p:cNvSpPr>
          <p:nvPr/>
        </p:nvSpPr>
        <p:spPr>
          <a:xfrm>
            <a:off x="5595938" y="2857500"/>
            <a:ext cx="833438" cy="773906"/>
          </a:xfrm>
          <a:prstGeom prst="rect">
            <a:avLst/>
          </a:prstGeom>
          <a:noFill/>
          <a:ln w="0">
            <a:noFill/>
          </a:ln>
        </p:spPr>
        <p:txBody>
          <a:bodyPr anchor="ctr">
            <a:noAutofit/>
          </a:bodyPr>
          <a:lstStyle/>
          <a:p>
            <a:pPr algn="ctr">
              <a:defRPr sz="4031" b="1">
                <a:solidFill>
                  <a:srgbClr val="11745A"/>
                </a:solidFill>
                <a:latin typeface="Arial"/>
                <a:ea typeface="Arial"/>
                <a:cs typeface="Arial"/>
              </a:defRPr>
            </a:pPr>
            <a:r>
              <a:rPr sz="4031" b="1">
                <a:solidFill>
                  <a:srgbClr val="11745A"/>
                </a:solidFill>
                <a:latin typeface="Arial"/>
                <a:ea typeface="Arial"/>
                <a:cs typeface="Arial"/>
              </a:rPr>
              <a:t>1</a:t>
            </a:r>
          </a:p>
        </p:txBody>
      </p:sp>
      <p:sp>
        <p:nvSpPr>
          <p:cNvPr id="18" name="object-18">
            <a:extLst>
              <a:ext uri="{FF2B5EF4-FFF2-40B4-BE49-F238E27FC236}">
                <a16:creationId xmlns:a16="http://schemas.microsoft.com/office/drawing/2014/main" id="{7E372F01-A3F7-445D-86C8-AA6DF33534B9}"/>
              </a:ext>
            </a:extLst>
          </p:cNvPr>
          <p:cNvSpPr>
            <a:spLocks noGrp="1"/>
          </p:cNvSpPr>
          <p:nvPr/>
        </p:nvSpPr>
        <p:spPr>
          <a:xfrm>
            <a:off x="1190625" y="5453063"/>
            <a:ext cx="6548438" cy="642938"/>
          </a:xfrm>
          <a:prstGeom prst="rect">
            <a:avLst/>
          </a:prstGeom>
          <a:noFill/>
          <a:ln w="0">
            <a:noFill/>
          </a:ln>
        </p:spPr>
        <p:txBody>
          <a:bodyPr anchor="ctr">
            <a:noAutofit/>
          </a:bodyPr>
          <a:lstStyle/>
          <a:p>
            <a:pPr algn="l">
              <a:defRPr sz="2906" b="1">
                <a:solidFill>
                  <a:srgbClr val="172B4D"/>
                </a:solidFill>
                <a:latin typeface="Arial"/>
                <a:ea typeface="Arial"/>
                <a:cs typeface="Arial"/>
              </a:defRPr>
            </a:pPr>
            <a:r>
              <a:rPr sz="2906" b="1">
                <a:solidFill>
                  <a:srgbClr val="172B4D"/>
                </a:solidFill>
                <a:latin typeface="Arial"/>
                <a:ea typeface="Arial"/>
                <a:cs typeface="Arial"/>
              </a:rPr>
              <a:t>12 fits into 14: 1 times</a:t>
            </a:r>
          </a:p>
        </p:txBody>
      </p:sp>
      <p:sp>
        <p:nvSpPr>
          <p:cNvPr id="19" name="object-19">
            <a:extLst>
              <a:ext uri="{FF2B5EF4-FFF2-40B4-BE49-F238E27FC236}">
                <a16:creationId xmlns:a16="http://schemas.microsoft.com/office/drawing/2014/main" id="{8D2EE902-369C-4148-BA16-F925999D0B18}"/>
              </a:ext>
            </a:extLst>
          </p:cNvPr>
          <p:cNvSpPr>
            <a:spLocks noGrp="1"/>
          </p:cNvSpPr>
          <p:nvPr/>
        </p:nvSpPr>
        <p:spPr>
          <a:xfrm>
            <a:off x="7739063" y="5453063"/>
            <a:ext cx="6310313" cy="642938"/>
          </a:xfrm>
          <a:prstGeom prst="rect">
            <a:avLst/>
          </a:prstGeom>
          <a:noFill/>
          <a:ln w="0">
            <a:noFill/>
          </a:ln>
        </p:spPr>
        <p:txBody>
          <a:bodyPr anchor="ctr">
            <a:noAutofit/>
          </a:bodyPr>
          <a:lstStyle/>
          <a:p>
            <a:pPr algn="l">
              <a:defRPr sz="2906" b="1">
                <a:solidFill>
                  <a:srgbClr val="172B4D"/>
                </a:solidFill>
                <a:latin typeface="Arial"/>
                <a:ea typeface="Arial"/>
                <a:cs typeface="Arial"/>
              </a:defRPr>
            </a:pPr>
            <a:r>
              <a:rPr sz="2906" b="1">
                <a:solidFill>
                  <a:srgbClr val="172B4D"/>
                </a:solidFill>
                <a:latin typeface="Arial"/>
                <a:ea typeface="Arial"/>
                <a:cs typeface="Arial"/>
              </a:rPr>
              <a:t>14 − 12 = 2</a:t>
            </a:r>
          </a:p>
        </p:txBody>
      </p:sp>
      <p:sp>
        <p:nvSpPr>
          <p:cNvPr id="20" name="object-20">
            <a:extLst>
              <a:ext uri="{FF2B5EF4-FFF2-40B4-BE49-F238E27FC236}">
                <a16:creationId xmlns:a16="http://schemas.microsoft.com/office/drawing/2014/main" id="{A33C6185-D404-419E-982A-F62ADDE832BB}"/>
              </a:ext>
            </a:extLst>
          </p:cNvPr>
          <p:cNvSpPr>
            <a:spLocks noGrp="1"/>
          </p:cNvSpPr>
          <p:nvPr/>
        </p:nvSpPr>
        <p:spPr>
          <a:xfrm>
            <a:off x="6488906" y="4036219"/>
            <a:ext cx="833438" cy="773906"/>
          </a:xfrm>
          <a:prstGeom prst="rect">
            <a:avLst/>
          </a:prstGeom>
          <a:noFill/>
          <a:ln w="0">
            <a:noFill/>
          </a:ln>
        </p:spPr>
        <p:txBody>
          <a:bodyPr anchor="ctr">
            <a:noAutofit/>
          </a:bodyPr>
          <a:lstStyle/>
          <a:p>
            <a:pPr algn="ctr">
              <a:defRPr sz="4125" b="1">
                <a:solidFill>
                  <a:srgbClr val="9A5800"/>
                </a:solidFill>
                <a:latin typeface="Arial"/>
                <a:ea typeface="Arial"/>
                <a:cs typeface="Arial"/>
              </a:defRPr>
            </a:pPr>
            <a:r>
              <a:rPr sz="4125" b="1">
                <a:solidFill>
                  <a:srgbClr val="9A5800"/>
                </a:solidFill>
                <a:latin typeface="Arial"/>
                <a:ea typeface="Arial"/>
                <a:cs typeface="Arial"/>
              </a:rPr>
              <a:t>4</a:t>
            </a:r>
          </a:p>
        </p:txBody>
      </p:sp>
      <p:sp>
        <p:nvSpPr>
          <p:cNvPr id="21" name="object-21">
            <a:extLst>
              <a:ext uri="{FF2B5EF4-FFF2-40B4-BE49-F238E27FC236}">
                <a16:creationId xmlns:a16="http://schemas.microsoft.com/office/drawing/2014/main" id="{192E72DE-0295-438E-A7D4-1A3A7495EFC5}"/>
              </a:ext>
            </a:extLst>
          </p:cNvPr>
          <p:cNvSpPr>
            <a:spLocks noGrp="1"/>
          </p:cNvSpPr>
          <p:nvPr/>
        </p:nvSpPr>
        <p:spPr>
          <a:xfrm>
            <a:off x="6488906" y="2857500"/>
            <a:ext cx="833438" cy="773906"/>
          </a:xfrm>
          <a:prstGeom prst="rect">
            <a:avLst/>
          </a:prstGeom>
          <a:noFill/>
          <a:ln w="0">
            <a:noFill/>
          </a:ln>
        </p:spPr>
        <p:txBody>
          <a:bodyPr anchor="ctr">
            <a:noAutofit/>
          </a:bodyPr>
          <a:lstStyle/>
          <a:p>
            <a:pPr algn="ctr">
              <a:defRPr sz="4031" b="1">
                <a:solidFill>
                  <a:srgbClr val="11745A"/>
                </a:solidFill>
                <a:latin typeface="Arial"/>
                <a:ea typeface="Arial"/>
                <a:cs typeface="Arial"/>
              </a:defRPr>
            </a:pPr>
            <a:r>
              <a:rPr sz="4031" b="1">
                <a:solidFill>
                  <a:srgbClr val="11745A"/>
                </a:solidFill>
                <a:latin typeface="Arial"/>
                <a:ea typeface="Arial"/>
                <a:cs typeface="Arial"/>
              </a:rPr>
              <a:t>2</a:t>
            </a:r>
          </a:p>
        </p:txBody>
      </p:sp>
      <p:sp>
        <p:nvSpPr>
          <p:cNvPr id="22" name="object-22">
            <a:extLst>
              <a:ext uri="{FF2B5EF4-FFF2-40B4-BE49-F238E27FC236}">
                <a16:creationId xmlns:a16="http://schemas.microsoft.com/office/drawing/2014/main" id="{6514923D-A83D-4210-8333-617A7B327083}"/>
              </a:ext>
            </a:extLst>
          </p:cNvPr>
          <p:cNvSpPr>
            <a:spLocks noGrp="1"/>
          </p:cNvSpPr>
          <p:nvPr/>
        </p:nvSpPr>
        <p:spPr>
          <a:xfrm>
            <a:off x="1190625" y="5453063"/>
            <a:ext cx="6548438" cy="642938"/>
          </a:xfrm>
          <a:prstGeom prst="rect">
            <a:avLst/>
          </a:prstGeom>
          <a:noFill/>
          <a:ln w="0">
            <a:noFill/>
          </a:ln>
        </p:spPr>
        <p:txBody>
          <a:bodyPr anchor="ctr">
            <a:noAutofit/>
          </a:bodyPr>
          <a:lstStyle/>
          <a:p>
            <a:pPr algn="l">
              <a:defRPr sz="2906" b="1">
                <a:solidFill>
                  <a:srgbClr val="172B4D"/>
                </a:solidFill>
                <a:latin typeface="Arial"/>
                <a:ea typeface="Arial"/>
                <a:cs typeface="Arial"/>
              </a:defRPr>
            </a:pPr>
            <a:r>
              <a:rPr sz="2906" b="1">
                <a:solidFill>
                  <a:srgbClr val="172B4D"/>
                </a:solidFill>
                <a:latin typeface="Arial"/>
                <a:ea typeface="Arial"/>
                <a:cs typeface="Arial"/>
              </a:rPr>
              <a:t>12 fits into 24: 2 times</a:t>
            </a:r>
          </a:p>
        </p:txBody>
      </p:sp>
      <p:sp>
        <p:nvSpPr>
          <p:cNvPr id="23" name="object-23">
            <a:extLst>
              <a:ext uri="{FF2B5EF4-FFF2-40B4-BE49-F238E27FC236}">
                <a16:creationId xmlns:a16="http://schemas.microsoft.com/office/drawing/2014/main" id="{AAE986AB-37A8-4816-A6E5-DEF9A3ABDE05}"/>
              </a:ext>
            </a:extLst>
          </p:cNvPr>
          <p:cNvSpPr>
            <a:spLocks noGrp="1"/>
          </p:cNvSpPr>
          <p:nvPr/>
        </p:nvSpPr>
        <p:spPr>
          <a:xfrm>
            <a:off x="7739063" y="5453063"/>
            <a:ext cx="6310313" cy="642938"/>
          </a:xfrm>
          <a:prstGeom prst="rect">
            <a:avLst/>
          </a:prstGeom>
          <a:noFill/>
          <a:ln w="0">
            <a:noFill/>
          </a:ln>
        </p:spPr>
        <p:txBody>
          <a:bodyPr anchor="ctr">
            <a:noAutofit/>
          </a:bodyPr>
          <a:lstStyle/>
          <a:p>
            <a:pPr algn="l">
              <a:defRPr sz="2906" b="1">
                <a:solidFill>
                  <a:srgbClr val="172B4D"/>
                </a:solidFill>
                <a:latin typeface="Arial"/>
                <a:ea typeface="Arial"/>
                <a:cs typeface="Arial"/>
              </a:defRPr>
            </a:pPr>
            <a:r>
              <a:rPr sz="2906" b="1">
                <a:solidFill>
                  <a:srgbClr val="172B4D"/>
                </a:solidFill>
                <a:latin typeface="Arial"/>
                <a:ea typeface="Arial"/>
                <a:cs typeface="Arial"/>
              </a:rPr>
              <a:t>24 − 24 = 0</a:t>
            </a:r>
          </a:p>
        </p:txBody>
      </p:sp>
      <p:sp>
        <p:nvSpPr>
          <p:cNvPr id="24" name="object-24">
            <a:extLst>
              <a:ext uri="{FF2B5EF4-FFF2-40B4-BE49-F238E27FC236}">
                <a16:creationId xmlns:a16="http://schemas.microsoft.com/office/drawing/2014/main" id="{8361E0A4-CDFF-481D-A95C-D9E7A0406538}"/>
              </a:ext>
            </a:extLst>
          </p:cNvPr>
          <p:cNvSpPr>
            <a:spLocks noGrp="1"/>
          </p:cNvSpPr>
          <p:nvPr/>
        </p:nvSpPr>
        <p:spPr>
          <a:xfrm>
            <a:off x="892969" y="7227094"/>
            <a:ext cx="13454063" cy="738188"/>
          </a:xfrm>
          <a:prstGeom prst="rect">
            <a:avLst/>
          </a:prstGeom>
          <a:noFill/>
          <a:ln w="0">
            <a:noFill/>
          </a:ln>
        </p:spPr>
        <p:txBody>
          <a:bodyPr anchor="ctr">
            <a:noAutofit/>
          </a:bodyPr>
          <a:lstStyle/>
          <a:p>
            <a:pPr algn="ctr">
              <a:defRPr sz="2813" b="1">
                <a:solidFill>
                  <a:srgbClr val="11745A"/>
                </a:solidFill>
                <a:latin typeface="Arial"/>
                <a:ea typeface="Arial"/>
                <a:cs typeface="Arial"/>
              </a:defRPr>
            </a:pPr>
            <a:r>
              <a:rPr sz="2813" b="1">
                <a:solidFill>
                  <a:srgbClr val="11745A"/>
                </a:solidFill>
                <a:latin typeface="Arial"/>
                <a:ea typeface="Arial"/>
                <a:cs typeface="Arial"/>
              </a:rPr>
              <a:t>3,744 ÷ 12 = 312</a:t>
            </a:r>
          </a:p>
        </p:txBody>
      </p:sp>
    </p:spTree>
    <p:extLst>
      <p:ext uri="{BB962C8B-B14F-4D97-AF65-F5344CB8AC3E}">
        <p14:creationId xmlns:p14="http://schemas.microsoft.com/office/powerpoint/2010/main" val="1092309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childTnLst>
                          </p:cTn>
                        </p:par>
                        <p:par>
                          <p:cTn id="13" fill="hold">
                            <p:stCondLst>
                              <p:cond delay="0"/>
                            </p:stCondLst>
                            <p:childTnLst>
                              <p:par>
                                <p:cTn id="14" presetID="63" presetClass="path" presetSubtype="0" accel="50000" decel="50000" fill="hold" grpId="1" nodeType="afterEffect">
                                  <p:stCondLst>
                                    <p:cond delay="0"/>
                                  </p:stCondLst>
                                  <p:childTnLst>
                                    <p:animMotion origin="layout" path="M 0 0 L 0.296875 0.27083333 E" pathEditMode="relative" ptsTypes="">
                                      <p:cBhvr>
                                        <p:cTn id="15" dur="800" fill="hold"/>
                                        <p:tgtEl>
                                          <p:spTgt spid="16"/>
                                        </p:tgtEl>
                                        <p:attrNameLst>
                                          <p:attrName>ppt_x</p:attrName>
                                          <p:attrName>ppt_y</p:attrName>
                                        </p:attrNameLst>
                                      </p:cBhvr>
                                    </p:animMotion>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17"/>
                                        </p:tgtEl>
                                        <p:attrNameLst>
                                          <p:attrName>style.visibility</p:attrName>
                                        </p:attrNameLst>
                                      </p:cBhvr>
                                      <p:to>
                                        <p:strVal val="visible"/>
                                      </p:to>
                                    </p:set>
                                  </p:childTnLst>
                                </p:cTn>
                              </p:par>
                              <p:par>
                                <p:cTn id="20" presetID="1" presetClass="exit" presetSubtype="0" fill="hold" grpId="1" nodeType="withEffect">
                                  <p:stCondLst>
                                    <p:cond delay="0"/>
                                  </p:stCondLst>
                                  <p:childTnLst>
                                    <p:set>
                                      <p:cBhvr>
                                        <p:cTn id="21" dur="1" fill="hold">
                                          <p:stCondLst>
                                            <p:cond delay="0"/>
                                          </p:stCondLst>
                                        </p:cTn>
                                        <p:tgtEl>
                                          <p:spTgt spid="14"/>
                                        </p:tgtEl>
                                        <p:attrNameLst>
                                          <p:attrName>style.visibility</p:attrName>
                                        </p:attrNameLst>
                                      </p:cBhvr>
                                      <p:to>
                                        <p:strVal val="hidden"/>
                                      </p:to>
                                    </p:set>
                                  </p:childTnLst>
                                </p:cTn>
                              </p:par>
                              <p:par>
                                <p:cTn id="22" presetID="1" presetClass="exit" presetSubtype="0" fill="hold" grpId="1" nodeType="withEffect">
                                  <p:stCondLst>
                                    <p:cond delay="0"/>
                                  </p:stCondLst>
                                  <p:childTnLst>
                                    <p:set>
                                      <p:cBhvr>
                                        <p:cTn id="23" dur="1" fill="hold">
                                          <p:stCondLst>
                                            <p:cond delay="0"/>
                                          </p:stCondLst>
                                        </p:cTn>
                                        <p:tgtEl>
                                          <p:spTgt spid="15"/>
                                        </p:tgtEl>
                                        <p:attrNameLst>
                                          <p:attrName>style.visibility</p:attrName>
                                        </p:attrNameLst>
                                      </p:cBhvr>
                                      <p:to>
                                        <p:strVal val="hidden"/>
                                      </p:to>
                                    </p:set>
                                  </p:childTnLst>
                                </p:cTn>
                              </p:par>
                              <p:par>
                                <p:cTn id="24" presetID="1" presetClass="exit" presetSubtype="0" fill="hold" grpId="2" nodeType="withEffect">
                                  <p:stCondLst>
                                    <p:cond delay="0"/>
                                  </p:stCondLst>
                                  <p:childTnLst>
                                    <p:set>
                                      <p:cBhvr>
                                        <p:cTn id="25" dur="1" fill="hold">
                                          <p:stCondLst>
                                            <p:cond delay="0"/>
                                          </p:stCondLst>
                                        </p:cTn>
                                        <p:tgtEl>
                                          <p:spTgt spid="16"/>
                                        </p:tgtEl>
                                        <p:attrNameLst>
                                          <p:attrName>style.visibility</p:attrName>
                                        </p:attrNameLst>
                                      </p:cBhvr>
                                      <p:to>
                                        <p:strVal val="hidden"/>
                                      </p:to>
                                    </p:set>
                                  </p:childTnLst>
                                </p:cTn>
                              </p:par>
                              <p:par>
                                <p:cTn id="26" presetID="1" presetClass="entr" presetSubtype="0" fill="hold" grpId="0" nodeType="withEffect">
                                  <p:stCondLst>
                                    <p:cond delay="0"/>
                                  </p:stCondLst>
                                  <p:childTnLst>
                                    <p:set>
                                      <p:cBhvr>
                                        <p:cTn id="27" dur="1" fill="hold">
                                          <p:stCondLst>
                                            <p:cond delay="0"/>
                                          </p:stCondLst>
                                        </p:cTn>
                                        <p:tgtEl>
                                          <p:spTgt spid="18"/>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19"/>
                                        </p:tgtEl>
                                        <p:attrNameLst>
                                          <p:attrName>style.visibility</p:attrName>
                                        </p:attrNameLst>
                                      </p:cBhvr>
                                      <p:to>
                                        <p:strVal val="visible"/>
                                      </p:to>
                                    </p:set>
                                  </p:childTnLst>
                                </p:cTn>
                              </p:par>
                              <p:par>
                                <p:cTn id="30" presetID="1" presetClass="entr" presetSubtype="0" fill="hold" grpId="0" nodeType="withEffect">
                                  <p:stCondLst>
                                    <p:cond delay="0"/>
                                  </p:stCondLst>
                                  <p:childTnLst>
                                    <p:set>
                                      <p:cBhvr>
                                        <p:cTn id="31" dur="1" fill="hold">
                                          <p:stCondLst>
                                            <p:cond delay="0"/>
                                          </p:stCondLst>
                                        </p:cTn>
                                        <p:tgtEl>
                                          <p:spTgt spid="20"/>
                                        </p:tgtEl>
                                        <p:attrNameLst>
                                          <p:attrName>style.visibility</p:attrName>
                                        </p:attrNameLst>
                                      </p:cBhvr>
                                      <p:to>
                                        <p:strVal val="visible"/>
                                      </p:to>
                                    </p:set>
                                  </p:childTnLst>
                                </p:cTn>
                              </p:par>
                            </p:childTnLst>
                          </p:cTn>
                        </p:par>
                        <p:par>
                          <p:cTn id="32" fill="hold">
                            <p:stCondLst>
                              <p:cond delay="0"/>
                            </p:stCondLst>
                            <p:childTnLst>
                              <p:par>
                                <p:cTn id="33" presetID="63" presetClass="path" presetSubtype="0" accel="50000" decel="50000" fill="hold" grpId="1" nodeType="afterEffect">
                                  <p:stCondLst>
                                    <p:cond delay="0"/>
                                  </p:stCondLst>
                                  <p:childTnLst>
                                    <p:animMotion origin="layout" path="M 0 0 L 0.23828125 0.27083333 E" pathEditMode="relative" ptsTypes="">
                                      <p:cBhvr>
                                        <p:cTn id="34" dur="800" fill="hold"/>
                                        <p:tgtEl>
                                          <p:spTgt spid="20"/>
                                        </p:tgtEl>
                                        <p:attrNameLst>
                                          <p:attrName>ppt_x</p:attrName>
                                          <p:attrName>ppt_y</p:attrName>
                                        </p:attrNameLst>
                                      </p:cBhvr>
                                    </p:animMotion>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1"/>
                                        </p:tgtEl>
                                        <p:attrNameLst>
                                          <p:attrName>style.visibility</p:attrName>
                                        </p:attrNameLst>
                                      </p:cBhvr>
                                      <p:to>
                                        <p:strVal val="visible"/>
                                      </p:to>
                                    </p:set>
                                  </p:childTnLst>
                                </p:cTn>
                              </p:par>
                              <p:par>
                                <p:cTn id="39" presetID="1" presetClass="exit" presetSubtype="0" fill="hold" grpId="1" nodeType="withEffect">
                                  <p:stCondLst>
                                    <p:cond delay="0"/>
                                  </p:stCondLst>
                                  <p:childTnLst>
                                    <p:set>
                                      <p:cBhvr>
                                        <p:cTn id="40" dur="1" fill="hold">
                                          <p:stCondLst>
                                            <p:cond delay="0"/>
                                          </p:stCondLst>
                                        </p:cTn>
                                        <p:tgtEl>
                                          <p:spTgt spid="18"/>
                                        </p:tgtEl>
                                        <p:attrNameLst>
                                          <p:attrName>style.visibility</p:attrName>
                                        </p:attrNameLst>
                                      </p:cBhvr>
                                      <p:to>
                                        <p:strVal val="hidden"/>
                                      </p:to>
                                    </p:set>
                                  </p:childTnLst>
                                </p:cTn>
                              </p:par>
                              <p:par>
                                <p:cTn id="41" presetID="1" presetClass="exit" presetSubtype="0" fill="hold" grpId="1" nodeType="withEffect">
                                  <p:stCondLst>
                                    <p:cond delay="0"/>
                                  </p:stCondLst>
                                  <p:childTnLst>
                                    <p:set>
                                      <p:cBhvr>
                                        <p:cTn id="42" dur="1" fill="hold">
                                          <p:stCondLst>
                                            <p:cond delay="0"/>
                                          </p:stCondLst>
                                        </p:cTn>
                                        <p:tgtEl>
                                          <p:spTgt spid="19"/>
                                        </p:tgtEl>
                                        <p:attrNameLst>
                                          <p:attrName>style.visibility</p:attrName>
                                        </p:attrNameLst>
                                      </p:cBhvr>
                                      <p:to>
                                        <p:strVal val="hidden"/>
                                      </p:to>
                                    </p:set>
                                  </p:childTnLst>
                                </p:cTn>
                              </p:par>
                              <p:par>
                                <p:cTn id="43" presetID="1" presetClass="exit" presetSubtype="0" fill="hold" grpId="2" nodeType="withEffect">
                                  <p:stCondLst>
                                    <p:cond delay="0"/>
                                  </p:stCondLst>
                                  <p:childTnLst>
                                    <p:set>
                                      <p:cBhvr>
                                        <p:cTn id="44" dur="1" fill="hold">
                                          <p:stCondLst>
                                            <p:cond delay="0"/>
                                          </p:stCondLst>
                                        </p:cTn>
                                        <p:tgtEl>
                                          <p:spTgt spid="20"/>
                                        </p:tgtEl>
                                        <p:attrNameLst>
                                          <p:attrName>style.visibility</p:attrName>
                                        </p:attrNameLst>
                                      </p:cBhvr>
                                      <p:to>
                                        <p:strVal val="hidden"/>
                                      </p:to>
                                    </p:set>
                                  </p:childTnLst>
                                </p:cTn>
                              </p:par>
                              <p:par>
                                <p:cTn id="45" presetID="1" presetClass="entr" presetSubtype="0" fill="hold" grpId="0" nodeType="withEffect">
                                  <p:stCondLst>
                                    <p:cond delay="0"/>
                                  </p:stCondLst>
                                  <p:childTnLst>
                                    <p:set>
                                      <p:cBhvr>
                                        <p:cTn id="46" dur="1" fill="hold">
                                          <p:stCondLst>
                                            <p:cond delay="0"/>
                                          </p:stCondLst>
                                        </p:cTn>
                                        <p:tgtEl>
                                          <p:spTgt spid="22"/>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3"/>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14" grpId="1"/>
      <p:bldP spid="15" grpId="0"/>
      <p:bldP spid="15" grpId="1"/>
      <p:bldP spid="16" grpId="0"/>
      <p:bldP spid="16" grpId="1"/>
      <p:bldP spid="16" grpId="2"/>
      <p:bldP spid="17" grpId="0"/>
      <p:bldP spid="18" grpId="0"/>
      <p:bldP spid="18" grpId="1"/>
      <p:bldP spid="19" grpId="0"/>
      <p:bldP spid="19" grpId="1"/>
      <p:bldP spid="20" grpId="0"/>
      <p:bldP spid="20" grpId="1"/>
      <p:bldP spid="20" grpId="2"/>
      <p:bldP spid="21" grpId="0"/>
      <p:bldP spid="22" grpId="0"/>
      <p:bldP spid="23" grpId="0"/>
      <p:bldP spid="2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 name="object-1">
            <a:extLst>
              <a:ext uri="{FF2B5EF4-FFF2-40B4-BE49-F238E27FC236}">
                <a16:creationId xmlns:a16="http://schemas.microsoft.com/office/drawing/2014/main" id="{DFD662C7-978A-4610-878F-D59E367BF0A9}"/>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You do</a:t>
            </a:r>
          </a:p>
        </p:txBody>
      </p:sp>
      <p:sp>
        <p:nvSpPr>
          <p:cNvPr id="2" name="object-2">
            <a:extLst>
              <a:ext uri="{FF2B5EF4-FFF2-40B4-BE49-F238E27FC236}">
                <a16:creationId xmlns:a16="http://schemas.microsoft.com/office/drawing/2014/main" id="{650F9F00-1CF2-47B1-BFB8-74F0E2ABAF1E}"/>
              </a:ext>
            </a:extLst>
          </p:cNvPr>
          <p:cNvSpPr>
            <a:spLocks noGrp="1"/>
          </p:cNvSpPr>
          <p:nvPr/>
        </p:nvSpPr>
        <p:spPr>
          <a:xfrm>
            <a:off x="11430000" y="476250"/>
            <a:ext cx="3155156" cy="547688"/>
          </a:xfrm>
          <a:prstGeom prst="rect">
            <a:avLst/>
          </a:prstGeom>
          <a:noFill/>
          <a:ln w="0">
            <a:noFill/>
          </a:ln>
        </p:spPr>
        <p:txBody>
          <a:bodyPr anchor="ctr">
            <a:noAutofit/>
          </a:bodyPr>
          <a:lstStyle/>
          <a:p>
            <a:pPr algn="r">
              <a:defRPr sz="2625" b="0">
                <a:solidFill>
                  <a:srgbClr val="52647A"/>
                </a:solidFill>
                <a:latin typeface="Arial"/>
                <a:ea typeface="Arial"/>
                <a:cs typeface="Arial"/>
              </a:defRPr>
            </a:pPr>
            <a:r>
              <a:rPr sz="2625" b="0">
                <a:solidFill>
                  <a:srgbClr val="52647A"/>
                </a:solidFill>
                <a:latin typeface="Arial"/>
                <a:ea typeface="Arial"/>
                <a:cs typeface="Arial"/>
              </a:rPr>
              <a:t>You try.</a:t>
            </a:r>
          </a:p>
        </p:txBody>
      </p:sp>
      <p:sp>
        <p:nvSpPr>
          <p:cNvPr id="3" name="object-3">
            <a:extLst>
              <a:ext uri="{FF2B5EF4-FFF2-40B4-BE49-F238E27FC236}">
                <a16:creationId xmlns:a16="http://schemas.microsoft.com/office/drawing/2014/main" id="{DB1AD43C-D16E-47DA-A921-1EE7C9212042}"/>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Calculate 3,876 ÷ 12.</a:t>
            </a:r>
          </a:p>
        </p:txBody>
      </p:sp>
      <p:sp>
        <p:nvSpPr>
          <p:cNvPr id="4" name="object-4">
            <a:extLst>
              <a:ext uri="{FF2B5EF4-FFF2-40B4-BE49-F238E27FC236}">
                <a16:creationId xmlns:a16="http://schemas.microsoft.com/office/drawing/2014/main" id="{C8BAB2B1-0E7E-48CD-A199-8B785448A660}"/>
              </a:ext>
            </a:extLst>
          </p:cNvPr>
          <p:cNvSpPr>
            <a:spLocks noGrp="1"/>
          </p:cNvSpPr>
          <p:nvPr/>
        </p:nvSpPr>
        <p:spPr>
          <a:xfrm>
            <a:off x="654844" y="8012906"/>
            <a:ext cx="13930313" cy="11906"/>
          </a:xfrm>
          <a:prstGeom prst="rect">
            <a:avLst/>
          </a:prstGeom>
          <a:solidFill>
            <a:srgbClr val="BCD0EA"/>
          </a:solidFill>
          <a:ln w="0">
            <a:noFill/>
          </a:ln>
        </p:spPr>
      </p:sp>
      <p:sp>
        <p:nvSpPr>
          <p:cNvPr id="5" name="object-5">
            <a:extLst>
              <a:ext uri="{FF2B5EF4-FFF2-40B4-BE49-F238E27FC236}">
                <a16:creationId xmlns:a16="http://schemas.microsoft.com/office/drawing/2014/main" id="{AF34DE03-117C-4828-9175-4CDEED6509B7}"/>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Use short division with two-digit divisors</a:t>
            </a:r>
          </a:p>
        </p:txBody>
      </p:sp>
      <p:sp>
        <p:nvSpPr>
          <p:cNvPr id="6" name="object-6">
            <a:extLst>
              <a:ext uri="{FF2B5EF4-FFF2-40B4-BE49-F238E27FC236}">
                <a16:creationId xmlns:a16="http://schemas.microsoft.com/office/drawing/2014/main" id="{481F1977-00D5-4897-A757-710F17A64B6E}"/>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3</a:t>
            </a:r>
          </a:p>
        </p:txBody>
      </p:sp>
      <p:sp>
        <p:nvSpPr>
          <p:cNvPr id="7" name="object-7">
            <a:extLst>
              <a:ext uri="{FF2B5EF4-FFF2-40B4-BE49-F238E27FC236}">
                <a16:creationId xmlns:a16="http://schemas.microsoft.com/office/drawing/2014/main" id="{84B12432-EA97-4042-B30A-1FFDB4BD4758}"/>
              </a:ext>
            </a:extLst>
          </p:cNvPr>
          <p:cNvSpPr>
            <a:spLocks noGrp="1"/>
          </p:cNvSpPr>
          <p:nvPr/>
        </p:nvSpPr>
        <p:spPr>
          <a:xfrm>
            <a:off x="1785938" y="4012406"/>
            <a:ext cx="1428750" cy="833438"/>
          </a:xfrm>
          <a:prstGeom prst="rect">
            <a:avLst/>
          </a:prstGeom>
          <a:noFill/>
          <a:ln w="0">
            <a:noFill/>
          </a:ln>
        </p:spPr>
        <p:txBody>
          <a:bodyPr anchor="ctr">
            <a:noAutofit/>
          </a:bodyPr>
          <a:lstStyle/>
          <a:p>
            <a:pPr algn="ctr">
              <a:defRPr sz="4313" b="1">
                <a:solidFill>
                  <a:srgbClr val="1D4ED8"/>
                </a:solidFill>
                <a:latin typeface="Arial"/>
                <a:ea typeface="Arial"/>
                <a:cs typeface="Arial"/>
              </a:defRPr>
            </a:pPr>
            <a:r>
              <a:rPr sz="4313" b="1">
                <a:solidFill>
                  <a:srgbClr val="1D4ED8"/>
                </a:solidFill>
                <a:latin typeface="Arial"/>
                <a:ea typeface="Arial"/>
                <a:cs typeface="Arial"/>
              </a:rPr>
              <a:t>12</a:t>
            </a:r>
          </a:p>
        </p:txBody>
      </p:sp>
      <p:sp>
        <p:nvSpPr>
          <p:cNvPr id="8" name="object-8">
            <a:extLst>
              <a:ext uri="{FF2B5EF4-FFF2-40B4-BE49-F238E27FC236}">
                <a16:creationId xmlns:a16="http://schemas.microsoft.com/office/drawing/2014/main" id="{D8BBD2BF-0175-4BE6-BBD3-E15705F3899C}"/>
              </a:ext>
            </a:extLst>
          </p:cNvPr>
          <p:cNvSpPr>
            <a:spLocks noGrp="1"/>
          </p:cNvSpPr>
          <p:nvPr/>
        </p:nvSpPr>
        <p:spPr>
          <a:xfrm>
            <a:off x="3393281" y="3833813"/>
            <a:ext cx="0" cy="1226344"/>
          </a:xfrm>
          <a:prstGeom prst="line">
            <a:avLst/>
          </a:prstGeom>
          <a:noFill/>
          <a:ln w="35719">
            <a:solidFill>
              <a:srgbClr val="172B4D"/>
            </a:solidFill>
          </a:ln>
        </p:spPr>
      </p:sp>
      <p:sp>
        <p:nvSpPr>
          <p:cNvPr id="9" name="object-9">
            <a:extLst>
              <a:ext uri="{FF2B5EF4-FFF2-40B4-BE49-F238E27FC236}">
                <a16:creationId xmlns:a16="http://schemas.microsoft.com/office/drawing/2014/main" id="{3AB89BDD-C333-4F2B-8850-F51942AFBA95}"/>
              </a:ext>
            </a:extLst>
          </p:cNvPr>
          <p:cNvSpPr>
            <a:spLocks noGrp="1"/>
          </p:cNvSpPr>
          <p:nvPr/>
        </p:nvSpPr>
        <p:spPr>
          <a:xfrm>
            <a:off x="3393281" y="3833813"/>
            <a:ext cx="9644063" cy="35719"/>
          </a:xfrm>
          <a:prstGeom prst="rect">
            <a:avLst/>
          </a:prstGeom>
          <a:solidFill>
            <a:srgbClr val="172B4D"/>
          </a:solidFill>
          <a:ln w="0">
            <a:noFill/>
          </a:ln>
        </p:spPr>
      </p:sp>
      <p:sp>
        <p:nvSpPr>
          <p:cNvPr id="10" name="object-10">
            <a:extLst>
              <a:ext uri="{FF2B5EF4-FFF2-40B4-BE49-F238E27FC236}">
                <a16:creationId xmlns:a16="http://schemas.microsoft.com/office/drawing/2014/main" id="{EF6EF140-97E1-4A43-96DC-CAB50E4187B0}"/>
              </a:ext>
            </a:extLst>
          </p:cNvPr>
          <p:cNvSpPr>
            <a:spLocks noGrp="1"/>
          </p:cNvSpPr>
          <p:nvPr/>
        </p:nvSpPr>
        <p:spPr>
          <a:xfrm>
            <a:off x="3810000" y="4036219"/>
            <a:ext cx="833438" cy="773906"/>
          </a:xfrm>
          <a:prstGeom prst="rect">
            <a:avLst/>
          </a:prstGeom>
          <a:noFill/>
          <a:ln w="0">
            <a:noFill/>
          </a:ln>
        </p:spPr>
        <p:txBody>
          <a:bodyPr anchor="ctr">
            <a:noAutofit/>
          </a:bodyPr>
          <a:lstStyle/>
          <a:p>
            <a:pPr algn="ctr">
              <a:defRPr sz="4125" b="1">
                <a:solidFill>
                  <a:srgbClr val="1D4ED8"/>
                </a:solidFill>
                <a:latin typeface="Arial"/>
                <a:ea typeface="Arial"/>
                <a:cs typeface="Arial"/>
              </a:defRPr>
            </a:pPr>
            <a:r>
              <a:rPr sz="4125" b="1">
                <a:solidFill>
                  <a:srgbClr val="1D4ED8"/>
                </a:solidFill>
                <a:latin typeface="Arial"/>
                <a:ea typeface="Arial"/>
                <a:cs typeface="Arial"/>
              </a:rPr>
              <a:t>3</a:t>
            </a:r>
          </a:p>
        </p:txBody>
      </p:sp>
      <p:sp>
        <p:nvSpPr>
          <p:cNvPr id="11" name="object-11">
            <a:extLst>
              <a:ext uri="{FF2B5EF4-FFF2-40B4-BE49-F238E27FC236}">
                <a16:creationId xmlns:a16="http://schemas.microsoft.com/office/drawing/2014/main" id="{2B371795-5E2D-45F0-8AE0-6DC0752ED9CA}"/>
              </a:ext>
            </a:extLst>
          </p:cNvPr>
          <p:cNvSpPr>
            <a:spLocks noGrp="1"/>
          </p:cNvSpPr>
          <p:nvPr/>
        </p:nvSpPr>
        <p:spPr>
          <a:xfrm>
            <a:off x="4702969" y="4036219"/>
            <a:ext cx="833438" cy="773906"/>
          </a:xfrm>
          <a:prstGeom prst="rect">
            <a:avLst/>
          </a:prstGeom>
          <a:noFill/>
          <a:ln w="0">
            <a:noFill/>
          </a:ln>
        </p:spPr>
        <p:txBody>
          <a:bodyPr anchor="ctr">
            <a:noAutofit/>
          </a:bodyPr>
          <a:lstStyle/>
          <a:p>
            <a:pPr algn="ctr">
              <a:defRPr sz="4125" b="1">
                <a:solidFill>
                  <a:srgbClr val="1D4ED8"/>
                </a:solidFill>
                <a:latin typeface="Arial"/>
                <a:ea typeface="Arial"/>
                <a:cs typeface="Arial"/>
              </a:defRPr>
            </a:pPr>
            <a:r>
              <a:rPr sz="4125" b="1">
                <a:solidFill>
                  <a:srgbClr val="1D4ED8"/>
                </a:solidFill>
                <a:latin typeface="Arial"/>
                <a:ea typeface="Arial"/>
                <a:cs typeface="Arial"/>
              </a:rPr>
              <a:t>8</a:t>
            </a:r>
          </a:p>
        </p:txBody>
      </p:sp>
      <p:sp>
        <p:nvSpPr>
          <p:cNvPr id="12" name="object-12">
            <a:extLst>
              <a:ext uri="{FF2B5EF4-FFF2-40B4-BE49-F238E27FC236}">
                <a16:creationId xmlns:a16="http://schemas.microsoft.com/office/drawing/2014/main" id="{00DB6CAE-33C8-43BF-8A03-2CAD5C1F8149}"/>
              </a:ext>
            </a:extLst>
          </p:cNvPr>
          <p:cNvSpPr>
            <a:spLocks noGrp="1"/>
          </p:cNvSpPr>
          <p:nvPr/>
        </p:nvSpPr>
        <p:spPr>
          <a:xfrm>
            <a:off x="5595938" y="4036219"/>
            <a:ext cx="833438" cy="773906"/>
          </a:xfrm>
          <a:prstGeom prst="rect">
            <a:avLst/>
          </a:prstGeom>
          <a:noFill/>
          <a:ln w="0">
            <a:noFill/>
          </a:ln>
        </p:spPr>
        <p:txBody>
          <a:bodyPr anchor="ctr">
            <a:noAutofit/>
          </a:bodyPr>
          <a:lstStyle/>
          <a:p>
            <a:pPr algn="ctr">
              <a:defRPr sz="4125" b="1">
                <a:solidFill>
                  <a:srgbClr val="1D4ED8"/>
                </a:solidFill>
                <a:latin typeface="Arial"/>
                <a:ea typeface="Arial"/>
                <a:cs typeface="Arial"/>
              </a:defRPr>
            </a:pPr>
            <a:r>
              <a:rPr sz="4125" b="1">
                <a:solidFill>
                  <a:srgbClr val="1D4ED8"/>
                </a:solidFill>
                <a:latin typeface="Arial"/>
                <a:ea typeface="Arial"/>
                <a:cs typeface="Arial"/>
              </a:rPr>
              <a:t>7</a:t>
            </a:r>
          </a:p>
        </p:txBody>
      </p:sp>
      <p:sp>
        <p:nvSpPr>
          <p:cNvPr id="13" name="object-13">
            <a:extLst>
              <a:ext uri="{FF2B5EF4-FFF2-40B4-BE49-F238E27FC236}">
                <a16:creationId xmlns:a16="http://schemas.microsoft.com/office/drawing/2014/main" id="{9A9EDF74-B498-475B-AF10-73F2EAAEA7CA}"/>
              </a:ext>
            </a:extLst>
          </p:cNvPr>
          <p:cNvSpPr>
            <a:spLocks noGrp="1"/>
          </p:cNvSpPr>
          <p:nvPr/>
        </p:nvSpPr>
        <p:spPr>
          <a:xfrm>
            <a:off x="6488906" y="4036219"/>
            <a:ext cx="833438" cy="773906"/>
          </a:xfrm>
          <a:prstGeom prst="rect">
            <a:avLst/>
          </a:prstGeom>
          <a:noFill/>
          <a:ln w="0">
            <a:noFill/>
          </a:ln>
        </p:spPr>
        <p:txBody>
          <a:bodyPr anchor="ctr">
            <a:noAutofit/>
          </a:bodyPr>
          <a:lstStyle/>
          <a:p>
            <a:pPr algn="ctr">
              <a:defRPr sz="4125" b="1">
                <a:solidFill>
                  <a:srgbClr val="1D4ED8"/>
                </a:solidFill>
                <a:latin typeface="Arial"/>
                <a:ea typeface="Arial"/>
                <a:cs typeface="Arial"/>
              </a:defRPr>
            </a:pPr>
            <a:r>
              <a:rPr sz="4125" b="1">
                <a:solidFill>
                  <a:srgbClr val="1D4ED8"/>
                </a:solidFill>
                <a:latin typeface="Arial"/>
                <a:ea typeface="Arial"/>
                <a:cs typeface="Arial"/>
              </a:rPr>
              <a:t>6</a:t>
            </a:r>
          </a:p>
        </p:txBody>
      </p:sp>
      <p:sp>
        <p:nvSpPr>
          <p:cNvPr id="14" name="object-14">
            <a:extLst>
              <a:ext uri="{FF2B5EF4-FFF2-40B4-BE49-F238E27FC236}">
                <a16:creationId xmlns:a16="http://schemas.microsoft.com/office/drawing/2014/main" id="{B126B010-1F21-498D-A14F-6DB01DBA73D6}"/>
              </a:ext>
            </a:extLst>
          </p:cNvPr>
          <p:cNvSpPr>
            <a:spLocks noGrp="1"/>
          </p:cNvSpPr>
          <p:nvPr/>
        </p:nvSpPr>
        <p:spPr>
          <a:xfrm>
            <a:off x="4702969" y="2857500"/>
            <a:ext cx="833438" cy="773906"/>
          </a:xfrm>
          <a:prstGeom prst="rect">
            <a:avLst/>
          </a:prstGeom>
          <a:noFill/>
          <a:ln w="0">
            <a:noFill/>
          </a:ln>
        </p:spPr>
        <p:txBody>
          <a:bodyPr anchor="ctr">
            <a:noAutofit/>
          </a:bodyPr>
          <a:lstStyle/>
          <a:p>
            <a:pPr algn="ctr">
              <a:defRPr sz="4031" b="1">
                <a:solidFill>
                  <a:srgbClr val="11745A"/>
                </a:solidFill>
                <a:latin typeface="Arial"/>
                <a:ea typeface="Arial"/>
                <a:cs typeface="Arial"/>
              </a:defRPr>
            </a:pPr>
            <a:r>
              <a:rPr sz="4031" b="1">
                <a:solidFill>
                  <a:srgbClr val="11745A"/>
                </a:solidFill>
                <a:latin typeface="Arial"/>
                <a:ea typeface="Arial"/>
                <a:cs typeface="Arial"/>
              </a:rPr>
              <a:t>3</a:t>
            </a:r>
          </a:p>
        </p:txBody>
      </p:sp>
      <p:sp>
        <p:nvSpPr>
          <p:cNvPr id="15" name="object-15">
            <a:extLst>
              <a:ext uri="{FF2B5EF4-FFF2-40B4-BE49-F238E27FC236}">
                <a16:creationId xmlns:a16="http://schemas.microsoft.com/office/drawing/2014/main" id="{E78117CF-D7FC-44E7-AFAF-C4A8A21FBDC8}"/>
              </a:ext>
            </a:extLst>
          </p:cNvPr>
          <p:cNvSpPr>
            <a:spLocks noGrp="1"/>
          </p:cNvSpPr>
          <p:nvPr/>
        </p:nvSpPr>
        <p:spPr>
          <a:xfrm>
            <a:off x="1190625" y="5453063"/>
            <a:ext cx="6548438" cy="642938"/>
          </a:xfrm>
          <a:prstGeom prst="rect">
            <a:avLst/>
          </a:prstGeom>
          <a:noFill/>
          <a:ln w="0">
            <a:noFill/>
          </a:ln>
        </p:spPr>
        <p:txBody>
          <a:bodyPr anchor="ctr">
            <a:noAutofit/>
          </a:bodyPr>
          <a:lstStyle/>
          <a:p>
            <a:pPr algn="l">
              <a:defRPr sz="2906" b="1">
                <a:solidFill>
                  <a:srgbClr val="172B4D"/>
                </a:solidFill>
                <a:latin typeface="Arial"/>
                <a:ea typeface="Arial"/>
                <a:cs typeface="Arial"/>
              </a:defRPr>
            </a:pPr>
            <a:r>
              <a:rPr sz="2906" b="1">
                <a:solidFill>
                  <a:srgbClr val="172B4D"/>
                </a:solidFill>
                <a:latin typeface="Arial"/>
                <a:ea typeface="Arial"/>
                <a:cs typeface="Arial"/>
              </a:rPr>
              <a:t>12 fits into 38: 3 times</a:t>
            </a:r>
          </a:p>
        </p:txBody>
      </p:sp>
      <p:sp>
        <p:nvSpPr>
          <p:cNvPr id="16" name="object-16">
            <a:extLst>
              <a:ext uri="{FF2B5EF4-FFF2-40B4-BE49-F238E27FC236}">
                <a16:creationId xmlns:a16="http://schemas.microsoft.com/office/drawing/2014/main" id="{EE4B1D9D-8384-43ED-9B48-2EDA80263E5A}"/>
              </a:ext>
            </a:extLst>
          </p:cNvPr>
          <p:cNvSpPr>
            <a:spLocks noGrp="1"/>
          </p:cNvSpPr>
          <p:nvPr/>
        </p:nvSpPr>
        <p:spPr>
          <a:xfrm>
            <a:off x="7739063" y="5453063"/>
            <a:ext cx="6310313" cy="642938"/>
          </a:xfrm>
          <a:prstGeom prst="rect">
            <a:avLst/>
          </a:prstGeom>
          <a:noFill/>
          <a:ln w="0">
            <a:noFill/>
          </a:ln>
        </p:spPr>
        <p:txBody>
          <a:bodyPr anchor="ctr">
            <a:noAutofit/>
          </a:bodyPr>
          <a:lstStyle/>
          <a:p>
            <a:pPr algn="l">
              <a:defRPr sz="2906" b="1">
                <a:solidFill>
                  <a:srgbClr val="172B4D"/>
                </a:solidFill>
                <a:latin typeface="Arial"/>
                <a:ea typeface="Arial"/>
                <a:cs typeface="Arial"/>
              </a:defRPr>
            </a:pPr>
            <a:r>
              <a:rPr sz="2906" b="1">
                <a:solidFill>
                  <a:srgbClr val="172B4D"/>
                </a:solidFill>
                <a:latin typeface="Arial"/>
                <a:ea typeface="Arial"/>
                <a:cs typeface="Arial"/>
              </a:rPr>
              <a:t>38 − 36 = 2</a:t>
            </a:r>
          </a:p>
        </p:txBody>
      </p:sp>
      <p:sp>
        <p:nvSpPr>
          <p:cNvPr id="17" name="object-17">
            <a:extLst>
              <a:ext uri="{FF2B5EF4-FFF2-40B4-BE49-F238E27FC236}">
                <a16:creationId xmlns:a16="http://schemas.microsoft.com/office/drawing/2014/main" id="{5085B748-F9B1-43E6-B51F-6D623D3F206F}"/>
              </a:ext>
            </a:extLst>
          </p:cNvPr>
          <p:cNvSpPr>
            <a:spLocks noGrp="1"/>
          </p:cNvSpPr>
          <p:nvPr/>
        </p:nvSpPr>
        <p:spPr>
          <a:xfrm>
            <a:off x="5595938" y="4036219"/>
            <a:ext cx="833438" cy="773906"/>
          </a:xfrm>
          <a:prstGeom prst="rect">
            <a:avLst/>
          </a:prstGeom>
          <a:noFill/>
          <a:ln w="0">
            <a:noFill/>
          </a:ln>
        </p:spPr>
        <p:txBody>
          <a:bodyPr anchor="ctr">
            <a:noAutofit/>
          </a:bodyPr>
          <a:lstStyle/>
          <a:p>
            <a:pPr algn="ctr">
              <a:defRPr sz="4125" b="1">
                <a:solidFill>
                  <a:srgbClr val="9A5800"/>
                </a:solidFill>
                <a:latin typeface="Arial"/>
                <a:ea typeface="Arial"/>
                <a:cs typeface="Arial"/>
              </a:defRPr>
            </a:pPr>
            <a:r>
              <a:rPr sz="4125" b="1">
                <a:solidFill>
                  <a:srgbClr val="9A5800"/>
                </a:solidFill>
                <a:latin typeface="Arial"/>
                <a:ea typeface="Arial"/>
                <a:cs typeface="Arial"/>
              </a:rPr>
              <a:t>7</a:t>
            </a:r>
          </a:p>
        </p:txBody>
      </p:sp>
      <p:sp>
        <p:nvSpPr>
          <p:cNvPr id="18" name="object-18">
            <a:extLst>
              <a:ext uri="{FF2B5EF4-FFF2-40B4-BE49-F238E27FC236}">
                <a16:creationId xmlns:a16="http://schemas.microsoft.com/office/drawing/2014/main" id="{BAC7AD5E-1128-40BB-9A2F-CC1F7AB6DB69}"/>
              </a:ext>
            </a:extLst>
          </p:cNvPr>
          <p:cNvSpPr>
            <a:spLocks noGrp="1"/>
          </p:cNvSpPr>
          <p:nvPr/>
        </p:nvSpPr>
        <p:spPr>
          <a:xfrm>
            <a:off x="5595938" y="2857500"/>
            <a:ext cx="833438" cy="773906"/>
          </a:xfrm>
          <a:prstGeom prst="rect">
            <a:avLst/>
          </a:prstGeom>
          <a:noFill/>
          <a:ln w="0">
            <a:noFill/>
          </a:ln>
        </p:spPr>
        <p:txBody>
          <a:bodyPr anchor="ctr">
            <a:noAutofit/>
          </a:bodyPr>
          <a:lstStyle/>
          <a:p>
            <a:pPr algn="ctr">
              <a:defRPr sz="4031" b="1">
                <a:solidFill>
                  <a:srgbClr val="11745A"/>
                </a:solidFill>
                <a:latin typeface="Arial"/>
                <a:ea typeface="Arial"/>
                <a:cs typeface="Arial"/>
              </a:defRPr>
            </a:pPr>
            <a:r>
              <a:rPr sz="4031" b="1">
                <a:solidFill>
                  <a:srgbClr val="11745A"/>
                </a:solidFill>
                <a:latin typeface="Arial"/>
                <a:ea typeface="Arial"/>
                <a:cs typeface="Arial"/>
              </a:rPr>
              <a:t>2</a:t>
            </a:r>
          </a:p>
        </p:txBody>
      </p:sp>
      <p:sp>
        <p:nvSpPr>
          <p:cNvPr id="19" name="object-19">
            <a:extLst>
              <a:ext uri="{FF2B5EF4-FFF2-40B4-BE49-F238E27FC236}">
                <a16:creationId xmlns:a16="http://schemas.microsoft.com/office/drawing/2014/main" id="{74189716-2013-44B1-9F7E-1AF1318F01FB}"/>
              </a:ext>
            </a:extLst>
          </p:cNvPr>
          <p:cNvSpPr>
            <a:spLocks noGrp="1"/>
          </p:cNvSpPr>
          <p:nvPr/>
        </p:nvSpPr>
        <p:spPr>
          <a:xfrm>
            <a:off x="1190625" y="5453063"/>
            <a:ext cx="6548438" cy="642938"/>
          </a:xfrm>
          <a:prstGeom prst="rect">
            <a:avLst/>
          </a:prstGeom>
          <a:noFill/>
          <a:ln w="0">
            <a:noFill/>
          </a:ln>
        </p:spPr>
        <p:txBody>
          <a:bodyPr anchor="ctr">
            <a:noAutofit/>
          </a:bodyPr>
          <a:lstStyle/>
          <a:p>
            <a:pPr algn="l">
              <a:defRPr sz="2906" b="1">
                <a:solidFill>
                  <a:srgbClr val="172B4D"/>
                </a:solidFill>
                <a:latin typeface="Arial"/>
                <a:ea typeface="Arial"/>
                <a:cs typeface="Arial"/>
              </a:defRPr>
            </a:pPr>
            <a:r>
              <a:rPr sz="2906" b="1">
                <a:solidFill>
                  <a:srgbClr val="172B4D"/>
                </a:solidFill>
                <a:latin typeface="Arial"/>
                <a:ea typeface="Arial"/>
                <a:cs typeface="Arial"/>
              </a:rPr>
              <a:t>12 fits into 27: 2 times</a:t>
            </a:r>
          </a:p>
        </p:txBody>
      </p:sp>
      <p:sp>
        <p:nvSpPr>
          <p:cNvPr id="20" name="object-20">
            <a:extLst>
              <a:ext uri="{FF2B5EF4-FFF2-40B4-BE49-F238E27FC236}">
                <a16:creationId xmlns:a16="http://schemas.microsoft.com/office/drawing/2014/main" id="{46CAED60-6D33-4583-8858-E6FB6BD15108}"/>
              </a:ext>
            </a:extLst>
          </p:cNvPr>
          <p:cNvSpPr>
            <a:spLocks noGrp="1"/>
          </p:cNvSpPr>
          <p:nvPr/>
        </p:nvSpPr>
        <p:spPr>
          <a:xfrm>
            <a:off x="7739063" y="5453063"/>
            <a:ext cx="6310313" cy="642938"/>
          </a:xfrm>
          <a:prstGeom prst="rect">
            <a:avLst/>
          </a:prstGeom>
          <a:noFill/>
          <a:ln w="0">
            <a:noFill/>
          </a:ln>
        </p:spPr>
        <p:txBody>
          <a:bodyPr anchor="ctr">
            <a:noAutofit/>
          </a:bodyPr>
          <a:lstStyle/>
          <a:p>
            <a:pPr algn="l">
              <a:defRPr sz="2906" b="1">
                <a:solidFill>
                  <a:srgbClr val="172B4D"/>
                </a:solidFill>
                <a:latin typeface="Arial"/>
                <a:ea typeface="Arial"/>
                <a:cs typeface="Arial"/>
              </a:defRPr>
            </a:pPr>
            <a:r>
              <a:rPr sz="2906" b="1">
                <a:solidFill>
                  <a:srgbClr val="172B4D"/>
                </a:solidFill>
                <a:latin typeface="Arial"/>
                <a:ea typeface="Arial"/>
                <a:cs typeface="Arial"/>
              </a:rPr>
              <a:t>27 − 24 = 3</a:t>
            </a:r>
          </a:p>
        </p:txBody>
      </p:sp>
      <p:sp>
        <p:nvSpPr>
          <p:cNvPr id="21" name="object-21">
            <a:extLst>
              <a:ext uri="{FF2B5EF4-FFF2-40B4-BE49-F238E27FC236}">
                <a16:creationId xmlns:a16="http://schemas.microsoft.com/office/drawing/2014/main" id="{08C5EED8-C6C5-4F22-90C0-3C39B645B3BC}"/>
              </a:ext>
            </a:extLst>
          </p:cNvPr>
          <p:cNvSpPr>
            <a:spLocks noGrp="1"/>
          </p:cNvSpPr>
          <p:nvPr/>
        </p:nvSpPr>
        <p:spPr>
          <a:xfrm>
            <a:off x="6488906" y="4036219"/>
            <a:ext cx="833438" cy="773906"/>
          </a:xfrm>
          <a:prstGeom prst="rect">
            <a:avLst/>
          </a:prstGeom>
          <a:noFill/>
          <a:ln w="0">
            <a:noFill/>
          </a:ln>
        </p:spPr>
        <p:txBody>
          <a:bodyPr anchor="ctr">
            <a:noAutofit/>
          </a:bodyPr>
          <a:lstStyle/>
          <a:p>
            <a:pPr algn="ctr">
              <a:defRPr sz="4125" b="1">
                <a:solidFill>
                  <a:srgbClr val="9A5800"/>
                </a:solidFill>
                <a:latin typeface="Arial"/>
                <a:ea typeface="Arial"/>
                <a:cs typeface="Arial"/>
              </a:defRPr>
            </a:pPr>
            <a:r>
              <a:rPr sz="4125" b="1">
                <a:solidFill>
                  <a:srgbClr val="9A5800"/>
                </a:solidFill>
                <a:latin typeface="Arial"/>
                <a:ea typeface="Arial"/>
                <a:cs typeface="Arial"/>
              </a:rPr>
              <a:t>6</a:t>
            </a:r>
          </a:p>
        </p:txBody>
      </p:sp>
      <p:sp>
        <p:nvSpPr>
          <p:cNvPr id="22" name="object-22">
            <a:extLst>
              <a:ext uri="{FF2B5EF4-FFF2-40B4-BE49-F238E27FC236}">
                <a16:creationId xmlns:a16="http://schemas.microsoft.com/office/drawing/2014/main" id="{6DC6240C-98E9-4520-B9F8-0E965629632F}"/>
              </a:ext>
            </a:extLst>
          </p:cNvPr>
          <p:cNvSpPr>
            <a:spLocks noGrp="1"/>
          </p:cNvSpPr>
          <p:nvPr/>
        </p:nvSpPr>
        <p:spPr>
          <a:xfrm>
            <a:off x="6488906" y="2857500"/>
            <a:ext cx="833438" cy="773906"/>
          </a:xfrm>
          <a:prstGeom prst="rect">
            <a:avLst/>
          </a:prstGeom>
          <a:noFill/>
          <a:ln w="0">
            <a:noFill/>
          </a:ln>
        </p:spPr>
        <p:txBody>
          <a:bodyPr anchor="ctr">
            <a:noAutofit/>
          </a:bodyPr>
          <a:lstStyle/>
          <a:p>
            <a:pPr algn="ctr">
              <a:defRPr sz="4031" b="1">
                <a:solidFill>
                  <a:srgbClr val="11745A"/>
                </a:solidFill>
                <a:latin typeface="Arial"/>
                <a:ea typeface="Arial"/>
                <a:cs typeface="Arial"/>
              </a:defRPr>
            </a:pPr>
            <a:r>
              <a:rPr sz="4031" b="1">
                <a:solidFill>
                  <a:srgbClr val="11745A"/>
                </a:solidFill>
                <a:latin typeface="Arial"/>
                <a:ea typeface="Arial"/>
                <a:cs typeface="Arial"/>
              </a:rPr>
              <a:t>3</a:t>
            </a:r>
          </a:p>
        </p:txBody>
      </p:sp>
      <p:sp>
        <p:nvSpPr>
          <p:cNvPr id="23" name="object-23">
            <a:extLst>
              <a:ext uri="{FF2B5EF4-FFF2-40B4-BE49-F238E27FC236}">
                <a16:creationId xmlns:a16="http://schemas.microsoft.com/office/drawing/2014/main" id="{2B90E83C-9937-4DD1-B67C-856CD046F964}"/>
              </a:ext>
            </a:extLst>
          </p:cNvPr>
          <p:cNvSpPr>
            <a:spLocks noGrp="1"/>
          </p:cNvSpPr>
          <p:nvPr/>
        </p:nvSpPr>
        <p:spPr>
          <a:xfrm>
            <a:off x="1190625" y="5453063"/>
            <a:ext cx="6548438" cy="642938"/>
          </a:xfrm>
          <a:prstGeom prst="rect">
            <a:avLst/>
          </a:prstGeom>
          <a:noFill/>
          <a:ln w="0">
            <a:noFill/>
          </a:ln>
        </p:spPr>
        <p:txBody>
          <a:bodyPr anchor="ctr">
            <a:noAutofit/>
          </a:bodyPr>
          <a:lstStyle/>
          <a:p>
            <a:pPr algn="l">
              <a:defRPr sz="2906" b="1">
                <a:solidFill>
                  <a:srgbClr val="172B4D"/>
                </a:solidFill>
                <a:latin typeface="Arial"/>
                <a:ea typeface="Arial"/>
                <a:cs typeface="Arial"/>
              </a:defRPr>
            </a:pPr>
            <a:r>
              <a:rPr sz="2906" b="1">
                <a:solidFill>
                  <a:srgbClr val="172B4D"/>
                </a:solidFill>
                <a:latin typeface="Arial"/>
                <a:ea typeface="Arial"/>
                <a:cs typeface="Arial"/>
              </a:rPr>
              <a:t>12 fits into 36: 3 times</a:t>
            </a:r>
          </a:p>
        </p:txBody>
      </p:sp>
      <p:sp>
        <p:nvSpPr>
          <p:cNvPr id="24" name="object-24">
            <a:extLst>
              <a:ext uri="{FF2B5EF4-FFF2-40B4-BE49-F238E27FC236}">
                <a16:creationId xmlns:a16="http://schemas.microsoft.com/office/drawing/2014/main" id="{56C7D761-BD0F-48AE-9F2C-64DDCE50C231}"/>
              </a:ext>
            </a:extLst>
          </p:cNvPr>
          <p:cNvSpPr>
            <a:spLocks noGrp="1"/>
          </p:cNvSpPr>
          <p:nvPr/>
        </p:nvSpPr>
        <p:spPr>
          <a:xfrm>
            <a:off x="7739063" y="5453063"/>
            <a:ext cx="6310313" cy="642938"/>
          </a:xfrm>
          <a:prstGeom prst="rect">
            <a:avLst/>
          </a:prstGeom>
          <a:noFill/>
          <a:ln w="0">
            <a:noFill/>
          </a:ln>
        </p:spPr>
        <p:txBody>
          <a:bodyPr anchor="ctr">
            <a:noAutofit/>
          </a:bodyPr>
          <a:lstStyle/>
          <a:p>
            <a:pPr algn="l">
              <a:defRPr sz="2906" b="1">
                <a:solidFill>
                  <a:srgbClr val="172B4D"/>
                </a:solidFill>
                <a:latin typeface="Arial"/>
                <a:ea typeface="Arial"/>
                <a:cs typeface="Arial"/>
              </a:defRPr>
            </a:pPr>
            <a:r>
              <a:rPr sz="2906" b="1">
                <a:solidFill>
                  <a:srgbClr val="172B4D"/>
                </a:solidFill>
                <a:latin typeface="Arial"/>
                <a:ea typeface="Arial"/>
                <a:cs typeface="Arial"/>
              </a:rPr>
              <a:t>36 − 36 = 0</a:t>
            </a:r>
          </a:p>
        </p:txBody>
      </p:sp>
      <p:sp>
        <p:nvSpPr>
          <p:cNvPr id="25" name="object-25">
            <a:extLst>
              <a:ext uri="{FF2B5EF4-FFF2-40B4-BE49-F238E27FC236}">
                <a16:creationId xmlns:a16="http://schemas.microsoft.com/office/drawing/2014/main" id="{25892135-0784-484B-A73D-0587EBDC9060}"/>
              </a:ext>
            </a:extLst>
          </p:cNvPr>
          <p:cNvSpPr>
            <a:spLocks noGrp="1"/>
          </p:cNvSpPr>
          <p:nvPr/>
        </p:nvSpPr>
        <p:spPr>
          <a:xfrm>
            <a:off x="892969" y="7227094"/>
            <a:ext cx="13454063" cy="738188"/>
          </a:xfrm>
          <a:prstGeom prst="rect">
            <a:avLst/>
          </a:prstGeom>
          <a:noFill/>
          <a:ln w="0">
            <a:noFill/>
          </a:ln>
        </p:spPr>
        <p:txBody>
          <a:bodyPr anchor="ctr">
            <a:noAutofit/>
          </a:bodyPr>
          <a:lstStyle/>
          <a:p>
            <a:pPr algn="ctr">
              <a:defRPr sz="2813" b="1">
                <a:solidFill>
                  <a:srgbClr val="11745A"/>
                </a:solidFill>
                <a:latin typeface="Arial"/>
                <a:ea typeface="Arial"/>
                <a:cs typeface="Arial"/>
              </a:defRPr>
            </a:pPr>
            <a:r>
              <a:rPr sz="2813" b="1">
                <a:solidFill>
                  <a:srgbClr val="11745A"/>
                </a:solidFill>
                <a:latin typeface="Arial"/>
                <a:ea typeface="Arial"/>
                <a:cs typeface="Arial"/>
              </a:rPr>
              <a:t>3,876 ÷ 12 = 323</a:t>
            </a:r>
          </a:p>
        </p:txBody>
      </p:sp>
    </p:spTree>
    <p:extLst>
      <p:ext uri="{BB962C8B-B14F-4D97-AF65-F5344CB8AC3E}">
        <p14:creationId xmlns:p14="http://schemas.microsoft.com/office/powerpoint/2010/main" val="14811451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childTnLst>
                          </p:cTn>
                        </p:par>
                        <p:par>
                          <p:cTn id="13" fill="hold">
                            <p:stCondLst>
                              <p:cond delay="0"/>
                            </p:stCondLst>
                            <p:childTnLst>
                              <p:par>
                                <p:cTn id="14" presetID="63" presetClass="path" presetSubtype="0" accel="50000" decel="50000" fill="hold" grpId="1" nodeType="afterEffect">
                                  <p:stCondLst>
                                    <p:cond delay="0"/>
                                  </p:stCondLst>
                                  <p:childTnLst>
                                    <p:animMotion origin="layout" path="M 0 0 L 0.296875 0.27083333 E" pathEditMode="relative" ptsTypes="">
                                      <p:cBhvr>
                                        <p:cTn id="15" dur="800" fill="hold"/>
                                        <p:tgtEl>
                                          <p:spTgt spid="17"/>
                                        </p:tgtEl>
                                        <p:attrNameLst>
                                          <p:attrName>ppt_x</p:attrName>
                                          <p:attrName>ppt_y</p:attrName>
                                        </p:attrNameLst>
                                      </p:cBhvr>
                                    </p:animMotion>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18"/>
                                        </p:tgtEl>
                                        <p:attrNameLst>
                                          <p:attrName>style.visibility</p:attrName>
                                        </p:attrNameLst>
                                      </p:cBhvr>
                                      <p:to>
                                        <p:strVal val="visible"/>
                                      </p:to>
                                    </p:set>
                                  </p:childTnLst>
                                </p:cTn>
                              </p:par>
                              <p:par>
                                <p:cTn id="20" presetID="1" presetClass="exit" presetSubtype="0" fill="hold" grpId="1" nodeType="withEffect">
                                  <p:stCondLst>
                                    <p:cond delay="0"/>
                                  </p:stCondLst>
                                  <p:childTnLst>
                                    <p:set>
                                      <p:cBhvr>
                                        <p:cTn id="21" dur="1" fill="hold">
                                          <p:stCondLst>
                                            <p:cond delay="0"/>
                                          </p:stCondLst>
                                        </p:cTn>
                                        <p:tgtEl>
                                          <p:spTgt spid="15"/>
                                        </p:tgtEl>
                                        <p:attrNameLst>
                                          <p:attrName>style.visibility</p:attrName>
                                        </p:attrNameLst>
                                      </p:cBhvr>
                                      <p:to>
                                        <p:strVal val="hidden"/>
                                      </p:to>
                                    </p:set>
                                  </p:childTnLst>
                                </p:cTn>
                              </p:par>
                              <p:par>
                                <p:cTn id="22" presetID="1" presetClass="exit" presetSubtype="0" fill="hold" grpId="1" nodeType="withEffect">
                                  <p:stCondLst>
                                    <p:cond delay="0"/>
                                  </p:stCondLst>
                                  <p:childTnLst>
                                    <p:set>
                                      <p:cBhvr>
                                        <p:cTn id="23" dur="1" fill="hold">
                                          <p:stCondLst>
                                            <p:cond delay="0"/>
                                          </p:stCondLst>
                                        </p:cTn>
                                        <p:tgtEl>
                                          <p:spTgt spid="16"/>
                                        </p:tgtEl>
                                        <p:attrNameLst>
                                          <p:attrName>style.visibility</p:attrName>
                                        </p:attrNameLst>
                                      </p:cBhvr>
                                      <p:to>
                                        <p:strVal val="hidden"/>
                                      </p:to>
                                    </p:set>
                                  </p:childTnLst>
                                </p:cTn>
                              </p:par>
                              <p:par>
                                <p:cTn id="24" presetID="1" presetClass="exit" presetSubtype="0" fill="hold" grpId="2" nodeType="withEffect">
                                  <p:stCondLst>
                                    <p:cond delay="0"/>
                                  </p:stCondLst>
                                  <p:childTnLst>
                                    <p:set>
                                      <p:cBhvr>
                                        <p:cTn id="25" dur="1" fill="hold">
                                          <p:stCondLst>
                                            <p:cond delay="0"/>
                                          </p:stCondLst>
                                        </p:cTn>
                                        <p:tgtEl>
                                          <p:spTgt spid="17"/>
                                        </p:tgtEl>
                                        <p:attrNameLst>
                                          <p:attrName>style.visibility</p:attrName>
                                        </p:attrNameLst>
                                      </p:cBhvr>
                                      <p:to>
                                        <p:strVal val="hidden"/>
                                      </p:to>
                                    </p:set>
                                  </p:childTnLst>
                                </p:cTn>
                              </p:par>
                              <p:par>
                                <p:cTn id="26" presetID="1" presetClass="entr" presetSubtype="0" fill="hold" grpId="0" nodeType="withEffect">
                                  <p:stCondLst>
                                    <p:cond delay="0"/>
                                  </p:stCondLst>
                                  <p:childTnLst>
                                    <p:set>
                                      <p:cBhvr>
                                        <p:cTn id="27" dur="1" fill="hold">
                                          <p:stCondLst>
                                            <p:cond delay="0"/>
                                          </p:stCondLst>
                                        </p:cTn>
                                        <p:tgtEl>
                                          <p:spTgt spid="19"/>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0"/>
                                        </p:tgtEl>
                                        <p:attrNameLst>
                                          <p:attrName>style.visibility</p:attrName>
                                        </p:attrNameLst>
                                      </p:cBhvr>
                                      <p:to>
                                        <p:strVal val="visible"/>
                                      </p:to>
                                    </p:set>
                                  </p:childTnLst>
                                </p:cTn>
                              </p:par>
                              <p:par>
                                <p:cTn id="30" presetID="1" presetClass="entr" presetSubtype="0" fill="hold" grpId="0" nodeType="withEffect">
                                  <p:stCondLst>
                                    <p:cond delay="0"/>
                                  </p:stCondLst>
                                  <p:childTnLst>
                                    <p:set>
                                      <p:cBhvr>
                                        <p:cTn id="31" dur="1" fill="hold">
                                          <p:stCondLst>
                                            <p:cond delay="0"/>
                                          </p:stCondLst>
                                        </p:cTn>
                                        <p:tgtEl>
                                          <p:spTgt spid="21"/>
                                        </p:tgtEl>
                                        <p:attrNameLst>
                                          <p:attrName>style.visibility</p:attrName>
                                        </p:attrNameLst>
                                      </p:cBhvr>
                                      <p:to>
                                        <p:strVal val="visible"/>
                                      </p:to>
                                    </p:set>
                                  </p:childTnLst>
                                </p:cTn>
                              </p:par>
                            </p:childTnLst>
                          </p:cTn>
                        </p:par>
                        <p:par>
                          <p:cTn id="32" fill="hold">
                            <p:stCondLst>
                              <p:cond delay="0"/>
                            </p:stCondLst>
                            <p:childTnLst>
                              <p:par>
                                <p:cTn id="33" presetID="63" presetClass="path" presetSubtype="0" accel="50000" decel="50000" fill="hold" grpId="1" nodeType="afterEffect">
                                  <p:stCondLst>
                                    <p:cond delay="0"/>
                                  </p:stCondLst>
                                  <p:childTnLst>
                                    <p:animMotion origin="layout" path="M 0 0 L 0.23828125 0.27083333 E" pathEditMode="relative" ptsTypes="">
                                      <p:cBhvr>
                                        <p:cTn id="34" dur="800" fill="hold"/>
                                        <p:tgtEl>
                                          <p:spTgt spid="21"/>
                                        </p:tgtEl>
                                        <p:attrNameLst>
                                          <p:attrName>ppt_x</p:attrName>
                                          <p:attrName>ppt_y</p:attrName>
                                        </p:attrNameLst>
                                      </p:cBhvr>
                                    </p:animMotion>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2"/>
                                        </p:tgtEl>
                                        <p:attrNameLst>
                                          <p:attrName>style.visibility</p:attrName>
                                        </p:attrNameLst>
                                      </p:cBhvr>
                                      <p:to>
                                        <p:strVal val="visible"/>
                                      </p:to>
                                    </p:set>
                                  </p:childTnLst>
                                </p:cTn>
                              </p:par>
                              <p:par>
                                <p:cTn id="39" presetID="1" presetClass="exit" presetSubtype="0" fill="hold" grpId="1" nodeType="withEffect">
                                  <p:stCondLst>
                                    <p:cond delay="0"/>
                                  </p:stCondLst>
                                  <p:childTnLst>
                                    <p:set>
                                      <p:cBhvr>
                                        <p:cTn id="40" dur="1" fill="hold">
                                          <p:stCondLst>
                                            <p:cond delay="0"/>
                                          </p:stCondLst>
                                        </p:cTn>
                                        <p:tgtEl>
                                          <p:spTgt spid="19"/>
                                        </p:tgtEl>
                                        <p:attrNameLst>
                                          <p:attrName>style.visibility</p:attrName>
                                        </p:attrNameLst>
                                      </p:cBhvr>
                                      <p:to>
                                        <p:strVal val="hidden"/>
                                      </p:to>
                                    </p:set>
                                  </p:childTnLst>
                                </p:cTn>
                              </p:par>
                              <p:par>
                                <p:cTn id="41" presetID="1" presetClass="exit" presetSubtype="0" fill="hold" grpId="1" nodeType="withEffect">
                                  <p:stCondLst>
                                    <p:cond delay="0"/>
                                  </p:stCondLst>
                                  <p:childTnLst>
                                    <p:set>
                                      <p:cBhvr>
                                        <p:cTn id="42" dur="1" fill="hold">
                                          <p:stCondLst>
                                            <p:cond delay="0"/>
                                          </p:stCondLst>
                                        </p:cTn>
                                        <p:tgtEl>
                                          <p:spTgt spid="20"/>
                                        </p:tgtEl>
                                        <p:attrNameLst>
                                          <p:attrName>style.visibility</p:attrName>
                                        </p:attrNameLst>
                                      </p:cBhvr>
                                      <p:to>
                                        <p:strVal val="hidden"/>
                                      </p:to>
                                    </p:set>
                                  </p:childTnLst>
                                </p:cTn>
                              </p:par>
                              <p:par>
                                <p:cTn id="43" presetID="1" presetClass="exit" presetSubtype="0" fill="hold" grpId="2" nodeType="withEffect">
                                  <p:stCondLst>
                                    <p:cond delay="0"/>
                                  </p:stCondLst>
                                  <p:childTnLst>
                                    <p:set>
                                      <p:cBhvr>
                                        <p:cTn id="44" dur="1" fill="hold">
                                          <p:stCondLst>
                                            <p:cond delay="0"/>
                                          </p:stCondLst>
                                        </p:cTn>
                                        <p:tgtEl>
                                          <p:spTgt spid="21"/>
                                        </p:tgtEl>
                                        <p:attrNameLst>
                                          <p:attrName>style.visibility</p:attrName>
                                        </p:attrNameLst>
                                      </p:cBhvr>
                                      <p:to>
                                        <p:strVal val="hidden"/>
                                      </p:to>
                                    </p:set>
                                  </p:childTnLst>
                                </p:cTn>
                              </p:par>
                              <p:par>
                                <p:cTn id="45" presetID="1" presetClass="entr" presetSubtype="0" fill="hold" grpId="0" nodeType="withEffect">
                                  <p:stCondLst>
                                    <p:cond delay="0"/>
                                  </p:stCondLst>
                                  <p:childTnLst>
                                    <p:set>
                                      <p:cBhvr>
                                        <p:cTn id="46" dur="1" fill="hold">
                                          <p:stCondLst>
                                            <p:cond delay="0"/>
                                          </p:stCondLst>
                                        </p:cTn>
                                        <p:tgtEl>
                                          <p:spTgt spid="23"/>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4"/>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P spid="15" grpId="1"/>
      <p:bldP spid="16" grpId="0"/>
      <p:bldP spid="16" grpId="1"/>
      <p:bldP spid="17" grpId="0"/>
      <p:bldP spid="17" grpId="1"/>
      <p:bldP spid="17" grpId="2"/>
      <p:bldP spid="18" grpId="0"/>
      <p:bldP spid="19" grpId="0"/>
      <p:bldP spid="19" grpId="1"/>
      <p:bldP spid="20" grpId="0"/>
      <p:bldP spid="20" grpId="1"/>
      <p:bldP spid="21" grpId="0"/>
      <p:bldP spid="21" grpId="1"/>
      <p:bldP spid="21" grpId="2"/>
      <p:bldP spid="22" grpId="0"/>
      <p:bldP spid="23" grpId="0"/>
      <p:bldP spid="24" grpId="0"/>
      <p:bldP spid="25"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 name="object-1">
            <a:extLst>
              <a:ext uri="{FF2B5EF4-FFF2-40B4-BE49-F238E27FC236}">
                <a16:creationId xmlns:a16="http://schemas.microsoft.com/office/drawing/2014/main" id="{C0D1F68C-F632-4B66-A30A-DFD9FDC7FC45}"/>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I do</a:t>
            </a:r>
          </a:p>
        </p:txBody>
      </p:sp>
      <p:sp>
        <p:nvSpPr>
          <p:cNvPr id="2" name="object-2">
            <a:extLst>
              <a:ext uri="{FF2B5EF4-FFF2-40B4-BE49-F238E27FC236}">
                <a16:creationId xmlns:a16="http://schemas.microsoft.com/office/drawing/2014/main" id="{63E260FB-D87E-4303-8E59-3797E43321D4}"/>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Calculate 4,008 ÷ 12.</a:t>
            </a:r>
          </a:p>
        </p:txBody>
      </p:sp>
      <p:sp>
        <p:nvSpPr>
          <p:cNvPr id="3" name="object-3">
            <a:extLst>
              <a:ext uri="{FF2B5EF4-FFF2-40B4-BE49-F238E27FC236}">
                <a16:creationId xmlns:a16="http://schemas.microsoft.com/office/drawing/2014/main" id="{8B0D9330-6658-47B3-9BC0-BB406B60366A}"/>
              </a:ext>
            </a:extLst>
          </p:cNvPr>
          <p:cNvSpPr>
            <a:spLocks noGrp="1"/>
          </p:cNvSpPr>
          <p:nvPr/>
        </p:nvSpPr>
        <p:spPr>
          <a:xfrm>
            <a:off x="654844" y="8012906"/>
            <a:ext cx="13930313" cy="11906"/>
          </a:xfrm>
          <a:prstGeom prst="rect">
            <a:avLst/>
          </a:prstGeom>
          <a:solidFill>
            <a:srgbClr val="BCD0EA"/>
          </a:solidFill>
          <a:ln w="0">
            <a:noFill/>
          </a:ln>
        </p:spPr>
      </p:sp>
      <p:sp>
        <p:nvSpPr>
          <p:cNvPr id="4" name="object-4">
            <a:extLst>
              <a:ext uri="{FF2B5EF4-FFF2-40B4-BE49-F238E27FC236}">
                <a16:creationId xmlns:a16="http://schemas.microsoft.com/office/drawing/2014/main" id="{DF4CDC6D-FDA7-42E7-9ECF-42D21E7F161C}"/>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Use short division with two-digit divisors</a:t>
            </a:r>
          </a:p>
        </p:txBody>
      </p:sp>
      <p:sp>
        <p:nvSpPr>
          <p:cNvPr id="5" name="object-5">
            <a:extLst>
              <a:ext uri="{FF2B5EF4-FFF2-40B4-BE49-F238E27FC236}">
                <a16:creationId xmlns:a16="http://schemas.microsoft.com/office/drawing/2014/main" id="{A7BFD689-026E-43E9-B1CA-50C7F9AA84D5}"/>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4</a:t>
            </a:r>
          </a:p>
        </p:txBody>
      </p:sp>
      <p:sp>
        <p:nvSpPr>
          <p:cNvPr id="6" name="object-6">
            <a:extLst>
              <a:ext uri="{FF2B5EF4-FFF2-40B4-BE49-F238E27FC236}">
                <a16:creationId xmlns:a16="http://schemas.microsoft.com/office/drawing/2014/main" id="{EC8151EC-FDA4-4DB7-A3ED-518D676FDDEB}"/>
              </a:ext>
            </a:extLst>
          </p:cNvPr>
          <p:cNvSpPr>
            <a:spLocks noGrp="1"/>
          </p:cNvSpPr>
          <p:nvPr/>
        </p:nvSpPr>
        <p:spPr>
          <a:xfrm>
            <a:off x="1785938" y="4012406"/>
            <a:ext cx="1428750" cy="833438"/>
          </a:xfrm>
          <a:prstGeom prst="rect">
            <a:avLst/>
          </a:prstGeom>
          <a:noFill/>
          <a:ln w="0">
            <a:noFill/>
          </a:ln>
        </p:spPr>
        <p:txBody>
          <a:bodyPr anchor="ctr">
            <a:noAutofit/>
          </a:bodyPr>
          <a:lstStyle/>
          <a:p>
            <a:pPr algn="ctr">
              <a:defRPr sz="4313" b="1">
                <a:solidFill>
                  <a:srgbClr val="1D4ED8"/>
                </a:solidFill>
                <a:latin typeface="Arial"/>
                <a:ea typeface="Arial"/>
                <a:cs typeface="Arial"/>
              </a:defRPr>
            </a:pPr>
            <a:r>
              <a:rPr sz="4313" b="1">
                <a:solidFill>
                  <a:srgbClr val="1D4ED8"/>
                </a:solidFill>
                <a:latin typeface="Arial"/>
                <a:ea typeface="Arial"/>
                <a:cs typeface="Arial"/>
              </a:rPr>
              <a:t>12</a:t>
            </a:r>
          </a:p>
        </p:txBody>
      </p:sp>
      <p:sp>
        <p:nvSpPr>
          <p:cNvPr id="7" name="object-7">
            <a:extLst>
              <a:ext uri="{FF2B5EF4-FFF2-40B4-BE49-F238E27FC236}">
                <a16:creationId xmlns:a16="http://schemas.microsoft.com/office/drawing/2014/main" id="{3CCB9E52-1556-4D8E-8603-BDE56D144384}"/>
              </a:ext>
            </a:extLst>
          </p:cNvPr>
          <p:cNvSpPr>
            <a:spLocks noGrp="1"/>
          </p:cNvSpPr>
          <p:nvPr/>
        </p:nvSpPr>
        <p:spPr>
          <a:xfrm>
            <a:off x="3393281" y="3833813"/>
            <a:ext cx="0" cy="1226344"/>
          </a:xfrm>
          <a:prstGeom prst="line">
            <a:avLst/>
          </a:prstGeom>
          <a:noFill/>
          <a:ln w="35719">
            <a:solidFill>
              <a:srgbClr val="172B4D"/>
            </a:solidFill>
          </a:ln>
        </p:spPr>
      </p:sp>
      <p:sp>
        <p:nvSpPr>
          <p:cNvPr id="8" name="object-8">
            <a:extLst>
              <a:ext uri="{FF2B5EF4-FFF2-40B4-BE49-F238E27FC236}">
                <a16:creationId xmlns:a16="http://schemas.microsoft.com/office/drawing/2014/main" id="{FE6D7BCC-A640-4036-87C1-2A28BA477F7F}"/>
              </a:ext>
            </a:extLst>
          </p:cNvPr>
          <p:cNvSpPr>
            <a:spLocks noGrp="1"/>
          </p:cNvSpPr>
          <p:nvPr/>
        </p:nvSpPr>
        <p:spPr>
          <a:xfrm>
            <a:off x="3393281" y="3833813"/>
            <a:ext cx="9644063" cy="35719"/>
          </a:xfrm>
          <a:prstGeom prst="rect">
            <a:avLst/>
          </a:prstGeom>
          <a:solidFill>
            <a:srgbClr val="172B4D"/>
          </a:solidFill>
          <a:ln w="0">
            <a:noFill/>
          </a:ln>
        </p:spPr>
      </p:sp>
      <p:sp>
        <p:nvSpPr>
          <p:cNvPr id="9" name="object-9">
            <a:extLst>
              <a:ext uri="{FF2B5EF4-FFF2-40B4-BE49-F238E27FC236}">
                <a16:creationId xmlns:a16="http://schemas.microsoft.com/office/drawing/2014/main" id="{69AD84A1-FF5C-4DA0-AB2A-30782FD82B2E}"/>
              </a:ext>
            </a:extLst>
          </p:cNvPr>
          <p:cNvSpPr>
            <a:spLocks noGrp="1"/>
          </p:cNvSpPr>
          <p:nvPr/>
        </p:nvSpPr>
        <p:spPr>
          <a:xfrm>
            <a:off x="3810000" y="4036219"/>
            <a:ext cx="833438" cy="773906"/>
          </a:xfrm>
          <a:prstGeom prst="rect">
            <a:avLst/>
          </a:prstGeom>
          <a:noFill/>
          <a:ln w="0">
            <a:noFill/>
          </a:ln>
        </p:spPr>
        <p:txBody>
          <a:bodyPr anchor="ctr">
            <a:noAutofit/>
          </a:bodyPr>
          <a:lstStyle/>
          <a:p>
            <a:pPr algn="ctr">
              <a:defRPr sz="4125" b="1">
                <a:solidFill>
                  <a:srgbClr val="1D4ED8"/>
                </a:solidFill>
                <a:latin typeface="Arial"/>
                <a:ea typeface="Arial"/>
                <a:cs typeface="Arial"/>
              </a:defRPr>
            </a:pPr>
            <a:r>
              <a:rPr sz="4125" b="1">
                <a:solidFill>
                  <a:srgbClr val="1D4ED8"/>
                </a:solidFill>
                <a:latin typeface="Arial"/>
                <a:ea typeface="Arial"/>
                <a:cs typeface="Arial"/>
              </a:rPr>
              <a:t>4</a:t>
            </a:r>
          </a:p>
        </p:txBody>
      </p:sp>
      <p:sp>
        <p:nvSpPr>
          <p:cNvPr id="10" name="object-10">
            <a:extLst>
              <a:ext uri="{FF2B5EF4-FFF2-40B4-BE49-F238E27FC236}">
                <a16:creationId xmlns:a16="http://schemas.microsoft.com/office/drawing/2014/main" id="{1422DB6F-6B08-4702-8375-D6500B989847}"/>
              </a:ext>
            </a:extLst>
          </p:cNvPr>
          <p:cNvSpPr>
            <a:spLocks noGrp="1"/>
          </p:cNvSpPr>
          <p:nvPr/>
        </p:nvSpPr>
        <p:spPr>
          <a:xfrm>
            <a:off x="4702969" y="4036219"/>
            <a:ext cx="833438" cy="773906"/>
          </a:xfrm>
          <a:prstGeom prst="rect">
            <a:avLst/>
          </a:prstGeom>
          <a:noFill/>
          <a:ln w="0">
            <a:noFill/>
          </a:ln>
        </p:spPr>
        <p:txBody>
          <a:bodyPr anchor="ctr">
            <a:noAutofit/>
          </a:bodyPr>
          <a:lstStyle/>
          <a:p>
            <a:pPr algn="ctr">
              <a:defRPr sz="4125" b="1">
                <a:solidFill>
                  <a:srgbClr val="1D4ED8"/>
                </a:solidFill>
                <a:latin typeface="Arial"/>
                <a:ea typeface="Arial"/>
                <a:cs typeface="Arial"/>
              </a:defRPr>
            </a:pPr>
            <a:r>
              <a:rPr sz="4125" b="1">
                <a:solidFill>
                  <a:srgbClr val="1D4ED8"/>
                </a:solidFill>
                <a:latin typeface="Arial"/>
                <a:ea typeface="Arial"/>
                <a:cs typeface="Arial"/>
              </a:rPr>
              <a:t>0</a:t>
            </a:r>
          </a:p>
        </p:txBody>
      </p:sp>
      <p:sp>
        <p:nvSpPr>
          <p:cNvPr id="11" name="object-11">
            <a:extLst>
              <a:ext uri="{FF2B5EF4-FFF2-40B4-BE49-F238E27FC236}">
                <a16:creationId xmlns:a16="http://schemas.microsoft.com/office/drawing/2014/main" id="{EEA17323-E879-496C-A43F-4158008F22E8}"/>
              </a:ext>
            </a:extLst>
          </p:cNvPr>
          <p:cNvSpPr>
            <a:spLocks noGrp="1"/>
          </p:cNvSpPr>
          <p:nvPr/>
        </p:nvSpPr>
        <p:spPr>
          <a:xfrm>
            <a:off x="5595938" y="4036219"/>
            <a:ext cx="833438" cy="773906"/>
          </a:xfrm>
          <a:prstGeom prst="rect">
            <a:avLst/>
          </a:prstGeom>
          <a:noFill/>
          <a:ln w="0">
            <a:noFill/>
          </a:ln>
        </p:spPr>
        <p:txBody>
          <a:bodyPr anchor="ctr">
            <a:noAutofit/>
          </a:bodyPr>
          <a:lstStyle/>
          <a:p>
            <a:pPr algn="ctr">
              <a:defRPr sz="4125" b="1">
                <a:solidFill>
                  <a:srgbClr val="1D4ED8"/>
                </a:solidFill>
                <a:latin typeface="Arial"/>
                <a:ea typeface="Arial"/>
                <a:cs typeface="Arial"/>
              </a:defRPr>
            </a:pPr>
            <a:r>
              <a:rPr sz="4125" b="1">
                <a:solidFill>
                  <a:srgbClr val="1D4ED8"/>
                </a:solidFill>
                <a:latin typeface="Arial"/>
                <a:ea typeface="Arial"/>
                <a:cs typeface="Arial"/>
              </a:rPr>
              <a:t>0</a:t>
            </a:r>
          </a:p>
        </p:txBody>
      </p:sp>
      <p:sp>
        <p:nvSpPr>
          <p:cNvPr id="12" name="object-12">
            <a:extLst>
              <a:ext uri="{FF2B5EF4-FFF2-40B4-BE49-F238E27FC236}">
                <a16:creationId xmlns:a16="http://schemas.microsoft.com/office/drawing/2014/main" id="{EA0E8955-D432-452D-B5CE-392147B532E9}"/>
              </a:ext>
            </a:extLst>
          </p:cNvPr>
          <p:cNvSpPr>
            <a:spLocks noGrp="1"/>
          </p:cNvSpPr>
          <p:nvPr/>
        </p:nvSpPr>
        <p:spPr>
          <a:xfrm>
            <a:off x="6488906" y="4036219"/>
            <a:ext cx="833438" cy="773906"/>
          </a:xfrm>
          <a:prstGeom prst="rect">
            <a:avLst/>
          </a:prstGeom>
          <a:noFill/>
          <a:ln w="0">
            <a:noFill/>
          </a:ln>
        </p:spPr>
        <p:txBody>
          <a:bodyPr anchor="ctr">
            <a:noAutofit/>
          </a:bodyPr>
          <a:lstStyle/>
          <a:p>
            <a:pPr algn="ctr">
              <a:defRPr sz="4125" b="1">
                <a:solidFill>
                  <a:srgbClr val="1D4ED8"/>
                </a:solidFill>
                <a:latin typeface="Arial"/>
                <a:ea typeface="Arial"/>
                <a:cs typeface="Arial"/>
              </a:defRPr>
            </a:pPr>
            <a:r>
              <a:rPr sz="4125" b="1">
                <a:solidFill>
                  <a:srgbClr val="1D4ED8"/>
                </a:solidFill>
                <a:latin typeface="Arial"/>
                <a:ea typeface="Arial"/>
                <a:cs typeface="Arial"/>
              </a:rPr>
              <a:t>8</a:t>
            </a:r>
          </a:p>
        </p:txBody>
      </p:sp>
      <p:sp>
        <p:nvSpPr>
          <p:cNvPr id="13" name="object-13">
            <a:extLst>
              <a:ext uri="{FF2B5EF4-FFF2-40B4-BE49-F238E27FC236}">
                <a16:creationId xmlns:a16="http://schemas.microsoft.com/office/drawing/2014/main" id="{1A7B7932-E52E-4C3E-A8FE-A6375C24D958}"/>
              </a:ext>
            </a:extLst>
          </p:cNvPr>
          <p:cNvSpPr>
            <a:spLocks noGrp="1"/>
          </p:cNvSpPr>
          <p:nvPr/>
        </p:nvSpPr>
        <p:spPr>
          <a:xfrm>
            <a:off x="4702969" y="2857500"/>
            <a:ext cx="833438" cy="773906"/>
          </a:xfrm>
          <a:prstGeom prst="rect">
            <a:avLst/>
          </a:prstGeom>
          <a:noFill/>
          <a:ln w="0">
            <a:noFill/>
          </a:ln>
        </p:spPr>
        <p:txBody>
          <a:bodyPr anchor="ctr">
            <a:noAutofit/>
          </a:bodyPr>
          <a:lstStyle/>
          <a:p>
            <a:pPr algn="ctr">
              <a:defRPr sz="4031" b="1">
                <a:solidFill>
                  <a:srgbClr val="11745A"/>
                </a:solidFill>
                <a:latin typeface="Arial"/>
                <a:ea typeface="Arial"/>
                <a:cs typeface="Arial"/>
              </a:defRPr>
            </a:pPr>
            <a:r>
              <a:rPr sz="4031" b="1">
                <a:solidFill>
                  <a:srgbClr val="11745A"/>
                </a:solidFill>
                <a:latin typeface="Arial"/>
                <a:ea typeface="Arial"/>
                <a:cs typeface="Arial"/>
              </a:rPr>
              <a:t>3</a:t>
            </a:r>
          </a:p>
        </p:txBody>
      </p:sp>
      <p:sp>
        <p:nvSpPr>
          <p:cNvPr id="14" name="object-14">
            <a:extLst>
              <a:ext uri="{FF2B5EF4-FFF2-40B4-BE49-F238E27FC236}">
                <a16:creationId xmlns:a16="http://schemas.microsoft.com/office/drawing/2014/main" id="{84A7CEBE-B9E2-409B-BBCE-5387515BF83F}"/>
              </a:ext>
            </a:extLst>
          </p:cNvPr>
          <p:cNvSpPr>
            <a:spLocks noGrp="1"/>
          </p:cNvSpPr>
          <p:nvPr/>
        </p:nvSpPr>
        <p:spPr>
          <a:xfrm>
            <a:off x="1190625" y="5453063"/>
            <a:ext cx="6548438" cy="642938"/>
          </a:xfrm>
          <a:prstGeom prst="rect">
            <a:avLst/>
          </a:prstGeom>
          <a:noFill/>
          <a:ln w="0">
            <a:noFill/>
          </a:ln>
        </p:spPr>
        <p:txBody>
          <a:bodyPr anchor="ctr">
            <a:noAutofit/>
          </a:bodyPr>
          <a:lstStyle/>
          <a:p>
            <a:pPr algn="l">
              <a:defRPr sz="2906" b="1">
                <a:solidFill>
                  <a:srgbClr val="172B4D"/>
                </a:solidFill>
                <a:latin typeface="Arial"/>
                <a:ea typeface="Arial"/>
                <a:cs typeface="Arial"/>
              </a:defRPr>
            </a:pPr>
            <a:r>
              <a:rPr sz="2906" b="1">
                <a:solidFill>
                  <a:srgbClr val="172B4D"/>
                </a:solidFill>
                <a:latin typeface="Arial"/>
                <a:ea typeface="Arial"/>
                <a:cs typeface="Arial"/>
              </a:rPr>
              <a:t>12 fits into 40: 3 times</a:t>
            </a:r>
          </a:p>
        </p:txBody>
      </p:sp>
      <p:sp>
        <p:nvSpPr>
          <p:cNvPr id="15" name="object-15">
            <a:extLst>
              <a:ext uri="{FF2B5EF4-FFF2-40B4-BE49-F238E27FC236}">
                <a16:creationId xmlns:a16="http://schemas.microsoft.com/office/drawing/2014/main" id="{ED2A70FA-BDE6-459C-8EB0-FF55BE7AAB11}"/>
              </a:ext>
            </a:extLst>
          </p:cNvPr>
          <p:cNvSpPr>
            <a:spLocks noGrp="1"/>
          </p:cNvSpPr>
          <p:nvPr/>
        </p:nvSpPr>
        <p:spPr>
          <a:xfrm>
            <a:off x="7739063" y="5453063"/>
            <a:ext cx="6310313" cy="642938"/>
          </a:xfrm>
          <a:prstGeom prst="rect">
            <a:avLst/>
          </a:prstGeom>
          <a:noFill/>
          <a:ln w="0">
            <a:noFill/>
          </a:ln>
        </p:spPr>
        <p:txBody>
          <a:bodyPr anchor="ctr">
            <a:noAutofit/>
          </a:bodyPr>
          <a:lstStyle/>
          <a:p>
            <a:pPr algn="l">
              <a:defRPr sz="2906" b="1">
                <a:solidFill>
                  <a:srgbClr val="172B4D"/>
                </a:solidFill>
                <a:latin typeface="Arial"/>
                <a:ea typeface="Arial"/>
                <a:cs typeface="Arial"/>
              </a:defRPr>
            </a:pPr>
            <a:r>
              <a:rPr sz="2906" b="1">
                <a:solidFill>
                  <a:srgbClr val="172B4D"/>
                </a:solidFill>
                <a:latin typeface="Arial"/>
                <a:ea typeface="Arial"/>
                <a:cs typeface="Arial"/>
              </a:rPr>
              <a:t>40 − 36 = 4</a:t>
            </a:r>
          </a:p>
        </p:txBody>
      </p:sp>
      <p:sp>
        <p:nvSpPr>
          <p:cNvPr id="16" name="object-16">
            <a:extLst>
              <a:ext uri="{FF2B5EF4-FFF2-40B4-BE49-F238E27FC236}">
                <a16:creationId xmlns:a16="http://schemas.microsoft.com/office/drawing/2014/main" id="{D00E2850-1A17-4370-B999-07E8CC7774C3}"/>
              </a:ext>
            </a:extLst>
          </p:cNvPr>
          <p:cNvSpPr>
            <a:spLocks noGrp="1"/>
          </p:cNvSpPr>
          <p:nvPr/>
        </p:nvSpPr>
        <p:spPr>
          <a:xfrm>
            <a:off x="5595938" y="4036219"/>
            <a:ext cx="833438" cy="773906"/>
          </a:xfrm>
          <a:prstGeom prst="rect">
            <a:avLst/>
          </a:prstGeom>
          <a:noFill/>
          <a:ln w="0">
            <a:noFill/>
          </a:ln>
        </p:spPr>
        <p:txBody>
          <a:bodyPr anchor="ctr">
            <a:noAutofit/>
          </a:bodyPr>
          <a:lstStyle/>
          <a:p>
            <a:pPr algn="ctr">
              <a:defRPr sz="4125" b="1">
                <a:solidFill>
                  <a:srgbClr val="9A5800"/>
                </a:solidFill>
                <a:latin typeface="Arial"/>
                <a:ea typeface="Arial"/>
                <a:cs typeface="Arial"/>
              </a:defRPr>
            </a:pPr>
            <a:r>
              <a:rPr sz="4125" b="1">
                <a:solidFill>
                  <a:srgbClr val="9A5800"/>
                </a:solidFill>
                <a:latin typeface="Arial"/>
                <a:ea typeface="Arial"/>
                <a:cs typeface="Arial"/>
              </a:rPr>
              <a:t>0</a:t>
            </a:r>
          </a:p>
        </p:txBody>
      </p:sp>
      <p:sp>
        <p:nvSpPr>
          <p:cNvPr id="17" name="object-17">
            <a:extLst>
              <a:ext uri="{FF2B5EF4-FFF2-40B4-BE49-F238E27FC236}">
                <a16:creationId xmlns:a16="http://schemas.microsoft.com/office/drawing/2014/main" id="{2AC505A8-E358-4F94-BFCD-417AC4BC9808}"/>
              </a:ext>
            </a:extLst>
          </p:cNvPr>
          <p:cNvSpPr>
            <a:spLocks noGrp="1"/>
          </p:cNvSpPr>
          <p:nvPr/>
        </p:nvSpPr>
        <p:spPr>
          <a:xfrm>
            <a:off x="5595938" y="2857500"/>
            <a:ext cx="833438" cy="773906"/>
          </a:xfrm>
          <a:prstGeom prst="rect">
            <a:avLst/>
          </a:prstGeom>
          <a:noFill/>
          <a:ln w="0">
            <a:noFill/>
          </a:ln>
        </p:spPr>
        <p:txBody>
          <a:bodyPr anchor="ctr">
            <a:noAutofit/>
          </a:bodyPr>
          <a:lstStyle/>
          <a:p>
            <a:pPr algn="ctr">
              <a:defRPr sz="4031" b="1">
                <a:solidFill>
                  <a:srgbClr val="11745A"/>
                </a:solidFill>
                <a:latin typeface="Arial"/>
                <a:ea typeface="Arial"/>
                <a:cs typeface="Arial"/>
              </a:defRPr>
            </a:pPr>
            <a:r>
              <a:rPr sz="4031" b="1">
                <a:solidFill>
                  <a:srgbClr val="11745A"/>
                </a:solidFill>
                <a:latin typeface="Arial"/>
                <a:ea typeface="Arial"/>
                <a:cs typeface="Arial"/>
              </a:rPr>
              <a:t>3</a:t>
            </a:r>
          </a:p>
        </p:txBody>
      </p:sp>
      <p:sp>
        <p:nvSpPr>
          <p:cNvPr id="18" name="object-18">
            <a:extLst>
              <a:ext uri="{FF2B5EF4-FFF2-40B4-BE49-F238E27FC236}">
                <a16:creationId xmlns:a16="http://schemas.microsoft.com/office/drawing/2014/main" id="{2E1670B2-D02D-4A89-A392-DB5B8CDB1ABC}"/>
              </a:ext>
            </a:extLst>
          </p:cNvPr>
          <p:cNvSpPr>
            <a:spLocks noGrp="1"/>
          </p:cNvSpPr>
          <p:nvPr/>
        </p:nvSpPr>
        <p:spPr>
          <a:xfrm>
            <a:off x="1190625" y="5453063"/>
            <a:ext cx="6548438" cy="642938"/>
          </a:xfrm>
          <a:prstGeom prst="rect">
            <a:avLst/>
          </a:prstGeom>
          <a:noFill/>
          <a:ln w="0">
            <a:noFill/>
          </a:ln>
        </p:spPr>
        <p:txBody>
          <a:bodyPr anchor="ctr">
            <a:noAutofit/>
          </a:bodyPr>
          <a:lstStyle/>
          <a:p>
            <a:pPr algn="l">
              <a:defRPr sz="2906" b="1">
                <a:solidFill>
                  <a:srgbClr val="172B4D"/>
                </a:solidFill>
                <a:latin typeface="Arial"/>
                <a:ea typeface="Arial"/>
                <a:cs typeface="Arial"/>
              </a:defRPr>
            </a:pPr>
            <a:r>
              <a:rPr sz="2906" b="1">
                <a:solidFill>
                  <a:srgbClr val="172B4D"/>
                </a:solidFill>
                <a:latin typeface="Arial"/>
                <a:ea typeface="Arial"/>
                <a:cs typeface="Arial"/>
              </a:rPr>
              <a:t>12 fits into 40: 3 times</a:t>
            </a:r>
          </a:p>
        </p:txBody>
      </p:sp>
      <p:sp>
        <p:nvSpPr>
          <p:cNvPr id="19" name="object-19">
            <a:extLst>
              <a:ext uri="{FF2B5EF4-FFF2-40B4-BE49-F238E27FC236}">
                <a16:creationId xmlns:a16="http://schemas.microsoft.com/office/drawing/2014/main" id="{D8E96E95-6807-4F4D-BCA6-9E2CB49F0E3B}"/>
              </a:ext>
            </a:extLst>
          </p:cNvPr>
          <p:cNvSpPr>
            <a:spLocks noGrp="1"/>
          </p:cNvSpPr>
          <p:nvPr/>
        </p:nvSpPr>
        <p:spPr>
          <a:xfrm>
            <a:off x="7739063" y="5453063"/>
            <a:ext cx="6310313" cy="642938"/>
          </a:xfrm>
          <a:prstGeom prst="rect">
            <a:avLst/>
          </a:prstGeom>
          <a:noFill/>
          <a:ln w="0">
            <a:noFill/>
          </a:ln>
        </p:spPr>
        <p:txBody>
          <a:bodyPr anchor="ctr">
            <a:noAutofit/>
          </a:bodyPr>
          <a:lstStyle/>
          <a:p>
            <a:pPr algn="l">
              <a:defRPr sz="2906" b="1">
                <a:solidFill>
                  <a:srgbClr val="172B4D"/>
                </a:solidFill>
                <a:latin typeface="Arial"/>
                <a:ea typeface="Arial"/>
                <a:cs typeface="Arial"/>
              </a:defRPr>
            </a:pPr>
            <a:r>
              <a:rPr sz="2906" b="1">
                <a:solidFill>
                  <a:srgbClr val="172B4D"/>
                </a:solidFill>
                <a:latin typeface="Arial"/>
                <a:ea typeface="Arial"/>
                <a:cs typeface="Arial"/>
              </a:rPr>
              <a:t>40 − 36 = 4</a:t>
            </a:r>
          </a:p>
        </p:txBody>
      </p:sp>
      <p:sp>
        <p:nvSpPr>
          <p:cNvPr id="20" name="object-20">
            <a:extLst>
              <a:ext uri="{FF2B5EF4-FFF2-40B4-BE49-F238E27FC236}">
                <a16:creationId xmlns:a16="http://schemas.microsoft.com/office/drawing/2014/main" id="{A8B5197B-2794-41B9-847F-1BA490D96720}"/>
              </a:ext>
            </a:extLst>
          </p:cNvPr>
          <p:cNvSpPr>
            <a:spLocks noGrp="1"/>
          </p:cNvSpPr>
          <p:nvPr/>
        </p:nvSpPr>
        <p:spPr>
          <a:xfrm>
            <a:off x="6488906" y="4036219"/>
            <a:ext cx="833438" cy="773906"/>
          </a:xfrm>
          <a:prstGeom prst="rect">
            <a:avLst/>
          </a:prstGeom>
          <a:noFill/>
          <a:ln w="0">
            <a:noFill/>
          </a:ln>
        </p:spPr>
        <p:txBody>
          <a:bodyPr anchor="ctr">
            <a:noAutofit/>
          </a:bodyPr>
          <a:lstStyle/>
          <a:p>
            <a:pPr algn="ctr">
              <a:defRPr sz="4125" b="1">
                <a:solidFill>
                  <a:srgbClr val="9A5800"/>
                </a:solidFill>
                <a:latin typeface="Arial"/>
                <a:ea typeface="Arial"/>
                <a:cs typeface="Arial"/>
              </a:defRPr>
            </a:pPr>
            <a:r>
              <a:rPr sz="4125" b="1">
                <a:solidFill>
                  <a:srgbClr val="9A5800"/>
                </a:solidFill>
                <a:latin typeface="Arial"/>
                <a:ea typeface="Arial"/>
                <a:cs typeface="Arial"/>
              </a:rPr>
              <a:t>8</a:t>
            </a:r>
          </a:p>
        </p:txBody>
      </p:sp>
      <p:sp>
        <p:nvSpPr>
          <p:cNvPr id="21" name="object-21">
            <a:extLst>
              <a:ext uri="{FF2B5EF4-FFF2-40B4-BE49-F238E27FC236}">
                <a16:creationId xmlns:a16="http://schemas.microsoft.com/office/drawing/2014/main" id="{C81014A8-1FC2-4B7F-BAAE-06F2AD81B953}"/>
              </a:ext>
            </a:extLst>
          </p:cNvPr>
          <p:cNvSpPr>
            <a:spLocks noGrp="1"/>
          </p:cNvSpPr>
          <p:nvPr/>
        </p:nvSpPr>
        <p:spPr>
          <a:xfrm>
            <a:off x="6488906" y="2857500"/>
            <a:ext cx="833438" cy="773906"/>
          </a:xfrm>
          <a:prstGeom prst="rect">
            <a:avLst/>
          </a:prstGeom>
          <a:noFill/>
          <a:ln w="0">
            <a:noFill/>
          </a:ln>
        </p:spPr>
        <p:txBody>
          <a:bodyPr anchor="ctr">
            <a:noAutofit/>
          </a:bodyPr>
          <a:lstStyle/>
          <a:p>
            <a:pPr algn="ctr">
              <a:defRPr sz="4031" b="1">
                <a:solidFill>
                  <a:srgbClr val="11745A"/>
                </a:solidFill>
                <a:latin typeface="Arial"/>
                <a:ea typeface="Arial"/>
                <a:cs typeface="Arial"/>
              </a:defRPr>
            </a:pPr>
            <a:r>
              <a:rPr sz="4031" b="1">
                <a:solidFill>
                  <a:srgbClr val="11745A"/>
                </a:solidFill>
                <a:latin typeface="Arial"/>
                <a:ea typeface="Arial"/>
                <a:cs typeface="Arial"/>
              </a:rPr>
              <a:t>4</a:t>
            </a:r>
          </a:p>
        </p:txBody>
      </p:sp>
      <p:sp>
        <p:nvSpPr>
          <p:cNvPr id="22" name="object-22">
            <a:extLst>
              <a:ext uri="{FF2B5EF4-FFF2-40B4-BE49-F238E27FC236}">
                <a16:creationId xmlns:a16="http://schemas.microsoft.com/office/drawing/2014/main" id="{1BE942B1-2153-4512-A0C1-AA95465A3DBD}"/>
              </a:ext>
            </a:extLst>
          </p:cNvPr>
          <p:cNvSpPr>
            <a:spLocks noGrp="1"/>
          </p:cNvSpPr>
          <p:nvPr/>
        </p:nvSpPr>
        <p:spPr>
          <a:xfrm>
            <a:off x="1190625" y="5453063"/>
            <a:ext cx="6548438" cy="642938"/>
          </a:xfrm>
          <a:prstGeom prst="rect">
            <a:avLst/>
          </a:prstGeom>
          <a:noFill/>
          <a:ln w="0">
            <a:noFill/>
          </a:ln>
        </p:spPr>
        <p:txBody>
          <a:bodyPr anchor="ctr">
            <a:noAutofit/>
          </a:bodyPr>
          <a:lstStyle/>
          <a:p>
            <a:pPr algn="l">
              <a:defRPr sz="2906" b="1">
                <a:solidFill>
                  <a:srgbClr val="172B4D"/>
                </a:solidFill>
                <a:latin typeface="Arial"/>
                <a:ea typeface="Arial"/>
                <a:cs typeface="Arial"/>
              </a:defRPr>
            </a:pPr>
            <a:r>
              <a:rPr sz="2906" b="1">
                <a:solidFill>
                  <a:srgbClr val="172B4D"/>
                </a:solidFill>
                <a:latin typeface="Arial"/>
                <a:ea typeface="Arial"/>
                <a:cs typeface="Arial"/>
              </a:rPr>
              <a:t>12 fits into 48: 4 times</a:t>
            </a:r>
          </a:p>
        </p:txBody>
      </p:sp>
      <p:sp>
        <p:nvSpPr>
          <p:cNvPr id="23" name="object-23">
            <a:extLst>
              <a:ext uri="{FF2B5EF4-FFF2-40B4-BE49-F238E27FC236}">
                <a16:creationId xmlns:a16="http://schemas.microsoft.com/office/drawing/2014/main" id="{B1651346-AAAE-4D7B-8F65-B96BF5A25651}"/>
              </a:ext>
            </a:extLst>
          </p:cNvPr>
          <p:cNvSpPr>
            <a:spLocks noGrp="1"/>
          </p:cNvSpPr>
          <p:nvPr/>
        </p:nvSpPr>
        <p:spPr>
          <a:xfrm>
            <a:off x="7739063" y="5453063"/>
            <a:ext cx="6310313" cy="642938"/>
          </a:xfrm>
          <a:prstGeom prst="rect">
            <a:avLst/>
          </a:prstGeom>
          <a:noFill/>
          <a:ln w="0">
            <a:noFill/>
          </a:ln>
        </p:spPr>
        <p:txBody>
          <a:bodyPr anchor="ctr">
            <a:noAutofit/>
          </a:bodyPr>
          <a:lstStyle/>
          <a:p>
            <a:pPr algn="l">
              <a:defRPr sz="2906" b="1">
                <a:solidFill>
                  <a:srgbClr val="172B4D"/>
                </a:solidFill>
                <a:latin typeface="Arial"/>
                <a:ea typeface="Arial"/>
                <a:cs typeface="Arial"/>
              </a:defRPr>
            </a:pPr>
            <a:r>
              <a:rPr sz="2906" b="1">
                <a:solidFill>
                  <a:srgbClr val="172B4D"/>
                </a:solidFill>
                <a:latin typeface="Arial"/>
                <a:ea typeface="Arial"/>
                <a:cs typeface="Arial"/>
              </a:rPr>
              <a:t>48 − 48 = 0</a:t>
            </a:r>
          </a:p>
        </p:txBody>
      </p:sp>
      <p:sp>
        <p:nvSpPr>
          <p:cNvPr id="24" name="object-24">
            <a:extLst>
              <a:ext uri="{FF2B5EF4-FFF2-40B4-BE49-F238E27FC236}">
                <a16:creationId xmlns:a16="http://schemas.microsoft.com/office/drawing/2014/main" id="{05A4030D-4D16-4834-8F5E-69BC9031E689}"/>
              </a:ext>
            </a:extLst>
          </p:cNvPr>
          <p:cNvSpPr>
            <a:spLocks noGrp="1"/>
          </p:cNvSpPr>
          <p:nvPr/>
        </p:nvSpPr>
        <p:spPr>
          <a:xfrm>
            <a:off x="892969" y="7227094"/>
            <a:ext cx="13454063" cy="738188"/>
          </a:xfrm>
          <a:prstGeom prst="rect">
            <a:avLst/>
          </a:prstGeom>
          <a:noFill/>
          <a:ln w="0">
            <a:noFill/>
          </a:ln>
        </p:spPr>
        <p:txBody>
          <a:bodyPr anchor="ctr">
            <a:noAutofit/>
          </a:bodyPr>
          <a:lstStyle/>
          <a:p>
            <a:pPr algn="ctr">
              <a:defRPr sz="2813" b="1">
                <a:solidFill>
                  <a:srgbClr val="11745A"/>
                </a:solidFill>
                <a:latin typeface="Arial"/>
                <a:ea typeface="Arial"/>
                <a:cs typeface="Arial"/>
              </a:defRPr>
            </a:pPr>
            <a:r>
              <a:rPr sz="2813" b="1">
                <a:solidFill>
                  <a:srgbClr val="11745A"/>
                </a:solidFill>
                <a:latin typeface="Arial"/>
                <a:ea typeface="Arial"/>
                <a:cs typeface="Arial"/>
              </a:rPr>
              <a:t>4,008 ÷ 12 = 334</a:t>
            </a:r>
          </a:p>
        </p:txBody>
      </p:sp>
    </p:spTree>
    <p:extLst>
      <p:ext uri="{BB962C8B-B14F-4D97-AF65-F5344CB8AC3E}">
        <p14:creationId xmlns:p14="http://schemas.microsoft.com/office/powerpoint/2010/main" val="7336155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childTnLst>
                          </p:cTn>
                        </p:par>
                        <p:par>
                          <p:cTn id="13" fill="hold">
                            <p:stCondLst>
                              <p:cond delay="0"/>
                            </p:stCondLst>
                            <p:childTnLst>
                              <p:par>
                                <p:cTn id="14" presetID="63" presetClass="path" presetSubtype="0" accel="50000" decel="50000" fill="hold" grpId="1" nodeType="afterEffect">
                                  <p:stCondLst>
                                    <p:cond delay="0"/>
                                  </p:stCondLst>
                                  <p:childTnLst>
                                    <p:animMotion origin="layout" path="M 0 0 L 0.296875 0.27083333 E" pathEditMode="relative" ptsTypes="">
                                      <p:cBhvr>
                                        <p:cTn id="15" dur="800" fill="hold"/>
                                        <p:tgtEl>
                                          <p:spTgt spid="16"/>
                                        </p:tgtEl>
                                        <p:attrNameLst>
                                          <p:attrName>ppt_x</p:attrName>
                                          <p:attrName>ppt_y</p:attrName>
                                        </p:attrNameLst>
                                      </p:cBhvr>
                                    </p:animMotion>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17"/>
                                        </p:tgtEl>
                                        <p:attrNameLst>
                                          <p:attrName>style.visibility</p:attrName>
                                        </p:attrNameLst>
                                      </p:cBhvr>
                                      <p:to>
                                        <p:strVal val="visible"/>
                                      </p:to>
                                    </p:set>
                                  </p:childTnLst>
                                </p:cTn>
                              </p:par>
                              <p:par>
                                <p:cTn id="20" presetID="1" presetClass="exit" presetSubtype="0" fill="hold" grpId="1" nodeType="withEffect">
                                  <p:stCondLst>
                                    <p:cond delay="0"/>
                                  </p:stCondLst>
                                  <p:childTnLst>
                                    <p:set>
                                      <p:cBhvr>
                                        <p:cTn id="21" dur="1" fill="hold">
                                          <p:stCondLst>
                                            <p:cond delay="0"/>
                                          </p:stCondLst>
                                        </p:cTn>
                                        <p:tgtEl>
                                          <p:spTgt spid="14"/>
                                        </p:tgtEl>
                                        <p:attrNameLst>
                                          <p:attrName>style.visibility</p:attrName>
                                        </p:attrNameLst>
                                      </p:cBhvr>
                                      <p:to>
                                        <p:strVal val="hidden"/>
                                      </p:to>
                                    </p:set>
                                  </p:childTnLst>
                                </p:cTn>
                              </p:par>
                              <p:par>
                                <p:cTn id="22" presetID="1" presetClass="exit" presetSubtype="0" fill="hold" grpId="1" nodeType="withEffect">
                                  <p:stCondLst>
                                    <p:cond delay="0"/>
                                  </p:stCondLst>
                                  <p:childTnLst>
                                    <p:set>
                                      <p:cBhvr>
                                        <p:cTn id="23" dur="1" fill="hold">
                                          <p:stCondLst>
                                            <p:cond delay="0"/>
                                          </p:stCondLst>
                                        </p:cTn>
                                        <p:tgtEl>
                                          <p:spTgt spid="15"/>
                                        </p:tgtEl>
                                        <p:attrNameLst>
                                          <p:attrName>style.visibility</p:attrName>
                                        </p:attrNameLst>
                                      </p:cBhvr>
                                      <p:to>
                                        <p:strVal val="hidden"/>
                                      </p:to>
                                    </p:set>
                                  </p:childTnLst>
                                </p:cTn>
                              </p:par>
                              <p:par>
                                <p:cTn id="24" presetID="1" presetClass="exit" presetSubtype="0" fill="hold" grpId="2" nodeType="withEffect">
                                  <p:stCondLst>
                                    <p:cond delay="0"/>
                                  </p:stCondLst>
                                  <p:childTnLst>
                                    <p:set>
                                      <p:cBhvr>
                                        <p:cTn id="25" dur="1" fill="hold">
                                          <p:stCondLst>
                                            <p:cond delay="0"/>
                                          </p:stCondLst>
                                        </p:cTn>
                                        <p:tgtEl>
                                          <p:spTgt spid="16"/>
                                        </p:tgtEl>
                                        <p:attrNameLst>
                                          <p:attrName>style.visibility</p:attrName>
                                        </p:attrNameLst>
                                      </p:cBhvr>
                                      <p:to>
                                        <p:strVal val="hidden"/>
                                      </p:to>
                                    </p:set>
                                  </p:childTnLst>
                                </p:cTn>
                              </p:par>
                              <p:par>
                                <p:cTn id="26" presetID="1" presetClass="entr" presetSubtype="0" fill="hold" grpId="0" nodeType="withEffect">
                                  <p:stCondLst>
                                    <p:cond delay="0"/>
                                  </p:stCondLst>
                                  <p:childTnLst>
                                    <p:set>
                                      <p:cBhvr>
                                        <p:cTn id="27" dur="1" fill="hold">
                                          <p:stCondLst>
                                            <p:cond delay="0"/>
                                          </p:stCondLst>
                                        </p:cTn>
                                        <p:tgtEl>
                                          <p:spTgt spid="18"/>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19"/>
                                        </p:tgtEl>
                                        <p:attrNameLst>
                                          <p:attrName>style.visibility</p:attrName>
                                        </p:attrNameLst>
                                      </p:cBhvr>
                                      <p:to>
                                        <p:strVal val="visible"/>
                                      </p:to>
                                    </p:set>
                                  </p:childTnLst>
                                </p:cTn>
                              </p:par>
                              <p:par>
                                <p:cTn id="30" presetID="1" presetClass="entr" presetSubtype="0" fill="hold" grpId="0" nodeType="withEffect">
                                  <p:stCondLst>
                                    <p:cond delay="0"/>
                                  </p:stCondLst>
                                  <p:childTnLst>
                                    <p:set>
                                      <p:cBhvr>
                                        <p:cTn id="31" dur="1" fill="hold">
                                          <p:stCondLst>
                                            <p:cond delay="0"/>
                                          </p:stCondLst>
                                        </p:cTn>
                                        <p:tgtEl>
                                          <p:spTgt spid="20"/>
                                        </p:tgtEl>
                                        <p:attrNameLst>
                                          <p:attrName>style.visibility</p:attrName>
                                        </p:attrNameLst>
                                      </p:cBhvr>
                                      <p:to>
                                        <p:strVal val="visible"/>
                                      </p:to>
                                    </p:set>
                                  </p:childTnLst>
                                </p:cTn>
                              </p:par>
                            </p:childTnLst>
                          </p:cTn>
                        </p:par>
                        <p:par>
                          <p:cTn id="32" fill="hold">
                            <p:stCondLst>
                              <p:cond delay="0"/>
                            </p:stCondLst>
                            <p:childTnLst>
                              <p:par>
                                <p:cTn id="33" presetID="63" presetClass="path" presetSubtype="0" accel="50000" decel="50000" fill="hold" grpId="1" nodeType="afterEffect">
                                  <p:stCondLst>
                                    <p:cond delay="0"/>
                                  </p:stCondLst>
                                  <p:childTnLst>
                                    <p:animMotion origin="layout" path="M 0 0 L 0.23828125 0.27083333 E" pathEditMode="relative" ptsTypes="">
                                      <p:cBhvr>
                                        <p:cTn id="34" dur="800" fill="hold"/>
                                        <p:tgtEl>
                                          <p:spTgt spid="20"/>
                                        </p:tgtEl>
                                        <p:attrNameLst>
                                          <p:attrName>ppt_x</p:attrName>
                                          <p:attrName>ppt_y</p:attrName>
                                        </p:attrNameLst>
                                      </p:cBhvr>
                                    </p:animMotion>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1"/>
                                        </p:tgtEl>
                                        <p:attrNameLst>
                                          <p:attrName>style.visibility</p:attrName>
                                        </p:attrNameLst>
                                      </p:cBhvr>
                                      <p:to>
                                        <p:strVal val="visible"/>
                                      </p:to>
                                    </p:set>
                                  </p:childTnLst>
                                </p:cTn>
                              </p:par>
                              <p:par>
                                <p:cTn id="39" presetID="1" presetClass="exit" presetSubtype="0" fill="hold" grpId="1" nodeType="withEffect">
                                  <p:stCondLst>
                                    <p:cond delay="0"/>
                                  </p:stCondLst>
                                  <p:childTnLst>
                                    <p:set>
                                      <p:cBhvr>
                                        <p:cTn id="40" dur="1" fill="hold">
                                          <p:stCondLst>
                                            <p:cond delay="0"/>
                                          </p:stCondLst>
                                        </p:cTn>
                                        <p:tgtEl>
                                          <p:spTgt spid="18"/>
                                        </p:tgtEl>
                                        <p:attrNameLst>
                                          <p:attrName>style.visibility</p:attrName>
                                        </p:attrNameLst>
                                      </p:cBhvr>
                                      <p:to>
                                        <p:strVal val="hidden"/>
                                      </p:to>
                                    </p:set>
                                  </p:childTnLst>
                                </p:cTn>
                              </p:par>
                              <p:par>
                                <p:cTn id="41" presetID="1" presetClass="exit" presetSubtype="0" fill="hold" grpId="1" nodeType="withEffect">
                                  <p:stCondLst>
                                    <p:cond delay="0"/>
                                  </p:stCondLst>
                                  <p:childTnLst>
                                    <p:set>
                                      <p:cBhvr>
                                        <p:cTn id="42" dur="1" fill="hold">
                                          <p:stCondLst>
                                            <p:cond delay="0"/>
                                          </p:stCondLst>
                                        </p:cTn>
                                        <p:tgtEl>
                                          <p:spTgt spid="19"/>
                                        </p:tgtEl>
                                        <p:attrNameLst>
                                          <p:attrName>style.visibility</p:attrName>
                                        </p:attrNameLst>
                                      </p:cBhvr>
                                      <p:to>
                                        <p:strVal val="hidden"/>
                                      </p:to>
                                    </p:set>
                                  </p:childTnLst>
                                </p:cTn>
                              </p:par>
                              <p:par>
                                <p:cTn id="43" presetID="1" presetClass="exit" presetSubtype="0" fill="hold" grpId="2" nodeType="withEffect">
                                  <p:stCondLst>
                                    <p:cond delay="0"/>
                                  </p:stCondLst>
                                  <p:childTnLst>
                                    <p:set>
                                      <p:cBhvr>
                                        <p:cTn id="44" dur="1" fill="hold">
                                          <p:stCondLst>
                                            <p:cond delay="0"/>
                                          </p:stCondLst>
                                        </p:cTn>
                                        <p:tgtEl>
                                          <p:spTgt spid="20"/>
                                        </p:tgtEl>
                                        <p:attrNameLst>
                                          <p:attrName>style.visibility</p:attrName>
                                        </p:attrNameLst>
                                      </p:cBhvr>
                                      <p:to>
                                        <p:strVal val="hidden"/>
                                      </p:to>
                                    </p:set>
                                  </p:childTnLst>
                                </p:cTn>
                              </p:par>
                              <p:par>
                                <p:cTn id="45" presetID="1" presetClass="entr" presetSubtype="0" fill="hold" grpId="0" nodeType="withEffect">
                                  <p:stCondLst>
                                    <p:cond delay="0"/>
                                  </p:stCondLst>
                                  <p:childTnLst>
                                    <p:set>
                                      <p:cBhvr>
                                        <p:cTn id="46" dur="1" fill="hold">
                                          <p:stCondLst>
                                            <p:cond delay="0"/>
                                          </p:stCondLst>
                                        </p:cTn>
                                        <p:tgtEl>
                                          <p:spTgt spid="22"/>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3"/>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14" grpId="1"/>
      <p:bldP spid="15" grpId="0"/>
      <p:bldP spid="15" grpId="1"/>
      <p:bldP spid="16" grpId="0"/>
      <p:bldP spid="16" grpId="1"/>
      <p:bldP spid="16" grpId="2"/>
      <p:bldP spid="17" grpId="0"/>
      <p:bldP spid="18" grpId="0"/>
      <p:bldP spid="18" grpId="1"/>
      <p:bldP spid="19" grpId="0"/>
      <p:bldP spid="19" grpId="1"/>
      <p:bldP spid="20" grpId="0"/>
      <p:bldP spid="20" grpId="1"/>
      <p:bldP spid="20" grpId="2"/>
      <p:bldP spid="21" grpId="0"/>
      <p:bldP spid="22" grpId="0"/>
      <p:bldP spid="23" grpId="0"/>
      <p:bldP spid="2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 name="object-1">
            <a:extLst>
              <a:ext uri="{FF2B5EF4-FFF2-40B4-BE49-F238E27FC236}">
                <a16:creationId xmlns:a16="http://schemas.microsoft.com/office/drawing/2014/main" id="{D5A72BF3-74AB-4501-BE97-C3238BA64F9E}"/>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You do</a:t>
            </a:r>
          </a:p>
        </p:txBody>
      </p:sp>
      <p:sp>
        <p:nvSpPr>
          <p:cNvPr id="2" name="object-2">
            <a:extLst>
              <a:ext uri="{FF2B5EF4-FFF2-40B4-BE49-F238E27FC236}">
                <a16:creationId xmlns:a16="http://schemas.microsoft.com/office/drawing/2014/main" id="{CD2E407A-70B7-49AF-9F66-6149D15EB0CF}"/>
              </a:ext>
            </a:extLst>
          </p:cNvPr>
          <p:cNvSpPr>
            <a:spLocks noGrp="1"/>
          </p:cNvSpPr>
          <p:nvPr/>
        </p:nvSpPr>
        <p:spPr>
          <a:xfrm>
            <a:off x="11430000" y="476250"/>
            <a:ext cx="3155156" cy="547688"/>
          </a:xfrm>
          <a:prstGeom prst="rect">
            <a:avLst/>
          </a:prstGeom>
          <a:noFill/>
          <a:ln w="0">
            <a:noFill/>
          </a:ln>
        </p:spPr>
        <p:txBody>
          <a:bodyPr anchor="ctr">
            <a:noAutofit/>
          </a:bodyPr>
          <a:lstStyle/>
          <a:p>
            <a:pPr algn="r">
              <a:defRPr sz="2625" b="0">
                <a:solidFill>
                  <a:srgbClr val="52647A"/>
                </a:solidFill>
                <a:latin typeface="Arial"/>
                <a:ea typeface="Arial"/>
                <a:cs typeface="Arial"/>
              </a:defRPr>
            </a:pPr>
            <a:r>
              <a:rPr sz="2625" b="0">
                <a:solidFill>
                  <a:srgbClr val="52647A"/>
                </a:solidFill>
                <a:latin typeface="Arial"/>
                <a:ea typeface="Arial"/>
                <a:cs typeface="Arial"/>
              </a:rPr>
              <a:t>You try.</a:t>
            </a:r>
          </a:p>
        </p:txBody>
      </p:sp>
      <p:sp>
        <p:nvSpPr>
          <p:cNvPr id="3" name="object-3">
            <a:extLst>
              <a:ext uri="{FF2B5EF4-FFF2-40B4-BE49-F238E27FC236}">
                <a16:creationId xmlns:a16="http://schemas.microsoft.com/office/drawing/2014/main" id="{32AF9F8E-4510-46C2-A04C-A95D4797F81C}"/>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Calculate 4,140 ÷ 12.</a:t>
            </a:r>
          </a:p>
        </p:txBody>
      </p:sp>
      <p:sp>
        <p:nvSpPr>
          <p:cNvPr id="4" name="object-4">
            <a:extLst>
              <a:ext uri="{FF2B5EF4-FFF2-40B4-BE49-F238E27FC236}">
                <a16:creationId xmlns:a16="http://schemas.microsoft.com/office/drawing/2014/main" id="{67A339E2-2243-478A-99EB-D30694AE0A8E}"/>
              </a:ext>
            </a:extLst>
          </p:cNvPr>
          <p:cNvSpPr>
            <a:spLocks noGrp="1"/>
          </p:cNvSpPr>
          <p:nvPr/>
        </p:nvSpPr>
        <p:spPr>
          <a:xfrm>
            <a:off x="654844" y="8012906"/>
            <a:ext cx="13930313" cy="11906"/>
          </a:xfrm>
          <a:prstGeom prst="rect">
            <a:avLst/>
          </a:prstGeom>
          <a:solidFill>
            <a:srgbClr val="BCD0EA"/>
          </a:solidFill>
          <a:ln w="0">
            <a:noFill/>
          </a:ln>
        </p:spPr>
      </p:sp>
      <p:sp>
        <p:nvSpPr>
          <p:cNvPr id="5" name="object-5">
            <a:extLst>
              <a:ext uri="{FF2B5EF4-FFF2-40B4-BE49-F238E27FC236}">
                <a16:creationId xmlns:a16="http://schemas.microsoft.com/office/drawing/2014/main" id="{FCD878C1-9E71-454E-B491-C587A526C4E5}"/>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Use short division with two-digit divisors</a:t>
            </a:r>
          </a:p>
        </p:txBody>
      </p:sp>
      <p:sp>
        <p:nvSpPr>
          <p:cNvPr id="6" name="object-6">
            <a:extLst>
              <a:ext uri="{FF2B5EF4-FFF2-40B4-BE49-F238E27FC236}">
                <a16:creationId xmlns:a16="http://schemas.microsoft.com/office/drawing/2014/main" id="{BEE1E5AD-4EE7-4495-9997-4705E2CDD7CA}"/>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5</a:t>
            </a:r>
          </a:p>
        </p:txBody>
      </p:sp>
      <p:sp>
        <p:nvSpPr>
          <p:cNvPr id="7" name="object-7">
            <a:extLst>
              <a:ext uri="{FF2B5EF4-FFF2-40B4-BE49-F238E27FC236}">
                <a16:creationId xmlns:a16="http://schemas.microsoft.com/office/drawing/2014/main" id="{F6A48B0A-D020-41D7-A4CB-65B6B53C3CDD}"/>
              </a:ext>
            </a:extLst>
          </p:cNvPr>
          <p:cNvSpPr>
            <a:spLocks noGrp="1"/>
          </p:cNvSpPr>
          <p:nvPr/>
        </p:nvSpPr>
        <p:spPr>
          <a:xfrm>
            <a:off x="1785938" y="4012406"/>
            <a:ext cx="1428750" cy="833438"/>
          </a:xfrm>
          <a:prstGeom prst="rect">
            <a:avLst/>
          </a:prstGeom>
          <a:noFill/>
          <a:ln w="0">
            <a:noFill/>
          </a:ln>
        </p:spPr>
        <p:txBody>
          <a:bodyPr anchor="ctr">
            <a:noAutofit/>
          </a:bodyPr>
          <a:lstStyle/>
          <a:p>
            <a:pPr algn="ctr">
              <a:defRPr sz="4313" b="1">
                <a:solidFill>
                  <a:srgbClr val="1D4ED8"/>
                </a:solidFill>
                <a:latin typeface="Arial"/>
                <a:ea typeface="Arial"/>
                <a:cs typeface="Arial"/>
              </a:defRPr>
            </a:pPr>
            <a:r>
              <a:rPr sz="4313" b="1">
                <a:solidFill>
                  <a:srgbClr val="1D4ED8"/>
                </a:solidFill>
                <a:latin typeface="Arial"/>
                <a:ea typeface="Arial"/>
                <a:cs typeface="Arial"/>
              </a:rPr>
              <a:t>12</a:t>
            </a:r>
          </a:p>
        </p:txBody>
      </p:sp>
      <p:sp>
        <p:nvSpPr>
          <p:cNvPr id="8" name="object-8">
            <a:extLst>
              <a:ext uri="{FF2B5EF4-FFF2-40B4-BE49-F238E27FC236}">
                <a16:creationId xmlns:a16="http://schemas.microsoft.com/office/drawing/2014/main" id="{78484C54-BC3D-46BA-8020-193AF6D62FA3}"/>
              </a:ext>
            </a:extLst>
          </p:cNvPr>
          <p:cNvSpPr>
            <a:spLocks noGrp="1"/>
          </p:cNvSpPr>
          <p:nvPr/>
        </p:nvSpPr>
        <p:spPr>
          <a:xfrm>
            <a:off x="3393281" y="3833813"/>
            <a:ext cx="0" cy="1226344"/>
          </a:xfrm>
          <a:prstGeom prst="line">
            <a:avLst/>
          </a:prstGeom>
          <a:noFill/>
          <a:ln w="35719">
            <a:solidFill>
              <a:srgbClr val="172B4D"/>
            </a:solidFill>
          </a:ln>
        </p:spPr>
      </p:sp>
      <p:sp>
        <p:nvSpPr>
          <p:cNvPr id="9" name="object-9">
            <a:extLst>
              <a:ext uri="{FF2B5EF4-FFF2-40B4-BE49-F238E27FC236}">
                <a16:creationId xmlns:a16="http://schemas.microsoft.com/office/drawing/2014/main" id="{B2DDE5D0-A5A8-4DF0-933D-7A1BA27AE202}"/>
              </a:ext>
            </a:extLst>
          </p:cNvPr>
          <p:cNvSpPr>
            <a:spLocks noGrp="1"/>
          </p:cNvSpPr>
          <p:nvPr/>
        </p:nvSpPr>
        <p:spPr>
          <a:xfrm>
            <a:off x="3393281" y="3833813"/>
            <a:ext cx="9644063" cy="35719"/>
          </a:xfrm>
          <a:prstGeom prst="rect">
            <a:avLst/>
          </a:prstGeom>
          <a:solidFill>
            <a:srgbClr val="172B4D"/>
          </a:solidFill>
          <a:ln w="0">
            <a:noFill/>
          </a:ln>
        </p:spPr>
      </p:sp>
      <p:sp>
        <p:nvSpPr>
          <p:cNvPr id="10" name="object-10">
            <a:extLst>
              <a:ext uri="{FF2B5EF4-FFF2-40B4-BE49-F238E27FC236}">
                <a16:creationId xmlns:a16="http://schemas.microsoft.com/office/drawing/2014/main" id="{2AF87436-96D5-4CF6-A269-BA2903F24A61}"/>
              </a:ext>
            </a:extLst>
          </p:cNvPr>
          <p:cNvSpPr>
            <a:spLocks noGrp="1"/>
          </p:cNvSpPr>
          <p:nvPr/>
        </p:nvSpPr>
        <p:spPr>
          <a:xfrm>
            <a:off x="3810000" y="4036219"/>
            <a:ext cx="833438" cy="773906"/>
          </a:xfrm>
          <a:prstGeom prst="rect">
            <a:avLst/>
          </a:prstGeom>
          <a:noFill/>
          <a:ln w="0">
            <a:noFill/>
          </a:ln>
        </p:spPr>
        <p:txBody>
          <a:bodyPr anchor="ctr">
            <a:noAutofit/>
          </a:bodyPr>
          <a:lstStyle/>
          <a:p>
            <a:pPr algn="ctr">
              <a:defRPr sz="4125" b="1">
                <a:solidFill>
                  <a:srgbClr val="1D4ED8"/>
                </a:solidFill>
                <a:latin typeface="Arial"/>
                <a:ea typeface="Arial"/>
                <a:cs typeface="Arial"/>
              </a:defRPr>
            </a:pPr>
            <a:r>
              <a:rPr sz="4125" b="1">
                <a:solidFill>
                  <a:srgbClr val="1D4ED8"/>
                </a:solidFill>
                <a:latin typeface="Arial"/>
                <a:ea typeface="Arial"/>
                <a:cs typeface="Arial"/>
              </a:rPr>
              <a:t>4</a:t>
            </a:r>
          </a:p>
        </p:txBody>
      </p:sp>
      <p:sp>
        <p:nvSpPr>
          <p:cNvPr id="11" name="object-11">
            <a:extLst>
              <a:ext uri="{FF2B5EF4-FFF2-40B4-BE49-F238E27FC236}">
                <a16:creationId xmlns:a16="http://schemas.microsoft.com/office/drawing/2014/main" id="{BD6D25D8-1C90-4A8E-A5ED-D7D274AD4EA8}"/>
              </a:ext>
            </a:extLst>
          </p:cNvPr>
          <p:cNvSpPr>
            <a:spLocks noGrp="1"/>
          </p:cNvSpPr>
          <p:nvPr/>
        </p:nvSpPr>
        <p:spPr>
          <a:xfrm>
            <a:off x="4702969" y="4036219"/>
            <a:ext cx="833438" cy="773906"/>
          </a:xfrm>
          <a:prstGeom prst="rect">
            <a:avLst/>
          </a:prstGeom>
          <a:noFill/>
          <a:ln w="0">
            <a:noFill/>
          </a:ln>
        </p:spPr>
        <p:txBody>
          <a:bodyPr anchor="ctr">
            <a:noAutofit/>
          </a:bodyPr>
          <a:lstStyle/>
          <a:p>
            <a:pPr algn="ctr">
              <a:defRPr sz="4125" b="1">
                <a:solidFill>
                  <a:srgbClr val="1D4ED8"/>
                </a:solidFill>
                <a:latin typeface="Arial"/>
                <a:ea typeface="Arial"/>
                <a:cs typeface="Arial"/>
              </a:defRPr>
            </a:pPr>
            <a:r>
              <a:rPr sz="4125" b="1">
                <a:solidFill>
                  <a:srgbClr val="1D4ED8"/>
                </a:solidFill>
                <a:latin typeface="Arial"/>
                <a:ea typeface="Arial"/>
                <a:cs typeface="Arial"/>
              </a:rPr>
              <a:t>1</a:t>
            </a:r>
          </a:p>
        </p:txBody>
      </p:sp>
      <p:sp>
        <p:nvSpPr>
          <p:cNvPr id="12" name="object-12">
            <a:extLst>
              <a:ext uri="{FF2B5EF4-FFF2-40B4-BE49-F238E27FC236}">
                <a16:creationId xmlns:a16="http://schemas.microsoft.com/office/drawing/2014/main" id="{246F5D3D-0840-4A82-8EB6-771CD50AC8F5}"/>
              </a:ext>
            </a:extLst>
          </p:cNvPr>
          <p:cNvSpPr>
            <a:spLocks noGrp="1"/>
          </p:cNvSpPr>
          <p:nvPr/>
        </p:nvSpPr>
        <p:spPr>
          <a:xfrm>
            <a:off x="5595938" y="4036219"/>
            <a:ext cx="833438" cy="773906"/>
          </a:xfrm>
          <a:prstGeom prst="rect">
            <a:avLst/>
          </a:prstGeom>
          <a:noFill/>
          <a:ln w="0">
            <a:noFill/>
          </a:ln>
        </p:spPr>
        <p:txBody>
          <a:bodyPr anchor="ctr">
            <a:noAutofit/>
          </a:bodyPr>
          <a:lstStyle/>
          <a:p>
            <a:pPr algn="ctr">
              <a:defRPr sz="4125" b="1">
                <a:solidFill>
                  <a:srgbClr val="1D4ED8"/>
                </a:solidFill>
                <a:latin typeface="Arial"/>
                <a:ea typeface="Arial"/>
                <a:cs typeface="Arial"/>
              </a:defRPr>
            </a:pPr>
            <a:r>
              <a:rPr sz="4125" b="1">
                <a:solidFill>
                  <a:srgbClr val="1D4ED8"/>
                </a:solidFill>
                <a:latin typeface="Arial"/>
                <a:ea typeface="Arial"/>
                <a:cs typeface="Arial"/>
              </a:rPr>
              <a:t>4</a:t>
            </a:r>
          </a:p>
        </p:txBody>
      </p:sp>
      <p:sp>
        <p:nvSpPr>
          <p:cNvPr id="13" name="object-13">
            <a:extLst>
              <a:ext uri="{FF2B5EF4-FFF2-40B4-BE49-F238E27FC236}">
                <a16:creationId xmlns:a16="http://schemas.microsoft.com/office/drawing/2014/main" id="{333944D6-DD70-4184-9B1A-EF54AEF7D24E}"/>
              </a:ext>
            </a:extLst>
          </p:cNvPr>
          <p:cNvSpPr>
            <a:spLocks noGrp="1"/>
          </p:cNvSpPr>
          <p:nvPr/>
        </p:nvSpPr>
        <p:spPr>
          <a:xfrm>
            <a:off x="6488906" y="4036219"/>
            <a:ext cx="833438" cy="773906"/>
          </a:xfrm>
          <a:prstGeom prst="rect">
            <a:avLst/>
          </a:prstGeom>
          <a:noFill/>
          <a:ln w="0">
            <a:noFill/>
          </a:ln>
        </p:spPr>
        <p:txBody>
          <a:bodyPr anchor="ctr">
            <a:noAutofit/>
          </a:bodyPr>
          <a:lstStyle/>
          <a:p>
            <a:pPr algn="ctr">
              <a:defRPr sz="4125" b="1">
                <a:solidFill>
                  <a:srgbClr val="1D4ED8"/>
                </a:solidFill>
                <a:latin typeface="Arial"/>
                <a:ea typeface="Arial"/>
                <a:cs typeface="Arial"/>
              </a:defRPr>
            </a:pPr>
            <a:r>
              <a:rPr sz="4125" b="1">
                <a:solidFill>
                  <a:srgbClr val="1D4ED8"/>
                </a:solidFill>
                <a:latin typeface="Arial"/>
                <a:ea typeface="Arial"/>
                <a:cs typeface="Arial"/>
              </a:rPr>
              <a:t>0</a:t>
            </a:r>
          </a:p>
        </p:txBody>
      </p:sp>
      <p:sp>
        <p:nvSpPr>
          <p:cNvPr id="14" name="object-14">
            <a:extLst>
              <a:ext uri="{FF2B5EF4-FFF2-40B4-BE49-F238E27FC236}">
                <a16:creationId xmlns:a16="http://schemas.microsoft.com/office/drawing/2014/main" id="{CAAB137A-08D4-4DED-8A73-15E8E2199E8D}"/>
              </a:ext>
            </a:extLst>
          </p:cNvPr>
          <p:cNvSpPr>
            <a:spLocks noGrp="1"/>
          </p:cNvSpPr>
          <p:nvPr/>
        </p:nvSpPr>
        <p:spPr>
          <a:xfrm>
            <a:off x="4702969" y="2857500"/>
            <a:ext cx="833438" cy="773906"/>
          </a:xfrm>
          <a:prstGeom prst="rect">
            <a:avLst/>
          </a:prstGeom>
          <a:noFill/>
          <a:ln w="0">
            <a:noFill/>
          </a:ln>
        </p:spPr>
        <p:txBody>
          <a:bodyPr anchor="ctr">
            <a:noAutofit/>
          </a:bodyPr>
          <a:lstStyle/>
          <a:p>
            <a:pPr algn="ctr">
              <a:defRPr sz="4031" b="1">
                <a:solidFill>
                  <a:srgbClr val="11745A"/>
                </a:solidFill>
                <a:latin typeface="Arial"/>
                <a:ea typeface="Arial"/>
                <a:cs typeface="Arial"/>
              </a:defRPr>
            </a:pPr>
            <a:r>
              <a:rPr sz="4031" b="1">
                <a:solidFill>
                  <a:srgbClr val="11745A"/>
                </a:solidFill>
                <a:latin typeface="Arial"/>
                <a:ea typeface="Arial"/>
                <a:cs typeface="Arial"/>
              </a:rPr>
              <a:t>3</a:t>
            </a:r>
          </a:p>
        </p:txBody>
      </p:sp>
      <p:sp>
        <p:nvSpPr>
          <p:cNvPr id="15" name="object-15">
            <a:extLst>
              <a:ext uri="{FF2B5EF4-FFF2-40B4-BE49-F238E27FC236}">
                <a16:creationId xmlns:a16="http://schemas.microsoft.com/office/drawing/2014/main" id="{F0348999-129C-4D9A-B88C-5D6F7A60F3D9}"/>
              </a:ext>
            </a:extLst>
          </p:cNvPr>
          <p:cNvSpPr>
            <a:spLocks noGrp="1"/>
          </p:cNvSpPr>
          <p:nvPr/>
        </p:nvSpPr>
        <p:spPr>
          <a:xfrm>
            <a:off x="1190625" y="5453063"/>
            <a:ext cx="6548438" cy="642938"/>
          </a:xfrm>
          <a:prstGeom prst="rect">
            <a:avLst/>
          </a:prstGeom>
          <a:noFill/>
          <a:ln w="0">
            <a:noFill/>
          </a:ln>
        </p:spPr>
        <p:txBody>
          <a:bodyPr anchor="ctr">
            <a:noAutofit/>
          </a:bodyPr>
          <a:lstStyle/>
          <a:p>
            <a:pPr algn="l">
              <a:defRPr sz="2906" b="1">
                <a:solidFill>
                  <a:srgbClr val="172B4D"/>
                </a:solidFill>
                <a:latin typeface="Arial"/>
                <a:ea typeface="Arial"/>
                <a:cs typeface="Arial"/>
              </a:defRPr>
            </a:pPr>
            <a:r>
              <a:rPr sz="2906" b="1">
                <a:solidFill>
                  <a:srgbClr val="172B4D"/>
                </a:solidFill>
                <a:latin typeface="Arial"/>
                <a:ea typeface="Arial"/>
                <a:cs typeface="Arial"/>
              </a:rPr>
              <a:t>12 fits into 41: 3 times</a:t>
            </a:r>
          </a:p>
        </p:txBody>
      </p:sp>
      <p:sp>
        <p:nvSpPr>
          <p:cNvPr id="16" name="object-16">
            <a:extLst>
              <a:ext uri="{FF2B5EF4-FFF2-40B4-BE49-F238E27FC236}">
                <a16:creationId xmlns:a16="http://schemas.microsoft.com/office/drawing/2014/main" id="{EC06A5C5-5D7E-4E9F-88B4-D033A3E29509}"/>
              </a:ext>
            </a:extLst>
          </p:cNvPr>
          <p:cNvSpPr>
            <a:spLocks noGrp="1"/>
          </p:cNvSpPr>
          <p:nvPr/>
        </p:nvSpPr>
        <p:spPr>
          <a:xfrm>
            <a:off x="7739063" y="5453063"/>
            <a:ext cx="6310313" cy="642938"/>
          </a:xfrm>
          <a:prstGeom prst="rect">
            <a:avLst/>
          </a:prstGeom>
          <a:noFill/>
          <a:ln w="0">
            <a:noFill/>
          </a:ln>
        </p:spPr>
        <p:txBody>
          <a:bodyPr anchor="ctr">
            <a:noAutofit/>
          </a:bodyPr>
          <a:lstStyle/>
          <a:p>
            <a:pPr algn="l">
              <a:defRPr sz="2906" b="1">
                <a:solidFill>
                  <a:srgbClr val="172B4D"/>
                </a:solidFill>
                <a:latin typeface="Arial"/>
                <a:ea typeface="Arial"/>
                <a:cs typeface="Arial"/>
              </a:defRPr>
            </a:pPr>
            <a:r>
              <a:rPr sz="2906" b="1">
                <a:solidFill>
                  <a:srgbClr val="172B4D"/>
                </a:solidFill>
                <a:latin typeface="Arial"/>
                <a:ea typeface="Arial"/>
                <a:cs typeface="Arial"/>
              </a:rPr>
              <a:t>41 − 36 = 5</a:t>
            </a:r>
          </a:p>
        </p:txBody>
      </p:sp>
      <p:sp>
        <p:nvSpPr>
          <p:cNvPr id="17" name="object-17">
            <a:extLst>
              <a:ext uri="{FF2B5EF4-FFF2-40B4-BE49-F238E27FC236}">
                <a16:creationId xmlns:a16="http://schemas.microsoft.com/office/drawing/2014/main" id="{8B650FBC-DB89-4A94-801C-69D4ED00F4CD}"/>
              </a:ext>
            </a:extLst>
          </p:cNvPr>
          <p:cNvSpPr>
            <a:spLocks noGrp="1"/>
          </p:cNvSpPr>
          <p:nvPr/>
        </p:nvSpPr>
        <p:spPr>
          <a:xfrm>
            <a:off x="5595938" y="4036219"/>
            <a:ext cx="833438" cy="773906"/>
          </a:xfrm>
          <a:prstGeom prst="rect">
            <a:avLst/>
          </a:prstGeom>
          <a:noFill/>
          <a:ln w="0">
            <a:noFill/>
          </a:ln>
        </p:spPr>
        <p:txBody>
          <a:bodyPr anchor="ctr">
            <a:noAutofit/>
          </a:bodyPr>
          <a:lstStyle/>
          <a:p>
            <a:pPr algn="ctr">
              <a:defRPr sz="4125" b="1">
                <a:solidFill>
                  <a:srgbClr val="9A5800"/>
                </a:solidFill>
                <a:latin typeface="Arial"/>
                <a:ea typeface="Arial"/>
                <a:cs typeface="Arial"/>
              </a:defRPr>
            </a:pPr>
            <a:r>
              <a:rPr sz="4125" b="1">
                <a:solidFill>
                  <a:srgbClr val="9A5800"/>
                </a:solidFill>
                <a:latin typeface="Arial"/>
                <a:ea typeface="Arial"/>
                <a:cs typeface="Arial"/>
              </a:rPr>
              <a:t>4</a:t>
            </a:r>
          </a:p>
        </p:txBody>
      </p:sp>
      <p:sp>
        <p:nvSpPr>
          <p:cNvPr id="18" name="object-18">
            <a:extLst>
              <a:ext uri="{FF2B5EF4-FFF2-40B4-BE49-F238E27FC236}">
                <a16:creationId xmlns:a16="http://schemas.microsoft.com/office/drawing/2014/main" id="{AC3728EE-75ED-40CC-9EEF-159D6BF41528}"/>
              </a:ext>
            </a:extLst>
          </p:cNvPr>
          <p:cNvSpPr>
            <a:spLocks noGrp="1"/>
          </p:cNvSpPr>
          <p:nvPr/>
        </p:nvSpPr>
        <p:spPr>
          <a:xfrm>
            <a:off x="5595938" y="2857500"/>
            <a:ext cx="833438" cy="773906"/>
          </a:xfrm>
          <a:prstGeom prst="rect">
            <a:avLst/>
          </a:prstGeom>
          <a:noFill/>
          <a:ln w="0">
            <a:noFill/>
          </a:ln>
        </p:spPr>
        <p:txBody>
          <a:bodyPr anchor="ctr">
            <a:noAutofit/>
          </a:bodyPr>
          <a:lstStyle/>
          <a:p>
            <a:pPr algn="ctr">
              <a:defRPr sz="4031" b="1">
                <a:solidFill>
                  <a:srgbClr val="11745A"/>
                </a:solidFill>
                <a:latin typeface="Arial"/>
                <a:ea typeface="Arial"/>
                <a:cs typeface="Arial"/>
              </a:defRPr>
            </a:pPr>
            <a:r>
              <a:rPr sz="4031" b="1">
                <a:solidFill>
                  <a:srgbClr val="11745A"/>
                </a:solidFill>
                <a:latin typeface="Arial"/>
                <a:ea typeface="Arial"/>
                <a:cs typeface="Arial"/>
              </a:rPr>
              <a:t>4</a:t>
            </a:r>
          </a:p>
        </p:txBody>
      </p:sp>
      <p:sp>
        <p:nvSpPr>
          <p:cNvPr id="19" name="object-19">
            <a:extLst>
              <a:ext uri="{FF2B5EF4-FFF2-40B4-BE49-F238E27FC236}">
                <a16:creationId xmlns:a16="http://schemas.microsoft.com/office/drawing/2014/main" id="{D173FE6F-E6D1-4946-8733-4B6A7B8E1940}"/>
              </a:ext>
            </a:extLst>
          </p:cNvPr>
          <p:cNvSpPr>
            <a:spLocks noGrp="1"/>
          </p:cNvSpPr>
          <p:nvPr/>
        </p:nvSpPr>
        <p:spPr>
          <a:xfrm>
            <a:off x="1190625" y="5453063"/>
            <a:ext cx="6548438" cy="642938"/>
          </a:xfrm>
          <a:prstGeom prst="rect">
            <a:avLst/>
          </a:prstGeom>
          <a:noFill/>
          <a:ln w="0">
            <a:noFill/>
          </a:ln>
        </p:spPr>
        <p:txBody>
          <a:bodyPr anchor="ctr">
            <a:noAutofit/>
          </a:bodyPr>
          <a:lstStyle/>
          <a:p>
            <a:pPr algn="l">
              <a:defRPr sz="2906" b="1">
                <a:solidFill>
                  <a:srgbClr val="172B4D"/>
                </a:solidFill>
                <a:latin typeface="Arial"/>
                <a:ea typeface="Arial"/>
                <a:cs typeface="Arial"/>
              </a:defRPr>
            </a:pPr>
            <a:r>
              <a:rPr sz="2906" b="1">
                <a:solidFill>
                  <a:srgbClr val="172B4D"/>
                </a:solidFill>
                <a:latin typeface="Arial"/>
                <a:ea typeface="Arial"/>
                <a:cs typeface="Arial"/>
              </a:rPr>
              <a:t>12 fits into 54: 4 times</a:t>
            </a:r>
          </a:p>
        </p:txBody>
      </p:sp>
      <p:sp>
        <p:nvSpPr>
          <p:cNvPr id="20" name="object-20">
            <a:extLst>
              <a:ext uri="{FF2B5EF4-FFF2-40B4-BE49-F238E27FC236}">
                <a16:creationId xmlns:a16="http://schemas.microsoft.com/office/drawing/2014/main" id="{94773839-8C52-4BA6-9CCD-BD1FBB6A3F6B}"/>
              </a:ext>
            </a:extLst>
          </p:cNvPr>
          <p:cNvSpPr>
            <a:spLocks noGrp="1"/>
          </p:cNvSpPr>
          <p:nvPr/>
        </p:nvSpPr>
        <p:spPr>
          <a:xfrm>
            <a:off x="7739063" y="5453063"/>
            <a:ext cx="6310313" cy="642938"/>
          </a:xfrm>
          <a:prstGeom prst="rect">
            <a:avLst/>
          </a:prstGeom>
          <a:noFill/>
          <a:ln w="0">
            <a:noFill/>
          </a:ln>
        </p:spPr>
        <p:txBody>
          <a:bodyPr anchor="ctr">
            <a:noAutofit/>
          </a:bodyPr>
          <a:lstStyle/>
          <a:p>
            <a:pPr algn="l">
              <a:defRPr sz="2906" b="1">
                <a:solidFill>
                  <a:srgbClr val="172B4D"/>
                </a:solidFill>
                <a:latin typeface="Arial"/>
                <a:ea typeface="Arial"/>
                <a:cs typeface="Arial"/>
              </a:defRPr>
            </a:pPr>
            <a:r>
              <a:rPr sz="2906" b="1">
                <a:solidFill>
                  <a:srgbClr val="172B4D"/>
                </a:solidFill>
                <a:latin typeface="Arial"/>
                <a:ea typeface="Arial"/>
                <a:cs typeface="Arial"/>
              </a:rPr>
              <a:t>54 − 48 = 6</a:t>
            </a:r>
          </a:p>
        </p:txBody>
      </p:sp>
      <p:sp>
        <p:nvSpPr>
          <p:cNvPr id="21" name="object-21">
            <a:extLst>
              <a:ext uri="{FF2B5EF4-FFF2-40B4-BE49-F238E27FC236}">
                <a16:creationId xmlns:a16="http://schemas.microsoft.com/office/drawing/2014/main" id="{17BEB68F-FD4C-48F8-A503-36D25FF204D3}"/>
              </a:ext>
            </a:extLst>
          </p:cNvPr>
          <p:cNvSpPr>
            <a:spLocks noGrp="1"/>
          </p:cNvSpPr>
          <p:nvPr/>
        </p:nvSpPr>
        <p:spPr>
          <a:xfrm>
            <a:off x="6488906" y="4036219"/>
            <a:ext cx="833438" cy="773906"/>
          </a:xfrm>
          <a:prstGeom prst="rect">
            <a:avLst/>
          </a:prstGeom>
          <a:noFill/>
          <a:ln w="0">
            <a:noFill/>
          </a:ln>
        </p:spPr>
        <p:txBody>
          <a:bodyPr anchor="ctr">
            <a:noAutofit/>
          </a:bodyPr>
          <a:lstStyle/>
          <a:p>
            <a:pPr algn="ctr">
              <a:defRPr sz="4125" b="1">
                <a:solidFill>
                  <a:srgbClr val="9A5800"/>
                </a:solidFill>
                <a:latin typeface="Arial"/>
                <a:ea typeface="Arial"/>
                <a:cs typeface="Arial"/>
              </a:defRPr>
            </a:pPr>
            <a:r>
              <a:rPr sz="4125" b="1">
                <a:solidFill>
                  <a:srgbClr val="9A5800"/>
                </a:solidFill>
                <a:latin typeface="Arial"/>
                <a:ea typeface="Arial"/>
                <a:cs typeface="Arial"/>
              </a:rPr>
              <a:t>0</a:t>
            </a:r>
          </a:p>
        </p:txBody>
      </p:sp>
      <p:sp>
        <p:nvSpPr>
          <p:cNvPr id="22" name="object-22">
            <a:extLst>
              <a:ext uri="{FF2B5EF4-FFF2-40B4-BE49-F238E27FC236}">
                <a16:creationId xmlns:a16="http://schemas.microsoft.com/office/drawing/2014/main" id="{31C7E8AC-CA8D-49AC-A85A-A9DEF58DCBA2}"/>
              </a:ext>
            </a:extLst>
          </p:cNvPr>
          <p:cNvSpPr>
            <a:spLocks noGrp="1"/>
          </p:cNvSpPr>
          <p:nvPr/>
        </p:nvSpPr>
        <p:spPr>
          <a:xfrm>
            <a:off x="6488906" y="2857500"/>
            <a:ext cx="833438" cy="773906"/>
          </a:xfrm>
          <a:prstGeom prst="rect">
            <a:avLst/>
          </a:prstGeom>
          <a:noFill/>
          <a:ln w="0">
            <a:noFill/>
          </a:ln>
        </p:spPr>
        <p:txBody>
          <a:bodyPr anchor="ctr">
            <a:noAutofit/>
          </a:bodyPr>
          <a:lstStyle/>
          <a:p>
            <a:pPr algn="ctr">
              <a:defRPr sz="4031" b="1">
                <a:solidFill>
                  <a:srgbClr val="11745A"/>
                </a:solidFill>
                <a:latin typeface="Arial"/>
                <a:ea typeface="Arial"/>
                <a:cs typeface="Arial"/>
              </a:defRPr>
            </a:pPr>
            <a:r>
              <a:rPr sz="4031" b="1">
                <a:solidFill>
                  <a:srgbClr val="11745A"/>
                </a:solidFill>
                <a:latin typeface="Arial"/>
                <a:ea typeface="Arial"/>
                <a:cs typeface="Arial"/>
              </a:rPr>
              <a:t>5</a:t>
            </a:r>
          </a:p>
        </p:txBody>
      </p:sp>
      <p:sp>
        <p:nvSpPr>
          <p:cNvPr id="23" name="object-23">
            <a:extLst>
              <a:ext uri="{FF2B5EF4-FFF2-40B4-BE49-F238E27FC236}">
                <a16:creationId xmlns:a16="http://schemas.microsoft.com/office/drawing/2014/main" id="{1C17D153-AD69-4873-A0E2-5689AAD4A29A}"/>
              </a:ext>
            </a:extLst>
          </p:cNvPr>
          <p:cNvSpPr>
            <a:spLocks noGrp="1"/>
          </p:cNvSpPr>
          <p:nvPr/>
        </p:nvSpPr>
        <p:spPr>
          <a:xfrm>
            <a:off x="1190625" y="5453063"/>
            <a:ext cx="6548438" cy="642938"/>
          </a:xfrm>
          <a:prstGeom prst="rect">
            <a:avLst/>
          </a:prstGeom>
          <a:noFill/>
          <a:ln w="0">
            <a:noFill/>
          </a:ln>
        </p:spPr>
        <p:txBody>
          <a:bodyPr anchor="ctr">
            <a:noAutofit/>
          </a:bodyPr>
          <a:lstStyle/>
          <a:p>
            <a:pPr algn="l">
              <a:defRPr sz="2906" b="1">
                <a:solidFill>
                  <a:srgbClr val="172B4D"/>
                </a:solidFill>
                <a:latin typeface="Arial"/>
                <a:ea typeface="Arial"/>
                <a:cs typeface="Arial"/>
              </a:defRPr>
            </a:pPr>
            <a:r>
              <a:rPr sz="2906" b="1">
                <a:solidFill>
                  <a:srgbClr val="172B4D"/>
                </a:solidFill>
                <a:latin typeface="Arial"/>
                <a:ea typeface="Arial"/>
                <a:cs typeface="Arial"/>
              </a:rPr>
              <a:t>12 fits into 60: 5 times</a:t>
            </a:r>
          </a:p>
        </p:txBody>
      </p:sp>
      <p:sp>
        <p:nvSpPr>
          <p:cNvPr id="24" name="object-24">
            <a:extLst>
              <a:ext uri="{FF2B5EF4-FFF2-40B4-BE49-F238E27FC236}">
                <a16:creationId xmlns:a16="http://schemas.microsoft.com/office/drawing/2014/main" id="{70B814E1-6FF7-4798-AF6E-95DFD655C903}"/>
              </a:ext>
            </a:extLst>
          </p:cNvPr>
          <p:cNvSpPr>
            <a:spLocks noGrp="1"/>
          </p:cNvSpPr>
          <p:nvPr/>
        </p:nvSpPr>
        <p:spPr>
          <a:xfrm>
            <a:off x="7739063" y="5453063"/>
            <a:ext cx="6310313" cy="642938"/>
          </a:xfrm>
          <a:prstGeom prst="rect">
            <a:avLst/>
          </a:prstGeom>
          <a:noFill/>
          <a:ln w="0">
            <a:noFill/>
          </a:ln>
        </p:spPr>
        <p:txBody>
          <a:bodyPr anchor="ctr">
            <a:noAutofit/>
          </a:bodyPr>
          <a:lstStyle/>
          <a:p>
            <a:pPr algn="l">
              <a:defRPr sz="2906" b="1">
                <a:solidFill>
                  <a:srgbClr val="172B4D"/>
                </a:solidFill>
                <a:latin typeface="Arial"/>
                <a:ea typeface="Arial"/>
                <a:cs typeface="Arial"/>
              </a:defRPr>
            </a:pPr>
            <a:r>
              <a:rPr sz="2906" b="1">
                <a:solidFill>
                  <a:srgbClr val="172B4D"/>
                </a:solidFill>
                <a:latin typeface="Arial"/>
                <a:ea typeface="Arial"/>
                <a:cs typeface="Arial"/>
              </a:rPr>
              <a:t>60 − 60 = 0</a:t>
            </a:r>
          </a:p>
        </p:txBody>
      </p:sp>
      <p:sp>
        <p:nvSpPr>
          <p:cNvPr id="25" name="object-25">
            <a:extLst>
              <a:ext uri="{FF2B5EF4-FFF2-40B4-BE49-F238E27FC236}">
                <a16:creationId xmlns:a16="http://schemas.microsoft.com/office/drawing/2014/main" id="{E932D47F-5288-4747-8C2C-43880A681AEC}"/>
              </a:ext>
            </a:extLst>
          </p:cNvPr>
          <p:cNvSpPr>
            <a:spLocks noGrp="1"/>
          </p:cNvSpPr>
          <p:nvPr/>
        </p:nvSpPr>
        <p:spPr>
          <a:xfrm>
            <a:off x="892969" y="7227094"/>
            <a:ext cx="13454063" cy="738188"/>
          </a:xfrm>
          <a:prstGeom prst="rect">
            <a:avLst/>
          </a:prstGeom>
          <a:noFill/>
          <a:ln w="0">
            <a:noFill/>
          </a:ln>
        </p:spPr>
        <p:txBody>
          <a:bodyPr anchor="ctr">
            <a:noAutofit/>
          </a:bodyPr>
          <a:lstStyle/>
          <a:p>
            <a:pPr algn="ctr">
              <a:defRPr sz="2813" b="1">
                <a:solidFill>
                  <a:srgbClr val="11745A"/>
                </a:solidFill>
                <a:latin typeface="Arial"/>
                <a:ea typeface="Arial"/>
                <a:cs typeface="Arial"/>
              </a:defRPr>
            </a:pPr>
            <a:r>
              <a:rPr sz="2813" b="1">
                <a:solidFill>
                  <a:srgbClr val="11745A"/>
                </a:solidFill>
                <a:latin typeface="Arial"/>
                <a:ea typeface="Arial"/>
                <a:cs typeface="Arial"/>
              </a:rPr>
              <a:t>4,140 ÷ 12 = 345</a:t>
            </a:r>
          </a:p>
        </p:txBody>
      </p:sp>
    </p:spTree>
    <p:extLst>
      <p:ext uri="{BB962C8B-B14F-4D97-AF65-F5344CB8AC3E}">
        <p14:creationId xmlns:p14="http://schemas.microsoft.com/office/powerpoint/2010/main" val="10672342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childTnLst>
                          </p:cTn>
                        </p:par>
                        <p:par>
                          <p:cTn id="13" fill="hold">
                            <p:stCondLst>
                              <p:cond delay="0"/>
                            </p:stCondLst>
                            <p:childTnLst>
                              <p:par>
                                <p:cTn id="14" presetID="63" presetClass="path" presetSubtype="0" accel="50000" decel="50000" fill="hold" grpId="1" nodeType="afterEffect">
                                  <p:stCondLst>
                                    <p:cond delay="0"/>
                                  </p:stCondLst>
                                  <p:childTnLst>
                                    <p:animMotion origin="layout" path="M 0 0 L 0.296875 0.27083333 E" pathEditMode="relative" ptsTypes="">
                                      <p:cBhvr>
                                        <p:cTn id="15" dur="800" fill="hold"/>
                                        <p:tgtEl>
                                          <p:spTgt spid="17"/>
                                        </p:tgtEl>
                                        <p:attrNameLst>
                                          <p:attrName>ppt_x</p:attrName>
                                          <p:attrName>ppt_y</p:attrName>
                                        </p:attrNameLst>
                                      </p:cBhvr>
                                    </p:animMotion>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18"/>
                                        </p:tgtEl>
                                        <p:attrNameLst>
                                          <p:attrName>style.visibility</p:attrName>
                                        </p:attrNameLst>
                                      </p:cBhvr>
                                      <p:to>
                                        <p:strVal val="visible"/>
                                      </p:to>
                                    </p:set>
                                  </p:childTnLst>
                                </p:cTn>
                              </p:par>
                              <p:par>
                                <p:cTn id="20" presetID="1" presetClass="exit" presetSubtype="0" fill="hold" grpId="1" nodeType="withEffect">
                                  <p:stCondLst>
                                    <p:cond delay="0"/>
                                  </p:stCondLst>
                                  <p:childTnLst>
                                    <p:set>
                                      <p:cBhvr>
                                        <p:cTn id="21" dur="1" fill="hold">
                                          <p:stCondLst>
                                            <p:cond delay="0"/>
                                          </p:stCondLst>
                                        </p:cTn>
                                        <p:tgtEl>
                                          <p:spTgt spid="15"/>
                                        </p:tgtEl>
                                        <p:attrNameLst>
                                          <p:attrName>style.visibility</p:attrName>
                                        </p:attrNameLst>
                                      </p:cBhvr>
                                      <p:to>
                                        <p:strVal val="hidden"/>
                                      </p:to>
                                    </p:set>
                                  </p:childTnLst>
                                </p:cTn>
                              </p:par>
                              <p:par>
                                <p:cTn id="22" presetID="1" presetClass="exit" presetSubtype="0" fill="hold" grpId="1" nodeType="withEffect">
                                  <p:stCondLst>
                                    <p:cond delay="0"/>
                                  </p:stCondLst>
                                  <p:childTnLst>
                                    <p:set>
                                      <p:cBhvr>
                                        <p:cTn id="23" dur="1" fill="hold">
                                          <p:stCondLst>
                                            <p:cond delay="0"/>
                                          </p:stCondLst>
                                        </p:cTn>
                                        <p:tgtEl>
                                          <p:spTgt spid="16"/>
                                        </p:tgtEl>
                                        <p:attrNameLst>
                                          <p:attrName>style.visibility</p:attrName>
                                        </p:attrNameLst>
                                      </p:cBhvr>
                                      <p:to>
                                        <p:strVal val="hidden"/>
                                      </p:to>
                                    </p:set>
                                  </p:childTnLst>
                                </p:cTn>
                              </p:par>
                              <p:par>
                                <p:cTn id="24" presetID="1" presetClass="exit" presetSubtype="0" fill="hold" grpId="2" nodeType="withEffect">
                                  <p:stCondLst>
                                    <p:cond delay="0"/>
                                  </p:stCondLst>
                                  <p:childTnLst>
                                    <p:set>
                                      <p:cBhvr>
                                        <p:cTn id="25" dur="1" fill="hold">
                                          <p:stCondLst>
                                            <p:cond delay="0"/>
                                          </p:stCondLst>
                                        </p:cTn>
                                        <p:tgtEl>
                                          <p:spTgt spid="17"/>
                                        </p:tgtEl>
                                        <p:attrNameLst>
                                          <p:attrName>style.visibility</p:attrName>
                                        </p:attrNameLst>
                                      </p:cBhvr>
                                      <p:to>
                                        <p:strVal val="hidden"/>
                                      </p:to>
                                    </p:set>
                                  </p:childTnLst>
                                </p:cTn>
                              </p:par>
                              <p:par>
                                <p:cTn id="26" presetID="1" presetClass="entr" presetSubtype="0" fill="hold" grpId="0" nodeType="withEffect">
                                  <p:stCondLst>
                                    <p:cond delay="0"/>
                                  </p:stCondLst>
                                  <p:childTnLst>
                                    <p:set>
                                      <p:cBhvr>
                                        <p:cTn id="27" dur="1" fill="hold">
                                          <p:stCondLst>
                                            <p:cond delay="0"/>
                                          </p:stCondLst>
                                        </p:cTn>
                                        <p:tgtEl>
                                          <p:spTgt spid="19"/>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0"/>
                                        </p:tgtEl>
                                        <p:attrNameLst>
                                          <p:attrName>style.visibility</p:attrName>
                                        </p:attrNameLst>
                                      </p:cBhvr>
                                      <p:to>
                                        <p:strVal val="visible"/>
                                      </p:to>
                                    </p:set>
                                  </p:childTnLst>
                                </p:cTn>
                              </p:par>
                              <p:par>
                                <p:cTn id="30" presetID="1" presetClass="entr" presetSubtype="0" fill="hold" grpId="0" nodeType="withEffect">
                                  <p:stCondLst>
                                    <p:cond delay="0"/>
                                  </p:stCondLst>
                                  <p:childTnLst>
                                    <p:set>
                                      <p:cBhvr>
                                        <p:cTn id="31" dur="1" fill="hold">
                                          <p:stCondLst>
                                            <p:cond delay="0"/>
                                          </p:stCondLst>
                                        </p:cTn>
                                        <p:tgtEl>
                                          <p:spTgt spid="21"/>
                                        </p:tgtEl>
                                        <p:attrNameLst>
                                          <p:attrName>style.visibility</p:attrName>
                                        </p:attrNameLst>
                                      </p:cBhvr>
                                      <p:to>
                                        <p:strVal val="visible"/>
                                      </p:to>
                                    </p:set>
                                  </p:childTnLst>
                                </p:cTn>
                              </p:par>
                            </p:childTnLst>
                          </p:cTn>
                        </p:par>
                        <p:par>
                          <p:cTn id="32" fill="hold">
                            <p:stCondLst>
                              <p:cond delay="0"/>
                            </p:stCondLst>
                            <p:childTnLst>
                              <p:par>
                                <p:cTn id="33" presetID="63" presetClass="path" presetSubtype="0" accel="50000" decel="50000" fill="hold" grpId="1" nodeType="afterEffect">
                                  <p:stCondLst>
                                    <p:cond delay="0"/>
                                  </p:stCondLst>
                                  <p:childTnLst>
                                    <p:animMotion origin="layout" path="M 0 0 L 0.23828125 0.27083333 E" pathEditMode="relative" ptsTypes="">
                                      <p:cBhvr>
                                        <p:cTn id="34" dur="800" fill="hold"/>
                                        <p:tgtEl>
                                          <p:spTgt spid="21"/>
                                        </p:tgtEl>
                                        <p:attrNameLst>
                                          <p:attrName>ppt_x</p:attrName>
                                          <p:attrName>ppt_y</p:attrName>
                                        </p:attrNameLst>
                                      </p:cBhvr>
                                    </p:animMotion>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2"/>
                                        </p:tgtEl>
                                        <p:attrNameLst>
                                          <p:attrName>style.visibility</p:attrName>
                                        </p:attrNameLst>
                                      </p:cBhvr>
                                      <p:to>
                                        <p:strVal val="visible"/>
                                      </p:to>
                                    </p:set>
                                  </p:childTnLst>
                                </p:cTn>
                              </p:par>
                              <p:par>
                                <p:cTn id="39" presetID="1" presetClass="exit" presetSubtype="0" fill="hold" grpId="1" nodeType="withEffect">
                                  <p:stCondLst>
                                    <p:cond delay="0"/>
                                  </p:stCondLst>
                                  <p:childTnLst>
                                    <p:set>
                                      <p:cBhvr>
                                        <p:cTn id="40" dur="1" fill="hold">
                                          <p:stCondLst>
                                            <p:cond delay="0"/>
                                          </p:stCondLst>
                                        </p:cTn>
                                        <p:tgtEl>
                                          <p:spTgt spid="19"/>
                                        </p:tgtEl>
                                        <p:attrNameLst>
                                          <p:attrName>style.visibility</p:attrName>
                                        </p:attrNameLst>
                                      </p:cBhvr>
                                      <p:to>
                                        <p:strVal val="hidden"/>
                                      </p:to>
                                    </p:set>
                                  </p:childTnLst>
                                </p:cTn>
                              </p:par>
                              <p:par>
                                <p:cTn id="41" presetID="1" presetClass="exit" presetSubtype="0" fill="hold" grpId="1" nodeType="withEffect">
                                  <p:stCondLst>
                                    <p:cond delay="0"/>
                                  </p:stCondLst>
                                  <p:childTnLst>
                                    <p:set>
                                      <p:cBhvr>
                                        <p:cTn id="42" dur="1" fill="hold">
                                          <p:stCondLst>
                                            <p:cond delay="0"/>
                                          </p:stCondLst>
                                        </p:cTn>
                                        <p:tgtEl>
                                          <p:spTgt spid="20"/>
                                        </p:tgtEl>
                                        <p:attrNameLst>
                                          <p:attrName>style.visibility</p:attrName>
                                        </p:attrNameLst>
                                      </p:cBhvr>
                                      <p:to>
                                        <p:strVal val="hidden"/>
                                      </p:to>
                                    </p:set>
                                  </p:childTnLst>
                                </p:cTn>
                              </p:par>
                              <p:par>
                                <p:cTn id="43" presetID="1" presetClass="exit" presetSubtype="0" fill="hold" grpId="2" nodeType="withEffect">
                                  <p:stCondLst>
                                    <p:cond delay="0"/>
                                  </p:stCondLst>
                                  <p:childTnLst>
                                    <p:set>
                                      <p:cBhvr>
                                        <p:cTn id="44" dur="1" fill="hold">
                                          <p:stCondLst>
                                            <p:cond delay="0"/>
                                          </p:stCondLst>
                                        </p:cTn>
                                        <p:tgtEl>
                                          <p:spTgt spid="21"/>
                                        </p:tgtEl>
                                        <p:attrNameLst>
                                          <p:attrName>style.visibility</p:attrName>
                                        </p:attrNameLst>
                                      </p:cBhvr>
                                      <p:to>
                                        <p:strVal val="hidden"/>
                                      </p:to>
                                    </p:set>
                                  </p:childTnLst>
                                </p:cTn>
                              </p:par>
                              <p:par>
                                <p:cTn id="45" presetID="1" presetClass="entr" presetSubtype="0" fill="hold" grpId="0" nodeType="withEffect">
                                  <p:stCondLst>
                                    <p:cond delay="0"/>
                                  </p:stCondLst>
                                  <p:childTnLst>
                                    <p:set>
                                      <p:cBhvr>
                                        <p:cTn id="46" dur="1" fill="hold">
                                          <p:stCondLst>
                                            <p:cond delay="0"/>
                                          </p:stCondLst>
                                        </p:cTn>
                                        <p:tgtEl>
                                          <p:spTgt spid="23"/>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4"/>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P spid="15" grpId="1"/>
      <p:bldP spid="16" grpId="0"/>
      <p:bldP spid="16" grpId="1"/>
      <p:bldP spid="17" grpId="0"/>
      <p:bldP spid="17" grpId="1"/>
      <p:bldP spid="17" grpId="2"/>
      <p:bldP spid="18" grpId="0"/>
      <p:bldP spid="19" grpId="0"/>
      <p:bldP spid="19" grpId="1"/>
      <p:bldP spid="20" grpId="0"/>
      <p:bldP spid="20" grpId="1"/>
      <p:bldP spid="21" grpId="0"/>
      <p:bldP spid="21" grpId="1"/>
      <p:bldP spid="21" grpId="2"/>
      <p:bldP spid="22" grpId="0"/>
      <p:bldP spid="23" grpId="0"/>
      <p:bldP spid="24" grpId="0"/>
      <p:bldP spid="25"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7" name="object-1">
            <a:extLst>
              <a:ext uri="{FF2B5EF4-FFF2-40B4-BE49-F238E27FC236}">
                <a16:creationId xmlns:a16="http://schemas.microsoft.com/office/drawing/2014/main" id="{77A5A13D-A7B7-4ADF-A213-2BB3C58063EE}"/>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You do</a:t>
            </a:r>
          </a:p>
        </p:txBody>
      </p:sp>
      <p:sp>
        <p:nvSpPr>
          <p:cNvPr id="2" name="object-2">
            <a:extLst>
              <a:ext uri="{FF2B5EF4-FFF2-40B4-BE49-F238E27FC236}">
                <a16:creationId xmlns:a16="http://schemas.microsoft.com/office/drawing/2014/main" id="{E5607B75-0D3B-46B4-8B3C-4357BD6CC6C1}"/>
              </a:ext>
            </a:extLst>
          </p:cNvPr>
          <p:cNvSpPr>
            <a:spLocks noGrp="1"/>
          </p:cNvSpPr>
          <p:nvPr/>
        </p:nvSpPr>
        <p:spPr>
          <a:xfrm>
            <a:off x="11430000" y="476250"/>
            <a:ext cx="3155156" cy="547688"/>
          </a:xfrm>
          <a:prstGeom prst="rect">
            <a:avLst/>
          </a:prstGeom>
          <a:noFill/>
          <a:ln w="0">
            <a:noFill/>
          </a:ln>
        </p:spPr>
        <p:txBody>
          <a:bodyPr anchor="ctr">
            <a:noAutofit/>
          </a:bodyPr>
          <a:lstStyle/>
          <a:p>
            <a:pPr algn="r">
              <a:defRPr sz="2625" b="0">
                <a:solidFill>
                  <a:srgbClr val="52647A"/>
                </a:solidFill>
                <a:latin typeface="Arial"/>
                <a:ea typeface="Arial"/>
                <a:cs typeface="Arial"/>
              </a:defRPr>
            </a:pPr>
            <a:r>
              <a:rPr sz="2625" b="0">
                <a:solidFill>
                  <a:srgbClr val="52647A"/>
                </a:solidFill>
                <a:latin typeface="Arial"/>
                <a:ea typeface="Arial"/>
                <a:cs typeface="Arial"/>
              </a:rPr>
              <a:t>You try.</a:t>
            </a:r>
          </a:p>
        </p:txBody>
      </p:sp>
      <p:sp>
        <p:nvSpPr>
          <p:cNvPr id="3" name="object-3">
            <a:extLst>
              <a:ext uri="{FF2B5EF4-FFF2-40B4-BE49-F238E27FC236}">
                <a16:creationId xmlns:a16="http://schemas.microsoft.com/office/drawing/2014/main" id="{5E3749F0-FDB7-4312-BB24-CD8FB6718150}"/>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Try these questions.</a:t>
            </a:r>
          </a:p>
        </p:txBody>
      </p:sp>
      <p:sp>
        <p:nvSpPr>
          <p:cNvPr id="4" name="object-4">
            <a:extLst>
              <a:ext uri="{FF2B5EF4-FFF2-40B4-BE49-F238E27FC236}">
                <a16:creationId xmlns:a16="http://schemas.microsoft.com/office/drawing/2014/main" id="{6BEB9D8B-7ED8-4892-B807-80EA98ABB731}"/>
              </a:ext>
            </a:extLst>
          </p:cNvPr>
          <p:cNvSpPr>
            <a:spLocks noGrp="1"/>
          </p:cNvSpPr>
          <p:nvPr/>
        </p:nvSpPr>
        <p:spPr>
          <a:xfrm>
            <a:off x="654844" y="8012906"/>
            <a:ext cx="13930313" cy="11906"/>
          </a:xfrm>
          <a:prstGeom prst="rect">
            <a:avLst/>
          </a:prstGeom>
          <a:solidFill>
            <a:srgbClr val="BCD0EA"/>
          </a:solidFill>
          <a:ln w="0">
            <a:noFill/>
          </a:ln>
        </p:spPr>
      </p:sp>
      <p:sp>
        <p:nvSpPr>
          <p:cNvPr id="5" name="object-5">
            <a:extLst>
              <a:ext uri="{FF2B5EF4-FFF2-40B4-BE49-F238E27FC236}">
                <a16:creationId xmlns:a16="http://schemas.microsoft.com/office/drawing/2014/main" id="{ADE48EA3-FE0E-413C-9FA9-4BD9554D0DA6}"/>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Use short division with two-digit divisors</a:t>
            </a:r>
          </a:p>
        </p:txBody>
      </p:sp>
      <p:sp>
        <p:nvSpPr>
          <p:cNvPr id="6" name="object-6">
            <a:extLst>
              <a:ext uri="{FF2B5EF4-FFF2-40B4-BE49-F238E27FC236}">
                <a16:creationId xmlns:a16="http://schemas.microsoft.com/office/drawing/2014/main" id="{4975F3B4-229F-4D0E-A6BF-4DA3477AEE10}"/>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6</a:t>
            </a:r>
          </a:p>
        </p:txBody>
      </p:sp>
      <p:sp>
        <p:nvSpPr>
          <p:cNvPr id="7" name="object-7">
            <a:extLst>
              <a:ext uri="{FF2B5EF4-FFF2-40B4-BE49-F238E27FC236}">
                <a16:creationId xmlns:a16="http://schemas.microsoft.com/office/drawing/2014/main" id="{14A4F18E-90EE-4C87-A0F6-64173B1C3A41}"/>
              </a:ext>
            </a:extLst>
          </p:cNvPr>
          <p:cNvSpPr>
            <a:spLocks noGrp="1"/>
          </p:cNvSpPr>
          <p:nvPr/>
        </p:nvSpPr>
        <p:spPr>
          <a:xfrm>
            <a:off x="773906" y="2512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1.</a:t>
            </a:r>
          </a:p>
        </p:txBody>
      </p:sp>
      <p:sp>
        <p:nvSpPr>
          <p:cNvPr id="8" name="object-8">
            <a:extLst>
              <a:ext uri="{FF2B5EF4-FFF2-40B4-BE49-F238E27FC236}">
                <a16:creationId xmlns:a16="http://schemas.microsoft.com/office/drawing/2014/main" id="{78E9E247-B620-45DD-980E-2BB203D72FC9}"/>
              </a:ext>
            </a:extLst>
          </p:cNvPr>
          <p:cNvSpPr>
            <a:spLocks noGrp="1"/>
          </p:cNvSpPr>
          <p:nvPr/>
        </p:nvSpPr>
        <p:spPr>
          <a:xfrm>
            <a:off x="1464469" y="251221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Calculate 3,744 / 12.</a:t>
            </a:r>
          </a:p>
        </p:txBody>
      </p:sp>
      <p:sp>
        <p:nvSpPr>
          <p:cNvPr id="9" name="object-9">
            <a:extLst>
              <a:ext uri="{FF2B5EF4-FFF2-40B4-BE49-F238E27FC236}">
                <a16:creationId xmlns:a16="http://schemas.microsoft.com/office/drawing/2014/main" id="{FE77802E-08B5-46B2-A628-A249B8E54399}"/>
              </a:ext>
            </a:extLst>
          </p:cNvPr>
          <p:cNvSpPr>
            <a:spLocks noGrp="1"/>
          </p:cNvSpPr>
          <p:nvPr/>
        </p:nvSpPr>
        <p:spPr>
          <a:xfrm>
            <a:off x="773906" y="35599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2.</a:t>
            </a:r>
          </a:p>
        </p:txBody>
      </p:sp>
      <p:sp>
        <p:nvSpPr>
          <p:cNvPr id="10" name="object-10">
            <a:extLst>
              <a:ext uri="{FF2B5EF4-FFF2-40B4-BE49-F238E27FC236}">
                <a16:creationId xmlns:a16="http://schemas.microsoft.com/office/drawing/2014/main" id="{E1FF0271-1967-4A6B-B661-8902D5952029}"/>
              </a:ext>
            </a:extLst>
          </p:cNvPr>
          <p:cNvSpPr>
            <a:spLocks noGrp="1"/>
          </p:cNvSpPr>
          <p:nvPr/>
        </p:nvSpPr>
        <p:spPr>
          <a:xfrm>
            <a:off x="1464469" y="355996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Calculate 5,616 / 18.</a:t>
            </a:r>
          </a:p>
        </p:txBody>
      </p:sp>
      <p:sp>
        <p:nvSpPr>
          <p:cNvPr id="11" name="object-11">
            <a:extLst>
              <a:ext uri="{FF2B5EF4-FFF2-40B4-BE49-F238E27FC236}">
                <a16:creationId xmlns:a16="http://schemas.microsoft.com/office/drawing/2014/main" id="{9F90247C-3AF1-44FE-9494-B1BAF20307A9}"/>
              </a:ext>
            </a:extLst>
          </p:cNvPr>
          <p:cNvSpPr>
            <a:spLocks noGrp="1"/>
          </p:cNvSpPr>
          <p:nvPr/>
        </p:nvSpPr>
        <p:spPr>
          <a:xfrm>
            <a:off x="773906" y="46077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3.</a:t>
            </a:r>
          </a:p>
        </p:txBody>
      </p:sp>
      <p:sp>
        <p:nvSpPr>
          <p:cNvPr id="12" name="object-12">
            <a:extLst>
              <a:ext uri="{FF2B5EF4-FFF2-40B4-BE49-F238E27FC236}">
                <a16:creationId xmlns:a16="http://schemas.microsoft.com/office/drawing/2014/main" id="{3A0A4EA8-74A5-40D2-8E90-26D06CA911BC}"/>
              </a:ext>
            </a:extLst>
          </p:cNvPr>
          <p:cNvSpPr>
            <a:spLocks noGrp="1"/>
          </p:cNvSpPr>
          <p:nvPr/>
        </p:nvSpPr>
        <p:spPr>
          <a:xfrm>
            <a:off x="1464469" y="460771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Calculate 8,064 / 21.</a:t>
            </a:r>
          </a:p>
        </p:txBody>
      </p:sp>
      <p:sp>
        <p:nvSpPr>
          <p:cNvPr id="13" name="object-13">
            <a:extLst>
              <a:ext uri="{FF2B5EF4-FFF2-40B4-BE49-F238E27FC236}">
                <a16:creationId xmlns:a16="http://schemas.microsoft.com/office/drawing/2014/main" id="{386A15A3-9109-4F2D-906D-A3EE989F37C7}"/>
              </a:ext>
            </a:extLst>
          </p:cNvPr>
          <p:cNvSpPr>
            <a:spLocks noGrp="1"/>
          </p:cNvSpPr>
          <p:nvPr/>
        </p:nvSpPr>
        <p:spPr>
          <a:xfrm>
            <a:off x="773906" y="56554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4.</a:t>
            </a:r>
          </a:p>
        </p:txBody>
      </p:sp>
      <p:sp>
        <p:nvSpPr>
          <p:cNvPr id="14" name="object-14">
            <a:extLst>
              <a:ext uri="{FF2B5EF4-FFF2-40B4-BE49-F238E27FC236}">
                <a16:creationId xmlns:a16="http://schemas.microsoft.com/office/drawing/2014/main" id="{188EE124-0B4D-4A2D-875D-A5D3F8A5D137}"/>
              </a:ext>
            </a:extLst>
          </p:cNvPr>
          <p:cNvSpPr>
            <a:spLocks noGrp="1"/>
          </p:cNvSpPr>
          <p:nvPr/>
        </p:nvSpPr>
        <p:spPr>
          <a:xfrm>
            <a:off x="1464469" y="565546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Solve this independently and show every stage: Calculate 3,744 / 12.</a:t>
            </a:r>
          </a:p>
        </p:txBody>
      </p:sp>
      <p:sp>
        <p:nvSpPr>
          <p:cNvPr id="15" name="object-15">
            <a:extLst>
              <a:ext uri="{FF2B5EF4-FFF2-40B4-BE49-F238E27FC236}">
                <a16:creationId xmlns:a16="http://schemas.microsoft.com/office/drawing/2014/main" id="{4DA49AB8-8EC1-4F34-92D1-D6878F773D82}"/>
              </a:ext>
            </a:extLst>
          </p:cNvPr>
          <p:cNvSpPr>
            <a:spLocks noGrp="1"/>
          </p:cNvSpPr>
          <p:nvPr/>
        </p:nvSpPr>
        <p:spPr>
          <a:xfrm>
            <a:off x="773906" y="6703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5.</a:t>
            </a:r>
          </a:p>
        </p:txBody>
      </p:sp>
      <p:sp>
        <p:nvSpPr>
          <p:cNvPr id="16" name="object-16">
            <a:extLst>
              <a:ext uri="{FF2B5EF4-FFF2-40B4-BE49-F238E27FC236}">
                <a16:creationId xmlns:a16="http://schemas.microsoft.com/office/drawing/2014/main" id="{E5FC2DC2-A657-40F2-9BE9-BAA05DBCEC1B}"/>
              </a:ext>
            </a:extLst>
          </p:cNvPr>
          <p:cNvSpPr>
            <a:spLocks noGrp="1"/>
          </p:cNvSpPr>
          <p:nvPr/>
        </p:nvSpPr>
        <p:spPr>
          <a:xfrm>
            <a:off x="1464469" y="670321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Use a second method or representation for: Calculate 5,616 / 18.</a:t>
            </a:r>
          </a:p>
        </p:txBody>
      </p:sp>
      <p:sp>
        <p:nvSpPr>
          <p:cNvPr id="17" name="object-17">
            <a:extLst>
              <a:ext uri="{FF2B5EF4-FFF2-40B4-BE49-F238E27FC236}">
                <a16:creationId xmlns:a16="http://schemas.microsoft.com/office/drawing/2014/main" id="{32261A62-CAEB-496A-B749-1123FD131A13}"/>
              </a:ext>
            </a:extLst>
          </p:cNvPr>
          <p:cNvSpPr>
            <a:spLocks noGrp="1"/>
          </p:cNvSpPr>
          <p:nvPr/>
        </p:nvSpPr>
        <p:spPr>
          <a:xfrm>
            <a:off x="8215313" y="2512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6.</a:t>
            </a:r>
          </a:p>
        </p:txBody>
      </p:sp>
      <p:sp>
        <p:nvSpPr>
          <p:cNvPr id="18" name="object-18">
            <a:extLst>
              <a:ext uri="{FF2B5EF4-FFF2-40B4-BE49-F238E27FC236}">
                <a16:creationId xmlns:a16="http://schemas.microsoft.com/office/drawing/2014/main" id="{80D7B21B-48E0-4A8D-9568-ED78A90AC9CF}"/>
              </a:ext>
            </a:extLst>
          </p:cNvPr>
          <p:cNvSpPr>
            <a:spLocks noGrp="1"/>
          </p:cNvSpPr>
          <p:nvPr/>
        </p:nvSpPr>
        <p:spPr>
          <a:xfrm>
            <a:off x="8905875" y="251221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Check this result using an inverse, estimate or known fact: Calculate 8,064 / 21.</a:t>
            </a:r>
          </a:p>
        </p:txBody>
      </p:sp>
      <p:sp>
        <p:nvSpPr>
          <p:cNvPr id="19" name="object-19">
            <a:extLst>
              <a:ext uri="{FF2B5EF4-FFF2-40B4-BE49-F238E27FC236}">
                <a16:creationId xmlns:a16="http://schemas.microsoft.com/office/drawing/2014/main" id="{3573A134-FDC2-4F19-A7FC-E37F52FEBBF5}"/>
              </a:ext>
            </a:extLst>
          </p:cNvPr>
          <p:cNvSpPr>
            <a:spLocks noGrp="1"/>
          </p:cNvSpPr>
          <p:nvPr/>
        </p:nvSpPr>
        <p:spPr>
          <a:xfrm>
            <a:off x="8215313" y="35599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7.</a:t>
            </a:r>
          </a:p>
        </p:txBody>
      </p:sp>
      <p:sp>
        <p:nvSpPr>
          <p:cNvPr id="20" name="object-20">
            <a:extLst>
              <a:ext uri="{FF2B5EF4-FFF2-40B4-BE49-F238E27FC236}">
                <a16:creationId xmlns:a16="http://schemas.microsoft.com/office/drawing/2014/main" id="{0897ED10-C7FB-45A3-B018-4FB5A3E1D96F}"/>
              </a:ext>
            </a:extLst>
          </p:cNvPr>
          <p:cNvSpPr>
            <a:spLocks noGrp="1"/>
          </p:cNvSpPr>
          <p:nvPr/>
        </p:nvSpPr>
        <p:spPr>
          <a:xfrm>
            <a:off x="8905875" y="355996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Explain why short division is efficient for 9,600 / 24.</a:t>
            </a:r>
          </a:p>
        </p:txBody>
      </p:sp>
      <p:sp>
        <p:nvSpPr>
          <p:cNvPr id="21" name="object-21">
            <a:extLst>
              <a:ext uri="{FF2B5EF4-FFF2-40B4-BE49-F238E27FC236}">
                <a16:creationId xmlns:a16="http://schemas.microsoft.com/office/drawing/2014/main" id="{A3E18439-9841-4A8A-BC38-A33E2D983B3D}"/>
              </a:ext>
            </a:extLst>
          </p:cNvPr>
          <p:cNvSpPr>
            <a:spLocks noGrp="1"/>
          </p:cNvSpPr>
          <p:nvPr/>
        </p:nvSpPr>
        <p:spPr>
          <a:xfrm>
            <a:off x="8215313" y="46077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8.</a:t>
            </a:r>
          </a:p>
        </p:txBody>
      </p:sp>
      <p:sp>
        <p:nvSpPr>
          <p:cNvPr id="22" name="object-22">
            <a:extLst>
              <a:ext uri="{FF2B5EF4-FFF2-40B4-BE49-F238E27FC236}">
                <a16:creationId xmlns:a16="http://schemas.microsoft.com/office/drawing/2014/main" id="{E35E68E0-2B10-4445-8883-EA5C48CDA6A5}"/>
              </a:ext>
            </a:extLst>
          </p:cNvPr>
          <p:cNvSpPr>
            <a:spLocks noGrp="1"/>
          </p:cNvSpPr>
          <p:nvPr/>
        </p:nvSpPr>
        <p:spPr>
          <a:xfrm>
            <a:off x="8905875" y="460771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Identify and correct this misconception: Miro uses a one-digit division fact and forgets the full two-digit divisor.</a:t>
            </a:r>
          </a:p>
        </p:txBody>
      </p:sp>
      <p:sp>
        <p:nvSpPr>
          <p:cNvPr id="23" name="object-23">
            <a:extLst>
              <a:ext uri="{FF2B5EF4-FFF2-40B4-BE49-F238E27FC236}">
                <a16:creationId xmlns:a16="http://schemas.microsoft.com/office/drawing/2014/main" id="{B80A9B15-3EA4-4E8D-B96A-64A7D9F485BA}"/>
              </a:ext>
            </a:extLst>
          </p:cNvPr>
          <p:cNvSpPr>
            <a:spLocks noGrp="1"/>
          </p:cNvSpPr>
          <p:nvPr/>
        </p:nvSpPr>
        <p:spPr>
          <a:xfrm>
            <a:off x="8215313" y="56554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9.</a:t>
            </a:r>
          </a:p>
        </p:txBody>
      </p:sp>
      <p:sp>
        <p:nvSpPr>
          <p:cNvPr id="24" name="object-24">
            <a:extLst>
              <a:ext uri="{FF2B5EF4-FFF2-40B4-BE49-F238E27FC236}">
                <a16:creationId xmlns:a16="http://schemas.microsoft.com/office/drawing/2014/main" id="{0C6AA36C-3F33-4866-A5E8-9657D7FA4339}"/>
              </a:ext>
            </a:extLst>
          </p:cNvPr>
          <p:cNvSpPr>
            <a:spLocks noGrp="1"/>
          </p:cNvSpPr>
          <p:nvPr/>
        </p:nvSpPr>
        <p:spPr>
          <a:xfrm>
            <a:off x="8905875" y="565546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Write a complete sentence explaining how you checked one answer.</a:t>
            </a:r>
          </a:p>
        </p:txBody>
      </p:sp>
      <p:sp>
        <p:nvSpPr>
          <p:cNvPr id="25" name="object-25">
            <a:extLst>
              <a:ext uri="{FF2B5EF4-FFF2-40B4-BE49-F238E27FC236}">
                <a16:creationId xmlns:a16="http://schemas.microsoft.com/office/drawing/2014/main" id="{C5497156-DC36-40C2-9404-969E468B69AC}"/>
              </a:ext>
            </a:extLst>
          </p:cNvPr>
          <p:cNvSpPr>
            <a:spLocks noGrp="1"/>
          </p:cNvSpPr>
          <p:nvPr/>
        </p:nvSpPr>
        <p:spPr>
          <a:xfrm>
            <a:off x="8215313" y="6703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10.</a:t>
            </a:r>
          </a:p>
        </p:txBody>
      </p:sp>
      <p:sp>
        <p:nvSpPr>
          <p:cNvPr id="26" name="object-26">
            <a:extLst>
              <a:ext uri="{FF2B5EF4-FFF2-40B4-BE49-F238E27FC236}">
                <a16:creationId xmlns:a16="http://schemas.microsoft.com/office/drawing/2014/main" id="{10647566-D283-44A7-AC0C-A90AA3988956}"/>
              </a:ext>
            </a:extLst>
          </p:cNvPr>
          <p:cNvSpPr>
            <a:spLocks noGrp="1"/>
          </p:cNvSpPr>
          <p:nvPr/>
        </p:nvSpPr>
        <p:spPr>
          <a:xfrm>
            <a:off x="8905875" y="670321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Write and solve a similar question to: Calculate 8,064 / 21.</a:t>
            </a:r>
          </a:p>
        </p:txBody>
      </p:sp>
    </p:spTree>
    <p:extLst>
      <p:ext uri="{BB962C8B-B14F-4D97-AF65-F5344CB8AC3E}">
        <p14:creationId xmlns:p14="http://schemas.microsoft.com/office/powerpoint/2010/main" val="16300605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 name="object-1">
            <a:extLst>
              <a:ext uri="{FF2B5EF4-FFF2-40B4-BE49-F238E27FC236}">
                <a16:creationId xmlns:a16="http://schemas.microsoft.com/office/drawing/2014/main" id="{0310F10A-BFD6-44A3-BC67-3097AF6252DC}"/>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Answers</a:t>
            </a:r>
          </a:p>
        </p:txBody>
      </p:sp>
      <p:sp>
        <p:nvSpPr>
          <p:cNvPr id="2" name="object-2">
            <a:extLst>
              <a:ext uri="{FF2B5EF4-FFF2-40B4-BE49-F238E27FC236}">
                <a16:creationId xmlns:a16="http://schemas.microsoft.com/office/drawing/2014/main" id="{96579199-5310-401E-9DAD-740964516796}"/>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Check your answers. Explain any corrections.</a:t>
            </a:r>
          </a:p>
        </p:txBody>
      </p:sp>
      <p:sp>
        <p:nvSpPr>
          <p:cNvPr id="3" name="object-3">
            <a:extLst>
              <a:ext uri="{FF2B5EF4-FFF2-40B4-BE49-F238E27FC236}">
                <a16:creationId xmlns:a16="http://schemas.microsoft.com/office/drawing/2014/main" id="{145AA6B5-F045-4360-8538-4810745D1BED}"/>
              </a:ext>
            </a:extLst>
          </p:cNvPr>
          <p:cNvSpPr>
            <a:spLocks noGrp="1"/>
          </p:cNvSpPr>
          <p:nvPr/>
        </p:nvSpPr>
        <p:spPr>
          <a:xfrm>
            <a:off x="654844" y="8012906"/>
            <a:ext cx="13930313" cy="11906"/>
          </a:xfrm>
          <a:prstGeom prst="rect">
            <a:avLst/>
          </a:prstGeom>
          <a:solidFill>
            <a:srgbClr val="BCD0EA"/>
          </a:solidFill>
          <a:ln w="0">
            <a:noFill/>
          </a:ln>
        </p:spPr>
      </p:sp>
      <p:sp>
        <p:nvSpPr>
          <p:cNvPr id="4" name="object-4">
            <a:extLst>
              <a:ext uri="{FF2B5EF4-FFF2-40B4-BE49-F238E27FC236}">
                <a16:creationId xmlns:a16="http://schemas.microsoft.com/office/drawing/2014/main" id="{912EF380-6739-4E63-A7C1-E346DBB95AE7}"/>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Use short division with two-digit divisors</a:t>
            </a:r>
          </a:p>
        </p:txBody>
      </p:sp>
      <p:sp>
        <p:nvSpPr>
          <p:cNvPr id="5" name="object-5">
            <a:extLst>
              <a:ext uri="{FF2B5EF4-FFF2-40B4-BE49-F238E27FC236}">
                <a16:creationId xmlns:a16="http://schemas.microsoft.com/office/drawing/2014/main" id="{C1F7B097-E0A8-4875-9120-8C17D64CA06C}"/>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7</a:t>
            </a:r>
          </a:p>
        </p:txBody>
      </p:sp>
      <p:sp>
        <p:nvSpPr>
          <p:cNvPr id="6" name="object-6">
            <a:extLst>
              <a:ext uri="{FF2B5EF4-FFF2-40B4-BE49-F238E27FC236}">
                <a16:creationId xmlns:a16="http://schemas.microsoft.com/office/drawing/2014/main" id="{7606C663-1033-4EAF-BA96-932789C9B953}"/>
              </a:ext>
            </a:extLst>
          </p:cNvPr>
          <p:cNvSpPr>
            <a:spLocks noGrp="1"/>
          </p:cNvSpPr>
          <p:nvPr/>
        </p:nvSpPr>
        <p:spPr>
          <a:xfrm>
            <a:off x="773906" y="2512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1.</a:t>
            </a:r>
          </a:p>
        </p:txBody>
      </p:sp>
      <p:sp>
        <p:nvSpPr>
          <p:cNvPr id="7" name="object-7">
            <a:extLst>
              <a:ext uri="{FF2B5EF4-FFF2-40B4-BE49-F238E27FC236}">
                <a16:creationId xmlns:a16="http://schemas.microsoft.com/office/drawing/2014/main" id="{6F3D267E-A1BB-482E-955E-94D3846005D4}"/>
              </a:ext>
            </a:extLst>
          </p:cNvPr>
          <p:cNvSpPr>
            <a:spLocks noGrp="1"/>
          </p:cNvSpPr>
          <p:nvPr/>
        </p:nvSpPr>
        <p:spPr>
          <a:xfrm>
            <a:off x="1464469" y="251221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312.</a:t>
            </a:r>
          </a:p>
        </p:txBody>
      </p:sp>
      <p:sp>
        <p:nvSpPr>
          <p:cNvPr id="8" name="object-8">
            <a:extLst>
              <a:ext uri="{FF2B5EF4-FFF2-40B4-BE49-F238E27FC236}">
                <a16:creationId xmlns:a16="http://schemas.microsoft.com/office/drawing/2014/main" id="{9EABF3A6-E7AA-49E0-B431-C3D0E22DDB26}"/>
              </a:ext>
            </a:extLst>
          </p:cNvPr>
          <p:cNvSpPr>
            <a:spLocks noGrp="1"/>
          </p:cNvSpPr>
          <p:nvPr/>
        </p:nvSpPr>
        <p:spPr>
          <a:xfrm>
            <a:off x="773906" y="35599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2.</a:t>
            </a:r>
          </a:p>
        </p:txBody>
      </p:sp>
      <p:sp>
        <p:nvSpPr>
          <p:cNvPr id="9" name="object-9">
            <a:extLst>
              <a:ext uri="{FF2B5EF4-FFF2-40B4-BE49-F238E27FC236}">
                <a16:creationId xmlns:a16="http://schemas.microsoft.com/office/drawing/2014/main" id="{F7D3C935-D4E8-4BB6-8977-1C35C333DC33}"/>
              </a:ext>
            </a:extLst>
          </p:cNvPr>
          <p:cNvSpPr>
            <a:spLocks noGrp="1"/>
          </p:cNvSpPr>
          <p:nvPr/>
        </p:nvSpPr>
        <p:spPr>
          <a:xfrm>
            <a:off x="1464469" y="355996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312.</a:t>
            </a:r>
          </a:p>
        </p:txBody>
      </p:sp>
      <p:sp>
        <p:nvSpPr>
          <p:cNvPr id="10" name="object-10">
            <a:extLst>
              <a:ext uri="{FF2B5EF4-FFF2-40B4-BE49-F238E27FC236}">
                <a16:creationId xmlns:a16="http://schemas.microsoft.com/office/drawing/2014/main" id="{67841DE7-7B57-4E8E-BCB8-9DD292A0BD5A}"/>
              </a:ext>
            </a:extLst>
          </p:cNvPr>
          <p:cNvSpPr>
            <a:spLocks noGrp="1"/>
          </p:cNvSpPr>
          <p:nvPr/>
        </p:nvSpPr>
        <p:spPr>
          <a:xfrm>
            <a:off x="773906" y="46077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3.</a:t>
            </a:r>
          </a:p>
        </p:txBody>
      </p:sp>
      <p:sp>
        <p:nvSpPr>
          <p:cNvPr id="11" name="object-11">
            <a:extLst>
              <a:ext uri="{FF2B5EF4-FFF2-40B4-BE49-F238E27FC236}">
                <a16:creationId xmlns:a16="http://schemas.microsoft.com/office/drawing/2014/main" id="{385FE9B8-BE4B-4BA2-B1EE-EC377AFEA4DD}"/>
              </a:ext>
            </a:extLst>
          </p:cNvPr>
          <p:cNvSpPr>
            <a:spLocks noGrp="1"/>
          </p:cNvSpPr>
          <p:nvPr/>
        </p:nvSpPr>
        <p:spPr>
          <a:xfrm>
            <a:off x="1464469" y="460771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384.</a:t>
            </a:r>
          </a:p>
        </p:txBody>
      </p:sp>
      <p:sp>
        <p:nvSpPr>
          <p:cNvPr id="12" name="object-12">
            <a:extLst>
              <a:ext uri="{FF2B5EF4-FFF2-40B4-BE49-F238E27FC236}">
                <a16:creationId xmlns:a16="http://schemas.microsoft.com/office/drawing/2014/main" id="{36E49C52-3819-4145-B24C-AEBAE34F113E}"/>
              </a:ext>
            </a:extLst>
          </p:cNvPr>
          <p:cNvSpPr>
            <a:spLocks noGrp="1"/>
          </p:cNvSpPr>
          <p:nvPr/>
        </p:nvSpPr>
        <p:spPr>
          <a:xfrm>
            <a:off x="773906" y="56554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4.</a:t>
            </a:r>
          </a:p>
        </p:txBody>
      </p:sp>
      <p:sp>
        <p:nvSpPr>
          <p:cNvPr id="13" name="object-13">
            <a:extLst>
              <a:ext uri="{FF2B5EF4-FFF2-40B4-BE49-F238E27FC236}">
                <a16:creationId xmlns:a16="http://schemas.microsoft.com/office/drawing/2014/main" id="{DA372CCE-A22C-443C-9724-AAA596619B9F}"/>
              </a:ext>
            </a:extLst>
          </p:cNvPr>
          <p:cNvSpPr>
            <a:spLocks noGrp="1"/>
          </p:cNvSpPr>
          <p:nvPr/>
        </p:nvSpPr>
        <p:spPr>
          <a:xfrm>
            <a:off x="1464469" y="565546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312.</a:t>
            </a:r>
          </a:p>
        </p:txBody>
      </p:sp>
      <p:sp>
        <p:nvSpPr>
          <p:cNvPr id="14" name="object-14">
            <a:extLst>
              <a:ext uri="{FF2B5EF4-FFF2-40B4-BE49-F238E27FC236}">
                <a16:creationId xmlns:a16="http://schemas.microsoft.com/office/drawing/2014/main" id="{F701A497-9CF4-4573-866C-F53FC977BE60}"/>
              </a:ext>
            </a:extLst>
          </p:cNvPr>
          <p:cNvSpPr>
            <a:spLocks noGrp="1"/>
          </p:cNvSpPr>
          <p:nvPr/>
        </p:nvSpPr>
        <p:spPr>
          <a:xfrm>
            <a:off x="773906" y="6703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5.</a:t>
            </a:r>
          </a:p>
        </p:txBody>
      </p:sp>
      <p:sp>
        <p:nvSpPr>
          <p:cNvPr id="15" name="object-15">
            <a:extLst>
              <a:ext uri="{FF2B5EF4-FFF2-40B4-BE49-F238E27FC236}">
                <a16:creationId xmlns:a16="http://schemas.microsoft.com/office/drawing/2014/main" id="{FC66532D-A014-48D0-9D7C-320A9069D8EB}"/>
              </a:ext>
            </a:extLst>
          </p:cNvPr>
          <p:cNvSpPr>
            <a:spLocks noGrp="1"/>
          </p:cNvSpPr>
          <p:nvPr/>
        </p:nvSpPr>
        <p:spPr>
          <a:xfrm>
            <a:off x="1464469" y="670321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Expected result: 312. Method or representation may vary.</a:t>
            </a:r>
          </a:p>
        </p:txBody>
      </p:sp>
      <p:sp>
        <p:nvSpPr>
          <p:cNvPr id="16" name="object-16">
            <a:extLst>
              <a:ext uri="{FF2B5EF4-FFF2-40B4-BE49-F238E27FC236}">
                <a16:creationId xmlns:a16="http://schemas.microsoft.com/office/drawing/2014/main" id="{B29605B5-C201-4230-85DC-CA43EFF892CA}"/>
              </a:ext>
            </a:extLst>
          </p:cNvPr>
          <p:cNvSpPr>
            <a:spLocks noGrp="1"/>
          </p:cNvSpPr>
          <p:nvPr/>
        </p:nvSpPr>
        <p:spPr>
          <a:xfrm>
            <a:off x="8215313" y="2512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6.</a:t>
            </a:r>
          </a:p>
        </p:txBody>
      </p:sp>
      <p:sp>
        <p:nvSpPr>
          <p:cNvPr id="17" name="object-17">
            <a:extLst>
              <a:ext uri="{FF2B5EF4-FFF2-40B4-BE49-F238E27FC236}">
                <a16:creationId xmlns:a16="http://schemas.microsoft.com/office/drawing/2014/main" id="{6F7B4B79-7CD0-4C2C-9B4A-F83AFC9F35CA}"/>
              </a:ext>
            </a:extLst>
          </p:cNvPr>
          <p:cNvSpPr>
            <a:spLocks noGrp="1"/>
          </p:cNvSpPr>
          <p:nvPr/>
        </p:nvSpPr>
        <p:spPr>
          <a:xfrm>
            <a:off x="8905875" y="251221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Expected result: 384. A valid check must be shown.</a:t>
            </a:r>
          </a:p>
        </p:txBody>
      </p:sp>
      <p:sp>
        <p:nvSpPr>
          <p:cNvPr id="18" name="object-18">
            <a:extLst>
              <a:ext uri="{FF2B5EF4-FFF2-40B4-BE49-F238E27FC236}">
                <a16:creationId xmlns:a16="http://schemas.microsoft.com/office/drawing/2014/main" id="{6190D274-E176-47AF-A2EA-88546F719132}"/>
              </a:ext>
            </a:extLst>
          </p:cNvPr>
          <p:cNvSpPr>
            <a:spLocks noGrp="1"/>
          </p:cNvSpPr>
          <p:nvPr/>
        </p:nvSpPr>
        <p:spPr>
          <a:xfrm>
            <a:off x="8215313" y="35599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7.</a:t>
            </a:r>
          </a:p>
        </p:txBody>
      </p:sp>
      <p:sp>
        <p:nvSpPr>
          <p:cNvPr id="19" name="object-19">
            <a:extLst>
              <a:ext uri="{FF2B5EF4-FFF2-40B4-BE49-F238E27FC236}">
                <a16:creationId xmlns:a16="http://schemas.microsoft.com/office/drawing/2014/main" id="{F53ADB75-D255-4EC8-845A-95F95AC43F9D}"/>
              </a:ext>
            </a:extLst>
          </p:cNvPr>
          <p:cNvSpPr>
            <a:spLocks noGrp="1"/>
          </p:cNvSpPr>
          <p:nvPr/>
        </p:nvSpPr>
        <p:spPr>
          <a:xfrm>
            <a:off x="8905875" y="355996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Known multiples of 24 make each stage manageable; the quotient is 400.</a:t>
            </a:r>
          </a:p>
        </p:txBody>
      </p:sp>
      <p:sp>
        <p:nvSpPr>
          <p:cNvPr id="20" name="object-20">
            <a:extLst>
              <a:ext uri="{FF2B5EF4-FFF2-40B4-BE49-F238E27FC236}">
                <a16:creationId xmlns:a16="http://schemas.microsoft.com/office/drawing/2014/main" id="{9E3F189F-0F22-4DB5-8DDF-6590BFBFDF02}"/>
              </a:ext>
            </a:extLst>
          </p:cNvPr>
          <p:cNvSpPr>
            <a:spLocks noGrp="1"/>
          </p:cNvSpPr>
          <p:nvPr/>
        </p:nvSpPr>
        <p:spPr>
          <a:xfrm>
            <a:off x="8215313" y="46077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8.</a:t>
            </a:r>
          </a:p>
        </p:txBody>
      </p:sp>
      <p:sp>
        <p:nvSpPr>
          <p:cNvPr id="21" name="object-21">
            <a:extLst>
              <a:ext uri="{FF2B5EF4-FFF2-40B4-BE49-F238E27FC236}">
                <a16:creationId xmlns:a16="http://schemas.microsoft.com/office/drawing/2014/main" id="{689869D4-D9AA-4AF2-BC30-2ECD3083267D}"/>
              </a:ext>
            </a:extLst>
          </p:cNvPr>
          <p:cNvSpPr>
            <a:spLocks noGrp="1"/>
          </p:cNvSpPr>
          <p:nvPr/>
        </p:nvSpPr>
        <p:spPr>
          <a:xfrm>
            <a:off x="8905875" y="460771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Each quotient digit must represent a multiple of the complete divisor.</a:t>
            </a:r>
          </a:p>
        </p:txBody>
      </p:sp>
      <p:sp>
        <p:nvSpPr>
          <p:cNvPr id="22" name="object-22">
            <a:extLst>
              <a:ext uri="{FF2B5EF4-FFF2-40B4-BE49-F238E27FC236}">
                <a16:creationId xmlns:a16="http://schemas.microsoft.com/office/drawing/2014/main" id="{99023624-CDD6-4C2C-B3BB-89EF7D356120}"/>
              </a:ext>
            </a:extLst>
          </p:cNvPr>
          <p:cNvSpPr>
            <a:spLocks noGrp="1"/>
          </p:cNvSpPr>
          <p:nvPr/>
        </p:nvSpPr>
        <p:spPr>
          <a:xfrm>
            <a:off x="8215313" y="56554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9.</a:t>
            </a:r>
          </a:p>
        </p:txBody>
      </p:sp>
      <p:sp>
        <p:nvSpPr>
          <p:cNvPr id="23" name="object-23">
            <a:extLst>
              <a:ext uri="{FF2B5EF4-FFF2-40B4-BE49-F238E27FC236}">
                <a16:creationId xmlns:a16="http://schemas.microsoft.com/office/drawing/2014/main" id="{9BD85F79-F25C-4678-B890-42E71204A98A}"/>
              </a:ext>
            </a:extLst>
          </p:cNvPr>
          <p:cNvSpPr>
            <a:spLocks noGrp="1"/>
          </p:cNvSpPr>
          <p:nvPr/>
        </p:nvSpPr>
        <p:spPr>
          <a:xfrm>
            <a:off x="8905875" y="565546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Answer should name an inverse, estimate, boundary, known fact or equivalent representation.</a:t>
            </a:r>
          </a:p>
        </p:txBody>
      </p:sp>
      <p:sp>
        <p:nvSpPr>
          <p:cNvPr id="24" name="object-24">
            <a:extLst>
              <a:ext uri="{FF2B5EF4-FFF2-40B4-BE49-F238E27FC236}">
                <a16:creationId xmlns:a16="http://schemas.microsoft.com/office/drawing/2014/main" id="{142F08A1-9FF3-40C9-AC58-71EE9BE7AF6F}"/>
              </a:ext>
            </a:extLst>
          </p:cNvPr>
          <p:cNvSpPr>
            <a:spLocks noGrp="1"/>
          </p:cNvSpPr>
          <p:nvPr/>
        </p:nvSpPr>
        <p:spPr>
          <a:xfrm>
            <a:off x="8215313" y="6703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10.</a:t>
            </a:r>
          </a:p>
        </p:txBody>
      </p:sp>
      <p:sp>
        <p:nvSpPr>
          <p:cNvPr id="25" name="object-25">
            <a:extLst>
              <a:ext uri="{FF2B5EF4-FFF2-40B4-BE49-F238E27FC236}">
                <a16:creationId xmlns:a16="http://schemas.microsoft.com/office/drawing/2014/main" id="{9A1544F7-8BCA-4E0B-9080-4F73E6E36DC6}"/>
              </a:ext>
            </a:extLst>
          </p:cNvPr>
          <p:cNvSpPr>
            <a:spLocks noGrp="1"/>
          </p:cNvSpPr>
          <p:nvPr/>
        </p:nvSpPr>
        <p:spPr>
          <a:xfrm>
            <a:off x="8905875" y="670321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Answers vary. The new question must use the same mathematical structure and include a correct solution.</a:t>
            </a:r>
          </a:p>
        </p:txBody>
      </p:sp>
    </p:spTree>
    <p:extLst>
      <p:ext uri="{BB962C8B-B14F-4D97-AF65-F5344CB8AC3E}">
        <p14:creationId xmlns:p14="http://schemas.microsoft.com/office/powerpoint/2010/main" val="845426649"/>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1122</Words>
  <Application>Microsoft Office PowerPoint</Application>
  <DocSecurity>0</DocSecurity>
  <PresentationFormat>Custom</PresentationFormat>
  <Paragraphs>154</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Garima Sharma</cp:lastModifiedBy>
  <cp:revision>1</cp:revision>
  <dcterms:created xsi:type="dcterms:W3CDTF">2026-09-14T13:14:15Z</dcterms:created>
  <dcterms:modified xsi:type="dcterms:W3CDTF">2026-09-14T13:18:21Z</dcterms:modified>
</cp:coreProperties>
</file>