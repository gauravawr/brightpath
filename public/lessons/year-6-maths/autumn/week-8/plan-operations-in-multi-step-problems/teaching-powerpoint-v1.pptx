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5240000" cy="8572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Plan operations in multi-step problems. Plan operations in multi-step problems. Introduce the mathematical idea using the first worked example. The lesson can be placed anywhere in the teaching sequence.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Plan operations in multi-step problems. I do. Identify the operation represented by each part. Reveal one calculation at a time, then follow the result into the next step.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Plan operations in multi-step problems. You do. Pause before clicking. Let pupils try independently, then reveal and discuss every step. Identify the operation represented by each part. Reveal one calculation at a time, then follow the result into the next step.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Plan operations in multi-step problems. I do. Identify the operation represented by each part. Reveal one calculation at a time, then follow the result into the next step.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Plan operations in multi-step problems. You do. Pause before clicking. Let pupils try independently, then reveal and discuss every step. Identify the operation represented by each part. Reveal one calculation at a time, then follow the result into the next step.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Plan operations in multi-step problems. You do. Pause before clicking. Let pupils try independently, then reveal and discuss every step. These are the existing expected-level worksheet questions, in their original order. Do not advance to the answer slide until pupils have had time to finish.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Plan operations in multi-step problems. Answers. Answers to the preceding complete activity question set, in matching order. Accept mathematically valid alternatives for open questions.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-1">
            <a:extLst>
              <a:ext uri="{FF2B5EF4-FFF2-40B4-BE49-F238E27FC236}">
                <a16:creationId xmlns:a16="http://schemas.microsoft.com/office/drawing/2014/main" id="{BED31556-5B8D-421B-9E53-A6BC803443A8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15478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Plan operations in multi-step problems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199C79F0-4204-4918-95E9-9FC55EB79AE1}"/>
              </a:ext>
            </a:extLst>
          </p:cNvPr>
          <p:cNvSpPr>
            <a:spLocks noGrp="1"/>
          </p:cNvSpPr>
          <p:nvPr/>
        </p:nvSpPr>
        <p:spPr>
          <a:xfrm>
            <a:off x="654844" y="2024063"/>
            <a:ext cx="13930313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Watch the model. Try the next question. Explain what changes.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B543BFDD-F0FD-4225-B4AD-92EB0868082A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2137DFEF-5282-48FA-9A95-489064914D37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Plan operations in multi-step problems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60AEB0DD-13AB-4F2A-B703-0D31E0762205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E1315860-2B12-41B5-8BB3-1B41B3530553}"/>
              </a:ext>
            </a:extLst>
          </p:cNvPr>
          <p:cNvSpPr>
            <a:spLocks noGrp="1"/>
          </p:cNvSpPr>
          <p:nvPr/>
        </p:nvSpPr>
        <p:spPr>
          <a:xfrm>
            <a:off x="1190625" y="3631406"/>
            <a:ext cx="12858750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To identify the operations and order needed to solve a problem.</a:t>
            </a:r>
          </a:p>
        </p:txBody>
      </p:sp>
    </p:spTree>
    <p:extLst>
      <p:ext uri="{BB962C8B-B14F-4D97-AF65-F5344CB8AC3E}">
        <p14:creationId xmlns:p14="http://schemas.microsoft.com/office/powerpoint/2010/main" val="11249153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-1">
            <a:extLst>
              <a:ext uri="{FF2B5EF4-FFF2-40B4-BE49-F238E27FC236}">
                <a16:creationId xmlns:a16="http://schemas.microsoft.com/office/drawing/2014/main" id="{9ED3B890-5610-4AAC-8474-044D59E484A1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E4EFE475-3520-46CC-A1AF-8213DF31682D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48 × 125 − 3,760.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AF4BA8F0-86F6-43D2-BF01-447E50832E4C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5BF6C38D-A77C-4CA6-BFD2-EAD10D42E498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Plan operations in multi-step problems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BAF44D3A-AB69-4EAB-9D5D-8F5ADF921589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1B3DECC8-C185-43C2-BE8C-39CC90EDC114}"/>
              </a:ext>
            </a:extLst>
          </p:cNvPr>
          <p:cNvSpPr>
            <a:spLocks noGrp="1"/>
          </p:cNvSpPr>
          <p:nvPr/>
        </p:nvSpPr>
        <p:spPr>
          <a:xfrm>
            <a:off x="1012031" y="2714625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48 × 125 =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592A343C-C642-40F2-BF45-0C7EA78C952F}"/>
              </a:ext>
            </a:extLst>
          </p:cNvPr>
          <p:cNvSpPr>
            <a:spLocks noGrp="1"/>
          </p:cNvSpPr>
          <p:nvPr/>
        </p:nvSpPr>
        <p:spPr>
          <a:xfrm>
            <a:off x="9346406" y="2714625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6,000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D3DDE019-9235-4797-9BCE-021AC3DA5B3E}"/>
              </a:ext>
            </a:extLst>
          </p:cNvPr>
          <p:cNvSpPr>
            <a:spLocks noGrp="1"/>
          </p:cNvSpPr>
          <p:nvPr/>
        </p:nvSpPr>
        <p:spPr>
          <a:xfrm>
            <a:off x="1012031" y="4064000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6,000 − 3,760 =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A6AC52A4-8435-4D69-968E-A7D99475D83F}"/>
              </a:ext>
            </a:extLst>
          </p:cNvPr>
          <p:cNvSpPr>
            <a:spLocks noGrp="1"/>
          </p:cNvSpPr>
          <p:nvPr/>
        </p:nvSpPr>
        <p:spPr>
          <a:xfrm>
            <a:off x="9346406" y="4064000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2,240</a:t>
            </a:r>
          </a:p>
        </p:txBody>
      </p:sp>
    </p:spTree>
    <p:extLst>
      <p:ext uri="{BB962C8B-B14F-4D97-AF65-F5344CB8AC3E}">
        <p14:creationId xmlns:p14="http://schemas.microsoft.com/office/powerpoint/2010/main" val="738930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12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22" dur="8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7" grpId="1"/>
      <p:bldP spid="8" grpId="0"/>
      <p:bldP spid="9" grpId="0"/>
      <p:bldP spid="9" grpId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bject-1">
            <a:extLst>
              <a:ext uri="{FF2B5EF4-FFF2-40B4-BE49-F238E27FC236}">
                <a16:creationId xmlns:a16="http://schemas.microsoft.com/office/drawing/2014/main" id="{3119284F-9722-4CAF-9C42-F3010A5B7B57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9C6E852E-69DC-4A78-AEE0-F8345CCF6DA5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D2BDF40C-9E45-4AFF-B68F-B60A5145300B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48 × 125 − 3,770.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C79A4E15-9F05-437E-906E-6721A75858B1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EB066BAF-9FDA-4EDD-A6E0-EC52B2BA0248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Plan operations in multi-step problems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A1985780-D5DC-4E57-B80F-83F2D54C5535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B22A0B35-EC08-4CDF-A589-B88440DF4B60}"/>
              </a:ext>
            </a:extLst>
          </p:cNvPr>
          <p:cNvSpPr>
            <a:spLocks noGrp="1"/>
          </p:cNvSpPr>
          <p:nvPr/>
        </p:nvSpPr>
        <p:spPr>
          <a:xfrm>
            <a:off x="1012031" y="2714625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48 × 125 =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8AC2A955-BE43-430E-945B-1AB09CA681B4}"/>
              </a:ext>
            </a:extLst>
          </p:cNvPr>
          <p:cNvSpPr>
            <a:spLocks noGrp="1"/>
          </p:cNvSpPr>
          <p:nvPr/>
        </p:nvSpPr>
        <p:spPr>
          <a:xfrm>
            <a:off x="9346406" y="2714625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6,000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D6778E1B-22B5-4F24-832D-DADC571D49FC}"/>
              </a:ext>
            </a:extLst>
          </p:cNvPr>
          <p:cNvSpPr>
            <a:spLocks noGrp="1"/>
          </p:cNvSpPr>
          <p:nvPr/>
        </p:nvSpPr>
        <p:spPr>
          <a:xfrm>
            <a:off x="1012031" y="4064000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6,000 − 3,770 =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2FF3F761-FC71-4C82-880E-9CDC7B747A1C}"/>
              </a:ext>
            </a:extLst>
          </p:cNvPr>
          <p:cNvSpPr>
            <a:spLocks noGrp="1"/>
          </p:cNvSpPr>
          <p:nvPr/>
        </p:nvSpPr>
        <p:spPr>
          <a:xfrm>
            <a:off x="9346406" y="4064000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2,230</a:t>
            </a:r>
          </a:p>
        </p:txBody>
      </p:sp>
    </p:spTree>
    <p:extLst>
      <p:ext uri="{BB962C8B-B14F-4D97-AF65-F5344CB8AC3E}">
        <p14:creationId xmlns:p14="http://schemas.microsoft.com/office/powerpoint/2010/main" val="1868177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12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22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8" grpId="1"/>
      <p:bldP spid="9" grpId="0"/>
      <p:bldP spid="10" grpId="0"/>
      <p:bldP spid="10" grpId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-1">
            <a:extLst>
              <a:ext uri="{FF2B5EF4-FFF2-40B4-BE49-F238E27FC236}">
                <a16:creationId xmlns:a16="http://schemas.microsoft.com/office/drawing/2014/main" id="{D8AC5BE4-666A-4EB8-BA69-F8DC04D18D4A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65045A82-8CFC-4D8E-BE35-99B05E5510B4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48 × 125 − 3,780.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DCAB0047-D56B-4B35-80F5-DD68D49EEE84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6E40180F-1172-4F6C-B3F5-D11D5F364744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Plan operations in multi-step problems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272F980A-0DD5-404C-8244-EE1745AD065E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646A6F5D-4DD1-4135-A8C0-BB77FBB1143B}"/>
              </a:ext>
            </a:extLst>
          </p:cNvPr>
          <p:cNvSpPr>
            <a:spLocks noGrp="1"/>
          </p:cNvSpPr>
          <p:nvPr/>
        </p:nvSpPr>
        <p:spPr>
          <a:xfrm>
            <a:off x="1012031" y="2714625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48 × 125 =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A07F5BE2-54EF-4AAE-8949-93A19F185440}"/>
              </a:ext>
            </a:extLst>
          </p:cNvPr>
          <p:cNvSpPr>
            <a:spLocks noGrp="1"/>
          </p:cNvSpPr>
          <p:nvPr/>
        </p:nvSpPr>
        <p:spPr>
          <a:xfrm>
            <a:off x="9346406" y="2714625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6,000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43CE5EFB-004F-44DD-B3AB-AAF8F5F8E9FD}"/>
              </a:ext>
            </a:extLst>
          </p:cNvPr>
          <p:cNvSpPr>
            <a:spLocks noGrp="1"/>
          </p:cNvSpPr>
          <p:nvPr/>
        </p:nvSpPr>
        <p:spPr>
          <a:xfrm>
            <a:off x="1012031" y="4064000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6,000 − 3,780 =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FB37DF6D-71E8-4D66-BDFE-51E35157E875}"/>
              </a:ext>
            </a:extLst>
          </p:cNvPr>
          <p:cNvSpPr>
            <a:spLocks noGrp="1"/>
          </p:cNvSpPr>
          <p:nvPr/>
        </p:nvSpPr>
        <p:spPr>
          <a:xfrm>
            <a:off x="9346406" y="4064000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2,220</a:t>
            </a:r>
          </a:p>
        </p:txBody>
      </p:sp>
    </p:spTree>
    <p:extLst>
      <p:ext uri="{BB962C8B-B14F-4D97-AF65-F5344CB8AC3E}">
        <p14:creationId xmlns:p14="http://schemas.microsoft.com/office/powerpoint/2010/main" val="8385766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12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22" dur="8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7" grpId="1"/>
      <p:bldP spid="8" grpId="0"/>
      <p:bldP spid="9" grpId="0"/>
      <p:bldP spid="9" grpId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bject-1">
            <a:extLst>
              <a:ext uri="{FF2B5EF4-FFF2-40B4-BE49-F238E27FC236}">
                <a16:creationId xmlns:a16="http://schemas.microsoft.com/office/drawing/2014/main" id="{3083CFE2-7134-4898-B601-EF3522E38FCE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DD81640C-CD37-40D3-8D2B-54CFBC4B14F7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F614A4A7-1C68-4AD7-B5AA-9D1FC9DB471D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48 × 125 − 3,790.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830F352B-E96E-4F2E-88C8-F2B937AFE2B5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45F21F23-C366-4C9B-8C4F-7F08E8873A91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Plan operations in multi-step problems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10AFA281-B8BD-46DA-9517-8380D30C9883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3062EA95-5CCB-43C0-AEE3-D4175BD2FDE0}"/>
              </a:ext>
            </a:extLst>
          </p:cNvPr>
          <p:cNvSpPr>
            <a:spLocks noGrp="1"/>
          </p:cNvSpPr>
          <p:nvPr/>
        </p:nvSpPr>
        <p:spPr>
          <a:xfrm>
            <a:off x="1012031" y="2714625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48 × 125 =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2BCF3CA8-E3F5-483E-94C3-B953576CA205}"/>
              </a:ext>
            </a:extLst>
          </p:cNvPr>
          <p:cNvSpPr>
            <a:spLocks noGrp="1"/>
          </p:cNvSpPr>
          <p:nvPr/>
        </p:nvSpPr>
        <p:spPr>
          <a:xfrm>
            <a:off x="9346406" y="2714625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6,000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0508263A-A3B1-40C2-A031-321FA88EC9AD}"/>
              </a:ext>
            </a:extLst>
          </p:cNvPr>
          <p:cNvSpPr>
            <a:spLocks noGrp="1"/>
          </p:cNvSpPr>
          <p:nvPr/>
        </p:nvSpPr>
        <p:spPr>
          <a:xfrm>
            <a:off x="1012031" y="4064000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6,000 − 3,790 =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D3CD6573-C5E4-4B87-BBA9-F0CB08E6B9E6}"/>
              </a:ext>
            </a:extLst>
          </p:cNvPr>
          <p:cNvSpPr>
            <a:spLocks noGrp="1"/>
          </p:cNvSpPr>
          <p:nvPr/>
        </p:nvSpPr>
        <p:spPr>
          <a:xfrm>
            <a:off x="9346406" y="4064000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2,210</a:t>
            </a:r>
          </a:p>
        </p:txBody>
      </p:sp>
    </p:spTree>
    <p:extLst>
      <p:ext uri="{BB962C8B-B14F-4D97-AF65-F5344CB8AC3E}">
        <p14:creationId xmlns:p14="http://schemas.microsoft.com/office/powerpoint/2010/main" val="3737831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12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22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8" grpId="1"/>
      <p:bldP spid="9" grpId="0"/>
      <p:bldP spid="10" grpId="0"/>
      <p:bldP spid="10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B6383B29-D1EB-4550-8F8F-7B7E321CBCF5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1EB30C08-AFE6-4DEF-A6C8-BF798A8BBC99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4AB2D44F-625B-444B-87E0-6F9CACBDCF1A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Try these questions.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A3FAE17D-C625-4E3D-B508-873D328F2B9E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BA4538AE-2403-46EF-AA89-582F3C318F76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Plan operations in multi-step problems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A1CED0CE-FCBB-4DA1-BDCF-CB595F69DDEE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0E0C779A-2D68-46EB-A0C7-34C17FCACD4D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22168859-34DD-41DB-A11C-184A805E11C0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A shop receives 48 boxes of 125 books and sells 3,760 books. How many remain?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5484234E-F1F3-44AB-9E08-D992F42BDE60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D937385F-9DBB-48DA-ABAF-8978CFAA9080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A club collects £18 from each of 236 members, then spends £1,875. How much remains?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F09970DD-8EA1-46E8-BC01-90EEC44C49D3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DFEE2411-4359-4FD0-AF80-A9C6BCBECCDB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an operation plan for sharing 9,450 items into 35 equal groups and adding 12 spare items to each group.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AF0CA548-27D2-4779-B627-EE5F99278571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944D4A68-809F-4D23-9899-DA11716061A8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Solve this independently and show every stage: A shop receives 48 boxes of 125 books and sells 3,760 books. How many remain?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FE7C66C1-7E99-409C-9DD6-2342DC96B712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7E1D9A36-3706-497C-92EB-A83EE0068384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a second method or representation for: A club collects £18 from each of 236 members, then spends £1,875. How much remains?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511372DD-7D18-46EE-B756-8A1EDCC2B8C8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7CEF39A9-64AD-4C57-BD81-2A7E34F0ABF9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688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688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this result using an inverse, estimate or known fact: Write an operation plan for sharing 9,450 items into 35 equal groups and adding 12 spare items to each group.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A7514C48-6E81-4654-8807-7E858231B2CF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A20E005A-92DC-4CCA-B54E-0E6AF85DB3CA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 two-step problem represented by (64 x 28) - 950.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2B3938ED-3DED-41F4-821B-4805787B35A1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0393B5A4-EB13-4205-81B4-631BAE8521CD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Identify and correct this misconception: Miro begins calculating every number in the order it appears.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A7806058-4B4A-4AFF-BCF3-9E5F99AD565F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F622F2AE-C7AE-4199-B32D-259A4A3D7FD3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 complete sentence explaining how you checked one answer.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78EF96B4-8823-4F40-8E8F-1C29C6E6F19D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30FE6FE0-5A08-4E60-86AC-6E0D671B69BC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and solve a similar question to: Write an operation plan for sharing 9,450 items into 35 equal groups and adding 12 spare items to each group.</a:t>
            </a:r>
          </a:p>
        </p:txBody>
      </p:sp>
    </p:spTree>
    <p:extLst>
      <p:ext uri="{BB962C8B-B14F-4D97-AF65-F5344CB8AC3E}">
        <p14:creationId xmlns:p14="http://schemas.microsoft.com/office/powerpoint/2010/main" val="17584859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-1">
            <a:extLst>
              <a:ext uri="{FF2B5EF4-FFF2-40B4-BE49-F238E27FC236}">
                <a16:creationId xmlns:a16="http://schemas.microsoft.com/office/drawing/2014/main" id="{42D817BF-6830-40EA-A401-E2EDC7577B7E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Answers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C7D87F8A-7135-4938-9DF6-C3263991D060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your answers. Explain any corrections.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E48BC653-B2C3-4F63-AC7E-44C094112026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D026B275-B0F1-452C-B5E1-BB2A8FE5FACB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Plan operations in multi-step problems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0087CB14-9125-4EA3-8FEE-288BF7CF0FFA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8F2B6580-9181-4EBD-B962-240B66C4EB5C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BDED93F3-EB49-42F2-8AC3-45D66E5B7087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48 x 125, then subtract 3,760. The answer is 2,240.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CDA719D9-249A-4239-8DC9-E431631494E3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0AD7D972-CB17-4EC9-924F-6BE46522892C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£2,373.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7F5405B0-4C36-4BEC-95F6-79F61556645B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3E8A191E-B399-44B8-BF8F-409BEDF1D91A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Divide 9,450 by 35, then add 12. Each group has 282 items.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E446E9AD-4482-41ED-8E36-2F27CE16D1C9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5398F4D9-EB5A-4ACE-9DBB-3049BF9F2789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48 x 125, then subtract 3,760. The answer is 2,240.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ADA92569-40D5-42D6-A0A3-4D38F8CDDB57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1D289477-7B2A-472A-B535-5F7A3849AA88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£2,373. Method or representation may vary.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DD571488-36CE-45D5-8CC4-9F1D1680D357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4509D874-DA33-4864-B1C5-9C0BB5F8228B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Divide 9,450 by 35, then add 12. Each group has 282 items. A valid check must be shown.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7A4684F2-FBCE-49AA-B589-BCBAE33A3D25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3CBF460A-240E-4EC6-9F21-A41BD195303A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Answers vary. The final answer to the expression is 842.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D5F0CA5B-6B84-498E-AEF6-BA7667BB985D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C842D123-69BE-4527-905A-6204CE7107FC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Plan the relationships first. The order of numbers in the text may not match the calculation order.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6705BAF4-EB32-4E61-95CA-C8ADC01CBA92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583916A9-2276-4557-A650-147DFFE40498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 should name an inverse, estimate, boundary, known fact or equivalent representation.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D241245A-8225-40D9-AFF6-3C8761D82137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268CE1DC-2A30-4303-B19C-399CFC0238A4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Answers vary. The new question must use the same mathematical structure and include a correct solution.</a:t>
            </a:r>
          </a:p>
        </p:txBody>
      </p:sp>
    </p:spTree>
    <p:extLst>
      <p:ext uri="{BB962C8B-B14F-4D97-AF65-F5344CB8AC3E}">
        <p14:creationId xmlns:p14="http://schemas.microsoft.com/office/powerpoint/2010/main" val="136137251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1048</Words>
  <Application>Microsoft Office PowerPoint</Application>
  <DocSecurity>0</DocSecurity>
  <PresentationFormat>Custom</PresentationFormat>
  <Paragraphs>102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2026-09-14T13:19:10Z</dcterms:created>
  <dcterms:modified xsi:type="dcterms:W3CDTF">2026-09-14T13:21:19Z</dcterms:modified>
</cp:coreProperties>
</file>