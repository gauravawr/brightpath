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d7597ba0c9d4e44" /><Relationship Type="http://schemas.openxmlformats.org/officeDocument/2006/relationships/extended-properties" Target="/docProps/app.xml" Id="Rc013758a0a1e4fb1" /><Relationship Type="http://schemas.openxmlformats.org/officeDocument/2006/relationships/officeDocument" Target="/ppt/presentation.xml" Id="R9a46f14337a7430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e94c7c6fbbd4a9f"/>
  </p:sldMasterIdLst>
  <p:notesMasterIdLst>
    <p:notesMasterId xmlns:r="http://schemas.openxmlformats.org/officeDocument/2006/relationships" r:id="R1c6fa4c91f234d9c"/>
  </p:notesMasterIdLst>
  <p:sldIdLst>
    <p:sldId xmlns:r="http://schemas.openxmlformats.org/officeDocument/2006/relationships" id="256" r:id="R607b2d9d01d04b7d"/>
    <p:sldId xmlns:r="http://schemas.openxmlformats.org/officeDocument/2006/relationships" id="257" r:id="Ra18e4a0c7acd44d2"/>
    <p:sldId xmlns:r="http://schemas.openxmlformats.org/officeDocument/2006/relationships" id="258" r:id="Rda0ce8baf0ee470a"/>
    <p:sldId xmlns:r="http://schemas.openxmlformats.org/officeDocument/2006/relationships" id="259" r:id="R4d517bb9854f4f3d"/>
    <p:sldId xmlns:r="http://schemas.openxmlformats.org/officeDocument/2006/relationships" id="260" r:id="R0c5ece2a05c845c5"/>
    <p:sldId xmlns:r="http://schemas.openxmlformats.org/officeDocument/2006/relationships" id="261" r:id="R23da05421d14492b"/>
    <p:sldId xmlns:r="http://schemas.openxmlformats.org/officeDocument/2006/relationships" id="262" r:id="R4e35b9666f354b4e"/>
    <p:sldId xmlns:r="http://schemas.openxmlformats.org/officeDocument/2006/relationships" id="263" r:id="R5171e5f3dbcd4c7b"/>
    <p:sldId xmlns:r="http://schemas.openxmlformats.org/officeDocument/2006/relationships" id="264" r:id="R432452700a7c4fcd"/>
    <p:sldId xmlns:r="http://schemas.openxmlformats.org/officeDocument/2006/relationships" id="265" r:id="Rd3914e717bff45a3"/>
    <p:sldId xmlns:r="http://schemas.openxmlformats.org/officeDocument/2006/relationships" id="266" r:id="R25efd468f6124b6f"/>
    <p:sldId xmlns:r="http://schemas.openxmlformats.org/officeDocument/2006/relationships" id="267" r:id="R3f925edb84264f0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611d3b341384b21" /><Relationship Type="http://schemas.openxmlformats.org/officeDocument/2006/relationships/slideMaster" Target="/ppt/slideMasters/slideMaster1.xml" Id="Rae94c7c6fbbd4a9f" /><Relationship Type="http://schemas.openxmlformats.org/officeDocument/2006/relationships/notesMaster" Target="/ppt/notesMasters/notesMaster1.xml" Id="R1c6fa4c91f234d9c" /><Relationship Type="http://schemas.openxmlformats.org/officeDocument/2006/relationships/presProps" Target="/ppt/presProps.xml" Id="Rdf159f531e8d4582" /><Relationship Type="http://schemas.openxmlformats.org/officeDocument/2006/relationships/tableStyles" Target="/ppt/tableStyles.xml" Id="R1324727512fc4abd" /><Relationship Type="http://schemas.openxmlformats.org/officeDocument/2006/relationships/slide" Target="/ppt/slides/slide1.xml" Id="R607b2d9d01d04b7d" /><Relationship Type="http://schemas.openxmlformats.org/officeDocument/2006/relationships/slide" Target="/ppt/slides/slide2.xml" Id="Ra18e4a0c7acd44d2" /><Relationship Type="http://schemas.openxmlformats.org/officeDocument/2006/relationships/slide" Target="/ppt/slides/slide3.xml" Id="Rda0ce8baf0ee470a" /><Relationship Type="http://schemas.openxmlformats.org/officeDocument/2006/relationships/slide" Target="/ppt/slides/slide4.xml" Id="R4d517bb9854f4f3d" /><Relationship Type="http://schemas.openxmlformats.org/officeDocument/2006/relationships/slide" Target="/ppt/slides/slide5.xml" Id="R0c5ece2a05c845c5" /><Relationship Type="http://schemas.openxmlformats.org/officeDocument/2006/relationships/slide" Target="/ppt/slides/slide6.xml" Id="R23da05421d14492b" /><Relationship Type="http://schemas.openxmlformats.org/officeDocument/2006/relationships/slide" Target="/ppt/slides/slide7.xml" Id="R4e35b9666f354b4e" /><Relationship Type="http://schemas.openxmlformats.org/officeDocument/2006/relationships/slide" Target="/ppt/slides/slide8.xml" Id="R5171e5f3dbcd4c7b" /><Relationship Type="http://schemas.openxmlformats.org/officeDocument/2006/relationships/slide" Target="/ppt/slides/slide9.xml" Id="R432452700a7c4fcd" /><Relationship Type="http://schemas.openxmlformats.org/officeDocument/2006/relationships/slide" Target="/ppt/slides/slide10.xml" Id="Rd3914e717bff45a3" /><Relationship Type="http://schemas.openxmlformats.org/officeDocument/2006/relationships/slide" Target="/ppt/slides/slide11.xml" Id="R25efd468f6124b6f" /><Relationship Type="http://schemas.openxmlformats.org/officeDocument/2006/relationships/slide" Target="/ppt/slides/slide12.xml" Id="R3f925edb84264f0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285f527f0044d3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0bc8ccc4cb14fdc" /><Relationship Type="http://schemas.openxmlformats.org/officeDocument/2006/relationships/notesMaster" Target="/ppt/notesMasters/notesMaster1.xml" Id="Re6e2b9b0e1b94fa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e0f5070d3d149f1" /><Relationship Type="http://schemas.openxmlformats.org/officeDocument/2006/relationships/notesMaster" Target="/ppt/notesMasters/notesMaster1.xml" Id="R93f8408ac23a48d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1fd4bfca5744e7f" /><Relationship Type="http://schemas.openxmlformats.org/officeDocument/2006/relationships/notesMaster" Target="/ppt/notesMasters/notesMaster1.xml" Id="R75c9829d8ca14b2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50825fd183048bb" /><Relationship Type="http://schemas.openxmlformats.org/officeDocument/2006/relationships/notesMaster" Target="/ppt/notesMasters/notesMaster1.xml" Id="R60c362c3c01f4c3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52cb0f8b2804950" /><Relationship Type="http://schemas.openxmlformats.org/officeDocument/2006/relationships/notesMaster" Target="/ppt/notesMasters/notesMaster1.xml" Id="R494275b47bd24a0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9ee604074bc4b3a" /><Relationship Type="http://schemas.openxmlformats.org/officeDocument/2006/relationships/notesMaster" Target="/ppt/notesMasters/notesMaster1.xml" Id="R28a4bfc36170493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e93e6f9a45341cf" /><Relationship Type="http://schemas.openxmlformats.org/officeDocument/2006/relationships/notesMaster" Target="/ppt/notesMasters/notesMaster1.xml" Id="R58696bdc6995480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247d30e0ef843d2" /><Relationship Type="http://schemas.openxmlformats.org/officeDocument/2006/relationships/notesMaster" Target="/ppt/notesMasters/notesMaster1.xml" Id="R7ce6dc2cfc0e497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1128c3a7722400e" /><Relationship Type="http://schemas.openxmlformats.org/officeDocument/2006/relationships/notesMaster" Target="/ppt/notesMasters/notesMaster1.xml" Id="R66055bf4a2c141d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72de201503c41e6" /><Relationship Type="http://schemas.openxmlformats.org/officeDocument/2006/relationships/notesMaster" Target="/ppt/notesMasters/notesMaster1.xml" Id="Rb5783b92ef28456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391b8c7f5f84568" /><Relationship Type="http://schemas.openxmlformats.org/officeDocument/2006/relationships/notesMaster" Target="/ppt/notesMasters/notesMaster1.xml" Id="R4a05a14f91a74a6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0f541edbc6c450a" /><Relationship Type="http://schemas.openxmlformats.org/officeDocument/2006/relationships/notesMaster" Target="/ppt/notesMasters/notesMaster1.xml" Id="R5271d85879bd4d4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Change the date before teaching. Check resources. Read the learning intention aloud and clarify success. Resources: Bar-model templates, highlighters, problem-solving mats, mini whiteboards.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each prompt on click. Use responses to identify pupils who need immediate rehearsal. Suggested responses: Pupil identifies a relevant fact, representation or method. | 3,840 / 24 = 160, then 160 x 15 = 2,400. | Read the whole problem and mark the question and useful information. | Use only information that changes the quantity asked for.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mathematical idea before asking pupils to solve. Define the vocabulary in context: multi-step, operation, information, sequence, sub-total, solution. Reveal the three statements one at a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 do. Reveal the question, then reveal each mathematical change one click at a time. Point to the numbers and operation that changed before moving to the next line. Final answer: Multiplication must represent the total books first, so multiply first. The answer is 2,240.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the answer only after completing the method. Check it against the estimate, inverse or representation. Ask pupils to explain why the answer is reasonable.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 do. Give silent thinking time before paired talk. Take one step at a time. Do not reveal the answer until every pupil has committed. Answer: 3,840 / 24 = 160, then 160 x 15 = 2,400.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Miro is a deliberate misconception prompt. Reveal his claim, let pupils identify the error, then reveal the correction. Do not present Miro as lacking ability. Correction: Use only information that changes the quantity asked for.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whole-class response routines. Reveal each prompt separately. Expected answer: 3,840 / 24 = 160, then 160 x 15 = 2,400.. Insist on a reason, not only a numerical response.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You do. Pupils complete the core question independently before discussion. Answer: 4,590.. Circulate and note methods as well as accuracy.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after secure fluency or as the higher worksheet route. Accept different correct approaches when fully justified. Expected response: Answers vary. The unused information must not affect the required calculation.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only the core independent-practice example. Give pupils time to solve and check before revealing the answer at the side. Answer: 4,590.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one exit question at a time. Answers: 4,590. | Use only information that changes the quantity asked for. | A relevant inverse, estimate, boundary, known fact or equivalent representation.. Record a specific next step from pupil work and explanation.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bcf10d2ecf4b6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40fbed874924ed6" /><Relationship Type="http://schemas.openxmlformats.org/officeDocument/2006/relationships/slideLayout" Target="/ppt/slideLayouts/slideLayout1.xml" Id="Rd6caa40242314ea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6caa40242314ea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f8f8d9bdf64a6c" /><Relationship Type="http://schemas.openxmlformats.org/officeDocument/2006/relationships/notesSlide" Target="/ppt/notesSlides/notesSlide1.xml" Id="Ra14693098fdf480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3741c0d89348d6" /><Relationship Type="http://schemas.openxmlformats.org/officeDocument/2006/relationships/notesSlide" Target="/ppt/notesSlides/notesSlide2.xml" Id="R2fe3df20e63b491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dfff1b11f34e10" /><Relationship Type="http://schemas.openxmlformats.org/officeDocument/2006/relationships/notesSlide" Target="/ppt/notesSlides/notesSlide3.xml" Id="R03d3280ae97541e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b9ab624c3d4be9" /><Relationship Type="http://schemas.openxmlformats.org/officeDocument/2006/relationships/notesSlide" Target="/ppt/notesSlides/notesSlide4.xml" Id="Red7bac5caba6427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f4896ae89041b3" /><Relationship Type="http://schemas.openxmlformats.org/officeDocument/2006/relationships/notesSlide" Target="/ppt/notesSlides/notesSlide5.xml" Id="R2651a6d83c434f7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218e403d4042eb" /><Relationship Type="http://schemas.openxmlformats.org/officeDocument/2006/relationships/notesSlide" Target="/ppt/notesSlides/notesSlide6.xml" Id="R3a3a162a851646f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c6d6fd94b447d9" /><Relationship Type="http://schemas.openxmlformats.org/officeDocument/2006/relationships/image" Target="/ppt/media/image.png" Id="R1229aa81af8b47f9" /><Relationship Type="http://schemas.openxmlformats.org/officeDocument/2006/relationships/notesSlide" Target="/ppt/notesSlides/notesSlide7.xml" Id="R379954397b004ed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05a0a519aa471e" /><Relationship Type="http://schemas.openxmlformats.org/officeDocument/2006/relationships/notesSlide" Target="/ppt/notesSlides/notesSlide8.xml" Id="R454dc06893be4de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d8207fd1d04865" /><Relationship Type="http://schemas.openxmlformats.org/officeDocument/2006/relationships/notesSlide" Target="/ppt/notesSlides/notesSlide9.xml" Id="Rd6ca359914554d4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d6b667b9be457e" /><Relationship Type="http://schemas.openxmlformats.org/officeDocument/2006/relationships/notesSlide" Target="/ppt/notesSlides/notesSlide10.xml" Id="R405bba4c926d407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caf0a1ecd34ed0" /><Relationship Type="http://schemas.openxmlformats.org/officeDocument/2006/relationships/notesSlide" Target="/ppt/notesSlides/notesSlide11.xml" Id="R08cb040c95c4478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ef309edadc4cb1" /><Relationship Type="http://schemas.openxmlformats.org/officeDocument/2006/relationships/notesSlide" Target="/ppt/notesSlides/notesSlide12.xml" Id="R93aadaf185ff4d8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C88B6E-5526-4887-A495-C6CF3804E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E97C3B-CD9E-4A42-B75F-FA7552F04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542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CE6256-9934-480F-8B9E-F8518CB1D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1000"/>
            <a:ext cx="2952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8324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27D814-7A13-4E98-9AD2-58580D274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2387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452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defRPr>
            </a:pPr>
            <a:r>
              <a: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rPr>
              <a:t>Date:  ____ / ____ / ______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603280-24B2-4E00-A05B-F078D7105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857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368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Explain and evaluate multi-step solutions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C6DB4A-8723-45B3-8431-82C356F46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8096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8324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D7DBDC-45EF-4B4B-985D-2E688A7DE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95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defRPr>
            </a:pPr>
            <a:r>
              <a: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rPr>
              <a:t>L.I.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E247A9-19D4-4CA5-950F-8FCCE8EA6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71875"/>
            <a:ext cx="752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32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To compare solution paths and evaluate the reasonableness of answers.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EB243E-18FF-4C73-8333-9780A8702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Ready for learning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7C6B5C-22B3-477E-8737-AE3C102DE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Pencil and ruler ready  |  Mini whiteboard ready  |  Bar-model templates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753FD3-68C7-4694-9600-CD1185905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Today: I do  |  We do  |  You do</a:t>
            </a:r>
          </a:p>
        </p:txBody>
      </p:sp>
    </p:spTree>
    <p:extLst>
      <p:ext uri="{BB962C8B-B14F-4D97-AF65-F5344CB8AC3E}">
        <p14:creationId xmlns:p14="http://schemas.microsoft.com/office/powerpoint/2010/main" val="92007822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F4BB51-983E-463E-8B7A-29FD65E38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4F89B0-A789-4B56-A778-93C4B5681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44060F-B106-4568-823A-8D3DC79B9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9F1703-1FFB-45B4-B6F9-D77DE75C9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BE7653-00AE-4D8C-AD3C-98D19717D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Previous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9F22D3-B67A-4D5E-A264-258892C1F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17E473-FE34-4F2D-ACAB-F6081B9E3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89D8A7-DEA3-4685-95C0-995999B7E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878AAB-13B8-4508-9600-7584A4DE3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Explain and evaluate multi-step solutions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494619-6B12-45E6-867E-68755D1D9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0CA7FE-9AC8-4591-ABA6-7B6608F4A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2AB2FD-C393-41B7-802A-8FACC8165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10B70F-675D-4B17-8B4D-177BF6490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part of this prior learning is secure? Select operations, use formal methods and interpret answers in context.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F1ED64-06D9-471F-84A6-720B9F3DD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F5AC2C-9040-44B9-8074-EFAE18A64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4A6F1C-4C92-47EF-AAD8-B027C5AA9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C755CA-97E4-4BD8-A588-17B3C7AF8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A solution to 3,840 / 24 x 15 gives 10. Find the error and correct it.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5C1053-D87D-4A34-8F2D-6696E12DC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AAC570-3B4E-4CA6-924D-D494BEF33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637185-8C86-4ED8-8898-76C3149AE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05FE20-1625-4A7A-94B6-B1F7D2A7A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Explain the first step you would take for: Two methods solve 48 x 125 - 3,760. One multiplies first; one subtracts first. Which is valid?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6ABAD5-82C1-402A-B821-A19C86373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Commit on your whiteboard before discussing.</a:t>
            </a:r>
          </a:p>
        </p:txBody>
      </p:sp>
    </p:spTree>
    <p:extLst>
      <p:ext uri="{BB962C8B-B14F-4D97-AF65-F5344CB8AC3E}">
        <p14:creationId xmlns:p14="http://schemas.microsoft.com/office/powerpoint/2010/main" val="1214239691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6A1CB3-595C-4F85-9874-030F7B7F3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0F3F66-54AA-45F7-8DC8-2B9EFE5F5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E44AF6-614A-4261-B8EE-5D5997D9B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7EE17E-B107-4E42-B42F-6CB591C15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820BD8-645E-4B45-AD8C-5D424FA09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New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BFFFEF-A08E-4DF7-A9C9-4868C99EC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3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446EE2-12ED-4A2E-9690-754C9EC25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261320-8162-4192-91C5-1A1BCD5EC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047B45-B7E7-47CC-85BB-C40B54D9D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Explain and evaluate multi-step solutions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9B7A06-6656-42D0-BB72-FDFDC1C39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To compare solution paths and evaluate the reasonableness of answers.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742B91-9D4D-4A5C-B3BE-60DED051F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0030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6E1E47-77B2-4454-B7AE-87043C07C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6700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Key idea: Read the whole problem and mark the question and useful information.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D7146E-615B-4621-96F7-0A030F64F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571875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Then: Plan the operations in order before calculating.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A766FB-50CB-422F-AF06-A49439F15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767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Check: Complete each step, label sub-totals and check the final answer in context.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BED1DC-5133-4546-B52A-D1B6C3AA0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72125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Vocabulary: multi-step  |  operation  |  information  |  sequence  |  sub-total  |  solution</a:t>
            </a:r>
          </a:p>
        </p:txBody>
      </p:sp>
    </p:spTree>
    <p:extLst>
      <p:ext uri="{BB962C8B-B14F-4D97-AF65-F5344CB8AC3E}">
        <p14:creationId xmlns:p14="http://schemas.microsoft.com/office/powerpoint/2010/main" val="552265660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</p:bldLst>
  </p:timing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AC50C5-8AEA-4C2E-B08C-D54C05470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B7DD7F-6F24-4FC2-AE50-4B2925397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BCC650-8048-4215-ACC8-D172C504B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FF2039-B195-4E08-9CA8-6B29A949A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1BD86C-DB56-46C7-9B1B-E713325BD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828C62-28CC-4265-A029-91A161158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4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D2AB5C-46CE-4B23-9F84-9F26AD78D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22FAF9-ABE5-41F0-B9B5-65DAD41E2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B98143-DACC-4C59-8EA9-7BAEA19DF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Explain and evaluate multi-step solutions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2FCA75-3C2A-4B5D-AABA-3C8A5796C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19200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Two methods solve 48 x 125 - 3,760. One multiplies first; one subtracts first. Which is valid?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5AF429-2DC1-47C6-80AF-B169F66D9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24075"/>
            <a:ext cx="381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94C8E0-47D9-4761-BCE5-480D93452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002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3AAE55-2DA6-4359-962D-84D236488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14550"/>
            <a:ext cx="9525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48 × 125 - 3,760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538117-2170-4B8D-9E13-9E85D87DC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77177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DC7693-1395-4453-8E8D-84F069E6A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9051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E8F1B3-DB25-45BB-B9E1-055A2FF6E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819400"/>
            <a:ext cx="9525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48 × 125 represents all books received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E315CC-7CE8-4ECC-BBD7-898B60337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4766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ACFE47-D177-40B9-8F82-EA194670F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099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604E70-874B-4271-970C-3A71CD6D2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524250"/>
            <a:ext cx="9525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48 × 125 = 6,000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E525CA-3674-40E9-A95B-8A3BDDA49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18147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518550-0FCE-4D2D-BA54-75816400E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148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1EEC34-0B03-497B-84D8-E7F9FDB20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229100"/>
            <a:ext cx="9525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6,000 - 3,760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287B89-6970-45CF-A82F-F64428641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863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1E47C0-2228-41AB-9166-0251C84D3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0196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0B2C0B-42BA-445F-8320-F7A637850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33950"/>
            <a:ext cx="9525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2,240 books remain</a:t>
            </a:r>
          </a:p>
        </p:txBody>
      </p:sp>
    </p:spTree>
    <p:extLst>
      <p:ext uri="{BB962C8B-B14F-4D97-AF65-F5344CB8AC3E}">
        <p14:creationId xmlns:p14="http://schemas.microsoft.com/office/powerpoint/2010/main" val="2001889086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6" grpId="0"/>
      <p:bldP spid="19" grpId="0"/>
      <p:bldP spid="22" grpId="0"/>
      <p:bldP spid="25" grpId="0"/>
    </p:bldLst>
  </p:timing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6C3483-8754-40FF-B773-A0C898DFA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FEA688-6659-49EE-A7B9-77EBB6444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66CC83-360B-43A9-9587-9F02A4BDE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E72E79-74C3-43C0-AC4E-0CE4421B2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14E590-265C-4BF6-9733-BF6D65ABB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answer and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6B9CAD-3243-451A-8797-E5437D52E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5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D96062-6E37-48FA-9D33-3880522A0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4E204F-0C71-48DD-9B09-944E267D5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95997A-F41C-4A66-8F1F-2FE9B31D4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Explain and evaluate multi-step solutions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53F861-AAA9-436F-8E43-7BF17D095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Model answer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2F7BFA-795C-40E2-84AD-D8D8F6CF3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47875"/>
            <a:ext cx="10191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Multiplication must represent the total books first, so multiply first. The answer is 2,240.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B9D1E8-8CDF-4EBE-94A3-E9C10A62F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38550"/>
            <a:ext cx="1019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3FCB0F-0D15-45A7-9E20-F7FBE2DC5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00500"/>
            <a:ext cx="9429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Reasonableness check: Complete each step, label sub-totals and check the final answer in context.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442514-E23D-4AFC-B5DC-6CEF90C9B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00625"/>
            <a:ext cx="942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which step carries the mathematical meaning and why.</a:t>
            </a:r>
          </a:p>
        </p:txBody>
      </p:sp>
    </p:spTree>
    <p:extLst>
      <p:ext uri="{BB962C8B-B14F-4D97-AF65-F5344CB8AC3E}">
        <p14:creationId xmlns:p14="http://schemas.microsoft.com/office/powerpoint/2010/main" val="29686956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4" grpId="0"/>
    </p:bldLst>
  </p:timing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9E2A1D-E87D-413A-8D5D-74B11EE47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0BA342-2D43-4E08-B47E-9AE0DD09B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CAAEEA-160F-4F8B-9E9E-7A9612EB3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260738-FAA0-4990-B020-332DCD110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A158B1-BFE0-456A-B0C8-7E7F71D50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880A11-2802-4BE3-8844-3606F3432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6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5C97D1-3DD6-4BD8-AC21-B6FF3FBAD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29BE31-53A5-43A2-9AB2-81FC5A4AB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FA285C-3019-4976-A59C-2E0452493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Explain and evaluate multi-step solutions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176F65-2214-4679-92A2-EA0B75D18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24000"/>
            <a:ext cx="10287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A solution to 3,840 / 24 x 15 gives 10. Find the error and correct it.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5BF239-0C7A-4BF5-9322-F9A9E5CA5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Think alone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FEFE86-8591-4AFD-B6D7-A052F7132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Compare a step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0941F0-A55C-498C-96DB-E6FBB0344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Commit together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7B4EE7-8690-4CB9-8610-164E60F9C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57625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representation or operation will we use first?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D6504E-A664-499C-870E-EEA0BE032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10125"/>
            <a:ext cx="8763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Answer: 3,840 / 24 = 160, then 160 x 15 = 2,400.</a:t>
            </a:r>
          </a:p>
        </p:txBody>
      </p:sp>
    </p:spTree>
    <p:extLst>
      <p:ext uri="{BB962C8B-B14F-4D97-AF65-F5344CB8AC3E}">
        <p14:creationId xmlns:p14="http://schemas.microsoft.com/office/powerpoint/2010/main" val="722893242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D4F960-D11D-47E2-9A60-CF25130FD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DD0FBA-4181-4005-B24D-03C06E7D1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A574B0-A5B0-4E3F-B4A0-51E876D8F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1F83EB-5972-4B72-822E-94316F251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86C8F7-1479-488B-B49A-B0FF4D251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Miro's misconception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29B122-A199-45A7-8095-C460168C1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7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06C8B9-6832-4F0B-B60D-808181E88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021413-11AC-4459-ACC1-C5146BB1B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8F3C03-D4C0-44EF-BD60-A93C1D4E3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Explain and evaluate multi-step solutions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29aa81af8b47f9"/>
          <a:stretch xmlns:a="http://schemas.openxmlformats.org/drawingml/2006/main"/>
        </p:blipFill>
        <p:spPr>
          <a:xfrm xmlns:a="http://schemas.openxmlformats.org/drawingml/2006/main">
            <a:off x="8056563" y="1381125"/>
            <a:ext cx="2984500" cy="44767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76178B-1108-46EE-A6ED-2960DC216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240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2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4232B"/>
                </a:solidFill>
                <a:latin typeface="Arial"/>
                <a:ea typeface="Arial"/>
                <a:cs typeface="Arial"/>
              </a:rPr>
              <a:t>Miro thinks...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7EB38D-6938-4413-8728-9099CD4A3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647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 assumes every number in a word problem must be used.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245278-6539-4277-8FAD-43A57B90E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57625"/>
            <a:ext cx="647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785DD8-DA96-4859-985E-D37E14282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What should Miro change?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9AF1BD-4F68-4A25-A332-786C9BD55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14875"/>
            <a:ext cx="647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Use only information that changes the quantity asked for.</a:t>
            </a:r>
          </a:p>
        </p:txBody>
      </p:sp>
    </p:spTree>
    <p:extLst>
      <p:ext uri="{BB962C8B-B14F-4D97-AF65-F5344CB8AC3E}">
        <p14:creationId xmlns:p14="http://schemas.microsoft.com/office/powerpoint/2010/main" val="1132285138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</p:bldLst>
  </p:timing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152B14-72C8-45D6-9869-9BADC7ECE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413055-EAAE-4DD0-BE2F-98A55835A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BD4F43-E3C0-47E0-A900-E020D93F3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FEDD89-B606-42C8-AC4A-0953B4EBE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9B3625-1F87-4EDD-BC93-FAC4104DC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932245-89C1-4953-9310-1791D8D92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8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4DB635-3DB2-41B8-BB4E-908EDD173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956236-F35C-4974-9657-7092CF867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9E9015-3A4A-48E3-83FF-1E5CE3AFE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Explain and evaluate multi-step solutions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9FE3E4-C7FE-4407-8716-6F0962823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EE3DC8-05EE-4B2E-9B62-279B41C80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7A0661-47E2-4FFF-9130-67ACF6E62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D28D2D-ACD9-43DE-B6A2-273019DCA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A solution to 3,840 / 24 x 15 gives 10. Find the error and correct it.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2C5A13-26DB-46CA-BD1F-8C878D0A5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8F4303-8E76-42C9-9248-B96926327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FB1A2F-72B5-40D8-822A-0E04DD8D6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65C9B8-1D0F-4FB6-B509-85824BC4F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Show the first step and explain why it comes first.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E76F94-4848-458A-ABDE-3357EDC2E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282DA9-5ECA-4249-B2D8-A4F6FAF90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B87870-B6A9-4561-9883-0ED0969FE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9071B7-B341-451B-BE3F-2C1848ACD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Compare with the answer: 3,840 / 24 = 160, then 160 x 15 = 2,400.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F14F51-3F0B-46B4-887C-C0FBBB8EC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Agree, disagree or improve the explanation.</a:t>
            </a:r>
          </a:p>
        </p:txBody>
      </p:sp>
    </p:spTree>
    <p:extLst>
      <p:ext uri="{BB962C8B-B14F-4D97-AF65-F5344CB8AC3E}">
        <p14:creationId xmlns:p14="http://schemas.microsoft.com/office/powerpoint/2010/main" val="1107238482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134B65-7087-4ACA-9602-F796D176D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ABFCF9-B012-4BF2-83D2-83D3461D4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214AE5-1F10-460F-B92B-6320919CF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817A44-1EAB-4BF0-9FB9-E812F1806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B90B6B-CD71-4816-800A-65B6EAA7F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fluency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035B37-CFF7-4A88-B5C0-A06D6DB3E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9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3E2AA3-7CA5-4706-AA77-C03797CF2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168C42-DE38-4C8F-9659-EEE534579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A2BD7F-E3E9-4A5F-8C08-8702714CB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Explain and evaluate multi-step solutions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1EB33C-9EF6-4B95-A11F-3334BEA52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BDDEC6-5C77-4F58-990F-6E4520253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B490F0-F243-4438-8FE0-42F4792EC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64D7C2-3F7B-4A7A-ACEA-0D56DA7D7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Solve 96 x 45 + 8,640 / 32.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45D740-A435-4D0B-AF3F-BFF941A4A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EAF17A-7CA3-4807-ACDB-8B0456164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1A3962-09BD-43C9-9425-295B9E772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C0E68C-FE11-4F77-AB0C-D4B4A40D8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Record every stage clearly. Mark the place value, operation or boundary that matters.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E6ACE3-8C51-478A-A6F5-A340CDA4B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F12429-CB04-494D-A22D-93206D624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86C046-32ED-4CDB-8550-BAAA67327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EBDD38-1BA0-4CE5-A945-CBD6297D5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Use an inverse, estimate or equivalent representation to check.</a:t>
            </a:r>
          </a:p>
        </p:txBody>
      </p:sp>
    </p:spTree>
    <p:extLst>
      <p:ext uri="{BB962C8B-B14F-4D97-AF65-F5344CB8AC3E}">
        <p14:creationId xmlns:p14="http://schemas.microsoft.com/office/powerpoint/2010/main" val="2006214633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0C4759-8D92-43BA-8460-93E94D6B8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F4C589-69B7-41DB-9A0D-C8ECAC792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85E552-1767-4C3A-8FC8-7E6927291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22FD02-141D-4916-9906-2A75E287E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25ABC0-BBF5-4B8E-A5C4-D1AD72268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Reasoning and depth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962D56-196F-438E-9C49-395D4ABC5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10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746196-3666-4558-857C-4740E402D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39F3B5-E802-41E0-A94E-102555747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C42D08-0BA4-4FA6-BCCA-2BB0D5322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Explain and evaluate multi-step solutions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5A5951-D5EA-42B8-98CD-E5DBA7EAF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10191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Write a multi-step problem with an unnecessary piece of information and explain why it is unnecessary.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85F745-6761-44A3-8F8F-5139C2028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Show enough evidence for another pupil to follow your reasoning.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3D5E68-173D-4248-A6DD-FF7F18185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43375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Can you find a second method, example or counterexample?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B283B7-0A55-4AC5-93E7-B029280B1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435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242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Teacher check: Answers vary. The unused information must not affect the required calculation.</a:t>
            </a:r>
          </a:p>
        </p:txBody>
      </p:sp>
    </p:spTree>
    <p:extLst>
      <p:ext uri="{BB962C8B-B14F-4D97-AF65-F5344CB8AC3E}">
        <p14:creationId xmlns:p14="http://schemas.microsoft.com/office/powerpoint/2010/main" val="955466012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</p:bldLst>
  </p:timing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D23146-22DC-4159-9F9F-DE0C690F1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D061FE-C766-4410-AE19-4DC648414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AE972E-DD8D-4B85-B2D8-14C07EB00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58341D-EBF2-424C-B5AB-7D369D59C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5A0C37-E939-4972-A9B1-2B9BC60BE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practice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689DC7-A937-472F-BEC8-8C8E63E8D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11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AAB47E-E24F-4508-A993-7E5C281DB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05C2FF-F255-43A1-9BA4-2A445E8F7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F7638D-618E-4FB2-AA44-A22185B62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Explain and evaluate multi-step solutions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A2126E-0BB0-47A0-BB66-4171F5D79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Try this example independently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C6C599-7E3A-473E-BC51-4B3A40381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47875"/>
            <a:ext cx="6858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C054A9-1266-4D0B-A0E4-202E31E93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00300"/>
            <a:ext cx="61150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Solve 96 x 45 + 8,640 / 32.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7AFB25-20F5-4AD7-B8DC-8E7F21BCD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09575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Show your method and check your answer.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C32111-F757-487D-909A-F21B6E123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66875"/>
            <a:ext cx="2619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8AA16E-D1A4-4891-BF76-A7604BB35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90750"/>
            <a:ext cx="3048000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3E7C70-623C-4FD1-977F-DDC69F029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619375"/>
            <a:ext cx="238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4,590.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8C7FE4-DB99-4444-B1B1-A13420A18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0005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825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how you know.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891206-3D01-4FD5-A590-22CF93939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3400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 answer appears on click after pupils have committed.</a:t>
            </a:r>
          </a:p>
        </p:txBody>
      </p:sp>
    </p:spTree>
    <p:extLst>
      <p:ext uri="{BB962C8B-B14F-4D97-AF65-F5344CB8AC3E}">
        <p14:creationId xmlns:p14="http://schemas.microsoft.com/office/powerpoint/2010/main" val="1952033909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F796EE-1D4E-443D-9405-902B8B90C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E66E7A-0588-4629-93DF-3627979C2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BB9A82-93A9-45A2-BD94-6C26FF1F7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CD4283-5782-4766-BE58-09E104782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5F58D8-BB67-4E8B-A8C8-DF2F17E0F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Exit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32067C-F45D-4A41-92A7-37CA5E13B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1EC830-4B06-46DF-AAD0-5054F7A3C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D6A1EE-5AB2-4C85-8E30-3B11F5F27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CA9AFD-5754-436B-B67A-000B638A3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Explain and evaluate multi-step solutions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F2648F-83CE-4FE7-9796-F2EDD042D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C5A2C2-50DD-4179-A35A-5B8CC0365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6AE153-41D1-4494-9795-61AC6BBC9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19AB1D-068A-4649-B4B7-D8806FD93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Solve 96 x 45 + 8,640 / 32.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B64D3A-53B2-49A9-AEAD-428125070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57F2FC-13A2-4768-872F-884B23217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F5B5F4-632D-4647-91ED-0CC6733FA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DD11E5-4D1E-400B-97AB-371A4BCB4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What should Miro correct? Miro assumes every number in a word problem must be used.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7499BB-0873-4014-A267-CB92C18FA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E8B74D-C5B8-401D-837E-46EFCD55C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9A9666-C4CB-4694-A136-86B3B5695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A96ACB-79A9-4B1D-8D2C-03115680F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Name the check you used today.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A22A61-8D69-4D7E-880F-6EE4F2EA9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Teacher records: secure  |  revisit  |  pre-teach next</a:t>
            </a:r>
          </a:p>
        </p:txBody>
      </p:sp>
    </p:spTree>
    <p:extLst>
      <p:ext uri="{BB962C8B-B14F-4D97-AF65-F5344CB8AC3E}">
        <p14:creationId xmlns:p14="http://schemas.microsoft.com/office/powerpoint/2010/main" val="634403026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2026-09-09T22:14:30.2190000Z</dcterms:created>
  <dcterms:modified xsi:type="dcterms:W3CDTF">2026-09-09T22:14:30.2190000Z</dcterms:modified>
</coreProperties>
</file>