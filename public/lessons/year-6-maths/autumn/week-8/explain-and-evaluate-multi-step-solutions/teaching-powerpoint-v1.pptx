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5240000" cy="85725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Explain and evaluate multi-step solutions. Explain and evaluate multi-step solutions. Introduce the mathematical idea using the first worked example. The lesson can be placed anywhere in the teaching sequence.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Explain and evaluate multi-step solutions. I do. Identify the operation represented by each part. Reveal one calculation at a time, then follow the result into the next step.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Explain and evaluate multi-step solutions. You do. Pause before clicking. Let pupils try independently, then reveal and discuss every step. Identify the operation represented by each part. Reveal one calculation at a time, then follow the result into the next step.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Explain and evaluate multi-step solutions. I do. Identify the operation represented by each part. Reveal one calculation at a time, then follow the result into the next step.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Explain and evaluate multi-step solutions. You do. Pause before clicking. Let pupils try independently, then reveal and discuss every step. Identify the operation represented by each part. Reveal one calculation at a time, then follow the result into the next step.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Explain and evaluate multi-step solutions. You do. Pause before clicking. Let pupils try independently, then reveal and discuss every step. These are the existing expected-level worksheet questions, in their original order. Do not advance to the answer slide until pupils have had time to finish.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Explain and evaluate multi-step solutions. Answers. Answers to the preceding complete activity question set, in matching order. Accept mathematically valid alternatives for open questions.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-1">
            <a:extLst>
              <a:ext uri="{FF2B5EF4-FFF2-40B4-BE49-F238E27FC236}">
                <a16:creationId xmlns:a16="http://schemas.microsoft.com/office/drawing/2014/main" id="{369B98A7-84A7-4AE8-B8F4-E59AC38AAB5F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15478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Explain and evaluate multi-step solutions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EF2B676E-C745-422D-A4AB-6D2ACD087F49}"/>
              </a:ext>
            </a:extLst>
          </p:cNvPr>
          <p:cNvSpPr>
            <a:spLocks noGrp="1"/>
          </p:cNvSpPr>
          <p:nvPr/>
        </p:nvSpPr>
        <p:spPr>
          <a:xfrm>
            <a:off x="654844" y="2024063"/>
            <a:ext cx="13930313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Watch the model. Try the next question. Explain what changes.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01EC1CB0-A1D9-4A5A-8ADF-5630D78ABAF3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E915A7CB-4DB5-42C3-8994-A50F4AE8D1F0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Explain and evaluate multi-step solutions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7537BEA4-6E7E-4C88-9425-0C472EF8BAA9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C379BBBA-69BE-4CA9-9C89-898627FCB322}"/>
              </a:ext>
            </a:extLst>
          </p:cNvPr>
          <p:cNvSpPr>
            <a:spLocks noGrp="1"/>
          </p:cNvSpPr>
          <p:nvPr/>
        </p:nvSpPr>
        <p:spPr>
          <a:xfrm>
            <a:off x="1190625" y="3631406"/>
            <a:ext cx="12858750" cy="2143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To compare solution paths and evaluate the reasonableness of answers.</a:t>
            </a:r>
          </a:p>
        </p:txBody>
      </p:sp>
    </p:spTree>
    <p:extLst>
      <p:ext uri="{BB962C8B-B14F-4D97-AF65-F5344CB8AC3E}">
        <p14:creationId xmlns:p14="http://schemas.microsoft.com/office/powerpoint/2010/main" val="11914044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-1">
            <a:extLst>
              <a:ext uri="{FF2B5EF4-FFF2-40B4-BE49-F238E27FC236}">
                <a16:creationId xmlns:a16="http://schemas.microsoft.com/office/drawing/2014/main" id="{2D19E3C7-FB1B-45E2-8E52-4612AD1610C2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A16C724A-A19D-4331-86A5-132C5AF81DD9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48 × 125 − 3,760.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502B7379-0AE2-4BFB-89B0-59C7F8396CE3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3B8938B1-BF1F-48BD-935B-55739A18623A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Explain and evaluate multi-step solutions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9E18C3EE-351E-497F-9A8F-BF20CBCDF8E6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CDBF3CC7-269C-499F-AB95-8062CC4623C3}"/>
              </a:ext>
            </a:extLst>
          </p:cNvPr>
          <p:cNvSpPr>
            <a:spLocks noGrp="1"/>
          </p:cNvSpPr>
          <p:nvPr/>
        </p:nvSpPr>
        <p:spPr>
          <a:xfrm>
            <a:off x="1012031" y="2714625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48 × 125 =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DB55BE69-8473-4019-B230-20E1D446CAD9}"/>
              </a:ext>
            </a:extLst>
          </p:cNvPr>
          <p:cNvSpPr>
            <a:spLocks noGrp="1"/>
          </p:cNvSpPr>
          <p:nvPr/>
        </p:nvSpPr>
        <p:spPr>
          <a:xfrm>
            <a:off x="9346406" y="2714625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6,000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2B0E14B9-4C6F-4B37-9FC3-ABAAE29B90F0}"/>
              </a:ext>
            </a:extLst>
          </p:cNvPr>
          <p:cNvSpPr>
            <a:spLocks noGrp="1"/>
          </p:cNvSpPr>
          <p:nvPr/>
        </p:nvSpPr>
        <p:spPr>
          <a:xfrm>
            <a:off x="1012031" y="4064000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6,000 − 3,760 =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5A6707AE-334B-41DA-8667-9C94749DE7F3}"/>
              </a:ext>
            </a:extLst>
          </p:cNvPr>
          <p:cNvSpPr>
            <a:spLocks noGrp="1"/>
          </p:cNvSpPr>
          <p:nvPr/>
        </p:nvSpPr>
        <p:spPr>
          <a:xfrm>
            <a:off x="9346406" y="4064000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2,240</a:t>
            </a:r>
          </a:p>
        </p:txBody>
      </p:sp>
    </p:spTree>
    <p:extLst>
      <p:ext uri="{BB962C8B-B14F-4D97-AF65-F5344CB8AC3E}">
        <p14:creationId xmlns:p14="http://schemas.microsoft.com/office/powerpoint/2010/main" val="1123518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12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22" dur="8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7" grpId="1"/>
      <p:bldP spid="8" grpId="0"/>
      <p:bldP spid="9" grpId="0"/>
      <p:bldP spid="9" grpId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bject-1">
            <a:extLst>
              <a:ext uri="{FF2B5EF4-FFF2-40B4-BE49-F238E27FC236}">
                <a16:creationId xmlns:a16="http://schemas.microsoft.com/office/drawing/2014/main" id="{B54FF5F2-EBF8-448C-BAAE-99D3F7BBA738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9F1A8196-FBEF-4ACC-867D-A25FEA575E21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1F9D6A63-4525-4F6B-AC71-A88EB7CCC496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48 × 125 − 3,770.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BEC5963F-AC41-4CBA-BA4C-E9C3E1923F05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F6E53366-8050-46EF-974B-EEE9CAB2179B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Explain and evaluate multi-step solutions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12DF9DE8-0C04-47D1-BDCF-0E92D5B5DFCA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3EC0E4D8-EFAD-4384-B54E-14B6143D1019}"/>
              </a:ext>
            </a:extLst>
          </p:cNvPr>
          <p:cNvSpPr>
            <a:spLocks noGrp="1"/>
          </p:cNvSpPr>
          <p:nvPr/>
        </p:nvSpPr>
        <p:spPr>
          <a:xfrm>
            <a:off x="1012031" y="2714625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48 × 125 =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E0E9C338-64E4-4688-B851-04B94090D935}"/>
              </a:ext>
            </a:extLst>
          </p:cNvPr>
          <p:cNvSpPr>
            <a:spLocks noGrp="1"/>
          </p:cNvSpPr>
          <p:nvPr/>
        </p:nvSpPr>
        <p:spPr>
          <a:xfrm>
            <a:off x="9346406" y="2714625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6,000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D83058B7-4AE6-4F44-B8A6-9EA4C81C844C}"/>
              </a:ext>
            </a:extLst>
          </p:cNvPr>
          <p:cNvSpPr>
            <a:spLocks noGrp="1"/>
          </p:cNvSpPr>
          <p:nvPr/>
        </p:nvSpPr>
        <p:spPr>
          <a:xfrm>
            <a:off x="1012031" y="4064000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6,000 − 3,770 =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A1B61974-A19A-45D5-AE59-3909A8500105}"/>
              </a:ext>
            </a:extLst>
          </p:cNvPr>
          <p:cNvSpPr>
            <a:spLocks noGrp="1"/>
          </p:cNvSpPr>
          <p:nvPr/>
        </p:nvSpPr>
        <p:spPr>
          <a:xfrm>
            <a:off x="9346406" y="4064000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2,230</a:t>
            </a:r>
          </a:p>
        </p:txBody>
      </p:sp>
    </p:spTree>
    <p:extLst>
      <p:ext uri="{BB962C8B-B14F-4D97-AF65-F5344CB8AC3E}">
        <p14:creationId xmlns:p14="http://schemas.microsoft.com/office/powerpoint/2010/main" val="8630907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12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22" dur="8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8" grpId="1"/>
      <p:bldP spid="9" grpId="0"/>
      <p:bldP spid="10" grpId="0"/>
      <p:bldP spid="10" grpId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-1">
            <a:extLst>
              <a:ext uri="{FF2B5EF4-FFF2-40B4-BE49-F238E27FC236}">
                <a16:creationId xmlns:a16="http://schemas.microsoft.com/office/drawing/2014/main" id="{24C8DFA7-38F1-419D-861E-1F49BF5A9455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1ECEB2AA-B96C-4B5D-A60A-9F83517C3A09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48 × 125 − 3,780.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23AC5FEC-CDC9-42CD-8DEA-0BD75E176F45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01451C71-6815-48D5-A83C-3DFFC3C7D5B5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Explain and evaluate multi-step solutions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84FF7842-62AC-4962-ACF7-3B6377C1AD26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AD299054-24D4-4872-AF98-40079A73FE2A}"/>
              </a:ext>
            </a:extLst>
          </p:cNvPr>
          <p:cNvSpPr>
            <a:spLocks noGrp="1"/>
          </p:cNvSpPr>
          <p:nvPr/>
        </p:nvSpPr>
        <p:spPr>
          <a:xfrm>
            <a:off x="1012031" y="2714625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48 × 125 =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BC915FA7-34C2-4948-B599-818F79BAF44A}"/>
              </a:ext>
            </a:extLst>
          </p:cNvPr>
          <p:cNvSpPr>
            <a:spLocks noGrp="1"/>
          </p:cNvSpPr>
          <p:nvPr/>
        </p:nvSpPr>
        <p:spPr>
          <a:xfrm>
            <a:off x="9346406" y="2714625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6,000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6E75232B-6688-4E84-B5C1-6F5981C4EA44}"/>
              </a:ext>
            </a:extLst>
          </p:cNvPr>
          <p:cNvSpPr>
            <a:spLocks noGrp="1"/>
          </p:cNvSpPr>
          <p:nvPr/>
        </p:nvSpPr>
        <p:spPr>
          <a:xfrm>
            <a:off x="1012031" y="4064000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6,000 − 3,780 =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AE2E21DB-6CCE-416A-8BA0-8E0E865535FB}"/>
              </a:ext>
            </a:extLst>
          </p:cNvPr>
          <p:cNvSpPr>
            <a:spLocks noGrp="1"/>
          </p:cNvSpPr>
          <p:nvPr/>
        </p:nvSpPr>
        <p:spPr>
          <a:xfrm>
            <a:off x="9346406" y="4064000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2,220</a:t>
            </a:r>
          </a:p>
        </p:txBody>
      </p:sp>
    </p:spTree>
    <p:extLst>
      <p:ext uri="{BB962C8B-B14F-4D97-AF65-F5344CB8AC3E}">
        <p14:creationId xmlns:p14="http://schemas.microsoft.com/office/powerpoint/2010/main" val="2105181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12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22" dur="8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7" grpId="1"/>
      <p:bldP spid="8" grpId="0"/>
      <p:bldP spid="9" grpId="0"/>
      <p:bldP spid="9" grpId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bject-1">
            <a:extLst>
              <a:ext uri="{FF2B5EF4-FFF2-40B4-BE49-F238E27FC236}">
                <a16:creationId xmlns:a16="http://schemas.microsoft.com/office/drawing/2014/main" id="{BB4F95AB-951C-4451-A3E7-4225E4D32626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15A14E71-53C6-43A8-9FF0-3B3EB4A73E2C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A7C98785-5BD0-4722-AE60-E37AF8003438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48 × 125 − 3,790.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11ED6374-FB88-4BB9-A7B5-720585B86AEF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64425B57-84C7-40B0-9868-CB444F709878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Explain and evaluate multi-step solutions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03AAF1F2-1E9E-425C-93EF-76E9916F16CB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7E26B728-BE3F-4712-90EA-C3137BC15447}"/>
              </a:ext>
            </a:extLst>
          </p:cNvPr>
          <p:cNvSpPr>
            <a:spLocks noGrp="1"/>
          </p:cNvSpPr>
          <p:nvPr/>
        </p:nvSpPr>
        <p:spPr>
          <a:xfrm>
            <a:off x="1012031" y="2714625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48 × 125 =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52AEA543-9BBA-4D68-A383-264CAD8F9998}"/>
              </a:ext>
            </a:extLst>
          </p:cNvPr>
          <p:cNvSpPr>
            <a:spLocks noGrp="1"/>
          </p:cNvSpPr>
          <p:nvPr/>
        </p:nvSpPr>
        <p:spPr>
          <a:xfrm>
            <a:off x="9346406" y="2714625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6,000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252A44D4-5AC5-46EF-893D-2FE831341B95}"/>
              </a:ext>
            </a:extLst>
          </p:cNvPr>
          <p:cNvSpPr>
            <a:spLocks noGrp="1"/>
          </p:cNvSpPr>
          <p:nvPr/>
        </p:nvSpPr>
        <p:spPr>
          <a:xfrm>
            <a:off x="1012031" y="4064000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6,000 − 3,790 =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55D75A00-38E1-4522-86BD-B2B60C6A2293}"/>
              </a:ext>
            </a:extLst>
          </p:cNvPr>
          <p:cNvSpPr>
            <a:spLocks noGrp="1"/>
          </p:cNvSpPr>
          <p:nvPr/>
        </p:nvSpPr>
        <p:spPr>
          <a:xfrm>
            <a:off x="9346406" y="4064000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2,210</a:t>
            </a:r>
          </a:p>
        </p:txBody>
      </p:sp>
    </p:spTree>
    <p:extLst>
      <p:ext uri="{BB962C8B-B14F-4D97-AF65-F5344CB8AC3E}">
        <p14:creationId xmlns:p14="http://schemas.microsoft.com/office/powerpoint/2010/main" val="811560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12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22" dur="8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8" grpId="1"/>
      <p:bldP spid="9" grpId="0"/>
      <p:bldP spid="10" grpId="0"/>
      <p:bldP spid="10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-1">
            <a:extLst>
              <a:ext uri="{FF2B5EF4-FFF2-40B4-BE49-F238E27FC236}">
                <a16:creationId xmlns:a16="http://schemas.microsoft.com/office/drawing/2014/main" id="{CC9DDF2D-8116-457A-AF8B-BBE891A51D8F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FCAADE42-631E-49AE-9DE6-66A5F34AA382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079F6E1B-4B57-414F-A4E5-A55C42401A96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Try these questions.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0FE4D0B5-36B9-43C5-9F54-B7CC0A512179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B7984BD4-74F0-4AE6-8C96-4983F7543A32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Explain and evaluate multi-step solutions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28E98EE7-8042-4BA5-BE1D-3431E1770CF1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0B7645B4-74E6-4D30-945B-534D3C6B2865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18A0C115-F327-43AB-B40D-539AF3C65779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Two methods solve 48 x 125 - 3,760. One multiplies first; one subtracts first. Which is valid?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B02F25B1-C06D-4376-910D-C813BCC55965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7A7A4708-B668-4862-AFA1-12E2BEDBA796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A solution to 3,840 / 24 x 15 gives 10. Find the error and correct it.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55CEF464-B6ED-40A4-B488-3FFE5A49F43B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FF4DDFDF-2C8C-490A-A96C-49C6B458C131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Solve 96 x 45 + 8,640 / 32.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70148ACF-1C9D-4ABE-8417-BEED353E76FE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24F1116C-88D6-440E-A4D6-199A7D13C22F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Solve this independently and show every stage: Two methods solve 48 x 125 - 3,760. One multiplies first; one subtracts first. Which is valid?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C73F58CC-E21D-4D13-BBE0-C7E9F888AB68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D3F4E9A1-A12A-476F-8D93-67A810201093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Use a second method or representation for: A solution to 3,840 / 24 x 15 gives 10. Find the error and correct it.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856F5078-8C85-4FA6-887F-7A2AC190B6C2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34E5F0FA-FE28-44B9-95AD-28F0247C6269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this result using an inverse, estimate or known fact: Solve 96 x 45 + 8,640 / 32.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1BABEA59-BB35-418B-8750-3D0E3D572D86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4EA05839-0174-420C-9EC3-952390250936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 multi-step problem with an unnecessary piece of information and explain why it is unnecessary.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39065DAE-F5BE-4368-A014-7D5B117FD88D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D6C30AB5-9EEF-4411-8C65-8ACBA8740EEB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Identify and correct this misconception: Miro assumes every number in a word problem must be used.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970A76B6-6FBF-4F3E-A9BE-5D56949B7F86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D891F158-7EE0-48C4-934D-53F5763C1488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 complete sentence explaining how you checked one answer.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8E87C099-395B-4EBE-B942-AFA262C8BADA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3369F57F-C0E2-4486-A55D-056DA3026FC4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and solve a similar question to: Solve 96 x 45 + 8,640 / 32.</a:t>
            </a:r>
          </a:p>
        </p:txBody>
      </p:sp>
    </p:spTree>
    <p:extLst>
      <p:ext uri="{BB962C8B-B14F-4D97-AF65-F5344CB8AC3E}">
        <p14:creationId xmlns:p14="http://schemas.microsoft.com/office/powerpoint/2010/main" val="11506665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-1">
            <a:extLst>
              <a:ext uri="{FF2B5EF4-FFF2-40B4-BE49-F238E27FC236}">
                <a16:creationId xmlns:a16="http://schemas.microsoft.com/office/drawing/2014/main" id="{E07FA275-6E5C-414D-8964-09997C8C7CD5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Answers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773B4C1C-B61F-4804-9344-52817B58DCE8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your answers. Explain any corrections.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BA1F7732-ACF8-4467-8B0B-65CE487CD5BD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89481218-0861-49E4-B9FA-3C9962E8421A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Explain and evaluate multi-step solutions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86F1F8E8-70F5-4D24-A663-A0ECB0F2F432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C9F3F824-65B0-4289-A1CB-7072B3164CAF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D6F07565-796A-407C-BE31-2F5F0E142134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Multiplication must represent the total books first, so multiply first. The answer is 2,240.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A1FFC14A-6102-4052-ABB6-AFC661499217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0D90BB6C-A41C-4D76-8939-650B74E45592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3,840 / 24 = 160, then 160 x 15 = 2,400.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0B24B9A8-2BCB-4D4B-81E3-0C97A5AE5C5E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3137A393-49C6-4EA5-9CB0-DE3A57C49C9B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4,590.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1C391CAC-99BF-4244-A1FE-E9EB05A4BD78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0C8E5377-9AAF-4F9F-A5BA-07C302404935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Multiplication must represent the total books first, so multiply first. The answer is 2,240.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4F0EB41A-8E63-4F85-9A54-7DBE748CA0C8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EE726298-3029-4F1E-B440-874DAE2E677E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3,840 / 24 = 160, then 160 x 15 = 2,400. Method or representation may vary.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8DCEF162-B761-4BED-B72E-172A735551E6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A4B7EC88-09DC-4C3C-9E0A-8DCEEE044CBB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4,590. A valid check must be shown.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DBE92E35-D5BD-43CC-816F-311B593A0710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BF2AD509-6133-413E-A85F-829E0FB16444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Answers vary. The unused information must not affect the required calculation.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C4F732EE-24EA-4A32-AC06-1941674004E0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B83B9E4C-B208-4D6E-9A04-B07983236E30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Use only information that changes the quantity asked for.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49CD1DAA-A748-4FBC-A374-E2CB8DCAB2BA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6A0A0971-D80B-4D78-989A-65B574B478B1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 should name an inverse, estimate, boundary, known fact or equivalent representation.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D2577335-9908-43DD-B815-579D8CBDAC3B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1BECA272-5699-4070-82C0-59D1ABD9EC10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Answers vary. The new question must use the same mathematical structure and include a correct solution.</a:t>
            </a:r>
          </a:p>
        </p:txBody>
      </p:sp>
    </p:spTree>
    <p:extLst>
      <p:ext uri="{BB962C8B-B14F-4D97-AF65-F5344CB8AC3E}">
        <p14:creationId xmlns:p14="http://schemas.microsoft.com/office/powerpoint/2010/main" val="110222961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1013</Words>
  <Application>Microsoft Office PowerPoint</Application>
  <DocSecurity>0</DocSecurity>
  <PresentationFormat>Custom</PresentationFormat>
  <Paragraphs>102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2026-09-14T13:14:19Z</dcterms:created>
  <dcterms:modified xsi:type="dcterms:W3CDTF">2026-09-14T13:18:50Z</dcterms:modified>
</cp:coreProperties>
</file>