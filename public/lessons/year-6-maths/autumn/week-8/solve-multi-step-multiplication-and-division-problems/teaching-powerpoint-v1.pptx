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Solve multi-step multiplication and division problems.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I do.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You do. Pause before clicking. Let pupils try independently, then reveal and discuss every step.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I do.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You do. Pause before clicking. Let pupils try independently, then reveal and discuss every step.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multi-step multiplication and division problems.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3E824E08-722F-43A6-A850-F8849E0E14CC}"/>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3281" b="1">
                <a:solidFill>
                  <a:srgbClr val="1D4ED8"/>
                </a:solidFill>
                <a:latin typeface="Arial"/>
                <a:ea typeface="Arial"/>
                <a:cs typeface="Arial"/>
              </a:defRPr>
            </a:pPr>
            <a:r>
              <a:rPr sz="3281" b="1">
                <a:solidFill>
                  <a:srgbClr val="1D4ED8"/>
                </a:solidFill>
                <a:latin typeface="Arial"/>
                <a:ea typeface="Arial"/>
                <a:cs typeface="Arial"/>
              </a:rPr>
              <a:t>Solve multi-step multiplication and division problems</a:t>
            </a:r>
          </a:p>
        </p:txBody>
      </p:sp>
      <p:sp>
        <p:nvSpPr>
          <p:cNvPr id="2" name="object-2">
            <a:extLst>
              <a:ext uri="{FF2B5EF4-FFF2-40B4-BE49-F238E27FC236}">
                <a16:creationId xmlns:a16="http://schemas.microsoft.com/office/drawing/2014/main" id="{B7231FD0-DFFB-46EB-B530-DE0AD47B1353}"/>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01DD6395-4062-408B-A847-04B4B5B06A3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B3D380C-D876-4BBE-98BF-A9A14EA1363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5" name="object-5">
            <a:extLst>
              <a:ext uri="{FF2B5EF4-FFF2-40B4-BE49-F238E27FC236}">
                <a16:creationId xmlns:a16="http://schemas.microsoft.com/office/drawing/2014/main" id="{06FA52C1-3970-4E19-8E23-8023D6186C4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DD2EF199-E893-4A3A-BD4F-1EA0C9F7F9D2}"/>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solve problems involving multiplication and division in sequence.</a:t>
            </a:r>
          </a:p>
        </p:txBody>
      </p:sp>
    </p:spTree>
    <p:extLst>
      <p:ext uri="{BB962C8B-B14F-4D97-AF65-F5344CB8AC3E}">
        <p14:creationId xmlns:p14="http://schemas.microsoft.com/office/powerpoint/2010/main" val="6804109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13482414-A0BB-4A04-BCAE-89F2FBBCFBC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704B7AD1-8E03-49FB-AFEC-8D11C18CEF9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36 × 24 ÷ 18.</a:t>
            </a:r>
          </a:p>
        </p:txBody>
      </p:sp>
      <p:sp>
        <p:nvSpPr>
          <p:cNvPr id="3" name="object-3">
            <a:extLst>
              <a:ext uri="{FF2B5EF4-FFF2-40B4-BE49-F238E27FC236}">
                <a16:creationId xmlns:a16="http://schemas.microsoft.com/office/drawing/2014/main" id="{D79AFE13-B4C6-4BB1-9B2D-4A4C8AD10EB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3DC001D-BADE-454B-A2C8-4C304B8240E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5" name="object-5">
            <a:extLst>
              <a:ext uri="{FF2B5EF4-FFF2-40B4-BE49-F238E27FC236}">
                <a16:creationId xmlns:a16="http://schemas.microsoft.com/office/drawing/2014/main" id="{57C77569-1E67-4CEE-997B-332C463B0F0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0F948D12-8D9B-48B6-83A8-DE669E9DD671}"/>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36 × 24 =</a:t>
            </a:r>
          </a:p>
        </p:txBody>
      </p:sp>
      <p:sp>
        <p:nvSpPr>
          <p:cNvPr id="7" name="object-7">
            <a:extLst>
              <a:ext uri="{FF2B5EF4-FFF2-40B4-BE49-F238E27FC236}">
                <a16:creationId xmlns:a16="http://schemas.microsoft.com/office/drawing/2014/main" id="{8EE3227B-F084-45BC-8881-F57D302C1A90}"/>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864</a:t>
            </a:r>
          </a:p>
        </p:txBody>
      </p:sp>
      <p:sp>
        <p:nvSpPr>
          <p:cNvPr id="8" name="object-8">
            <a:extLst>
              <a:ext uri="{FF2B5EF4-FFF2-40B4-BE49-F238E27FC236}">
                <a16:creationId xmlns:a16="http://schemas.microsoft.com/office/drawing/2014/main" id="{3EB8DD44-428D-49F2-ACDA-3DCF43D41836}"/>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864 ÷ 18 =</a:t>
            </a:r>
          </a:p>
        </p:txBody>
      </p:sp>
      <p:sp>
        <p:nvSpPr>
          <p:cNvPr id="9" name="object-9">
            <a:extLst>
              <a:ext uri="{FF2B5EF4-FFF2-40B4-BE49-F238E27FC236}">
                <a16:creationId xmlns:a16="http://schemas.microsoft.com/office/drawing/2014/main" id="{DBE5D720-8943-45D1-AA3D-6890D74DE0AB}"/>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48</a:t>
            </a:r>
          </a:p>
        </p:txBody>
      </p:sp>
    </p:spTree>
    <p:extLst>
      <p:ext uri="{BB962C8B-B14F-4D97-AF65-F5344CB8AC3E}">
        <p14:creationId xmlns:p14="http://schemas.microsoft.com/office/powerpoint/2010/main" val="870263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75BBA0D4-A053-480E-8079-3E6B8FA9DCF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69CFFEE-7817-4353-9266-01E591A5543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DF182BB-681D-42BC-ACA8-3127924128F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54 × 24 ÷ 18.</a:t>
            </a:r>
          </a:p>
        </p:txBody>
      </p:sp>
      <p:sp>
        <p:nvSpPr>
          <p:cNvPr id="4" name="object-4">
            <a:extLst>
              <a:ext uri="{FF2B5EF4-FFF2-40B4-BE49-F238E27FC236}">
                <a16:creationId xmlns:a16="http://schemas.microsoft.com/office/drawing/2014/main" id="{80F539EE-97E1-442D-9FCC-5DCCA3BC0231}"/>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6B9C0D4D-460A-4062-8564-2E11D063083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6" name="object-6">
            <a:extLst>
              <a:ext uri="{FF2B5EF4-FFF2-40B4-BE49-F238E27FC236}">
                <a16:creationId xmlns:a16="http://schemas.microsoft.com/office/drawing/2014/main" id="{1096FFBC-48E8-4F05-9C57-7E0C7EBBF1E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484AB084-5E61-4A8C-BD3E-7A307EC7BEB3}"/>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54 × 24 =</a:t>
            </a:r>
          </a:p>
        </p:txBody>
      </p:sp>
      <p:sp>
        <p:nvSpPr>
          <p:cNvPr id="8" name="object-8">
            <a:extLst>
              <a:ext uri="{FF2B5EF4-FFF2-40B4-BE49-F238E27FC236}">
                <a16:creationId xmlns:a16="http://schemas.microsoft.com/office/drawing/2014/main" id="{F0E3C117-F490-42FE-A757-444CF1F30338}"/>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1,296</a:t>
            </a:r>
          </a:p>
        </p:txBody>
      </p:sp>
      <p:sp>
        <p:nvSpPr>
          <p:cNvPr id="9" name="object-9">
            <a:extLst>
              <a:ext uri="{FF2B5EF4-FFF2-40B4-BE49-F238E27FC236}">
                <a16:creationId xmlns:a16="http://schemas.microsoft.com/office/drawing/2014/main" id="{0C124B62-9114-4018-BA40-1FF3738F01CA}"/>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1,296 ÷ 18 =</a:t>
            </a:r>
          </a:p>
        </p:txBody>
      </p:sp>
      <p:sp>
        <p:nvSpPr>
          <p:cNvPr id="10" name="object-10">
            <a:extLst>
              <a:ext uri="{FF2B5EF4-FFF2-40B4-BE49-F238E27FC236}">
                <a16:creationId xmlns:a16="http://schemas.microsoft.com/office/drawing/2014/main" id="{384D3465-123A-401F-AAC7-1BD5DE20C5A3}"/>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72</a:t>
            </a:r>
          </a:p>
        </p:txBody>
      </p:sp>
    </p:spTree>
    <p:extLst>
      <p:ext uri="{BB962C8B-B14F-4D97-AF65-F5344CB8AC3E}">
        <p14:creationId xmlns:p14="http://schemas.microsoft.com/office/powerpoint/2010/main" val="3169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027A7409-99E6-4598-9851-470B0791DD3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EEAB58C-F5B5-444C-995A-C156D74E36F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72 × 24 ÷ 18.</a:t>
            </a:r>
          </a:p>
        </p:txBody>
      </p:sp>
      <p:sp>
        <p:nvSpPr>
          <p:cNvPr id="3" name="object-3">
            <a:extLst>
              <a:ext uri="{FF2B5EF4-FFF2-40B4-BE49-F238E27FC236}">
                <a16:creationId xmlns:a16="http://schemas.microsoft.com/office/drawing/2014/main" id="{4FFBDB7A-DC08-4B94-B1B6-AB1D2DF979B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E05630B-9B8E-4452-A0DB-07389114953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5" name="object-5">
            <a:extLst>
              <a:ext uri="{FF2B5EF4-FFF2-40B4-BE49-F238E27FC236}">
                <a16:creationId xmlns:a16="http://schemas.microsoft.com/office/drawing/2014/main" id="{298F3FE1-1536-49B5-8ED7-47B0A55238A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E17E4D86-93D8-4BEE-A11C-BE62CB5823D0}"/>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72 × 24 =</a:t>
            </a:r>
          </a:p>
        </p:txBody>
      </p:sp>
      <p:sp>
        <p:nvSpPr>
          <p:cNvPr id="7" name="object-7">
            <a:extLst>
              <a:ext uri="{FF2B5EF4-FFF2-40B4-BE49-F238E27FC236}">
                <a16:creationId xmlns:a16="http://schemas.microsoft.com/office/drawing/2014/main" id="{0B2D9341-139A-4F74-BC00-233ED0521FCF}"/>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1,728</a:t>
            </a:r>
          </a:p>
        </p:txBody>
      </p:sp>
      <p:sp>
        <p:nvSpPr>
          <p:cNvPr id="8" name="object-8">
            <a:extLst>
              <a:ext uri="{FF2B5EF4-FFF2-40B4-BE49-F238E27FC236}">
                <a16:creationId xmlns:a16="http://schemas.microsoft.com/office/drawing/2014/main" id="{C9D35FCA-4622-48A5-A3F3-7F55FDCE6379}"/>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1,728 ÷ 18 =</a:t>
            </a:r>
          </a:p>
        </p:txBody>
      </p:sp>
      <p:sp>
        <p:nvSpPr>
          <p:cNvPr id="9" name="object-9">
            <a:extLst>
              <a:ext uri="{FF2B5EF4-FFF2-40B4-BE49-F238E27FC236}">
                <a16:creationId xmlns:a16="http://schemas.microsoft.com/office/drawing/2014/main" id="{649D0D13-29A0-41B1-90D8-95A4DA96A2A1}"/>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96</a:t>
            </a:r>
          </a:p>
        </p:txBody>
      </p:sp>
    </p:spTree>
    <p:extLst>
      <p:ext uri="{BB962C8B-B14F-4D97-AF65-F5344CB8AC3E}">
        <p14:creationId xmlns:p14="http://schemas.microsoft.com/office/powerpoint/2010/main" val="1209928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D45F9D19-08B6-4491-B6E9-90F0C099831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C6B0FEC-6FE5-42AE-AE1D-FC665F91BB9D}"/>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28F7844A-1FC2-45BB-A096-A025F1A9F4E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90 × 24 ÷ 18.</a:t>
            </a:r>
          </a:p>
        </p:txBody>
      </p:sp>
      <p:sp>
        <p:nvSpPr>
          <p:cNvPr id="4" name="object-4">
            <a:extLst>
              <a:ext uri="{FF2B5EF4-FFF2-40B4-BE49-F238E27FC236}">
                <a16:creationId xmlns:a16="http://schemas.microsoft.com/office/drawing/2014/main" id="{19124FCA-B4EE-422A-8268-BD4B95CF3D0B}"/>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E35669F-205E-48A3-95A5-0735DA36C43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6" name="object-6">
            <a:extLst>
              <a:ext uri="{FF2B5EF4-FFF2-40B4-BE49-F238E27FC236}">
                <a16:creationId xmlns:a16="http://schemas.microsoft.com/office/drawing/2014/main" id="{CFE76F32-58D7-4BBC-9810-A11D84B42B5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9D315DBD-0438-41D5-B662-2CAF48B07355}"/>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90 × 24 =</a:t>
            </a:r>
          </a:p>
        </p:txBody>
      </p:sp>
      <p:sp>
        <p:nvSpPr>
          <p:cNvPr id="8" name="object-8">
            <a:extLst>
              <a:ext uri="{FF2B5EF4-FFF2-40B4-BE49-F238E27FC236}">
                <a16:creationId xmlns:a16="http://schemas.microsoft.com/office/drawing/2014/main" id="{396121B2-9A72-46CA-B1E4-4420C338B2CF}"/>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2,160</a:t>
            </a:r>
          </a:p>
        </p:txBody>
      </p:sp>
      <p:sp>
        <p:nvSpPr>
          <p:cNvPr id="9" name="object-9">
            <a:extLst>
              <a:ext uri="{FF2B5EF4-FFF2-40B4-BE49-F238E27FC236}">
                <a16:creationId xmlns:a16="http://schemas.microsoft.com/office/drawing/2014/main" id="{9F46433C-9EA9-4C89-BF0A-B08A910484E2}"/>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2,160 ÷ 18 =</a:t>
            </a:r>
          </a:p>
        </p:txBody>
      </p:sp>
      <p:sp>
        <p:nvSpPr>
          <p:cNvPr id="10" name="object-10">
            <a:extLst>
              <a:ext uri="{FF2B5EF4-FFF2-40B4-BE49-F238E27FC236}">
                <a16:creationId xmlns:a16="http://schemas.microsoft.com/office/drawing/2014/main" id="{013BE11C-A4E7-48FE-A34C-E19B83B367A0}"/>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120</a:t>
            </a:r>
          </a:p>
        </p:txBody>
      </p:sp>
    </p:spTree>
    <p:extLst>
      <p:ext uri="{BB962C8B-B14F-4D97-AF65-F5344CB8AC3E}">
        <p14:creationId xmlns:p14="http://schemas.microsoft.com/office/powerpoint/2010/main" val="1714977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C08A6919-2C94-4601-AA5C-763BF865E7F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F9C593B-1BAD-4FCC-8936-0E43D3EA161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B91E040C-D1E9-4666-86A7-B7BF96FB828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572AE333-F859-488A-B061-CC5DB2A09FD1}"/>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6914033-C2F8-47D3-A2BA-F1FF8859C12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6" name="object-6">
            <a:extLst>
              <a:ext uri="{FF2B5EF4-FFF2-40B4-BE49-F238E27FC236}">
                <a16:creationId xmlns:a16="http://schemas.microsoft.com/office/drawing/2014/main" id="{43A06FF6-1E7D-43DD-8B5C-618AA817BC9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84B46011-9B93-4EF1-A08C-7F4ADCFBF5E5}"/>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4085E6F2-AE8D-4CD7-9FBF-9E8BC2434C4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warehouse has 36 pallets with 24 boxes each. It shares all boxes equally among 18 shops. Boxes per shop?</a:t>
            </a:r>
          </a:p>
        </p:txBody>
      </p:sp>
      <p:sp>
        <p:nvSpPr>
          <p:cNvPr id="9" name="object-9">
            <a:extLst>
              <a:ext uri="{FF2B5EF4-FFF2-40B4-BE49-F238E27FC236}">
                <a16:creationId xmlns:a16="http://schemas.microsoft.com/office/drawing/2014/main" id="{5F1A9D07-0B87-4204-97D7-776244D0C3E9}"/>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49D0E27A-D30B-4B68-8BF7-E5C62BE64396}"/>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printer makes 1,250 leaflets per hour for 28 hours and packs them in bundles of 50. How many bundles?</a:t>
            </a:r>
          </a:p>
        </p:txBody>
      </p:sp>
      <p:sp>
        <p:nvSpPr>
          <p:cNvPr id="11" name="object-11">
            <a:extLst>
              <a:ext uri="{FF2B5EF4-FFF2-40B4-BE49-F238E27FC236}">
                <a16:creationId xmlns:a16="http://schemas.microsoft.com/office/drawing/2014/main" id="{89A747C2-4654-4FBE-A6A8-0952080DB315}"/>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3AF84AE2-7A93-41F8-8032-5194D05C498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farmer packs 9,216 apples in trays of 24, then places 16 trays on each trolley. How many trolleys?</a:t>
            </a:r>
          </a:p>
        </p:txBody>
      </p:sp>
      <p:sp>
        <p:nvSpPr>
          <p:cNvPr id="13" name="object-13">
            <a:extLst>
              <a:ext uri="{FF2B5EF4-FFF2-40B4-BE49-F238E27FC236}">
                <a16:creationId xmlns:a16="http://schemas.microsoft.com/office/drawing/2014/main" id="{ACCFA648-F427-47C9-B436-D4C3B9A3D50C}"/>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E48E1C72-B5A5-41DA-808A-ED57B1AFE40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688" b="0">
                <a:solidFill>
                  <a:srgbClr val="172B4D"/>
                </a:solidFill>
                <a:latin typeface="Arial"/>
                <a:ea typeface="Arial"/>
                <a:cs typeface="Arial"/>
              </a:defRPr>
            </a:pPr>
            <a:r>
              <a:rPr sz="1688" b="0">
                <a:solidFill>
                  <a:srgbClr val="172B4D"/>
                </a:solidFill>
                <a:latin typeface="Arial"/>
                <a:ea typeface="Arial"/>
                <a:cs typeface="Arial"/>
              </a:rPr>
              <a:t>Solve this independently and show every stage: A warehouse has 36 pallets with 24 boxes each. It shares all boxes equally among 18 shops. Boxes per shop?</a:t>
            </a:r>
          </a:p>
        </p:txBody>
      </p:sp>
      <p:sp>
        <p:nvSpPr>
          <p:cNvPr id="15" name="object-15">
            <a:extLst>
              <a:ext uri="{FF2B5EF4-FFF2-40B4-BE49-F238E27FC236}">
                <a16:creationId xmlns:a16="http://schemas.microsoft.com/office/drawing/2014/main" id="{ACA1CBBA-4097-46F0-A1C2-B7337B22BC8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6407D2D9-2610-409B-AA71-02F8A57F5C09}"/>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printer makes 1,250 leaflets per hour for 28 hours and packs them in bundles of 50. How many bundles?</a:t>
            </a:r>
          </a:p>
        </p:txBody>
      </p:sp>
      <p:sp>
        <p:nvSpPr>
          <p:cNvPr id="17" name="object-17">
            <a:extLst>
              <a:ext uri="{FF2B5EF4-FFF2-40B4-BE49-F238E27FC236}">
                <a16:creationId xmlns:a16="http://schemas.microsoft.com/office/drawing/2014/main" id="{A116662F-1BEE-4DE8-AC35-0F90DC02BE3C}"/>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E8CD47B7-43DC-48F2-802B-55F9F1CDA97A}"/>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688" b="0">
                <a:solidFill>
                  <a:srgbClr val="172B4D"/>
                </a:solidFill>
                <a:latin typeface="Arial"/>
                <a:ea typeface="Arial"/>
                <a:cs typeface="Arial"/>
              </a:defRPr>
            </a:pPr>
            <a:r>
              <a:rPr sz="1688" b="0">
                <a:solidFill>
                  <a:srgbClr val="172B4D"/>
                </a:solidFill>
                <a:latin typeface="Arial"/>
                <a:ea typeface="Arial"/>
                <a:cs typeface="Arial"/>
              </a:rPr>
              <a:t>Check this result using an inverse, estimate or known fact: A farmer packs 9,216 apples in trays of 24, then places 16 trays on each trolley. How many trolleys?</a:t>
            </a:r>
          </a:p>
        </p:txBody>
      </p:sp>
      <p:sp>
        <p:nvSpPr>
          <p:cNvPr id="19" name="object-19">
            <a:extLst>
              <a:ext uri="{FF2B5EF4-FFF2-40B4-BE49-F238E27FC236}">
                <a16:creationId xmlns:a16="http://schemas.microsoft.com/office/drawing/2014/main" id="{28102DA5-7236-4D28-A02D-DA9E9934B394}"/>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BEC72725-36B4-4E69-8595-82377193AD0C}"/>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result is 315 after a two-step multiply-then-divide calculation. Create a valid problem.</a:t>
            </a:r>
          </a:p>
        </p:txBody>
      </p:sp>
      <p:sp>
        <p:nvSpPr>
          <p:cNvPr id="21" name="object-21">
            <a:extLst>
              <a:ext uri="{FF2B5EF4-FFF2-40B4-BE49-F238E27FC236}">
                <a16:creationId xmlns:a16="http://schemas.microsoft.com/office/drawing/2014/main" id="{6836184A-1DDB-4536-942F-9BA388E8306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AD148B28-B115-4145-9BED-EC736824998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rounds an intermediate exact answer before completing the second step.</a:t>
            </a:r>
          </a:p>
        </p:txBody>
      </p:sp>
      <p:sp>
        <p:nvSpPr>
          <p:cNvPr id="23" name="object-23">
            <a:extLst>
              <a:ext uri="{FF2B5EF4-FFF2-40B4-BE49-F238E27FC236}">
                <a16:creationId xmlns:a16="http://schemas.microsoft.com/office/drawing/2014/main" id="{40BCABEF-6465-46D1-8394-39C82743AD6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8C513FA7-667B-42C6-9452-9627EBB83B08}"/>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A243BFF5-B56C-49D7-9F04-34948F9BC004}"/>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4BFDEBC8-32A3-4427-983A-CD1A447BED9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A farmer packs 9,216 apples in trays of 24, then places 16 trays on each trolley. How many trolleys?</a:t>
            </a:r>
          </a:p>
        </p:txBody>
      </p:sp>
    </p:spTree>
    <p:extLst>
      <p:ext uri="{BB962C8B-B14F-4D97-AF65-F5344CB8AC3E}">
        <p14:creationId xmlns:p14="http://schemas.microsoft.com/office/powerpoint/2010/main" val="5371200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F0C1882A-7CC6-4E54-9CF6-60CC5DA388E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9245193E-542D-4827-9859-9F57043C79A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DF2AF3EF-BA96-48E7-B9FE-9943246A17F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2939F12-5651-45B6-9BC4-336839BC288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multi-step multiplication and division problems</a:t>
            </a:r>
          </a:p>
        </p:txBody>
      </p:sp>
      <p:sp>
        <p:nvSpPr>
          <p:cNvPr id="5" name="object-5">
            <a:extLst>
              <a:ext uri="{FF2B5EF4-FFF2-40B4-BE49-F238E27FC236}">
                <a16:creationId xmlns:a16="http://schemas.microsoft.com/office/drawing/2014/main" id="{8DBC5CCF-5DA7-480D-94E8-A6F4D2FC091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47582A8F-EFBB-4316-BD4F-15EB88BB94B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EB3CCEF8-8CCD-429C-842A-31721B62B6B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48 boxes.</a:t>
            </a:r>
          </a:p>
        </p:txBody>
      </p:sp>
      <p:sp>
        <p:nvSpPr>
          <p:cNvPr id="8" name="object-8">
            <a:extLst>
              <a:ext uri="{FF2B5EF4-FFF2-40B4-BE49-F238E27FC236}">
                <a16:creationId xmlns:a16="http://schemas.microsoft.com/office/drawing/2014/main" id="{05236B5B-55B2-4577-A9ED-4AD4D2744E1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7CDBCFF7-6EEE-4AC5-82C4-F962F29A8E23}"/>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700 bundles.</a:t>
            </a:r>
          </a:p>
        </p:txBody>
      </p:sp>
      <p:sp>
        <p:nvSpPr>
          <p:cNvPr id="10" name="object-10">
            <a:extLst>
              <a:ext uri="{FF2B5EF4-FFF2-40B4-BE49-F238E27FC236}">
                <a16:creationId xmlns:a16="http://schemas.microsoft.com/office/drawing/2014/main" id="{C782E714-6729-49F6-9448-54BDB1FB10D9}"/>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3FACAFA8-25DE-4E7A-BD8E-F01F36864C10}"/>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 trolleys.</a:t>
            </a:r>
          </a:p>
        </p:txBody>
      </p:sp>
      <p:sp>
        <p:nvSpPr>
          <p:cNvPr id="12" name="object-12">
            <a:extLst>
              <a:ext uri="{FF2B5EF4-FFF2-40B4-BE49-F238E27FC236}">
                <a16:creationId xmlns:a16="http://schemas.microsoft.com/office/drawing/2014/main" id="{3F57775D-96AC-44E4-9CAD-ED4945CA8D77}"/>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9777022A-E5FD-4B32-A267-84D6B02A420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48 boxes.</a:t>
            </a:r>
          </a:p>
        </p:txBody>
      </p:sp>
      <p:sp>
        <p:nvSpPr>
          <p:cNvPr id="14" name="object-14">
            <a:extLst>
              <a:ext uri="{FF2B5EF4-FFF2-40B4-BE49-F238E27FC236}">
                <a16:creationId xmlns:a16="http://schemas.microsoft.com/office/drawing/2014/main" id="{1EEEDDC3-C8FA-471B-863D-C9AA9FB10A4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F87207D2-325F-48CC-B4A0-43E90ACAE0E0}"/>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700 bundles. Method or representation may vary.</a:t>
            </a:r>
          </a:p>
        </p:txBody>
      </p:sp>
      <p:sp>
        <p:nvSpPr>
          <p:cNvPr id="16" name="object-16">
            <a:extLst>
              <a:ext uri="{FF2B5EF4-FFF2-40B4-BE49-F238E27FC236}">
                <a16:creationId xmlns:a16="http://schemas.microsoft.com/office/drawing/2014/main" id="{14C5BEC2-15EE-43B2-B6EB-BD17F3DE3AAB}"/>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B54FBEBB-97D6-4B9D-8FA2-A3B578F574D7}"/>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24 trolleys. A valid check must be shown.</a:t>
            </a:r>
          </a:p>
        </p:txBody>
      </p:sp>
      <p:sp>
        <p:nvSpPr>
          <p:cNvPr id="18" name="object-18">
            <a:extLst>
              <a:ext uri="{FF2B5EF4-FFF2-40B4-BE49-F238E27FC236}">
                <a16:creationId xmlns:a16="http://schemas.microsoft.com/office/drawing/2014/main" id="{0A5AFE99-B6F3-4484-B667-9F9A8CF18DA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49369C24-DFC5-4541-818B-8F05FA81B329}"/>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for example 45 x 21 / 3 = 315.</a:t>
            </a:r>
          </a:p>
        </p:txBody>
      </p:sp>
      <p:sp>
        <p:nvSpPr>
          <p:cNvPr id="20" name="object-20">
            <a:extLst>
              <a:ext uri="{FF2B5EF4-FFF2-40B4-BE49-F238E27FC236}">
                <a16:creationId xmlns:a16="http://schemas.microsoft.com/office/drawing/2014/main" id="{663EFA35-9873-4DA9-B389-F25EB4B8658B}"/>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73823942-7532-4909-B988-BA31CEF8F68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Keep exact sub-totals unless the context or question asks for rounding.</a:t>
            </a:r>
          </a:p>
        </p:txBody>
      </p:sp>
      <p:sp>
        <p:nvSpPr>
          <p:cNvPr id="22" name="object-22">
            <a:extLst>
              <a:ext uri="{FF2B5EF4-FFF2-40B4-BE49-F238E27FC236}">
                <a16:creationId xmlns:a16="http://schemas.microsoft.com/office/drawing/2014/main" id="{7B60B906-6E4E-49B6-802E-7E124BBAD51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A1A80E4E-2102-4C20-87A2-08C902AE9A22}"/>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5A4B2DE8-A306-4D5B-A878-B6A1E03ABC4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A8C33FA8-99E5-4938-A19C-52494CA65D52}"/>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4381393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1033</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2026-09-14T13:19:11Z</dcterms:created>
  <dcterms:modified xsi:type="dcterms:W3CDTF">2026-09-14T13:21:21Z</dcterms:modified>
</cp:coreProperties>
</file>