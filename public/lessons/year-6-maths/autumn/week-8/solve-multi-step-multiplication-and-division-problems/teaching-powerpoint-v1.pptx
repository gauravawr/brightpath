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Bar-model templates, highlighters, problem-solving mats, mini whiteboards.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700 bundles. | Read the whole problem and mark the question and useful information. | Keep exact sub-totals unless the context or question asks for rounding.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multi-step, operation, information, sequence, sub-total, solution.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A warehouse has 36 pallets with 24 boxes each. It shares all boxes equally among 18 shops. Boxes per shop? Answer: 48 boxes.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700 bundles.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Keep exact sub-totals unless the context or question asks for rounding.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700 bundles..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24 trolleys..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Answers vary, for example 45 x 21 / 3 = 315.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only the core independent-practice example. Give pupils time to solve and check before revealing the answer at the side. Answer: 24 trolleys.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24 trolleys. | Keep exact sub-totals unless the context or question asks for rounding.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E063E873-3709-4007-AB5B-ECFD438E351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1C691DF-FBDC-4CF1-A36A-FFF34D9E78E3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B17F29D-EFF5-446E-AA2D-57ED0C95F6D5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18E43E6-FCD6-4C1D-9C5B-527FFD7D58FB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D148AEF-F3A5-4A41-B4A6-08DB2F936E24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942"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multi-step multiplication and division problems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5C095ED-8482-42F7-9292-49DA242AF0C1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9ABE38B-B74C-4C71-ADA9-E0E18E2D8387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077CA05-4819-4295-9946-8B19E5EF82F2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5817"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problems involving multiplication and division in sequence.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BEF7D3B-A359-49BC-AF26-667D777675FF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AB7AE2E-EE4A-4A33-9E27-5C76015C17C8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Bar-model templates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DA29EF8-69B5-41A9-AECC-B6F370F5BA86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4016911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746E5926-8D5A-4C18-9B7A-F0AB1C94B59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C3EB198-B97D-4D75-800C-F374E9B0284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E397165-F1B4-411D-84FD-4580CC94572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EDAB415-A76A-43D9-8C1C-8DE27E5FE6C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297A11A-F29B-461A-8253-5AFA83CDF763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D4F40D3-2389-4DF2-8472-D2E56331DEC4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055408-3B3C-4D89-A2C9-0ED3F17B173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4AE1AF7-7651-4CCF-934F-15EF450EE7A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C3B75FD-1E0E-49C6-B95A-FFEDC6EF19B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multiplication and division problems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3B0A120-3D32-43AF-B049-100C802C488C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F29775D-CC32-45F0-9038-BBF640AAF76E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42D2291-8F12-44CE-B7BC-2BF59B19F95F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ED2F254-B88F-41ED-BB44-F358E650F390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Select operations, use formal methods and interpret answers in context.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E68672D-345E-48C4-BAD3-4FCFB9C6684F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8CAE42FF-5888-428D-8126-41CFE829D97F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EEAA882-149A-4A74-BA68-6944F2EBA34A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F6D17C7-71DF-4F47-88B2-3BBEAE476451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printer makes 1,250 leaflets per hour for 28 hours and packs them in bundles of 50. How many bundles?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C707BEF-525E-4C5E-8DF3-82EBC34EE2B7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4588D19-C7CD-4956-97F7-B2C7ECB8001D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28B2C27-971C-420C-98D5-2795CC148A4A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FE2B492-58D8-49CB-80AC-7CCE81CE7889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warehouse has 36 pallets with 24 boxes each. It shares all boxes equally among 18 shops. Boxes per shop?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244BEBF-6277-470D-A40B-EB2989829985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836231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1F73872B-0A98-40E6-926A-DE41F3076E4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960309F-2491-4E16-AF45-5E96B607EC5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D7AF56C-C7C4-461F-80F8-ADE88643632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AED55A-44DE-4163-929E-88E0B4460D1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85470B3-AF8C-489B-8884-609F034E2D2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2B121E-4514-4F77-9077-81A93641999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045FEF7-4C9F-4C74-9875-33A30A60CDD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1AF2CFB-5C41-45B1-A196-F8518C7E6F6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F2524AA-97E3-4942-AD9C-6F06ECEE831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multiplication and division problems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58346D3-24B6-447D-9315-00408B2A1835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problems involving multiplication and division in sequence.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3331635-E68C-4AF1-A841-1972F0CAD43F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F70E57E-765C-4FB7-B209-3F510B85278B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Read the whole problem and mark the question and useful information.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D19F074-9165-41E2-8467-71EAA0B41F34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Plan the operations in order before calculating.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301C7B5-8772-4286-810D-91930CB2C570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Complete each step, label sub-totals and check the final answer in context.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389BB52-758F-4133-86AD-FABB2851C113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multi-step  |  operation  |  information  |  sequence  |  sub-total  |  solution</a:t>
            </a:r>
          </a:p>
        </p:txBody>
      </p:sp>
    </p:spTree>
    <p:extLst>
      <p:ext uri="{BB962C8B-B14F-4D97-AF65-F5344CB8AC3E}">
        <p14:creationId xmlns:p14="http://schemas.microsoft.com/office/powerpoint/2010/main" val="212983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987ABA4B-2619-4819-9FEB-B0C61F1891A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FBD5989-039E-4C98-968D-440B9CB60BA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97586AE-65D4-4B93-893D-D17A28E9013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CC4441-F463-4B9B-9EFE-CE9C11AF31F3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F1B07C-5049-42B7-B2E7-A3FA322CD43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7E33017-3E29-42DA-A1B6-9DFEE0FF1BD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829F475-38AD-416D-862A-408BFA61D4E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8909D44-C55E-4D59-A040-8BB55D36399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38C0AAE-7180-4F0F-9F7D-8803C431F23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multiplication and division problems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D1AAE-EEB9-4C1D-B5F2-BFA47038DDB3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warehouse has 36 pallets with 24 boxes each. It shares all boxes equally among 18 shops. Boxes per shop?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334A260-F407-4386-8B04-31E3A36030E4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4E807F2-3765-4E32-8494-C67C1967A7A1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BC2AF39-8C95-4A09-AFAD-31D387D502C3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B9B778-3D60-4CE1-ACA7-573297116D17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Read the whole problem and mark the question and useful information.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287693F-E2BE-4B36-82EF-45C091076A2D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5651F8DD-D8AD-420D-9BCC-9199BEA4F171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73B4331-2E27-4A01-A102-BD14917E989A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AED9588-8B46-45AD-83C6-D2E39C294CAF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Plan the operations in order before calculating.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AD807C1-CCE5-4DAE-9956-32B35A202349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6A315478-449E-4B9E-AED4-F732919C79AB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BF7D657-5233-4FB4-9422-C42E7BA9538D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05BB9FD-D3FE-4192-9577-2A98C3FE9236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each step, label sub-totals and check the final answer in context.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51085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3FD51974-EE31-43C2-9118-7393D32167D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BCEB2E5-19F8-4115-945A-2FA269CA1DE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F40CF3E-5468-4E6D-A176-F1437F908FB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AA11B9-A186-4208-9E38-C2E241FF81E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7E2AFE-D3BA-42B6-8EAF-A3F49F30BD3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E66C819-49F0-4A3D-B262-30A3D84D4DF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B6E9F49-7EC1-486D-99C3-0185C96E3D2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34F0CD3-C7EB-4615-B479-D1BA394B41F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7BCCCC3-3585-4E6F-AE59-2BD1FC48656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multiplication and division problems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C2EC628-6AAF-47BC-889C-A2C41BA08B28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ABFD59F-2746-4440-B8B9-387492C5C13F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48 boxes.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AAEAE7E-4A8D-490E-B923-1BBA7527003E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168B5D7-A77E-4B36-862D-8B95B142A37D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Complete each step, label sub-totals and check the final answer in context.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0C48BFD-BC58-4D41-B78A-F674D2744845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90234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4A1F6CF0-F6B9-4810-BD95-8C004AD8883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F6A06BA-2ACF-4528-8E28-82DA380A885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2F3ED35-A67E-4612-9CCF-52B692A61A6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7893D3-301E-4E3B-8AE9-343381507D8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C05291F-F68C-4557-9340-E8EBD83E01F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E6D3B7E-D8A5-414F-85BD-E53704C7D8C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878FE66-8997-43EA-83AD-81E70ACC8FC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B8157F9-5AE0-4FE8-9FED-CE24C0395E9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8295822-ACC4-4946-B9C5-4045C0DC5A6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multiplication and division problems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92095D-DB8B-4800-B79E-53FF08AE6DE8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printer makes 1,250 leaflets per hour for 28 hours and packs them in bundles of 50. How many bundles?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C6E0036-2B8A-40F0-95ED-592214156F4E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C9843DF-811E-45B7-ABF9-429913CF703F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72ACA1-6785-497E-BD77-7E70BE259BB4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37F5BBC-E8C3-4C89-A01F-CFEE2B7779EA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B2D43E7-869C-41C5-A5F5-18C6538F6059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700 bundles.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533055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4B7CCC88-3EB8-434F-8D13-E026CD3F349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3E379D9-37E3-4F21-9720-E783CFCF363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1813BC0-7BDA-4A87-8C84-0A0B607F2DC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54995D-9EA8-4186-93FD-85E074BCE78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3CBEF07-0FA3-49E8-9CE3-8CBD2CFC25A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A70386C-952D-4145-AA1E-D378087555A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398558-935A-44D8-82F2-C05CCF7BD37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E75B53-0439-410F-B22A-D2A1E7645C1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1D6DB31-CB2A-4D5B-BDF8-08F85530158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multiplication and division problems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8A7C0E3E-A729-4953-9620-F5E7373AE0B0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8F2B8E9-9739-4E2A-83B6-185168406210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rounds an intermediate exact answer before completing the second step.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1251E39-49CF-4DB5-A084-DA5BE8A76797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272D892-2902-46CC-A524-DE61DB7F1CC7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BA38E81-37EC-4E1F-96A3-47EBDB794FF9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Keep exact sub-totals unless the context or question asks for rounding.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11179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14C866EA-3964-4FC0-894A-DBA29A3F05E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73429D4-8D0A-4F1A-A7F6-44379746053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41CEF97-5170-4130-81AF-F5DE50DD77B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2F83888-0FE2-4A36-85B7-3AB93962E82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31543F7-8634-4FB1-AE35-CFF02702395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E876002-FE14-424C-A82D-709DD27B10A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408D113-FD8A-4AA0-863D-3807DA7D5DF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706A59B-2A0A-4FCB-BB59-C954F055ACC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4002046-9A23-4BE3-BCDE-1CD598A14D2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multiplication and division problems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95993CD-1B85-4883-9822-F420F19F480F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7596DE7-60B4-4A0C-A1CC-EB4E839AE8C3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9BEFCA4-3B50-4145-9B36-FE665571C5E0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4AA64A5-9A2F-4EA7-88E3-B4A115F05054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printer makes 1,250 leaflets per hour for 28 hours and packs them in bundles of 50. How many bundles?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A39FF9C-12CB-41D5-8E20-207AF7DE6879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816946D9-13F6-4ABA-99D6-86A840F561EF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919EF52-BE7B-45B9-8B81-1FCC89699076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959C47C-8BB1-423A-B609-F823568A8429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36BF383C-511B-4A3A-8B0F-7F287707FAB9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A01DB639-ECC2-4924-B650-9D319893ECC3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6FFD996-CC89-45FE-9505-5F218B7D9B1E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75DD0D3-9A18-4DB9-8186-1B178763EB9A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700 bundles.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AED6527-AEEC-49E3-A68F-3D85C24F73C7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2050029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9EDE76C4-029C-4319-8D71-A2E8D2CCED3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19FEF3C-7C91-4345-853F-29480AC4DB5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493F350-111E-421C-BE5F-18966D84037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0C8A50A-BB0F-4114-897F-936AE01300F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F8938D3-A9F4-4F95-9070-516B4133320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959AF55-97EC-4C36-A318-C2D08FA1D0C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3569C89-44FE-47D7-B5EE-86197FF2A0F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C4A22EF-ED2B-4AEB-902D-F9DA94BC329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68CCC37-5241-4AC6-A9C1-DBF3FE34DC9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multiplication and division problems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289932E-B65D-4432-A550-AD59B669CD20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42FD00A-5BDB-43B8-AFBA-5DA3109713FD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CE66DA-2D8C-44DB-B83E-1CFDB31ED116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7BE54A7-E8B7-4002-A9FF-4576830FF536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farmer packs 9,216 apples in trays of 24, then places 16 trays on each trolley. How many trolleys?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BE634A3-1500-4CF6-A379-0EB47937E8E0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8AB40891-6BD7-4607-BB58-747A8B1E033E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2BE663C-ECC8-498D-9597-1FF397E1EDE8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EDF8266-50F2-4FB2-86C9-627E6F7788B5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DFCEC22-59A0-41C7-B2B8-8ADED606671A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0D6EA26-89D3-46C9-92CB-89560423E591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B9CBD92-BDE5-4B3E-8B5B-B0B7330E34DB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CFC355C-6250-492C-B150-DCDD2387722C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888939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0431DEA1-305B-42D3-80D2-E1B972E8D97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720285F-2C85-48DC-AFCE-017E6C0587A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98FEB1A-1982-4184-AB49-96367878DB0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974856D-EC34-4D27-8187-42C3C1A65C9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836E682-2279-4397-B365-0D66383F900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F956A81-9344-4809-996D-651626AEF4B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152BED-B9A9-418C-96B4-3F1B9B5996F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C1953E2-08F3-43AB-BEE7-C6E505E3893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9C9AAD1-D52A-457C-8695-8FFD0D49B73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multiplication and division problems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66EDCA0-6007-4801-A4F0-EB6985D3ADBE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result is 315 after a two-step multiply-then-divide calculation. Create a valid problem.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C89061B-C9B7-4EB6-9ABF-DFE78FB8FBC3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17508AF-C266-48AA-938F-02023F9AC5F9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CE4A328-FEAF-46BC-8E40-8D8D6491B3BC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Answers vary, for example 45 x 21 / 3 = 315.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903289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0BD890CF-432D-40E8-A92F-737CE4983B7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17A8ACA-8EBF-4ED9-926F-699761F9CEB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145A752-8E08-4F1C-96CC-4BA329021D7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85231BB-4087-4378-98B5-A5EE38B6F16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87B731A-E704-4D4A-8C92-3E5DB6E9CD5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A8A46D0-C49C-4FBC-8FA0-E9109D9CE06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E532DB5-37CD-403D-9B1B-D5D8D7C608B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C702F25-AEE0-43DE-AD79-EF5ABE8C952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4539058-5FB1-4568-8FB2-190C3341875B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multiplication and division problems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DED3AF1-2FBD-4D9A-ABC0-EA8EFA913827}"/>
              </a:ext>
            </a:extLst>
          </p:cNvPr>
          <p:cNvSpPr>
            <a:spLocks noGrp="1"/>
          </p:cNvSpPr>
          <p:nvPr/>
        </p:nvSpPr>
        <p:spPr>
          <a:xfrm>
            <a:off x="781050" y="1476375"/>
            <a:ext cx="6667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C410E5E-40B4-4E62-AD75-EF1025F2AFC6}"/>
              </a:ext>
            </a:extLst>
          </p:cNvPr>
          <p:cNvSpPr>
            <a:spLocks noGrp="1"/>
          </p:cNvSpPr>
          <p:nvPr/>
        </p:nvSpPr>
        <p:spPr>
          <a:xfrm>
            <a:off x="781050" y="2047875"/>
            <a:ext cx="6858000" cy="28575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4288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BF55E26-B69D-4E29-911B-AD7452B9C3E8}"/>
              </a:ext>
            </a:extLst>
          </p:cNvPr>
          <p:cNvSpPr>
            <a:spLocks noGrp="1"/>
          </p:cNvSpPr>
          <p:nvPr/>
        </p:nvSpPr>
        <p:spPr>
          <a:xfrm>
            <a:off x="1143000" y="2400300"/>
            <a:ext cx="6115050" cy="1428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farmer packs 9,216 apples in trays of 24, then places 16 trays on each trolley. How many trolleys?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2A4C57D-5D75-4A4E-AA84-6C8CDE9193FC}"/>
              </a:ext>
            </a:extLst>
          </p:cNvPr>
          <p:cNvSpPr>
            <a:spLocks noGrp="1"/>
          </p:cNvSpPr>
          <p:nvPr/>
        </p:nvSpPr>
        <p:spPr>
          <a:xfrm>
            <a:off x="1285875" y="4095750"/>
            <a:ext cx="5810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51524DC-F469-423F-83F6-C22C74EF56F8}"/>
              </a:ext>
            </a:extLst>
          </p:cNvPr>
          <p:cNvSpPr>
            <a:spLocks noGrp="1"/>
          </p:cNvSpPr>
          <p:nvPr/>
        </p:nvSpPr>
        <p:spPr>
          <a:xfrm>
            <a:off x="8210550" y="166687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DF274F1-6427-4E7E-9CF5-817850FF9BC4}"/>
              </a:ext>
            </a:extLst>
          </p:cNvPr>
          <p:cNvSpPr>
            <a:spLocks noGrp="1"/>
          </p:cNvSpPr>
          <p:nvPr/>
        </p:nvSpPr>
        <p:spPr>
          <a:xfrm>
            <a:off x="8001000" y="2190750"/>
            <a:ext cx="3048000" cy="2714625"/>
          </a:xfrm>
          <a:prstGeom prst="roundRect">
            <a:avLst>
              <a:gd name="adj" fmla="val 2807"/>
            </a:avLst>
          </a:prstGeom>
          <a:solidFill>
            <a:srgbClr val="E7F1F1"/>
          </a:solidFill>
          <a:ln w="14288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9E8A529-5A0E-46EA-8FF5-169D9E027BE0}"/>
              </a:ext>
            </a:extLst>
          </p:cNvPr>
          <p:cNvSpPr>
            <a:spLocks noGrp="1"/>
          </p:cNvSpPr>
          <p:nvPr/>
        </p:nvSpPr>
        <p:spPr>
          <a:xfrm>
            <a:off x="8334375" y="2619375"/>
            <a:ext cx="23812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24 trolleys.</a:t>
            </a:r>
            <a:endParaRPr sz="25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51B2549-C893-4DB5-8718-979C7D3563E2}"/>
              </a:ext>
            </a:extLst>
          </p:cNvPr>
          <p:cNvSpPr>
            <a:spLocks noGrp="1"/>
          </p:cNvSpPr>
          <p:nvPr/>
        </p:nvSpPr>
        <p:spPr>
          <a:xfrm>
            <a:off x="8334375" y="4000500"/>
            <a:ext cx="23812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9825"/>
          </a:bodyPr>
          <a:lstStyle/>
          <a:p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GB"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  <a:endParaRPr sz="142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3613E16-A60D-43C1-BC44-A9DD6B197525}"/>
              </a:ext>
            </a:extLst>
          </p:cNvPr>
          <p:cNvSpPr>
            <a:spLocks noGrp="1"/>
          </p:cNvSpPr>
          <p:nvPr/>
        </p:nvSpPr>
        <p:spPr>
          <a:xfrm>
            <a:off x="2190750" y="5334000"/>
            <a:ext cx="7810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591333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6CE0A919-DDB9-4B94-88E6-3037B2B7E6D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47C187F-4BB8-4DB0-B90C-20D12CE6810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A8B2B31-12A4-4FAD-A82E-57A00BCB101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44C794-26F4-4B53-9AD8-F4A05FBC9D6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AEC704C-888A-45A5-BD77-DE1C73CADAD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F3079AB-75AB-4F5A-865D-9C18E54F3E1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E000C46-EC72-4D25-962D-5D3A608C1EA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A36BC82-18FF-463C-B921-1D7159D3020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61621CE-74E6-45CE-B95F-E646AABECDA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multiplication and division problems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369FDD2-912C-445A-A8BA-CF657B013741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C068AF2-A533-46D6-AEE7-5EC362290DBB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75150CE-85BF-4382-A9DB-9A7B35BF2CBF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D7DB416-D490-477C-A3E8-0B1A8742314A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farmer packs 9,216 apples in trays of 24, then places 16 trays on each trolley. How many trolleys?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F897C58-3248-4B78-9472-13A1CEBCB330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87C3519F-C2B5-477F-A339-0582CDE81AD6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D23512D-414C-4EBA-9A3A-FCC3B0CC8D2F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34999EB-B28F-45C4-BF97-948899E78113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rounds an intermediate exact answer before completing the second step.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7B7F389-B1DD-4EB5-B245-31B802CA1E1E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4146D55-8074-4519-B887-342285D5FF96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8544A5F-287A-4373-90E1-99187B27D304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345D5C7-4AD0-457A-AA92-087C6B12FD06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AD7E2F9-2FB4-4F8A-8B2A-BF31A9A2800D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746895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1283</Words>
  <Application>Microsoft Office PowerPoint</Application>
  <DocSecurity>0</DocSecurity>
  <PresentationFormat>Widescreen</PresentationFormat>
  <Paragraphs>153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2026-09-09T10:57:11Z</dcterms:created>
  <dcterms:modified xsi:type="dcterms:W3CDTF">2026-09-09T11:08:11Z</dcterms:modified>
</cp:coreProperties>
</file>