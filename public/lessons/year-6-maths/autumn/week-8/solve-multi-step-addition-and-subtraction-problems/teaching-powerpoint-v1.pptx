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multi-step addition and subtraction problems. Solve multi-step addition and subtraction problems.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multi-step addition and subtraction problems. I do.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multi-step addition and subtraction problems. You do. Pause before clicking. Let pupils try independently, then reveal and discuss every step.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multi-step addition and subtraction problems. I do.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multi-step addition and subtraction problems. You do. Pause before clicking. Let pupils try independently, then reveal and discuss every step.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multi-step addition and subtraction problems.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multi-step addition and subtraction problems.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827676B9-38D4-4F78-B266-BA27CFD25209}"/>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3281" b="1">
                <a:solidFill>
                  <a:srgbClr val="1D4ED8"/>
                </a:solidFill>
                <a:latin typeface="Arial"/>
                <a:ea typeface="Arial"/>
                <a:cs typeface="Arial"/>
              </a:defRPr>
            </a:pPr>
            <a:r>
              <a:rPr sz="3281" b="1">
                <a:solidFill>
                  <a:srgbClr val="1D4ED8"/>
                </a:solidFill>
                <a:latin typeface="Arial"/>
                <a:ea typeface="Arial"/>
                <a:cs typeface="Arial"/>
              </a:rPr>
              <a:t>Solve multi-step addition and subtraction problems</a:t>
            </a:r>
          </a:p>
        </p:txBody>
      </p:sp>
      <p:sp>
        <p:nvSpPr>
          <p:cNvPr id="2" name="object-2">
            <a:extLst>
              <a:ext uri="{FF2B5EF4-FFF2-40B4-BE49-F238E27FC236}">
                <a16:creationId xmlns:a16="http://schemas.microsoft.com/office/drawing/2014/main" id="{98ABF15D-4F9A-4E41-B89D-8232BCB45776}"/>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0ABD5C28-E862-41C6-B976-9858E570FBB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72514219-F7F5-40B2-A010-C56202651E8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multi-step addition and subtraction problems</a:t>
            </a:r>
          </a:p>
        </p:txBody>
      </p:sp>
      <p:sp>
        <p:nvSpPr>
          <p:cNvPr id="5" name="object-5">
            <a:extLst>
              <a:ext uri="{FF2B5EF4-FFF2-40B4-BE49-F238E27FC236}">
                <a16:creationId xmlns:a16="http://schemas.microsoft.com/office/drawing/2014/main" id="{7A15532D-6D23-4D91-A7AF-8F9FD8D518A2}"/>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76C37249-2F51-49D9-BE02-2F737C2EF19C}"/>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solve multi-step problems using addition and subtraction.</a:t>
            </a:r>
          </a:p>
        </p:txBody>
      </p:sp>
    </p:spTree>
    <p:extLst>
      <p:ext uri="{BB962C8B-B14F-4D97-AF65-F5344CB8AC3E}">
        <p14:creationId xmlns:p14="http://schemas.microsoft.com/office/powerpoint/2010/main" val="39114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D69BD9FF-0482-405F-96DD-7C65C179E91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3B17EAF2-4554-4635-AA5D-D9016C9C0CD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125,000 − (48,675 + 39,890).</a:t>
            </a:r>
          </a:p>
        </p:txBody>
      </p:sp>
      <p:sp>
        <p:nvSpPr>
          <p:cNvPr id="3" name="object-3">
            <a:extLst>
              <a:ext uri="{FF2B5EF4-FFF2-40B4-BE49-F238E27FC236}">
                <a16:creationId xmlns:a16="http://schemas.microsoft.com/office/drawing/2014/main" id="{3CCF7658-8225-4700-97D1-E6A522D064C6}"/>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74E6BD70-23FF-430E-BE14-D99C67CA619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multi-step addition and subtraction problems</a:t>
            </a:r>
          </a:p>
        </p:txBody>
      </p:sp>
      <p:sp>
        <p:nvSpPr>
          <p:cNvPr id="5" name="object-5">
            <a:extLst>
              <a:ext uri="{FF2B5EF4-FFF2-40B4-BE49-F238E27FC236}">
                <a16:creationId xmlns:a16="http://schemas.microsoft.com/office/drawing/2014/main" id="{C9332846-5B63-43E0-8813-0292DA1128B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9B648B9E-3E76-4164-98D8-B5C622538FD9}"/>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48,675 + 39,890 =</a:t>
            </a:r>
          </a:p>
        </p:txBody>
      </p:sp>
      <p:sp>
        <p:nvSpPr>
          <p:cNvPr id="7" name="object-7">
            <a:extLst>
              <a:ext uri="{FF2B5EF4-FFF2-40B4-BE49-F238E27FC236}">
                <a16:creationId xmlns:a16="http://schemas.microsoft.com/office/drawing/2014/main" id="{43D4170D-CF9A-4AA6-B97C-95C78A2CDF98}"/>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88,565</a:t>
            </a:r>
          </a:p>
        </p:txBody>
      </p:sp>
      <p:sp>
        <p:nvSpPr>
          <p:cNvPr id="8" name="object-8">
            <a:extLst>
              <a:ext uri="{FF2B5EF4-FFF2-40B4-BE49-F238E27FC236}">
                <a16:creationId xmlns:a16="http://schemas.microsoft.com/office/drawing/2014/main" id="{EB7801CB-D0A1-4C60-8D13-7D99C3EDDF5E}"/>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125,000 − 88,565 =</a:t>
            </a:r>
          </a:p>
        </p:txBody>
      </p:sp>
      <p:sp>
        <p:nvSpPr>
          <p:cNvPr id="9" name="object-9">
            <a:extLst>
              <a:ext uri="{FF2B5EF4-FFF2-40B4-BE49-F238E27FC236}">
                <a16:creationId xmlns:a16="http://schemas.microsoft.com/office/drawing/2014/main" id="{275C0281-B629-4FB0-95EB-A07D80574502}"/>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36,435</a:t>
            </a:r>
          </a:p>
        </p:txBody>
      </p:sp>
    </p:spTree>
    <p:extLst>
      <p:ext uri="{BB962C8B-B14F-4D97-AF65-F5344CB8AC3E}">
        <p14:creationId xmlns:p14="http://schemas.microsoft.com/office/powerpoint/2010/main" val="166043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B80E4A4F-1012-45C0-8282-03AAF70F400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9040AE04-EBA2-448B-8756-1E63254BA733}"/>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73C9A991-565F-4595-990B-F95856A7F96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125,010 − (48,675 + 39,890).</a:t>
            </a:r>
          </a:p>
        </p:txBody>
      </p:sp>
      <p:sp>
        <p:nvSpPr>
          <p:cNvPr id="4" name="object-4">
            <a:extLst>
              <a:ext uri="{FF2B5EF4-FFF2-40B4-BE49-F238E27FC236}">
                <a16:creationId xmlns:a16="http://schemas.microsoft.com/office/drawing/2014/main" id="{9381AB87-DC50-42E0-A2BD-A3521A274FCB}"/>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7EA9C7D2-8C01-4DDF-A4E2-74588FC3A25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multi-step addition and subtraction problems</a:t>
            </a:r>
          </a:p>
        </p:txBody>
      </p:sp>
      <p:sp>
        <p:nvSpPr>
          <p:cNvPr id="6" name="object-6">
            <a:extLst>
              <a:ext uri="{FF2B5EF4-FFF2-40B4-BE49-F238E27FC236}">
                <a16:creationId xmlns:a16="http://schemas.microsoft.com/office/drawing/2014/main" id="{9EA2B9BE-069B-4706-B067-CE0FD177EE3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FCA84400-9712-458B-92C1-F931FC68E5F9}"/>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48,675 + 39,890 =</a:t>
            </a:r>
          </a:p>
        </p:txBody>
      </p:sp>
      <p:sp>
        <p:nvSpPr>
          <p:cNvPr id="8" name="object-8">
            <a:extLst>
              <a:ext uri="{FF2B5EF4-FFF2-40B4-BE49-F238E27FC236}">
                <a16:creationId xmlns:a16="http://schemas.microsoft.com/office/drawing/2014/main" id="{E7E78644-F349-4A6B-90FA-950397AC6904}"/>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88,565</a:t>
            </a:r>
          </a:p>
        </p:txBody>
      </p:sp>
      <p:sp>
        <p:nvSpPr>
          <p:cNvPr id="9" name="object-9">
            <a:extLst>
              <a:ext uri="{FF2B5EF4-FFF2-40B4-BE49-F238E27FC236}">
                <a16:creationId xmlns:a16="http://schemas.microsoft.com/office/drawing/2014/main" id="{6C1A7049-6A99-4515-8F90-382E5A338693}"/>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125,010 − 88,565 =</a:t>
            </a:r>
          </a:p>
        </p:txBody>
      </p:sp>
      <p:sp>
        <p:nvSpPr>
          <p:cNvPr id="10" name="object-10">
            <a:extLst>
              <a:ext uri="{FF2B5EF4-FFF2-40B4-BE49-F238E27FC236}">
                <a16:creationId xmlns:a16="http://schemas.microsoft.com/office/drawing/2014/main" id="{40C3E13D-FCE4-48B2-81FD-995A18E7B437}"/>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36,445</a:t>
            </a:r>
          </a:p>
        </p:txBody>
      </p:sp>
    </p:spTree>
    <p:extLst>
      <p:ext uri="{BB962C8B-B14F-4D97-AF65-F5344CB8AC3E}">
        <p14:creationId xmlns:p14="http://schemas.microsoft.com/office/powerpoint/2010/main" val="64715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2533DE4D-2885-4277-A4C1-3ED30E1ADB7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3D4A7586-C941-4A7F-B054-EF613B596BC1}"/>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125,020 − (48,675 + 39,890).</a:t>
            </a:r>
          </a:p>
        </p:txBody>
      </p:sp>
      <p:sp>
        <p:nvSpPr>
          <p:cNvPr id="3" name="object-3">
            <a:extLst>
              <a:ext uri="{FF2B5EF4-FFF2-40B4-BE49-F238E27FC236}">
                <a16:creationId xmlns:a16="http://schemas.microsoft.com/office/drawing/2014/main" id="{718C096C-6C7A-4AC7-A15B-152BB4D70ABD}"/>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E7B1DEA-D4FE-4945-B443-BC95268C32B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multi-step addition and subtraction problems</a:t>
            </a:r>
          </a:p>
        </p:txBody>
      </p:sp>
      <p:sp>
        <p:nvSpPr>
          <p:cNvPr id="5" name="object-5">
            <a:extLst>
              <a:ext uri="{FF2B5EF4-FFF2-40B4-BE49-F238E27FC236}">
                <a16:creationId xmlns:a16="http://schemas.microsoft.com/office/drawing/2014/main" id="{4DFB4352-61CE-46EC-A1F0-5C25F3D4BB2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6C8CE685-0894-4D94-B553-FAFA3A94D20D}"/>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48,675 + 39,890 =</a:t>
            </a:r>
          </a:p>
        </p:txBody>
      </p:sp>
      <p:sp>
        <p:nvSpPr>
          <p:cNvPr id="7" name="object-7">
            <a:extLst>
              <a:ext uri="{FF2B5EF4-FFF2-40B4-BE49-F238E27FC236}">
                <a16:creationId xmlns:a16="http://schemas.microsoft.com/office/drawing/2014/main" id="{B4ED64DD-9ADC-4263-A12D-AD4390358CCF}"/>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88,565</a:t>
            </a:r>
          </a:p>
        </p:txBody>
      </p:sp>
      <p:sp>
        <p:nvSpPr>
          <p:cNvPr id="8" name="object-8">
            <a:extLst>
              <a:ext uri="{FF2B5EF4-FFF2-40B4-BE49-F238E27FC236}">
                <a16:creationId xmlns:a16="http://schemas.microsoft.com/office/drawing/2014/main" id="{25352B02-17AA-4D8E-AE3A-7FDFDFA8B2AF}"/>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125,020 − 88,565 =</a:t>
            </a:r>
          </a:p>
        </p:txBody>
      </p:sp>
      <p:sp>
        <p:nvSpPr>
          <p:cNvPr id="9" name="object-9">
            <a:extLst>
              <a:ext uri="{FF2B5EF4-FFF2-40B4-BE49-F238E27FC236}">
                <a16:creationId xmlns:a16="http://schemas.microsoft.com/office/drawing/2014/main" id="{E78C22AB-91B8-470D-9ED4-9945062527BE}"/>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36,455</a:t>
            </a:r>
          </a:p>
        </p:txBody>
      </p:sp>
    </p:spTree>
    <p:extLst>
      <p:ext uri="{BB962C8B-B14F-4D97-AF65-F5344CB8AC3E}">
        <p14:creationId xmlns:p14="http://schemas.microsoft.com/office/powerpoint/2010/main" val="201162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7D0C553A-BC30-476B-94A7-86E460CFFF4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ED1C03A1-CE77-43DE-A208-442042B8F1D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08ECBC1-39BB-4A20-BA04-4E8A3CC549C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125,030 − (48,675 + 39,890).</a:t>
            </a:r>
          </a:p>
        </p:txBody>
      </p:sp>
      <p:sp>
        <p:nvSpPr>
          <p:cNvPr id="4" name="object-4">
            <a:extLst>
              <a:ext uri="{FF2B5EF4-FFF2-40B4-BE49-F238E27FC236}">
                <a16:creationId xmlns:a16="http://schemas.microsoft.com/office/drawing/2014/main" id="{1C55C578-2355-4EC9-B2D1-727E2FF319AB}"/>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991423F7-A5A7-43EE-9C94-F9368C08AEE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multi-step addition and subtraction problems</a:t>
            </a:r>
          </a:p>
        </p:txBody>
      </p:sp>
      <p:sp>
        <p:nvSpPr>
          <p:cNvPr id="6" name="object-6">
            <a:extLst>
              <a:ext uri="{FF2B5EF4-FFF2-40B4-BE49-F238E27FC236}">
                <a16:creationId xmlns:a16="http://schemas.microsoft.com/office/drawing/2014/main" id="{F3F73A84-791A-498C-B070-0E119D8E559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916B2D8D-EF00-44BB-91DE-7016E3777DC2}"/>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48,675 + 39,890 =</a:t>
            </a:r>
          </a:p>
        </p:txBody>
      </p:sp>
      <p:sp>
        <p:nvSpPr>
          <p:cNvPr id="8" name="object-8">
            <a:extLst>
              <a:ext uri="{FF2B5EF4-FFF2-40B4-BE49-F238E27FC236}">
                <a16:creationId xmlns:a16="http://schemas.microsoft.com/office/drawing/2014/main" id="{6FDD71D4-481C-40FC-B827-641A83A21105}"/>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88,565</a:t>
            </a:r>
          </a:p>
        </p:txBody>
      </p:sp>
      <p:sp>
        <p:nvSpPr>
          <p:cNvPr id="9" name="object-9">
            <a:extLst>
              <a:ext uri="{FF2B5EF4-FFF2-40B4-BE49-F238E27FC236}">
                <a16:creationId xmlns:a16="http://schemas.microsoft.com/office/drawing/2014/main" id="{90885682-5351-48EF-90AF-58AD1A16B0D7}"/>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125,030 − 88,565 =</a:t>
            </a:r>
          </a:p>
        </p:txBody>
      </p:sp>
      <p:sp>
        <p:nvSpPr>
          <p:cNvPr id="10" name="object-10">
            <a:extLst>
              <a:ext uri="{FF2B5EF4-FFF2-40B4-BE49-F238E27FC236}">
                <a16:creationId xmlns:a16="http://schemas.microsoft.com/office/drawing/2014/main" id="{B98F7733-C509-4C05-9562-78DC6EDA51F3}"/>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36,465</a:t>
            </a:r>
          </a:p>
        </p:txBody>
      </p:sp>
    </p:spTree>
    <p:extLst>
      <p:ext uri="{BB962C8B-B14F-4D97-AF65-F5344CB8AC3E}">
        <p14:creationId xmlns:p14="http://schemas.microsoft.com/office/powerpoint/2010/main" val="164845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58DC1091-71BF-437A-BE6C-009D1EB12E32}"/>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06A80E5-EC05-4A18-8AFB-D4F771EBE177}"/>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DADE5E28-9290-4DFE-819A-544211CB87A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941172EC-B93B-4EEB-8302-8A9D04CC5005}"/>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C63DBD3A-0E9D-4167-9E3C-111A6BE411F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multi-step addition and subtraction problems</a:t>
            </a:r>
          </a:p>
        </p:txBody>
      </p:sp>
      <p:sp>
        <p:nvSpPr>
          <p:cNvPr id="6" name="object-6">
            <a:extLst>
              <a:ext uri="{FF2B5EF4-FFF2-40B4-BE49-F238E27FC236}">
                <a16:creationId xmlns:a16="http://schemas.microsoft.com/office/drawing/2014/main" id="{B353093E-A057-450E-9451-1D7047B7F9F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C0B3A448-38DD-42F9-B819-4A30B2BB41D6}"/>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C8E92B72-4A1F-41B3-9F71-429FD8B33D2D}"/>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venue has 125,000 seats. It sells 48,675 morning tickets and 39,890 evening tickets. How many remain?</a:t>
            </a:r>
          </a:p>
        </p:txBody>
      </p:sp>
      <p:sp>
        <p:nvSpPr>
          <p:cNvPr id="9" name="object-9">
            <a:extLst>
              <a:ext uri="{FF2B5EF4-FFF2-40B4-BE49-F238E27FC236}">
                <a16:creationId xmlns:a16="http://schemas.microsoft.com/office/drawing/2014/main" id="{941F3FDD-E6C7-4738-9F53-E9F568E35008}"/>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F38EAEF8-5462-4CAE-AEE6-928BEFA93385}"/>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charity target is £500,000. It raises £187,650 then £204,875. How much more is needed?</a:t>
            </a:r>
          </a:p>
        </p:txBody>
      </p:sp>
      <p:sp>
        <p:nvSpPr>
          <p:cNvPr id="11" name="object-11">
            <a:extLst>
              <a:ext uri="{FF2B5EF4-FFF2-40B4-BE49-F238E27FC236}">
                <a16:creationId xmlns:a16="http://schemas.microsoft.com/office/drawing/2014/main" id="{3D33C028-6758-4DF8-A352-EE0146AFBA89}"/>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43AF332C-1BBE-4501-B48E-274D528CB8FB}"/>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reservoir holds 2,500,000 litres. It loses 384,750 litres and gains 275,600 litres. New volume?</a:t>
            </a:r>
          </a:p>
        </p:txBody>
      </p:sp>
      <p:sp>
        <p:nvSpPr>
          <p:cNvPr id="13" name="object-13">
            <a:extLst>
              <a:ext uri="{FF2B5EF4-FFF2-40B4-BE49-F238E27FC236}">
                <a16:creationId xmlns:a16="http://schemas.microsoft.com/office/drawing/2014/main" id="{3486FBE5-E9AB-4C49-B24D-FD9D2C57167A}"/>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1A6185EF-BC9D-46D3-9907-3FBEB0B817D5}"/>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A venue has 125,000 seats. It sells 48,675 morning tickets and 39,890 evening tickets. How many remain?</a:t>
            </a:r>
          </a:p>
        </p:txBody>
      </p:sp>
      <p:sp>
        <p:nvSpPr>
          <p:cNvPr id="15" name="object-15">
            <a:extLst>
              <a:ext uri="{FF2B5EF4-FFF2-40B4-BE49-F238E27FC236}">
                <a16:creationId xmlns:a16="http://schemas.microsoft.com/office/drawing/2014/main" id="{567DEF72-866F-4A2B-8F3A-DF3A6EBF6E36}"/>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89B6B7ED-7FFB-4C1E-803A-506E3A9D1C58}"/>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A charity target is £500,000. It raises £187,650 then £204,875. How much more is needed?</a:t>
            </a:r>
          </a:p>
        </p:txBody>
      </p:sp>
      <p:sp>
        <p:nvSpPr>
          <p:cNvPr id="17" name="object-17">
            <a:extLst>
              <a:ext uri="{FF2B5EF4-FFF2-40B4-BE49-F238E27FC236}">
                <a16:creationId xmlns:a16="http://schemas.microsoft.com/office/drawing/2014/main" id="{A1DEB2E4-1E66-4FE6-A160-B40777B59AD4}"/>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D704808F-E17D-4C30-B713-7C5F071594F0}"/>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688" b="0">
                <a:solidFill>
                  <a:srgbClr val="172B4D"/>
                </a:solidFill>
                <a:latin typeface="Arial"/>
                <a:ea typeface="Arial"/>
                <a:cs typeface="Arial"/>
              </a:defRPr>
            </a:pPr>
            <a:r>
              <a:rPr sz="1688" b="0">
                <a:solidFill>
                  <a:srgbClr val="172B4D"/>
                </a:solidFill>
                <a:latin typeface="Arial"/>
                <a:ea typeface="Arial"/>
                <a:cs typeface="Arial"/>
              </a:rPr>
              <a:t>Check this result using an inverse, estimate or known fact: A reservoir holds 2,500,000 litres. It loses 384,750 litres and gains 275,600 litres. New volume?</a:t>
            </a:r>
          </a:p>
        </p:txBody>
      </p:sp>
      <p:sp>
        <p:nvSpPr>
          <p:cNvPr id="19" name="object-19">
            <a:extLst>
              <a:ext uri="{FF2B5EF4-FFF2-40B4-BE49-F238E27FC236}">
                <a16:creationId xmlns:a16="http://schemas.microsoft.com/office/drawing/2014/main" id="{75BD3DF6-4201-40C2-8475-0809ADB19FF2}"/>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E6FD7ED0-2663-4CA2-93E9-B7F63E9E22EE}"/>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Create a three-step addition and subtraction problem with final answer 250,000.</a:t>
            </a:r>
          </a:p>
        </p:txBody>
      </p:sp>
      <p:sp>
        <p:nvSpPr>
          <p:cNvPr id="21" name="object-21">
            <a:extLst>
              <a:ext uri="{FF2B5EF4-FFF2-40B4-BE49-F238E27FC236}">
                <a16:creationId xmlns:a16="http://schemas.microsoft.com/office/drawing/2014/main" id="{F57B48B1-483D-488C-A99E-32C38219046F}"/>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AA3B9E26-16E8-4060-9158-E8E31929F5B2}"/>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subtracts the two ticket sales separately from the original but loses track of the first subtotal.</a:t>
            </a:r>
          </a:p>
        </p:txBody>
      </p:sp>
      <p:sp>
        <p:nvSpPr>
          <p:cNvPr id="23" name="object-23">
            <a:extLst>
              <a:ext uri="{FF2B5EF4-FFF2-40B4-BE49-F238E27FC236}">
                <a16:creationId xmlns:a16="http://schemas.microsoft.com/office/drawing/2014/main" id="{969E9196-582A-4A6E-A6C6-F60E1802C880}"/>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507C148F-8BD4-48A5-BB52-86CB9DDEE300}"/>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54B182F0-09AF-40F5-9053-E6FE9C96C3B3}"/>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FA1D2F78-2C28-4319-918C-F4BB21411610}"/>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A reservoir holds 2,500,000 litres. It loses 384,750 litres and gains 275,600 litres. New volume?</a:t>
            </a:r>
          </a:p>
        </p:txBody>
      </p:sp>
    </p:spTree>
    <p:extLst>
      <p:ext uri="{BB962C8B-B14F-4D97-AF65-F5344CB8AC3E}">
        <p14:creationId xmlns:p14="http://schemas.microsoft.com/office/powerpoint/2010/main" val="962784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271C1347-F032-429D-B015-8D94E40CFA4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6A229EA5-40A4-443A-AE0D-3E4DC303BA4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0A03C8E2-BFDF-4487-AB1F-40246456ECE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50D7EF6-CEDF-45EC-9A3F-299C1995AC8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multi-step addition and subtraction problems</a:t>
            </a:r>
          </a:p>
        </p:txBody>
      </p:sp>
      <p:sp>
        <p:nvSpPr>
          <p:cNvPr id="5" name="object-5">
            <a:extLst>
              <a:ext uri="{FF2B5EF4-FFF2-40B4-BE49-F238E27FC236}">
                <a16:creationId xmlns:a16="http://schemas.microsoft.com/office/drawing/2014/main" id="{DAF2F6F6-EE84-4B35-9159-7478F073CB8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D356740C-3FA2-409B-B67F-131F38BEC5F2}"/>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3698C30D-9EDF-4A43-AD46-81CB74EA7A9A}"/>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36,435 seats.</a:t>
            </a:r>
          </a:p>
        </p:txBody>
      </p:sp>
      <p:sp>
        <p:nvSpPr>
          <p:cNvPr id="8" name="object-8">
            <a:extLst>
              <a:ext uri="{FF2B5EF4-FFF2-40B4-BE49-F238E27FC236}">
                <a16:creationId xmlns:a16="http://schemas.microsoft.com/office/drawing/2014/main" id="{109F72A2-47FD-4020-B712-CF4AB1C56182}"/>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16A52144-53CF-4EF1-95D3-A3047CFC0EC4}"/>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£107,475.</a:t>
            </a:r>
          </a:p>
        </p:txBody>
      </p:sp>
      <p:sp>
        <p:nvSpPr>
          <p:cNvPr id="10" name="object-10">
            <a:extLst>
              <a:ext uri="{FF2B5EF4-FFF2-40B4-BE49-F238E27FC236}">
                <a16:creationId xmlns:a16="http://schemas.microsoft.com/office/drawing/2014/main" id="{34271DE9-D776-4994-82F7-249FBAF2E6B1}"/>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D495E6BD-8F20-489D-8FEA-46B7754B589F}"/>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2,390,850 litres.</a:t>
            </a:r>
          </a:p>
        </p:txBody>
      </p:sp>
      <p:sp>
        <p:nvSpPr>
          <p:cNvPr id="12" name="object-12">
            <a:extLst>
              <a:ext uri="{FF2B5EF4-FFF2-40B4-BE49-F238E27FC236}">
                <a16:creationId xmlns:a16="http://schemas.microsoft.com/office/drawing/2014/main" id="{112A797B-2D6E-4042-97FB-720F17C09B63}"/>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45A2BE04-9598-4D67-8FA6-436D7AAE22DF}"/>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36,435 seats.</a:t>
            </a:r>
          </a:p>
        </p:txBody>
      </p:sp>
      <p:sp>
        <p:nvSpPr>
          <p:cNvPr id="14" name="object-14">
            <a:extLst>
              <a:ext uri="{FF2B5EF4-FFF2-40B4-BE49-F238E27FC236}">
                <a16:creationId xmlns:a16="http://schemas.microsoft.com/office/drawing/2014/main" id="{7F9A4456-9C9A-48B9-B987-992C31C5DAC7}"/>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74E544A9-5F2A-4D03-919B-6BBB549545A7}"/>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£107,475. Method or representation may vary.</a:t>
            </a:r>
          </a:p>
        </p:txBody>
      </p:sp>
      <p:sp>
        <p:nvSpPr>
          <p:cNvPr id="16" name="object-16">
            <a:extLst>
              <a:ext uri="{FF2B5EF4-FFF2-40B4-BE49-F238E27FC236}">
                <a16:creationId xmlns:a16="http://schemas.microsoft.com/office/drawing/2014/main" id="{C578382D-828A-459F-A56C-9F2BC0250C67}"/>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A1A68425-1A7E-44B7-A36A-40D02ADE56FE}"/>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2,390,850 litres. A valid check must be shown.</a:t>
            </a:r>
          </a:p>
        </p:txBody>
      </p:sp>
      <p:sp>
        <p:nvSpPr>
          <p:cNvPr id="18" name="object-18">
            <a:extLst>
              <a:ext uri="{FF2B5EF4-FFF2-40B4-BE49-F238E27FC236}">
                <a16:creationId xmlns:a16="http://schemas.microsoft.com/office/drawing/2014/main" id="{4E8A231C-B64A-40D4-ACC1-3E4079CA8324}"/>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5FE3C0A6-6C07-42C1-BCA9-570E25BC0741}"/>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Every step must be labelled and accurate.</a:t>
            </a:r>
          </a:p>
        </p:txBody>
      </p:sp>
      <p:sp>
        <p:nvSpPr>
          <p:cNvPr id="20" name="object-20">
            <a:extLst>
              <a:ext uri="{FF2B5EF4-FFF2-40B4-BE49-F238E27FC236}">
                <a16:creationId xmlns:a16="http://schemas.microsoft.com/office/drawing/2014/main" id="{7FB6A8B7-B3FC-4A96-8CD3-0DB7BB2941BD}"/>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EF58CC81-9514-4164-8578-D91C6D007C45}"/>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Combine the tickets first or label each new subtotal before continuing.</a:t>
            </a:r>
          </a:p>
        </p:txBody>
      </p:sp>
      <p:sp>
        <p:nvSpPr>
          <p:cNvPr id="22" name="object-22">
            <a:extLst>
              <a:ext uri="{FF2B5EF4-FFF2-40B4-BE49-F238E27FC236}">
                <a16:creationId xmlns:a16="http://schemas.microsoft.com/office/drawing/2014/main" id="{F2D1140B-84B3-4ADD-925C-E07C93DBC175}"/>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E0744E34-9DA9-4FED-9866-D311F18F8833}"/>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6B8E8C6B-6F62-405E-967E-D0A4A4792FE3}"/>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36971EE2-8885-4074-8AA9-FB0B69461919}"/>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2009573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1017</Words>
  <Application>Microsoft Office PowerPoint</Application>
  <DocSecurity>0</DocSecurity>
  <PresentationFormat>Custom</PresentationFormat>
  <Paragraphs>102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2026-09-14T13:19:10Z</dcterms:created>
  <dcterms:modified xsi:type="dcterms:W3CDTF">2026-09-14T13:21:20Z</dcterms:modified>
</cp:coreProperties>
</file>