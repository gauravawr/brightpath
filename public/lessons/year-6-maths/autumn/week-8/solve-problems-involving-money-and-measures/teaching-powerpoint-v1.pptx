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problems involving money and measures. Solve problems involving money and measures.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problems involving money and measures.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problems involving money and measures.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problems involving money and measures. I do.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problems involving money and measures. You do. Pause before clicking. Let pupils try independently, then reveal and discuss every step. Identify the operation represented by each part. Reveal one calculation at a time, then follow the result into the next step.</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problems involving money and measures.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problems involving money and measures.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E1F74D93-885F-4017-9C23-51FD3B2DD7A2}"/>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Solve problems involving money and measures</a:t>
            </a:r>
          </a:p>
        </p:txBody>
      </p:sp>
      <p:sp>
        <p:nvSpPr>
          <p:cNvPr id="2" name="object-2">
            <a:extLst>
              <a:ext uri="{FF2B5EF4-FFF2-40B4-BE49-F238E27FC236}">
                <a16:creationId xmlns:a16="http://schemas.microsoft.com/office/drawing/2014/main" id="{48FCC26C-142E-42EA-B290-D68E5496F9C6}"/>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BDA37A6B-9109-4277-8630-D692AD20F7A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1BC6B56-8F5B-4948-93B9-FA789F990C8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problems involving money and measures</a:t>
            </a:r>
          </a:p>
        </p:txBody>
      </p:sp>
      <p:sp>
        <p:nvSpPr>
          <p:cNvPr id="5" name="object-5">
            <a:extLst>
              <a:ext uri="{FF2B5EF4-FFF2-40B4-BE49-F238E27FC236}">
                <a16:creationId xmlns:a16="http://schemas.microsoft.com/office/drawing/2014/main" id="{CB1EC31D-E294-4978-9C3F-BE915141CDC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6460091C-F38D-49DE-BA08-17737899E893}"/>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use all four operations in problems with money and measures.</a:t>
            </a:r>
          </a:p>
        </p:txBody>
      </p:sp>
    </p:spTree>
    <p:extLst>
      <p:ext uri="{BB962C8B-B14F-4D97-AF65-F5344CB8AC3E}">
        <p14:creationId xmlns:p14="http://schemas.microsoft.com/office/powerpoint/2010/main" val="1653586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E1072992-E8A9-4E2E-A275-58168C6DCB7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042178B4-98E8-4CA6-BFFA-847C5D96ABC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2,500 − 18 × 76.</a:t>
            </a:r>
          </a:p>
        </p:txBody>
      </p:sp>
      <p:sp>
        <p:nvSpPr>
          <p:cNvPr id="3" name="object-3">
            <a:extLst>
              <a:ext uri="{FF2B5EF4-FFF2-40B4-BE49-F238E27FC236}">
                <a16:creationId xmlns:a16="http://schemas.microsoft.com/office/drawing/2014/main" id="{F8F862A0-0EB3-46DF-9DC8-5F302F4F8BF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7DE3700-F378-4105-8452-5B0C98EE747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problems involving money and measures</a:t>
            </a:r>
          </a:p>
        </p:txBody>
      </p:sp>
      <p:sp>
        <p:nvSpPr>
          <p:cNvPr id="5" name="object-5">
            <a:extLst>
              <a:ext uri="{FF2B5EF4-FFF2-40B4-BE49-F238E27FC236}">
                <a16:creationId xmlns:a16="http://schemas.microsoft.com/office/drawing/2014/main" id="{40248AF3-342F-4A3C-AD3B-4A11E26C907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CECE7BDA-0F91-4765-89DD-A6F13AD7E57F}"/>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18 × 76 =</a:t>
            </a:r>
          </a:p>
        </p:txBody>
      </p:sp>
      <p:sp>
        <p:nvSpPr>
          <p:cNvPr id="7" name="object-7">
            <a:extLst>
              <a:ext uri="{FF2B5EF4-FFF2-40B4-BE49-F238E27FC236}">
                <a16:creationId xmlns:a16="http://schemas.microsoft.com/office/drawing/2014/main" id="{1664858C-BDE5-40CB-B844-F3368F71B1C0}"/>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1,368</a:t>
            </a:r>
          </a:p>
        </p:txBody>
      </p:sp>
      <p:sp>
        <p:nvSpPr>
          <p:cNvPr id="8" name="object-8">
            <a:extLst>
              <a:ext uri="{FF2B5EF4-FFF2-40B4-BE49-F238E27FC236}">
                <a16:creationId xmlns:a16="http://schemas.microsoft.com/office/drawing/2014/main" id="{D4DE6D0C-6E5B-41DB-86B5-B56642668791}"/>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2,500 − 1,368 =</a:t>
            </a:r>
          </a:p>
        </p:txBody>
      </p:sp>
      <p:sp>
        <p:nvSpPr>
          <p:cNvPr id="9" name="object-9">
            <a:extLst>
              <a:ext uri="{FF2B5EF4-FFF2-40B4-BE49-F238E27FC236}">
                <a16:creationId xmlns:a16="http://schemas.microsoft.com/office/drawing/2014/main" id="{C5551831-DF0D-4FC5-B4FC-685069FDC2DC}"/>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1,132</a:t>
            </a:r>
          </a:p>
        </p:txBody>
      </p:sp>
    </p:spTree>
    <p:extLst>
      <p:ext uri="{BB962C8B-B14F-4D97-AF65-F5344CB8AC3E}">
        <p14:creationId xmlns:p14="http://schemas.microsoft.com/office/powerpoint/2010/main" val="213775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B4D12990-7B40-4601-8620-3BEC7411B9C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8AA57A38-0796-4999-A196-71312AB87BC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9D8BD12-03F3-45F2-86C3-67D6E403781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2,510 − 18 × 76.</a:t>
            </a:r>
          </a:p>
        </p:txBody>
      </p:sp>
      <p:sp>
        <p:nvSpPr>
          <p:cNvPr id="4" name="object-4">
            <a:extLst>
              <a:ext uri="{FF2B5EF4-FFF2-40B4-BE49-F238E27FC236}">
                <a16:creationId xmlns:a16="http://schemas.microsoft.com/office/drawing/2014/main" id="{9808E7D5-4E62-405D-9240-D201E7EB671B}"/>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2857F8C9-E4CE-4229-B031-CAF3009F9F7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problems involving money and measures</a:t>
            </a:r>
          </a:p>
        </p:txBody>
      </p:sp>
      <p:sp>
        <p:nvSpPr>
          <p:cNvPr id="6" name="object-6">
            <a:extLst>
              <a:ext uri="{FF2B5EF4-FFF2-40B4-BE49-F238E27FC236}">
                <a16:creationId xmlns:a16="http://schemas.microsoft.com/office/drawing/2014/main" id="{2D7674F4-0BD7-4506-82F6-70C78387D45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98ECC236-2B10-4DF6-AEE5-6C2B8D000578}"/>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18 × 76 =</a:t>
            </a:r>
          </a:p>
        </p:txBody>
      </p:sp>
      <p:sp>
        <p:nvSpPr>
          <p:cNvPr id="8" name="object-8">
            <a:extLst>
              <a:ext uri="{FF2B5EF4-FFF2-40B4-BE49-F238E27FC236}">
                <a16:creationId xmlns:a16="http://schemas.microsoft.com/office/drawing/2014/main" id="{0BE5F2B7-184F-4BB1-B60C-D9715BA5632A}"/>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1,368</a:t>
            </a:r>
          </a:p>
        </p:txBody>
      </p:sp>
      <p:sp>
        <p:nvSpPr>
          <p:cNvPr id="9" name="object-9">
            <a:extLst>
              <a:ext uri="{FF2B5EF4-FFF2-40B4-BE49-F238E27FC236}">
                <a16:creationId xmlns:a16="http://schemas.microsoft.com/office/drawing/2014/main" id="{B34E2FEC-847F-4FCE-B909-DEFA68D2CE3D}"/>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2,510 − 1,368 =</a:t>
            </a:r>
          </a:p>
        </p:txBody>
      </p:sp>
      <p:sp>
        <p:nvSpPr>
          <p:cNvPr id="10" name="object-10">
            <a:extLst>
              <a:ext uri="{FF2B5EF4-FFF2-40B4-BE49-F238E27FC236}">
                <a16:creationId xmlns:a16="http://schemas.microsoft.com/office/drawing/2014/main" id="{F484220F-6F36-4AC1-B3A0-24875D4F2343}"/>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1,142</a:t>
            </a:r>
          </a:p>
        </p:txBody>
      </p:sp>
    </p:spTree>
    <p:extLst>
      <p:ext uri="{BB962C8B-B14F-4D97-AF65-F5344CB8AC3E}">
        <p14:creationId xmlns:p14="http://schemas.microsoft.com/office/powerpoint/2010/main" val="79046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bject-1">
            <a:extLst>
              <a:ext uri="{FF2B5EF4-FFF2-40B4-BE49-F238E27FC236}">
                <a16:creationId xmlns:a16="http://schemas.microsoft.com/office/drawing/2014/main" id="{DDE539C1-AFD6-410A-8309-E541947D2F18}"/>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FB9910D5-D518-435D-8664-4FE6B171FC5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2,520 − 18 × 76.</a:t>
            </a:r>
          </a:p>
        </p:txBody>
      </p:sp>
      <p:sp>
        <p:nvSpPr>
          <p:cNvPr id="3" name="object-3">
            <a:extLst>
              <a:ext uri="{FF2B5EF4-FFF2-40B4-BE49-F238E27FC236}">
                <a16:creationId xmlns:a16="http://schemas.microsoft.com/office/drawing/2014/main" id="{08427AA3-9931-4BAA-BF85-9EDF4AEE320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E751304-734E-4839-ADCA-4061F1513633}"/>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problems involving money and measures</a:t>
            </a:r>
          </a:p>
        </p:txBody>
      </p:sp>
      <p:sp>
        <p:nvSpPr>
          <p:cNvPr id="5" name="object-5">
            <a:extLst>
              <a:ext uri="{FF2B5EF4-FFF2-40B4-BE49-F238E27FC236}">
                <a16:creationId xmlns:a16="http://schemas.microsoft.com/office/drawing/2014/main" id="{3DEF35CE-97B6-4CB8-A107-CD0F3C9C739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A6BC9DE6-6454-4FE6-97A1-ED70B81E666D}"/>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18 × 76 =</a:t>
            </a:r>
          </a:p>
        </p:txBody>
      </p:sp>
      <p:sp>
        <p:nvSpPr>
          <p:cNvPr id="7" name="object-7">
            <a:extLst>
              <a:ext uri="{FF2B5EF4-FFF2-40B4-BE49-F238E27FC236}">
                <a16:creationId xmlns:a16="http://schemas.microsoft.com/office/drawing/2014/main" id="{E60D6230-B871-47D6-AE3A-E93CB8EDAAAC}"/>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1,368</a:t>
            </a:r>
          </a:p>
        </p:txBody>
      </p:sp>
      <p:sp>
        <p:nvSpPr>
          <p:cNvPr id="8" name="object-8">
            <a:extLst>
              <a:ext uri="{FF2B5EF4-FFF2-40B4-BE49-F238E27FC236}">
                <a16:creationId xmlns:a16="http://schemas.microsoft.com/office/drawing/2014/main" id="{E51471CB-DF1A-4FDA-BA13-183940F80D0C}"/>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2,520 − 1,368 =</a:t>
            </a:r>
          </a:p>
        </p:txBody>
      </p:sp>
      <p:sp>
        <p:nvSpPr>
          <p:cNvPr id="9" name="object-9">
            <a:extLst>
              <a:ext uri="{FF2B5EF4-FFF2-40B4-BE49-F238E27FC236}">
                <a16:creationId xmlns:a16="http://schemas.microsoft.com/office/drawing/2014/main" id="{5A7652C6-7D6E-45F0-B541-E09BFA0CAD75}"/>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1,152</a:t>
            </a:r>
          </a:p>
        </p:txBody>
      </p:sp>
    </p:spTree>
    <p:extLst>
      <p:ext uri="{BB962C8B-B14F-4D97-AF65-F5344CB8AC3E}">
        <p14:creationId xmlns:p14="http://schemas.microsoft.com/office/powerpoint/2010/main" val="159532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7"/>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7" grpId="1"/>
      <p:bldP spid="8" grpId="0"/>
      <p:bldP spid="9" grpId="0"/>
      <p:bldP spid="9"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object-1">
            <a:extLst>
              <a:ext uri="{FF2B5EF4-FFF2-40B4-BE49-F238E27FC236}">
                <a16:creationId xmlns:a16="http://schemas.microsoft.com/office/drawing/2014/main" id="{E426030D-CD06-48FB-9032-DBDF2509402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D446B35-E9BC-4DA4-99BE-F32A9D675EC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CC31EEBD-6C3D-4C20-B632-50FF6FC6DC3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2,530 − 18 × 76.</a:t>
            </a:r>
          </a:p>
        </p:txBody>
      </p:sp>
      <p:sp>
        <p:nvSpPr>
          <p:cNvPr id="4" name="object-4">
            <a:extLst>
              <a:ext uri="{FF2B5EF4-FFF2-40B4-BE49-F238E27FC236}">
                <a16:creationId xmlns:a16="http://schemas.microsoft.com/office/drawing/2014/main" id="{009E2A1A-FA1E-4F5F-97BD-8B24FE1813F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9F471A5-CC26-4B13-9F44-3D83A4BBFA7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problems involving money and measures</a:t>
            </a:r>
          </a:p>
        </p:txBody>
      </p:sp>
      <p:sp>
        <p:nvSpPr>
          <p:cNvPr id="6" name="object-6">
            <a:extLst>
              <a:ext uri="{FF2B5EF4-FFF2-40B4-BE49-F238E27FC236}">
                <a16:creationId xmlns:a16="http://schemas.microsoft.com/office/drawing/2014/main" id="{0CCE1856-7C10-4AEC-B400-BC150930DCC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D8C12906-F5EE-43E4-8DD9-DCC004C0A384}"/>
              </a:ext>
            </a:extLst>
          </p:cNvPr>
          <p:cNvSpPr>
            <a:spLocks noGrp="1"/>
          </p:cNvSpPr>
          <p:nvPr/>
        </p:nvSpPr>
        <p:spPr>
          <a:xfrm>
            <a:off x="1012031" y="2714625"/>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18 × 76 =</a:t>
            </a:r>
          </a:p>
        </p:txBody>
      </p:sp>
      <p:sp>
        <p:nvSpPr>
          <p:cNvPr id="8" name="object-8">
            <a:extLst>
              <a:ext uri="{FF2B5EF4-FFF2-40B4-BE49-F238E27FC236}">
                <a16:creationId xmlns:a16="http://schemas.microsoft.com/office/drawing/2014/main" id="{D2D96E66-C24F-409B-8A88-06BDFE184967}"/>
              </a:ext>
            </a:extLst>
          </p:cNvPr>
          <p:cNvSpPr>
            <a:spLocks noGrp="1"/>
          </p:cNvSpPr>
          <p:nvPr/>
        </p:nvSpPr>
        <p:spPr>
          <a:xfrm>
            <a:off x="9346406" y="2714625"/>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1,368</a:t>
            </a:r>
          </a:p>
        </p:txBody>
      </p:sp>
      <p:sp>
        <p:nvSpPr>
          <p:cNvPr id="9" name="object-9">
            <a:extLst>
              <a:ext uri="{FF2B5EF4-FFF2-40B4-BE49-F238E27FC236}">
                <a16:creationId xmlns:a16="http://schemas.microsoft.com/office/drawing/2014/main" id="{B9F6B3EA-1887-4DBB-9780-8BA7B74C541D}"/>
              </a:ext>
            </a:extLst>
          </p:cNvPr>
          <p:cNvSpPr>
            <a:spLocks noGrp="1"/>
          </p:cNvSpPr>
          <p:nvPr/>
        </p:nvSpPr>
        <p:spPr>
          <a:xfrm>
            <a:off x="1012031" y="4064000"/>
            <a:ext cx="8572500" cy="797719"/>
          </a:xfrm>
          <a:prstGeom prst="rect">
            <a:avLst/>
          </a:prstGeom>
          <a:noFill/>
          <a:ln w="0">
            <a:noFill/>
          </a:ln>
        </p:spPr>
        <p:txBody>
          <a:bodyPr anchor="ctr">
            <a:noAutofit/>
          </a:bodyPr>
          <a:lstStyle/>
          <a:p>
            <a:pPr algn="l">
              <a:defRPr sz="3188" b="1">
                <a:solidFill>
                  <a:srgbClr val="172B4D"/>
                </a:solidFill>
                <a:latin typeface="Arial"/>
                <a:ea typeface="Arial"/>
                <a:cs typeface="Arial"/>
              </a:defRPr>
            </a:pPr>
            <a:r>
              <a:rPr sz="3188" b="1">
                <a:solidFill>
                  <a:srgbClr val="172B4D"/>
                </a:solidFill>
                <a:latin typeface="Arial"/>
                <a:ea typeface="Arial"/>
                <a:cs typeface="Arial"/>
              </a:rPr>
              <a:t>2,530 − 1,368 =</a:t>
            </a:r>
          </a:p>
        </p:txBody>
      </p:sp>
      <p:sp>
        <p:nvSpPr>
          <p:cNvPr id="10" name="object-10">
            <a:extLst>
              <a:ext uri="{FF2B5EF4-FFF2-40B4-BE49-F238E27FC236}">
                <a16:creationId xmlns:a16="http://schemas.microsoft.com/office/drawing/2014/main" id="{57F76020-8070-4C16-9BF5-E69EFB344A93}"/>
              </a:ext>
            </a:extLst>
          </p:cNvPr>
          <p:cNvSpPr>
            <a:spLocks noGrp="1"/>
          </p:cNvSpPr>
          <p:nvPr/>
        </p:nvSpPr>
        <p:spPr>
          <a:xfrm>
            <a:off x="9346406" y="4064000"/>
            <a:ext cx="3810000" cy="797719"/>
          </a:xfrm>
          <a:prstGeom prst="rect">
            <a:avLst/>
          </a:prstGeom>
          <a:noFill/>
          <a:ln w="0">
            <a:noFill/>
          </a:ln>
        </p:spPr>
        <p:txBody>
          <a:bodyPr anchor="ctr">
            <a:noAutofit/>
          </a:bodyPr>
          <a:lstStyle/>
          <a:p>
            <a:pPr algn="ctr">
              <a:defRPr sz="3750" b="1">
                <a:solidFill>
                  <a:srgbClr val="11745A"/>
                </a:solidFill>
                <a:latin typeface="Arial"/>
                <a:ea typeface="Arial"/>
                <a:cs typeface="Arial"/>
              </a:defRPr>
            </a:pPr>
            <a:r>
              <a:rPr sz="3750" b="1">
                <a:solidFill>
                  <a:srgbClr val="11745A"/>
                </a:solidFill>
                <a:latin typeface="Arial"/>
                <a:ea typeface="Arial"/>
                <a:cs typeface="Arial"/>
              </a:rPr>
              <a:t>1,162</a:t>
            </a:r>
          </a:p>
        </p:txBody>
      </p:sp>
    </p:spTree>
    <p:extLst>
      <p:ext uri="{BB962C8B-B14F-4D97-AF65-F5344CB8AC3E}">
        <p14:creationId xmlns:p14="http://schemas.microsoft.com/office/powerpoint/2010/main" val="176296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0"/>
                            </p:stCondLst>
                            <p:childTnLst>
                              <p:par>
                                <p:cTn id="11" presetID="63" presetClass="path" presetSubtype="0" accel="50000" decel="50000" fill="hold" grpId="1" nodeType="afterEffect">
                                  <p:stCondLst>
                                    <p:cond delay="0"/>
                                  </p:stCondLst>
                                  <p:childTnLst>
                                    <p:animMotion origin="layout" path="M 0 0 L 0.03515625 0 E" pathEditMode="relative" ptsTypes="">
                                      <p:cBhvr>
                                        <p:cTn id="12" dur="800" fill="hold"/>
                                        <p:tgtEl>
                                          <p:spTgt spid="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par>
                          <p:cTn id="20" fill="hold">
                            <p:stCondLst>
                              <p:cond delay="0"/>
                            </p:stCondLst>
                            <p:childTnLst>
                              <p:par>
                                <p:cTn id="21" presetID="63" presetClass="path" presetSubtype="0" accel="50000" decel="50000" fill="hold" grpId="1" nodeType="afterEffect">
                                  <p:stCondLst>
                                    <p:cond delay="0"/>
                                  </p:stCondLst>
                                  <p:childTnLst>
                                    <p:animMotion origin="layout" path="M 0 0 L 0.03515625 0 E" pathEditMode="relative" ptsTypes="">
                                      <p:cBhvr>
                                        <p:cTn id="22" dur="8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0"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A9AD813D-D78C-4F29-B2A0-4E81A8DCBD6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48C168C-B312-4725-8DD1-6075FBCC3BE8}"/>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B09CF379-6254-4827-A868-FA0BB9415B0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8B2171E2-5DF3-4584-B0E9-E7F27FCB29C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4FD080D-EE73-470C-9DA2-A95628F2718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problems involving money and measures</a:t>
            </a:r>
          </a:p>
        </p:txBody>
      </p:sp>
      <p:sp>
        <p:nvSpPr>
          <p:cNvPr id="6" name="object-6">
            <a:extLst>
              <a:ext uri="{FF2B5EF4-FFF2-40B4-BE49-F238E27FC236}">
                <a16:creationId xmlns:a16="http://schemas.microsoft.com/office/drawing/2014/main" id="{BFD747D8-34FD-4FF8-81F0-7E4833E442E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036D27F8-FE89-48CE-B141-8C9A4DF98750}"/>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3C95B030-81B9-4153-ACE9-ACD64AD13E97}"/>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class has a £2,500 budget and buys 18 tablets cases at £76 each. How much remains?</a:t>
            </a:r>
          </a:p>
        </p:txBody>
      </p:sp>
      <p:sp>
        <p:nvSpPr>
          <p:cNvPr id="9" name="object-9">
            <a:extLst>
              <a:ext uri="{FF2B5EF4-FFF2-40B4-BE49-F238E27FC236}">
                <a16:creationId xmlns:a16="http://schemas.microsoft.com/office/drawing/2014/main" id="{8851FAD1-E320-4D1D-B722-8FCCA8A1DAD2}"/>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36D31954-CEAA-4333-8D68-E6743F51F5F1}"/>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12 km route is split into 8 equal stages. How many metres per stage?</a:t>
            </a:r>
          </a:p>
        </p:txBody>
      </p:sp>
      <p:sp>
        <p:nvSpPr>
          <p:cNvPr id="11" name="object-11">
            <a:extLst>
              <a:ext uri="{FF2B5EF4-FFF2-40B4-BE49-F238E27FC236}">
                <a16:creationId xmlns:a16="http://schemas.microsoft.com/office/drawing/2014/main" id="{9B6D0D8E-3E24-4061-A793-D8BB24C33693}"/>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F78F13B8-544E-42C8-9369-F464616E60C4}"/>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tank contains 4,500 litres. It fills 28 containers of 125 litres. How much remains?</a:t>
            </a:r>
          </a:p>
        </p:txBody>
      </p:sp>
      <p:sp>
        <p:nvSpPr>
          <p:cNvPr id="13" name="object-13">
            <a:extLst>
              <a:ext uri="{FF2B5EF4-FFF2-40B4-BE49-F238E27FC236}">
                <a16:creationId xmlns:a16="http://schemas.microsoft.com/office/drawing/2014/main" id="{12808F07-24CB-49E5-9204-4171D582B09D}"/>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3DE687FE-055A-43FF-B212-474985D94F42}"/>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A class has a £2,500 budget and buys 18 tablets cases at £76 each. How much remains?</a:t>
            </a:r>
          </a:p>
        </p:txBody>
      </p:sp>
      <p:sp>
        <p:nvSpPr>
          <p:cNvPr id="15" name="object-15">
            <a:extLst>
              <a:ext uri="{FF2B5EF4-FFF2-40B4-BE49-F238E27FC236}">
                <a16:creationId xmlns:a16="http://schemas.microsoft.com/office/drawing/2014/main" id="{F53100B0-167C-4E5D-AF69-BD289DF8884D}"/>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05067E71-CBE6-4DB0-A0C7-AB872561673C}"/>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A 12 km route is split into 8 equal stages. How many metres per stage?</a:t>
            </a:r>
          </a:p>
        </p:txBody>
      </p:sp>
      <p:sp>
        <p:nvSpPr>
          <p:cNvPr id="17" name="object-17">
            <a:extLst>
              <a:ext uri="{FF2B5EF4-FFF2-40B4-BE49-F238E27FC236}">
                <a16:creationId xmlns:a16="http://schemas.microsoft.com/office/drawing/2014/main" id="{0A9F968A-E8F6-42B0-BD6F-A05E2AB083EE}"/>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E842FEB1-FF0D-498C-8298-96F1224FDD1E}"/>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A tank contains 4,500 litres. It fills 28 containers of 125 litres. How much remains?</a:t>
            </a:r>
          </a:p>
        </p:txBody>
      </p:sp>
      <p:sp>
        <p:nvSpPr>
          <p:cNvPr id="19" name="object-19">
            <a:extLst>
              <a:ext uri="{FF2B5EF4-FFF2-40B4-BE49-F238E27FC236}">
                <a16:creationId xmlns:a16="http://schemas.microsoft.com/office/drawing/2014/main" id="{F4B8A46D-7AC1-4B66-A712-D3717B4ED341}"/>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F05CA8C6-D46B-49C9-8D1C-AF412DFBA56D}"/>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£6,000 budget must cover 48 identical items and leave at least £720. What is the greatest whole-pound price per item?</a:t>
            </a:r>
          </a:p>
        </p:txBody>
      </p:sp>
      <p:sp>
        <p:nvSpPr>
          <p:cNvPr id="21" name="object-21">
            <a:extLst>
              <a:ext uri="{FF2B5EF4-FFF2-40B4-BE49-F238E27FC236}">
                <a16:creationId xmlns:a16="http://schemas.microsoft.com/office/drawing/2014/main" id="{7042BACF-8F44-4149-B00E-7A20E2028EEC}"/>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652CEB80-97A7-4199-9764-FC4DD8563F0A}"/>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mixes pounds and pence or kilometres and metres in one calculation.</a:t>
            </a:r>
          </a:p>
        </p:txBody>
      </p:sp>
      <p:sp>
        <p:nvSpPr>
          <p:cNvPr id="23" name="object-23">
            <a:extLst>
              <a:ext uri="{FF2B5EF4-FFF2-40B4-BE49-F238E27FC236}">
                <a16:creationId xmlns:a16="http://schemas.microsoft.com/office/drawing/2014/main" id="{B719CAEA-D2A3-46B6-9E89-2DF9C9360447}"/>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FB199778-45DB-435E-A036-77630A21C209}"/>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73A236DB-0098-4064-B01A-2F2393DB9D6E}"/>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CFB8622F-E9BC-4ADF-909E-83A10AD6753A}"/>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A tank contains 4,500 litres. It fills 28 containers of 125 litres. How much remains?</a:t>
            </a:r>
          </a:p>
        </p:txBody>
      </p:sp>
    </p:spTree>
    <p:extLst>
      <p:ext uri="{BB962C8B-B14F-4D97-AF65-F5344CB8AC3E}">
        <p14:creationId xmlns:p14="http://schemas.microsoft.com/office/powerpoint/2010/main" val="453275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2030699B-B22E-411D-9667-5D79B3E548D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EB66BA7A-377E-4C31-8D08-B86BF1FD0DB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7A3FD977-CF46-47AB-A390-A6A509860FA5}"/>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05603206-F0D0-43CF-A6E1-ECE643DD1F2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problems involving money and measures</a:t>
            </a:r>
          </a:p>
        </p:txBody>
      </p:sp>
      <p:sp>
        <p:nvSpPr>
          <p:cNvPr id="5" name="object-5">
            <a:extLst>
              <a:ext uri="{FF2B5EF4-FFF2-40B4-BE49-F238E27FC236}">
                <a16:creationId xmlns:a16="http://schemas.microsoft.com/office/drawing/2014/main" id="{94FCF659-D15A-4A95-9360-1DCBE0DB2AA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62AB923F-274C-4F5F-80BB-CA10DD7A0059}"/>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CF328991-8407-4F12-BB00-84E1835407C4}"/>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£1,132.</a:t>
            </a:r>
          </a:p>
        </p:txBody>
      </p:sp>
      <p:sp>
        <p:nvSpPr>
          <p:cNvPr id="8" name="object-8">
            <a:extLst>
              <a:ext uri="{FF2B5EF4-FFF2-40B4-BE49-F238E27FC236}">
                <a16:creationId xmlns:a16="http://schemas.microsoft.com/office/drawing/2014/main" id="{4DC80934-BD3F-4FCF-A2B9-6939453FC4F1}"/>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6BBAA4F3-93CF-4DA4-A575-FC1E29BCD18D}"/>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1,500 m.</a:t>
            </a:r>
          </a:p>
        </p:txBody>
      </p:sp>
      <p:sp>
        <p:nvSpPr>
          <p:cNvPr id="10" name="object-10">
            <a:extLst>
              <a:ext uri="{FF2B5EF4-FFF2-40B4-BE49-F238E27FC236}">
                <a16:creationId xmlns:a16="http://schemas.microsoft.com/office/drawing/2014/main" id="{AAF9B325-2DFC-410E-B036-36AEB7B90A27}"/>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C806CF74-AABE-4C45-9EA2-075A4907D1E7}"/>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1,000 litres.</a:t>
            </a:r>
          </a:p>
        </p:txBody>
      </p:sp>
      <p:sp>
        <p:nvSpPr>
          <p:cNvPr id="12" name="object-12">
            <a:extLst>
              <a:ext uri="{FF2B5EF4-FFF2-40B4-BE49-F238E27FC236}">
                <a16:creationId xmlns:a16="http://schemas.microsoft.com/office/drawing/2014/main" id="{572A0D60-337F-4531-974C-66C6DD425DB2}"/>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622029E8-CD70-4194-86E0-D96E9BA90F4A}"/>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£1,132.</a:t>
            </a:r>
          </a:p>
        </p:txBody>
      </p:sp>
      <p:sp>
        <p:nvSpPr>
          <p:cNvPr id="14" name="object-14">
            <a:extLst>
              <a:ext uri="{FF2B5EF4-FFF2-40B4-BE49-F238E27FC236}">
                <a16:creationId xmlns:a16="http://schemas.microsoft.com/office/drawing/2014/main" id="{8CE3C9ED-5955-4FBD-8FDB-5A540092CBAB}"/>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C95B234C-2875-4082-9F2D-89DEC37CFF0B}"/>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1,500 m. Method or representation may vary.</a:t>
            </a:r>
          </a:p>
        </p:txBody>
      </p:sp>
      <p:sp>
        <p:nvSpPr>
          <p:cNvPr id="16" name="object-16">
            <a:extLst>
              <a:ext uri="{FF2B5EF4-FFF2-40B4-BE49-F238E27FC236}">
                <a16:creationId xmlns:a16="http://schemas.microsoft.com/office/drawing/2014/main" id="{EA11C438-AA9F-46D7-8166-FF36B81B5AE3}"/>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8E5E122A-7636-42A5-B1D6-D7508D7535D9}"/>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1,000 litres. A valid check must be shown.</a:t>
            </a:r>
          </a:p>
        </p:txBody>
      </p:sp>
      <p:sp>
        <p:nvSpPr>
          <p:cNvPr id="18" name="object-18">
            <a:extLst>
              <a:ext uri="{FF2B5EF4-FFF2-40B4-BE49-F238E27FC236}">
                <a16:creationId xmlns:a16="http://schemas.microsoft.com/office/drawing/2014/main" id="{8DC488E6-85B2-4277-9C14-FEF6379B9D00}"/>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73901AED-96DD-4454-930A-76F952822524}"/>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£110.</a:t>
            </a:r>
          </a:p>
        </p:txBody>
      </p:sp>
      <p:sp>
        <p:nvSpPr>
          <p:cNvPr id="20" name="object-20">
            <a:extLst>
              <a:ext uri="{FF2B5EF4-FFF2-40B4-BE49-F238E27FC236}">
                <a16:creationId xmlns:a16="http://schemas.microsoft.com/office/drawing/2014/main" id="{94AE8020-3E84-4DDE-802A-6FE8F50E1C96}"/>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495CD2BC-8EC9-4CFB-8440-ACEA34CB242B}"/>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Convert to one unit before calculating and label the final unit.</a:t>
            </a:r>
          </a:p>
        </p:txBody>
      </p:sp>
      <p:sp>
        <p:nvSpPr>
          <p:cNvPr id="22" name="object-22">
            <a:extLst>
              <a:ext uri="{FF2B5EF4-FFF2-40B4-BE49-F238E27FC236}">
                <a16:creationId xmlns:a16="http://schemas.microsoft.com/office/drawing/2014/main" id="{052B7639-9218-4F85-8E1F-0E62D8E75DF3}"/>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40FF2C60-BB32-4F67-BD06-6E6995B8D9A6}"/>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F6C9D6CC-ED6B-48DA-88A6-4A0A88295BD8}"/>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465B2205-2A70-423D-9197-458FA2D1D068}"/>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24727807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1010</Words>
  <Application>Microsoft Office PowerPoint</Application>
  <DocSecurity>0</DocSecurity>
  <PresentationFormat>Custom</PresentationFormat>
  <Paragraphs>102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2026-09-14T13:14:19Z</dcterms:created>
  <dcterms:modified xsi:type="dcterms:W3CDTF">2026-09-14T13:18:49Z</dcterms:modified>
</cp:coreProperties>
</file>