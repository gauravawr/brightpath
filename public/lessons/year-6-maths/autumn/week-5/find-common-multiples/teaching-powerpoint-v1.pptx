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e235e6f881440bc" /><Relationship Type="http://schemas.openxmlformats.org/officeDocument/2006/relationships/extended-properties" Target="/docProps/app.xml" Id="R680bbe82dd4c4407" /><Relationship Type="http://schemas.openxmlformats.org/officeDocument/2006/relationships/officeDocument" Target="/ppt/presentation.xml" Id="R3398efc6948a448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44790bd31f4419"/>
  </p:sldMasterIdLst>
  <p:notesMasterIdLst>
    <p:notesMasterId xmlns:r="http://schemas.openxmlformats.org/officeDocument/2006/relationships" r:id="R4f9f84c5dbed4d03"/>
  </p:notesMasterIdLst>
  <p:sldIdLst>
    <p:sldId xmlns:r="http://schemas.openxmlformats.org/officeDocument/2006/relationships" id="256" r:id="R9ff0fbf50dee49f5"/>
    <p:sldId xmlns:r="http://schemas.openxmlformats.org/officeDocument/2006/relationships" id="257" r:id="R4e460c51f1124492"/>
    <p:sldId xmlns:r="http://schemas.openxmlformats.org/officeDocument/2006/relationships" id="258" r:id="Rd2b04406353641b3"/>
    <p:sldId xmlns:r="http://schemas.openxmlformats.org/officeDocument/2006/relationships" id="259" r:id="Re3304ae8a5034f87"/>
    <p:sldId xmlns:r="http://schemas.openxmlformats.org/officeDocument/2006/relationships" id="260" r:id="Ra9ea45d443004b96"/>
    <p:sldId xmlns:r="http://schemas.openxmlformats.org/officeDocument/2006/relationships" id="261" r:id="R71c717e7d2fa4bd0"/>
    <p:sldId xmlns:r="http://schemas.openxmlformats.org/officeDocument/2006/relationships" id="262" r:id="R852fe74b355f4785"/>
    <p:sldId xmlns:r="http://schemas.openxmlformats.org/officeDocument/2006/relationships" id="263" r:id="R30500b7a32be426a"/>
    <p:sldId xmlns:r="http://schemas.openxmlformats.org/officeDocument/2006/relationships" id="264" r:id="R4021b0bba7aa4c3f"/>
    <p:sldId xmlns:r="http://schemas.openxmlformats.org/officeDocument/2006/relationships" id="265" r:id="Rcc2557b763bd4e08"/>
    <p:sldId xmlns:r="http://schemas.openxmlformats.org/officeDocument/2006/relationships" id="266" r:id="R6bfcc3c292044308"/>
    <p:sldId xmlns:r="http://schemas.openxmlformats.org/officeDocument/2006/relationships" id="267" r:id="R7f96c5dffa4a453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16de1540f46f4fd1" /><Relationship Type="http://schemas.openxmlformats.org/officeDocument/2006/relationships/slideMaster" Target="/ppt/slideMasters/slideMaster1.xml" Id="R3344790bd31f4419" /><Relationship Type="http://schemas.openxmlformats.org/officeDocument/2006/relationships/notesMaster" Target="/ppt/notesMasters/notesMaster1.xml" Id="R4f9f84c5dbed4d03" /><Relationship Type="http://schemas.openxmlformats.org/officeDocument/2006/relationships/presProps" Target="/ppt/presProps.xml" Id="Ra3784143b589413b" /><Relationship Type="http://schemas.openxmlformats.org/officeDocument/2006/relationships/tableStyles" Target="/ppt/tableStyles.xml" Id="R9545320f91704cc5" /><Relationship Type="http://schemas.openxmlformats.org/officeDocument/2006/relationships/slide" Target="/ppt/slides/slide1.xml" Id="R9ff0fbf50dee49f5" /><Relationship Type="http://schemas.openxmlformats.org/officeDocument/2006/relationships/slide" Target="/ppt/slides/slide2.xml" Id="R4e460c51f1124492" /><Relationship Type="http://schemas.openxmlformats.org/officeDocument/2006/relationships/slide" Target="/ppt/slides/slide3.xml" Id="Rd2b04406353641b3" /><Relationship Type="http://schemas.openxmlformats.org/officeDocument/2006/relationships/slide" Target="/ppt/slides/slide4.xml" Id="Re3304ae8a5034f87" /><Relationship Type="http://schemas.openxmlformats.org/officeDocument/2006/relationships/slide" Target="/ppt/slides/slide5.xml" Id="Ra9ea45d443004b96" /><Relationship Type="http://schemas.openxmlformats.org/officeDocument/2006/relationships/slide" Target="/ppt/slides/slide6.xml" Id="R71c717e7d2fa4bd0" /><Relationship Type="http://schemas.openxmlformats.org/officeDocument/2006/relationships/slide" Target="/ppt/slides/slide7.xml" Id="R852fe74b355f4785" /><Relationship Type="http://schemas.openxmlformats.org/officeDocument/2006/relationships/slide" Target="/ppt/slides/slide8.xml" Id="R30500b7a32be426a" /><Relationship Type="http://schemas.openxmlformats.org/officeDocument/2006/relationships/slide" Target="/ppt/slides/slide9.xml" Id="R4021b0bba7aa4c3f" /><Relationship Type="http://schemas.openxmlformats.org/officeDocument/2006/relationships/slide" Target="/ppt/slides/slide10.xml" Id="Rcc2557b763bd4e08" /><Relationship Type="http://schemas.openxmlformats.org/officeDocument/2006/relationships/slide" Target="/ppt/slides/slide11.xml" Id="R6bfcc3c292044308" /><Relationship Type="http://schemas.openxmlformats.org/officeDocument/2006/relationships/slide" Target="/ppt/slides/slide12.xml" Id="R7f96c5dffa4a453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3530cb87b0248c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4acb5699c9004680" /><Relationship Type="http://schemas.openxmlformats.org/officeDocument/2006/relationships/notesMaster" Target="/ppt/notesMasters/notesMaster1.xml" Id="R14048afacdca4de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0a92464f349844a9" /><Relationship Type="http://schemas.openxmlformats.org/officeDocument/2006/relationships/notesMaster" Target="/ppt/notesMasters/notesMaster1.xml" Id="R1be802cc7e764c0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c444346d748d4dcf" /><Relationship Type="http://schemas.openxmlformats.org/officeDocument/2006/relationships/notesMaster" Target="/ppt/notesMasters/notesMaster1.xml" Id="R403829931f68416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b8b6b743474516" /><Relationship Type="http://schemas.openxmlformats.org/officeDocument/2006/relationships/notesMaster" Target="/ppt/notesMasters/notesMaster1.xml" Id="R927e0459b6bf4faf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4657b1cee0e4c6b" /><Relationship Type="http://schemas.openxmlformats.org/officeDocument/2006/relationships/notesMaster" Target="/ppt/notesMasters/notesMaster1.xml" Id="R77ce14fa4412416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d9238fa00a943bb" /><Relationship Type="http://schemas.openxmlformats.org/officeDocument/2006/relationships/notesMaster" Target="/ppt/notesMasters/notesMaster1.xml" Id="R3643e1197c9e416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e189a23d582a4497" /><Relationship Type="http://schemas.openxmlformats.org/officeDocument/2006/relationships/notesMaster" Target="/ppt/notesMasters/notesMaster1.xml" Id="R7cd4d7d87da349ca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436d8f8bbdc4cff" /><Relationship Type="http://schemas.openxmlformats.org/officeDocument/2006/relationships/notesMaster" Target="/ppt/notesMasters/notesMaster1.xml" Id="R2be284acc754477d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b000b6b4089d45d4" /><Relationship Type="http://schemas.openxmlformats.org/officeDocument/2006/relationships/notesMaster" Target="/ppt/notesMasters/notesMaster1.xml" Id="R7abf56fd50bb464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45b69dda0e44aae" /><Relationship Type="http://schemas.openxmlformats.org/officeDocument/2006/relationships/notesMaster" Target="/ppt/notesMasters/notesMaster1.xml" Id="R414f3df6403c45cb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8580295de89482c" /><Relationship Type="http://schemas.openxmlformats.org/officeDocument/2006/relationships/notesMaster" Target="/ppt/notesMasters/notesMaster1.xml" Id="Rb99f74a1d3c34a49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082bacc0b2542dc" /><Relationship Type="http://schemas.openxmlformats.org/officeDocument/2006/relationships/notesMaster" Target="/ppt/notesMasters/notesMaster1.xml" Id="R21d4397b1a0749d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Change the date before teaching. Check resources. Read the learning intention aloud and clarify success. Resources: Multiplication grids, factor rainbows, counters, hundred square, mini whiteboards.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each prompt on click. Use responses to identify pupils who need immediate rehearsal. Suggested responses: Pupil identifies a relevant fact, representation or method. | 24, 48 and 72. | State whether the task concerns factors or multiples. | Multiples continue from repeated multiplication. Factors divide the number exactly.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Teach the mathematical idea before asking pupils to solve. Define the vocabulary in context: factor, multiple, common, prime, composite, square, cube. Reveal the three statements one at a time.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I do. Reveal the question, then reveal each mathematical change one click at a time. Point to the numbers and operation that changed before moving to the next line. Final answer: 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answer only after completing the method. Check it against the estimate, inverse or representation. Ask pupils to explain why the answer is reasonable.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We do. Give silent thinking time before paired talk. Take one step at a time. Do not reveal the answer until every pupil has committed. Answer: 24, 48 and 72.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Miro is a deliberate misconception prompt. Reveal his claim, let pupils identify the error, then reveal the correction. Do not present Miro as lacking ability. Correction: Multiples continue from repeated multiplication. Factors divide the number exactly.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whole-class response routines. Reveal each prompt separately. Expected answer: 24, 48 and 72.. Insist on a reason, not only a numerical response.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You do. Pupils complete the core question independently before discussion. Answer: 60.. Circulate and note methods as well as accuracy.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after secure fluency or as the higher worksheet route. Accept different correct approaches when fully justified. Expected response: After 36 seconds.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Show only the core independent-practice example. Give pupils time to solve and check before revealing the answer at the side. Answer: 60.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one exit question at a time. Answers: 60. | Multiples continue from repeated multiplication. Factors divide the number exactly. | A relevant inverse, estimate, boundary, known fact or equivalent representation.. Record a specific next step from pupil work and explanation.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e63806a7d1a414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2a3f0e5ff0b4820" /><Relationship Type="http://schemas.openxmlformats.org/officeDocument/2006/relationships/slideLayout" Target="/ppt/slideLayouts/slideLayout1.xml" Id="Rabffe4e73c8347f2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bffe4e73c8347f2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bce32e3da24952" /><Relationship Type="http://schemas.openxmlformats.org/officeDocument/2006/relationships/notesSlide" Target="/ppt/notesSlides/notesSlide1.xml" Id="Rb5a7d9729be445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8c60ae1f4464391" /><Relationship Type="http://schemas.openxmlformats.org/officeDocument/2006/relationships/notesSlide" Target="/ppt/notesSlides/notesSlide2.xml" Id="Rf8c166582f7b49a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843b4e54cc4d16" /><Relationship Type="http://schemas.openxmlformats.org/officeDocument/2006/relationships/notesSlide" Target="/ppt/notesSlides/notesSlide3.xml" Id="Rf7b0b357dd1e4d5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b6c78952784ebe" /><Relationship Type="http://schemas.openxmlformats.org/officeDocument/2006/relationships/notesSlide" Target="/ppt/notesSlides/notesSlide4.xml" Id="Rbbba5d4ad68244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27c3788c044a52" /><Relationship Type="http://schemas.openxmlformats.org/officeDocument/2006/relationships/notesSlide" Target="/ppt/notesSlides/notesSlide5.xml" Id="R9d147393f2dd4c66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2655a2f99db40d9" /><Relationship Type="http://schemas.openxmlformats.org/officeDocument/2006/relationships/notesSlide" Target="/ppt/notesSlides/notesSlide6.xml" Id="Rbc733bb1d9c94cd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b29be72f7c438e" /><Relationship Type="http://schemas.openxmlformats.org/officeDocument/2006/relationships/image" Target="/ppt/media/image.png" Id="R71cb53359c90446e" /><Relationship Type="http://schemas.openxmlformats.org/officeDocument/2006/relationships/notesSlide" Target="/ppt/notesSlides/notesSlide7.xml" Id="Ra510ce9d884244a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db774f304c4946" /><Relationship Type="http://schemas.openxmlformats.org/officeDocument/2006/relationships/notesSlide" Target="/ppt/notesSlides/notesSlide8.xml" Id="R4e62ed261fb64a69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b279465d08641b8" /><Relationship Type="http://schemas.openxmlformats.org/officeDocument/2006/relationships/notesSlide" Target="/ppt/notesSlides/notesSlide9.xml" Id="R6c0478b43360459a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34ec9c0e4c2416a" /><Relationship Type="http://schemas.openxmlformats.org/officeDocument/2006/relationships/notesSlide" Target="/ppt/notesSlides/notesSlide10.xml" Id="Rd6f8d35a623b492e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9002da0acd8444c" /><Relationship Type="http://schemas.openxmlformats.org/officeDocument/2006/relationships/notesSlide" Target="/ppt/notesSlides/notesSlide11.xml" Id="R0791a3a98e2c482c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4f38611fb71412e" /><Relationship Type="http://schemas.openxmlformats.org/officeDocument/2006/relationships/notesSlide" Target="/ppt/notesSlides/notesSlide12.xml" Id="Rc038d9d6c9dc414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DB6298-C0A0-40C4-BFB7-54A7355BF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EED36D-EFF3-47B5-AB9B-FA9D06F96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9100"/>
            <a:ext cx="5429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FBCE91-08D2-413B-8025-7D3F59468D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81000"/>
            <a:ext cx="295275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18324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F185B6-6885-46C5-B3BA-73B03A702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523875"/>
            <a:ext cx="2381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6452"/>
          </a:bodyPr>
          <a:lstStyle xmlns:a="http://schemas.openxmlformats.org/drawingml/2006/main"/>
          <a:p xmlns:a="http://schemas.openxmlformats.org/drawingml/2006/main">
            <a:pPr algn="ctr">
              <a:def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defRPr>
            </a:pPr>
            <a:r>
              <a:rPr sz="1650" b="0">
                <a:solidFill>
                  <a:srgbClr val="17253A"/>
                </a:solidFill>
                <a:latin typeface="Segoe Print"/>
                <a:ea typeface="Segoe Print"/>
                <a:cs typeface="Segoe Print"/>
              </a:rPr>
              <a:t>Date:  ____ / ____ / ______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63E6B7-060C-44A1-9A2B-2A8004E183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0200"/>
            <a:ext cx="85725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4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34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8C62044-36EB-4894-AAC2-E8B77E0E5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971800"/>
            <a:ext cx="8096250" cy="1428750"/>
          </a:xfrm>
          <a:prstGeom xmlns:a="http://schemas.openxmlformats.org/drawingml/2006/main" prst="roundRect">
            <a:avLst>
              <a:gd name="adj" fmla="val 533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18324A"/>
            </a:solidFill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C8AD9B-ABA8-4C5C-B9E2-197C57B3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162300"/>
            <a:ext cx="952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667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defRPr>
            </a:pPr>
            <a:r>
              <a:rPr sz="1875" b="1">
                <a:solidFill>
                  <a:srgbClr val="B4232B"/>
                </a:solidFill>
                <a:latin typeface="Segoe Print"/>
                <a:ea typeface="Segoe Print"/>
                <a:cs typeface="Segoe Print"/>
              </a:rPr>
              <a:t>L.I.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C665690-1B3E-4BF9-A4CE-91656B6EF9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71875"/>
            <a:ext cx="75247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0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0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identify common multiples and the lowest common multiple.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675B5FD-6601-470B-97BA-1910D1F7F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781550"/>
            <a:ext cx="2476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Ready for learning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EF61A9-8124-480A-A3B6-21B80A9E3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143500"/>
            <a:ext cx="10287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Pencil and ruler ready  |  Mini whiteboard ready  |  Multiplication grids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911C19-1953-4CAD-B730-F8905F04A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53125"/>
            <a:ext cx="5715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Today: I do  |  We do  |  You do</a:t>
            </a:r>
          </a:p>
        </p:txBody>
      </p:sp>
    </p:spTree>
    <p:extLst>
      <p:ext uri="{BB962C8B-B14F-4D97-AF65-F5344CB8AC3E}">
        <p14:creationId xmlns:p14="http://schemas.microsoft.com/office/powerpoint/2010/main" val="11110353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617070-3918-49E3-9BFA-1CD5E7FDF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01738F-E3F5-4FBA-9D89-F7F6D60699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1EC15-67EE-47A1-B4D1-DF6979744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7CDF5D3-5ACA-4B89-92B1-ED88A49E8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RETRIEVE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3CA8DCC-F0E5-4B22-B326-EE2E7F632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Previous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D3F8238-C071-455F-84AE-0ABB875AE4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EF0DAA-9BA7-49AD-B4CC-0BB20F502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06688C-A056-41A3-B876-2F36910A9F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E9DCB6E-87BD-4415-B970-984B2C3713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D84D0D2-5353-44F8-8122-918204978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4A994E9-90C8-41B6-B09E-3E120052F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FC1C91A-89B1-4E2C-9889-7065060D4A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EA37973-E377-49C9-982F-B148D1560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part of this prior learning is secure? Recall multiplication facts, recognise factor pairs and identify square and cube numbers.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051B4EE-9FD7-4F78-8DAB-D8134376E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2D2E738-74C4-4147-BBB7-FAE914F999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01831B0-B5E4-497C-BDFE-3BECCFE494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DA63B5E-FA05-459B-868C-21B694F051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the first three common multiples of 6 and 8.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CFFF371-E79D-4A22-9033-67CFA56A6C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97FDBE7-869A-458A-BECD-5F8FEBF4FC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130CAB5-16F8-4052-9A53-0D0F48B97F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49B7241-E8CC-41B7-AE6B-958ACD893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Explain the first step you would take for: Find the lowest common multiple of 18 and 24.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A28320-1049-41D8-A353-6A60DC0BB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Commit on your whiteboard before discussing.</a:t>
            </a:r>
          </a:p>
        </p:txBody>
      </p:sp>
    </p:spTree>
    <p:extLst>
      <p:ext uri="{BB962C8B-B14F-4D97-AF65-F5344CB8AC3E}">
        <p14:creationId xmlns:p14="http://schemas.microsoft.com/office/powerpoint/2010/main" val="1402917180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510ECE-1E8E-4C8B-A17B-2A4225FC8F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7BFF705-6E63-4303-8ED0-70462ADED6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4F5EC6-C228-4DA9-8A50-351DCEE00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440481-1DF6-4B5A-A415-CA347C77D4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LEARN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53EDC08-15BF-41F9-A686-013FA5507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New learning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FFEF3B-37BC-488E-9553-6C2650517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3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9917B1-F47A-4B75-93A3-F0F59988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F279764-4651-4FBC-89D2-91D11BA2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8E6A157-C35A-4302-A372-8FB6982377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B45EFE-8EE0-4B92-8B08-266F8598F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428750"/>
            <a:ext cx="1047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To identify common multiples and the lowest common multiple.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3ABAA7-8C29-45BB-A0E0-40A9532B7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2400300"/>
            <a:ext cx="100965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E9F988E-D416-4E35-94B0-ECB415A54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266700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Key idea: State whether the task concerns factors or multiples.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BFDB96C-7509-48DA-822E-02F59C06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3571875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Then: Work systematically from the smallest possible factor or multiple.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5C813C7-1333-40BA-B195-49E3CF382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90625" y="4476750"/>
            <a:ext cx="9810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Check: Check that the list is complete and use it to justify the conclusion.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CDA664-B461-4820-97A1-8C94AD4B5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72125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35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Vocabulary: factor  |  multiple  |  common  |  prime  |  composite  |  square  |  cube</a:t>
            </a:r>
          </a:p>
        </p:txBody>
      </p:sp>
    </p:spTree>
    <p:extLst>
      <p:ext uri="{BB962C8B-B14F-4D97-AF65-F5344CB8AC3E}">
        <p14:creationId xmlns:p14="http://schemas.microsoft.com/office/powerpoint/2010/main" val="1713489253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</p:bldLst>
  </p:timing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78050EA-6891-40B6-9C1E-C662F7962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E80B5C-6BF6-46C7-B0C6-638799C3A6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ADD6A9D-2E3F-4FDC-9BA6-E0CE03165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0649C22-7331-4391-9904-24B22BDE4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69315F-FA58-4D70-9157-7EA82F4712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0001283-7AA5-4554-9D2C-EEBEC451B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4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C27A10F-7584-4527-BAEB-B38145D04E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44A35A-D0EC-4740-A5A6-A437FEB43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E4F4C74-A858-4CD3-BB53-97AC61292E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4D327A8-B8C4-4ED7-996B-FF2AB20680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219200"/>
            <a:ext cx="1047750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1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lowest common multiple of 18 and 24.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9406DCB-5917-4E4C-AC84-779AFF943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124075"/>
            <a:ext cx="38100" cy="3524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EB19B25-3B21-4607-90C2-F56DE35BE1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2002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59A0389-D38C-468F-A300-160A56F6EE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145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Multiples of 18: 18, 36, 54, 72, ...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8F94906-5DD1-4E4A-9607-D24DA1D5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432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780D3A2-1B45-48A0-B7C9-D8BFC6E1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0765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B1A9CC5-93D0-4FD9-89B4-328929601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9908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Multiples of 24: 24, 48, 72, ...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BD61DB7-205F-4F96-9822-A2A1FB410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195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571214-9700-40A3-811A-98498F9E0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39528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EB5940-40E2-4A78-94BC-D89FD5C66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671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17253A"/>
                </a:solidFill>
                <a:latin typeface="Arial"/>
                <a:ea typeface="Arial"/>
                <a:cs typeface="Arial"/>
              </a:rPr>
              <a:t>First common multiple = 72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7C56B84-6414-4982-A8AB-30602F5D9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695825"/>
            <a:ext cx="93345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CA32B75-9888-4E9B-A594-8753561322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4829175"/>
            <a:ext cx="4000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8343401-8872-45C1-A2BC-CA4E0E439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43450"/>
            <a:ext cx="9525000" cy="809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LCM(18, 24) = 72</a:t>
            </a:r>
          </a:p>
        </p:txBody>
      </p:sp>
    </p:spTree>
    <p:extLst>
      <p:ext uri="{BB962C8B-B14F-4D97-AF65-F5344CB8AC3E}">
        <p14:creationId xmlns:p14="http://schemas.microsoft.com/office/powerpoint/2010/main" val="51258581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16" grpId="0"/>
      <p:bldP spid="19" grpId="0"/>
      <p:bldP spid="22" grpId="0"/>
    </p:bldLst>
  </p:timing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23F8F72-30BA-4805-9F5B-89AD954A8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70E3A-9C91-4992-874D-9A9242415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7E455CC-8DFA-434B-A873-37BEE1961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18324A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70278CE-C403-43A0-B5EA-58FBCA6C31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F344BA9-C42D-4D81-8C56-DB5C793ED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Worked answer and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1D52CD-97ED-4565-9867-DAE786948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5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ED9D10-3931-4327-B3F8-299E4D7EF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B8EC7B4-9BBC-4A46-B773-1A65E68FF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6297D0A-DCDC-4696-9996-F72DC3097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E0708B-8931-4395-AD2E-356FBB026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425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Model answer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C9B071A-C066-4DFB-8169-149FC3BE9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2047875"/>
            <a:ext cx="101917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8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8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72.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94B69C6-9A00-46A6-AC58-403D0ADC31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3638550"/>
            <a:ext cx="1019175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604A74E-DAF6-4A95-9053-4B6C23EDB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4000500"/>
            <a:ext cx="942975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75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75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Reasonableness check: Check that the list is complete and use it to justify the conclusion.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3A57C50-1000-4017-A682-2262D3D2D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5000625"/>
            <a:ext cx="9429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which step carries the mathematical meaning and why.</a:t>
            </a:r>
          </a:p>
        </p:txBody>
      </p:sp>
    </p:spTree>
    <p:extLst>
      <p:ext uri="{BB962C8B-B14F-4D97-AF65-F5344CB8AC3E}">
        <p14:creationId xmlns:p14="http://schemas.microsoft.com/office/powerpoint/2010/main" val="1874178349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3" grpId="0"/>
      <p:bldP spid="14" grpId="0"/>
    </p:bldLst>
  </p:timing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0C2B9B-35DC-4D49-AE88-4BFE790E8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7998FE-0B92-4528-AC2A-19A247A8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D9518B-573D-4535-AF7F-0F85F4AA5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9445748-DE48-4E2D-A061-46259827B3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5AC13C-3651-4670-9AEE-C281A91D2B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example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80919FD-C8DB-42A2-9572-9ED930B6F7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6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BE0AA28-406E-4DF5-91F0-1B52E2F27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9E224E-3B76-4D72-8278-918BDBA1AB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4BF1F25-E0B8-4420-B633-1FC24F23CF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963A6DE-0AC2-43EF-8B6D-C3EEB804D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1524000"/>
            <a:ext cx="10287000" cy="1000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40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40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the first three common multiples of 6 and 8.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B58C76E-8F7A-4BBB-BE91-A9C18F51B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Think alone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8B8B906-5686-4139-BC63-E9DF70CEEB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Compare a step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B9B1EC9-3305-4A1C-9644-6A52CA0E2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48000"/>
            <a:ext cx="2476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Commit together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F134249-2363-4800-8E4E-A40148403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57625"/>
            <a:ext cx="8763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Which representation or operation will we use first?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6D333C2-84DE-445C-BC42-9F19AA08D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810125"/>
            <a:ext cx="876300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2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Answer: 24, 48 and 72.</a:t>
            </a:r>
          </a:p>
        </p:txBody>
      </p:sp>
    </p:spTree>
    <p:extLst>
      <p:ext uri="{BB962C8B-B14F-4D97-AF65-F5344CB8AC3E}">
        <p14:creationId xmlns:p14="http://schemas.microsoft.com/office/powerpoint/2010/main" val="648361646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</p:bldLst>
  </p:timing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DE1737-2531-407B-BE61-B8DCA9ECC1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D8F430D-265E-4CFF-A841-04460BFC6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03053DE-ECD8-4C3B-90A0-E18AFA820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DD4F76E-ADCA-4ED5-85AF-07789B70E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CHECK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8A855E-8784-468D-B40B-E7CE50250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Miro's misconception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C0C55D-7F3E-45A3-8416-A4F73FEDB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7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EA22E5-AD92-48DE-AB69-1A98540A6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680ED9-7340-4332-AE6B-969B72DCF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4053A3-807E-4463-AE69-518AA376AC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pic>
        <p:nvPicPr>
          <p:cNvPr id="2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1cb53359c90446e"/>
          <a:stretch xmlns:a="http://schemas.openxmlformats.org/drawingml/2006/main"/>
        </p:blipFill>
        <p:spPr>
          <a:xfrm xmlns:a="http://schemas.openxmlformats.org/drawingml/2006/main">
            <a:off x="8056563" y="1381125"/>
            <a:ext cx="2984500" cy="447675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D7A7A42-65BA-43F9-9AF3-3411442B8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1524000"/>
            <a:ext cx="2857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B4232B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B4232B"/>
                </a:solidFill>
                <a:latin typeface="Arial"/>
                <a:ea typeface="Arial"/>
                <a:cs typeface="Arial"/>
              </a:rPr>
              <a:t>Miro thinks...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1D9782C-0491-47D8-B1BE-4411BEB89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2095500"/>
            <a:ext cx="6477000" cy="1381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Miro lists factors when the question asks for multiples.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87092FF-9770-4840-8F82-DD51CE56E2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3857625"/>
            <a:ext cx="6477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1D3CCEA-92FB-43C1-914F-82A833E53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171950"/>
            <a:ext cx="59055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What should Miro change?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DE3BE1-991A-4738-B163-49AF23A98B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4875" y="4714875"/>
            <a:ext cx="6477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Multiples continue from repeated multiplication. Factors divide the number exactly.</a:t>
            </a:r>
          </a:p>
        </p:txBody>
      </p:sp>
    </p:spTree>
    <p:extLst>
      <p:ext uri="{BB962C8B-B14F-4D97-AF65-F5344CB8AC3E}">
        <p14:creationId xmlns:p14="http://schemas.microsoft.com/office/powerpoint/2010/main" val="84262578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5" grpId="0"/>
    </p:bldLst>
  </p:timing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804487-B5F3-44B5-B37F-0CA57E123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53B43B-5FFD-4E15-986B-AFFD502E2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2E6B61-80A0-4282-B136-6FAEC2D07A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C6E73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FCC4B5-93D3-484F-95CE-A25F391A8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WE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B7936C8-3E52-428B-921F-881556CF3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Guided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8176A29-AB73-48EF-A87F-459DE443D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8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47A3B5E-2AAA-4417-897D-44C0212C7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06B2291-C779-4533-B17A-8C8DE19B2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62D2917-500E-41AD-BCDF-3C46B3A5D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C56D9-D96A-4262-9D71-520BB0CAF6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DDF3E4F-3559-4804-B25C-75646DD652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6720DA-29CF-4B49-834D-00398462A4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41BD55-5FD6-4690-92C3-EBAB3A047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Write the first three common multiples of 6 and 8.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255D09F-D9B2-499B-B4C2-46ADA615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99F85EB-2625-4B64-B874-0B41BE6D4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3EEDB74-3ACF-41FB-A43E-EB1B0784EA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23D13C-2519-4DCF-9057-59A8DCAA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Show the first step and explain why it comes first.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7CC07A-5E23-4CB3-85FB-32CF696D9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1AE590-B032-4FAC-AB65-554612FC8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7EFEDCC-B85B-4F78-A62D-60598CECF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D51E3D1-FF21-4FD8-9E9E-5DB9E73E3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Compare with the answer: 24, 48 and 72.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6740B6-0CBF-4D8E-B3B1-4CE85C02A2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Agree, disagree or improve the explanation.</a:t>
            </a:r>
          </a:p>
        </p:txBody>
      </p:sp>
    </p:spTree>
    <p:extLst>
      <p:ext uri="{BB962C8B-B14F-4D97-AF65-F5344CB8AC3E}">
        <p14:creationId xmlns:p14="http://schemas.microsoft.com/office/powerpoint/2010/main" val="826245644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78DB5E-ACAD-4E55-8CE0-D01F6E7C3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329E61-C968-4922-B33B-830F6743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3CCC58C-1AF7-4E85-91CF-FF5C7497F4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EC9853-928C-49D9-B45E-361B2CB896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FB05666-0907-481B-9B27-A573AEFF2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fluency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3226E54-DEAD-4F1C-B248-8A51085B6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9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BE21C04-03B0-4A7E-A88F-3777E4056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96EFE3-AE82-4E98-AE0E-46C055443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4777FC-8701-4364-86F7-F39A51F9A2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B29271-BB5D-44A4-8B4A-F78EFA040C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ACA86DC-092C-4186-97F2-12C44F0BE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4976995-7290-4B8E-AB21-4E5F626128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F4355DB-0904-428A-93F8-8EE8ACF99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LCM of 15 and 20.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29C6E48-5D39-4907-9F0A-50BC1ED3C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1D2528-0DC7-4385-A65D-DEF85C8D8B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D9B93C6-5360-4A0C-A78E-B4B6CB59F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23EA0A1-0F83-4574-B0BE-3C1262DA8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Record every stage clearly. Mark the place value, operation or boundary that matters.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8E9F36A-B147-4EC4-BA78-9FF2F7F6B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4D8AF8-6D50-47A3-9FE4-335F9A3230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C5B7CF-2419-4100-AC1F-E8A42DFAB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D5B86DF-FE07-48B7-8E88-3E5F4D355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Use an inverse, estimate or equivalent representation to check.</a:t>
            </a:r>
          </a:p>
        </p:txBody>
      </p:sp>
    </p:spTree>
    <p:extLst>
      <p:ext uri="{BB962C8B-B14F-4D97-AF65-F5344CB8AC3E}">
        <p14:creationId xmlns:p14="http://schemas.microsoft.com/office/powerpoint/2010/main" val="1192345268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4E3186-BED9-4523-9E3F-A61132B97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6178870-A7D8-4126-BBD2-2E677F205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4504ED5-416E-4CA7-8138-6E815573F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2F785D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4F0525-48B2-459B-9106-9213C1D663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YOU DO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4949E3-59F2-42B5-85D5-93332CAC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Reasoning and depth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7F1076-84F5-4300-8579-9F2CE2203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10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4ED6D1-5DB2-469C-B71B-DD3B70CF4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76E38F-51D0-46BD-8C74-B386C238E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4B6C96B-A1BF-4A83-92E9-ADC207798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D7995D7-B445-4BBF-B8F0-C6B3BC3940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" y="1524000"/>
            <a:ext cx="1019175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Two traffic lights flash every 12 and 18 seconds. They flash together now. When next?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B3B0BB-DAA7-4A84-B7A8-6C18C0FC7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143250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Show enough evidence for another pupil to follow your reasoning.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BB9193B-390B-47AB-A52D-4C295F2D60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143375"/>
            <a:ext cx="9334500" cy="619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Can you find a second method, example or counterexample?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96C298-34D8-4B81-A531-B548F691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5143500"/>
            <a:ext cx="9334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16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Teacher check: After 36 seconds.</a:t>
            </a:r>
          </a:p>
        </p:txBody>
      </p:sp>
    </p:spTree>
    <p:extLst>
      <p:ext uri="{BB962C8B-B14F-4D97-AF65-F5344CB8AC3E}">
        <p14:creationId xmlns:p14="http://schemas.microsoft.com/office/powerpoint/2010/main" val="27318511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12" grpId="0"/>
      <p:bldP spid="13" grpId="0"/>
    </p:bldLst>
  </p:timing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F166EE4-71F1-4D8F-9924-CC0B7636AA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3E0186A-63AC-4C94-B65F-0D556B423F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A74FE64-0C2E-48CD-AEA3-4E9261E09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2D96063-A7A3-4709-B515-14B85A776D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PRACTISE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C3FA295-C6EC-4E90-B33B-45F5381E4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Independent practice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422E9E-06AB-4026-8C51-E8AF3EA532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11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E8C787-582E-4E7B-98D6-FAEA4264D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9F07041-7830-4F0F-A5C7-98E6F3C0DF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161CE1-A58A-4D94-85FC-072F1652C5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82B2CE-3FF3-418B-9E79-EF1A67325B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76375"/>
            <a:ext cx="66675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Try this example independently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0614DDF-F648-4C03-947B-6BB309A510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47875"/>
            <a:ext cx="6858000" cy="2857500"/>
          </a:xfrm>
          <a:prstGeom xmlns:a="http://schemas.openxmlformats.org/drawingml/2006/main" prst="roundRect">
            <a:avLst>
              <a:gd name="adj" fmla="val 2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E0E6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BE08B16-D6D9-4CFD-A1B8-2443CCFCC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400300"/>
            <a:ext cx="61150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3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3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LCM of 15 and 20.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4C13313-CBC1-4C20-9E6E-972A604CC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4095750"/>
            <a:ext cx="581025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Show your method and check your answer.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7AEBBF3-D280-4E03-B927-273BB7927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1666875"/>
            <a:ext cx="261937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Answer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AB32EF2-34C0-4E8E-B96C-7076336A9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0" y="2190750"/>
            <a:ext cx="3048000" cy="2714625"/>
          </a:xfrm>
          <a:prstGeom xmlns:a="http://schemas.openxmlformats.org/drawingml/2006/main" prst="roundRect">
            <a:avLst>
              <a:gd name="adj" fmla="val 280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4288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C2FD184-52C3-4C5F-ACB8-558047DBE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619375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2550" b="1">
                <a:solidFill>
                  <a:srgbClr val="2F785D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2F785D"/>
                </a:solidFill>
                <a:latin typeface="Arial"/>
                <a:ea typeface="Arial"/>
                <a:cs typeface="Arial"/>
              </a:rPr>
              <a:t>60.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9A673AB-BEDD-48B6-B95A-9A43D471E7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000500"/>
            <a:ext cx="2381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9825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324A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18324A"/>
                </a:solidFill>
                <a:latin typeface="Arial"/>
                <a:ea typeface="Arial"/>
                <a:cs typeface="Arial"/>
              </a:rPr>
              <a:t>Explain how you know.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B653D49-7DE0-4FC6-B3E6-B9CB28D70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5334000"/>
            <a:ext cx="7810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The answer appears on click after pupils have committed.</a:t>
            </a:r>
          </a:p>
        </p:txBody>
      </p:sp>
    </p:spTree>
    <p:extLst>
      <p:ext uri="{BB962C8B-B14F-4D97-AF65-F5344CB8AC3E}">
        <p14:creationId xmlns:p14="http://schemas.microsoft.com/office/powerpoint/2010/main" val="1728051775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</p:bldLst>
  </p:timing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BF7F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9B9AA09-62BB-42F6-9D5D-B85F013AB7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33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A2BC160-53C5-4C11-9CF6-0167B5E8A8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E80DFE1-04DF-43FC-AB00-3B711D862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19125"/>
            <a:ext cx="1428750" cy="381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B4232B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D1E9C5-F26C-46B9-BFA1-7048F47EC2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286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ASSESS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B87D12-4B04-4969-BB60-121F26DFE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552450"/>
            <a:ext cx="8096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Exit check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238E73-1F94-41FF-8844-2616C8B87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72750" y="381000"/>
            <a:ext cx="1000125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75" b="1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975" b="1">
                <a:solidFill>
                  <a:srgbClr val="5F6E7C"/>
                </a:solidFill>
                <a:latin typeface="Arial"/>
                <a:ea typeface="Arial"/>
                <a:cs typeface="Arial"/>
              </a:rPr>
              <a:t>12 / 12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87F91C2-D0B2-4367-A6CF-DEA852B87A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48425"/>
            <a:ext cx="110871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9E0E6"/>
          </a:solidFill>
          <a:ln xmlns:a="http://schemas.openxmlformats.org/drawingml/2006/main" w="0">
            <a:solidFill>
              <a:srgbClr val="D9E0E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9B5920-4A5A-4EE2-AA88-E99A92220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3143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BrightPath Primary Learning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C258D37-8959-4CE7-BED7-5702EA6F1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6543675"/>
            <a:ext cx="49720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8788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5F6E7C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5F6E7C"/>
                </a:solidFill>
                <a:latin typeface="Arial"/>
                <a:ea typeface="Arial"/>
                <a:cs typeface="Arial"/>
              </a:rPr>
              <a:t>Find common multiples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2AA2B24-FD73-4579-BBDE-398C83221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42875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461579F-8CCC-476B-90DC-E0CF5CAC7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69545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5E9AD77-E03E-4D8C-8AD1-8B2370005B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173355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3EE862D-3E62-4562-99E5-C3D6A1A8F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61925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Find the LCM of 15 and 20.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303E418-F192-4907-BA88-DBFC1E6D01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14625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7F1F1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BAD7FE-B7D4-473A-8D34-65B00EACE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981325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6D4CBE-7C50-4D8F-BB80-DBA9621347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019425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0E357C4-A9FB-40CB-BD4C-0A9EE54581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905125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What should Miro correct? Miro lists factors when the question asks for multiples.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50CAEB7-68CA-4869-B89C-D077B74D0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106299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D9E0E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FB7F4F2-1A32-431A-BFDE-B05466071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267200"/>
            <a:ext cx="552450" cy="5524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C6E73"/>
          </a:solidFill>
          <a:ln xmlns:a="http://schemas.openxmlformats.org/drawingml/2006/main" w="0">
            <a:solidFill>
              <a:srgbClr val="2C6E73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836A09-6A7D-4AF2-875A-805C3B157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305300"/>
            <a:ext cx="5524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4734287-7F73-45B2-999D-52ABA9A04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4191000"/>
            <a:ext cx="9286875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17253A"/>
                </a:solidFill>
                <a:latin typeface="Arial"/>
                <a:ea typeface="Arial"/>
                <a:cs typeface="Arial"/>
              </a:defRPr>
            </a:pPr>
            <a:r>
              <a:rPr sz="1725" b="1">
                <a:solidFill>
                  <a:srgbClr val="17253A"/>
                </a:solidFill>
                <a:latin typeface="Arial"/>
                <a:ea typeface="Arial"/>
                <a:cs typeface="Arial"/>
              </a:rPr>
              <a:t>Name the check you used today.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586E5D6-51C4-45A0-923B-016424ADD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476875"/>
            <a:ext cx="723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2C6E73"/>
                </a:solidFill>
                <a:latin typeface="Arial"/>
                <a:ea typeface="Arial"/>
                <a:cs typeface="Arial"/>
              </a:defRPr>
            </a:pPr>
            <a:r>
              <a:rPr sz="1500" b="1">
                <a:solidFill>
                  <a:srgbClr val="2C6E73"/>
                </a:solidFill>
                <a:latin typeface="Arial"/>
                <a:ea typeface="Arial"/>
                <a:cs typeface="Arial"/>
              </a:rPr>
              <a:t>Teacher records: secure  |  revisit  |  pre-teach next</a:t>
            </a:r>
          </a:p>
        </p:txBody>
      </p:sp>
    </p:spTree>
    <p:extLst>
      <p:ext uri="{BB962C8B-B14F-4D97-AF65-F5344CB8AC3E}">
        <p14:creationId xmlns:p14="http://schemas.microsoft.com/office/powerpoint/2010/main" val="1891362862"/>
      </p:ext>
    </p:extLst>
  </p:cSld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7" grpId="0"/>
      <p:bldP spid="21" grpId="0"/>
    </p:bldLst>
  </p:timing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2026-09-09T22:14:02.4000000Z</dcterms:created>
  <dcterms:modified xsi:type="dcterms:W3CDTF">2026-09-09T22:14:02.4000000Z</dcterms:modified>
</coreProperties>
</file>