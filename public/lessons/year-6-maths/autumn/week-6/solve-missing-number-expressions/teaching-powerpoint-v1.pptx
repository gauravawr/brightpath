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Solve missing-number expressions.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I do.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You do. Pause before clicking. Let pupils try independently, then reveal and discuss every step. Keep both sides equal. Undo addition or subtraction on both sides, then divide both sides by the coefficient.</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missing-number expressions.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A50E54DF-542C-45CE-A2DD-BC12F6E89FC2}"/>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Solve missing-number expressions</a:t>
            </a:r>
          </a:p>
        </p:txBody>
      </p:sp>
      <p:sp>
        <p:nvSpPr>
          <p:cNvPr id="2" name="object-2">
            <a:extLst>
              <a:ext uri="{FF2B5EF4-FFF2-40B4-BE49-F238E27FC236}">
                <a16:creationId xmlns:a16="http://schemas.microsoft.com/office/drawing/2014/main" id="{D9AFF7AD-337E-4581-A27C-BE8032C4B4FC}"/>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B1E382C0-6BD3-4CC4-BEE7-E2A5DB55D6E6}"/>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DBE2EE19-422C-4DB1-8494-13FE3F05DBD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5" name="object-5">
            <a:extLst>
              <a:ext uri="{FF2B5EF4-FFF2-40B4-BE49-F238E27FC236}">
                <a16:creationId xmlns:a16="http://schemas.microsoft.com/office/drawing/2014/main" id="{899EC27B-C4DF-4DE7-ADAF-FBCAFC8E881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C59C28A2-0158-4523-91E4-A720E1B6EACE}"/>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use inverse operations and structure to find missing values.</a:t>
            </a:r>
          </a:p>
        </p:txBody>
      </p:sp>
    </p:spTree>
    <p:extLst>
      <p:ext uri="{BB962C8B-B14F-4D97-AF65-F5344CB8AC3E}">
        <p14:creationId xmlns:p14="http://schemas.microsoft.com/office/powerpoint/2010/main" val="1919025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object-1">
            <a:extLst>
              <a:ext uri="{FF2B5EF4-FFF2-40B4-BE49-F238E27FC236}">
                <a16:creationId xmlns:a16="http://schemas.microsoft.com/office/drawing/2014/main" id="{22520F80-E6D7-458C-BF94-242CBC82A62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D1E76B5-6872-40B4-9E59-D59600D8341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6x + 30 = 72.</a:t>
            </a:r>
          </a:p>
        </p:txBody>
      </p:sp>
      <p:sp>
        <p:nvSpPr>
          <p:cNvPr id="3" name="object-3">
            <a:extLst>
              <a:ext uri="{FF2B5EF4-FFF2-40B4-BE49-F238E27FC236}">
                <a16:creationId xmlns:a16="http://schemas.microsoft.com/office/drawing/2014/main" id="{4ABBD0E6-642E-4379-BBBE-8C16862BF37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0F24E73-3E92-49AE-9BBC-E5AE307C686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5" name="object-5">
            <a:extLst>
              <a:ext uri="{FF2B5EF4-FFF2-40B4-BE49-F238E27FC236}">
                <a16:creationId xmlns:a16="http://schemas.microsoft.com/office/drawing/2014/main" id="{7BBDD5EA-C004-45FF-BBDA-AFAA643038C5}"/>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1EF754B1-A7AB-4B38-BF95-A0F03EEC11A3}"/>
              </a:ext>
            </a:extLst>
          </p:cNvPr>
          <p:cNvSpPr>
            <a:spLocks noGrp="1"/>
          </p:cNvSpPr>
          <p:nvPr/>
        </p:nvSpPr>
        <p:spPr>
          <a:xfrm>
            <a:off x="1309688" y="3095625"/>
            <a:ext cx="1190625"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298527F0-7EC8-435F-8215-F36E129B3C31}"/>
              </a:ext>
            </a:extLst>
          </p:cNvPr>
          <p:cNvSpPr>
            <a:spLocks noGrp="1"/>
          </p:cNvSpPr>
          <p:nvPr/>
        </p:nvSpPr>
        <p:spPr>
          <a:xfrm>
            <a:off x="13096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A8C898D9-64D9-4D04-B753-775CF96BAAC4}"/>
              </a:ext>
            </a:extLst>
          </p:cNvPr>
          <p:cNvSpPr>
            <a:spLocks noGrp="1"/>
          </p:cNvSpPr>
          <p:nvPr/>
        </p:nvSpPr>
        <p:spPr>
          <a:xfrm>
            <a:off x="2500313" y="3095625"/>
            <a:ext cx="1190625" cy="1071563"/>
          </a:xfrm>
          <a:prstGeom prst="rect">
            <a:avLst/>
          </a:prstGeom>
          <a:solidFill>
            <a:srgbClr val="EFF6FF"/>
          </a:solidFill>
          <a:ln w="23813">
            <a:solidFill>
              <a:srgbClr val="1D4ED8"/>
            </a:solidFill>
          </a:ln>
        </p:spPr>
      </p:sp>
      <p:sp>
        <p:nvSpPr>
          <p:cNvPr id="9" name="object-9">
            <a:extLst>
              <a:ext uri="{FF2B5EF4-FFF2-40B4-BE49-F238E27FC236}">
                <a16:creationId xmlns:a16="http://schemas.microsoft.com/office/drawing/2014/main" id="{C70CDA80-A043-4205-841B-8E7B8A883C95}"/>
              </a:ext>
            </a:extLst>
          </p:cNvPr>
          <p:cNvSpPr>
            <a:spLocks noGrp="1"/>
          </p:cNvSpPr>
          <p:nvPr/>
        </p:nvSpPr>
        <p:spPr>
          <a:xfrm>
            <a:off x="25003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0" name="object-10">
            <a:extLst>
              <a:ext uri="{FF2B5EF4-FFF2-40B4-BE49-F238E27FC236}">
                <a16:creationId xmlns:a16="http://schemas.microsoft.com/office/drawing/2014/main" id="{CFE21F9E-35A2-45B7-B82F-25D78AFFA557}"/>
              </a:ext>
            </a:extLst>
          </p:cNvPr>
          <p:cNvSpPr>
            <a:spLocks noGrp="1"/>
          </p:cNvSpPr>
          <p:nvPr/>
        </p:nvSpPr>
        <p:spPr>
          <a:xfrm>
            <a:off x="3690938" y="3095625"/>
            <a:ext cx="1190625" cy="1071563"/>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5F7B30B7-01C2-4CE6-8C7C-0D908092D410}"/>
              </a:ext>
            </a:extLst>
          </p:cNvPr>
          <p:cNvSpPr>
            <a:spLocks noGrp="1"/>
          </p:cNvSpPr>
          <p:nvPr/>
        </p:nvSpPr>
        <p:spPr>
          <a:xfrm>
            <a:off x="369093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2" name="object-12">
            <a:extLst>
              <a:ext uri="{FF2B5EF4-FFF2-40B4-BE49-F238E27FC236}">
                <a16:creationId xmlns:a16="http://schemas.microsoft.com/office/drawing/2014/main" id="{23817AF6-4289-4644-A275-D87917F24B23}"/>
              </a:ext>
            </a:extLst>
          </p:cNvPr>
          <p:cNvSpPr>
            <a:spLocks noGrp="1"/>
          </p:cNvSpPr>
          <p:nvPr/>
        </p:nvSpPr>
        <p:spPr>
          <a:xfrm>
            <a:off x="4881563" y="3095625"/>
            <a:ext cx="1190625" cy="1071563"/>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F0C8E959-CF22-4641-904C-1E904F927AB0}"/>
              </a:ext>
            </a:extLst>
          </p:cNvPr>
          <p:cNvSpPr>
            <a:spLocks noGrp="1"/>
          </p:cNvSpPr>
          <p:nvPr/>
        </p:nvSpPr>
        <p:spPr>
          <a:xfrm>
            <a:off x="488156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4" name="object-14">
            <a:extLst>
              <a:ext uri="{FF2B5EF4-FFF2-40B4-BE49-F238E27FC236}">
                <a16:creationId xmlns:a16="http://schemas.microsoft.com/office/drawing/2014/main" id="{E6A4575F-6B08-4F34-A606-627FA8F0B423}"/>
              </a:ext>
            </a:extLst>
          </p:cNvPr>
          <p:cNvSpPr>
            <a:spLocks noGrp="1"/>
          </p:cNvSpPr>
          <p:nvPr/>
        </p:nvSpPr>
        <p:spPr>
          <a:xfrm>
            <a:off x="6072188" y="3095625"/>
            <a:ext cx="1190625" cy="1071563"/>
          </a:xfrm>
          <a:prstGeom prst="rect">
            <a:avLst/>
          </a:prstGeom>
          <a:solidFill>
            <a:srgbClr val="EFF6FF"/>
          </a:solidFill>
          <a:ln w="23813">
            <a:solidFill>
              <a:srgbClr val="1D4ED8"/>
            </a:solidFill>
          </a:ln>
        </p:spPr>
      </p:sp>
      <p:sp>
        <p:nvSpPr>
          <p:cNvPr id="15" name="object-15">
            <a:extLst>
              <a:ext uri="{FF2B5EF4-FFF2-40B4-BE49-F238E27FC236}">
                <a16:creationId xmlns:a16="http://schemas.microsoft.com/office/drawing/2014/main" id="{DFFD9781-5BD1-411A-8F1E-36BE7FB2777A}"/>
              </a:ext>
            </a:extLst>
          </p:cNvPr>
          <p:cNvSpPr>
            <a:spLocks noGrp="1"/>
          </p:cNvSpPr>
          <p:nvPr/>
        </p:nvSpPr>
        <p:spPr>
          <a:xfrm>
            <a:off x="60721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6" name="object-16">
            <a:extLst>
              <a:ext uri="{FF2B5EF4-FFF2-40B4-BE49-F238E27FC236}">
                <a16:creationId xmlns:a16="http://schemas.microsoft.com/office/drawing/2014/main" id="{2B1E5C60-4975-430C-8367-88358F959FEF}"/>
              </a:ext>
            </a:extLst>
          </p:cNvPr>
          <p:cNvSpPr>
            <a:spLocks noGrp="1"/>
          </p:cNvSpPr>
          <p:nvPr/>
        </p:nvSpPr>
        <p:spPr>
          <a:xfrm>
            <a:off x="7262813" y="3095625"/>
            <a:ext cx="1190625" cy="1071563"/>
          </a:xfrm>
          <a:prstGeom prst="rect">
            <a:avLst/>
          </a:prstGeom>
          <a:solidFill>
            <a:srgbClr val="EFF6FF"/>
          </a:solidFill>
          <a:ln w="23813">
            <a:solidFill>
              <a:srgbClr val="1D4ED8"/>
            </a:solidFill>
          </a:ln>
        </p:spPr>
      </p:sp>
      <p:sp>
        <p:nvSpPr>
          <p:cNvPr id="17" name="object-17">
            <a:extLst>
              <a:ext uri="{FF2B5EF4-FFF2-40B4-BE49-F238E27FC236}">
                <a16:creationId xmlns:a16="http://schemas.microsoft.com/office/drawing/2014/main" id="{C42DBCFD-3C43-4C3A-B2EB-29557F9595D7}"/>
              </a:ext>
            </a:extLst>
          </p:cNvPr>
          <p:cNvSpPr>
            <a:spLocks noGrp="1"/>
          </p:cNvSpPr>
          <p:nvPr/>
        </p:nvSpPr>
        <p:spPr>
          <a:xfrm>
            <a:off x="72628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8" name="object-18">
            <a:extLst>
              <a:ext uri="{FF2B5EF4-FFF2-40B4-BE49-F238E27FC236}">
                <a16:creationId xmlns:a16="http://schemas.microsoft.com/office/drawing/2014/main" id="{5F5612AF-863A-4738-AC04-EC2A15558879}"/>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+ 30</a:t>
            </a:r>
          </a:p>
        </p:txBody>
      </p:sp>
      <p:sp>
        <p:nvSpPr>
          <p:cNvPr id="19" name="object-19">
            <a:extLst>
              <a:ext uri="{FF2B5EF4-FFF2-40B4-BE49-F238E27FC236}">
                <a16:creationId xmlns:a16="http://schemas.microsoft.com/office/drawing/2014/main" id="{0E90DEEB-E8BF-4503-840F-8B1CA5B8368A}"/>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72</a:t>
            </a:r>
          </a:p>
        </p:txBody>
      </p:sp>
      <p:sp>
        <p:nvSpPr>
          <p:cNvPr id="20" name="object-20">
            <a:extLst>
              <a:ext uri="{FF2B5EF4-FFF2-40B4-BE49-F238E27FC236}">
                <a16:creationId xmlns:a16="http://schemas.microsoft.com/office/drawing/2014/main" id="{22AF9BC9-38A0-42D0-A54D-C7874F5934AB}"/>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30 on both sides</a:t>
            </a:r>
          </a:p>
        </p:txBody>
      </p:sp>
      <p:sp>
        <p:nvSpPr>
          <p:cNvPr id="21" name="object-21">
            <a:extLst>
              <a:ext uri="{FF2B5EF4-FFF2-40B4-BE49-F238E27FC236}">
                <a16:creationId xmlns:a16="http://schemas.microsoft.com/office/drawing/2014/main" id="{D0A1B0AC-EC7A-4EBD-9D62-CA6FBFD37499}"/>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6x = 42</a:t>
            </a:r>
          </a:p>
        </p:txBody>
      </p:sp>
      <p:sp>
        <p:nvSpPr>
          <p:cNvPr id="22" name="object-22">
            <a:extLst>
              <a:ext uri="{FF2B5EF4-FFF2-40B4-BE49-F238E27FC236}">
                <a16:creationId xmlns:a16="http://schemas.microsoft.com/office/drawing/2014/main" id="{FB61D742-11C9-447D-9F59-6CE86B549625}"/>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7</a:t>
            </a:r>
          </a:p>
        </p:txBody>
      </p:sp>
    </p:spTree>
    <p:extLst>
      <p:ext uri="{BB962C8B-B14F-4D97-AF65-F5344CB8AC3E}">
        <p14:creationId xmlns:p14="http://schemas.microsoft.com/office/powerpoint/2010/main" val="1120278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2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2" grpId="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object-1">
            <a:extLst>
              <a:ext uri="{FF2B5EF4-FFF2-40B4-BE49-F238E27FC236}">
                <a16:creationId xmlns:a16="http://schemas.microsoft.com/office/drawing/2014/main" id="{B0467018-DC90-4EE1-8B97-3567DDC963A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1339F9D-487F-4635-A7D2-C68968D3B545}"/>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A25D3D44-3759-4713-8E37-22B7ADA4038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6x + 30 = 84.</a:t>
            </a:r>
          </a:p>
        </p:txBody>
      </p:sp>
      <p:sp>
        <p:nvSpPr>
          <p:cNvPr id="4" name="object-4">
            <a:extLst>
              <a:ext uri="{FF2B5EF4-FFF2-40B4-BE49-F238E27FC236}">
                <a16:creationId xmlns:a16="http://schemas.microsoft.com/office/drawing/2014/main" id="{8F1F6366-2C98-4063-BCBB-A5C56E4CC8E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8B8901FB-3AA5-440A-8019-D4D5D138D81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6" name="object-6">
            <a:extLst>
              <a:ext uri="{FF2B5EF4-FFF2-40B4-BE49-F238E27FC236}">
                <a16:creationId xmlns:a16="http://schemas.microsoft.com/office/drawing/2014/main" id="{9D221C9D-4C5A-4458-8E3A-8AC6E5FADAD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F8F1B697-88A6-4626-A826-1F92488FD526}"/>
              </a:ext>
            </a:extLst>
          </p:cNvPr>
          <p:cNvSpPr>
            <a:spLocks noGrp="1"/>
          </p:cNvSpPr>
          <p:nvPr/>
        </p:nvSpPr>
        <p:spPr>
          <a:xfrm>
            <a:off x="1309688" y="3095625"/>
            <a:ext cx="1190625"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23AD2DF5-BDB0-47A5-8072-8F76921F7B75}"/>
              </a:ext>
            </a:extLst>
          </p:cNvPr>
          <p:cNvSpPr>
            <a:spLocks noGrp="1"/>
          </p:cNvSpPr>
          <p:nvPr/>
        </p:nvSpPr>
        <p:spPr>
          <a:xfrm>
            <a:off x="13096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F46E6E23-B219-4DBD-B068-8916218F5FBE}"/>
              </a:ext>
            </a:extLst>
          </p:cNvPr>
          <p:cNvSpPr>
            <a:spLocks noGrp="1"/>
          </p:cNvSpPr>
          <p:nvPr/>
        </p:nvSpPr>
        <p:spPr>
          <a:xfrm>
            <a:off x="2500313" y="3095625"/>
            <a:ext cx="1190625" cy="1071563"/>
          </a:xfrm>
          <a:prstGeom prst="rect">
            <a:avLst/>
          </a:prstGeom>
          <a:solidFill>
            <a:srgbClr val="EFF6FF"/>
          </a:solidFill>
          <a:ln w="23813">
            <a:solidFill>
              <a:srgbClr val="1D4ED8"/>
            </a:solidFill>
          </a:ln>
        </p:spPr>
      </p:sp>
      <p:sp>
        <p:nvSpPr>
          <p:cNvPr id="10" name="object-10">
            <a:extLst>
              <a:ext uri="{FF2B5EF4-FFF2-40B4-BE49-F238E27FC236}">
                <a16:creationId xmlns:a16="http://schemas.microsoft.com/office/drawing/2014/main" id="{76A87464-F62E-4280-9C98-3FF5995BC423}"/>
              </a:ext>
            </a:extLst>
          </p:cNvPr>
          <p:cNvSpPr>
            <a:spLocks noGrp="1"/>
          </p:cNvSpPr>
          <p:nvPr/>
        </p:nvSpPr>
        <p:spPr>
          <a:xfrm>
            <a:off x="25003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1" name="object-11">
            <a:extLst>
              <a:ext uri="{FF2B5EF4-FFF2-40B4-BE49-F238E27FC236}">
                <a16:creationId xmlns:a16="http://schemas.microsoft.com/office/drawing/2014/main" id="{58AC8478-07F6-476B-8B47-0077C0202EA9}"/>
              </a:ext>
            </a:extLst>
          </p:cNvPr>
          <p:cNvSpPr>
            <a:spLocks noGrp="1"/>
          </p:cNvSpPr>
          <p:nvPr/>
        </p:nvSpPr>
        <p:spPr>
          <a:xfrm>
            <a:off x="3690938" y="3095625"/>
            <a:ext cx="1190625" cy="1071563"/>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8A800576-8198-4C78-AB48-32F73B95EBBE}"/>
              </a:ext>
            </a:extLst>
          </p:cNvPr>
          <p:cNvSpPr>
            <a:spLocks noGrp="1"/>
          </p:cNvSpPr>
          <p:nvPr/>
        </p:nvSpPr>
        <p:spPr>
          <a:xfrm>
            <a:off x="369093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3" name="object-13">
            <a:extLst>
              <a:ext uri="{FF2B5EF4-FFF2-40B4-BE49-F238E27FC236}">
                <a16:creationId xmlns:a16="http://schemas.microsoft.com/office/drawing/2014/main" id="{B41D3529-B193-4A7A-94B0-E980146130AE}"/>
              </a:ext>
            </a:extLst>
          </p:cNvPr>
          <p:cNvSpPr>
            <a:spLocks noGrp="1"/>
          </p:cNvSpPr>
          <p:nvPr/>
        </p:nvSpPr>
        <p:spPr>
          <a:xfrm>
            <a:off x="4881563" y="3095625"/>
            <a:ext cx="1190625" cy="1071563"/>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F0AE6D22-6EC0-4DB4-B3AF-A4E7F1B5BFF9}"/>
              </a:ext>
            </a:extLst>
          </p:cNvPr>
          <p:cNvSpPr>
            <a:spLocks noGrp="1"/>
          </p:cNvSpPr>
          <p:nvPr/>
        </p:nvSpPr>
        <p:spPr>
          <a:xfrm>
            <a:off x="488156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5" name="object-15">
            <a:extLst>
              <a:ext uri="{FF2B5EF4-FFF2-40B4-BE49-F238E27FC236}">
                <a16:creationId xmlns:a16="http://schemas.microsoft.com/office/drawing/2014/main" id="{A82B2B79-D943-4DB4-A458-A4E5F58E150A}"/>
              </a:ext>
            </a:extLst>
          </p:cNvPr>
          <p:cNvSpPr>
            <a:spLocks noGrp="1"/>
          </p:cNvSpPr>
          <p:nvPr/>
        </p:nvSpPr>
        <p:spPr>
          <a:xfrm>
            <a:off x="6072188" y="3095625"/>
            <a:ext cx="1190625" cy="1071563"/>
          </a:xfrm>
          <a:prstGeom prst="rect">
            <a:avLst/>
          </a:prstGeom>
          <a:solidFill>
            <a:srgbClr val="EFF6FF"/>
          </a:solidFill>
          <a:ln w="23813">
            <a:solidFill>
              <a:srgbClr val="1D4ED8"/>
            </a:solidFill>
          </a:ln>
        </p:spPr>
      </p:sp>
      <p:sp>
        <p:nvSpPr>
          <p:cNvPr id="16" name="object-16">
            <a:extLst>
              <a:ext uri="{FF2B5EF4-FFF2-40B4-BE49-F238E27FC236}">
                <a16:creationId xmlns:a16="http://schemas.microsoft.com/office/drawing/2014/main" id="{ECEC64ED-3ABC-48CD-8254-932E098D204C}"/>
              </a:ext>
            </a:extLst>
          </p:cNvPr>
          <p:cNvSpPr>
            <a:spLocks noGrp="1"/>
          </p:cNvSpPr>
          <p:nvPr/>
        </p:nvSpPr>
        <p:spPr>
          <a:xfrm>
            <a:off x="60721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7" name="object-17">
            <a:extLst>
              <a:ext uri="{FF2B5EF4-FFF2-40B4-BE49-F238E27FC236}">
                <a16:creationId xmlns:a16="http://schemas.microsoft.com/office/drawing/2014/main" id="{4AD948D0-5977-43D3-BFD5-57B294EA3BA7}"/>
              </a:ext>
            </a:extLst>
          </p:cNvPr>
          <p:cNvSpPr>
            <a:spLocks noGrp="1"/>
          </p:cNvSpPr>
          <p:nvPr/>
        </p:nvSpPr>
        <p:spPr>
          <a:xfrm>
            <a:off x="7262813" y="3095625"/>
            <a:ext cx="1190625" cy="1071563"/>
          </a:xfrm>
          <a:prstGeom prst="rect">
            <a:avLst/>
          </a:prstGeom>
          <a:solidFill>
            <a:srgbClr val="EFF6FF"/>
          </a:solidFill>
          <a:ln w="23813">
            <a:solidFill>
              <a:srgbClr val="1D4ED8"/>
            </a:solidFill>
          </a:ln>
        </p:spPr>
      </p:sp>
      <p:sp>
        <p:nvSpPr>
          <p:cNvPr id="18" name="object-18">
            <a:extLst>
              <a:ext uri="{FF2B5EF4-FFF2-40B4-BE49-F238E27FC236}">
                <a16:creationId xmlns:a16="http://schemas.microsoft.com/office/drawing/2014/main" id="{F1BC31BA-1290-48E2-8D95-C75864F4FF07}"/>
              </a:ext>
            </a:extLst>
          </p:cNvPr>
          <p:cNvSpPr>
            <a:spLocks noGrp="1"/>
          </p:cNvSpPr>
          <p:nvPr/>
        </p:nvSpPr>
        <p:spPr>
          <a:xfrm>
            <a:off x="72628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9" name="object-19">
            <a:extLst>
              <a:ext uri="{FF2B5EF4-FFF2-40B4-BE49-F238E27FC236}">
                <a16:creationId xmlns:a16="http://schemas.microsoft.com/office/drawing/2014/main" id="{F8B9E8EE-A7B3-473D-ABC0-38F19A266CFD}"/>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+ 30</a:t>
            </a:r>
          </a:p>
        </p:txBody>
      </p:sp>
      <p:sp>
        <p:nvSpPr>
          <p:cNvPr id="20" name="object-20">
            <a:extLst>
              <a:ext uri="{FF2B5EF4-FFF2-40B4-BE49-F238E27FC236}">
                <a16:creationId xmlns:a16="http://schemas.microsoft.com/office/drawing/2014/main" id="{ABB0CBAD-0924-4DE6-B5ED-736787A3E53A}"/>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84</a:t>
            </a:r>
          </a:p>
        </p:txBody>
      </p:sp>
      <p:sp>
        <p:nvSpPr>
          <p:cNvPr id="21" name="object-21">
            <a:extLst>
              <a:ext uri="{FF2B5EF4-FFF2-40B4-BE49-F238E27FC236}">
                <a16:creationId xmlns:a16="http://schemas.microsoft.com/office/drawing/2014/main" id="{4C4178F5-167B-472E-AD74-D150111E8685}"/>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30 on both sides</a:t>
            </a:r>
          </a:p>
        </p:txBody>
      </p:sp>
      <p:sp>
        <p:nvSpPr>
          <p:cNvPr id="22" name="object-22">
            <a:extLst>
              <a:ext uri="{FF2B5EF4-FFF2-40B4-BE49-F238E27FC236}">
                <a16:creationId xmlns:a16="http://schemas.microsoft.com/office/drawing/2014/main" id="{4A27F167-8057-4733-A036-35A353BF9DAE}"/>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6x = 54</a:t>
            </a:r>
          </a:p>
        </p:txBody>
      </p:sp>
      <p:sp>
        <p:nvSpPr>
          <p:cNvPr id="23" name="object-23">
            <a:extLst>
              <a:ext uri="{FF2B5EF4-FFF2-40B4-BE49-F238E27FC236}">
                <a16:creationId xmlns:a16="http://schemas.microsoft.com/office/drawing/2014/main" id="{48E596E8-6547-4782-A02C-7C0BFF3B065B}"/>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9</a:t>
            </a:r>
          </a:p>
        </p:txBody>
      </p:sp>
    </p:spTree>
    <p:extLst>
      <p:ext uri="{BB962C8B-B14F-4D97-AF65-F5344CB8AC3E}">
        <p14:creationId xmlns:p14="http://schemas.microsoft.com/office/powerpoint/2010/main" val="1653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2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3"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object-1">
            <a:extLst>
              <a:ext uri="{FF2B5EF4-FFF2-40B4-BE49-F238E27FC236}">
                <a16:creationId xmlns:a16="http://schemas.microsoft.com/office/drawing/2014/main" id="{0FB361FA-35CA-447B-99AA-4840835AAE9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11D912B1-8B21-460B-A16A-004D902A0B4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6x + 30 = 96.</a:t>
            </a:r>
          </a:p>
        </p:txBody>
      </p:sp>
      <p:sp>
        <p:nvSpPr>
          <p:cNvPr id="3" name="object-3">
            <a:extLst>
              <a:ext uri="{FF2B5EF4-FFF2-40B4-BE49-F238E27FC236}">
                <a16:creationId xmlns:a16="http://schemas.microsoft.com/office/drawing/2014/main" id="{7E39592B-E6DA-474C-81EE-38A423827C1B}"/>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72EB4F6-5663-46D7-92DC-5573CF99F96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5" name="object-5">
            <a:extLst>
              <a:ext uri="{FF2B5EF4-FFF2-40B4-BE49-F238E27FC236}">
                <a16:creationId xmlns:a16="http://schemas.microsoft.com/office/drawing/2014/main" id="{BE4DCB6F-DD33-43A3-A874-FE45AF37658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FAFE5DA6-9E08-4A56-BEC2-1DC2E251F5C9}"/>
              </a:ext>
            </a:extLst>
          </p:cNvPr>
          <p:cNvSpPr>
            <a:spLocks noGrp="1"/>
          </p:cNvSpPr>
          <p:nvPr/>
        </p:nvSpPr>
        <p:spPr>
          <a:xfrm>
            <a:off x="1309688" y="3095625"/>
            <a:ext cx="1190625" cy="1071563"/>
          </a:xfrm>
          <a:prstGeom prst="rect">
            <a:avLst/>
          </a:prstGeom>
          <a:solidFill>
            <a:srgbClr val="EFF6FF"/>
          </a:solidFill>
          <a:ln w="23813">
            <a:solidFill>
              <a:srgbClr val="1D4ED8"/>
            </a:solidFill>
          </a:ln>
        </p:spPr>
      </p:sp>
      <p:sp>
        <p:nvSpPr>
          <p:cNvPr id="7" name="object-7">
            <a:extLst>
              <a:ext uri="{FF2B5EF4-FFF2-40B4-BE49-F238E27FC236}">
                <a16:creationId xmlns:a16="http://schemas.microsoft.com/office/drawing/2014/main" id="{389BB2EF-27F1-4A55-918A-74C2E85D4202}"/>
              </a:ext>
            </a:extLst>
          </p:cNvPr>
          <p:cNvSpPr>
            <a:spLocks noGrp="1"/>
          </p:cNvSpPr>
          <p:nvPr/>
        </p:nvSpPr>
        <p:spPr>
          <a:xfrm>
            <a:off x="13096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8" name="object-8">
            <a:extLst>
              <a:ext uri="{FF2B5EF4-FFF2-40B4-BE49-F238E27FC236}">
                <a16:creationId xmlns:a16="http://schemas.microsoft.com/office/drawing/2014/main" id="{C6A39A8C-5288-47B4-B63E-7CB7B7056A4D}"/>
              </a:ext>
            </a:extLst>
          </p:cNvPr>
          <p:cNvSpPr>
            <a:spLocks noGrp="1"/>
          </p:cNvSpPr>
          <p:nvPr/>
        </p:nvSpPr>
        <p:spPr>
          <a:xfrm>
            <a:off x="2500313" y="3095625"/>
            <a:ext cx="1190625" cy="1071563"/>
          </a:xfrm>
          <a:prstGeom prst="rect">
            <a:avLst/>
          </a:prstGeom>
          <a:solidFill>
            <a:srgbClr val="EFF6FF"/>
          </a:solidFill>
          <a:ln w="23813">
            <a:solidFill>
              <a:srgbClr val="1D4ED8"/>
            </a:solidFill>
          </a:ln>
        </p:spPr>
      </p:sp>
      <p:sp>
        <p:nvSpPr>
          <p:cNvPr id="9" name="object-9">
            <a:extLst>
              <a:ext uri="{FF2B5EF4-FFF2-40B4-BE49-F238E27FC236}">
                <a16:creationId xmlns:a16="http://schemas.microsoft.com/office/drawing/2014/main" id="{157EC2A1-6F6A-4F8D-8145-B61F62283126}"/>
              </a:ext>
            </a:extLst>
          </p:cNvPr>
          <p:cNvSpPr>
            <a:spLocks noGrp="1"/>
          </p:cNvSpPr>
          <p:nvPr/>
        </p:nvSpPr>
        <p:spPr>
          <a:xfrm>
            <a:off x="25003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0" name="object-10">
            <a:extLst>
              <a:ext uri="{FF2B5EF4-FFF2-40B4-BE49-F238E27FC236}">
                <a16:creationId xmlns:a16="http://schemas.microsoft.com/office/drawing/2014/main" id="{FB871A3E-CCBF-48B5-85D4-E80CE0D8F71B}"/>
              </a:ext>
            </a:extLst>
          </p:cNvPr>
          <p:cNvSpPr>
            <a:spLocks noGrp="1"/>
          </p:cNvSpPr>
          <p:nvPr/>
        </p:nvSpPr>
        <p:spPr>
          <a:xfrm>
            <a:off x="3690938" y="3095625"/>
            <a:ext cx="1190625" cy="1071563"/>
          </a:xfrm>
          <a:prstGeom prst="rect">
            <a:avLst/>
          </a:prstGeom>
          <a:solidFill>
            <a:srgbClr val="EFF6FF"/>
          </a:solidFill>
          <a:ln w="23813">
            <a:solidFill>
              <a:srgbClr val="1D4ED8"/>
            </a:solidFill>
          </a:ln>
        </p:spPr>
      </p:sp>
      <p:sp>
        <p:nvSpPr>
          <p:cNvPr id="11" name="object-11">
            <a:extLst>
              <a:ext uri="{FF2B5EF4-FFF2-40B4-BE49-F238E27FC236}">
                <a16:creationId xmlns:a16="http://schemas.microsoft.com/office/drawing/2014/main" id="{A39C37D4-48B6-4573-8C6F-A8F00F542C8E}"/>
              </a:ext>
            </a:extLst>
          </p:cNvPr>
          <p:cNvSpPr>
            <a:spLocks noGrp="1"/>
          </p:cNvSpPr>
          <p:nvPr/>
        </p:nvSpPr>
        <p:spPr>
          <a:xfrm>
            <a:off x="369093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2" name="object-12">
            <a:extLst>
              <a:ext uri="{FF2B5EF4-FFF2-40B4-BE49-F238E27FC236}">
                <a16:creationId xmlns:a16="http://schemas.microsoft.com/office/drawing/2014/main" id="{49D2BE9C-AA58-47B6-8300-9D9235628AF3}"/>
              </a:ext>
            </a:extLst>
          </p:cNvPr>
          <p:cNvSpPr>
            <a:spLocks noGrp="1"/>
          </p:cNvSpPr>
          <p:nvPr/>
        </p:nvSpPr>
        <p:spPr>
          <a:xfrm>
            <a:off x="4881563" y="3095625"/>
            <a:ext cx="1190625" cy="1071563"/>
          </a:xfrm>
          <a:prstGeom prst="rect">
            <a:avLst/>
          </a:prstGeom>
          <a:solidFill>
            <a:srgbClr val="EFF6FF"/>
          </a:solidFill>
          <a:ln w="23813">
            <a:solidFill>
              <a:srgbClr val="1D4ED8"/>
            </a:solidFill>
          </a:ln>
        </p:spPr>
      </p:sp>
      <p:sp>
        <p:nvSpPr>
          <p:cNvPr id="13" name="object-13">
            <a:extLst>
              <a:ext uri="{FF2B5EF4-FFF2-40B4-BE49-F238E27FC236}">
                <a16:creationId xmlns:a16="http://schemas.microsoft.com/office/drawing/2014/main" id="{A684AE26-D38E-4F11-9E72-F87DB32E1417}"/>
              </a:ext>
            </a:extLst>
          </p:cNvPr>
          <p:cNvSpPr>
            <a:spLocks noGrp="1"/>
          </p:cNvSpPr>
          <p:nvPr/>
        </p:nvSpPr>
        <p:spPr>
          <a:xfrm>
            <a:off x="488156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4" name="object-14">
            <a:extLst>
              <a:ext uri="{FF2B5EF4-FFF2-40B4-BE49-F238E27FC236}">
                <a16:creationId xmlns:a16="http://schemas.microsoft.com/office/drawing/2014/main" id="{BA826D79-977A-4072-9DDE-FEC6A03DE404}"/>
              </a:ext>
            </a:extLst>
          </p:cNvPr>
          <p:cNvSpPr>
            <a:spLocks noGrp="1"/>
          </p:cNvSpPr>
          <p:nvPr/>
        </p:nvSpPr>
        <p:spPr>
          <a:xfrm>
            <a:off x="6072188" y="3095625"/>
            <a:ext cx="1190625" cy="1071563"/>
          </a:xfrm>
          <a:prstGeom prst="rect">
            <a:avLst/>
          </a:prstGeom>
          <a:solidFill>
            <a:srgbClr val="EFF6FF"/>
          </a:solidFill>
          <a:ln w="23813">
            <a:solidFill>
              <a:srgbClr val="1D4ED8"/>
            </a:solidFill>
          </a:ln>
        </p:spPr>
      </p:sp>
      <p:sp>
        <p:nvSpPr>
          <p:cNvPr id="15" name="object-15">
            <a:extLst>
              <a:ext uri="{FF2B5EF4-FFF2-40B4-BE49-F238E27FC236}">
                <a16:creationId xmlns:a16="http://schemas.microsoft.com/office/drawing/2014/main" id="{E5EA58CD-FD57-4C56-B114-DBD46E0DE4C7}"/>
              </a:ext>
            </a:extLst>
          </p:cNvPr>
          <p:cNvSpPr>
            <a:spLocks noGrp="1"/>
          </p:cNvSpPr>
          <p:nvPr/>
        </p:nvSpPr>
        <p:spPr>
          <a:xfrm>
            <a:off x="60721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6" name="object-16">
            <a:extLst>
              <a:ext uri="{FF2B5EF4-FFF2-40B4-BE49-F238E27FC236}">
                <a16:creationId xmlns:a16="http://schemas.microsoft.com/office/drawing/2014/main" id="{E8AFFFA9-B2AE-4E72-BF36-1B63EA783C38}"/>
              </a:ext>
            </a:extLst>
          </p:cNvPr>
          <p:cNvSpPr>
            <a:spLocks noGrp="1"/>
          </p:cNvSpPr>
          <p:nvPr/>
        </p:nvSpPr>
        <p:spPr>
          <a:xfrm>
            <a:off x="7262813" y="3095625"/>
            <a:ext cx="1190625" cy="1071563"/>
          </a:xfrm>
          <a:prstGeom prst="rect">
            <a:avLst/>
          </a:prstGeom>
          <a:solidFill>
            <a:srgbClr val="EFF6FF"/>
          </a:solidFill>
          <a:ln w="23813">
            <a:solidFill>
              <a:srgbClr val="1D4ED8"/>
            </a:solidFill>
          </a:ln>
        </p:spPr>
      </p:sp>
      <p:sp>
        <p:nvSpPr>
          <p:cNvPr id="17" name="object-17">
            <a:extLst>
              <a:ext uri="{FF2B5EF4-FFF2-40B4-BE49-F238E27FC236}">
                <a16:creationId xmlns:a16="http://schemas.microsoft.com/office/drawing/2014/main" id="{541CCFD3-893A-404D-8808-C8D84F794665}"/>
              </a:ext>
            </a:extLst>
          </p:cNvPr>
          <p:cNvSpPr>
            <a:spLocks noGrp="1"/>
          </p:cNvSpPr>
          <p:nvPr/>
        </p:nvSpPr>
        <p:spPr>
          <a:xfrm>
            <a:off x="72628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8" name="object-18">
            <a:extLst>
              <a:ext uri="{FF2B5EF4-FFF2-40B4-BE49-F238E27FC236}">
                <a16:creationId xmlns:a16="http://schemas.microsoft.com/office/drawing/2014/main" id="{A110FB22-879A-4DE4-80C3-6D5301B62E41}"/>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+ 30</a:t>
            </a:r>
          </a:p>
        </p:txBody>
      </p:sp>
      <p:sp>
        <p:nvSpPr>
          <p:cNvPr id="19" name="object-19">
            <a:extLst>
              <a:ext uri="{FF2B5EF4-FFF2-40B4-BE49-F238E27FC236}">
                <a16:creationId xmlns:a16="http://schemas.microsoft.com/office/drawing/2014/main" id="{FCB6EC7E-F306-4804-82F6-C87B62827FEA}"/>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96</a:t>
            </a:r>
          </a:p>
        </p:txBody>
      </p:sp>
      <p:sp>
        <p:nvSpPr>
          <p:cNvPr id="20" name="object-20">
            <a:extLst>
              <a:ext uri="{FF2B5EF4-FFF2-40B4-BE49-F238E27FC236}">
                <a16:creationId xmlns:a16="http://schemas.microsoft.com/office/drawing/2014/main" id="{A2BE5320-A5D4-421B-A859-4E35140FFFC3}"/>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30 on both sides</a:t>
            </a:r>
          </a:p>
        </p:txBody>
      </p:sp>
      <p:sp>
        <p:nvSpPr>
          <p:cNvPr id="21" name="object-21">
            <a:extLst>
              <a:ext uri="{FF2B5EF4-FFF2-40B4-BE49-F238E27FC236}">
                <a16:creationId xmlns:a16="http://schemas.microsoft.com/office/drawing/2014/main" id="{81C8CC9A-84B2-4D83-A071-48D59DEEDEE9}"/>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6x = 66</a:t>
            </a:r>
          </a:p>
        </p:txBody>
      </p:sp>
      <p:sp>
        <p:nvSpPr>
          <p:cNvPr id="22" name="object-22">
            <a:extLst>
              <a:ext uri="{FF2B5EF4-FFF2-40B4-BE49-F238E27FC236}">
                <a16:creationId xmlns:a16="http://schemas.microsoft.com/office/drawing/2014/main" id="{28D9B0B2-B94D-453A-8CF0-74C1A844DED1}"/>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11</a:t>
            </a:r>
          </a:p>
        </p:txBody>
      </p:sp>
    </p:spTree>
    <p:extLst>
      <p:ext uri="{BB962C8B-B14F-4D97-AF65-F5344CB8AC3E}">
        <p14:creationId xmlns:p14="http://schemas.microsoft.com/office/powerpoint/2010/main" val="773838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2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2" grpId="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object-1">
            <a:extLst>
              <a:ext uri="{FF2B5EF4-FFF2-40B4-BE49-F238E27FC236}">
                <a16:creationId xmlns:a16="http://schemas.microsoft.com/office/drawing/2014/main" id="{B5E09F90-2EC8-4FBE-9B67-BA890F25477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4D339F6-8148-41B5-855E-71F4FFA29AF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4083580-A953-4F90-8FD2-02A2424467A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Solve 6x + 30 = 108.</a:t>
            </a:r>
          </a:p>
        </p:txBody>
      </p:sp>
      <p:sp>
        <p:nvSpPr>
          <p:cNvPr id="4" name="object-4">
            <a:extLst>
              <a:ext uri="{FF2B5EF4-FFF2-40B4-BE49-F238E27FC236}">
                <a16:creationId xmlns:a16="http://schemas.microsoft.com/office/drawing/2014/main" id="{211CF928-BC92-467B-95A6-FC4DB24C800A}"/>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68B6D79B-ADE9-4275-B62D-E6DDFD04EFE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6" name="object-6">
            <a:extLst>
              <a:ext uri="{FF2B5EF4-FFF2-40B4-BE49-F238E27FC236}">
                <a16:creationId xmlns:a16="http://schemas.microsoft.com/office/drawing/2014/main" id="{8FDD895E-B467-4D17-B487-0F93F5563E2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2C45C01F-6F5F-4EB1-BDE9-FF22A7D3A247}"/>
              </a:ext>
            </a:extLst>
          </p:cNvPr>
          <p:cNvSpPr>
            <a:spLocks noGrp="1"/>
          </p:cNvSpPr>
          <p:nvPr/>
        </p:nvSpPr>
        <p:spPr>
          <a:xfrm>
            <a:off x="1309688" y="3095625"/>
            <a:ext cx="1190625" cy="1071563"/>
          </a:xfrm>
          <a:prstGeom prst="rect">
            <a:avLst/>
          </a:prstGeom>
          <a:solidFill>
            <a:srgbClr val="EFF6FF"/>
          </a:solidFill>
          <a:ln w="23813">
            <a:solidFill>
              <a:srgbClr val="1D4ED8"/>
            </a:solidFill>
          </a:ln>
        </p:spPr>
      </p:sp>
      <p:sp>
        <p:nvSpPr>
          <p:cNvPr id="8" name="object-8">
            <a:extLst>
              <a:ext uri="{FF2B5EF4-FFF2-40B4-BE49-F238E27FC236}">
                <a16:creationId xmlns:a16="http://schemas.microsoft.com/office/drawing/2014/main" id="{07572E79-B5D0-42A2-99DE-6D111AF9E0BA}"/>
              </a:ext>
            </a:extLst>
          </p:cNvPr>
          <p:cNvSpPr>
            <a:spLocks noGrp="1"/>
          </p:cNvSpPr>
          <p:nvPr/>
        </p:nvSpPr>
        <p:spPr>
          <a:xfrm>
            <a:off x="13096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9" name="object-9">
            <a:extLst>
              <a:ext uri="{FF2B5EF4-FFF2-40B4-BE49-F238E27FC236}">
                <a16:creationId xmlns:a16="http://schemas.microsoft.com/office/drawing/2014/main" id="{0A93DC70-D811-48FC-84A5-E338BDB74740}"/>
              </a:ext>
            </a:extLst>
          </p:cNvPr>
          <p:cNvSpPr>
            <a:spLocks noGrp="1"/>
          </p:cNvSpPr>
          <p:nvPr/>
        </p:nvSpPr>
        <p:spPr>
          <a:xfrm>
            <a:off x="2500313" y="3095625"/>
            <a:ext cx="1190625" cy="1071563"/>
          </a:xfrm>
          <a:prstGeom prst="rect">
            <a:avLst/>
          </a:prstGeom>
          <a:solidFill>
            <a:srgbClr val="EFF6FF"/>
          </a:solidFill>
          <a:ln w="23813">
            <a:solidFill>
              <a:srgbClr val="1D4ED8"/>
            </a:solidFill>
          </a:ln>
        </p:spPr>
      </p:sp>
      <p:sp>
        <p:nvSpPr>
          <p:cNvPr id="10" name="object-10">
            <a:extLst>
              <a:ext uri="{FF2B5EF4-FFF2-40B4-BE49-F238E27FC236}">
                <a16:creationId xmlns:a16="http://schemas.microsoft.com/office/drawing/2014/main" id="{2A96CACB-94D8-4DB8-8AFF-62F505BFFAA4}"/>
              </a:ext>
            </a:extLst>
          </p:cNvPr>
          <p:cNvSpPr>
            <a:spLocks noGrp="1"/>
          </p:cNvSpPr>
          <p:nvPr/>
        </p:nvSpPr>
        <p:spPr>
          <a:xfrm>
            <a:off x="25003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1" name="object-11">
            <a:extLst>
              <a:ext uri="{FF2B5EF4-FFF2-40B4-BE49-F238E27FC236}">
                <a16:creationId xmlns:a16="http://schemas.microsoft.com/office/drawing/2014/main" id="{2500C0B4-3E80-4062-8F6E-74EC806AC237}"/>
              </a:ext>
            </a:extLst>
          </p:cNvPr>
          <p:cNvSpPr>
            <a:spLocks noGrp="1"/>
          </p:cNvSpPr>
          <p:nvPr/>
        </p:nvSpPr>
        <p:spPr>
          <a:xfrm>
            <a:off x="3690938" y="3095625"/>
            <a:ext cx="1190625" cy="1071563"/>
          </a:xfrm>
          <a:prstGeom prst="rect">
            <a:avLst/>
          </a:prstGeom>
          <a:solidFill>
            <a:srgbClr val="EFF6FF"/>
          </a:solidFill>
          <a:ln w="23813">
            <a:solidFill>
              <a:srgbClr val="1D4ED8"/>
            </a:solidFill>
          </a:ln>
        </p:spPr>
      </p:sp>
      <p:sp>
        <p:nvSpPr>
          <p:cNvPr id="12" name="object-12">
            <a:extLst>
              <a:ext uri="{FF2B5EF4-FFF2-40B4-BE49-F238E27FC236}">
                <a16:creationId xmlns:a16="http://schemas.microsoft.com/office/drawing/2014/main" id="{93F416EF-9F4E-46B9-B9CE-3AA6BB8882DC}"/>
              </a:ext>
            </a:extLst>
          </p:cNvPr>
          <p:cNvSpPr>
            <a:spLocks noGrp="1"/>
          </p:cNvSpPr>
          <p:nvPr/>
        </p:nvSpPr>
        <p:spPr>
          <a:xfrm>
            <a:off x="369093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3" name="object-13">
            <a:extLst>
              <a:ext uri="{FF2B5EF4-FFF2-40B4-BE49-F238E27FC236}">
                <a16:creationId xmlns:a16="http://schemas.microsoft.com/office/drawing/2014/main" id="{FB3288B3-E366-46C4-BF35-E271B1F5D232}"/>
              </a:ext>
            </a:extLst>
          </p:cNvPr>
          <p:cNvSpPr>
            <a:spLocks noGrp="1"/>
          </p:cNvSpPr>
          <p:nvPr/>
        </p:nvSpPr>
        <p:spPr>
          <a:xfrm>
            <a:off x="4881563" y="3095625"/>
            <a:ext cx="1190625" cy="1071563"/>
          </a:xfrm>
          <a:prstGeom prst="rect">
            <a:avLst/>
          </a:prstGeom>
          <a:solidFill>
            <a:srgbClr val="EFF6FF"/>
          </a:solidFill>
          <a:ln w="23813">
            <a:solidFill>
              <a:srgbClr val="1D4ED8"/>
            </a:solidFill>
          </a:ln>
        </p:spPr>
      </p:sp>
      <p:sp>
        <p:nvSpPr>
          <p:cNvPr id="14" name="object-14">
            <a:extLst>
              <a:ext uri="{FF2B5EF4-FFF2-40B4-BE49-F238E27FC236}">
                <a16:creationId xmlns:a16="http://schemas.microsoft.com/office/drawing/2014/main" id="{CBE8653B-B0DD-4E7E-994D-7C4436D53F5B}"/>
              </a:ext>
            </a:extLst>
          </p:cNvPr>
          <p:cNvSpPr>
            <a:spLocks noGrp="1"/>
          </p:cNvSpPr>
          <p:nvPr/>
        </p:nvSpPr>
        <p:spPr>
          <a:xfrm>
            <a:off x="488156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5" name="object-15">
            <a:extLst>
              <a:ext uri="{FF2B5EF4-FFF2-40B4-BE49-F238E27FC236}">
                <a16:creationId xmlns:a16="http://schemas.microsoft.com/office/drawing/2014/main" id="{26A5ED93-F746-49C2-874C-4D702CD84DB0}"/>
              </a:ext>
            </a:extLst>
          </p:cNvPr>
          <p:cNvSpPr>
            <a:spLocks noGrp="1"/>
          </p:cNvSpPr>
          <p:nvPr/>
        </p:nvSpPr>
        <p:spPr>
          <a:xfrm>
            <a:off x="6072188" y="3095625"/>
            <a:ext cx="1190625" cy="1071563"/>
          </a:xfrm>
          <a:prstGeom prst="rect">
            <a:avLst/>
          </a:prstGeom>
          <a:solidFill>
            <a:srgbClr val="EFF6FF"/>
          </a:solidFill>
          <a:ln w="23813">
            <a:solidFill>
              <a:srgbClr val="1D4ED8"/>
            </a:solidFill>
          </a:ln>
        </p:spPr>
      </p:sp>
      <p:sp>
        <p:nvSpPr>
          <p:cNvPr id="16" name="object-16">
            <a:extLst>
              <a:ext uri="{FF2B5EF4-FFF2-40B4-BE49-F238E27FC236}">
                <a16:creationId xmlns:a16="http://schemas.microsoft.com/office/drawing/2014/main" id="{F3D9D361-EA31-4820-8602-362D0E0AE4C3}"/>
              </a:ext>
            </a:extLst>
          </p:cNvPr>
          <p:cNvSpPr>
            <a:spLocks noGrp="1"/>
          </p:cNvSpPr>
          <p:nvPr/>
        </p:nvSpPr>
        <p:spPr>
          <a:xfrm>
            <a:off x="6072188"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7" name="object-17">
            <a:extLst>
              <a:ext uri="{FF2B5EF4-FFF2-40B4-BE49-F238E27FC236}">
                <a16:creationId xmlns:a16="http://schemas.microsoft.com/office/drawing/2014/main" id="{C0731A0F-137C-4BAD-96F3-0F41BF97740D}"/>
              </a:ext>
            </a:extLst>
          </p:cNvPr>
          <p:cNvSpPr>
            <a:spLocks noGrp="1"/>
          </p:cNvSpPr>
          <p:nvPr/>
        </p:nvSpPr>
        <p:spPr>
          <a:xfrm>
            <a:off x="7262813" y="3095625"/>
            <a:ext cx="1190625" cy="1071563"/>
          </a:xfrm>
          <a:prstGeom prst="rect">
            <a:avLst/>
          </a:prstGeom>
          <a:solidFill>
            <a:srgbClr val="EFF6FF"/>
          </a:solidFill>
          <a:ln w="23813">
            <a:solidFill>
              <a:srgbClr val="1D4ED8"/>
            </a:solidFill>
          </a:ln>
        </p:spPr>
      </p:sp>
      <p:sp>
        <p:nvSpPr>
          <p:cNvPr id="18" name="object-18">
            <a:extLst>
              <a:ext uri="{FF2B5EF4-FFF2-40B4-BE49-F238E27FC236}">
                <a16:creationId xmlns:a16="http://schemas.microsoft.com/office/drawing/2014/main" id="{2313A20C-7B43-4A4D-A0E0-937D3238156A}"/>
              </a:ext>
            </a:extLst>
          </p:cNvPr>
          <p:cNvSpPr>
            <a:spLocks noGrp="1"/>
          </p:cNvSpPr>
          <p:nvPr/>
        </p:nvSpPr>
        <p:spPr>
          <a:xfrm>
            <a:off x="7262813" y="3178969"/>
            <a:ext cx="1190625" cy="833438"/>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x</a:t>
            </a:r>
          </a:p>
        </p:txBody>
      </p:sp>
      <p:sp>
        <p:nvSpPr>
          <p:cNvPr id="19" name="object-19">
            <a:extLst>
              <a:ext uri="{FF2B5EF4-FFF2-40B4-BE49-F238E27FC236}">
                <a16:creationId xmlns:a16="http://schemas.microsoft.com/office/drawing/2014/main" id="{F5DD8DDC-CE78-4692-A824-5323A618A8A2}"/>
              </a:ext>
            </a:extLst>
          </p:cNvPr>
          <p:cNvSpPr>
            <a:spLocks noGrp="1"/>
          </p:cNvSpPr>
          <p:nvPr/>
        </p:nvSpPr>
        <p:spPr>
          <a:xfrm>
            <a:off x="8870156" y="3155156"/>
            <a:ext cx="2083594" cy="892969"/>
          </a:xfrm>
          <a:prstGeom prst="rect">
            <a:avLst/>
          </a:prstGeom>
          <a:noFill/>
          <a:ln w="0">
            <a:noFill/>
          </a:ln>
        </p:spPr>
        <p:txBody>
          <a:bodyPr anchor="ctr">
            <a:noAutofit/>
          </a:bodyPr>
          <a:lstStyle/>
          <a:p>
            <a:pPr algn="l">
              <a:defRPr sz="3938" b="1">
                <a:solidFill>
                  <a:srgbClr val="9A5800"/>
                </a:solidFill>
                <a:latin typeface="Arial"/>
                <a:ea typeface="Arial"/>
                <a:cs typeface="Arial"/>
              </a:defRPr>
            </a:pPr>
            <a:r>
              <a:rPr sz="3938" b="1">
                <a:solidFill>
                  <a:srgbClr val="9A5800"/>
                </a:solidFill>
                <a:latin typeface="Arial"/>
                <a:ea typeface="Arial"/>
                <a:cs typeface="Arial"/>
              </a:rPr>
              <a:t>+ 30</a:t>
            </a:r>
          </a:p>
        </p:txBody>
      </p:sp>
      <p:sp>
        <p:nvSpPr>
          <p:cNvPr id="20" name="object-20">
            <a:extLst>
              <a:ext uri="{FF2B5EF4-FFF2-40B4-BE49-F238E27FC236}">
                <a16:creationId xmlns:a16="http://schemas.microsoft.com/office/drawing/2014/main" id="{85EC121F-FB79-49E6-917C-14ECD7DDAEF2}"/>
              </a:ext>
            </a:extLst>
          </p:cNvPr>
          <p:cNvSpPr>
            <a:spLocks noGrp="1"/>
          </p:cNvSpPr>
          <p:nvPr/>
        </p:nvSpPr>
        <p:spPr>
          <a:xfrm>
            <a:off x="11549063" y="3155156"/>
            <a:ext cx="2857500" cy="892969"/>
          </a:xfrm>
          <a:prstGeom prst="rect">
            <a:avLst/>
          </a:prstGeom>
          <a:noFill/>
          <a:ln w="0">
            <a:noFill/>
          </a:ln>
        </p:spPr>
        <p:txBody>
          <a:bodyPr anchor="ctr">
            <a:noAutofit/>
          </a:bodyPr>
          <a:lstStyle/>
          <a:p>
            <a:pPr algn="l">
              <a:defRPr sz="4031" b="1">
                <a:solidFill>
                  <a:srgbClr val="172B4D"/>
                </a:solidFill>
                <a:latin typeface="Arial"/>
                <a:ea typeface="Arial"/>
                <a:cs typeface="Arial"/>
              </a:defRPr>
            </a:pPr>
            <a:r>
              <a:rPr sz="4031" b="1">
                <a:solidFill>
                  <a:srgbClr val="172B4D"/>
                </a:solidFill>
                <a:latin typeface="Arial"/>
                <a:ea typeface="Arial"/>
                <a:cs typeface="Arial"/>
              </a:rPr>
              <a:t>= 108</a:t>
            </a:r>
          </a:p>
        </p:txBody>
      </p:sp>
      <p:sp>
        <p:nvSpPr>
          <p:cNvPr id="21" name="object-21">
            <a:extLst>
              <a:ext uri="{FF2B5EF4-FFF2-40B4-BE49-F238E27FC236}">
                <a16:creationId xmlns:a16="http://schemas.microsoft.com/office/drawing/2014/main" id="{D308EB94-FDF7-4586-9997-FCD5FAEE4F0C}"/>
              </a:ext>
            </a:extLst>
          </p:cNvPr>
          <p:cNvSpPr>
            <a:spLocks noGrp="1"/>
          </p:cNvSpPr>
          <p:nvPr/>
        </p:nvSpPr>
        <p:spPr>
          <a:xfrm>
            <a:off x="2024063" y="4643438"/>
            <a:ext cx="11191875" cy="714375"/>
          </a:xfrm>
          <a:prstGeom prst="rect">
            <a:avLst/>
          </a:prstGeom>
          <a:noFill/>
          <a:ln w="0">
            <a:noFill/>
          </a:ln>
        </p:spPr>
        <p:txBody>
          <a:bodyPr anchor="ctr">
            <a:noAutofit/>
          </a:bodyPr>
          <a:lstStyle/>
          <a:p>
            <a:pPr algn="ctr">
              <a:defRPr sz="2906" b="1">
                <a:solidFill>
                  <a:srgbClr val="9A5800"/>
                </a:solidFill>
                <a:latin typeface="Arial"/>
                <a:ea typeface="Arial"/>
                <a:cs typeface="Arial"/>
              </a:defRPr>
            </a:pPr>
            <a:r>
              <a:rPr sz="2906" b="1">
                <a:solidFill>
                  <a:srgbClr val="9A5800"/>
                </a:solidFill>
                <a:latin typeface="Arial"/>
                <a:ea typeface="Arial"/>
                <a:cs typeface="Arial"/>
              </a:rPr>
              <a:t>Subtract 30 on both sides</a:t>
            </a:r>
          </a:p>
        </p:txBody>
      </p:sp>
      <p:sp>
        <p:nvSpPr>
          <p:cNvPr id="22" name="object-22">
            <a:extLst>
              <a:ext uri="{FF2B5EF4-FFF2-40B4-BE49-F238E27FC236}">
                <a16:creationId xmlns:a16="http://schemas.microsoft.com/office/drawing/2014/main" id="{A391909D-5A49-4472-8E22-75DA3959EDAA}"/>
              </a:ext>
            </a:extLst>
          </p:cNvPr>
          <p:cNvSpPr>
            <a:spLocks noGrp="1"/>
          </p:cNvSpPr>
          <p:nvPr/>
        </p:nvSpPr>
        <p:spPr>
          <a:xfrm>
            <a:off x="2381250" y="5655469"/>
            <a:ext cx="10477500"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6x = 78</a:t>
            </a:r>
          </a:p>
        </p:txBody>
      </p:sp>
      <p:sp>
        <p:nvSpPr>
          <p:cNvPr id="23" name="object-23">
            <a:extLst>
              <a:ext uri="{FF2B5EF4-FFF2-40B4-BE49-F238E27FC236}">
                <a16:creationId xmlns:a16="http://schemas.microsoft.com/office/drawing/2014/main" id="{A2DDFC67-134E-4F04-8B55-22B7609BC98E}"/>
              </a:ext>
            </a:extLst>
          </p:cNvPr>
          <p:cNvSpPr>
            <a:spLocks noGrp="1"/>
          </p:cNvSpPr>
          <p:nvPr/>
        </p:nvSpPr>
        <p:spPr>
          <a:xfrm>
            <a:off x="7977188" y="6667500"/>
            <a:ext cx="4286250" cy="773906"/>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x = 13</a:t>
            </a:r>
          </a:p>
        </p:txBody>
      </p:sp>
    </p:spTree>
    <p:extLst>
      <p:ext uri="{BB962C8B-B14F-4D97-AF65-F5344CB8AC3E}">
        <p14:creationId xmlns:p14="http://schemas.microsoft.com/office/powerpoint/2010/main" val="537508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par>
                          <p:cTn id="15" fill="hold">
                            <p:stCondLst>
                              <p:cond delay="0"/>
                            </p:stCondLst>
                            <p:childTnLst>
                              <p:par>
                                <p:cTn id="16" presetID="63" presetClass="path" presetSubtype="0" accel="50000" decel="50000" fill="hold" grpId="1" nodeType="afterEffect">
                                  <p:stCondLst>
                                    <p:cond delay="0"/>
                                  </p:stCondLst>
                                  <p:childTnLst>
                                    <p:animMotion origin="layout" path="M 0 0 L -0.125 0 E" pathEditMode="relative" ptsTypes="">
                                      <p:cBhvr>
                                        <p:cTn id="17" dur="800" fill="hold"/>
                                        <p:tgtEl>
                                          <p:spTgt spid="2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2" grpId="0"/>
      <p:bldP spid="23" grpId="0"/>
      <p:bldP spid="23" grpId="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8BD53D0A-B858-4DA0-B70D-F06AD1FBF6FF}"/>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26C6564-33AF-41FD-B26E-BAB72EC8A786}"/>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DB7E0B69-BD13-40C6-AFBD-4FFE5CE8023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CDDF7638-FB6A-4BD1-9E4F-EB5D6DB2D27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E672056-01FF-4880-8402-E7E817143F5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6" name="object-6">
            <a:extLst>
              <a:ext uri="{FF2B5EF4-FFF2-40B4-BE49-F238E27FC236}">
                <a16:creationId xmlns:a16="http://schemas.microsoft.com/office/drawing/2014/main" id="{4C082CD2-E397-42B1-86D5-347BB43371D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8D9A1E0B-CC33-40E6-B778-774A3ADBD026}"/>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B1E6AE13-2416-477C-9A56-85C21FB8A29F}"/>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6 x (n + 5) = 72.</a:t>
            </a:r>
          </a:p>
        </p:txBody>
      </p:sp>
      <p:sp>
        <p:nvSpPr>
          <p:cNvPr id="9" name="object-9">
            <a:extLst>
              <a:ext uri="{FF2B5EF4-FFF2-40B4-BE49-F238E27FC236}">
                <a16:creationId xmlns:a16="http://schemas.microsoft.com/office/drawing/2014/main" id="{98854581-B76E-4B30-B6E7-E3D0914CF730}"/>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5547350F-3C42-4E36-88C5-60041E4E533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180 / (n - 2) = 30.</a:t>
            </a:r>
          </a:p>
        </p:txBody>
      </p:sp>
      <p:sp>
        <p:nvSpPr>
          <p:cNvPr id="11" name="object-11">
            <a:extLst>
              <a:ext uri="{FF2B5EF4-FFF2-40B4-BE49-F238E27FC236}">
                <a16:creationId xmlns:a16="http://schemas.microsoft.com/office/drawing/2014/main" id="{6146AFDA-5940-48D3-B457-3F735F7C6CDB}"/>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F934E720-49F4-4B84-A0DF-DE9F30C6536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Find n: 14 + n x 5 = 64.</a:t>
            </a:r>
          </a:p>
        </p:txBody>
      </p:sp>
      <p:sp>
        <p:nvSpPr>
          <p:cNvPr id="13" name="object-13">
            <a:extLst>
              <a:ext uri="{FF2B5EF4-FFF2-40B4-BE49-F238E27FC236}">
                <a16:creationId xmlns:a16="http://schemas.microsoft.com/office/drawing/2014/main" id="{A5643B73-A1C3-4E55-B784-9B7C7BEFB66D}"/>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986C9AB0-F73E-434A-AD9B-AFA30E78D170}"/>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Solve 6 x (n + 5) = 72.</a:t>
            </a:r>
          </a:p>
        </p:txBody>
      </p:sp>
      <p:sp>
        <p:nvSpPr>
          <p:cNvPr id="15" name="object-15">
            <a:extLst>
              <a:ext uri="{FF2B5EF4-FFF2-40B4-BE49-F238E27FC236}">
                <a16:creationId xmlns:a16="http://schemas.microsoft.com/office/drawing/2014/main" id="{82BFD9C6-770E-4BE9-BCAF-50740113E4F8}"/>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B7383344-B3E6-4F78-989A-AC10516548BC}"/>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Solve 180 / (n - 2) = 30.</a:t>
            </a:r>
          </a:p>
        </p:txBody>
      </p:sp>
      <p:sp>
        <p:nvSpPr>
          <p:cNvPr id="17" name="object-17">
            <a:extLst>
              <a:ext uri="{FF2B5EF4-FFF2-40B4-BE49-F238E27FC236}">
                <a16:creationId xmlns:a16="http://schemas.microsoft.com/office/drawing/2014/main" id="{B7C06774-EA3F-41A4-8FC3-05603308B553}"/>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E03F5AE5-C9BF-4F98-BB71-D5E8A41F608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Find n: 14 + n x 5 = 64.</a:t>
            </a:r>
          </a:p>
        </p:txBody>
      </p:sp>
      <p:sp>
        <p:nvSpPr>
          <p:cNvPr id="19" name="object-19">
            <a:extLst>
              <a:ext uri="{FF2B5EF4-FFF2-40B4-BE49-F238E27FC236}">
                <a16:creationId xmlns:a16="http://schemas.microsoft.com/office/drawing/2014/main" id="{2603BD93-7083-483D-A580-908B425CB67A}"/>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33F534DA-C946-4214-BE3D-3104E2BF6E9A}"/>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Create two different expressions using n = 4 that both equal 36.</a:t>
            </a:r>
          </a:p>
        </p:txBody>
      </p:sp>
      <p:sp>
        <p:nvSpPr>
          <p:cNvPr id="21" name="object-21">
            <a:extLst>
              <a:ext uri="{FF2B5EF4-FFF2-40B4-BE49-F238E27FC236}">
                <a16:creationId xmlns:a16="http://schemas.microsoft.com/office/drawing/2014/main" id="{84B9F4FF-A1D4-4AFA-BC42-46E3213FDA96}"/>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145BF294-ABBC-40CE-BD3C-B9EAA3E153A4}"/>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divides 72 by 6 but forgets to subtract the 5 inside the brackets.</a:t>
            </a:r>
          </a:p>
        </p:txBody>
      </p:sp>
      <p:sp>
        <p:nvSpPr>
          <p:cNvPr id="23" name="object-23">
            <a:extLst>
              <a:ext uri="{FF2B5EF4-FFF2-40B4-BE49-F238E27FC236}">
                <a16:creationId xmlns:a16="http://schemas.microsoft.com/office/drawing/2014/main" id="{AF74B2D9-AAD7-48A6-B196-331D33822B3A}"/>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0DBB246F-D5CB-4793-B731-0EB6FD8D228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61DE1F34-78A8-4841-B45B-5076DA80D2A9}"/>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322A9587-0273-476E-A5CA-EA798141F00C}"/>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Find n: 14 + n x 5 = 64.</a:t>
            </a:r>
          </a:p>
        </p:txBody>
      </p:sp>
    </p:spTree>
    <p:extLst>
      <p:ext uri="{BB962C8B-B14F-4D97-AF65-F5344CB8AC3E}">
        <p14:creationId xmlns:p14="http://schemas.microsoft.com/office/powerpoint/2010/main" val="944617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104B7294-224C-4F3B-87D4-E9F88624815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0AFDA344-FEDE-4F7D-AE96-2A33A33E4640}"/>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237B2430-DB02-4966-A72A-6FB4337A92E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365B4CC-384B-4597-9886-C73A6268DC6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missing-number expressions</a:t>
            </a:r>
          </a:p>
        </p:txBody>
      </p:sp>
      <p:sp>
        <p:nvSpPr>
          <p:cNvPr id="5" name="object-5">
            <a:extLst>
              <a:ext uri="{FF2B5EF4-FFF2-40B4-BE49-F238E27FC236}">
                <a16:creationId xmlns:a16="http://schemas.microsoft.com/office/drawing/2014/main" id="{D613B990-3F60-4388-9C60-07A9362B976D}"/>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631BA0F4-3A7F-47DD-A1FB-A7CF1908E80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CE7CFAEA-8319-45D5-8C84-A30FDC0C90AC}"/>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 = 7.</a:t>
            </a:r>
          </a:p>
        </p:txBody>
      </p:sp>
      <p:sp>
        <p:nvSpPr>
          <p:cNvPr id="8" name="object-8">
            <a:extLst>
              <a:ext uri="{FF2B5EF4-FFF2-40B4-BE49-F238E27FC236}">
                <a16:creationId xmlns:a16="http://schemas.microsoft.com/office/drawing/2014/main" id="{4C491B79-D2B6-428D-BF09-79B9639CE242}"/>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F190AEB9-C70F-48F6-9C31-57C766B7530B}"/>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 = 8.</a:t>
            </a:r>
          </a:p>
        </p:txBody>
      </p:sp>
      <p:sp>
        <p:nvSpPr>
          <p:cNvPr id="10" name="object-10">
            <a:extLst>
              <a:ext uri="{FF2B5EF4-FFF2-40B4-BE49-F238E27FC236}">
                <a16:creationId xmlns:a16="http://schemas.microsoft.com/office/drawing/2014/main" id="{1BC8F024-C92B-472E-A25C-161EBB225547}"/>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0A1B0984-71D7-4228-BA9D-265272DE396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 = 10.</a:t>
            </a:r>
          </a:p>
        </p:txBody>
      </p:sp>
      <p:sp>
        <p:nvSpPr>
          <p:cNvPr id="12" name="object-12">
            <a:extLst>
              <a:ext uri="{FF2B5EF4-FFF2-40B4-BE49-F238E27FC236}">
                <a16:creationId xmlns:a16="http://schemas.microsoft.com/office/drawing/2014/main" id="{64A01BF8-6732-40DB-A7C5-1D41827F8E4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028DA126-81F2-4FF7-B652-2258E5D05DC9}"/>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n = 7.</a:t>
            </a:r>
          </a:p>
        </p:txBody>
      </p:sp>
      <p:sp>
        <p:nvSpPr>
          <p:cNvPr id="14" name="object-14">
            <a:extLst>
              <a:ext uri="{FF2B5EF4-FFF2-40B4-BE49-F238E27FC236}">
                <a16:creationId xmlns:a16="http://schemas.microsoft.com/office/drawing/2014/main" id="{01033FB7-ECBF-4E2C-9A00-73F19ABC6FCB}"/>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33F0C9F7-47E4-4321-8596-F6F10CF1BF2A}"/>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n = 8. Method or representation may vary.</a:t>
            </a:r>
          </a:p>
        </p:txBody>
      </p:sp>
      <p:sp>
        <p:nvSpPr>
          <p:cNvPr id="16" name="object-16">
            <a:extLst>
              <a:ext uri="{FF2B5EF4-FFF2-40B4-BE49-F238E27FC236}">
                <a16:creationId xmlns:a16="http://schemas.microsoft.com/office/drawing/2014/main" id="{24DBCE4E-9850-4A74-9D33-1D4EFB7F2955}"/>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7DF78501-004D-4C69-A339-E47B98EFF0FF}"/>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n = 10. A valid check must be shown.</a:t>
            </a:r>
          </a:p>
        </p:txBody>
      </p:sp>
      <p:sp>
        <p:nvSpPr>
          <p:cNvPr id="18" name="object-18">
            <a:extLst>
              <a:ext uri="{FF2B5EF4-FFF2-40B4-BE49-F238E27FC236}">
                <a16:creationId xmlns:a16="http://schemas.microsoft.com/office/drawing/2014/main" id="{80BCE894-8943-409E-89EA-744F732FEAB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638F8F58-190D-4125-BE90-B512DBD0E0CA}"/>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Examples include 5 x (4 + 3) + 1 and 40 - 4.</a:t>
            </a:r>
          </a:p>
        </p:txBody>
      </p:sp>
      <p:sp>
        <p:nvSpPr>
          <p:cNvPr id="20" name="object-20">
            <a:extLst>
              <a:ext uri="{FF2B5EF4-FFF2-40B4-BE49-F238E27FC236}">
                <a16:creationId xmlns:a16="http://schemas.microsoft.com/office/drawing/2014/main" id="{55C32304-D1D1-4BEC-932B-349EDE164AF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5CD938D2-A330-4506-A031-5EE3F2CD289B}"/>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Undo the outer multiplication first, then undo the addition inside the brackets.</a:t>
            </a:r>
          </a:p>
        </p:txBody>
      </p:sp>
      <p:sp>
        <p:nvSpPr>
          <p:cNvPr id="22" name="object-22">
            <a:extLst>
              <a:ext uri="{FF2B5EF4-FFF2-40B4-BE49-F238E27FC236}">
                <a16:creationId xmlns:a16="http://schemas.microsoft.com/office/drawing/2014/main" id="{22A0F0AD-E0DE-4EBD-891F-3732428B8DA1}"/>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C0A36086-A98B-409C-BEBC-3BDD45891A4B}"/>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101B2918-A5B6-4CA9-B808-F351ADD9BDB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3284C48E-B9F8-40C9-BB4F-CD7F19070275}"/>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88056533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951</Words>
  <Application>Microsoft Office PowerPoint</Application>
  <DocSecurity>0</DocSecurity>
  <PresentationFormat>Custom</PresentationFormat>
  <Paragraphs>130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2026-09-14T13:14:18Z</dcterms:created>
  <dcterms:modified xsi:type="dcterms:W3CDTF">2026-09-14T13:18:38Z</dcterms:modified>
</cp:coreProperties>
</file>