
<file path=[Content_Types].xml><?xml version="1.0" encoding="utf-8"?>
<Types xmlns="http://schemas.openxmlformats.org/package/2006/content-types">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9"/>
  </p:notesMasterIdLst>
  <p:sldIdLst>
    <p:sldId id="256" r:id="rId2"/>
    <p:sldId id="257" r:id="rId3"/>
    <p:sldId id="258" r:id="rId4"/>
    <p:sldId id="259" r:id="rId5"/>
    <p:sldId id="260" r:id="rId6"/>
    <p:sldId id="261" r:id="rId7"/>
    <p:sldId id="262" r:id="rId8"/>
  </p:sldIdLst>
  <p:sldSz cx="15240000" cy="85725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tableStyles" Target="tableStyle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theme" Target="theme/theme1.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viewProps" Target="viewProps.xml"/><Relationship Id="rId5" Type="http://schemas.openxmlformats.org/officeDocument/2006/relationships/slide" Target="slides/slide4.xml"/><Relationship Id="rId10"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p:cNvSpPr>
            <a:spLocks noGrp="1"/>
          </p:cNvSpPr>
          <p:nvPr>
            <p:ph type="hdr" sz="quarter"/>
          </p:nvPr>
        </p:nvSpPr>
        <p:spPr>
          <a:prstGeom prst="rect">
            <a:avLst/>
          </a:prstGeom>
        </p:spPr>
        <p:txBody>
          <a:bodyPr/>
          <a:lstStyle/>
          <a:p>
            <a:endParaRPr/>
          </a:p>
        </p:txBody>
      </p:sp>
      <p:sp>
        <p:nvSpPr>
          <p:cNvPr id="3" name="Date Placeholder"/>
          <p:cNvSpPr>
            <a:spLocks noGrp="1"/>
          </p:cNvSpPr>
          <p:nvPr>
            <p:ph type="dt" sz="quarter" idx="1"/>
          </p:nvPr>
        </p:nvSpPr>
        <p:spPr>
          <a:prstGeom prst="rect">
            <a:avLst/>
          </a:prstGeom>
        </p:spPr>
        <p:txBody>
          <a:bodyPr/>
          <a:lstStyle/>
          <a:p>
            <a:endParaRPr/>
          </a:p>
        </p:txBody>
      </p:sp>
      <p:sp>
        <p:nvSpPr>
          <p:cNvPr id="4" name="Slide Image Placeholder"/>
          <p:cNvSpPr>
            <a:spLocks noGrp="1" noRot="1" noChangeAspect="1"/>
          </p:cNvSpPr>
          <p:nvPr>
            <p:ph type="sldImg" idx="2"/>
          </p:nvPr>
        </p:nvSpPr>
        <p:spPr>
          <a:prstGeom prst="rect">
            <a:avLst/>
          </a:prstGeom>
        </p:spPr>
        <p:txBody>
          <a:bodyPr/>
          <a:lstStyle/>
          <a:p>
            <a:endParaRPr/>
          </a:p>
        </p:txBody>
      </p:sp>
      <p:sp>
        <p:nvSpPr>
          <p:cNvPr id="5" name="Notes Placeholder"/>
          <p:cNvSpPr>
            <a:spLocks noGrp="1"/>
          </p:cNvSpPr>
          <p:nvPr>
            <p:ph type="body" sz="quarter" idx="3"/>
          </p:nvPr>
        </p:nvSpPr>
        <p:spPr>
          <a:prstGeom prst="rect">
            <a:avLst/>
          </a:prstGeom>
        </p:spPr>
        <p:txBody>
          <a:bodyPr/>
          <a:lstStyle/>
          <a:p>
            <a:endParaRPr/>
          </a:p>
        </p:txBody>
      </p:sp>
      <p:sp>
        <p:nvSpPr>
          <p:cNvPr id="6" name="Footer Placeholder"/>
          <p:cNvSpPr>
            <a:spLocks noGrp="1"/>
          </p:cNvSpPr>
          <p:nvPr>
            <p:ph type="ftr" sz="quarter" idx="4"/>
          </p:nvPr>
        </p:nvSpPr>
        <p:spPr>
          <a:prstGeom prst="rect">
            <a:avLst/>
          </a:prstGeom>
        </p:spPr>
        <p:txBody>
          <a:bodyPr/>
          <a:lstStyle/>
          <a:p>
            <a:endParaRPr/>
          </a:p>
        </p:txBody>
      </p:sp>
      <p:sp>
        <p:nvSpPr>
          <p:cNvPr id="7" name="Slide Number Placeholder"/>
          <p:cNvSpPr>
            <a:spLocks noGrp="1"/>
          </p:cNvSpPr>
          <p:nvPr>
            <p:ph type="sldNum" sz="quarter" idx="5"/>
          </p:nvPr>
        </p:nvSpPr>
        <p:spPr>
          <a:prstGeom prst="rect">
            <a:avLst/>
          </a:prstGeom>
        </p:spPr>
        <p:txBody>
          <a:bodyPr/>
          <a:lstStyle/>
          <a:p>
            <a:endParaRPr/>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lvl1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Use multiplication and division before addition and subtraction. Use multiplication and division before addition and subtraction. Introduce the mathematical idea using the first worked example. The lesson can be placed anywhere in the teaching sequence.</a:t>
            </a:r>
          </a:p>
          <a:p>
            <a:r>
              <a:t>All moving objects are editable. Each click advances a mathematical step. The final two slides reproduce the existing expected-level activity questions and answers.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Use multiplication and division before addition and subtraction. I do. Multiply before adding or subtracting. The multiplication result replaces the product in the expression.</a:t>
            </a:r>
          </a:p>
          <a:p>
            <a:r>
              <a:t>All moving objects are editable. Each click advances a mathematical step. The final two slides reproduce the existing expected-level activity questions and answers.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Use multiplication and division before addition and subtraction. You do. Pause before clicking. Let pupils try independently, then reveal and discuss every step. Multiply before adding or subtracting. The multiplication result replaces the product in the expression.</a:t>
            </a:r>
          </a:p>
          <a:p>
            <a:r>
              <a:t>All moving objects are editable. Each click advances a mathematical step. The final two slides reproduce the existing expected-level activity questions and answers.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Use multiplication and division before addition and subtraction. I do. Multiply before adding or subtracting. The multiplication result replaces the product in the expression.</a:t>
            </a:r>
          </a:p>
          <a:p>
            <a:r>
              <a:t>All moving objects are editable. Each click advances a mathematical step. The final two slides reproduce the existing expected-level activity questions and answers.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Use multiplication and division before addition and subtraction. You do. Pause before clicking. Let pupils try independently, then reveal and discuss every step. Multiply before adding or subtracting. The multiplication result replaces the product in the expression.</a:t>
            </a:r>
          </a:p>
          <a:p>
            <a:r>
              <a:t>All moving objects are editable. Each click advances a mathematical step. The final two slides reproduce the existing expected-level activity questions and answers.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Use multiplication and division before addition and subtraction. You do. Pause before clicking. Let pupils try independently, then reveal and discuss every step. These are the existing expected-level worksheet questions, in their original order. Do not advance to the answer slide until pupils have had time to finish.</a:t>
            </a:r>
          </a:p>
          <a:p>
            <a:r>
              <a:t>All moving objects are editable. Each click advances a mathematical step. The final two slides reproduce the existing expected-level activity questions and answers.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Use multiplication and division before addition and subtraction. Answers. Answers to the preceding complete activity question set, in matching order. Accept mathematically valid alternatives for open questions.</a:t>
            </a:r>
          </a:p>
          <a:p>
            <a:r>
              <a:t>All moving objects are editable. Each click advances a mathematical step. The final two slides reproduce the existing expected-level activity questions and answers.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cSld name="Title Slide">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Master">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txStyles>
    <p:titleStyle>
      <a:lvl1pPr algn="l">
        <a:lnSpc>
          <a:spcPct val="90000"/>
        </a:lnSpc>
        <a:spcBef>
          <a:spcPts val="0"/>
        </a:spcBef>
        <a:buNone/>
        <a:defRPr sz="4400">
          <a:solidFill>
            <a:schemeClr val="tx1"/>
          </a:solidFill>
          <a:latin typeface="+mj-lt"/>
          <a:ea typeface="+mj-lt"/>
          <a:cs typeface="+mj-lt"/>
        </a:defRPr>
      </a:lvl1pPr>
    </p:titleStyle>
    <p:bodyStyle>
      <a:lvl1pPr marL="228600" indent="-228600" algn="l">
        <a:lnSpc>
          <a:spcPct val="90000"/>
        </a:lnSpc>
        <a:spcBef>
          <a:spcPts val="1000"/>
        </a:spcBef>
        <a:buChar char="•"/>
        <a:defRPr sz="2800">
          <a:solidFill>
            <a:schemeClr val="tx1"/>
          </a:solidFill>
          <a:latin typeface="+mn-lt"/>
          <a:ea typeface="+mn-lt"/>
          <a:cs typeface="+mn-lt"/>
        </a:defRPr>
      </a:lvl1pPr>
      <a:lvl2pPr marL="685800" indent="-228600" algn="l">
        <a:lnSpc>
          <a:spcPct val="90000"/>
        </a:lnSpc>
        <a:spcBef>
          <a:spcPts val="500"/>
        </a:spcBef>
        <a:buChar char="•"/>
        <a:defRPr sz="2400">
          <a:solidFill>
            <a:schemeClr val="tx1"/>
          </a:solidFill>
          <a:latin typeface="+mn-lt"/>
          <a:ea typeface="+mn-lt"/>
          <a:cs typeface="+mn-lt"/>
        </a:defRPr>
      </a:lvl2pPr>
      <a:lvl3pPr marL="1143000" indent="-228600" algn="l">
        <a:lnSpc>
          <a:spcPct val="90000"/>
        </a:lnSpc>
        <a:spcBef>
          <a:spcPts val="500"/>
        </a:spcBef>
        <a:buChar char="•"/>
        <a:defRPr sz="2000">
          <a:solidFill>
            <a:schemeClr val="tx1"/>
          </a:solidFill>
          <a:latin typeface="+mn-lt"/>
          <a:ea typeface="+mn-lt"/>
          <a:cs typeface="+mn-lt"/>
        </a:defRPr>
      </a:lvl3pPr>
      <a:lvl4pPr marL="1600200" indent="-228600" algn="l">
        <a:lnSpc>
          <a:spcPct val="90000"/>
        </a:lnSpc>
        <a:spcBef>
          <a:spcPts val="500"/>
        </a:spcBef>
        <a:buChar char="•"/>
        <a:defRPr sz="1800">
          <a:solidFill>
            <a:schemeClr val="tx1"/>
          </a:solidFill>
          <a:latin typeface="+mn-lt"/>
          <a:ea typeface="+mn-lt"/>
          <a:cs typeface="+mn-lt"/>
        </a:defRPr>
      </a:lvl4pPr>
      <a:lvl5pPr marL="2057400" indent="-228600" algn="l">
        <a:lnSpc>
          <a:spcPct val="90000"/>
        </a:lnSpc>
        <a:spcBef>
          <a:spcPts val="500"/>
        </a:spcBef>
        <a:buChar char="•"/>
        <a:defRPr sz="1800">
          <a:solidFill>
            <a:schemeClr val="tx1"/>
          </a:solidFill>
          <a:latin typeface="+mn-lt"/>
          <a:ea typeface="+mn-lt"/>
          <a:cs typeface="+mn-lt"/>
        </a:defRPr>
      </a:lvl5pPr>
      <a:lvl6pPr marL="2514600" indent="-228600" algn="l">
        <a:lnSpc>
          <a:spcPct val="90000"/>
        </a:lnSpc>
        <a:spcBef>
          <a:spcPts val="500"/>
        </a:spcBef>
        <a:buChar char="•"/>
        <a:defRPr sz="1800">
          <a:solidFill>
            <a:schemeClr val="tx1"/>
          </a:solidFill>
          <a:latin typeface="+mn-lt"/>
          <a:ea typeface="+mn-lt"/>
          <a:cs typeface="+mn-lt"/>
        </a:defRPr>
      </a:lvl6pPr>
      <a:lvl7pPr marL="2971800" indent="-228600" algn="l">
        <a:lnSpc>
          <a:spcPct val="90000"/>
        </a:lnSpc>
        <a:spcBef>
          <a:spcPts val="500"/>
        </a:spcBef>
        <a:buChar char="•"/>
        <a:defRPr sz="1800">
          <a:solidFill>
            <a:schemeClr val="tx1"/>
          </a:solidFill>
          <a:latin typeface="+mn-lt"/>
          <a:ea typeface="+mn-lt"/>
          <a:cs typeface="+mn-lt"/>
        </a:defRPr>
      </a:lvl7pPr>
      <a:lvl8pPr marL="3429000" indent="-228600" algn="l">
        <a:lnSpc>
          <a:spcPct val="90000"/>
        </a:lnSpc>
        <a:spcBef>
          <a:spcPts val="500"/>
        </a:spcBef>
        <a:buChar char="•"/>
        <a:defRPr sz="1800">
          <a:solidFill>
            <a:schemeClr val="tx1"/>
          </a:solidFill>
          <a:latin typeface="+mn-lt"/>
          <a:ea typeface="+mn-lt"/>
          <a:cs typeface="+mn-lt"/>
        </a:defRPr>
      </a:lvl8pPr>
      <a:lvl9pPr marL="3886200" indent="-228600" algn="l">
        <a:lnSpc>
          <a:spcPct val="90000"/>
        </a:lnSpc>
        <a:spcBef>
          <a:spcPts val="500"/>
        </a:spcBef>
        <a:buChar char="•"/>
        <a:defRPr sz="1800">
          <a:solidFill>
            <a:schemeClr val="tx1"/>
          </a:solidFill>
          <a:latin typeface="+mn-lt"/>
          <a:ea typeface="+mn-lt"/>
          <a:cs typeface="+mn-lt"/>
        </a:defRPr>
      </a:lvl9pPr>
    </p:bodyStyle>
    <p:otherStyle>
      <a:lvl1pPr marL="0" algn="l">
        <a:buNone/>
        <a:defRPr sz="1800">
          <a:solidFill>
            <a:schemeClr val="tx1"/>
          </a:solidFill>
          <a:latin typeface="+mn-lt"/>
          <a:ea typeface="+mn-lt"/>
          <a:cs typeface="+mn-lt"/>
        </a:defRPr>
      </a:lvl1pPr>
      <a:lvl2pPr marL="457200" algn="l">
        <a:buNone/>
        <a:defRPr sz="1800">
          <a:solidFill>
            <a:schemeClr val="tx1"/>
          </a:solidFill>
          <a:latin typeface="+mn-lt"/>
          <a:ea typeface="+mn-lt"/>
          <a:cs typeface="+mn-lt"/>
        </a:defRPr>
      </a:lvl2pPr>
      <a:lvl3pPr marL="914400" algn="l">
        <a:buNone/>
        <a:defRPr sz="1800">
          <a:solidFill>
            <a:schemeClr val="tx1"/>
          </a:solidFill>
          <a:latin typeface="+mn-lt"/>
          <a:ea typeface="+mn-lt"/>
          <a:cs typeface="+mn-lt"/>
        </a:defRPr>
      </a:lvl3pPr>
      <a:lvl4pPr marL="1371600" algn="l">
        <a:buNone/>
        <a:defRPr sz="1800">
          <a:solidFill>
            <a:schemeClr val="tx1"/>
          </a:solidFill>
          <a:latin typeface="+mn-lt"/>
          <a:ea typeface="+mn-lt"/>
          <a:cs typeface="+mn-lt"/>
        </a:defRPr>
      </a:lvl4pPr>
      <a:lvl5pPr marL="1828800" algn="l">
        <a:buNone/>
        <a:defRPr sz="1800">
          <a:solidFill>
            <a:schemeClr val="tx1"/>
          </a:solidFill>
          <a:latin typeface="+mn-lt"/>
          <a:ea typeface="+mn-lt"/>
          <a:cs typeface="+mn-lt"/>
        </a:defRPr>
      </a:lvl5pPr>
      <a:lvl6pPr marL="2286000" algn="l">
        <a:buNone/>
        <a:defRPr sz="1800">
          <a:solidFill>
            <a:schemeClr val="tx1"/>
          </a:solidFill>
          <a:latin typeface="+mn-lt"/>
          <a:ea typeface="+mn-lt"/>
          <a:cs typeface="+mn-lt"/>
        </a:defRPr>
      </a:lvl6pPr>
      <a:lvl7pPr marL="2743200" algn="l">
        <a:buNone/>
        <a:defRPr sz="1800">
          <a:solidFill>
            <a:schemeClr val="tx1"/>
          </a:solidFill>
          <a:latin typeface="+mn-lt"/>
          <a:ea typeface="+mn-lt"/>
          <a:cs typeface="+mn-lt"/>
        </a:defRPr>
      </a:lvl7pPr>
      <a:lvl8pPr marL="3200400" algn="l">
        <a:buNone/>
        <a:defRPr sz="1800">
          <a:solidFill>
            <a:schemeClr val="tx1"/>
          </a:solidFill>
          <a:latin typeface="+mn-lt"/>
          <a:ea typeface="+mn-lt"/>
          <a:cs typeface="+mn-lt"/>
        </a:defRPr>
      </a:lvl8pPr>
      <a:lvl9pPr marL="3657600" algn="l">
        <a:buNone/>
        <a:defRPr sz="1800">
          <a:solidFill>
            <a:schemeClr val="tx1"/>
          </a:solidFill>
          <a:latin typeface="+mn-lt"/>
          <a:ea typeface="+mn-lt"/>
          <a:cs typeface="+mn-lt"/>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7" name="object-1">
            <a:extLst>
              <a:ext uri="{FF2B5EF4-FFF2-40B4-BE49-F238E27FC236}">
                <a16:creationId xmlns:a16="http://schemas.microsoft.com/office/drawing/2014/main" id="{0C93DD26-154D-4B6A-AD95-B55D3D463A09}"/>
              </a:ext>
            </a:extLst>
          </p:cNvPr>
          <p:cNvSpPr>
            <a:spLocks noGrp="1"/>
          </p:cNvSpPr>
          <p:nvPr/>
        </p:nvSpPr>
        <p:spPr>
          <a:xfrm>
            <a:off x="654844" y="357188"/>
            <a:ext cx="13930313" cy="1547813"/>
          </a:xfrm>
          <a:prstGeom prst="rect">
            <a:avLst/>
          </a:prstGeom>
          <a:noFill/>
          <a:ln w="0">
            <a:noFill/>
          </a:ln>
        </p:spPr>
        <p:txBody>
          <a:bodyPr anchor="ctr">
            <a:noAutofit/>
          </a:bodyPr>
          <a:lstStyle/>
          <a:p>
            <a:pPr algn="l">
              <a:defRPr sz="3281" b="1">
                <a:solidFill>
                  <a:srgbClr val="1D4ED8"/>
                </a:solidFill>
                <a:latin typeface="Arial"/>
                <a:ea typeface="Arial"/>
                <a:cs typeface="Arial"/>
              </a:defRPr>
            </a:pPr>
            <a:r>
              <a:rPr sz="3281" b="1">
                <a:solidFill>
                  <a:srgbClr val="1D4ED8"/>
                </a:solidFill>
                <a:latin typeface="Arial"/>
                <a:ea typeface="Arial"/>
                <a:cs typeface="Arial"/>
              </a:rPr>
              <a:t>Use multiplication and division before addition and subtraction</a:t>
            </a:r>
          </a:p>
        </p:txBody>
      </p:sp>
      <p:sp>
        <p:nvSpPr>
          <p:cNvPr id="2" name="object-2">
            <a:extLst>
              <a:ext uri="{FF2B5EF4-FFF2-40B4-BE49-F238E27FC236}">
                <a16:creationId xmlns:a16="http://schemas.microsoft.com/office/drawing/2014/main" id="{2138D459-E92A-4389-8CEE-A8F3BA01625A}"/>
              </a:ext>
            </a:extLst>
          </p:cNvPr>
          <p:cNvSpPr>
            <a:spLocks noGrp="1"/>
          </p:cNvSpPr>
          <p:nvPr/>
        </p:nvSpPr>
        <p:spPr>
          <a:xfrm>
            <a:off x="654844" y="2024063"/>
            <a:ext cx="13930313" cy="1012031"/>
          </a:xfrm>
          <a:prstGeom prst="rect">
            <a:avLst/>
          </a:prstGeom>
          <a:noFill/>
          <a:ln w="0">
            <a:noFill/>
          </a:ln>
        </p:spPr>
        <p:txBody>
          <a:bodyPr anchor="ctr">
            <a:noAutofit/>
          </a:bodyPr>
          <a:lstStyle/>
          <a:p>
            <a:pPr algn="l">
              <a:defRPr sz="2625" b="1">
                <a:solidFill>
                  <a:srgbClr val="172B4D"/>
                </a:solidFill>
                <a:latin typeface="Arial"/>
                <a:ea typeface="Arial"/>
                <a:cs typeface="Arial"/>
              </a:defRPr>
            </a:pPr>
            <a:r>
              <a:rPr sz="2625" b="1">
                <a:solidFill>
                  <a:srgbClr val="172B4D"/>
                </a:solidFill>
                <a:latin typeface="Arial"/>
                <a:ea typeface="Arial"/>
                <a:cs typeface="Arial"/>
              </a:rPr>
              <a:t>Watch the model. Try the next question. Explain what changes.</a:t>
            </a:r>
          </a:p>
        </p:txBody>
      </p:sp>
      <p:sp>
        <p:nvSpPr>
          <p:cNvPr id="3" name="object-3">
            <a:extLst>
              <a:ext uri="{FF2B5EF4-FFF2-40B4-BE49-F238E27FC236}">
                <a16:creationId xmlns:a16="http://schemas.microsoft.com/office/drawing/2014/main" id="{F3B33E59-6F0C-4EF7-8F00-962B9D1587CF}"/>
              </a:ext>
            </a:extLst>
          </p:cNvPr>
          <p:cNvSpPr>
            <a:spLocks noGrp="1"/>
          </p:cNvSpPr>
          <p:nvPr/>
        </p:nvSpPr>
        <p:spPr>
          <a:xfrm>
            <a:off x="654844" y="8012906"/>
            <a:ext cx="13930313" cy="11906"/>
          </a:xfrm>
          <a:prstGeom prst="rect">
            <a:avLst/>
          </a:prstGeom>
          <a:solidFill>
            <a:srgbClr val="BCD0EA"/>
          </a:solidFill>
          <a:ln w="0">
            <a:noFill/>
          </a:ln>
        </p:spPr>
      </p:sp>
      <p:sp>
        <p:nvSpPr>
          <p:cNvPr id="4" name="object-4">
            <a:extLst>
              <a:ext uri="{FF2B5EF4-FFF2-40B4-BE49-F238E27FC236}">
                <a16:creationId xmlns:a16="http://schemas.microsoft.com/office/drawing/2014/main" id="{CA61BDEE-0EF6-4C51-A756-4CF9B1270440}"/>
              </a:ext>
            </a:extLst>
          </p:cNvPr>
          <p:cNvSpPr>
            <a:spLocks noGrp="1"/>
          </p:cNvSpPr>
          <p:nvPr/>
        </p:nvSpPr>
        <p:spPr>
          <a:xfrm>
            <a:off x="654844" y="8120063"/>
            <a:ext cx="12977813" cy="285750"/>
          </a:xfrm>
          <a:prstGeom prst="rect">
            <a:avLst/>
          </a:prstGeom>
          <a:noFill/>
          <a:ln w="0">
            <a:noFill/>
          </a:ln>
        </p:spPr>
        <p:txBody>
          <a:bodyPr anchor="ctr">
            <a:noAutofit/>
          </a:bodyPr>
          <a:lstStyle/>
          <a:p>
            <a:pPr algn="l">
              <a:defRPr sz="1219" b="0">
                <a:solidFill>
                  <a:srgbClr val="52647A"/>
                </a:solidFill>
                <a:latin typeface="Arial"/>
                <a:ea typeface="Arial"/>
                <a:cs typeface="Arial"/>
              </a:defRPr>
            </a:pPr>
            <a:r>
              <a:rPr sz="1219" b="0">
                <a:solidFill>
                  <a:srgbClr val="52647A"/>
                </a:solidFill>
                <a:latin typeface="Arial"/>
                <a:ea typeface="Arial"/>
                <a:cs typeface="Arial"/>
              </a:rPr>
              <a:t>BrightPath · Use multiplication and division before addition and subtraction</a:t>
            </a:r>
          </a:p>
        </p:txBody>
      </p:sp>
      <p:sp>
        <p:nvSpPr>
          <p:cNvPr id="5" name="object-5">
            <a:extLst>
              <a:ext uri="{FF2B5EF4-FFF2-40B4-BE49-F238E27FC236}">
                <a16:creationId xmlns:a16="http://schemas.microsoft.com/office/drawing/2014/main" id="{4B6A2102-7ABE-4706-A2F0-5117BCC91798}"/>
              </a:ext>
            </a:extLst>
          </p:cNvPr>
          <p:cNvSpPr>
            <a:spLocks noGrp="1"/>
          </p:cNvSpPr>
          <p:nvPr/>
        </p:nvSpPr>
        <p:spPr>
          <a:xfrm>
            <a:off x="13811250" y="8120063"/>
            <a:ext cx="773906" cy="285750"/>
          </a:xfrm>
          <a:prstGeom prst="rect">
            <a:avLst/>
          </a:prstGeom>
          <a:noFill/>
          <a:ln w="0">
            <a:noFill/>
          </a:ln>
        </p:spPr>
        <p:txBody>
          <a:bodyPr anchor="ctr">
            <a:noAutofit/>
          </a:bodyPr>
          <a:lstStyle/>
          <a:p>
            <a:pPr algn="r">
              <a:defRPr sz="1219" b="0">
                <a:solidFill>
                  <a:srgbClr val="52647A"/>
                </a:solidFill>
                <a:latin typeface="Arial"/>
                <a:ea typeface="Arial"/>
                <a:cs typeface="Arial"/>
              </a:defRPr>
            </a:pPr>
            <a:r>
              <a:rPr sz="1219" b="0">
                <a:solidFill>
                  <a:srgbClr val="52647A"/>
                </a:solidFill>
                <a:latin typeface="Arial"/>
                <a:ea typeface="Arial"/>
                <a:cs typeface="Arial"/>
              </a:rPr>
              <a:t>1</a:t>
            </a:r>
          </a:p>
        </p:txBody>
      </p:sp>
      <p:sp>
        <p:nvSpPr>
          <p:cNvPr id="6" name="object-6">
            <a:extLst>
              <a:ext uri="{FF2B5EF4-FFF2-40B4-BE49-F238E27FC236}">
                <a16:creationId xmlns:a16="http://schemas.microsoft.com/office/drawing/2014/main" id="{D9E5CCEB-C4C2-4D98-929B-0740A299D646}"/>
              </a:ext>
            </a:extLst>
          </p:cNvPr>
          <p:cNvSpPr>
            <a:spLocks noGrp="1"/>
          </p:cNvSpPr>
          <p:nvPr/>
        </p:nvSpPr>
        <p:spPr>
          <a:xfrm>
            <a:off x="1190625" y="3631406"/>
            <a:ext cx="12858750" cy="2143125"/>
          </a:xfrm>
          <a:prstGeom prst="rect">
            <a:avLst/>
          </a:prstGeom>
          <a:noFill/>
          <a:ln w="0">
            <a:noFill/>
          </a:ln>
        </p:spPr>
        <p:txBody>
          <a:bodyPr anchor="ctr">
            <a:noAutofit/>
          </a:bodyPr>
          <a:lstStyle/>
          <a:p>
            <a:pPr algn="ctr">
              <a:defRPr sz="3375" b="1">
                <a:solidFill>
                  <a:srgbClr val="1D4ED8"/>
                </a:solidFill>
                <a:latin typeface="Arial"/>
                <a:ea typeface="Arial"/>
                <a:cs typeface="Arial"/>
              </a:defRPr>
            </a:pPr>
            <a:r>
              <a:rPr sz="3375" b="1">
                <a:solidFill>
                  <a:srgbClr val="1D4ED8"/>
                </a:solidFill>
                <a:latin typeface="Arial"/>
                <a:ea typeface="Arial"/>
                <a:cs typeface="Arial"/>
              </a:rPr>
              <a:t>To apply the order of operations without brackets.</a:t>
            </a:r>
          </a:p>
        </p:txBody>
      </p:sp>
    </p:spTree>
    <p:extLst>
      <p:ext uri="{BB962C8B-B14F-4D97-AF65-F5344CB8AC3E}">
        <p14:creationId xmlns:p14="http://schemas.microsoft.com/office/powerpoint/2010/main" val="39768347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 name="object-1">
            <a:extLst>
              <a:ext uri="{FF2B5EF4-FFF2-40B4-BE49-F238E27FC236}">
                <a16:creationId xmlns:a16="http://schemas.microsoft.com/office/drawing/2014/main" id="{609DE630-1D25-44A4-BF7D-5A8C7EE47254}"/>
              </a:ext>
            </a:extLst>
          </p:cNvPr>
          <p:cNvSpPr>
            <a:spLocks noGrp="1"/>
          </p:cNvSpPr>
          <p:nvPr/>
        </p:nvSpPr>
        <p:spPr>
          <a:xfrm>
            <a:off x="654844" y="357188"/>
            <a:ext cx="13930313" cy="714375"/>
          </a:xfrm>
          <a:prstGeom prst="rect">
            <a:avLst/>
          </a:prstGeom>
          <a:noFill/>
          <a:ln w="0">
            <a:noFill/>
          </a:ln>
        </p:spPr>
        <p:txBody>
          <a:bodyPr anchor="ctr">
            <a:noAutofit/>
          </a:bodyPr>
          <a:lstStyle/>
          <a:p>
            <a:pPr algn="l">
              <a:defRPr sz="4125" b="1">
                <a:solidFill>
                  <a:srgbClr val="1D4ED8"/>
                </a:solidFill>
                <a:latin typeface="Arial"/>
                <a:ea typeface="Arial"/>
                <a:cs typeface="Arial"/>
              </a:defRPr>
            </a:pPr>
            <a:r>
              <a:rPr sz="4125" b="1">
                <a:solidFill>
                  <a:srgbClr val="1D4ED8"/>
                </a:solidFill>
                <a:latin typeface="Arial"/>
                <a:ea typeface="Arial"/>
                <a:cs typeface="Arial"/>
              </a:rPr>
              <a:t>I do</a:t>
            </a:r>
          </a:p>
        </p:txBody>
      </p:sp>
      <p:sp>
        <p:nvSpPr>
          <p:cNvPr id="2" name="object-2">
            <a:extLst>
              <a:ext uri="{FF2B5EF4-FFF2-40B4-BE49-F238E27FC236}">
                <a16:creationId xmlns:a16="http://schemas.microsoft.com/office/drawing/2014/main" id="{CF133ED6-238B-4122-B2C3-425EA43F8C46}"/>
              </a:ext>
            </a:extLst>
          </p:cNvPr>
          <p:cNvSpPr>
            <a:spLocks noGrp="1"/>
          </p:cNvSpPr>
          <p:nvPr/>
        </p:nvSpPr>
        <p:spPr>
          <a:xfrm>
            <a:off x="654844" y="1250156"/>
            <a:ext cx="13930313" cy="1190625"/>
          </a:xfrm>
          <a:prstGeom prst="rect">
            <a:avLst/>
          </a:prstGeom>
          <a:noFill/>
          <a:ln w="0">
            <a:noFill/>
          </a:ln>
        </p:spPr>
        <p:txBody>
          <a:bodyPr anchor="ctr">
            <a:noAutofit/>
          </a:bodyPr>
          <a:lstStyle/>
          <a:p>
            <a:pPr algn="l">
              <a:defRPr sz="2625" b="1">
                <a:solidFill>
                  <a:srgbClr val="172B4D"/>
                </a:solidFill>
                <a:latin typeface="Arial"/>
                <a:ea typeface="Arial"/>
                <a:cs typeface="Arial"/>
              </a:defRPr>
            </a:pPr>
            <a:r>
              <a:rPr sz="2625" b="1">
                <a:solidFill>
                  <a:srgbClr val="172B4D"/>
                </a:solidFill>
                <a:latin typeface="Arial"/>
                <a:ea typeface="Arial"/>
                <a:cs typeface="Arial"/>
              </a:rPr>
              <a:t>Calculate 18 + 6 × 7.</a:t>
            </a:r>
          </a:p>
        </p:txBody>
      </p:sp>
      <p:sp>
        <p:nvSpPr>
          <p:cNvPr id="3" name="object-3">
            <a:extLst>
              <a:ext uri="{FF2B5EF4-FFF2-40B4-BE49-F238E27FC236}">
                <a16:creationId xmlns:a16="http://schemas.microsoft.com/office/drawing/2014/main" id="{5CB17AF7-CE66-491C-B31B-8EB7337C81F4}"/>
              </a:ext>
            </a:extLst>
          </p:cNvPr>
          <p:cNvSpPr>
            <a:spLocks noGrp="1"/>
          </p:cNvSpPr>
          <p:nvPr/>
        </p:nvSpPr>
        <p:spPr>
          <a:xfrm>
            <a:off x="654844" y="8012906"/>
            <a:ext cx="13930313" cy="11906"/>
          </a:xfrm>
          <a:prstGeom prst="rect">
            <a:avLst/>
          </a:prstGeom>
          <a:solidFill>
            <a:srgbClr val="BCD0EA"/>
          </a:solidFill>
          <a:ln w="0">
            <a:noFill/>
          </a:ln>
        </p:spPr>
      </p:sp>
      <p:sp>
        <p:nvSpPr>
          <p:cNvPr id="4" name="object-4">
            <a:extLst>
              <a:ext uri="{FF2B5EF4-FFF2-40B4-BE49-F238E27FC236}">
                <a16:creationId xmlns:a16="http://schemas.microsoft.com/office/drawing/2014/main" id="{DE2619F8-3F8C-4FBE-9E71-FD89F22D3D3E}"/>
              </a:ext>
            </a:extLst>
          </p:cNvPr>
          <p:cNvSpPr>
            <a:spLocks noGrp="1"/>
          </p:cNvSpPr>
          <p:nvPr/>
        </p:nvSpPr>
        <p:spPr>
          <a:xfrm>
            <a:off x="654844" y="8120063"/>
            <a:ext cx="12977813" cy="285750"/>
          </a:xfrm>
          <a:prstGeom prst="rect">
            <a:avLst/>
          </a:prstGeom>
          <a:noFill/>
          <a:ln w="0">
            <a:noFill/>
          </a:ln>
        </p:spPr>
        <p:txBody>
          <a:bodyPr anchor="ctr">
            <a:noAutofit/>
          </a:bodyPr>
          <a:lstStyle/>
          <a:p>
            <a:pPr algn="l">
              <a:defRPr sz="1219" b="0">
                <a:solidFill>
                  <a:srgbClr val="52647A"/>
                </a:solidFill>
                <a:latin typeface="Arial"/>
                <a:ea typeface="Arial"/>
                <a:cs typeface="Arial"/>
              </a:defRPr>
            </a:pPr>
            <a:r>
              <a:rPr sz="1219" b="0">
                <a:solidFill>
                  <a:srgbClr val="52647A"/>
                </a:solidFill>
                <a:latin typeface="Arial"/>
                <a:ea typeface="Arial"/>
                <a:cs typeface="Arial"/>
              </a:rPr>
              <a:t>BrightPath · Use multiplication and division before addition and subtraction</a:t>
            </a:r>
          </a:p>
        </p:txBody>
      </p:sp>
      <p:sp>
        <p:nvSpPr>
          <p:cNvPr id="5" name="object-5">
            <a:extLst>
              <a:ext uri="{FF2B5EF4-FFF2-40B4-BE49-F238E27FC236}">
                <a16:creationId xmlns:a16="http://schemas.microsoft.com/office/drawing/2014/main" id="{E1A8F832-52FF-4695-9B18-613325B64256}"/>
              </a:ext>
            </a:extLst>
          </p:cNvPr>
          <p:cNvSpPr>
            <a:spLocks noGrp="1"/>
          </p:cNvSpPr>
          <p:nvPr/>
        </p:nvSpPr>
        <p:spPr>
          <a:xfrm>
            <a:off x="13811250" y="8120063"/>
            <a:ext cx="773906" cy="285750"/>
          </a:xfrm>
          <a:prstGeom prst="rect">
            <a:avLst/>
          </a:prstGeom>
          <a:noFill/>
          <a:ln w="0">
            <a:noFill/>
          </a:ln>
        </p:spPr>
        <p:txBody>
          <a:bodyPr anchor="ctr">
            <a:noAutofit/>
          </a:bodyPr>
          <a:lstStyle/>
          <a:p>
            <a:pPr algn="r">
              <a:defRPr sz="1219" b="0">
                <a:solidFill>
                  <a:srgbClr val="52647A"/>
                </a:solidFill>
                <a:latin typeface="Arial"/>
                <a:ea typeface="Arial"/>
                <a:cs typeface="Arial"/>
              </a:defRPr>
            </a:pPr>
            <a:r>
              <a:rPr sz="1219" b="0">
                <a:solidFill>
                  <a:srgbClr val="52647A"/>
                </a:solidFill>
                <a:latin typeface="Arial"/>
                <a:ea typeface="Arial"/>
                <a:cs typeface="Arial"/>
              </a:rPr>
              <a:t>2</a:t>
            </a:r>
          </a:p>
        </p:txBody>
      </p:sp>
      <p:sp>
        <p:nvSpPr>
          <p:cNvPr id="6" name="object-6">
            <a:extLst>
              <a:ext uri="{FF2B5EF4-FFF2-40B4-BE49-F238E27FC236}">
                <a16:creationId xmlns:a16="http://schemas.microsoft.com/office/drawing/2014/main" id="{36FB1A34-4EE3-47B1-A6FF-17033D58C759}"/>
              </a:ext>
            </a:extLst>
          </p:cNvPr>
          <p:cNvSpPr>
            <a:spLocks noGrp="1"/>
          </p:cNvSpPr>
          <p:nvPr/>
        </p:nvSpPr>
        <p:spPr>
          <a:xfrm>
            <a:off x="1012031" y="2714625"/>
            <a:ext cx="8572500" cy="797719"/>
          </a:xfrm>
          <a:prstGeom prst="rect">
            <a:avLst/>
          </a:prstGeom>
          <a:noFill/>
          <a:ln w="0">
            <a:noFill/>
          </a:ln>
        </p:spPr>
        <p:txBody>
          <a:bodyPr anchor="ctr">
            <a:noAutofit/>
          </a:bodyPr>
          <a:lstStyle/>
          <a:p>
            <a:pPr algn="l">
              <a:defRPr sz="3188" b="1">
                <a:solidFill>
                  <a:srgbClr val="172B4D"/>
                </a:solidFill>
                <a:latin typeface="Arial"/>
                <a:ea typeface="Arial"/>
                <a:cs typeface="Arial"/>
              </a:defRPr>
            </a:pPr>
            <a:r>
              <a:rPr sz="3188" b="1">
                <a:solidFill>
                  <a:srgbClr val="172B4D"/>
                </a:solidFill>
                <a:latin typeface="Arial"/>
                <a:ea typeface="Arial"/>
                <a:cs typeface="Arial"/>
              </a:rPr>
              <a:t>6 × 7 =</a:t>
            </a:r>
          </a:p>
        </p:txBody>
      </p:sp>
      <p:sp>
        <p:nvSpPr>
          <p:cNvPr id="7" name="object-7">
            <a:extLst>
              <a:ext uri="{FF2B5EF4-FFF2-40B4-BE49-F238E27FC236}">
                <a16:creationId xmlns:a16="http://schemas.microsoft.com/office/drawing/2014/main" id="{542D8D67-A35D-4478-8160-FD20E222E236}"/>
              </a:ext>
            </a:extLst>
          </p:cNvPr>
          <p:cNvSpPr>
            <a:spLocks noGrp="1"/>
          </p:cNvSpPr>
          <p:nvPr/>
        </p:nvSpPr>
        <p:spPr>
          <a:xfrm>
            <a:off x="9346406" y="2714625"/>
            <a:ext cx="3810000" cy="797719"/>
          </a:xfrm>
          <a:prstGeom prst="rect">
            <a:avLst/>
          </a:prstGeom>
          <a:noFill/>
          <a:ln w="0">
            <a:noFill/>
          </a:ln>
        </p:spPr>
        <p:txBody>
          <a:bodyPr anchor="ctr">
            <a:noAutofit/>
          </a:bodyPr>
          <a:lstStyle/>
          <a:p>
            <a:pPr algn="ctr">
              <a:defRPr sz="3750" b="1">
                <a:solidFill>
                  <a:srgbClr val="11745A"/>
                </a:solidFill>
                <a:latin typeface="Arial"/>
                <a:ea typeface="Arial"/>
                <a:cs typeface="Arial"/>
              </a:defRPr>
            </a:pPr>
            <a:r>
              <a:rPr sz="3750" b="1">
                <a:solidFill>
                  <a:srgbClr val="11745A"/>
                </a:solidFill>
                <a:latin typeface="Arial"/>
                <a:ea typeface="Arial"/>
                <a:cs typeface="Arial"/>
              </a:rPr>
              <a:t>42</a:t>
            </a:r>
          </a:p>
        </p:txBody>
      </p:sp>
      <p:sp>
        <p:nvSpPr>
          <p:cNvPr id="8" name="object-8">
            <a:extLst>
              <a:ext uri="{FF2B5EF4-FFF2-40B4-BE49-F238E27FC236}">
                <a16:creationId xmlns:a16="http://schemas.microsoft.com/office/drawing/2014/main" id="{78EF03F9-61B9-4FD0-809E-279DFC01A64C}"/>
              </a:ext>
            </a:extLst>
          </p:cNvPr>
          <p:cNvSpPr>
            <a:spLocks noGrp="1"/>
          </p:cNvSpPr>
          <p:nvPr/>
        </p:nvSpPr>
        <p:spPr>
          <a:xfrm>
            <a:off x="1012031" y="4064000"/>
            <a:ext cx="8572500" cy="797719"/>
          </a:xfrm>
          <a:prstGeom prst="rect">
            <a:avLst/>
          </a:prstGeom>
          <a:noFill/>
          <a:ln w="0">
            <a:noFill/>
          </a:ln>
        </p:spPr>
        <p:txBody>
          <a:bodyPr anchor="ctr">
            <a:noAutofit/>
          </a:bodyPr>
          <a:lstStyle/>
          <a:p>
            <a:pPr algn="l">
              <a:defRPr sz="3188" b="1">
                <a:solidFill>
                  <a:srgbClr val="172B4D"/>
                </a:solidFill>
                <a:latin typeface="Arial"/>
                <a:ea typeface="Arial"/>
                <a:cs typeface="Arial"/>
              </a:defRPr>
            </a:pPr>
            <a:r>
              <a:rPr sz="3188" b="1">
                <a:solidFill>
                  <a:srgbClr val="172B4D"/>
                </a:solidFill>
                <a:latin typeface="Arial"/>
                <a:ea typeface="Arial"/>
                <a:cs typeface="Arial"/>
              </a:rPr>
              <a:t>18 + 42 =</a:t>
            </a:r>
          </a:p>
        </p:txBody>
      </p:sp>
      <p:sp>
        <p:nvSpPr>
          <p:cNvPr id="9" name="object-9">
            <a:extLst>
              <a:ext uri="{FF2B5EF4-FFF2-40B4-BE49-F238E27FC236}">
                <a16:creationId xmlns:a16="http://schemas.microsoft.com/office/drawing/2014/main" id="{89656D8E-4E2F-467A-9BE2-51BB912D18A6}"/>
              </a:ext>
            </a:extLst>
          </p:cNvPr>
          <p:cNvSpPr>
            <a:spLocks noGrp="1"/>
          </p:cNvSpPr>
          <p:nvPr/>
        </p:nvSpPr>
        <p:spPr>
          <a:xfrm>
            <a:off x="9346406" y="4064000"/>
            <a:ext cx="3810000" cy="797719"/>
          </a:xfrm>
          <a:prstGeom prst="rect">
            <a:avLst/>
          </a:prstGeom>
          <a:noFill/>
          <a:ln w="0">
            <a:noFill/>
          </a:ln>
        </p:spPr>
        <p:txBody>
          <a:bodyPr anchor="ctr">
            <a:noAutofit/>
          </a:bodyPr>
          <a:lstStyle/>
          <a:p>
            <a:pPr algn="ctr">
              <a:defRPr sz="3750" b="1">
                <a:solidFill>
                  <a:srgbClr val="11745A"/>
                </a:solidFill>
                <a:latin typeface="Arial"/>
                <a:ea typeface="Arial"/>
                <a:cs typeface="Arial"/>
              </a:defRPr>
            </a:pPr>
            <a:r>
              <a:rPr sz="3750" b="1">
                <a:solidFill>
                  <a:srgbClr val="11745A"/>
                </a:solidFill>
                <a:latin typeface="Arial"/>
                <a:ea typeface="Arial"/>
                <a:cs typeface="Arial"/>
              </a:rPr>
              <a:t>60</a:t>
            </a:r>
          </a:p>
        </p:txBody>
      </p:sp>
    </p:spTree>
    <p:extLst>
      <p:ext uri="{BB962C8B-B14F-4D97-AF65-F5344CB8AC3E}">
        <p14:creationId xmlns:p14="http://schemas.microsoft.com/office/powerpoint/2010/main" val="47826552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par>
                          <p:cTn id="7" fill="hold">
                            <p:stCondLst>
                              <p:cond delay="0"/>
                            </p:stCondLst>
                            <p:childTnLst>
                              <p:par>
                                <p:cTn id="8" presetID="1" presetClass="entr" presetSubtype="0" fill="hold" grpId="0" nodeType="afterEffect">
                                  <p:stCondLst>
                                    <p:cond delay="0"/>
                                  </p:stCondLst>
                                  <p:childTnLst>
                                    <p:set>
                                      <p:cBhvr>
                                        <p:cTn id="9" dur="1" fill="hold">
                                          <p:stCondLst>
                                            <p:cond delay="0"/>
                                          </p:stCondLst>
                                        </p:cTn>
                                        <p:tgtEl>
                                          <p:spTgt spid="7"/>
                                        </p:tgtEl>
                                        <p:attrNameLst>
                                          <p:attrName>style.visibility</p:attrName>
                                        </p:attrNameLst>
                                      </p:cBhvr>
                                      <p:to>
                                        <p:strVal val="visible"/>
                                      </p:to>
                                    </p:set>
                                  </p:childTnLst>
                                </p:cTn>
                              </p:par>
                            </p:childTnLst>
                          </p:cTn>
                        </p:par>
                        <p:par>
                          <p:cTn id="10" fill="hold">
                            <p:stCondLst>
                              <p:cond delay="0"/>
                            </p:stCondLst>
                            <p:childTnLst>
                              <p:par>
                                <p:cTn id="11" presetID="63" presetClass="path" presetSubtype="0" accel="50000" decel="50000" fill="hold" grpId="1" nodeType="afterEffect">
                                  <p:stCondLst>
                                    <p:cond delay="0"/>
                                  </p:stCondLst>
                                  <p:childTnLst>
                                    <p:animMotion origin="layout" path="M 0 0 L 0.03515625 0 E" pathEditMode="relative" ptsTypes="">
                                      <p:cBhvr>
                                        <p:cTn id="12" dur="800" fill="hold"/>
                                        <p:tgtEl>
                                          <p:spTgt spid="7"/>
                                        </p:tgtEl>
                                        <p:attrNameLst>
                                          <p:attrName>ppt_x</p:attrName>
                                          <p:attrName>ppt_y</p:attrName>
                                        </p:attrNameLst>
                                      </p:cBhvr>
                                    </p:animMotion>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8"/>
                                        </p:tgtEl>
                                        <p:attrNameLst>
                                          <p:attrName>style.visibility</p:attrName>
                                        </p:attrNameLst>
                                      </p:cBhvr>
                                      <p:to>
                                        <p:strVal val="visible"/>
                                      </p:to>
                                    </p:set>
                                  </p:childTnLst>
                                </p:cTn>
                              </p:par>
                            </p:childTnLst>
                          </p:cTn>
                        </p:par>
                        <p:par>
                          <p:cTn id="17" fill="hold">
                            <p:stCondLst>
                              <p:cond delay="0"/>
                            </p:stCondLst>
                            <p:childTnLst>
                              <p:par>
                                <p:cTn id="18" presetID="1" presetClass="entr" presetSubtype="0" fill="hold" grpId="0" nodeType="afterEffect">
                                  <p:stCondLst>
                                    <p:cond delay="0"/>
                                  </p:stCondLst>
                                  <p:childTnLst>
                                    <p:set>
                                      <p:cBhvr>
                                        <p:cTn id="19" dur="1" fill="hold">
                                          <p:stCondLst>
                                            <p:cond delay="0"/>
                                          </p:stCondLst>
                                        </p:cTn>
                                        <p:tgtEl>
                                          <p:spTgt spid="9"/>
                                        </p:tgtEl>
                                        <p:attrNameLst>
                                          <p:attrName>style.visibility</p:attrName>
                                        </p:attrNameLst>
                                      </p:cBhvr>
                                      <p:to>
                                        <p:strVal val="visible"/>
                                      </p:to>
                                    </p:set>
                                  </p:childTnLst>
                                </p:cTn>
                              </p:par>
                            </p:childTnLst>
                          </p:cTn>
                        </p:par>
                        <p:par>
                          <p:cTn id="20" fill="hold">
                            <p:stCondLst>
                              <p:cond delay="0"/>
                            </p:stCondLst>
                            <p:childTnLst>
                              <p:par>
                                <p:cTn id="21" presetID="63" presetClass="path" presetSubtype="0" accel="50000" decel="50000" fill="hold" grpId="1" nodeType="afterEffect">
                                  <p:stCondLst>
                                    <p:cond delay="0"/>
                                  </p:stCondLst>
                                  <p:childTnLst>
                                    <p:animMotion origin="layout" path="M 0 0 L 0.03515625 0 E" pathEditMode="relative" ptsTypes="">
                                      <p:cBhvr>
                                        <p:cTn id="22" dur="800" fill="hold"/>
                                        <p:tgtEl>
                                          <p:spTgt spid="9"/>
                                        </p:tgtEl>
                                        <p:attrNameLst>
                                          <p:attrName>ppt_x</p:attrName>
                                          <p:attrName>ppt_y</p:attrName>
                                        </p:attrNameLst>
                                      </p:cBhvr>
                                    </p:animMotion>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7" grpId="0"/>
      <p:bldP spid="7" grpId="1"/>
      <p:bldP spid="8" grpId="0"/>
      <p:bldP spid="9" grpId="0"/>
      <p:bldP spid="9" grpId="1"/>
    </p:bldLst>
  </p:timing>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1" name="object-1">
            <a:extLst>
              <a:ext uri="{FF2B5EF4-FFF2-40B4-BE49-F238E27FC236}">
                <a16:creationId xmlns:a16="http://schemas.microsoft.com/office/drawing/2014/main" id="{6EF4DC31-3CC8-40A4-A1A9-311C71B0455E}"/>
              </a:ext>
            </a:extLst>
          </p:cNvPr>
          <p:cNvSpPr>
            <a:spLocks noGrp="1"/>
          </p:cNvSpPr>
          <p:nvPr/>
        </p:nvSpPr>
        <p:spPr>
          <a:xfrm>
            <a:off x="654844" y="357188"/>
            <a:ext cx="13930313" cy="714375"/>
          </a:xfrm>
          <a:prstGeom prst="rect">
            <a:avLst/>
          </a:prstGeom>
          <a:noFill/>
          <a:ln w="0">
            <a:noFill/>
          </a:ln>
        </p:spPr>
        <p:txBody>
          <a:bodyPr anchor="ctr">
            <a:noAutofit/>
          </a:bodyPr>
          <a:lstStyle/>
          <a:p>
            <a:pPr algn="l">
              <a:defRPr sz="4125" b="1">
                <a:solidFill>
                  <a:srgbClr val="1D4ED8"/>
                </a:solidFill>
                <a:latin typeface="Arial"/>
                <a:ea typeface="Arial"/>
                <a:cs typeface="Arial"/>
              </a:defRPr>
            </a:pPr>
            <a:r>
              <a:rPr sz="4125" b="1">
                <a:solidFill>
                  <a:srgbClr val="1D4ED8"/>
                </a:solidFill>
                <a:latin typeface="Arial"/>
                <a:ea typeface="Arial"/>
                <a:cs typeface="Arial"/>
              </a:rPr>
              <a:t>You do</a:t>
            </a:r>
          </a:p>
        </p:txBody>
      </p:sp>
      <p:sp>
        <p:nvSpPr>
          <p:cNvPr id="2" name="object-2">
            <a:extLst>
              <a:ext uri="{FF2B5EF4-FFF2-40B4-BE49-F238E27FC236}">
                <a16:creationId xmlns:a16="http://schemas.microsoft.com/office/drawing/2014/main" id="{0BBDE224-6E75-4E31-BE30-F4E1A15171BC}"/>
              </a:ext>
            </a:extLst>
          </p:cNvPr>
          <p:cNvSpPr>
            <a:spLocks noGrp="1"/>
          </p:cNvSpPr>
          <p:nvPr/>
        </p:nvSpPr>
        <p:spPr>
          <a:xfrm>
            <a:off x="11430000" y="476250"/>
            <a:ext cx="3155156" cy="547688"/>
          </a:xfrm>
          <a:prstGeom prst="rect">
            <a:avLst/>
          </a:prstGeom>
          <a:noFill/>
          <a:ln w="0">
            <a:noFill/>
          </a:ln>
        </p:spPr>
        <p:txBody>
          <a:bodyPr anchor="ctr">
            <a:noAutofit/>
          </a:bodyPr>
          <a:lstStyle/>
          <a:p>
            <a:pPr algn="r">
              <a:defRPr sz="2625" b="0">
                <a:solidFill>
                  <a:srgbClr val="52647A"/>
                </a:solidFill>
                <a:latin typeface="Arial"/>
                <a:ea typeface="Arial"/>
                <a:cs typeface="Arial"/>
              </a:defRPr>
            </a:pPr>
            <a:r>
              <a:rPr sz="2625" b="0">
                <a:solidFill>
                  <a:srgbClr val="52647A"/>
                </a:solidFill>
                <a:latin typeface="Arial"/>
                <a:ea typeface="Arial"/>
                <a:cs typeface="Arial"/>
              </a:rPr>
              <a:t>You try.</a:t>
            </a:r>
          </a:p>
        </p:txBody>
      </p:sp>
      <p:sp>
        <p:nvSpPr>
          <p:cNvPr id="3" name="object-3">
            <a:extLst>
              <a:ext uri="{FF2B5EF4-FFF2-40B4-BE49-F238E27FC236}">
                <a16:creationId xmlns:a16="http://schemas.microsoft.com/office/drawing/2014/main" id="{407BF3A1-FA38-42F1-AF31-98471169F7D7}"/>
              </a:ext>
            </a:extLst>
          </p:cNvPr>
          <p:cNvSpPr>
            <a:spLocks noGrp="1"/>
          </p:cNvSpPr>
          <p:nvPr/>
        </p:nvSpPr>
        <p:spPr>
          <a:xfrm>
            <a:off x="654844" y="1250156"/>
            <a:ext cx="13930313" cy="1190625"/>
          </a:xfrm>
          <a:prstGeom prst="rect">
            <a:avLst/>
          </a:prstGeom>
          <a:noFill/>
          <a:ln w="0">
            <a:noFill/>
          </a:ln>
        </p:spPr>
        <p:txBody>
          <a:bodyPr anchor="ctr">
            <a:noAutofit/>
          </a:bodyPr>
          <a:lstStyle/>
          <a:p>
            <a:pPr algn="l">
              <a:defRPr sz="2625" b="1">
                <a:solidFill>
                  <a:srgbClr val="172B4D"/>
                </a:solidFill>
                <a:latin typeface="Arial"/>
                <a:ea typeface="Arial"/>
                <a:cs typeface="Arial"/>
              </a:defRPr>
            </a:pPr>
            <a:r>
              <a:rPr sz="2625" b="1">
                <a:solidFill>
                  <a:srgbClr val="172B4D"/>
                </a:solidFill>
                <a:latin typeface="Arial"/>
                <a:ea typeface="Arial"/>
                <a:cs typeface="Arial"/>
              </a:rPr>
              <a:t>Calculate 23 + 6 × 7.</a:t>
            </a:r>
          </a:p>
        </p:txBody>
      </p:sp>
      <p:sp>
        <p:nvSpPr>
          <p:cNvPr id="4" name="object-4">
            <a:extLst>
              <a:ext uri="{FF2B5EF4-FFF2-40B4-BE49-F238E27FC236}">
                <a16:creationId xmlns:a16="http://schemas.microsoft.com/office/drawing/2014/main" id="{5D62C9FD-38D2-4059-9EB8-A899612B699C}"/>
              </a:ext>
            </a:extLst>
          </p:cNvPr>
          <p:cNvSpPr>
            <a:spLocks noGrp="1"/>
          </p:cNvSpPr>
          <p:nvPr/>
        </p:nvSpPr>
        <p:spPr>
          <a:xfrm>
            <a:off x="654844" y="8012906"/>
            <a:ext cx="13930313" cy="11906"/>
          </a:xfrm>
          <a:prstGeom prst="rect">
            <a:avLst/>
          </a:prstGeom>
          <a:solidFill>
            <a:srgbClr val="BCD0EA"/>
          </a:solidFill>
          <a:ln w="0">
            <a:noFill/>
          </a:ln>
        </p:spPr>
      </p:sp>
      <p:sp>
        <p:nvSpPr>
          <p:cNvPr id="5" name="object-5">
            <a:extLst>
              <a:ext uri="{FF2B5EF4-FFF2-40B4-BE49-F238E27FC236}">
                <a16:creationId xmlns:a16="http://schemas.microsoft.com/office/drawing/2014/main" id="{35F0C98A-5049-495A-934F-833D00776120}"/>
              </a:ext>
            </a:extLst>
          </p:cNvPr>
          <p:cNvSpPr>
            <a:spLocks noGrp="1"/>
          </p:cNvSpPr>
          <p:nvPr/>
        </p:nvSpPr>
        <p:spPr>
          <a:xfrm>
            <a:off x="654844" y="8120063"/>
            <a:ext cx="12977813" cy="285750"/>
          </a:xfrm>
          <a:prstGeom prst="rect">
            <a:avLst/>
          </a:prstGeom>
          <a:noFill/>
          <a:ln w="0">
            <a:noFill/>
          </a:ln>
        </p:spPr>
        <p:txBody>
          <a:bodyPr anchor="ctr">
            <a:noAutofit/>
          </a:bodyPr>
          <a:lstStyle/>
          <a:p>
            <a:pPr algn="l">
              <a:defRPr sz="1219" b="0">
                <a:solidFill>
                  <a:srgbClr val="52647A"/>
                </a:solidFill>
                <a:latin typeface="Arial"/>
                <a:ea typeface="Arial"/>
                <a:cs typeface="Arial"/>
              </a:defRPr>
            </a:pPr>
            <a:r>
              <a:rPr sz="1219" b="0">
                <a:solidFill>
                  <a:srgbClr val="52647A"/>
                </a:solidFill>
                <a:latin typeface="Arial"/>
                <a:ea typeface="Arial"/>
                <a:cs typeface="Arial"/>
              </a:rPr>
              <a:t>BrightPath · Use multiplication and division before addition and subtraction</a:t>
            </a:r>
          </a:p>
        </p:txBody>
      </p:sp>
      <p:sp>
        <p:nvSpPr>
          <p:cNvPr id="6" name="object-6">
            <a:extLst>
              <a:ext uri="{FF2B5EF4-FFF2-40B4-BE49-F238E27FC236}">
                <a16:creationId xmlns:a16="http://schemas.microsoft.com/office/drawing/2014/main" id="{D97D6EA8-F611-4F49-B754-C16A5A949FB6}"/>
              </a:ext>
            </a:extLst>
          </p:cNvPr>
          <p:cNvSpPr>
            <a:spLocks noGrp="1"/>
          </p:cNvSpPr>
          <p:nvPr/>
        </p:nvSpPr>
        <p:spPr>
          <a:xfrm>
            <a:off x="13811250" y="8120063"/>
            <a:ext cx="773906" cy="285750"/>
          </a:xfrm>
          <a:prstGeom prst="rect">
            <a:avLst/>
          </a:prstGeom>
          <a:noFill/>
          <a:ln w="0">
            <a:noFill/>
          </a:ln>
        </p:spPr>
        <p:txBody>
          <a:bodyPr anchor="ctr">
            <a:noAutofit/>
          </a:bodyPr>
          <a:lstStyle/>
          <a:p>
            <a:pPr algn="r">
              <a:defRPr sz="1219" b="0">
                <a:solidFill>
                  <a:srgbClr val="52647A"/>
                </a:solidFill>
                <a:latin typeface="Arial"/>
                <a:ea typeface="Arial"/>
                <a:cs typeface="Arial"/>
              </a:defRPr>
            </a:pPr>
            <a:r>
              <a:rPr sz="1219" b="0">
                <a:solidFill>
                  <a:srgbClr val="52647A"/>
                </a:solidFill>
                <a:latin typeface="Arial"/>
                <a:ea typeface="Arial"/>
                <a:cs typeface="Arial"/>
              </a:rPr>
              <a:t>3</a:t>
            </a:r>
          </a:p>
        </p:txBody>
      </p:sp>
      <p:sp>
        <p:nvSpPr>
          <p:cNvPr id="7" name="object-7">
            <a:extLst>
              <a:ext uri="{FF2B5EF4-FFF2-40B4-BE49-F238E27FC236}">
                <a16:creationId xmlns:a16="http://schemas.microsoft.com/office/drawing/2014/main" id="{86604D84-3041-4093-A792-F59435BEA143}"/>
              </a:ext>
            </a:extLst>
          </p:cNvPr>
          <p:cNvSpPr>
            <a:spLocks noGrp="1"/>
          </p:cNvSpPr>
          <p:nvPr/>
        </p:nvSpPr>
        <p:spPr>
          <a:xfrm>
            <a:off x="1012031" y="2714625"/>
            <a:ext cx="8572500" cy="797719"/>
          </a:xfrm>
          <a:prstGeom prst="rect">
            <a:avLst/>
          </a:prstGeom>
          <a:noFill/>
          <a:ln w="0">
            <a:noFill/>
          </a:ln>
        </p:spPr>
        <p:txBody>
          <a:bodyPr anchor="ctr">
            <a:noAutofit/>
          </a:bodyPr>
          <a:lstStyle/>
          <a:p>
            <a:pPr algn="l">
              <a:defRPr sz="3188" b="1">
                <a:solidFill>
                  <a:srgbClr val="172B4D"/>
                </a:solidFill>
                <a:latin typeface="Arial"/>
                <a:ea typeface="Arial"/>
                <a:cs typeface="Arial"/>
              </a:defRPr>
            </a:pPr>
            <a:r>
              <a:rPr sz="3188" b="1">
                <a:solidFill>
                  <a:srgbClr val="172B4D"/>
                </a:solidFill>
                <a:latin typeface="Arial"/>
                <a:ea typeface="Arial"/>
                <a:cs typeface="Arial"/>
              </a:rPr>
              <a:t>6 × 7 =</a:t>
            </a:r>
          </a:p>
        </p:txBody>
      </p:sp>
      <p:sp>
        <p:nvSpPr>
          <p:cNvPr id="8" name="object-8">
            <a:extLst>
              <a:ext uri="{FF2B5EF4-FFF2-40B4-BE49-F238E27FC236}">
                <a16:creationId xmlns:a16="http://schemas.microsoft.com/office/drawing/2014/main" id="{6A56CBE4-C692-4154-BA9E-44B114B4C95A}"/>
              </a:ext>
            </a:extLst>
          </p:cNvPr>
          <p:cNvSpPr>
            <a:spLocks noGrp="1"/>
          </p:cNvSpPr>
          <p:nvPr/>
        </p:nvSpPr>
        <p:spPr>
          <a:xfrm>
            <a:off x="9346406" y="2714625"/>
            <a:ext cx="3810000" cy="797719"/>
          </a:xfrm>
          <a:prstGeom prst="rect">
            <a:avLst/>
          </a:prstGeom>
          <a:noFill/>
          <a:ln w="0">
            <a:noFill/>
          </a:ln>
        </p:spPr>
        <p:txBody>
          <a:bodyPr anchor="ctr">
            <a:noAutofit/>
          </a:bodyPr>
          <a:lstStyle/>
          <a:p>
            <a:pPr algn="ctr">
              <a:defRPr sz="3750" b="1">
                <a:solidFill>
                  <a:srgbClr val="11745A"/>
                </a:solidFill>
                <a:latin typeface="Arial"/>
                <a:ea typeface="Arial"/>
                <a:cs typeface="Arial"/>
              </a:defRPr>
            </a:pPr>
            <a:r>
              <a:rPr sz="3750" b="1">
                <a:solidFill>
                  <a:srgbClr val="11745A"/>
                </a:solidFill>
                <a:latin typeface="Arial"/>
                <a:ea typeface="Arial"/>
                <a:cs typeface="Arial"/>
              </a:rPr>
              <a:t>42</a:t>
            </a:r>
          </a:p>
        </p:txBody>
      </p:sp>
      <p:sp>
        <p:nvSpPr>
          <p:cNvPr id="9" name="object-9">
            <a:extLst>
              <a:ext uri="{FF2B5EF4-FFF2-40B4-BE49-F238E27FC236}">
                <a16:creationId xmlns:a16="http://schemas.microsoft.com/office/drawing/2014/main" id="{C514B3AF-6A0E-4DB3-B239-F4B542498458}"/>
              </a:ext>
            </a:extLst>
          </p:cNvPr>
          <p:cNvSpPr>
            <a:spLocks noGrp="1"/>
          </p:cNvSpPr>
          <p:nvPr/>
        </p:nvSpPr>
        <p:spPr>
          <a:xfrm>
            <a:off x="1012031" y="4064000"/>
            <a:ext cx="8572500" cy="797719"/>
          </a:xfrm>
          <a:prstGeom prst="rect">
            <a:avLst/>
          </a:prstGeom>
          <a:noFill/>
          <a:ln w="0">
            <a:noFill/>
          </a:ln>
        </p:spPr>
        <p:txBody>
          <a:bodyPr anchor="ctr">
            <a:noAutofit/>
          </a:bodyPr>
          <a:lstStyle/>
          <a:p>
            <a:pPr algn="l">
              <a:defRPr sz="3188" b="1">
                <a:solidFill>
                  <a:srgbClr val="172B4D"/>
                </a:solidFill>
                <a:latin typeface="Arial"/>
                <a:ea typeface="Arial"/>
                <a:cs typeface="Arial"/>
              </a:defRPr>
            </a:pPr>
            <a:r>
              <a:rPr sz="3188" b="1">
                <a:solidFill>
                  <a:srgbClr val="172B4D"/>
                </a:solidFill>
                <a:latin typeface="Arial"/>
                <a:ea typeface="Arial"/>
                <a:cs typeface="Arial"/>
              </a:rPr>
              <a:t>23 + 42 =</a:t>
            </a:r>
          </a:p>
        </p:txBody>
      </p:sp>
      <p:sp>
        <p:nvSpPr>
          <p:cNvPr id="10" name="object-10">
            <a:extLst>
              <a:ext uri="{FF2B5EF4-FFF2-40B4-BE49-F238E27FC236}">
                <a16:creationId xmlns:a16="http://schemas.microsoft.com/office/drawing/2014/main" id="{FAE0DD16-2D3B-49A2-832F-E6DE54D6BC75}"/>
              </a:ext>
            </a:extLst>
          </p:cNvPr>
          <p:cNvSpPr>
            <a:spLocks noGrp="1"/>
          </p:cNvSpPr>
          <p:nvPr/>
        </p:nvSpPr>
        <p:spPr>
          <a:xfrm>
            <a:off x="9346406" y="4064000"/>
            <a:ext cx="3810000" cy="797719"/>
          </a:xfrm>
          <a:prstGeom prst="rect">
            <a:avLst/>
          </a:prstGeom>
          <a:noFill/>
          <a:ln w="0">
            <a:noFill/>
          </a:ln>
        </p:spPr>
        <p:txBody>
          <a:bodyPr anchor="ctr">
            <a:noAutofit/>
          </a:bodyPr>
          <a:lstStyle/>
          <a:p>
            <a:pPr algn="ctr">
              <a:defRPr sz="3750" b="1">
                <a:solidFill>
                  <a:srgbClr val="11745A"/>
                </a:solidFill>
                <a:latin typeface="Arial"/>
                <a:ea typeface="Arial"/>
                <a:cs typeface="Arial"/>
              </a:defRPr>
            </a:pPr>
            <a:r>
              <a:rPr sz="3750" b="1">
                <a:solidFill>
                  <a:srgbClr val="11745A"/>
                </a:solidFill>
                <a:latin typeface="Arial"/>
                <a:ea typeface="Arial"/>
                <a:cs typeface="Arial"/>
              </a:rPr>
              <a:t>65</a:t>
            </a:r>
          </a:p>
        </p:txBody>
      </p:sp>
    </p:spTree>
    <p:extLst>
      <p:ext uri="{BB962C8B-B14F-4D97-AF65-F5344CB8AC3E}">
        <p14:creationId xmlns:p14="http://schemas.microsoft.com/office/powerpoint/2010/main" val="83867736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par>
                          <p:cTn id="7" fill="hold">
                            <p:stCondLst>
                              <p:cond delay="0"/>
                            </p:stCondLst>
                            <p:childTnLst>
                              <p:par>
                                <p:cTn id="8" presetID="1" presetClass="entr" presetSubtype="0" fill="hold" grpId="0" nodeType="afterEffect">
                                  <p:stCondLst>
                                    <p:cond delay="0"/>
                                  </p:stCondLst>
                                  <p:childTnLst>
                                    <p:set>
                                      <p:cBhvr>
                                        <p:cTn id="9" dur="1" fill="hold">
                                          <p:stCondLst>
                                            <p:cond delay="0"/>
                                          </p:stCondLst>
                                        </p:cTn>
                                        <p:tgtEl>
                                          <p:spTgt spid="8"/>
                                        </p:tgtEl>
                                        <p:attrNameLst>
                                          <p:attrName>style.visibility</p:attrName>
                                        </p:attrNameLst>
                                      </p:cBhvr>
                                      <p:to>
                                        <p:strVal val="visible"/>
                                      </p:to>
                                    </p:set>
                                  </p:childTnLst>
                                </p:cTn>
                              </p:par>
                            </p:childTnLst>
                          </p:cTn>
                        </p:par>
                        <p:par>
                          <p:cTn id="10" fill="hold">
                            <p:stCondLst>
                              <p:cond delay="0"/>
                            </p:stCondLst>
                            <p:childTnLst>
                              <p:par>
                                <p:cTn id="11" presetID="63" presetClass="path" presetSubtype="0" accel="50000" decel="50000" fill="hold" grpId="1" nodeType="afterEffect">
                                  <p:stCondLst>
                                    <p:cond delay="0"/>
                                  </p:stCondLst>
                                  <p:childTnLst>
                                    <p:animMotion origin="layout" path="M 0 0 L 0.03515625 0 E" pathEditMode="relative" ptsTypes="">
                                      <p:cBhvr>
                                        <p:cTn id="12" dur="800" fill="hold"/>
                                        <p:tgtEl>
                                          <p:spTgt spid="8"/>
                                        </p:tgtEl>
                                        <p:attrNameLst>
                                          <p:attrName>ppt_x</p:attrName>
                                          <p:attrName>ppt_y</p:attrName>
                                        </p:attrNameLst>
                                      </p:cBhvr>
                                    </p:animMotion>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9"/>
                                        </p:tgtEl>
                                        <p:attrNameLst>
                                          <p:attrName>style.visibility</p:attrName>
                                        </p:attrNameLst>
                                      </p:cBhvr>
                                      <p:to>
                                        <p:strVal val="visible"/>
                                      </p:to>
                                    </p:set>
                                  </p:childTnLst>
                                </p:cTn>
                              </p:par>
                            </p:childTnLst>
                          </p:cTn>
                        </p:par>
                        <p:par>
                          <p:cTn id="17" fill="hold">
                            <p:stCondLst>
                              <p:cond delay="0"/>
                            </p:stCondLst>
                            <p:childTnLst>
                              <p:par>
                                <p:cTn id="18" presetID="1" presetClass="entr" presetSubtype="0" fill="hold" grpId="0" nodeType="afterEffect">
                                  <p:stCondLst>
                                    <p:cond delay="0"/>
                                  </p:stCondLst>
                                  <p:childTnLst>
                                    <p:set>
                                      <p:cBhvr>
                                        <p:cTn id="19" dur="1" fill="hold">
                                          <p:stCondLst>
                                            <p:cond delay="0"/>
                                          </p:stCondLst>
                                        </p:cTn>
                                        <p:tgtEl>
                                          <p:spTgt spid="10"/>
                                        </p:tgtEl>
                                        <p:attrNameLst>
                                          <p:attrName>style.visibility</p:attrName>
                                        </p:attrNameLst>
                                      </p:cBhvr>
                                      <p:to>
                                        <p:strVal val="visible"/>
                                      </p:to>
                                    </p:set>
                                  </p:childTnLst>
                                </p:cTn>
                              </p:par>
                            </p:childTnLst>
                          </p:cTn>
                        </p:par>
                        <p:par>
                          <p:cTn id="20" fill="hold">
                            <p:stCondLst>
                              <p:cond delay="0"/>
                            </p:stCondLst>
                            <p:childTnLst>
                              <p:par>
                                <p:cTn id="21" presetID="63" presetClass="path" presetSubtype="0" accel="50000" decel="50000" fill="hold" grpId="1" nodeType="afterEffect">
                                  <p:stCondLst>
                                    <p:cond delay="0"/>
                                  </p:stCondLst>
                                  <p:childTnLst>
                                    <p:animMotion origin="layout" path="M 0 0 L 0.03515625 0 E" pathEditMode="relative" ptsTypes="">
                                      <p:cBhvr>
                                        <p:cTn id="22" dur="800" fill="hold"/>
                                        <p:tgtEl>
                                          <p:spTgt spid="10"/>
                                        </p:tgtEl>
                                        <p:attrNameLst>
                                          <p:attrName>ppt_x</p:attrName>
                                          <p:attrName>ppt_y</p:attrName>
                                        </p:attrNameLst>
                                      </p:cBhvr>
                                    </p:animMotion>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P spid="8" grpId="0"/>
      <p:bldP spid="8" grpId="1"/>
      <p:bldP spid="9" grpId="0"/>
      <p:bldP spid="10" grpId="0"/>
      <p:bldP spid="10" grpId="1"/>
    </p:bldLst>
  </p:timing>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 name="object-1">
            <a:extLst>
              <a:ext uri="{FF2B5EF4-FFF2-40B4-BE49-F238E27FC236}">
                <a16:creationId xmlns:a16="http://schemas.microsoft.com/office/drawing/2014/main" id="{D01DB09F-C0DC-46E9-9AE4-B35BCAAC8AF8}"/>
              </a:ext>
            </a:extLst>
          </p:cNvPr>
          <p:cNvSpPr>
            <a:spLocks noGrp="1"/>
          </p:cNvSpPr>
          <p:nvPr/>
        </p:nvSpPr>
        <p:spPr>
          <a:xfrm>
            <a:off x="654844" y="357188"/>
            <a:ext cx="13930313" cy="714375"/>
          </a:xfrm>
          <a:prstGeom prst="rect">
            <a:avLst/>
          </a:prstGeom>
          <a:noFill/>
          <a:ln w="0">
            <a:noFill/>
          </a:ln>
        </p:spPr>
        <p:txBody>
          <a:bodyPr anchor="ctr">
            <a:noAutofit/>
          </a:bodyPr>
          <a:lstStyle/>
          <a:p>
            <a:pPr algn="l">
              <a:defRPr sz="4125" b="1">
                <a:solidFill>
                  <a:srgbClr val="1D4ED8"/>
                </a:solidFill>
                <a:latin typeface="Arial"/>
                <a:ea typeface="Arial"/>
                <a:cs typeface="Arial"/>
              </a:defRPr>
            </a:pPr>
            <a:r>
              <a:rPr sz="4125" b="1">
                <a:solidFill>
                  <a:srgbClr val="1D4ED8"/>
                </a:solidFill>
                <a:latin typeface="Arial"/>
                <a:ea typeface="Arial"/>
                <a:cs typeface="Arial"/>
              </a:rPr>
              <a:t>I do</a:t>
            </a:r>
          </a:p>
        </p:txBody>
      </p:sp>
      <p:sp>
        <p:nvSpPr>
          <p:cNvPr id="2" name="object-2">
            <a:extLst>
              <a:ext uri="{FF2B5EF4-FFF2-40B4-BE49-F238E27FC236}">
                <a16:creationId xmlns:a16="http://schemas.microsoft.com/office/drawing/2014/main" id="{0B084DFC-B934-4C86-AE84-3A68C6C891B3}"/>
              </a:ext>
            </a:extLst>
          </p:cNvPr>
          <p:cNvSpPr>
            <a:spLocks noGrp="1"/>
          </p:cNvSpPr>
          <p:nvPr/>
        </p:nvSpPr>
        <p:spPr>
          <a:xfrm>
            <a:off x="654844" y="1250156"/>
            <a:ext cx="13930313" cy="1190625"/>
          </a:xfrm>
          <a:prstGeom prst="rect">
            <a:avLst/>
          </a:prstGeom>
          <a:noFill/>
          <a:ln w="0">
            <a:noFill/>
          </a:ln>
        </p:spPr>
        <p:txBody>
          <a:bodyPr anchor="ctr">
            <a:noAutofit/>
          </a:bodyPr>
          <a:lstStyle/>
          <a:p>
            <a:pPr algn="l">
              <a:defRPr sz="2625" b="1">
                <a:solidFill>
                  <a:srgbClr val="172B4D"/>
                </a:solidFill>
                <a:latin typeface="Arial"/>
                <a:ea typeface="Arial"/>
                <a:cs typeface="Arial"/>
              </a:defRPr>
            </a:pPr>
            <a:r>
              <a:rPr sz="2625" b="1">
                <a:solidFill>
                  <a:srgbClr val="172B4D"/>
                </a:solidFill>
                <a:latin typeface="Arial"/>
                <a:ea typeface="Arial"/>
                <a:cs typeface="Arial"/>
              </a:rPr>
              <a:t>Calculate 28 + 6 × 7.</a:t>
            </a:r>
          </a:p>
        </p:txBody>
      </p:sp>
      <p:sp>
        <p:nvSpPr>
          <p:cNvPr id="3" name="object-3">
            <a:extLst>
              <a:ext uri="{FF2B5EF4-FFF2-40B4-BE49-F238E27FC236}">
                <a16:creationId xmlns:a16="http://schemas.microsoft.com/office/drawing/2014/main" id="{D64EB372-A3B0-4E46-AED7-7EC8380FB7CD}"/>
              </a:ext>
            </a:extLst>
          </p:cNvPr>
          <p:cNvSpPr>
            <a:spLocks noGrp="1"/>
          </p:cNvSpPr>
          <p:nvPr/>
        </p:nvSpPr>
        <p:spPr>
          <a:xfrm>
            <a:off x="654844" y="8012906"/>
            <a:ext cx="13930313" cy="11906"/>
          </a:xfrm>
          <a:prstGeom prst="rect">
            <a:avLst/>
          </a:prstGeom>
          <a:solidFill>
            <a:srgbClr val="BCD0EA"/>
          </a:solidFill>
          <a:ln w="0">
            <a:noFill/>
          </a:ln>
        </p:spPr>
      </p:sp>
      <p:sp>
        <p:nvSpPr>
          <p:cNvPr id="4" name="object-4">
            <a:extLst>
              <a:ext uri="{FF2B5EF4-FFF2-40B4-BE49-F238E27FC236}">
                <a16:creationId xmlns:a16="http://schemas.microsoft.com/office/drawing/2014/main" id="{92315B18-26DC-4D4C-8038-95279E55B88E}"/>
              </a:ext>
            </a:extLst>
          </p:cNvPr>
          <p:cNvSpPr>
            <a:spLocks noGrp="1"/>
          </p:cNvSpPr>
          <p:nvPr/>
        </p:nvSpPr>
        <p:spPr>
          <a:xfrm>
            <a:off x="654844" y="8120063"/>
            <a:ext cx="12977813" cy="285750"/>
          </a:xfrm>
          <a:prstGeom prst="rect">
            <a:avLst/>
          </a:prstGeom>
          <a:noFill/>
          <a:ln w="0">
            <a:noFill/>
          </a:ln>
        </p:spPr>
        <p:txBody>
          <a:bodyPr anchor="ctr">
            <a:noAutofit/>
          </a:bodyPr>
          <a:lstStyle/>
          <a:p>
            <a:pPr algn="l">
              <a:defRPr sz="1219" b="0">
                <a:solidFill>
                  <a:srgbClr val="52647A"/>
                </a:solidFill>
                <a:latin typeface="Arial"/>
                <a:ea typeface="Arial"/>
                <a:cs typeface="Arial"/>
              </a:defRPr>
            </a:pPr>
            <a:r>
              <a:rPr sz="1219" b="0">
                <a:solidFill>
                  <a:srgbClr val="52647A"/>
                </a:solidFill>
                <a:latin typeface="Arial"/>
                <a:ea typeface="Arial"/>
                <a:cs typeface="Arial"/>
              </a:rPr>
              <a:t>BrightPath · Use multiplication and division before addition and subtraction</a:t>
            </a:r>
          </a:p>
        </p:txBody>
      </p:sp>
      <p:sp>
        <p:nvSpPr>
          <p:cNvPr id="5" name="object-5">
            <a:extLst>
              <a:ext uri="{FF2B5EF4-FFF2-40B4-BE49-F238E27FC236}">
                <a16:creationId xmlns:a16="http://schemas.microsoft.com/office/drawing/2014/main" id="{6123499E-0DA1-4AE6-8C8B-2A90BB07EF0C}"/>
              </a:ext>
            </a:extLst>
          </p:cNvPr>
          <p:cNvSpPr>
            <a:spLocks noGrp="1"/>
          </p:cNvSpPr>
          <p:nvPr/>
        </p:nvSpPr>
        <p:spPr>
          <a:xfrm>
            <a:off x="13811250" y="8120063"/>
            <a:ext cx="773906" cy="285750"/>
          </a:xfrm>
          <a:prstGeom prst="rect">
            <a:avLst/>
          </a:prstGeom>
          <a:noFill/>
          <a:ln w="0">
            <a:noFill/>
          </a:ln>
        </p:spPr>
        <p:txBody>
          <a:bodyPr anchor="ctr">
            <a:noAutofit/>
          </a:bodyPr>
          <a:lstStyle/>
          <a:p>
            <a:pPr algn="r">
              <a:defRPr sz="1219" b="0">
                <a:solidFill>
                  <a:srgbClr val="52647A"/>
                </a:solidFill>
                <a:latin typeface="Arial"/>
                <a:ea typeface="Arial"/>
                <a:cs typeface="Arial"/>
              </a:defRPr>
            </a:pPr>
            <a:r>
              <a:rPr sz="1219" b="0">
                <a:solidFill>
                  <a:srgbClr val="52647A"/>
                </a:solidFill>
                <a:latin typeface="Arial"/>
                <a:ea typeface="Arial"/>
                <a:cs typeface="Arial"/>
              </a:rPr>
              <a:t>4</a:t>
            </a:r>
          </a:p>
        </p:txBody>
      </p:sp>
      <p:sp>
        <p:nvSpPr>
          <p:cNvPr id="6" name="object-6">
            <a:extLst>
              <a:ext uri="{FF2B5EF4-FFF2-40B4-BE49-F238E27FC236}">
                <a16:creationId xmlns:a16="http://schemas.microsoft.com/office/drawing/2014/main" id="{456BF1C5-5818-4240-ABE5-5C6AE3B7FF1F}"/>
              </a:ext>
            </a:extLst>
          </p:cNvPr>
          <p:cNvSpPr>
            <a:spLocks noGrp="1"/>
          </p:cNvSpPr>
          <p:nvPr/>
        </p:nvSpPr>
        <p:spPr>
          <a:xfrm>
            <a:off x="1012031" y="2714625"/>
            <a:ext cx="8572500" cy="797719"/>
          </a:xfrm>
          <a:prstGeom prst="rect">
            <a:avLst/>
          </a:prstGeom>
          <a:noFill/>
          <a:ln w="0">
            <a:noFill/>
          </a:ln>
        </p:spPr>
        <p:txBody>
          <a:bodyPr anchor="ctr">
            <a:noAutofit/>
          </a:bodyPr>
          <a:lstStyle/>
          <a:p>
            <a:pPr algn="l">
              <a:defRPr sz="3188" b="1">
                <a:solidFill>
                  <a:srgbClr val="172B4D"/>
                </a:solidFill>
                <a:latin typeface="Arial"/>
                <a:ea typeface="Arial"/>
                <a:cs typeface="Arial"/>
              </a:defRPr>
            </a:pPr>
            <a:r>
              <a:rPr sz="3188" b="1">
                <a:solidFill>
                  <a:srgbClr val="172B4D"/>
                </a:solidFill>
                <a:latin typeface="Arial"/>
                <a:ea typeface="Arial"/>
                <a:cs typeface="Arial"/>
              </a:rPr>
              <a:t>6 × 7 =</a:t>
            </a:r>
          </a:p>
        </p:txBody>
      </p:sp>
      <p:sp>
        <p:nvSpPr>
          <p:cNvPr id="7" name="object-7">
            <a:extLst>
              <a:ext uri="{FF2B5EF4-FFF2-40B4-BE49-F238E27FC236}">
                <a16:creationId xmlns:a16="http://schemas.microsoft.com/office/drawing/2014/main" id="{389AF50D-9642-4929-9071-5EEECDFDB08A}"/>
              </a:ext>
            </a:extLst>
          </p:cNvPr>
          <p:cNvSpPr>
            <a:spLocks noGrp="1"/>
          </p:cNvSpPr>
          <p:nvPr/>
        </p:nvSpPr>
        <p:spPr>
          <a:xfrm>
            <a:off x="9346406" y="2714625"/>
            <a:ext cx="3810000" cy="797719"/>
          </a:xfrm>
          <a:prstGeom prst="rect">
            <a:avLst/>
          </a:prstGeom>
          <a:noFill/>
          <a:ln w="0">
            <a:noFill/>
          </a:ln>
        </p:spPr>
        <p:txBody>
          <a:bodyPr anchor="ctr">
            <a:noAutofit/>
          </a:bodyPr>
          <a:lstStyle/>
          <a:p>
            <a:pPr algn="ctr">
              <a:defRPr sz="3750" b="1">
                <a:solidFill>
                  <a:srgbClr val="11745A"/>
                </a:solidFill>
                <a:latin typeface="Arial"/>
                <a:ea typeface="Arial"/>
                <a:cs typeface="Arial"/>
              </a:defRPr>
            </a:pPr>
            <a:r>
              <a:rPr sz="3750" b="1">
                <a:solidFill>
                  <a:srgbClr val="11745A"/>
                </a:solidFill>
                <a:latin typeface="Arial"/>
                <a:ea typeface="Arial"/>
                <a:cs typeface="Arial"/>
              </a:rPr>
              <a:t>42</a:t>
            </a:r>
          </a:p>
        </p:txBody>
      </p:sp>
      <p:sp>
        <p:nvSpPr>
          <p:cNvPr id="8" name="object-8">
            <a:extLst>
              <a:ext uri="{FF2B5EF4-FFF2-40B4-BE49-F238E27FC236}">
                <a16:creationId xmlns:a16="http://schemas.microsoft.com/office/drawing/2014/main" id="{2D5D3893-C99B-4867-A376-2D1AEB39FB9F}"/>
              </a:ext>
            </a:extLst>
          </p:cNvPr>
          <p:cNvSpPr>
            <a:spLocks noGrp="1"/>
          </p:cNvSpPr>
          <p:nvPr/>
        </p:nvSpPr>
        <p:spPr>
          <a:xfrm>
            <a:off x="1012031" y="4064000"/>
            <a:ext cx="8572500" cy="797719"/>
          </a:xfrm>
          <a:prstGeom prst="rect">
            <a:avLst/>
          </a:prstGeom>
          <a:noFill/>
          <a:ln w="0">
            <a:noFill/>
          </a:ln>
        </p:spPr>
        <p:txBody>
          <a:bodyPr anchor="ctr">
            <a:noAutofit/>
          </a:bodyPr>
          <a:lstStyle/>
          <a:p>
            <a:pPr algn="l">
              <a:defRPr sz="3188" b="1">
                <a:solidFill>
                  <a:srgbClr val="172B4D"/>
                </a:solidFill>
                <a:latin typeface="Arial"/>
                <a:ea typeface="Arial"/>
                <a:cs typeface="Arial"/>
              </a:defRPr>
            </a:pPr>
            <a:r>
              <a:rPr sz="3188" b="1">
                <a:solidFill>
                  <a:srgbClr val="172B4D"/>
                </a:solidFill>
                <a:latin typeface="Arial"/>
                <a:ea typeface="Arial"/>
                <a:cs typeface="Arial"/>
              </a:rPr>
              <a:t>28 + 42 =</a:t>
            </a:r>
          </a:p>
        </p:txBody>
      </p:sp>
      <p:sp>
        <p:nvSpPr>
          <p:cNvPr id="9" name="object-9">
            <a:extLst>
              <a:ext uri="{FF2B5EF4-FFF2-40B4-BE49-F238E27FC236}">
                <a16:creationId xmlns:a16="http://schemas.microsoft.com/office/drawing/2014/main" id="{78F68EFB-2774-4826-9870-A1E1B2E53E20}"/>
              </a:ext>
            </a:extLst>
          </p:cNvPr>
          <p:cNvSpPr>
            <a:spLocks noGrp="1"/>
          </p:cNvSpPr>
          <p:nvPr/>
        </p:nvSpPr>
        <p:spPr>
          <a:xfrm>
            <a:off x="9346406" y="4064000"/>
            <a:ext cx="3810000" cy="797719"/>
          </a:xfrm>
          <a:prstGeom prst="rect">
            <a:avLst/>
          </a:prstGeom>
          <a:noFill/>
          <a:ln w="0">
            <a:noFill/>
          </a:ln>
        </p:spPr>
        <p:txBody>
          <a:bodyPr anchor="ctr">
            <a:noAutofit/>
          </a:bodyPr>
          <a:lstStyle/>
          <a:p>
            <a:pPr algn="ctr">
              <a:defRPr sz="3750" b="1">
                <a:solidFill>
                  <a:srgbClr val="11745A"/>
                </a:solidFill>
                <a:latin typeface="Arial"/>
                <a:ea typeface="Arial"/>
                <a:cs typeface="Arial"/>
              </a:defRPr>
            </a:pPr>
            <a:r>
              <a:rPr sz="3750" b="1">
                <a:solidFill>
                  <a:srgbClr val="11745A"/>
                </a:solidFill>
                <a:latin typeface="Arial"/>
                <a:ea typeface="Arial"/>
                <a:cs typeface="Arial"/>
              </a:rPr>
              <a:t>70</a:t>
            </a:r>
          </a:p>
        </p:txBody>
      </p:sp>
    </p:spTree>
    <p:extLst>
      <p:ext uri="{BB962C8B-B14F-4D97-AF65-F5344CB8AC3E}">
        <p14:creationId xmlns:p14="http://schemas.microsoft.com/office/powerpoint/2010/main" val="84390866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par>
                          <p:cTn id="7" fill="hold">
                            <p:stCondLst>
                              <p:cond delay="0"/>
                            </p:stCondLst>
                            <p:childTnLst>
                              <p:par>
                                <p:cTn id="8" presetID="1" presetClass="entr" presetSubtype="0" fill="hold" grpId="0" nodeType="afterEffect">
                                  <p:stCondLst>
                                    <p:cond delay="0"/>
                                  </p:stCondLst>
                                  <p:childTnLst>
                                    <p:set>
                                      <p:cBhvr>
                                        <p:cTn id="9" dur="1" fill="hold">
                                          <p:stCondLst>
                                            <p:cond delay="0"/>
                                          </p:stCondLst>
                                        </p:cTn>
                                        <p:tgtEl>
                                          <p:spTgt spid="7"/>
                                        </p:tgtEl>
                                        <p:attrNameLst>
                                          <p:attrName>style.visibility</p:attrName>
                                        </p:attrNameLst>
                                      </p:cBhvr>
                                      <p:to>
                                        <p:strVal val="visible"/>
                                      </p:to>
                                    </p:set>
                                  </p:childTnLst>
                                </p:cTn>
                              </p:par>
                            </p:childTnLst>
                          </p:cTn>
                        </p:par>
                        <p:par>
                          <p:cTn id="10" fill="hold">
                            <p:stCondLst>
                              <p:cond delay="0"/>
                            </p:stCondLst>
                            <p:childTnLst>
                              <p:par>
                                <p:cTn id="11" presetID="63" presetClass="path" presetSubtype="0" accel="50000" decel="50000" fill="hold" grpId="1" nodeType="afterEffect">
                                  <p:stCondLst>
                                    <p:cond delay="0"/>
                                  </p:stCondLst>
                                  <p:childTnLst>
                                    <p:animMotion origin="layout" path="M 0 0 L 0.03515625 0 E" pathEditMode="relative" ptsTypes="">
                                      <p:cBhvr>
                                        <p:cTn id="12" dur="800" fill="hold"/>
                                        <p:tgtEl>
                                          <p:spTgt spid="7"/>
                                        </p:tgtEl>
                                        <p:attrNameLst>
                                          <p:attrName>ppt_x</p:attrName>
                                          <p:attrName>ppt_y</p:attrName>
                                        </p:attrNameLst>
                                      </p:cBhvr>
                                    </p:animMotion>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8"/>
                                        </p:tgtEl>
                                        <p:attrNameLst>
                                          <p:attrName>style.visibility</p:attrName>
                                        </p:attrNameLst>
                                      </p:cBhvr>
                                      <p:to>
                                        <p:strVal val="visible"/>
                                      </p:to>
                                    </p:set>
                                  </p:childTnLst>
                                </p:cTn>
                              </p:par>
                            </p:childTnLst>
                          </p:cTn>
                        </p:par>
                        <p:par>
                          <p:cTn id="17" fill="hold">
                            <p:stCondLst>
                              <p:cond delay="0"/>
                            </p:stCondLst>
                            <p:childTnLst>
                              <p:par>
                                <p:cTn id="18" presetID="1" presetClass="entr" presetSubtype="0" fill="hold" grpId="0" nodeType="afterEffect">
                                  <p:stCondLst>
                                    <p:cond delay="0"/>
                                  </p:stCondLst>
                                  <p:childTnLst>
                                    <p:set>
                                      <p:cBhvr>
                                        <p:cTn id="19" dur="1" fill="hold">
                                          <p:stCondLst>
                                            <p:cond delay="0"/>
                                          </p:stCondLst>
                                        </p:cTn>
                                        <p:tgtEl>
                                          <p:spTgt spid="9"/>
                                        </p:tgtEl>
                                        <p:attrNameLst>
                                          <p:attrName>style.visibility</p:attrName>
                                        </p:attrNameLst>
                                      </p:cBhvr>
                                      <p:to>
                                        <p:strVal val="visible"/>
                                      </p:to>
                                    </p:set>
                                  </p:childTnLst>
                                </p:cTn>
                              </p:par>
                            </p:childTnLst>
                          </p:cTn>
                        </p:par>
                        <p:par>
                          <p:cTn id="20" fill="hold">
                            <p:stCondLst>
                              <p:cond delay="0"/>
                            </p:stCondLst>
                            <p:childTnLst>
                              <p:par>
                                <p:cTn id="21" presetID="63" presetClass="path" presetSubtype="0" accel="50000" decel="50000" fill="hold" grpId="1" nodeType="afterEffect">
                                  <p:stCondLst>
                                    <p:cond delay="0"/>
                                  </p:stCondLst>
                                  <p:childTnLst>
                                    <p:animMotion origin="layout" path="M 0 0 L 0.03515625 0 E" pathEditMode="relative" ptsTypes="">
                                      <p:cBhvr>
                                        <p:cTn id="22" dur="800" fill="hold"/>
                                        <p:tgtEl>
                                          <p:spTgt spid="9"/>
                                        </p:tgtEl>
                                        <p:attrNameLst>
                                          <p:attrName>ppt_x</p:attrName>
                                          <p:attrName>ppt_y</p:attrName>
                                        </p:attrNameLst>
                                      </p:cBhvr>
                                    </p:animMotion>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7" grpId="0"/>
      <p:bldP spid="7" grpId="1"/>
      <p:bldP spid="8" grpId="0"/>
      <p:bldP spid="9" grpId="0"/>
      <p:bldP spid="9" grpId="1"/>
    </p:bldLst>
  </p:timing>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1" name="object-1">
            <a:extLst>
              <a:ext uri="{FF2B5EF4-FFF2-40B4-BE49-F238E27FC236}">
                <a16:creationId xmlns:a16="http://schemas.microsoft.com/office/drawing/2014/main" id="{DE4E28A5-EE12-4DCB-BF93-5F5953CD95E2}"/>
              </a:ext>
            </a:extLst>
          </p:cNvPr>
          <p:cNvSpPr>
            <a:spLocks noGrp="1"/>
          </p:cNvSpPr>
          <p:nvPr/>
        </p:nvSpPr>
        <p:spPr>
          <a:xfrm>
            <a:off x="654844" y="357188"/>
            <a:ext cx="13930313" cy="714375"/>
          </a:xfrm>
          <a:prstGeom prst="rect">
            <a:avLst/>
          </a:prstGeom>
          <a:noFill/>
          <a:ln w="0">
            <a:noFill/>
          </a:ln>
        </p:spPr>
        <p:txBody>
          <a:bodyPr anchor="ctr">
            <a:noAutofit/>
          </a:bodyPr>
          <a:lstStyle/>
          <a:p>
            <a:pPr algn="l">
              <a:defRPr sz="4125" b="1">
                <a:solidFill>
                  <a:srgbClr val="1D4ED8"/>
                </a:solidFill>
                <a:latin typeface="Arial"/>
                <a:ea typeface="Arial"/>
                <a:cs typeface="Arial"/>
              </a:defRPr>
            </a:pPr>
            <a:r>
              <a:rPr sz="4125" b="1">
                <a:solidFill>
                  <a:srgbClr val="1D4ED8"/>
                </a:solidFill>
                <a:latin typeface="Arial"/>
                <a:ea typeface="Arial"/>
                <a:cs typeface="Arial"/>
              </a:rPr>
              <a:t>You do</a:t>
            </a:r>
          </a:p>
        </p:txBody>
      </p:sp>
      <p:sp>
        <p:nvSpPr>
          <p:cNvPr id="2" name="object-2">
            <a:extLst>
              <a:ext uri="{FF2B5EF4-FFF2-40B4-BE49-F238E27FC236}">
                <a16:creationId xmlns:a16="http://schemas.microsoft.com/office/drawing/2014/main" id="{03FE8DB3-AE80-476E-9BDA-2F4FDA5B7CA6}"/>
              </a:ext>
            </a:extLst>
          </p:cNvPr>
          <p:cNvSpPr>
            <a:spLocks noGrp="1"/>
          </p:cNvSpPr>
          <p:nvPr/>
        </p:nvSpPr>
        <p:spPr>
          <a:xfrm>
            <a:off x="11430000" y="476250"/>
            <a:ext cx="3155156" cy="547688"/>
          </a:xfrm>
          <a:prstGeom prst="rect">
            <a:avLst/>
          </a:prstGeom>
          <a:noFill/>
          <a:ln w="0">
            <a:noFill/>
          </a:ln>
        </p:spPr>
        <p:txBody>
          <a:bodyPr anchor="ctr">
            <a:noAutofit/>
          </a:bodyPr>
          <a:lstStyle/>
          <a:p>
            <a:pPr algn="r">
              <a:defRPr sz="2625" b="0">
                <a:solidFill>
                  <a:srgbClr val="52647A"/>
                </a:solidFill>
                <a:latin typeface="Arial"/>
                <a:ea typeface="Arial"/>
                <a:cs typeface="Arial"/>
              </a:defRPr>
            </a:pPr>
            <a:r>
              <a:rPr sz="2625" b="0">
                <a:solidFill>
                  <a:srgbClr val="52647A"/>
                </a:solidFill>
                <a:latin typeface="Arial"/>
                <a:ea typeface="Arial"/>
                <a:cs typeface="Arial"/>
              </a:rPr>
              <a:t>You try.</a:t>
            </a:r>
          </a:p>
        </p:txBody>
      </p:sp>
      <p:sp>
        <p:nvSpPr>
          <p:cNvPr id="3" name="object-3">
            <a:extLst>
              <a:ext uri="{FF2B5EF4-FFF2-40B4-BE49-F238E27FC236}">
                <a16:creationId xmlns:a16="http://schemas.microsoft.com/office/drawing/2014/main" id="{88766E29-3FCB-4F36-967B-35B9AE24F958}"/>
              </a:ext>
            </a:extLst>
          </p:cNvPr>
          <p:cNvSpPr>
            <a:spLocks noGrp="1"/>
          </p:cNvSpPr>
          <p:nvPr/>
        </p:nvSpPr>
        <p:spPr>
          <a:xfrm>
            <a:off x="654844" y="1250156"/>
            <a:ext cx="13930313" cy="1190625"/>
          </a:xfrm>
          <a:prstGeom prst="rect">
            <a:avLst/>
          </a:prstGeom>
          <a:noFill/>
          <a:ln w="0">
            <a:noFill/>
          </a:ln>
        </p:spPr>
        <p:txBody>
          <a:bodyPr anchor="ctr">
            <a:noAutofit/>
          </a:bodyPr>
          <a:lstStyle/>
          <a:p>
            <a:pPr algn="l">
              <a:defRPr sz="2625" b="1">
                <a:solidFill>
                  <a:srgbClr val="172B4D"/>
                </a:solidFill>
                <a:latin typeface="Arial"/>
                <a:ea typeface="Arial"/>
                <a:cs typeface="Arial"/>
              </a:defRPr>
            </a:pPr>
            <a:r>
              <a:rPr sz="2625" b="1">
                <a:solidFill>
                  <a:srgbClr val="172B4D"/>
                </a:solidFill>
                <a:latin typeface="Arial"/>
                <a:ea typeface="Arial"/>
                <a:cs typeface="Arial"/>
              </a:rPr>
              <a:t>Calculate 33 + 6 × 7.</a:t>
            </a:r>
          </a:p>
        </p:txBody>
      </p:sp>
      <p:sp>
        <p:nvSpPr>
          <p:cNvPr id="4" name="object-4">
            <a:extLst>
              <a:ext uri="{FF2B5EF4-FFF2-40B4-BE49-F238E27FC236}">
                <a16:creationId xmlns:a16="http://schemas.microsoft.com/office/drawing/2014/main" id="{5AF9DA30-105F-42C8-9194-8BFA98A3A20D}"/>
              </a:ext>
            </a:extLst>
          </p:cNvPr>
          <p:cNvSpPr>
            <a:spLocks noGrp="1"/>
          </p:cNvSpPr>
          <p:nvPr/>
        </p:nvSpPr>
        <p:spPr>
          <a:xfrm>
            <a:off x="654844" y="8012906"/>
            <a:ext cx="13930313" cy="11906"/>
          </a:xfrm>
          <a:prstGeom prst="rect">
            <a:avLst/>
          </a:prstGeom>
          <a:solidFill>
            <a:srgbClr val="BCD0EA"/>
          </a:solidFill>
          <a:ln w="0">
            <a:noFill/>
          </a:ln>
        </p:spPr>
      </p:sp>
      <p:sp>
        <p:nvSpPr>
          <p:cNvPr id="5" name="object-5">
            <a:extLst>
              <a:ext uri="{FF2B5EF4-FFF2-40B4-BE49-F238E27FC236}">
                <a16:creationId xmlns:a16="http://schemas.microsoft.com/office/drawing/2014/main" id="{A49FB5FF-03D1-4B4A-B5E5-13C96224ABB4}"/>
              </a:ext>
            </a:extLst>
          </p:cNvPr>
          <p:cNvSpPr>
            <a:spLocks noGrp="1"/>
          </p:cNvSpPr>
          <p:nvPr/>
        </p:nvSpPr>
        <p:spPr>
          <a:xfrm>
            <a:off x="654844" y="8120063"/>
            <a:ext cx="12977813" cy="285750"/>
          </a:xfrm>
          <a:prstGeom prst="rect">
            <a:avLst/>
          </a:prstGeom>
          <a:noFill/>
          <a:ln w="0">
            <a:noFill/>
          </a:ln>
        </p:spPr>
        <p:txBody>
          <a:bodyPr anchor="ctr">
            <a:noAutofit/>
          </a:bodyPr>
          <a:lstStyle/>
          <a:p>
            <a:pPr algn="l">
              <a:defRPr sz="1219" b="0">
                <a:solidFill>
                  <a:srgbClr val="52647A"/>
                </a:solidFill>
                <a:latin typeface="Arial"/>
                <a:ea typeface="Arial"/>
                <a:cs typeface="Arial"/>
              </a:defRPr>
            </a:pPr>
            <a:r>
              <a:rPr sz="1219" b="0">
                <a:solidFill>
                  <a:srgbClr val="52647A"/>
                </a:solidFill>
                <a:latin typeface="Arial"/>
                <a:ea typeface="Arial"/>
                <a:cs typeface="Arial"/>
              </a:rPr>
              <a:t>BrightPath · Use multiplication and division before addition and subtraction</a:t>
            </a:r>
          </a:p>
        </p:txBody>
      </p:sp>
      <p:sp>
        <p:nvSpPr>
          <p:cNvPr id="6" name="object-6">
            <a:extLst>
              <a:ext uri="{FF2B5EF4-FFF2-40B4-BE49-F238E27FC236}">
                <a16:creationId xmlns:a16="http://schemas.microsoft.com/office/drawing/2014/main" id="{D588DBDA-56D8-4362-8E0C-F27B127616DF}"/>
              </a:ext>
            </a:extLst>
          </p:cNvPr>
          <p:cNvSpPr>
            <a:spLocks noGrp="1"/>
          </p:cNvSpPr>
          <p:nvPr/>
        </p:nvSpPr>
        <p:spPr>
          <a:xfrm>
            <a:off x="13811250" y="8120063"/>
            <a:ext cx="773906" cy="285750"/>
          </a:xfrm>
          <a:prstGeom prst="rect">
            <a:avLst/>
          </a:prstGeom>
          <a:noFill/>
          <a:ln w="0">
            <a:noFill/>
          </a:ln>
        </p:spPr>
        <p:txBody>
          <a:bodyPr anchor="ctr">
            <a:noAutofit/>
          </a:bodyPr>
          <a:lstStyle/>
          <a:p>
            <a:pPr algn="r">
              <a:defRPr sz="1219" b="0">
                <a:solidFill>
                  <a:srgbClr val="52647A"/>
                </a:solidFill>
                <a:latin typeface="Arial"/>
                <a:ea typeface="Arial"/>
                <a:cs typeface="Arial"/>
              </a:defRPr>
            </a:pPr>
            <a:r>
              <a:rPr sz="1219" b="0">
                <a:solidFill>
                  <a:srgbClr val="52647A"/>
                </a:solidFill>
                <a:latin typeface="Arial"/>
                <a:ea typeface="Arial"/>
                <a:cs typeface="Arial"/>
              </a:rPr>
              <a:t>5</a:t>
            </a:r>
          </a:p>
        </p:txBody>
      </p:sp>
      <p:sp>
        <p:nvSpPr>
          <p:cNvPr id="7" name="object-7">
            <a:extLst>
              <a:ext uri="{FF2B5EF4-FFF2-40B4-BE49-F238E27FC236}">
                <a16:creationId xmlns:a16="http://schemas.microsoft.com/office/drawing/2014/main" id="{C2AE315D-DE9F-4593-ACBC-A76B9AA88696}"/>
              </a:ext>
            </a:extLst>
          </p:cNvPr>
          <p:cNvSpPr>
            <a:spLocks noGrp="1"/>
          </p:cNvSpPr>
          <p:nvPr/>
        </p:nvSpPr>
        <p:spPr>
          <a:xfrm>
            <a:off x="1012031" y="2714625"/>
            <a:ext cx="8572500" cy="797719"/>
          </a:xfrm>
          <a:prstGeom prst="rect">
            <a:avLst/>
          </a:prstGeom>
          <a:noFill/>
          <a:ln w="0">
            <a:noFill/>
          </a:ln>
        </p:spPr>
        <p:txBody>
          <a:bodyPr anchor="ctr">
            <a:noAutofit/>
          </a:bodyPr>
          <a:lstStyle/>
          <a:p>
            <a:pPr algn="l">
              <a:defRPr sz="3188" b="1">
                <a:solidFill>
                  <a:srgbClr val="172B4D"/>
                </a:solidFill>
                <a:latin typeface="Arial"/>
                <a:ea typeface="Arial"/>
                <a:cs typeface="Arial"/>
              </a:defRPr>
            </a:pPr>
            <a:r>
              <a:rPr sz="3188" b="1">
                <a:solidFill>
                  <a:srgbClr val="172B4D"/>
                </a:solidFill>
                <a:latin typeface="Arial"/>
                <a:ea typeface="Arial"/>
                <a:cs typeface="Arial"/>
              </a:rPr>
              <a:t>6 × 7 =</a:t>
            </a:r>
          </a:p>
        </p:txBody>
      </p:sp>
      <p:sp>
        <p:nvSpPr>
          <p:cNvPr id="8" name="object-8">
            <a:extLst>
              <a:ext uri="{FF2B5EF4-FFF2-40B4-BE49-F238E27FC236}">
                <a16:creationId xmlns:a16="http://schemas.microsoft.com/office/drawing/2014/main" id="{C87BDA7E-490C-4AB2-AEAD-B5084B488383}"/>
              </a:ext>
            </a:extLst>
          </p:cNvPr>
          <p:cNvSpPr>
            <a:spLocks noGrp="1"/>
          </p:cNvSpPr>
          <p:nvPr/>
        </p:nvSpPr>
        <p:spPr>
          <a:xfrm>
            <a:off x="9346406" y="2714625"/>
            <a:ext cx="3810000" cy="797719"/>
          </a:xfrm>
          <a:prstGeom prst="rect">
            <a:avLst/>
          </a:prstGeom>
          <a:noFill/>
          <a:ln w="0">
            <a:noFill/>
          </a:ln>
        </p:spPr>
        <p:txBody>
          <a:bodyPr anchor="ctr">
            <a:noAutofit/>
          </a:bodyPr>
          <a:lstStyle/>
          <a:p>
            <a:pPr algn="ctr">
              <a:defRPr sz="3750" b="1">
                <a:solidFill>
                  <a:srgbClr val="11745A"/>
                </a:solidFill>
                <a:latin typeface="Arial"/>
                <a:ea typeface="Arial"/>
                <a:cs typeface="Arial"/>
              </a:defRPr>
            </a:pPr>
            <a:r>
              <a:rPr sz="3750" b="1">
                <a:solidFill>
                  <a:srgbClr val="11745A"/>
                </a:solidFill>
                <a:latin typeface="Arial"/>
                <a:ea typeface="Arial"/>
                <a:cs typeface="Arial"/>
              </a:rPr>
              <a:t>42</a:t>
            </a:r>
          </a:p>
        </p:txBody>
      </p:sp>
      <p:sp>
        <p:nvSpPr>
          <p:cNvPr id="9" name="object-9">
            <a:extLst>
              <a:ext uri="{FF2B5EF4-FFF2-40B4-BE49-F238E27FC236}">
                <a16:creationId xmlns:a16="http://schemas.microsoft.com/office/drawing/2014/main" id="{89011C15-D2FD-479C-9D62-AE745340DFF7}"/>
              </a:ext>
            </a:extLst>
          </p:cNvPr>
          <p:cNvSpPr>
            <a:spLocks noGrp="1"/>
          </p:cNvSpPr>
          <p:nvPr/>
        </p:nvSpPr>
        <p:spPr>
          <a:xfrm>
            <a:off x="1012031" y="4064000"/>
            <a:ext cx="8572500" cy="797719"/>
          </a:xfrm>
          <a:prstGeom prst="rect">
            <a:avLst/>
          </a:prstGeom>
          <a:noFill/>
          <a:ln w="0">
            <a:noFill/>
          </a:ln>
        </p:spPr>
        <p:txBody>
          <a:bodyPr anchor="ctr">
            <a:noAutofit/>
          </a:bodyPr>
          <a:lstStyle/>
          <a:p>
            <a:pPr algn="l">
              <a:defRPr sz="3188" b="1">
                <a:solidFill>
                  <a:srgbClr val="172B4D"/>
                </a:solidFill>
                <a:latin typeface="Arial"/>
                <a:ea typeface="Arial"/>
                <a:cs typeface="Arial"/>
              </a:defRPr>
            </a:pPr>
            <a:r>
              <a:rPr sz="3188" b="1">
                <a:solidFill>
                  <a:srgbClr val="172B4D"/>
                </a:solidFill>
                <a:latin typeface="Arial"/>
                <a:ea typeface="Arial"/>
                <a:cs typeface="Arial"/>
              </a:rPr>
              <a:t>33 + 42 =</a:t>
            </a:r>
          </a:p>
        </p:txBody>
      </p:sp>
      <p:sp>
        <p:nvSpPr>
          <p:cNvPr id="10" name="object-10">
            <a:extLst>
              <a:ext uri="{FF2B5EF4-FFF2-40B4-BE49-F238E27FC236}">
                <a16:creationId xmlns:a16="http://schemas.microsoft.com/office/drawing/2014/main" id="{9CCB1930-B588-41D8-A975-8CF9C9C2D54B}"/>
              </a:ext>
            </a:extLst>
          </p:cNvPr>
          <p:cNvSpPr>
            <a:spLocks noGrp="1"/>
          </p:cNvSpPr>
          <p:nvPr/>
        </p:nvSpPr>
        <p:spPr>
          <a:xfrm>
            <a:off x="9346406" y="4064000"/>
            <a:ext cx="3810000" cy="797719"/>
          </a:xfrm>
          <a:prstGeom prst="rect">
            <a:avLst/>
          </a:prstGeom>
          <a:noFill/>
          <a:ln w="0">
            <a:noFill/>
          </a:ln>
        </p:spPr>
        <p:txBody>
          <a:bodyPr anchor="ctr">
            <a:noAutofit/>
          </a:bodyPr>
          <a:lstStyle/>
          <a:p>
            <a:pPr algn="ctr">
              <a:defRPr sz="3750" b="1">
                <a:solidFill>
                  <a:srgbClr val="11745A"/>
                </a:solidFill>
                <a:latin typeface="Arial"/>
                <a:ea typeface="Arial"/>
                <a:cs typeface="Arial"/>
              </a:defRPr>
            </a:pPr>
            <a:r>
              <a:rPr sz="3750" b="1">
                <a:solidFill>
                  <a:srgbClr val="11745A"/>
                </a:solidFill>
                <a:latin typeface="Arial"/>
                <a:ea typeface="Arial"/>
                <a:cs typeface="Arial"/>
              </a:rPr>
              <a:t>75</a:t>
            </a:r>
          </a:p>
        </p:txBody>
      </p:sp>
    </p:spTree>
    <p:extLst>
      <p:ext uri="{BB962C8B-B14F-4D97-AF65-F5344CB8AC3E}">
        <p14:creationId xmlns:p14="http://schemas.microsoft.com/office/powerpoint/2010/main" val="112916416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par>
                          <p:cTn id="7" fill="hold">
                            <p:stCondLst>
                              <p:cond delay="0"/>
                            </p:stCondLst>
                            <p:childTnLst>
                              <p:par>
                                <p:cTn id="8" presetID="1" presetClass="entr" presetSubtype="0" fill="hold" grpId="0" nodeType="afterEffect">
                                  <p:stCondLst>
                                    <p:cond delay="0"/>
                                  </p:stCondLst>
                                  <p:childTnLst>
                                    <p:set>
                                      <p:cBhvr>
                                        <p:cTn id="9" dur="1" fill="hold">
                                          <p:stCondLst>
                                            <p:cond delay="0"/>
                                          </p:stCondLst>
                                        </p:cTn>
                                        <p:tgtEl>
                                          <p:spTgt spid="8"/>
                                        </p:tgtEl>
                                        <p:attrNameLst>
                                          <p:attrName>style.visibility</p:attrName>
                                        </p:attrNameLst>
                                      </p:cBhvr>
                                      <p:to>
                                        <p:strVal val="visible"/>
                                      </p:to>
                                    </p:set>
                                  </p:childTnLst>
                                </p:cTn>
                              </p:par>
                            </p:childTnLst>
                          </p:cTn>
                        </p:par>
                        <p:par>
                          <p:cTn id="10" fill="hold">
                            <p:stCondLst>
                              <p:cond delay="0"/>
                            </p:stCondLst>
                            <p:childTnLst>
                              <p:par>
                                <p:cTn id="11" presetID="63" presetClass="path" presetSubtype="0" accel="50000" decel="50000" fill="hold" grpId="1" nodeType="afterEffect">
                                  <p:stCondLst>
                                    <p:cond delay="0"/>
                                  </p:stCondLst>
                                  <p:childTnLst>
                                    <p:animMotion origin="layout" path="M 0 0 L 0.03515625 0 E" pathEditMode="relative" ptsTypes="">
                                      <p:cBhvr>
                                        <p:cTn id="12" dur="800" fill="hold"/>
                                        <p:tgtEl>
                                          <p:spTgt spid="8"/>
                                        </p:tgtEl>
                                        <p:attrNameLst>
                                          <p:attrName>ppt_x</p:attrName>
                                          <p:attrName>ppt_y</p:attrName>
                                        </p:attrNameLst>
                                      </p:cBhvr>
                                    </p:animMotion>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9"/>
                                        </p:tgtEl>
                                        <p:attrNameLst>
                                          <p:attrName>style.visibility</p:attrName>
                                        </p:attrNameLst>
                                      </p:cBhvr>
                                      <p:to>
                                        <p:strVal val="visible"/>
                                      </p:to>
                                    </p:set>
                                  </p:childTnLst>
                                </p:cTn>
                              </p:par>
                            </p:childTnLst>
                          </p:cTn>
                        </p:par>
                        <p:par>
                          <p:cTn id="17" fill="hold">
                            <p:stCondLst>
                              <p:cond delay="0"/>
                            </p:stCondLst>
                            <p:childTnLst>
                              <p:par>
                                <p:cTn id="18" presetID="1" presetClass="entr" presetSubtype="0" fill="hold" grpId="0" nodeType="afterEffect">
                                  <p:stCondLst>
                                    <p:cond delay="0"/>
                                  </p:stCondLst>
                                  <p:childTnLst>
                                    <p:set>
                                      <p:cBhvr>
                                        <p:cTn id="19" dur="1" fill="hold">
                                          <p:stCondLst>
                                            <p:cond delay="0"/>
                                          </p:stCondLst>
                                        </p:cTn>
                                        <p:tgtEl>
                                          <p:spTgt spid="10"/>
                                        </p:tgtEl>
                                        <p:attrNameLst>
                                          <p:attrName>style.visibility</p:attrName>
                                        </p:attrNameLst>
                                      </p:cBhvr>
                                      <p:to>
                                        <p:strVal val="visible"/>
                                      </p:to>
                                    </p:set>
                                  </p:childTnLst>
                                </p:cTn>
                              </p:par>
                            </p:childTnLst>
                          </p:cTn>
                        </p:par>
                        <p:par>
                          <p:cTn id="20" fill="hold">
                            <p:stCondLst>
                              <p:cond delay="0"/>
                            </p:stCondLst>
                            <p:childTnLst>
                              <p:par>
                                <p:cTn id="21" presetID="63" presetClass="path" presetSubtype="0" accel="50000" decel="50000" fill="hold" grpId="1" nodeType="afterEffect">
                                  <p:stCondLst>
                                    <p:cond delay="0"/>
                                  </p:stCondLst>
                                  <p:childTnLst>
                                    <p:animMotion origin="layout" path="M 0 0 L 0.03515625 0 E" pathEditMode="relative" ptsTypes="">
                                      <p:cBhvr>
                                        <p:cTn id="22" dur="800" fill="hold"/>
                                        <p:tgtEl>
                                          <p:spTgt spid="10"/>
                                        </p:tgtEl>
                                        <p:attrNameLst>
                                          <p:attrName>ppt_x</p:attrName>
                                          <p:attrName>ppt_y</p:attrName>
                                        </p:attrNameLst>
                                      </p:cBhvr>
                                    </p:animMotion>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P spid="8" grpId="0"/>
      <p:bldP spid="8" grpId="1"/>
      <p:bldP spid="9" grpId="0"/>
      <p:bldP spid="10" grpId="0"/>
      <p:bldP spid="10" grpId="1"/>
    </p:bldLst>
  </p:timing>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7" name="object-1">
            <a:extLst>
              <a:ext uri="{FF2B5EF4-FFF2-40B4-BE49-F238E27FC236}">
                <a16:creationId xmlns:a16="http://schemas.microsoft.com/office/drawing/2014/main" id="{8AADE20D-6E94-4A29-B005-C2A6E4556084}"/>
              </a:ext>
            </a:extLst>
          </p:cNvPr>
          <p:cNvSpPr>
            <a:spLocks noGrp="1"/>
          </p:cNvSpPr>
          <p:nvPr/>
        </p:nvSpPr>
        <p:spPr>
          <a:xfrm>
            <a:off x="654844" y="357188"/>
            <a:ext cx="13930313" cy="714375"/>
          </a:xfrm>
          <a:prstGeom prst="rect">
            <a:avLst/>
          </a:prstGeom>
          <a:noFill/>
          <a:ln w="0">
            <a:noFill/>
          </a:ln>
        </p:spPr>
        <p:txBody>
          <a:bodyPr anchor="ctr">
            <a:noAutofit/>
          </a:bodyPr>
          <a:lstStyle/>
          <a:p>
            <a:pPr algn="l">
              <a:defRPr sz="4125" b="1">
                <a:solidFill>
                  <a:srgbClr val="1D4ED8"/>
                </a:solidFill>
                <a:latin typeface="Arial"/>
                <a:ea typeface="Arial"/>
                <a:cs typeface="Arial"/>
              </a:defRPr>
            </a:pPr>
            <a:r>
              <a:rPr sz="4125" b="1">
                <a:solidFill>
                  <a:srgbClr val="1D4ED8"/>
                </a:solidFill>
                <a:latin typeface="Arial"/>
                <a:ea typeface="Arial"/>
                <a:cs typeface="Arial"/>
              </a:rPr>
              <a:t>You do</a:t>
            </a:r>
          </a:p>
        </p:txBody>
      </p:sp>
      <p:sp>
        <p:nvSpPr>
          <p:cNvPr id="2" name="object-2">
            <a:extLst>
              <a:ext uri="{FF2B5EF4-FFF2-40B4-BE49-F238E27FC236}">
                <a16:creationId xmlns:a16="http://schemas.microsoft.com/office/drawing/2014/main" id="{812191F4-726D-46B0-9959-11D445489F25}"/>
              </a:ext>
            </a:extLst>
          </p:cNvPr>
          <p:cNvSpPr>
            <a:spLocks noGrp="1"/>
          </p:cNvSpPr>
          <p:nvPr/>
        </p:nvSpPr>
        <p:spPr>
          <a:xfrm>
            <a:off x="11430000" y="476250"/>
            <a:ext cx="3155156" cy="547688"/>
          </a:xfrm>
          <a:prstGeom prst="rect">
            <a:avLst/>
          </a:prstGeom>
          <a:noFill/>
          <a:ln w="0">
            <a:noFill/>
          </a:ln>
        </p:spPr>
        <p:txBody>
          <a:bodyPr anchor="ctr">
            <a:noAutofit/>
          </a:bodyPr>
          <a:lstStyle/>
          <a:p>
            <a:pPr algn="r">
              <a:defRPr sz="2625" b="0">
                <a:solidFill>
                  <a:srgbClr val="52647A"/>
                </a:solidFill>
                <a:latin typeface="Arial"/>
                <a:ea typeface="Arial"/>
                <a:cs typeface="Arial"/>
              </a:defRPr>
            </a:pPr>
            <a:r>
              <a:rPr sz="2625" b="0">
                <a:solidFill>
                  <a:srgbClr val="52647A"/>
                </a:solidFill>
                <a:latin typeface="Arial"/>
                <a:ea typeface="Arial"/>
                <a:cs typeface="Arial"/>
              </a:rPr>
              <a:t>You try.</a:t>
            </a:r>
          </a:p>
        </p:txBody>
      </p:sp>
      <p:sp>
        <p:nvSpPr>
          <p:cNvPr id="3" name="object-3">
            <a:extLst>
              <a:ext uri="{FF2B5EF4-FFF2-40B4-BE49-F238E27FC236}">
                <a16:creationId xmlns:a16="http://schemas.microsoft.com/office/drawing/2014/main" id="{CB57E28B-FD07-456B-9BB6-C86602233320}"/>
              </a:ext>
            </a:extLst>
          </p:cNvPr>
          <p:cNvSpPr>
            <a:spLocks noGrp="1"/>
          </p:cNvSpPr>
          <p:nvPr/>
        </p:nvSpPr>
        <p:spPr>
          <a:xfrm>
            <a:off x="654844" y="1250156"/>
            <a:ext cx="13930313" cy="1190625"/>
          </a:xfrm>
          <a:prstGeom prst="rect">
            <a:avLst/>
          </a:prstGeom>
          <a:noFill/>
          <a:ln w="0">
            <a:noFill/>
          </a:ln>
        </p:spPr>
        <p:txBody>
          <a:bodyPr anchor="ctr">
            <a:noAutofit/>
          </a:bodyPr>
          <a:lstStyle/>
          <a:p>
            <a:pPr algn="l">
              <a:defRPr sz="2625" b="1">
                <a:solidFill>
                  <a:srgbClr val="172B4D"/>
                </a:solidFill>
                <a:latin typeface="Arial"/>
                <a:ea typeface="Arial"/>
                <a:cs typeface="Arial"/>
              </a:defRPr>
            </a:pPr>
            <a:r>
              <a:rPr sz="2625" b="1">
                <a:solidFill>
                  <a:srgbClr val="172B4D"/>
                </a:solidFill>
                <a:latin typeface="Arial"/>
                <a:ea typeface="Arial"/>
                <a:cs typeface="Arial"/>
              </a:rPr>
              <a:t>Try these questions.</a:t>
            </a:r>
          </a:p>
        </p:txBody>
      </p:sp>
      <p:sp>
        <p:nvSpPr>
          <p:cNvPr id="4" name="object-4">
            <a:extLst>
              <a:ext uri="{FF2B5EF4-FFF2-40B4-BE49-F238E27FC236}">
                <a16:creationId xmlns:a16="http://schemas.microsoft.com/office/drawing/2014/main" id="{5837361B-D198-4A04-AE35-C7EB4B711901}"/>
              </a:ext>
            </a:extLst>
          </p:cNvPr>
          <p:cNvSpPr>
            <a:spLocks noGrp="1"/>
          </p:cNvSpPr>
          <p:nvPr/>
        </p:nvSpPr>
        <p:spPr>
          <a:xfrm>
            <a:off x="654844" y="8012906"/>
            <a:ext cx="13930313" cy="11906"/>
          </a:xfrm>
          <a:prstGeom prst="rect">
            <a:avLst/>
          </a:prstGeom>
          <a:solidFill>
            <a:srgbClr val="BCD0EA"/>
          </a:solidFill>
          <a:ln w="0">
            <a:noFill/>
          </a:ln>
        </p:spPr>
      </p:sp>
      <p:sp>
        <p:nvSpPr>
          <p:cNvPr id="5" name="object-5">
            <a:extLst>
              <a:ext uri="{FF2B5EF4-FFF2-40B4-BE49-F238E27FC236}">
                <a16:creationId xmlns:a16="http://schemas.microsoft.com/office/drawing/2014/main" id="{2BD29637-B2DA-40E0-B419-97240B2664A6}"/>
              </a:ext>
            </a:extLst>
          </p:cNvPr>
          <p:cNvSpPr>
            <a:spLocks noGrp="1"/>
          </p:cNvSpPr>
          <p:nvPr/>
        </p:nvSpPr>
        <p:spPr>
          <a:xfrm>
            <a:off x="654844" y="8120063"/>
            <a:ext cx="12977813" cy="285750"/>
          </a:xfrm>
          <a:prstGeom prst="rect">
            <a:avLst/>
          </a:prstGeom>
          <a:noFill/>
          <a:ln w="0">
            <a:noFill/>
          </a:ln>
        </p:spPr>
        <p:txBody>
          <a:bodyPr anchor="ctr">
            <a:noAutofit/>
          </a:bodyPr>
          <a:lstStyle/>
          <a:p>
            <a:pPr algn="l">
              <a:defRPr sz="1219" b="0">
                <a:solidFill>
                  <a:srgbClr val="52647A"/>
                </a:solidFill>
                <a:latin typeface="Arial"/>
                <a:ea typeface="Arial"/>
                <a:cs typeface="Arial"/>
              </a:defRPr>
            </a:pPr>
            <a:r>
              <a:rPr sz="1219" b="0">
                <a:solidFill>
                  <a:srgbClr val="52647A"/>
                </a:solidFill>
                <a:latin typeface="Arial"/>
                <a:ea typeface="Arial"/>
                <a:cs typeface="Arial"/>
              </a:rPr>
              <a:t>BrightPath · Use multiplication and division before addition and subtraction</a:t>
            </a:r>
          </a:p>
        </p:txBody>
      </p:sp>
      <p:sp>
        <p:nvSpPr>
          <p:cNvPr id="6" name="object-6">
            <a:extLst>
              <a:ext uri="{FF2B5EF4-FFF2-40B4-BE49-F238E27FC236}">
                <a16:creationId xmlns:a16="http://schemas.microsoft.com/office/drawing/2014/main" id="{0029919A-4A6C-45B0-BD28-2D0ABB3BE563}"/>
              </a:ext>
            </a:extLst>
          </p:cNvPr>
          <p:cNvSpPr>
            <a:spLocks noGrp="1"/>
          </p:cNvSpPr>
          <p:nvPr/>
        </p:nvSpPr>
        <p:spPr>
          <a:xfrm>
            <a:off x="13811250" y="8120063"/>
            <a:ext cx="773906" cy="285750"/>
          </a:xfrm>
          <a:prstGeom prst="rect">
            <a:avLst/>
          </a:prstGeom>
          <a:noFill/>
          <a:ln w="0">
            <a:noFill/>
          </a:ln>
        </p:spPr>
        <p:txBody>
          <a:bodyPr anchor="ctr">
            <a:noAutofit/>
          </a:bodyPr>
          <a:lstStyle/>
          <a:p>
            <a:pPr algn="r">
              <a:defRPr sz="1219" b="0">
                <a:solidFill>
                  <a:srgbClr val="52647A"/>
                </a:solidFill>
                <a:latin typeface="Arial"/>
                <a:ea typeface="Arial"/>
                <a:cs typeface="Arial"/>
              </a:defRPr>
            </a:pPr>
            <a:r>
              <a:rPr sz="1219" b="0">
                <a:solidFill>
                  <a:srgbClr val="52647A"/>
                </a:solidFill>
                <a:latin typeface="Arial"/>
                <a:ea typeface="Arial"/>
                <a:cs typeface="Arial"/>
              </a:rPr>
              <a:t>6</a:t>
            </a:r>
          </a:p>
        </p:txBody>
      </p:sp>
      <p:sp>
        <p:nvSpPr>
          <p:cNvPr id="7" name="object-7">
            <a:extLst>
              <a:ext uri="{FF2B5EF4-FFF2-40B4-BE49-F238E27FC236}">
                <a16:creationId xmlns:a16="http://schemas.microsoft.com/office/drawing/2014/main" id="{05A8C95B-B83E-432D-B09B-3BA93417A704}"/>
              </a:ext>
            </a:extLst>
          </p:cNvPr>
          <p:cNvSpPr>
            <a:spLocks noGrp="1"/>
          </p:cNvSpPr>
          <p:nvPr/>
        </p:nvSpPr>
        <p:spPr>
          <a:xfrm>
            <a:off x="773906" y="2512219"/>
            <a:ext cx="678656" cy="976313"/>
          </a:xfrm>
          <a:prstGeom prst="rect">
            <a:avLst/>
          </a:prstGeom>
          <a:noFill/>
          <a:ln w="0">
            <a:noFill/>
          </a:ln>
        </p:spPr>
        <p:txBody>
          <a:bodyPr anchor="ctr">
            <a:noAutofit/>
          </a:bodyPr>
          <a:lstStyle/>
          <a:p>
            <a:pPr algn="l">
              <a:defRPr sz="1875" b="1">
                <a:solidFill>
                  <a:srgbClr val="1D4ED8"/>
                </a:solidFill>
                <a:latin typeface="Arial"/>
                <a:ea typeface="Arial"/>
                <a:cs typeface="Arial"/>
              </a:defRPr>
            </a:pPr>
            <a:r>
              <a:rPr sz="1875" b="1">
                <a:solidFill>
                  <a:srgbClr val="1D4ED8"/>
                </a:solidFill>
                <a:latin typeface="Arial"/>
                <a:ea typeface="Arial"/>
                <a:cs typeface="Arial"/>
              </a:rPr>
              <a:t>1.</a:t>
            </a:r>
          </a:p>
        </p:txBody>
      </p:sp>
      <p:sp>
        <p:nvSpPr>
          <p:cNvPr id="8" name="object-8">
            <a:extLst>
              <a:ext uri="{FF2B5EF4-FFF2-40B4-BE49-F238E27FC236}">
                <a16:creationId xmlns:a16="http://schemas.microsoft.com/office/drawing/2014/main" id="{DC7B9259-D1AC-4006-A590-7BE68DEB6C3F}"/>
              </a:ext>
            </a:extLst>
          </p:cNvPr>
          <p:cNvSpPr>
            <a:spLocks noGrp="1"/>
          </p:cNvSpPr>
          <p:nvPr/>
        </p:nvSpPr>
        <p:spPr>
          <a:xfrm>
            <a:off x="1464469" y="2512219"/>
            <a:ext cx="5917406" cy="976313"/>
          </a:xfrm>
          <a:prstGeom prst="rect">
            <a:avLst/>
          </a:prstGeom>
          <a:noFill/>
          <a:ln w="0">
            <a:noFill/>
          </a:ln>
        </p:spPr>
        <p:txBody>
          <a:bodyPr anchor="ctr">
            <a:noAutofit/>
          </a:bodyPr>
          <a:lstStyle/>
          <a:p>
            <a:pPr algn="l">
              <a:defRPr sz="1800" b="0">
                <a:solidFill>
                  <a:srgbClr val="172B4D"/>
                </a:solidFill>
                <a:latin typeface="Arial"/>
                <a:ea typeface="Arial"/>
                <a:cs typeface="Arial"/>
              </a:defRPr>
            </a:pPr>
            <a:r>
              <a:rPr sz="1800" b="0">
                <a:solidFill>
                  <a:srgbClr val="172B4D"/>
                </a:solidFill>
                <a:latin typeface="Arial"/>
                <a:ea typeface="Arial"/>
                <a:cs typeface="Arial"/>
              </a:rPr>
              <a:t>Calculate 18 + 6 x 7.</a:t>
            </a:r>
          </a:p>
        </p:txBody>
      </p:sp>
      <p:sp>
        <p:nvSpPr>
          <p:cNvPr id="9" name="object-9">
            <a:extLst>
              <a:ext uri="{FF2B5EF4-FFF2-40B4-BE49-F238E27FC236}">
                <a16:creationId xmlns:a16="http://schemas.microsoft.com/office/drawing/2014/main" id="{33A40E5D-0811-4D68-86FD-384299F66669}"/>
              </a:ext>
            </a:extLst>
          </p:cNvPr>
          <p:cNvSpPr>
            <a:spLocks noGrp="1"/>
          </p:cNvSpPr>
          <p:nvPr/>
        </p:nvSpPr>
        <p:spPr>
          <a:xfrm>
            <a:off x="773906" y="3559969"/>
            <a:ext cx="678656" cy="976313"/>
          </a:xfrm>
          <a:prstGeom prst="rect">
            <a:avLst/>
          </a:prstGeom>
          <a:noFill/>
          <a:ln w="0">
            <a:noFill/>
          </a:ln>
        </p:spPr>
        <p:txBody>
          <a:bodyPr anchor="ctr">
            <a:noAutofit/>
          </a:bodyPr>
          <a:lstStyle/>
          <a:p>
            <a:pPr algn="l">
              <a:defRPr sz="1875" b="1">
                <a:solidFill>
                  <a:srgbClr val="1D4ED8"/>
                </a:solidFill>
                <a:latin typeface="Arial"/>
                <a:ea typeface="Arial"/>
                <a:cs typeface="Arial"/>
              </a:defRPr>
            </a:pPr>
            <a:r>
              <a:rPr sz="1875" b="1">
                <a:solidFill>
                  <a:srgbClr val="1D4ED8"/>
                </a:solidFill>
                <a:latin typeface="Arial"/>
                <a:ea typeface="Arial"/>
                <a:cs typeface="Arial"/>
              </a:rPr>
              <a:t>2.</a:t>
            </a:r>
          </a:p>
        </p:txBody>
      </p:sp>
      <p:sp>
        <p:nvSpPr>
          <p:cNvPr id="10" name="object-10">
            <a:extLst>
              <a:ext uri="{FF2B5EF4-FFF2-40B4-BE49-F238E27FC236}">
                <a16:creationId xmlns:a16="http://schemas.microsoft.com/office/drawing/2014/main" id="{24BC32FE-9C9E-4561-8FED-024F45689C8D}"/>
              </a:ext>
            </a:extLst>
          </p:cNvPr>
          <p:cNvSpPr>
            <a:spLocks noGrp="1"/>
          </p:cNvSpPr>
          <p:nvPr/>
        </p:nvSpPr>
        <p:spPr>
          <a:xfrm>
            <a:off x="1464469" y="3559969"/>
            <a:ext cx="5917406" cy="976313"/>
          </a:xfrm>
          <a:prstGeom prst="rect">
            <a:avLst/>
          </a:prstGeom>
          <a:noFill/>
          <a:ln w="0">
            <a:noFill/>
          </a:ln>
        </p:spPr>
        <p:txBody>
          <a:bodyPr anchor="ctr">
            <a:noAutofit/>
          </a:bodyPr>
          <a:lstStyle/>
          <a:p>
            <a:pPr algn="l">
              <a:defRPr sz="1800" b="0">
                <a:solidFill>
                  <a:srgbClr val="172B4D"/>
                </a:solidFill>
                <a:latin typeface="Arial"/>
                <a:ea typeface="Arial"/>
                <a:cs typeface="Arial"/>
              </a:defRPr>
            </a:pPr>
            <a:r>
              <a:rPr sz="1800" b="0">
                <a:solidFill>
                  <a:srgbClr val="172B4D"/>
                </a:solidFill>
                <a:latin typeface="Arial"/>
                <a:ea typeface="Arial"/>
                <a:cs typeface="Arial"/>
              </a:rPr>
              <a:t>Calculate 90 - 36 / 6.</a:t>
            </a:r>
          </a:p>
        </p:txBody>
      </p:sp>
      <p:sp>
        <p:nvSpPr>
          <p:cNvPr id="11" name="object-11">
            <a:extLst>
              <a:ext uri="{FF2B5EF4-FFF2-40B4-BE49-F238E27FC236}">
                <a16:creationId xmlns:a16="http://schemas.microsoft.com/office/drawing/2014/main" id="{06DB1804-BCB3-4E86-AF62-0FF7BB6C9A5B}"/>
              </a:ext>
            </a:extLst>
          </p:cNvPr>
          <p:cNvSpPr>
            <a:spLocks noGrp="1"/>
          </p:cNvSpPr>
          <p:nvPr/>
        </p:nvSpPr>
        <p:spPr>
          <a:xfrm>
            <a:off x="773906" y="4607719"/>
            <a:ext cx="678656" cy="976313"/>
          </a:xfrm>
          <a:prstGeom prst="rect">
            <a:avLst/>
          </a:prstGeom>
          <a:noFill/>
          <a:ln w="0">
            <a:noFill/>
          </a:ln>
        </p:spPr>
        <p:txBody>
          <a:bodyPr anchor="ctr">
            <a:noAutofit/>
          </a:bodyPr>
          <a:lstStyle/>
          <a:p>
            <a:pPr algn="l">
              <a:defRPr sz="1875" b="1">
                <a:solidFill>
                  <a:srgbClr val="1D4ED8"/>
                </a:solidFill>
                <a:latin typeface="Arial"/>
                <a:ea typeface="Arial"/>
                <a:cs typeface="Arial"/>
              </a:defRPr>
            </a:pPr>
            <a:r>
              <a:rPr sz="1875" b="1">
                <a:solidFill>
                  <a:srgbClr val="1D4ED8"/>
                </a:solidFill>
                <a:latin typeface="Arial"/>
                <a:ea typeface="Arial"/>
                <a:cs typeface="Arial"/>
              </a:rPr>
              <a:t>3.</a:t>
            </a:r>
          </a:p>
        </p:txBody>
      </p:sp>
      <p:sp>
        <p:nvSpPr>
          <p:cNvPr id="12" name="object-12">
            <a:extLst>
              <a:ext uri="{FF2B5EF4-FFF2-40B4-BE49-F238E27FC236}">
                <a16:creationId xmlns:a16="http://schemas.microsoft.com/office/drawing/2014/main" id="{6978002E-D107-4B5B-9B27-0E8B54ECB50D}"/>
              </a:ext>
            </a:extLst>
          </p:cNvPr>
          <p:cNvSpPr>
            <a:spLocks noGrp="1"/>
          </p:cNvSpPr>
          <p:nvPr/>
        </p:nvSpPr>
        <p:spPr>
          <a:xfrm>
            <a:off x="1464469" y="4607719"/>
            <a:ext cx="5917406" cy="976313"/>
          </a:xfrm>
          <a:prstGeom prst="rect">
            <a:avLst/>
          </a:prstGeom>
          <a:noFill/>
          <a:ln w="0">
            <a:noFill/>
          </a:ln>
        </p:spPr>
        <p:txBody>
          <a:bodyPr anchor="ctr">
            <a:noAutofit/>
          </a:bodyPr>
          <a:lstStyle/>
          <a:p>
            <a:pPr algn="l">
              <a:defRPr sz="1800" b="0">
                <a:solidFill>
                  <a:srgbClr val="172B4D"/>
                </a:solidFill>
                <a:latin typeface="Arial"/>
                <a:ea typeface="Arial"/>
                <a:cs typeface="Arial"/>
              </a:defRPr>
            </a:pPr>
            <a:r>
              <a:rPr sz="1800" b="0">
                <a:solidFill>
                  <a:srgbClr val="172B4D"/>
                </a:solidFill>
                <a:latin typeface="Arial"/>
                <a:ea typeface="Arial"/>
                <a:cs typeface="Arial"/>
              </a:rPr>
              <a:t>Calculate 120 / 5 + 8 x 3.</a:t>
            </a:r>
          </a:p>
        </p:txBody>
      </p:sp>
      <p:sp>
        <p:nvSpPr>
          <p:cNvPr id="13" name="object-13">
            <a:extLst>
              <a:ext uri="{FF2B5EF4-FFF2-40B4-BE49-F238E27FC236}">
                <a16:creationId xmlns:a16="http://schemas.microsoft.com/office/drawing/2014/main" id="{0A6155F2-E88D-486B-8BA2-2B1438DA1794}"/>
              </a:ext>
            </a:extLst>
          </p:cNvPr>
          <p:cNvSpPr>
            <a:spLocks noGrp="1"/>
          </p:cNvSpPr>
          <p:nvPr/>
        </p:nvSpPr>
        <p:spPr>
          <a:xfrm>
            <a:off x="773906" y="5655469"/>
            <a:ext cx="678656" cy="976313"/>
          </a:xfrm>
          <a:prstGeom prst="rect">
            <a:avLst/>
          </a:prstGeom>
          <a:noFill/>
          <a:ln w="0">
            <a:noFill/>
          </a:ln>
        </p:spPr>
        <p:txBody>
          <a:bodyPr anchor="ctr">
            <a:noAutofit/>
          </a:bodyPr>
          <a:lstStyle/>
          <a:p>
            <a:pPr algn="l">
              <a:defRPr sz="1875" b="1">
                <a:solidFill>
                  <a:srgbClr val="1D4ED8"/>
                </a:solidFill>
                <a:latin typeface="Arial"/>
                <a:ea typeface="Arial"/>
                <a:cs typeface="Arial"/>
              </a:defRPr>
            </a:pPr>
            <a:r>
              <a:rPr sz="1875" b="1">
                <a:solidFill>
                  <a:srgbClr val="1D4ED8"/>
                </a:solidFill>
                <a:latin typeface="Arial"/>
                <a:ea typeface="Arial"/>
                <a:cs typeface="Arial"/>
              </a:rPr>
              <a:t>4.</a:t>
            </a:r>
          </a:p>
        </p:txBody>
      </p:sp>
      <p:sp>
        <p:nvSpPr>
          <p:cNvPr id="14" name="object-14">
            <a:extLst>
              <a:ext uri="{FF2B5EF4-FFF2-40B4-BE49-F238E27FC236}">
                <a16:creationId xmlns:a16="http://schemas.microsoft.com/office/drawing/2014/main" id="{DDA8F4FE-596A-4700-BFC2-03C20673EBB4}"/>
              </a:ext>
            </a:extLst>
          </p:cNvPr>
          <p:cNvSpPr>
            <a:spLocks noGrp="1"/>
          </p:cNvSpPr>
          <p:nvPr/>
        </p:nvSpPr>
        <p:spPr>
          <a:xfrm>
            <a:off x="1464469" y="5655469"/>
            <a:ext cx="5917406" cy="976313"/>
          </a:xfrm>
          <a:prstGeom prst="rect">
            <a:avLst/>
          </a:prstGeom>
          <a:noFill/>
          <a:ln w="0">
            <a:noFill/>
          </a:ln>
        </p:spPr>
        <p:txBody>
          <a:bodyPr anchor="ctr">
            <a:noAutofit/>
          </a:bodyPr>
          <a:lstStyle/>
          <a:p>
            <a:pPr algn="l">
              <a:defRPr sz="1800" b="0">
                <a:solidFill>
                  <a:srgbClr val="172B4D"/>
                </a:solidFill>
                <a:latin typeface="Arial"/>
                <a:ea typeface="Arial"/>
                <a:cs typeface="Arial"/>
              </a:defRPr>
            </a:pPr>
            <a:r>
              <a:rPr sz="1800" b="0">
                <a:solidFill>
                  <a:srgbClr val="172B4D"/>
                </a:solidFill>
                <a:latin typeface="Arial"/>
                <a:ea typeface="Arial"/>
                <a:cs typeface="Arial"/>
              </a:rPr>
              <a:t>Solve this independently and show every stage: Calculate 18 + 6 x 7.</a:t>
            </a:r>
          </a:p>
        </p:txBody>
      </p:sp>
      <p:sp>
        <p:nvSpPr>
          <p:cNvPr id="15" name="object-15">
            <a:extLst>
              <a:ext uri="{FF2B5EF4-FFF2-40B4-BE49-F238E27FC236}">
                <a16:creationId xmlns:a16="http://schemas.microsoft.com/office/drawing/2014/main" id="{E681B4BC-8BC9-4810-ABFC-03267CC48B33}"/>
              </a:ext>
            </a:extLst>
          </p:cNvPr>
          <p:cNvSpPr>
            <a:spLocks noGrp="1"/>
          </p:cNvSpPr>
          <p:nvPr/>
        </p:nvSpPr>
        <p:spPr>
          <a:xfrm>
            <a:off x="773906" y="6703219"/>
            <a:ext cx="678656" cy="976313"/>
          </a:xfrm>
          <a:prstGeom prst="rect">
            <a:avLst/>
          </a:prstGeom>
          <a:noFill/>
          <a:ln w="0">
            <a:noFill/>
          </a:ln>
        </p:spPr>
        <p:txBody>
          <a:bodyPr anchor="ctr">
            <a:noAutofit/>
          </a:bodyPr>
          <a:lstStyle/>
          <a:p>
            <a:pPr algn="l">
              <a:defRPr sz="1875" b="1">
                <a:solidFill>
                  <a:srgbClr val="1D4ED8"/>
                </a:solidFill>
                <a:latin typeface="Arial"/>
                <a:ea typeface="Arial"/>
                <a:cs typeface="Arial"/>
              </a:defRPr>
            </a:pPr>
            <a:r>
              <a:rPr sz="1875" b="1">
                <a:solidFill>
                  <a:srgbClr val="1D4ED8"/>
                </a:solidFill>
                <a:latin typeface="Arial"/>
                <a:ea typeface="Arial"/>
                <a:cs typeface="Arial"/>
              </a:rPr>
              <a:t>5.</a:t>
            </a:r>
          </a:p>
        </p:txBody>
      </p:sp>
      <p:sp>
        <p:nvSpPr>
          <p:cNvPr id="16" name="object-16">
            <a:extLst>
              <a:ext uri="{FF2B5EF4-FFF2-40B4-BE49-F238E27FC236}">
                <a16:creationId xmlns:a16="http://schemas.microsoft.com/office/drawing/2014/main" id="{E188000D-13BB-4664-BFC5-A70F778E40D2}"/>
              </a:ext>
            </a:extLst>
          </p:cNvPr>
          <p:cNvSpPr>
            <a:spLocks noGrp="1"/>
          </p:cNvSpPr>
          <p:nvPr/>
        </p:nvSpPr>
        <p:spPr>
          <a:xfrm>
            <a:off x="1464469" y="6703219"/>
            <a:ext cx="5917406" cy="976313"/>
          </a:xfrm>
          <a:prstGeom prst="rect">
            <a:avLst/>
          </a:prstGeom>
          <a:noFill/>
          <a:ln w="0">
            <a:noFill/>
          </a:ln>
        </p:spPr>
        <p:txBody>
          <a:bodyPr anchor="ctr">
            <a:noAutofit/>
          </a:bodyPr>
          <a:lstStyle/>
          <a:p>
            <a:pPr algn="l">
              <a:defRPr sz="1800" b="0">
                <a:solidFill>
                  <a:srgbClr val="172B4D"/>
                </a:solidFill>
                <a:latin typeface="Arial"/>
                <a:ea typeface="Arial"/>
                <a:cs typeface="Arial"/>
              </a:defRPr>
            </a:pPr>
            <a:r>
              <a:rPr sz="1800" b="0">
                <a:solidFill>
                  <a:srgbClr val="172B4D"/>
                </a:solidFill>
                <a:latin typeface="Arial"/>
                <a:ea typeface="Arial"/>
                <a:cs typeface="Arial"/>
              </a:rPr>
              <a:t>Use a second method or representation for: Calculate 90 - 36 / 6.</a:t>
            </a:r>
          </a:p>
        </p:txBody>
      </p:sp>
      <p:sp>
        <p:nvSpPr>
          <p:cNvPr id="17" name="object-17">
            <a:extLst>
              <a:ext uri="{FF2B5EF4-FFF2-40B4-BE49-F238E27FC236}">
                <a16:creationId xmlns:a16="http://schemas.microsoft.com/office/drawing/2014/main" id="{8B36FC78-3ED6-47A9-BC7D-C374F01756DD}"/>
              </a:ext>
            </a:extLst>
          </p:cNvPr>
          <p:cNvSpPr>
            <a:spLocks noGrp="1"/>
          </p:cNvSpPr>
          <p:nvPr/>
        </p:nvSpPr>
        <p:spPr>
          <a:xfrm>
            <a:off x="8215313" y="2512219"/>
            <a:ext cx="678656" cy="976313"/>
          </a:xfrm>
          <a:prstGeom prst="rect">
            <a:avLst/>
          </a:prstGeom>
          <a:noFill/>
          <a:ln w="0">
            <a:noFill/>
          </a:ln>
        </p:spPr>
        <p:txBody>
          <a:bodyPr anchor="ctr">
            <a:noAutofit/>
          </a:bodyPr>
          <a:lstStyle/>
          <a:p>
            <a:pPr algn="l">
              <a:defRPr sz="1875" b="1">
                <a:solidFill>
                  <a:srgbClr val="1D4ED8"/>
                </a:solidFill>
                <a:latin typeface="Arial"/>
                <a:ea typeface="Arial"/>
                <a:cs typeface="Arial"/>
              </a:defRPr>
            </a:pPr>
            <a:r>
              <a:rPr sz="1875" b="1">
                <a:solidFill>
                  <a:srgbClr val="1D4ED8"/>
                </a:solidFill>
                <a:latin typeface="Arial"/>
                <a:ea typeface="Arial"/>
                <a:cs typeface="Arial"/>
              </a:rPr>
              <a:t>6.</a:t>
            </a:r>
          </a:p>
        </p:txBody>
      </p:sp>
      <p:sp>
        <p:nvSpPr>
          <p:cNvPr id="18" name="object-18">
            <a:extLst>
              <a:ext uri="{FF2B5EF4-FFF2-40B4-BE49-F238E27FC236}">
                <a16:creationId xmlns:a16="http://schemas.microsoft.com/office/drawing/2014/main" id="{2414CE29-F386-4C97-AD23-521E2665A02C}"/>
              </a:ext>
            </a:extLst>
          </p:cNvPr>
          <p:cNvSpPr>
            <a:spLocks noGrp="1"/>
          </p:cNvSpPr>
          <p:nvPr/>
        </p:nvSpPr>
        <p:spPr>
          <a:xfrm>
            <a:off x="8905875" y="2512219"/>
            <a:ext cx="5917406" cy="976313"/>
          </a:xfrm>
          <a:prstGeom prst="rect">
            <a:avLst/>
          </a:prstGeom>
          <a:noFill/>
          <a:ln w="0">
            <a:noFill/>
          </a:ln>
        </p:spPr>
        <p:txBody>
          <a:bodyPr anchor="ctr">
            <a:noAutofit/>
          </a:bodyPr>
          <a:lstStyle/>
          <a:p>
            <a:pPr algn="l">
              <a:defRPr sz="1800" b="0">
                <a:solidFill>
                  <a:srgbClr val="172B4D"/>
                </a:solidFill>
                <a:latin typeface="Arial"/>
                <a:ea typeface="Arial"/>
                <a:cs typeface="Arial"/>
              </a:defRPr>
            </a:pPr>
            <a:r>
              <a:rPr sz="1800" b="0">
                <a:solidFill>
                  <a:srgbClr val="172B4D"/>
                </a:solidFill>
                <a:latin typeface="Arial"/>
                <a:ea typeface="Arial"/>
                <a:cs typeface="Arial"/>
              </a:rPr>
              <a:t>Check this result using an inverse, estimate or known fact: Calculate 120 / 5 + 8 x 3.</a:t>
            </a:r>
          </a:p>
        </p:txBody>
      </p:sp>
      <p:sp>
        <p:nvSpPr>
          <p:cNvPr id="19" name="object-19">
            <a:extLst>
              <a:ext uri="{FF2B5EF4-FFF2-40B4-BE49-F238E27FC236}">
                <a16:creationId xmlns:a16="http://schemas.microsoft.com/office/drawing/2014/main" id="{9C98509D-B9EE-4487-9C01-E6ACB6F86200}"/>
              </a:ext>
            </a:extLst>
          </p:cNvPr>
          <p:cNvSpPr>
            <a:spLocks noGrp="1"/>
          </p:cNvSpPr>
          <p:nvPr/>
        </p:nvSpPr>
        <p:spPr>
          <a:xfrm>
            <a:off x="8215313" y="3559969"/>
            <a:ext cx="678656" cy="976313"/>
          </a:xfrm>
          <a:prstGeom prst="rect">
            <a:avLst/>
          </a:prstGeom>
          <a:noFill/>
          <a:ln w="0">
            <a:noFill/>
          </a:ln>
        </p:spPr>
        <p:txBody>
          <a:bodyPr anchor="ctr">
            <a:noAutofit/>
          </a:bodyPr>
          <a:lstStyle/>
          <a:p>
            <a:pPr algn="l">
              <a:defRPr sz="1875" b="1">
                <a:solidFill>
                  <a:srgbClr val="1D4ED8"/>
                </a:solidFill>
                <a:latin typeface="Arial"/>
                <a:ea typeface="Arial"/>
                <a:cs typeface="Arial"/>
              </a:defRPr>
            </a:pPr>
            <a:r>
              <a:rPr sz="1875" b="1">
                <a:solidFill>
                  <a:srgbClr val="1D4ED8"/>
                </a:solidFill>
                <a:latin typeface="Arial"/>
                <a:ea typeface="Arial"/>
                <a:cs typeface="Arial"/>
              </a:rPr>
              <a:t>7.</a:t>
            </a:r>
          </a:p>
        </p:txBody>
      </p:sp>
      <p:sp>
        <p:nvSpPr>
          <p:cNvPr id="20" name="object-20">
            <a:extLst>
              <a:ext uri="{FF2B5EF4-FFF2-40B4-BE49-F238E27FC236}">
                <a16:creationId xmlns:a16="http://schemas.microsoft.com/office/drawing/2014/main" id="{BBAFA8DB-4BDF-4732-A1D9-D959965DDD44}"/>
              </a:ext>
            </a:extLst>
          </p:cNvPr>
          <p:cNvSpPr>
            <a:spLocks noGrp="1"/>
          </p:cNvSpPr>
          <p:nvPr/>
        </p:nvSpPr>
        <p:spPr>
          <a:xfrm>
            <a:off x="8905875" y="3559969"/>
            <a:ext cx="5917406" cy="976313"/>
          </a:xfrm>
          <a:prstGeom prst="rect">
            <a:avLst/>
          </a:prstGeom>
          <a:noFill/>
          <a:ln w="0">
            <a:noFill/>
          </a:ln>
        </p:spPr>
        <p:txBody>
          <a:bodyPr anchor="ctr">
            <a:noAutofit/>
          </a:bodyPr>
          <a:lstStyle/>
          <a:p>
            <a:pPr algn="l">
              <a:defRPr sz="1800" b="0">
                <a:solidFill>
                  <a:srgbClr val="172B4D"/>
                </a:solidFill>
                <a:latin typeface="Arial"/>
                <a:ea typeface="Arial"/>
                <a:cs typeface="Arial"/>
              </a:defRPr>
            </a:pPr>
            <a:r>
              <a:rPr sz="1800" b="0">
                <a:solidFill>
                  <a:srgbClr val="172B4D"/>
                </a:solidFill>
                <a:latin typeface="Arial"/>
                <a:ea typeface="Arial"/>
                <a:cs typeface="Arial"/>
              </a:rPr>
              <a:t>Use the digits 2, 4 and 8 once to make an expression with answer 34.</a:t>
            </a:r>
          </a:p>
        </p:txBody>
      </p:sp>
      <p:sp>
        <p:nvSpPr>
          <p:cNvPr id="21" name="object-21">
            <a:extLst>
              <a:ext uri="{FF2B5EF4-FFF2-40B4-BE49-F238E27FC236}">
                <a16:creationId xmlns:a16="http://schemas.microsoft.com/office/drawing/2014/main" id="{E7154DEF-7989-433A-8F38-A165C6B5326A}"/>
              </a:ext>
            </a:extLst>
          </p:cNvPr>
          <p:cNvSpPr>
            <a:spLocks noGrp="1"/>
          </p:cNvSpPr>
          <p:nvPr/>
        </p:nvSpPr>
        <p:spPr>
          <a:xfrm>
            <a:off x="8215313" y="4607719"/>
            <a:ext cx="678656" cy="976313"/>
          </a:xfrm>
          <a:prstGeom prst="rect">
            <a:avLst/>
          </a:prstGeom>
          <a:noFill/>
          <a:ln w="0">
            <a:noFill/>
          </a:ln>
        </p:spPr>
        <p:txBody>
          <a:bodyPr anchor="ctr">
            <a:noAutofit/>
          </a:bodyPr>
          <a:lstStyle/>
          <a:p>
            <a:pPr algn="l">
              <a:defRPr sz="1875" b="1">
                <a:solidFill>
                  <a:srgbClr val="1D4ED8"/>
                </a:solidFill>
                <a:latin typeface="Arial"/>
                <a:ea typeface="Arial"/>
                <a:cs typeface="Arial"/>
              </a:defRPr>
            </a:pPr>
            <a:r>
              <a:rPr sz="1875" b="1">
                <a:solidFill>
                  <a:srgbClr val="1D4ED8"/>
                </a:solidFill>
                <a:latin typeface="Arial"/>
                <a:ea typeface="Arial"/>
                <a:cs typeface="Arial"/>
              </a:rPr>
              <a:t>8.</a:t>
            </a:r>
          </a:p>
        </p:txBody>
      </p:sp>
      <p:sp>
        <p:nvSpPr>
          <p:cNvPr id="22" name="object-22">
            <a:extLst>
              <a:ext uri="{FF2B5EF4-FFF2-40B4-BE49-F238E27FC236}">
                <a16:creationId xmlns:a16="http://schemas.microsoft.com/office/drawing/2014/main" id="{D6DAD204-F7F7-4A09-9DA0-F8BA799963BF}"/>
              </a:ext>
            </a:extLst>
          </p:cNvPr>
          <p:cNvSpPr>
            <a:spLocks noGrp="1"/>
          </p:cNvSpPr>
          <p:nvPr/>
        </p:nvSpPr>
        <p:spPr>
          <a:xfrm>
            <a:off x="8905875" y="4607719"/>
            <a:ext cx="5917406" cy="976313"/>
          </a:xfrm>
          <a:prstGeom prst="rect">
            <a:avLst/>
          </a:prstGeom>
          <a:noFill/>
          <a:ln w="0">
            <a:noFill/>
          </a:ln>
        </p:spPr>
        <p:txBody>
          <a:bodyPr anchor="ctr">
            <a:noAutofit/>
          </a:bodyPr>
          <a:lstStyle/>
          <a:p>
            <a:pPr algn="l">
              <a:defRPr sz="1800" b="0">
                <a:solidFill>
                  <a:srgbClr val="172B4D"/>
                </a:solidFill>
                <a:latin typeface="Arial"/>
                <a:ea typeface="Arial"/>
                <a:cs typeface="Arial"/>
              </a:defRPr>
            </a:pPr>
            <a:r>
              <a:rPr sz="1800" b="0">
                <a:solidFill>
                  <a:srgbClr val="172B4D"/>
                </a:solidFill>
                <a:latin typeface="Arial"/>
                <a:ea typeface="Arial"/>
                <a:cs typeface="Arial"/>
              </a:rPr>
              <a:t>Identify and correct this misconception: Miro adds 18 and 6 before multiplying by 7.</a:t>
            </a:r>
          </a:p>
        </p:txBody>
      </p:sp>
      <p:sp>
        <p:nvSpPr>
          <p:cNvPr id="23" name="object-23">
            <a:extLst>
              <a:ext uri="{FF2B5EF4-FFF2-40B4-BE49-F238E27FC236}">
                <a16:creationId xmlns:a16="http://schemas.microsoft.com/office/drawing/2014/main" id="{42C78F22-DB3A-4372-A0F4-239BADD575D3}"/>
              </a:ext>
            </a:extLst>
          </p:cNvPr>
          <p:cNvSpPr>
            <a:spLocks noGrp="1"/>
          </p:cNvSpPr>
          <p:nvPr/>
        </p:nvSpPr>
        <p:spPr>
          <a:xfrm>
            <a:off x="8215313" y="5655469"/>
            <a:ext cx="678656" cy="976313"/>
          </a:xfrm>
          <a:prstGeom prst="rect">
            <a:avLst/>
          </a:prstGeom>
          <a:noFill/>
          <a:ln w="0">
            <a:noFill/>
          </a:ln>
        </p:spPr>
        <p:txBody>
          <a:bodyPr anchor="ctr">
            <a:noAutofit/>
          </a:bodyPr>
          <a:lstStyle/>
          <a:p>
            <a:pPr algn="l">
              <a:defRPr sz="1875" b="1">
                <a:solidFill>
                  <a:srgbClr val="1D4ED8"/>
                </a:solidFill>
                <a:latin typeface="Arial"/>
                <a:ea typeface="Arial"/>
                <a:cs typeface="Arial"/>
              </a:defRPr>
            </a:pPr>
            <a:r>
              <a:rPr sz="1875" b="1">
                <a:solidFill>
                  <a:srgbClr val="1D4ED8"/>
                </a:solidFill>
                <a:latin typeface="Arial"/>
                <a:ea typeface="Arial"/>
                <a:cs typeface="Arial"/>
              </a:rPr>
              <a:t>9.</a:t>
            </a:r>
          </a:p>
        </p:txBody>
      </p:sp>
      <p:sp>
        <p:nvSpPr>
          <p:cNvPr id="24" name="object-24">
            <a:extLst>
              <a:ext uri="{FF2B5EF4-FFF2-40B4-BE49-F238E27FC236}">
                <a16:creationId xmlns:a16="http://schemas.microsoft.com/office/drawing/2014/main" id="{FCF00CAC-7284-4298-AE48-382808848A6A}"/>
              </a:ext>
            </a:extLst>
          </p:cNvPr>
          <p:cNvSpPr>
            <a:spLocks noGrp="1"/>
          </p:cNvSpPr>
          <p:nvPr/>
        </p:nvSpPr>
        <p:spPr>
          <a:xfrm>
            <a:off x="8905875" y="5655469"/>
            <a:ext cx="5917406" cy="976313"/>
          </a:xfrm>
          <a:prstGeom prst="rect">
            <a:avLst/>
          </a:prstGeom>
          <a:noFill/>
          <a:ln w="0">
            <a:noFill/>
          </a:ln>
        </p:spPr>
        <p:txBody>
          <a:bodyPr anchor="ctr">
            <a:noAutofit/>
          </a:bodyPr>
          <a:lstStyle/>
          <a:p>
            <a:pPr algn="l">
              <a:defRPr sz="1800" b="0">
                <a:solidFill>
                  <a:srgbClr val="172B4D"/>
                </a:solidFill>
                <a:latin typeface="Arial"/>
                <a:ea typeface="Arial"/>
                <a:cs typeface="Arial"/>
              </a:defRPr>
            </a:pPr>
            <a:r>
              <a:rPr sz="1800" b="0">
                <a:solidFill>
                  <a:srgbClr val="172B4D"/>
                </a:solidFill>
                <a:latin typeface="Arial"/>
                <a:ea typeface="Arial"/>
                <a:cs typeface="Arial"/>
              </a:rPr>
              <a:t>Write a complete sentence explaining how you checked one answer.</a:t>
            </a:r>
          </a:p>
        </p:txBody>
      </p:sp>
      <p:sp>
        <p:nvSpPr>
          <p:cNvPr id="25" name="object-25">
            <a:extLst>
              <a:ext uri="{FF2B5EF4-FFF2-40B4-BE49-F238E27FC236}">
                <a16:creationId xmlns:a16="http://schemas.microsoft.com/office/drawing/2014/main" id="{6B5DD7B9-6203-4269-8D7C-9445D02AB13F}"/>
              </a:ext>
            </a:extLst>
          </p:cNvPr>
          <p:cNvSpPr>
            <a:spLocks noGrp="1"/>
          </p:cNvSpPr>
          <p:nvPr/>
        </p:nvSpPr>
        <p:spPr>
          <a:xfrm>
            <a:off x="8215313" y="6703219"/>
            <a:ext cx="678656" cy="976313"/>
          </a:xfrm>
          <a:prstGeom prst="rect">
            <a:avLst/>
          </a:prstGeom>
          <a:noFill/>
          <a:ln w="0">
            <a:noFill/>
          </a:ln>
        </p:spPr>
        <p:txBody>
          <a:bodyPr anchor="ctr">
            <a:noAutofit/>
          </a:bodyPr>
          <a:lstStyle/>
          <a:p>
            <a:pPr algn="l">
              <a:defRPr sz="1875" b="1">
                <a:solidFill>
                  <a:srgbClr val="1D4ED8"/>
                </a:solidFill>
                <a:latin typeface="Arial"/>
                <a:ea typeface="Arial"/>
                <a:cs typeface="Arial"/>
              </a:defRPr>
            </a:pPr>
            <a:r>
              <a:rPr sz="1875" b="1">
                <a:solidFill>
                  <a:srgbClr val="1D4ED8"/>
                </a:solidFill>
                <a:latin typeface="Arial"/>
                <a:ea typeface="Arial"/>
                <a:cs typeface="Arial"/>
              </a:rPr>
              <a:t>10.</a:t>
            </a:r>
          </a:p>
        </p:txBody>
      </p:sp>
      <p:sp>
        <p:nvSpPr>
          <p:cNvPr id="26" name="object-26">
            <a:extLst>
              <a:ext uri="{FF2B5EF4-FFF2-40B4-BE49-F238E27FC236}">
                <a16:creationId xmlns:a16="http://schemas.microsoft.com/office/drawing/2014/main" id="{CD49987C-1698-4BA6-B5E3-934E072460DB}"/>
              </a:ext>
            </a:extLst>
          </p:cNvPr>
          <p:cNvSpPr>
            <a:spLocks noGrp="1"/>
          </p:cNvSpPr>
          <p:nvPr/>
        </p:nvSpPr>
        <p:spPr>
          <a:xfrm>
            <a:off x="8905875" y="6703219"/>
            <a:ext cx="5917406" cy="976313"/>
          </a:xfrm>
          <a:prstGeom prst="rect">
            <a:avLst/>
          </a:prstGeom>
          <a:noFill/>
          <a:ln w="0">
            <a:noFill/>
          </a:ln>
        </p:spPr>
        <p:txBody>
          <a:bodyPr anchor="ctr">
            <a:noAutofit/>
          </a:bodyPr>
          <a:lstStyle/>
          <a:p>
            <a:pPr algn="l">
              <a:defRPr sz="1800" b="0">
                <a:solidFill>
                  <a:srgbClr val="172B4D"/>
                </a:solidFill>
                <a:latin typeface="Arial"/>
                <a:ea typeface="Arial"/>
                <a:cs typeface="Arial"/>
              </a:defRPr>
            </a:pPr>
            <a:r>
              <a:rPr sz="1800" b="0">
                <a:solidFill>
                  <a:srgbClr val="172B4D"/>
                </a:solidFill>
                <a:latin typeface="Arial"/>
                <a:ea typeface="Arial"/>
                <a:cs typeface="Arial"/>
              </a:rPr>
              <a:t>Write and solve a similar question to: Calculate 120 / 5 + 8 x 3.</a:t>
            </a:r>
          </a:p>
        </p:txBody>
      </p:sp>
    </p:spTree>
    <p:extLst>
      <p:ext uri="{BB962C8B-B14F-4D97-AF65-F5344CB8AC3E}">
        <p14:creationId xmlns:p14="http://schemas.microsoft.com/office/powerpoint/2010/main" val="189994367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6" name="object-1">
            <a:extLst>
              <a:ext uri="{FF2B5EF4-FFF2-40B4-BE49-F238E27FC236}">
                <a16:creationId xmlns:a16="http://schemas.microsoft.com/office/drawing/2014/main" id="{9E5A8D34-B8DF-4910-9700-335D03A327BB}"/>
              </a:ext>
            </a:extLst>
          </p:cNvPr>
          <p:cNvSpPr>
            <a:spLocks noGrp="1"/>
          </p:cNvSpPr>
          <p:nvPr/>
        </p:nvSpPr>
        <p:spPr>
          <a:xfrm>
            <a:off x="654844" y="357188"/>
            <a:ext cx="13930313" cy="714375"/>
          </a:xfrm>
          <a:prstGeom prst="rect">
            <a:avLst/>
          </a:prstGeom>
          <a:noFill/>
          <a:ln w="0">
            <a:noFill/>
          </a:ln>
        </p:spPr>
        <p:txBody>
          <a:bodyPr anchor="ctr">
            <a:noAutofit/>
          </a:bodyPr>
          <a:lstStyle/>
          <a:p>
            <a:pPr algn="l">
              <a:defRPr sz="4125" b="1">
                <a:solidFill>
                  <a:srgbClr val="1D4ED8"/>
                </a:solidFill>
                <a:latin typeface="Arial"/>
                <a:ea typeface="Arial"/>
                <a:cs typeface="Arial"/>
              </a:defRPr>
            </a:pPr>
            <a:r>
              <a:rPr sz="4125" b="1">
                <a:solidFill>
                  <a:srgbClr val="1D4ED8"/>
                </a:solidFill>
                <a:latin typeface="Arial"/>
                <a:ea typeface="Arial"/>
                <a:cs typeface="Arial"/>
              </a:rPr>
              <a:t>Answers</a:t>
            </a:r>
          </a:p>
        </p:txBody>
      </p:sp>
      <p:sp>
        <p:nvSpPr>
          <p:cNvPr id="2" name="object-2">
            <a:extLst>
              <a:ext uri="{FF2B5EF4-FFF2-40B4-BE49-F238E27FC236}">
                <a16:creationId xmlns:a16="http://schemas.microsoft.com/office/drawing/2014/main" id="{9850F683-3862-4D9D-9DF1-48A82B2182BC}"/>
              </a:ext>
            </a:extLst>
          </p:cNvPr>
          <p:cNvSpPr>
            <a:spLocks noGrp="1"/>
          </p:cNvSpPr>
          <p:nvPr/>
        </p:nvSpPr>
        <p:spPr>
          <a:xfrm>
            <a:off x="654844" y="1250156"/>
            <a:ext cx="13930313" cy="1190625"/>
          </a:xfrm>
          <a:prstGeom prst="rect">
            <a:avLst/>
          </a:prstGeom>
          <a:noFill/>
          <a:ln w="0">
            <a:noFill/>
          </a:ln>
        </p:spPr>
        <p:txBody>
          <a:bodyPr anchor="ctr">
            <a:noAutofit/>
          </a:bodyPr>
          <a:lstStyle/>
          <a:p>
            <a:pPr algn="l">
              <a:defRPr sz="2625" b="1">
                <a:solidFill>
                  <a:srgbClr val="172B4D"/>
                </a:solidFill>
                <a:latin typeface="Arial"/>
                <a:ea typeface="Arial"/>
                <a:cs typeface="Arial"/>
              </a:defRPr>
            </a:pPr>
            <a:r>
              <a:rPr sz="2625" b="1">
                <a:solidFill>
                  <a:srgbClr val="172B4D"/>
                </a:solidFill>
                <a:latin typeface="Arial"/>
                <a:ea typeface="Arial"/>
                <a:cs typeface="Arial"/>
              </a:rPr>
              <a:t>Check your answers. Explain any corrections.</a:t>
            </a:r>
          </a:p>
        </p:txBody>
      </p:sp>
      <p:sp>
        <p:nvSpPr>
          <p:cNvPr id="3" name="object-3">
            <a:extLst>
              <a:ext uri="{FF2B5EF4-FFF2-40B4-BE49-F238E27FC236}">
                <a16:creationId xmlns:a16="http://schemas.microsoft.com/office/drawing/2014/main" id="{8B3ABEE4-5CE0-44A8-8D5C-75295939F270}"/>
              </a:ext>
            </a:extLst>
          </p:cNvPr>
          <p:cNvSpPr>
            <a:spLocks noGrp="1"/>
          </p:cNvSpPr>
          <p:nvPr/>
        </p:nvSpPr>
        <p:spPr>
          <a:xfrm>
            <a:off x="654844" y="8012906"/>
            <a:ext cx="13930313" cy="11906"/>
          </a:xfrm>
          <a:prstGeom prst="rect">
            <a:avLst/>
          </a:prstGeom>
          <a:solidFill>
            <a:srgbClr val="BCD0EA"/>
          </a:solidFill>
          <a:ln w="0">
            <a:noFill/>
          </a:ln>
        </p:spPr>
      </p:sp>
      <p:sp>
        <p:nvSpPr>
          <p:cNvPr id="4" name="object-4">
            <a:extLst>
              <a:ext uri="{FF2B5EF4-FFF2-40B4-BE49-F238E27FC236}">
                <a16:creationId xmlns:a16="http://schemas.microsoft.com/office/drawing/2014/main" id="{FA43067B-F40B-4874-86AB-D0E9E541952C}"/>
              </a:ext>
            </a:extLst>
          </p:cNvPr>
          <p:cNvSpPr>
            <a:spLocks noGrp="1"/>
          </p:cNvSpPr>
          <p:nvPr/>
        </p:nvSpPr>
        <p:spPr>
          <a:xfrm>
            <a:off x="654844" y="8120063"/>
            <a:ext cx="12977813" cy="285750"/>
          </a:xfrm>
          <a:prstGeom prst="rect">
            <a:avLst/>
          </a:prstGeom>
          <a:noFill/>
          <a:ln w="0">
            <a:noFill/>
          </a:ln>
        </p:spPr>
        <p:txBody>
          <a:bodyPr anchor="ctr">
            <a:noAutofit/>
          </a:bodyPr>
          <a:lstStyle/>
          <a:p>
            <a:pPr algn="l">
              <a:defRPr sz="1219" b="0">
                <a:solidFill>
                  <a:srgbClr val="52647A"/>
                </a:solidFill>
                <a:latin typeface="Arial"/>
                <a:ea typeface="Arial"/>
                <a:cs typeface="Arial"/>
              </a:defRPr>
            </a:pPr>
            <a:r>
              <a:rPr sz="1219" b="0">
                <a:solidFill>
                  <a:srgbClr val="52647A"/>
                </a:solidFill>
                <a:latin typeface="Arial"/>
                <a:ea typeface="Arial"/>
                <a:cs typeface="Arial"/>
              </a:rPr>
              <a:t>BrightPath · Use multiplication and division before addition and subtraction</a:t>
            </a:r>
          </a:p>
        </p:txBody>
      </p:sp>
      <p:sp>
        <p:nvSpPr>
          <p:cNvPr id="5" name="object-5">
            <a:extLst>
              <a:ext uri="{FF2B5EF4-FFF2-40B4-BE49-F238E27FC236}">
                <a16:creationId xmlns:a16="http://schemas.microsoft.com/office/drawing/2014/main" id="{5DED310D-FA80-43E9-B919-E80D8E513B18}"/>
              </a:ext>
            </a:extLst>
          </p:cNvPr>
          <p:cNvSpPr>
            <a:spLocks noGrp="1"/>
          </p:cNvSpPr>
          <p:nvPr/>
        </p:nvSpPr>
        <p:spPr>
          <a:xfrm>
            <a:off x="13811250" y="8120063"/>
            <a:ext cx="773906" cy="285750"/>
          </a:xfrm>
          <a:prstGeom prst="rect">
            <a:avLst/>
          </a:prstGeom>
          <a:noFill/>
          <a:ln w="0">
            <a:noFill/>
          </a:ln>
        </p:spPr>
        <p:txBody>
          <a:bodyPr anchor="ctr">
            <a:noAutofit/>
          </a:bodyPr>
          <a:lstStyle/>
          <a:p>
            <a:pPr algn="r">
              <a:defRPr sz="1219" b="0">
                <a:solidFill>
                  <a:srgbClr val="52647A"/>
                </a:solidFill>
                <a:latin typeface="Arial"/>
                <a:ea typeface="Arial"/>
                <a:cs typeface="Arial"/>
              </a:defRPr>
            </a:pPr>
            <a:r>
              <a:rPr sz="1219" b="0">
                <a:solidFill>
                  <a:srgbClr val="52647A"/>
                </a:solidFill>
                <a:latin typeface="Arial"/>
                <a:ea typeface="Arial"/>
                <a:cs typeface="Arial"/>
              </a:rPr>
              <a:t>7</a:t>
            </a:r>
          </a:p>
        </p:txBody>
      </p:sp>
      <p:sp>
        <p:nvSpPr>
          <p:cNvPr id="6" name="object-6">
            <a:extLst>
              <a:ext uri="{FF2B5EF4-FFF2-40B4-BE49-F238E27FC236}">
                <a16:creationId xmlns:a16="http://schemas.microsoft.com/office/drawing/2014/main" id="{0BBCCFD4-6A3F-4A48-8CA7-3CFE605F81EC}"/>
              </a:ext>
            </a:extLst>
          </p:cNvPr>
          <p:cNvSpPr>
            <a:spLocks noGrp="1"/>
          </p:cNvSpPr>
          <p:nvPr/>
        </p:nvSpPr>
        <p:spPr>
          <a:xfrm>
            <a:off x="773906" y="2512219"/>
            <a:ext cx="678656" cy="976313"/>
          </a:xfrm>
          <a:prstGeom prst="rect">
            <a:avLst/>
          </a:prstGeom>
          <a:noFill/>
          <a:ln w="0">
            <a:noFill/>
          </a:ln>
        </p:spPr>
        <p:txBody>
          <a:bodyPr anchor="ctr">
            <a:noAutofit/>
          </a:bodyPr>
          <a:lstStyle/>
          <a:p>
            <a:pPr algn="l">
              <a:defRPr sz="1875" b="1">
                <a:solidFill>
                  <a:srgbClr val="1D4ED8"/>
                </a:solidFill>
                <a:latin typeface="Arial"/>
                <a:ea typeface="Arial"/>
                <a:cs typeface="Arial"/>
              </a:defRPr>
            </a:pPr>
            <a:r>
              <a:rPr sz="1875" b="1">
                <a:solidFill>
                  <a:srgbClr val="1D4ED8"/>
                </a:solidFill>
                <a:latin typeface="Arial"/>
                <a:ea typeface="Arial"/>
                <a:cs typeface="Arial"/>
              </a:rPr>
              <a:t>1.</a:t>
            </a:r>
          </a:p>
        </p:txBody>
      </p:sp>
      <p:sp>
        <p:nvSpPr>
          <p:cNvPr id="7" name="object-7">
            <a:extLst>
              <a:ext uri="{FF2B5EF4-FFF2-40B4-BE49-F238E27FC236}">
                <a16:creationId xmlns:a16="http://schemas.microsoft.com/office/drawing/2014/main" id="{99087EBF-0B07-409E-81D7-44EB2C011F31}"/>
              </a:ext>
            </a:extLst>
          </p:cNvPr>
          <p:cNvSpPr>
            <a:spLocks noGrp="1"/>
          </p:cNvSpPr>
          <p:nvPr/>
        </p:nvSpPr>
        <p:spPr>
          <a:xfrm>
            <a:off x="1464469" y="2512219"/>
            <a:ext cx="5917406" cy="976313"/>
          </a:xfrm>
          <a:prstGeom prst="rect">
            <a:avLst/>
          </a:prstGeom>
          <a:noFill/>
          <a:ln w="0">
            <a:noFill/>
          </a:ln>
        </p:spPr>
        <p:txBody>
          <a:bodyPr anchor="ctr">
            <a:noAutofit/>
          </a:bodyPr>
          <a:lstStyle/>
          <a:p>
            <a:pPr algn="l">
              <a:defRPr sz="1800" b="0">
                <a:solidFill>
                  <a:srgbClr val="11745A"/>
                </a:solidFill>
                <a:latin typeface="Arial"/>
                <a:ea typeface="Arial"/>
                <a:cs typeface="Arial"/>
              </a:defRPr>
            </a:pPr>
            <a:r>
              <a:rPr sz="1800" b="0">
                <a:solidFill>
                  <a:srgbClr val="11745A"/>
                </a:solidFill>
                <a:latin typeface="Arial"/>
                <a:ea typeface="Arial"/>
                <a:cs typeface="Arial"/>
              </a:rPr>
              <a:t>60.</a:t>
            </a:r>
          </a:p>
        </p:txBody>
      </p:sp>
      <p:sp>
        <p:nvSpPr>
          <p:cNvPr id="8" name="object-8">
            <a:extLst>
              <a:ext uri="{FF2B5EF4-FFF2-40B4-BE49-F238E27FC236}">
                <a16:creationId xmlns:a16="http://schemas.microsoft.com/office/drawing/2014/main" id="{722FA057-A709-4FCA-835B-41F40625FB7A}"/>
              </a:ext>
            </a:extLst>
          </p:cNvPr>
          <p:cNvSpPr>
            <a:spLocks noGrp="1"/>
          </p:cNvSpPr>
          <p:nvPr/>
        </p:nvSpPr>
        <p:spPr>
          <a:xfrm>
            <a:off x="773906" y="3559969"/>
            <a:ext cx="678656" cy="976313"/>
          </a:xfrm>
          <a:prstGeom prst="rect">
            <a:avLst/>
          </a:prstGeom>
          <a:noFill/>
          <a:ln w="0">
            <a:noFill/>
          </a:ln>
        </p:spPr>
        <p:txBody>
          <a:bodyPr anchor="ctr">
            <a:noAutofit/>
          </a:bodyPr>
          <a:lstStyle/>
          <a:p>
            <a:pPr algn="l">
              <a:defRPr sz="1875" b="1">
                <a:solidFill>
                  <a:srgbClr val="1D4ED8"/>
                </a:solidFill>
                <a:latin typeface="Arial"/>
                <a:ea typeface="Arial"/>
                <a:cs typeface="Arial"/>
              </a:defRPr>
            </a:pPr>
            <a:r>
              <a:rPr sz="1875" b="1">
                <a:solidFill>
                  <a:srgbClr val="1D4ED8"/>
                </a:solidFill>
                <a:latin typeface="Arial"/>
                <a:ea typeface="Arial"/>
                <a:cs typeface="Arial"/>
              </a:rPr>
              <a:t>2.</a:t>
            </a:r>
          </a:p>
        </p:txBody>
      </p:sp>
      <p:sp>
        <p:nvSpPr>
          <p:cNvPr id="9" name="object-9">
            <a:extLst>
              <a:ext uri="{FF2B5EF4-FFF2-40B4-BE49-F238E27FC236}">
                <a16:creationId xmlns:a16="http://schemas.microsoft.com/office/drawing/2014/main" id="{5777B48F-1E73-4619-82A0-A77C680D930F}"/>
              </a:ext>
            </a:extLst>
          </p:cNvPr>
          <p:cNvSpPr>
            <a:spLocks noGrp="1"/>
          </p:cNvSpPr>
          <p:nvPr/>
        </p:nvSpPr>
        <p:spPr>
          <a:xfrm>
            <a:off x="1464469" y="3559969"/>
            <a:ext cx="5917406" cy="976313"/>
          </a:xfrm>
          <a:prstGeom prst="rect">
            <a:avLst/>
          </a:prstGeom>
          <a:noFill/>
          <a:ln w="0">
            <a:noFill/>
          </a:ln>
        </p:spPr>
        <p:txBody>
          <a:bodyPr anchor="ctr">
            <a:noAutofit/>
          </a:bodyPr>
          <a:lstStyle/>
          <a:p>
            <a:pPr algn="l">
              <a:defRPr sz="1800" b="0">
                <a:solidFill>
                  <a:srgbClr val="11745A"/>
                </a:solidFill>
                <a:latin typeface="Arial"/>
                <a:ea typeface="Arial"/>
                <a:cs typeface="Arial"/>
              </a:defRPr>
            </a:pPr>
            <a:r>
              <a:rPr sz="1800" b="0">
                <a:solidFill>
                  <a:srgbClr val="11745A"/>
                </a:solidFill>
                <a:latin typeface="Arial"/>
                <a:ea typeface="Arial"/>
                <a:cs typeface="Arial"/>
              </a:rPr>
              <a:t>84.</a:t>
            </a:r>
          </a:p>
        </p:txBody>
      </p:sp>
      <p:sp>
        <p:nvSpPr>
          <p:cNvPr id="10" name="object-10">
            <a:extLst>
              <a:ext uri="{FF2B5EF4-FFF2-40B4-BE49-F238E27FC236}">
                <a16:creationId xmlns:a16="http://schemas.microsoft.com/office/drawing/2014/main" id="{2EC91449-8B95-4CAC-A32B-6D4B78BCC666}"/>
              </a:ext>
            </a:extLst>
          </p:cNvPr>
          <p:cNvSpPr>
            <a:spLocks noGrp="1"/>
          </p:cNvSpPr>
          <p:nvPr/>
        </p:nvSpPr>
        <p:spPr>
          <a:xfrm>
            <a:off x="773906" y="4607719"/>
            <a:ext cx="678656" cy="976313"/>
          </a:xfrm>
          <a:prstGeom prst="rect">
            <a:avLst/>
          </a:prstGeom>
          <a:noFill/>
          <a:ln w="0">
            <a:noFill/>
          </a:ln>
        </p:spPr>
        <p:txBody>
          <a:bodyPr anchor="ctr">
            <a:noAutofit/>
          </a:bodyPr>
          <a:lstStyle/>
          <a:p>
            <a:pPr algn="l">
              <a:defRPr sz="1875" b="1">
                <a:solidFill>
                  <a:srgbClr val="1D4ED8"/>
                </a:solidFill>
                <a:latin typeface="Arial"/>
                <a:ea typeface="Arial"/>
                <a:cs typeface="Arial"/>
              </a:defRPr>
            </a:pPr>
            <a:r>
              <a:rPr sz="1875" b="1">
                <a:solidFill>
                  <a:srgbClr val="1D4ED8"/>
                </a:solidFill>
                <a:latin typeface="Arial"/>
                <a:ea typeface="Arial"/>
                <a:cs typeface="Arial"/>
              </a:rPr>
              <a:t>3.</a:t>
            </a:r>
          </a:p>
        </p:txBody>
      </p:sp>
      <p:sp>
        <p:nvSpPr>
          <p:cNvPr id="11" name="object-11">
            <a:extLst>
              <a:ext uri="{FF2B5EF4-FFF2-40B4-BE49-F238E27FC236}">
                <a16:creationId xmlns:a16="http://schemas.microsoft.com/office/drawing/2014/main" id="{D2795FCB-D315-4C00-820A-93F200736A6B}"/>
              </a:ext>
            </a:extLst>
          </p:cNvPr>
          <p:cNvSpPr>
            <a:spLocks noGrp="1"/>
          </p:cNvSpPr>
          <p:nvPr/>
        </p:nvSpPr>
        <p:spPr>
          <a:xfrm>
            <a:off x="1464469" y="4607719"/>
            <a:ext cx="5917406" cy="976313"/>
          </a:xfrm>
          <a:prstGeom prst="rect">
            <a:avLst/>
          </a:prstGeom>
          <a:noFill/>
          <a:ln w="0">
            <a:noFill/>
          </a:ln>
        </p:spPr>
        <p:txBody>
          <a:bodyPr anchor="ctr">
            <a:noAutofit/>
          </a:bodyPr>
          <a:lstStyle/>
          <a:p>
            <a:pPr algn="l">
              <a:defRPr sz="1800" b="0">
                <a:solidFill>
                  <a:srgbClr val="11745A"/>
                </a:solidFill>
                <a:latin typeface="Arial"/>
                <a:ea typeface="Arial"/>
                <a:cs typeface="Arial"/>
              </a:defRPr>
            </a:pPr>
            <a:r>
              <a:rPr sz="1800" b="0">
                <a:solidFill>
                  <a:srgbClr val="11745A"/>
                </a:solidFill>
                <a:latin typeface="Arial"/>
                <a:ea typeface="Arial"/>
                <a:cs typeface="Arial"/>
              </a:rPr>
              <a:t>48.</a:t>
            </a:r>
          </a:p>
        </p:txBody>
      </p:sp>
      <p:sp>
        <p:nvSpPr>
          <p:cNvPr id="12" name="object-12">
            <a:extLst>
              <a:ext uri="{FF2B5EF4-FFF2-40B4-BE49-F238E27FC236}">
                <a16:creationId xmlns:a16="http://schemas.microsoft.com/office/drawing/2014/main" id="{F12D3C62-CDFC-4AEE-8427-1A278B9A8357}"/>
              </a:ext>
            </a:extLst>
          </p:cNvPr>
          <p:cNvSpPr>
            <a:spLocks noGrp="1"/>
          </p:cNvSpPr>
          <p:nvPr/>
        </p:nvSpPr>
        <p:spPr>
          <a:xfrm>
            <a:off x="773906" y="5655469"/>
            <a:ext cx="678656" cy="976313"/>
          </a:xfrm>
          <a:prstGeom prst="rect">
            <a:avLst/>
          </a:prstGeom>
          <a:noFill/>
          <a:ln w="0">
            <a:noFill/>
          </a:ln>
        </p:spPr>
        <p:txBody>
          <a:bodyPr anchor="ctr">
            <a:noAutofit/>
          </a:bodyPr>
          <a:lstStyle/>
          <a:p>
            <a:pPr algn="l">
              <a:defRPr sz="1875" b="1">
                <a:solidFill>
                  <a:srgbClr val="1D4ED8"/>
                </a:solidFill>
                <a:latin typeface="Arial"/>
                <a:ea typeface="Arial"/>
                <a:cs typeface="Arial"/>
              </a:defRPr>
            </a:pPr>
            <a:r>
              <a:rPr sz="1875" b="1">
                <a:solidFill>
                  <a:srgbClr val="1D4ED8"/>
                </a:solidFill>
                <a:latin typeface="Arial"/>
                <a:ea typeface="Arial"/>
                <a:cs typeface="Arial"/>
              </a:rPr>
              <a:t>4.</a:t>
            </a:r>
          </a:p>
        </p:txBody>
      </p:sp>
      <p:sp>
        <p:nvSpPr>
          <p:cNvPr id="13" name="object-13">
            <a:extLst>
              <a:ext uri="{FF2B5EF4-FFF2-40B4-BE49-F238E27FC236}">
                <a16:creationId xmlns:a16="http://schemas.microsoft.com/office/drawing/2014/main" id="{5A41D82B-5B1A-41AD-89EC-7536BAFD8405}"/>
              </a:ext>
            </a:extLst>
          </p:cNvPr>
          <p:cNvSpPr>
            <a:spLocks noGrp="1"/>
          </p:cNvSpPr>
          <p:nvPr/>
        </p:nvSpPr>
        <p:spPr>
          <a:xfrm>
            <a:off x="1464469" y="5655469"/>
            <a:ext cx="5917406" cy="976313"/>
          </a:xfrm>
          <a:prstGeom prst="rect">
            <a:avLst/>
          </a:prstGeom>
          <a:noFill/>
          <a:ln w="0">
            <a:noFill/>
          </a:ln>
        </p:spPr>
        <p:txBody>
          <a:bodyPr anchor="ctr">
            <a:noAutofit/>
          </a:bodyPr>
          <a:lstStyle/>
          <a:p>
            <a:pPr algn="l">
              <a:defRPr sz="1800" b="0">
                <a:solidFill>
                  <a:srgbClr val="11745A"/>
                </a:solidFill>
                <a:latin typeface="Arial"/>
                <a:ea typeface="Arial"/>
                <a:cs typeface="Arial"/>
              </a:defRPr>
            </a:pPr>
            <a:r>
              <a:rPr sz="1800" b="0">
                <a:solidFill>
                  <a:srgbClr val="11745A"/>
                </a:solidFill>
                <a:latin typeface="Arial"/>
                <a:ea typeface="Arial"/>
                <a:cs typeface="Arial"/>
              </a:rPr>
              <a:t>60.</a:t>
            </a:r>
          </a:p>
        </p:txBody>
      </p:sp>
      <p:sp>
        <p:nvSpPr>
          <p:cNvPr id="14" name="object-14">
            <a:extLst>
              <a:ext uri="{FF2B5EF4-FFF2-40B4-BE49-F238E27FC236}">
                <a16:creationId xmlns:a16="http://schemas.microsoft.com/office/drawing/2014/main" id="{935491E5-BD91-4D4C-AD13-7865DE4167AB}"/>
              </a:ext>
            </a:extLst>
          </p:cNvPr>
          <p:cNvSpPr>
            <a:spLocks noGrp="1"/>
          </p:cNvSpPr>
          <p:nvPr/>
        </p:nvSpPr>
        <p:spPr>
          <a:xfrm>
            <a:off x="773906" y="6703219"/>
            <a:ext cx="678656" cy="976313"/>
          </a:xfrm>
          <a:prstGeom prst="rect">
            <a:avLst/>
          </a:prstGeom>
          <a:noFill/>
          <a:ln w="0">
            <a:noFill/>
          </a:ln>
        </p:spPr>
        <p:txBody>
          <a:bodyPr anchor="ctr">
            <a:noAutofit/>
          </a:bodyPr>
          <a:lstStyle/>
          <a:p>
            <a:pPr algn="l">
              <a:defRPr sz="1875" b="1">
                <a:solidFill>
                  <a:srgbClr val="1D4ED8"/>
                </a:solidFill>
                <a:latin typeface="Arial"/>
                <a:ea typeface="Arial"/>
                <a:cs typeface="Arial"/>
              </a:defRPr>
            </a:pPr>
            <a:r>
              <a:rPr sz="1875" b="1">
                <a:solidFill>
                  <a:srgbClr val="1D4ED8"/>
                </a:solidFill>
                <a:latin typeface="Arial"/>
                <a:ea typeface="Arial"/>
                <a:cs typeface="Arial"/>
              </a:rPr>
              <a:t>5.</a:t>
            </a:r>
          </a:p>
        </p:txBody>
      </p:sp>
      <p:sp>
        <p:nvSpPr>
          <p:cNvPr id="15" name="object-15">
            <a:extLst>
              <a:ext uri="{FF2B5EF4-FFF2-40B4-BE49-F238E27FC236}">
                <a16:creationId xmlns:a16="http://schemas.microsoft.com/office/drawing/2014/main" id="{4C750402-13E5-4D53-8923-C3DFE2F69474}"/>
              </a:ext>
            </a:extLst>
          </p:cNvPr>
          <p:cNvSpPr>
            <a:spLocks noGrp="1"/>
          </p:cNvSpPr>
          <p:nvPr/>
        </p:nvSpPr>
        <p:spPr>
          <a:xfrm>
            <a:off x="1464469" y="6703219"/>
            <a:ext cx="5917406" cy="976313"/>
          </a:xfrm>
          <a:prstGeom prst="rect">
            <a:avLst/>
          </a:prstGeom>
          <a:noFill/>
          <a:ln w="0">
            <a:noFill/>
          </a:ln>
        </p:spPr>
        <p:txBody>
          <a:bodyPr anchor="ctr">
            <a:noAutofit/>
          </a:bodyPr>
          <a:lstStyle/>
          <a:p>
            <a:pPr algn="l">
              <a:defRPr sz="1800" b="0">
                <a:solidFill>
                  <a:srgbClr val="11745A"/>
                </a:solidFill>
                <a:latin typeface="Arial"/>
                <a:ea typeface="Arial"/>
                <a:cs typeface="Arial"/>
              </a:defRPr>
            </a:pPr>
            <a:r>
              <a:rPr sz="1800" b="0">
                <a:solidFill>
                  <a:srgbClr val="11745A"/>
                </a:solidFill>
                <a:latin typeface="Arial"/>
                <a:ea typeface="Arial"/>
                <a:cs typeface="Arial"/>
              </a:rPr>
              <a:t>Expected result: 84. Method or representation may vary.</a:t>
            </a:r>
          </a:p>
        </p:txBody>
      </p:sp>
      <p:sp>
        <p:nvSpPr>
          <p:cNvPr id="16" name="object-16">
            <a:extLst>
              <a:ext uri="{FF2B5EF4-FFF2-40B4-BE49-F238E27FC236}">
                <a16:creationId xmlns:a16="http://schemas.microsoft.com/office/drawing/2014/main" id="{35FED6AF-3E86-409E-8277-298F180F7360}"/>
              </a:ext>
            </a:extLst>
          </p:cNvPr>
          <p:cNvSpPr>
            <a:spLocks noGrp="1"/>
          </p:cNvSpPr>
          <p:nvPr/>
        </p:nvSpPr>
        <p:spPr>
          <a:xfrm>
            <a:off x="8215313" y="2512219"/>
            <a:ext cx="678656" cy="976313"/>
          </a:xfrm>
          <a:prstGeom prst="rect">
            <a:avLst/>
          </a:prstGeom>
          <a:noFill/>
          <a:ln w="0">
            <a:noFill/>
          </a:ln>
        </p:spPr>
        <p:txBody>
          <a:bodyPr anchor="ctr">
            <a:noAutofit/>
          </a:bodyPr>
          <a:lstStyle/>
          <a:p>
            <a:pPr algn="l">
              <a:defRPr sz="1875" b="1">
                <a:solidFill>
                  <a:srgbClr val="1D4ED8"/>
                </a:solidFill>
                <a:latin typeface="Arial"/>
                <a:ea typeface="Arial"/>
                <a:cs typeface="Arial"/>
              </a:defRPr>
            </a:pPr>
            <a:r>
              <a:rPr sz="1875" b="1">
                <a:solidFill>
                  <a:srgbClr val="1D4ED8"/>
                </a:solidFill>
                <a:latin typeface="Arial"/>
                <a:ea typeface="Arial"/>
                <a:cs typeface="Arial"/>
              </a:rPr>
              <a:t>6.</a:t>
            </a:r>
          </a:p>
        </p:txBody>
      </p:sp>
      <p:sp>
        <p:nvSpPr>
          <p:cNvPr id="17" name="object-17">
            <a:extLst>
              <a:ext uri="{FF2B5EF4-FFF2-40B4-BE49-F238E27FC236}">
                <a16:creationId xmlns:a16="http://schemas.microsoft.com/office/drawing/2014/main" id="{0C12B80B-A138-471A-94D0-BCD9E95774CE}"/>
              </a:ext>
            </a:extLst>
          </p:cNvPr>
          <p:cNvSpPr>
            <a:spLocks noGrp="1"/>
          </p:cNvSpPr>
          <p:nvPr/>
        </p:nvSpPr>
        <p:spPr>
          <a:xfrm>
            <a:off x="8905875" y="2512219"/>
            <a:ext cx="5917406" cy="976313"/>
          </a:xfrm>
          <a:prstGeom prst="rect">
            <a:avLst/>
          </a:prstGeom>
          <a:noFill/>
          <a:ln w="0">
            <a:noFill/>
          </a:ln>
        </p:spPr>
        <p:txBody>
          <a:bodyPr anchor="ctr">
            <a:noAutofit/>
          </a:bodyPr>
          <a:lstStyle/>
          <a:p>
            <a:pPr algn="l">
              <a:defRPr sz="1800" b="0">
                <a:solidFill>
                  <a:srgbClr val="11745A"/>
                </a:solidFill>
                <a:latin typeface="Arial"/>
                <a:ea typeface="Arial"/>
                <a:cs typeface="Arial"/>
              </a:defRPr>
            </a:pPr>
            <a:r>
              <a:rPr sz="1800" b="0">
                <a:solidFill>
                  <a:srgbClr val="11745A"/>
                </a:solidFill>
                <a:latin typeface="Arial"/>
                <a:ea typeface="Arial"/>
                <a:cs typeface="Arial"/>
              </a:rPr>
              <a:t>Expected result: 48. A valid check must be shown.</a:t>
            </a:r>
          </a:p>
        </p:txBody>
      </p:sp>
      <p:sp>
        <p:nvSpPr>
          <p:cNvPr id="18" name="object-18">
            <a:extLst>
              <a:ext uri="{FF2B5EF4-FFF2-40B4-BE49-F238E27FC236}">
                <a16:creationId xmlns:a16="http://schemas.microsoft.com/office/drawing/2014/main" id="{60529982-1018-406B-943F-D19FDF7E3EB3}"/>
              </a:ext>
            </a:extLst>
          </p:cNvPr>
          <p:cNvSpPr>
            <a:spLocks noGrp="1"/>
          </p:cNvSpPr>
          <p:nvPr/>
        </p:nvSpPr>
        <p:spPr>
          <a:xfrm>
            <a:off x="8215313" y="3559969"/>
            <a:ext cx="678656" cy="976313"/>
          </a:xfrm>
          <a:prstGeom prst="rect">
            <a:avLst/>
          </a:prstGeom>
          <a:noFill/>
          <a:ln w="0">
            <a:noFill/>
          </a:ln>
        </p:spPr>
        <p:txBody>
          <a:bodyPr anchor="ctr">
            <a:noAutofit/>
          </a:bodyPr>
          <a:lstStyle/>
          <a:p>
            <a:pPr algn="l">
              <a:defRPr sz="1875" b="1">
                <a:solidFill>
                  <a:srgbClr val="1D4ED8"/>
                </a:solidFill>
                <a:latin typeface="Arial"/>
                <a:ea typeface="Arial"/>
                <a:cs typeface="Arial"/>
              </a:defRPr>
            </a:pPr>
            <a:r>
              <a:rPr sz="1875" b="1">
                <a:solidFill>
                  <a:srgbClr val="1D4ED8"/>
                </a:solidFill>
                <a:latin typeface="Arial"/>
                <a:ea typeface="Arial"/>
                <a:cs typeface="Arial"/>
              </a:rPr>
              <a:t>7.</a:t>
            </a:r>
          </a:p>
        </p:txBody>
      </p:sp>
      <p:sp>
        <p:nvSpPr>
          <p:cNvPr id="19" name="object-19">
            <a:extLst>
              <a:ext uri="{FF2B5EF4-FFF2-40B4-BE49-F238E27FC236}">
                <a16:creationId xmlns:a16="http://schemas.microsoft.com/office/drawing/2014/main" id="{65F98557-3878-484A-BDA4-8EF9D1964116}"/>
              </a:ext>
            </a:extLst>
          </p:cNvPr>
          <p:cNvSpPr>
            <a:spLocks noGrp="1"/>
          </p:cNvSpPr>
          <p:nvPr/>
        </p:nvSpPr>
        <p:spPr>
          <a:xfrm>
            <a:off x="8905875" y="3559969"/>
            <a:ext cx="5917406" cy="976313"/>
          </a:xfrm>
          <a:prstGeom prst="rect">
            <a:avLst/>
          </a:prstGeom>
          <a:noFill/>
          <a:ln w="0">
            <a:noFill/>
          </a:ln>
        </p:spPr>
        <p:txBody>
          <a:bodyPr anchor="ctr">
            <a:noAutofit/>
          </a:bodyPr>
          <a:lstStyle/>
          <a:p>
            <a:pPr algn="l">
              <a:defRPr sz="1800" b="0">
                <a:solidFill>
                  <a:srgbClr val="11745A"/>
                </a:solidFill>
                <a:latin typeface="Arial"/>
                <a:ea typeface="Arial"/>
                <a:cs typeface="Arial"/>
              </a:defRPr>
            </a:pPr>
            <a:r>
              <a:rPr sz="1800" b="0">
                <a:solidFill>
                  <a:srgbClr val="11745A"/>
                </a:solidFill>
                <a:latin typeface="Arial"/>
                <a:ea typeface="Arial"/>
                <a:cs typeface="Arial"/>
              </a:rPr>
              <a:t>One answer is 2 + 4 x 8 = 34.</a:t>
            </a:r>
          </a:p>
        </p:txBody>
      </p:sp>
      <p:sp>
        <p:nvSpPr>
          <p:cNvPr id="20" name="object-20">
            <a:extLst>
              <a:ext uri="{FF2B5EF4-FFF2-40B4-BE49-F238E27FC236}">
                <a16:creationId xmlns:a16="http://schemas.microsoft.com/office/drawing/2014/main" id="{F319BB3C-74E8-45E4-8030-E9C2F025CE2F}"/>
              </a:ext>
            </a:extLst>
          </p:cNvPr>
          <p:cNvSpPr>
            <a:spLocks noGrp="1"/>
          </p:cNvSpPr>
          <p:nvPr/>
        </p:nvSpPr>
        <p:spPr>
          <a:xfrm>
            <a:off x="8215313" y="4607719"/>
            <a:ext cx="678656" cy="976313"/>
          </a:xfrm>
          <a:prstGeom prst="rect">
            <a:avLst/>
          </a:prstGeom>
          <a:noFill/>
          <a:ln w="0">
            <a:noFill/>
          </a:ln>
        </p:spPr>
        <p:txBody>
          <a:bodyPr anchor="ctr">
            <a:noAutofit/>
          </a:bodyPr>
          <a:lstStyle/>
          <a:p>
            <a:pPr algn="l">
              <a:defRPr sz="1875" b="1">
                <a:solidFill>
                  <a:srgbClr val="1D4ED8"/>
                </a:solidFill>
                <a:latin typeface="Arial"/>
                <a:ea typeface="Arial"/>
                <a:cs typeface="Arial"/>
              </a:defRPr>
            </a:pPr>
            <a:r>
              <a:rPr sz="1875" b="1">
                <a:solidFill>
                  <a:srgbClr val="1D4ED8"/>
                </a:solidFill>
                <a:latin typeface="Arial"/>
                <a:ea typeface="Arial"/>
                <a:cs typeface="Arial"/>
              </a:rPr>
              <a:t>8.</a:t>
            </a:r>
          </a:p>
        </p:txBody>
      </p:sp>
      <p:sp>
        <p:nvSpPr>
          <p:cNvPr id="21" name="object-21">
            <a:extLst>
              <a:ext uri="{FF2B5EF4-FFF2-40B4-BE49-F238E27FC236}">
                <a16:creationId xmlns:a16="http://schemas.microsoft.com/office/drawing/2014/main" id="{AB7E1D57-CAF6-403E-8FF1-B965111302D9}"/>
              </a:ext>
            </a:extLst>
          </p:cNvPr>
          <p:cNvSpPr>
            <a:spLocks noGrp="1"/>
          </p:cNvSpPr>
          <p:nvPr/>
        </p:nvSpPr>
        <p:spPr>
          <a:xfrm>
            <a:off x="8905875" y="4607719"/>
            <a:ext cx="5917406" cy="976313"/>
          </a:xfrm>
          <a:prstGeom prst="rect">
            <a:avLst/>
          </a:prstGeom>
          <a:noFill/>
          <a:ln w="0">
            <a:noFill/>
          </a:ln>
        </p:spPr>
        <p:txBody>
          <a:bodyPr anchor="ctr">
            <a:noAutofit/>
          </a:bodyPr>
          <a:lstStyle/>
          <a:p>
            <a:pPr algn="l">
              <a:defRPr sz="1800" b="0">
                <a:solidFill>
                  <a:srgbClr val="11745A"/>
                </a:solidFill>
                <a:latin typeface="Arial"/>
                <a:ea typeface="Arial"/>
                <a:cs typeface="Arial"/>
              </a:defRPr>
            </a:pPr>
            <a:r>
              <a:rPr sz="1800" b="0">
                <a:solidFill>
                  <a:srgbClr val="11745A"/>
                </a:solidFill>
                <a:latin typeface="Arial"/>
                <a:ea typeface="Arial"/>
                <a:cs typeface="Arial"/>
              </a:rPr>
              <a:t>Multiplication has priority, so calculate 6 x 7 first.</a:t>
            </a:r>
          </a:p>
        </p:txBody>
      </p:sp>
      <p:sp>
        <p:nvSpPr>
          <p:cNvPr id="22" name="object-22">
            <a:extLst>
              <a:ext uri="{FF2B5EF4-FFF2-40B4-BE49-F238E27FC236}">
                <a16:creationId xmlns:a16="http://schemas.microsoft.com/office/drawing/2014/main" id="{83801CA6-08A8-403F-B2D7-B3CA01D91E25}"/>
              </a:ext>
            </a:extLst>
          </p:cNvPr>
          <p:cNvSpPr>
            <a:spLocks noGrp="1"/>
          </p:cNvSpPr>
          <p:nvPr/>
        </p:nvSpPr>
        <p:spPr>
          <a:xfrm>
            <a:off x="8215313" y="5655469"/>
            <a:ext cx="678656" cy="976313"/>
          </a:xfrm>
          <a:prstGeom prst="rect">
            <a:avLst/>
          </a:prstGeom>
          <a:noFill/>
          <a:ln w="0">
            <a:noFill/>
          </a:ln>
        </p:spPr>
        <p:txBody>
          <a:bodyPr anchor="ctr">
            <a:noAutofit/>
          </a:bodyPr>
          <a:lstStyle/>
          <a:p>
            <a:pPr algn="l">
              <a:defRPr sz="1875" b="1">
                <a:solidFill>
                  <a:srgbClr val="1D4ED8"/>
                </a:solidFill>
                <a:latin typeface="Arial"/>
                <a:ea typeface="Arial"/>
                <a:cs typeface="Arial"/>
              </a:defRPr>
            </a:pPr>
            <a:r>
              <a:rPr sz="1875" b="1">
                <a:solidFill>
                  <a:srgbClr val="1D4ED8"/>
                </a:solidFill>
                <a:latin typeface="Arial"/>
                <a:ea typeface="Arial"/>
                <a:cs typeface="Arial"/>
              </a:rPr>
              <a:t>9.</a:t>
            </a:r>
          </a:p>
        </p:txBody>
      </p:sp>
      <p:sp>
        <p:nvSpPr>
          <p:cNvPr id="23" name="object-23">
            <a:extLst>
              <a:ext uri="{FF2B5EF4-FFF2-40B4-BE49-F238E27FC236}">
                <a16:creationId xmlns:a16="http://schemas.microsoft.com/office/drawing/2014/main" id="{4AEFA34C-0A02-4B9F-9932-8BD988575EE6}"/>
              </a:ext>
            </a:extLst>
          </p:cNvPr>
          <p:cNvSpPr>
            <a:spLocks noGrp="1"/>
          </p:cNvSpPr>
          <p:nvPr/>
        </p:nvSpPr>
        <p:spPr>
          <a:xfrm>
            <a:off x="8905875" y="5655469"/>
            <a:ext cx="5917406" cy="976313"/>
          </a:xfrm>
          <a:prstGeom prst="rect">
            <a:avLst/>
          </a:prstGeom>
          <a:noFill/>
          <a:ln w="0">
            <a:noFill/>
          </a:ln>
        </p:spPr>
        <p:txBody>
          <a:bodyPr anchor="ctr">
            <a:noAutofit/>
          </a:bodyPr>
          <a:lstStyle/>
          <a:p>
            <a:pPr algn="l">
              <a:defRPr sz="1800" b="0">
                <a:solidFill>
                  <a:srgbClr val="11745A"/>
                </a:solidFill>
                <a:latin typeface="Arial"/>
                <a:ea typeface="Arial"/>
                <a:cs typeface="Arial"/>
              </a:defRPr>
            </a:pPr>
            <a:r>
              <a:rPr sz="1800" b="0">
                <a:solidFill>
                  <a:srgbClr val="11745A"/>
                </a:solidFill>
                <a:latin typeface="Arial"/>
                <a:ea typeface="Arial"/>
                <a:cs typeface="Arial"/>
              </a:rPr>
              <a:t>Answer should name an inverse, estimate, boundary, known fact or equivalent representation.</a:t>
            </a:r>
          </a:p>
        </p:txBody>
      </p:sp>
      <p:sp>
        <p:nvSpPr>
          <p:cNvPr id="24" name="object-24">
            <a:extLst>
              <a:ext uri="{FF2B5EF4-FFF2-40B4-BE49-F238E27FC236}">
                <a16:creationId xmlns:a16="http://schemas.microsoft.com/office/drawing/2014/main" id="{8244E251-0EB2-4A4C-9177-60479076D9F5}"/>
              </a:ext>
            </a:extLst>
          </p:cNvPr>
          <p:cNvSpPr>
            <a:spLocks noGrp="1"/>
          </p:cNvSpPr>
          <p:nvPr/>
        </p:nvSpPr>
        <p:spPr>
          <a:xfrm>
            <a:off x="8215313" y="6703219"/>
            <a:ext cx="678656" cy="976313"/>
          </a:xfrm>
          <a:prstGeom prst="rect">
            <a:avLst/>
          </a:prstGeom>
          <a:noFill/>
          <a:ln w="0">
            <a:noFill/>
          </a:ln>
        </p:spPr>
        <p:txBody>
          <a:bodyPr anchor="ctr">
            <a:noAutofit/>
          </a:bodyPr>
          <a:lstStyle/>
          <a:p>
            <a:pPr algn="l">
              <a:defRPr sz="1875" b="1">
                <a:solidFill>
                  <a:srgbClr val="1D4ED8"/>
                </a:solidFill>
                <a:latin typeface="Arial"/>
                <a:ea typeface="Arial"/>
                <a:cs typeface="Arial"/>
              </a:defRPr>
            </a:pPr>
            <a:r>
              <a:rPr sz="1875" b="1">
                <a:solidFill>
                  <a:srgbClr val="1D4ED8"/>
                </a:solidFill>
                <a:latin typeface="Arial"/>
                <a:ea typeface="Arial"/>
                <a:cs typeface="Arial"/>
              </a:rPr>
              <a:t>10.</a:t>
            </a:r>
          </a:p>
        </p:txBody>
      </p:sp>
      <p:sp>
        <p:nvSpPr>
          <p:cNvPr id="25" name="object-25">
            <a:extLst>
              <a:ext uri="{FF2B5EF4-FFF2-40B4-BE49-F238E27FC236}">
                <a16:creationId xmlns:a16="http://schemas.microsoft.com/office/drawing/2014/main" id="{CC3DE8F1-9F3A-48C3-BBD4-969E76C2FC2A}"/>
              </a:ext>
            </a:extLst>
          </p:cNvPr>
          <p:cNvSpPr>
            <a:spLocks noGrp="1"/>
          </p:cNvSpPr>
          <p:nvPr/>
        </p:nvSpPr>
        <p:spPr>
          <a:xfrm>
            <a:off x="8905875" y="6703219"/>
            <a:ext cx="5917406" cy="976313"/>
          </a:xfrm>
          <a:prstGeom prst="rect">
            <a:avLst/>
          </a:prstGeom>
          <a:noFill/>
          <a:ln w="0">
            <a:noFill/>
          </a:ln>
        </p:spPr>
        <p:txBody>
          <a:bodyPr anchor="ctr">
            <a:noAutofit/>
          </a:bodyPr>
          <a:lstStyle/>
          <a:p>
            <a:pPr algn="l">
              <a:defRPr sz="1800" b="0">
                <a:solidFill>
                  <a:srgbClr val="11745A"/>
                </a:solidFill>
                <a:latin typeface="Arial"/>
                <a:ea typeface="Arial"/>
                <a:cs typeface="Arial"/>
              </a:defRPr>
            </a:pPr>
            <a:r>
              <a:rPr sz="1800" b="0">
                <a:solidFill>
                  <a:srgbClr val="11745A"/>
                </a:solidFill>
                <a:latin typeface="Arial"/>
                <a:ea typeface="Arial"/>
                <a:cs typeface="Arial"/>
              </a:rPr>
              <a:t>Answers vary. The new question must use the same mathematical structure and include a correct solution.</a:t>
            </a:r>
          </a:p>
        </p:txBody>
      </p:sp>
    </p:spTree>
    <p:extLst>
      <p:ext uri="{BB962C8B-B14F-4D97-AF65-F5344CB8AC3E}">
        <p14:creationId xmlns:p14="http://schemas.microsoft.com/office/powerpoint/2010/main" val="126651755"/>
      </p:ext>
    </p:extLst>
  </p:cSld>
  <p:clrMapOvr>
    <a:masterClrMapping/>
  </p:clrMapOvr>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ppt/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922</Words>
  <Application>Microsoft Office PowerPoint</Application>
  <DocSecurity>0</DocSecurity>
  <PresentationFormat>Custom</PresentationFormat>
  <Paragraphs>102</Paragraphs>
  <Slides>7</Slides>
  <Notes>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7</vt:i4>
      </vt:variant>
    </vt:vector>
  </HeadingPairs>
  <TitlesOfParts>
    <vt:vector size="10" baseType="lpstr">
      <vt:lpstr>Arial</vt:lpstr>
      <vt:lpstr>Calibri</vt:lpstr>
      <vt:lpstr>ChatGPT</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Presentation</dc:title>
  <dc:creator>Walnut Exporter</dc:creator>
  <cp:lastModifiedBy>Garima Sharma</cp:lastModifiedBy>
  <cp:revision>1</cp:revision>
  <dcterms:created xsi:type="dcterms:W3CDTF">2026-09-14T13:14:17Z</dcterms:created>
  <dcterms:modified xsi:type="dcterms:W3CDTF">2026-09-14T13:18:36Z</dcterms:modified>
</cp:coreProperties>
</file>