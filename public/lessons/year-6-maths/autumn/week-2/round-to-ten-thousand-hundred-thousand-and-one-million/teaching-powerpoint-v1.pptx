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Round to ten thousand, hundred thousand and one million. Round to ten thousand, hundred thousand and one million.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Round to ten thousand, hundred thousand and one million. I do. Mark the two multiples and halfway point. Compare the position with halfway.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Round to ten thousand, hundred thousand and one million. You do. Pause before clicking. Let pupils try independently, then reveal and discuss every step. Mark the two multiples and halfway point. Compare the position with halfway.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Round to ten thousand, hundred thousand and one million. I do. Mark the two multiples and halfway point. Compare the position with halfway.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Round to ten thousand, hundred thousand and one million. You do. Pause before clicking. Let pupils try independently, then reveal and discuss every step. Mark the two multiples and halfway point. Compare the position with halfway.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Round to ten thousand, hundred thousand and one million.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Round to ten thousand, hundred thousand and one million.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760F23F4-980B-48AC-94F7-23277713FA79}"/>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3281" b="1">
                <a:solidFill>
                  <a:srgbClr val="1D4ED8"/>
                </a:solidFill>
                <a:latin typeface="Arial"/>
                <a:ea typeface="Arial"/>
                <a:cs typeface="Arial"/>
              </a:defRPr>
            </a:pPr>
            <a:r>
              <a:rPr sz="3281" b="1">
                <a:solidFill>
                  <a:srgbClr val="1D4ED8"/>
                </a:solidFill>
                <a:latin typeface="Arial"/>
                <a:ea typeface="Arial"/>
                <a:cs typeface="Arial"/>
              </a:rPr>
              <a:t>Round to ten thousand, hundred thousand and one million</a:t>
            </a:r>
          </a:p>
        </p:txBody>
      </p:sp>
      <p:sp>
        <p:nvSpPr>
          <p:cNvPr id="2" name="object-2">
            <a:extLst>
              <a:ext uri="{FF2B5EF4-FFF2-40B4-BE49-F238E27FC236}">
                <a16:creationId xmlns:a16="http://schemas.microsoft.com/office/drawing/2014/main" id="{7C95B083-6E2B-4EC8-B32B-0708951265D4}"/>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6743E866-0433-4529-911A-BECB8795C77A}"/>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D903B386-14D3-42F5-B88E-60C33E18EE2E}"/>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Round to ten thousand, hundred thousand and one million</a:t>
            </a:r>
          </a:p>
        </p:txBody>
      </p:sp>
      <p:sp>
        <p:nvSpPr>
          <p:cNvPr id="5" name="object-5">
            <a:extLst>
              <a:ext uri="{FF2B5EF4-FFF2-40B4-BE49-F238E27FC236}">
                <a16:creationId xmlns:a16="http://schemas.microsoft.com/office/drawing/2014/main" id="{DB575642-2F50-4AD6-9155-2E73186B0C37}"/>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0984E022-BFA9-47E2-B59C-D8D8A36B9A0E}"/>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round large whole numbers to greater powers of ten.</a:t>
            </a:r>
          </a:p>
        </p:txBody>
      </p:sp>
    </p:spTree>
    <p:extLst>
      <p:ext uri="{BB962C8B-B14F-4D97-AF65-F5344CB8AC3E}">
        <p14:creationId xmlns:p14="http://schemas.microsoft.com/office/powerpoint/2010/main" val="700094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object-1">
            <a:extLst>
              <a:ext uri="{FF2B5EF4-FFF2-40B4-BE49-F238E27FC236}">
                <a16:creationId xmlns:a16="http://schemas.microsoft.com/office/drawing/2014/main" id="{A5D00C8C-D950-418F-8C6E-4E9C062F15A2}"/>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CB4033A6-6E2E-4DD2-8DB7-90F07748E0BC}"/>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Round 6,748,219 to the nearest 100,000.</a:t>
            </a:r>
          </a:p>
        </p:txBody>
      </p:sp>
      <p:sp>
        <p:nvSpPr>
          <p:cNvPr id="3" name="object-3">
            <a:extLst>
              <a:ext uri="{FF2B5EF4-FFF2-40B4-BE49-F238E27FC236}">
                <a16:creationId xmlns:a16="http://schemas.microsoft.com/office/drawing/2014/main" id="{6F8C12DB-D55F-4F3D-916A-F72C536579E8}"/>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2011928A-06D4-4F96-ADE6-9AC26EE31700}"/>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Round to ten thousand, hundred thousand and one million</a:t>
            </a:r>
          </a:p>
        </p:txBody>
      </p:sp>
      <p:sp>
        <p:nvSpPr>
          <p:cNvPr id="5" name="object-5">
            <a:extLst>
              <a:ext uri="{FF2B5EF4-FFF2-40B4-BE49-F238E27FC236}">
                <a16:creationId xmlns:a16="http://schemas.microsoft.com/office/drawing/2014/main" id="{BE6CE569-A8C1-4446-85B2-6AD4936BA717}"/>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3E189CF3-9086-4EB6-A97A-11B5FB623C16}"/>
              </a:ext>
            </a:extLst>
          </p:cNvPr>
          <p:cNvSpPr>
            <a:spLocks noGrp="1"/>
          </p:cNvSpPr>
          <p:nvPr/>
        </p:nvSpPr>
        <p:spPr>
          <a:xfrm>
            <a:off x="2024063" y="4524375"/>
            <a:ext cx="10953750" cy="35719"/>
          </a:xfrm>
          <a:prstGeom prst="rect">
            <a:avLst/>
          </a:prstGeom>
          <a:solidFill>
            <a:srgbClr val="172B4D"/>
          </a:solidFill>
          <a:ln w="0">
            <a:noFill/>
          </a:ln>
        </p:spPr>
      </p:sp>
      <p:sp>
        <p:nvSpPr>
          <p:cNvPr id="7" name="object-7">
            <a:extLst>
              <a:ext uri="{FF2B5EF4-FFF2-40B4-BE49-F238E27FC236}">
                <a16:creationId xmlns:a16="http://schemas.microsoft.com/office/drawing/2014/main" id="{1B99C496-2811-4A17-B196-5B1B520FEEEE}"/>
              </a:ext>
            </a:extLst>
          </p:cNvPr>
          <p:cNvSpPr>
            <a:spLocks noGrp="1"/>
          </p:cNvSpPr>
          <p:nvPr/>
        </p:nvSpPr>
        <p:spPr>
          <a:xfrm>
            <a:off x="2024063" y="4310063"/>
            <a:ext cx="0" cy="440531"/>
          </a:xfrm>
          <a:prstGeom prst="line">
            <a:avLst/>
          </a:prstGeom>
          <a:noFill/>
          <a:ln w="35719">
            <a:solidFill>
              <a:srgbClr val="172B4D"/>
            </a:solidFill>
          </a:ln>
        </p:spPr>
      </p:sp>
      <p:sp>
        <p:nvSpPr>
          <p:cNvPr id="8" name="object-8">
            <a:extLst>
              <a:ext uri="{FF2B5EF4-FFF2-40B4-BE49-F238E27FC236}">
                <a16:creationId xmlns:a16="http://schemas.microsoft.com/office/drawing/2014/main" id="{FF7399C8-6D2F-449D-A363-5A65C7863262}"/>
              </a:ext>
            </a:extLst>
          </p:cNvPr>
          <p:cNvSpPr>
            <a:spLocks noGrp="1"/>
          </p:cNvSpPr>
          <p:nvPr/>
        </p:nvSpPr>
        <p:spPr>
          <a:xfrm>
            <a:off x="29765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6,700,000</a:t>
            </a:r>
          </a:p>
        </p:txBody>
      </p:sp>
      <p:sp>
        <p:nvSpPr>
          <p:cNvPr id="9" name="object-9">
            <a:extLst>
              <a:ext uri="{FF2B5EF4-FFF2-40B4-BE49-F238E27FC236}">
                <a16:creationId xmlns:a16="http://schemas.microsoft.com/office/drawing/2014/main" id="{9A547B42-1BBC-44D2-BB57-30D9037D1424}"/>
              </a:ext>
            </a:extLst>
          </p:cNvPr>
          <p:cNvSpPr>
            <a:spLocks noGrp="1"/>
          </p:cNvSpPr>
          <p:nvPr/>
        </p:nvSpPr>
        <p:spPr>
          <a:xfrm>
            <a:off x="7500938" y="4310063"/>
            <a:ext cx="0" cy="440531"/>
          </a:xfrm>
          <a:prstGeom prst="line">
            <a:avLst/>
          </a:prstGeom>
          <a:noFill/>
          <a:ln w="35719">
            <a:solidFill>
              <a:srgbClr val="172B4D"/>
            </a:solidFill>
          </a:ln>
        </p:spPr>
      </p:sp>
      <p:sp>
        <p:nvSpPr>
          <p:cNvPr id="10" name="object-10">
            <a:extLst>
              <a:ext uri="{FF2B5EF4-FFF2-40B4-BE49-F238E27FC236}">
                <a16:creationId xmlns:a16="http://schemas.microsoft.com/office/drawing/2014/main" id="{8468B8E6-A298-43BC-A27D-03E2AD7C3DF9}"/>
              </a:ext>
            </a:extLst>
          </p:cNvPr>
          <p:cNvSpPr>
            <a:spLocks noGrp="1"/>
          </p:cNvSpPr>
          <p:nvPr/>
        </p:nvSpPr>
        <p:spPr>
          <a:xfrm>
            <a:off x="5774531"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6,750,000</a:t>
            </a:r>
          </a:p>
        </p:txBody>
      </p:sp>
      <p:sp>
        <p:nvSpPr>
          <p:cNvPr id="11" name="object-11">
            <a:extLst>
              <a:ext uri="{FF2B5EF4-FFF2-40B4-BE49-F238E27FC236}">
                <a16:creationId xmlns:a16="http://schemas.microsoft.com/office/drawing/2014/main" id="{C5FA73DB-AF3C-4E05-B556-7F4CE8D01B77}"/>
              </a:ext>
            </a:extLst>
          </p:cNvPr>
          <p:cNvSpPr>
            <a:spLocks noGrp="1"/>
          </p:cNvSpPr>
          <p:nvPr/>
        </p:nvSpPr>
        <p:spPr>
          <a:xfrm>
            <a:off x="12977813" y="4310063"/>
            <a:ext cx="0" cy="440531"/>
          </a:xfrm>
          <a:prstGeom prst="line">
            <a:avLst/>
          </a:prstGeom>
          <a:noFill/>
          <a:ln w="35719">
            <a:solidFill>
              <a:srgbClr val="172B4D"/>
            </a:solidFill>
          </a:ln>
        </p:spPr>
      </p:sp>
      <p:sp>
        <p:nvSpPr>
          <p:cNvPr id="12" name="object-12">
            <a:extLst>
              <a:ext uri="{FF2B5EF4-FFF2-40B4-BE49-F238E27FC236}">
                <a16:creationId xmlns:a16="http://schemas.microsoft.com/office/drawing/2014/main" id="{1AB0FBDB-AAB4-4919-9628-05395713C54E}"/>
              </a:ext>
            </a:extLst>
          </p:cNvPr>
          <p:cNvSpPr>
            <a:spLocks noGrp="1"/>
          </p:cNvSpPr>
          <p:nvPr/>
        </p:nvSpPr>
        <p:spPr>
          <a:xfrm>
            <a:off x="1125140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6,800,000</a:t>
            </a:r>
          </a:p>
        </p:txBody>
      </p:sp>
      <p:sp>
        <p:nvSpPr>
          <p:cNvPr id="13" name="object-13">
            <a:extLst>
              <a:ext uri="{FF2B5EF4-FFF2-40B4-BE49-F238E27FC236}">
                <a16:creationId xmlns:a16="http://schemas.microsoft.com/office/drawing/2014/main" id="{55354F84-F321-4C16-816E-20D9B245A124}"/>
              </a:ext>
            </a:extLst>
          </p:cNvPr>
          <p:cNvSpPr>
            <a:spLocks noGrp="1"/>
          </p:cNvSpPr>
          <p:nvPr/>
        </p:nvSpPr>
        <p:spPr>
          <a:xfrm>
            <a:off x="5893594" y="5715000"/>
            <a:ext cx="3214688" cy="535781"/>
          </a:xfrm>
          <a:prstGeom prst="rect">
            <a:avLst/>
          </a:prstGeom>
          <a:noFill/>
          <a:ln w="0">
            <a:noFill/>
          </a:ln>
        </p:spPr>
        <p:txBody>
          <a:bodyPr anchor="ctr">
            <a:noAutofit/>
          </a:bodyPr>
          <a:lstStyle/>
          <a:p>
            <a:pPr algn="ctr">
              <a:defRPr sz="2625" b="0">
                <a:solidFill>
                  <a:srgbClr val="52647A"/>
                </a:solidFill>
                <a:latin typeface="Arial"/>
                <a:ea typeface="Arial"/>
                <a:cs typeface="Arial"/>
              </a:defRPr>
            </a:pPr>
            <a:r>
              <a:rPr sz="2625" b="0">
                <a:solidFill>
                  <a:srgbClr val="52647A"/>
                </a:solidFill>
                <a:latin typeface="Arial"/>
                <a:ea typeface="Arial"/>
                <a:cs typeface="Arial"/>
              </a:rPr>
              <a:t>halfway</a:t>
            </a:r>
          </a:p>
        </p:txBody>
      </p:sp>
      <p:sp>
        <p:nvSpPr>
          <p:cNvPr id="14" name="object-14">
            <a:extLst>
              <a:ext uri="{FF2B5EF4-FFF2-40B4-BE49-F238E27FC236}">
                <a16:creationId xmlns:a16="http://schemas.microsoft.com/office/drawing/2014/main" id="{8B5DE196-868D-4E13-89C0-AE874E6665CE}"/>
              </a:ext>
            </a:extLst>
          </p:cNvPr>
          <p:cNvSpPr>
            <a:spLocks noGrp="1"/>
          </p:cNvSpPr>
          <p:nvPr/>
        </p:nvSpPr>
        <p:spPr>
          <a:xfrm>
            <a:off x="1785938" y="3274219"/>
            <a:ext cx="357188" cy="357188"/>
          </a:xfrm>
          <a:prstGeom prst="ellipse">
            <a:avLst/>
          </a:prstGeom>
          <a:solidFill>
            <a:srgbClr val="1D4ED8"/>
          </a:solidFill>
          <a:ln w="11906">
            <a:solidFill>
              <a:srgbClr val="172B4D"/>
            </a:solidFill>
          </a:ln>
        </p:spPr>
      </p:sp>
      <p:sp>
        <p:nvSpPr>
          <p:cNvPr id="15" name="object-15">
            <a:extLst>
              <a:ext uri="{FF2B5EF4-FFF2-40B4-BE49-F238E27FC236}">
                <a16:creationId xmlns:a16="http://schemas.microsoft.com/office/drawing/2014/main" id="{7F3D4976-B410-4DBC-B10C-FE09B6677679}"/>
              </a:ext>
            </a:extLst>
          </p:cNvPr>
          <p:cNvSpPr>
            <a:spLocks noGrp="1"/>
          </p:cNvSpPr>
          <p:nvPr/>
        </p:nvSpPr>
        <p:spPr>
          <a:xfrm>
            <a:off x="5400851" y="3036094"/>
            <a:ext cx="3810000" cy="654844"/>
          </a:xfrm>
          <a:prstGeom prst="rect">
            <a:avLst/>
          </a:prstGeom>
          <a:noFill/>
          <a:ln w="0">
            <a:noFill/>
          </a:ln>
        </p:spPr>
        <p:txBody>
          <a:bodyPr anchor="ctr">
            <a:noAutofit/>
          </a:bodyPr>
          <a:lstStyle/>
          <a:p>
            <a:pPr algn="ctr">
              <a:defRPr sz="3000" b="1">
                <a:solidFill>
                  <a:srgbClr val="1D4ED8"/>
                </a:solidFill>
                <a:latin typeface="Arial"/>
                <a:ea typeface="Arial"/>
                <a:cs typeface="Arial"/>
              </a:defRPr>
            </a:pPr>
            <a:r>
              <a:rPr sz="3000" b="1">
                <a:solidFill>
                  <a:srgbClr val="1D4ED8"/>
                </a:solidFill>
                <a:latin typeface="Arial"/>
                <a:ea typeface="Arial"/>
                <a:cs typeface="Arial"/>
              </a:rPr>
              <a:t>6,748,219</a:t>
            </a:r>
          </a:p>
        </p:txBody>
      </p:sp>
      <p:sp>
        <p:nvSpPr>
          <p:cNvPr id="16" name="object-16">
            <a:extLst>
              <a:ext uri="{FF2B5EF4-FFF2-40B4-BE49-F238E27FC236}">
                <a16:creationId xmlns:a16="http://schemas.microsoft.com/office/drawing/2014/main" id="{6DA89E5B-C980-45A7-9EF7-D70CCE22EE44}"/>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6,748,219 rounds to 6,700,000.</a:t>
            </a:r>
          </a:p>
        </p:txBody>
      </p:sp>
    </p:spTree>
    <p:extLst>
      <p:ext uri="{BB962C8B-B14F-4D97-AF65-F5344CB8AC3E}">
        <p14:creationId xmlns:p14="http://schemas.microsoft.com/office/powerpoint/2010/main" val="795391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 0 L 0.35048031 0.1 E" pathEditMode="relative" ptsTypes="">
                                      <p:cBhvr>
                                        <p:cTn id="10" dur="800" fill="hold"/>
                                        <p:tgtEl>
                                          <p:spTgt spid="14"/>
                                        </p:tgtEl>
                                        <p:attrNameLst>
                                          <p:attrName>ppt_x</p:attrName>
                                          <p:attrName>ppt_y</p:attrName>
                                        </p:attrNameLst>
                                      </p:cBhvr>
                                    </p:animMotion>
                                  </p:childTnLst>
                                </p:cTn>
                              </p:par>
                            </p:childTnLst>
                          </p:cTn>
                        </p:par>
                        <p:par>
                          <p:cTn id="11" fill="hold">
                            <p:stCondLst>
                              <p:cond delay="800"/>
                            </p:stCondLst>
                            <p:childTnLst>
                              <p:par>
                                <p:cTn id="12" presetID="1" presetClass="entr" presetSubtype="0"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object-1">
            <a:extLst>
              <a:ext uri="{FF2B5EF4-FFF2-40B4-BE49-F238E27FC236}">
                <a16:creationId xmlns:a16="http://schemas.microsoft.com/office/drawing/2014/main" id="{834C8520-2DB8-43A9-BE0C-080A2506A06B}"/>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4EAB4F17-0B3E-403D-979B-FFF3CB90DFAF}"/>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8C6AEA53-4EBE-41D0-A46C-15CFD7EF8370}"/>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Round 6,848,219 to the nearest 100,000.</a:t>
            </a:r>
          </a:p>
        </p:txBody>
      </p:sp>
      <p:sp>
        <p:nvSpPr>
          <p:cNvPr id="4" name="object-4">
            <a:extLst>
              <a:ext uri="{FF2B5EF4-FFF2-40B4-BE49-F238E27FC236}">
                <a16:creationId xmlns:a16="http://schemas.microsoft.com/office/drawing/2014/main" id="{C9B17994-44DB-4AED-A328-A8CA56D75FCF}"/>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0F75FF0C-09B3-4028-ADD5-FE09F568245B}"/>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Round to ten thousand, hundred thousand and one million</a:t>
            </a:r>
          </a:p>
        </p:txBody>
      </p:sp>
      <p:sp>
        <p:nvSpPr>
          <p:cNvPr id="6" name="object-6">
            <a:extLst>
              <a:ext uri="{FF2B5EF4-FFF2-40B4-BE49-F238E27FC236}">
                <a16:creationId xmlns:a16="http://schemas.microsoft.com/office/drawing/2014/main" id="{2A097690-0413-477A-A1FD-34F99112B031}"/>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E76F0CA1-6303-4187-A11D-602FF9903DFE}"/>
              </a:ext>
            </a:extLst>
          </p:cNvPr>
          <p:cNvSpPr>
            <a:spLocks noGrp="1"/>
          </p:cNvSpPr>
          <p:nvPr/>
        </p:nvSpPr>
        <p:spPr>
          <a:xfrm>
            <a:off x="2024063" y="4524375"/>
            <a:ext cx="10953750" cy="35719"/>
          </a:xfrm>
          <a:prstGeom prst="rect">
            <a:avLst/>
          </a:prstGeom>
          <a:solidFill>
            <a:srgbClr val="172B4D"/>
          </a:solidFill>
          <a:ln w="0">
            <a:noFill/>
          </a:ln>
        </p:spPr>
      </p:sp>
      <p:sp>
        <p:nvSpPr>
          <p:cNvPr id="8" name="object-8">
            <a:extLst>
              <a:ext uri="{FF2B5EF4-FFF2-40B4-BE49-F238E27FC236}">
                <a16:creationId xmlns:a16="http://schemas.microsoft.com/office/drawing/2014/main" id="{FCC95BDB-FC18-43E3-8FED-0CB500148C0B}"/>
              </a:ext>
            </a:extLst>
          </p:cNvPr>
          <p:cNvSpPr>
            <a:spLocks noGrp="1"/>
          </p:cNvSpPr>
          <p:nvPr/>
        </p:nvSpPr>
        <p:spPr>
          <a:xfrm>
            <a:off x="2024063" y="4310063"/>
            <a:ext cx="0" cy="440531"/>
          </a:xfrm>
          <a:prstGeom prst="line">
            <a:avLst/>
          </a:prstGeom>
          <a:noFill/>
          <a:ln w="35719">
            <a:solidFill>
              <a:srgbClr val="172B4D"/>
            </a:solidFill>
          </a:ln>
        </p:spPr>
      </p:sp>
      <p:sp>
        <p:nvSpPr>
          <p:cNvPr id="9" name="object-9">
            <a:extLst>
              <a:ext uri="{FF2B5EF4-FFF2-40B4-BE49-F238E27FC236}">
                <a16:creationId xmlns:a16="http://schemas.microsoft.com/office/drawing/2014/main" id="{AFBD3B2B-2ACD-46DC-845D-9C6CC6A308D6}"/>
              </a:ext>
            </a:extLst>
          </p:cNvPr>
          <p:cNvSpPr>
            <a:spLocks noGrp="1"/>
          </p:cNvSpPr>
          <p:nvPr/>
        </p:nvSpPr>
        <p:spPr>
          <a:xfrm>
            <a:off x="29765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6,800,000</a:t>
            </a:r>
          </a:p>
        </p:txBody>
      </p:sp>
      <p:sp>
        <p:nvSpPr>
          <p:cNvPr id="10" name="object-10">
            <a:extLst>
              <a:ext uri="{FF2B5EF4-FFF2-40B4-BE49-F238E27FC236}">
                <a16:creationId xmlns:a16="http://schemas.microsoft.com/office/drawing/2014/main" id="{0A473136-DD23-462E-ABFC-4C84485A4A7B}"/>
              </a:ext>
            </a:extLst>
          </p:cNvPr>
          <p:cNvSpPr>
            <a:spLocks noGrp="1"/>
          </p:cNvSpPr>
          <p:nvPr/>
        </p:nvSpPr>
        <p:spPr>
          <a:xfrm>
            <a:off x="7500938" y="4310063"/>
            <a:ext cx="0" cy="440531"/>
          </a:xfrm>
          <a:prstGeom prst="line">
            <a:avLst/>
          </a:prstGeom>
          <a:noFill/>
          <a:ln w="35719">
            <a:solidFill>
              <a:srgbClr val="172B4D"/>
            </a:solidFill>
          </a:ln>
        </p:spPr>
      </p:sp>
      <p:sp>
        <p:nvSpPr>
          <p:cNvPr id="11" name="object-11">
            <a:extLst>
              <a:ext uri="{FF2B5EF4-FFF2-40B4-BE49-F238E27FC236}">
                <a16:creationId xmlns:a16="http://schemas.microsoft.com/office/drawing/2014/main" id="{66420CC7-C4D6-45FA-8C1F-557829AD447E}"/>
              </a:ext>
            </a:extLst>
          </p:cNvPr>
          <p:cNvSpPr>
            <a:spLocks noGrp="1"/>
          </p:cNvSpPr>
          <p:nvPr/>
        </p:nvSpPr>
        <p:spPr>
          <a:xfrm>
            <a:off x="5774531"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6,850,000</a:t>
            </a:r>
          </a:p>
        </p:txBody>
      </p:sp>
      <p:sp>
        <p:nvSpPr>
          <p:cNvPr id="12" name="object-12">
            <a:extLst>
              <a:ext uri="{FF2B5EF4-FFF2-40B4-BE49-F238E27FC236}">
                <a16:creationId xmlns:a16="http://schemas.microsoft.com/office/drawing/2014/main" id="{75CC384C-0837-4226-A384-3F618D17F43F}"/>
              </a:ext>
            </a:extLst>
          </p:cNvPr>
          <p:cNvSpPr>
            <a:spLocks noGrp="1"/>
          </p:cNvSpPr>
          <p:nvPr/>
        </p:nvSpPr>
        <p:spPr>
          <a:xfrm>
            <a:off x="12977813" y="4310063"/>
            <a:ext cx="0" cy="440531"/>
          </a:xfrm>
          <a:prstGeom prst="line">
            <a:avLst/>
          </a:prstGeom>
          <a:noFill/>
          <a:ln w="35719">
            <a:solidFill>
              <a:srgbClr val="172B4D"/>
            </a:solidFill>
          </a:ln>
        </p:spPr>
      </p:sp>
      <p:sp>
        <p:nvSpPr>
          <p:cNvPr id="13" name="object-13">
            <a:extLst>
              <a:ext uri="{FF2B5EF4-FFF2-40B4-BE49-F238E27FC236}">
                <a16:creationId xmlns:a16="http://schemas.microsoft.com/office/drawing/2014/main" id="{648E9EF6-84AF-4F9C-A6F0-19B3B9826397}"/>
              </a:ext>
            </a:extLst>
          </p:cNvPr>
          <p:cNvSpPr>
            <a:spLocks noGrp="1"/>
          </p:cNvSpPr>
          <p:nvPr/>
        </p:nvSpPr>
        <p:spPr>
          <a:xfrm>
            <a:off x="1125140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6,900,000</a:t>
            </a:r>
          </a:p>
        </p:txBody>
      </p:sp>
      <p:sp>
        <p:nvSpPr>
          <p:cNvPr id="14" name="object-14">
            <a:extLst>
              <a:ext uri="{FF2B5EF4-FFF2-40B4-BE49-F238E27FC236}">
                <a16:creationId xmlns:a16="http://schemas.microsoft.com/office/drawing/2014/main" id="{92E4D54B-B52F-4E90-94B9-A65F754255F9}"/>
              </a:ext>
            </a:extLst>
          </p:cNvPr>
          <p:cNvSpPr>
            <a:spLocks noGrp="1"/>
          </p:cNvSpPr>
          <p:nvPr/>
        </p:nvSpPr>
        <p:spPr>
          <a:xfrm>
            <a:off x="5893594" y="5715000"/>
            <a:ext cx="3214688" cy="535781"/>
          </a:xfrm>
          <a:prstGeom prst="rect">
            <a:avLst/>
          </a:prstGeom>
          <a:noFill/>
          <a:ln w="0">
            <a:noFill/>
          </a:ln>
        </p:spPr>
        <p:txBody>
          <a:bodyPr anchor="ctr">
            <a:noAutofit/>
          </a:bodyPr>
          <a:lstStyle/>
          <a:p>
            <a:pPr algn="ctr">
              <a:defRPr sz="2625" b="0">
                <a:solidFill>
                  <a:srgbClr val="52647A"/>
                </a:solidFill>
                <a:latin typeface="Arial"/>
                <a:ea typeface="Arial"/>
                <a:cs typeface="Arial"/>
              </a:defRPr>
            </a:pPr>
            <a:r>
              <a:rPr sz="2625" b="0">
                <a:solidFill>
                  <a:srgbClr val="52647A"/>
                </a:solidFill>
                <a:latin typeface="Arial"/>
                <a:ea typeface="Arial"/>
                <a:cs typeface="Arial"/>
              </a:rPr>
              <a:t>halfway</a:t>
            </a:r>
          </a:p>
        </p:txBody>
      </p:sp>
      <p:sp>
        <p:nvSpPr>
          <p:cNvPr id="15" name="object-15">
            <a:extLst>
              <a:ext uri="{FF2B5EF4-FFF2-40B4-BE49-F238E27FC236}">
                <a16:creationId xmlns:a16="http://schemas.microsoft.com/office/drawing/2014/main" id="{6B9EE38B-0931-498A-9581-E8BAE8ADC7BC}"/>
              </a:ext>
            </a:extLst>
          </p:cNvPr>
          <p:cNvSpPr>
            <a:spLocks noGrp="1"/>
          </p:cNvSpPr>
          <p:nvPr/>
        </p:nvSpPr>
        <p:spPr>
          <a:xfrm>
            <a:off x="1785938" y="3274219"/>
            <a:ext cx="357188" cy="357188"/>
          </a:xfrm>
          <a:prstGeom prst="ellipse">
            <a:avLst/>
          </a:prstGeom>
          <a:solidFill>
            <a:srgbClr val="1D4ED8"/>
          </a:solidFill>
          <a:ln w="11906">
            <a:solidFill>
              <a:srgbClr val="172B4D"/>
            </a:solidFill>
          </a:ln>
        </p:spPr>
      </p:sp>
      <p:sp>
        <p:nvSpPr>
          <p:cNvPr id="16" name="object-16">
            <a:extLst>
              <a:ext uri="{FF2B5EF4-FFF2-40B4-BE49-F238E27FC236}">
                <a16:creationId xmlns:a16="http://schemas.microsoft.com/office/drawing/2014/main" id="{43A30B73-DE99-4301-8073-35FE32B03AD0}"/>
              </a:ext>
            </a:extLst>
          </p:cNvPr>
          <p:cNvSpPr>
            <a:spLocks noGrp="1"/>
          </p:cNvSpPr>
          <p:nvPr/>
        </p:nvSpPr>
        <p:spPr>
          <a:xfrm>
            <a:off x="5400851" y="3036094"/>
            <a:ext cx="3810000" cy="654844"/>
          </a:xfrm>
          <a:prstGeom prst="rect">
            <a:avLst/>
          </a:prstGeom>
          <a:noFill/>
          <a:ln w="0">
            <a:noFill/>
          </a:ln>
        </p:spPr>
        <p:txBody>
          <a:bodyPr anchor="ctr">
            <a:noAutofit/>
          </a:bodyPr>
          <a:lstStyle/>
          <a:p>
            <a:pPr algn="ctr">
              <a:defRPr sz="3000" b="1">
                <a:solidFill>
                  <a:srgbClr val="1D4ED8"/>
                </a:solidFill>
                <a:latin typeface="Arial"/>
                <a:ea typeface="Arial"/>
                <a:cs typeface="Arial"/>
              </a:defRPr>
            </a:pPr>
            <a:r>
              <a:rPr sz="3000" b="1">
                <a:solidFill>
                  <a:srgbClr val="1D4ED8"/>
                </a:solidFill>
                <a:latin typeface="Arial"/>
                <a:ea typeface="Arial"/>
                <a:cs typeface="Arial"/>
              </a:rPr>
              <a:t>6,848,219</a:t>
            </a:r>
          </a:p>
        </p:txBody>
      </p:sp>
      <p:sp>
        <p:nvSpPr>
          <p:cNvPr id="17" name="object-17">
            <a:extLst>
              <a:ext uri="{FF2B5EF4-FFF2-40B4-BE49-F238E27FC236}">
                <a16:creationId xmlns:a16="http://schemas.microsoft.com/office/drawing/2014/main" id="{3A065F74-49DE-48DB-B366-1339D648CD85}"/>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6,848,219 rounds to 6,800,000.</a:t>
            </a:r>
          </a:p>
        </p:txBody>
      </p:sp>
    </p:spTree>
    <p:extLst>
      <p:ext uri="{BB962C8B-B14F-4D97-AF65-F5344CB8AC3E}">
        <p14:creationId xmlns:p14="http://schemas.microsoft.com/office/powerpoint/2010/main" val="2116168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 0 L 0.35048031 0.1 E" pathEditMode="relative" ptsTypes="">
                                      <p:cBhvr>
                                        <p:cTn id="10" dur="800" fill="hold"/>
                                        <p:tgtEl>
                                          <p:spTgt spid="15"/>
                                        </p:tgtEl>
                                        <p:attrNameLst>
                                          <p:attrName>ppt_x</p:attrName>
                                          <p:attrName>ppt_y</p:attrName>
                                        </p:attrNameLst>
                                      </p:cBhvr>
                                    </p:animMotion>
                                  </p:childTnLst>
                                </p:cTn>
                              </p:par>
                            </p:childTnLst>
                          </p:cTn>
                        </p:par>
                        <p:par>
                          <p:cTn id="11" fill="hold">
                            <p:stCondLst>
                              <p:cond delay="800"/>
                            </p:stCondLst>
                            <p:childTnLst>
                              <p:par>
                                <p:cTn id="12" presetID="1" presetClass="entr" presetSubtype="0" fill="hold" grpId="0" nodeType="after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object-1">
            <a:extLst>
              <a:ext uri="{FF2B5EF4-FFF2-40B4-BE49-F238E27FC236}">
                <a16:creationId xmlns:a16="http://schemas.microsoft.com/office/drawing/2014/main" id="{D2C75063-A713-4F8D-A1A9-DD07494B4694}"/>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13F9325B-6CAB-4F40-8A7A-920878F4E37F}"/>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Round 6,948,219 to the nearest 100,000.</a:t>
            </a:r>
          </a:p>
        </p:txBody>
      </p:sp>
      <p:sp>
        <p:nvSpPr>
          <p:cNvPr id="3" name="object-3">
            <a:extLst>
              <a:ext uri="{FF2B5EF4-FFF2-40B4-BE49-F238E27FC236}">
                <a16:creationId xmlns:a16="http://schemas.microsoft.com/office/drawing/2014/main" id="{3E537DFA-5E14-4245-97C6-17E2AA54F8C9}"/>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9956EF88-0FB4-4336-B224-63666F8A8F42}"/>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Round to ten thousand, hundred thousand and one million</a:t>
            </a:r>
          </a:p>
        </p:txBody>
      </p:sp>
      <p:sp>
        <p:nvSpPr>
          <p:cNvPr id="5" name="object-5">
            <a:extLst>
              <a:ext uri="{FF2B5EF4-FFF2-40B4-BE49-F238E27FC236}">
                <a16:creationId xmlns:a16="http://schemas.microsoft.com/office/drawing/2014/main" id="{41182BE0-42AD-44BD-9A38-DC46E70C521D}"/>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1D8FF545-A33E-4C20-B515-5EDBF20ACE37}"/>
              </a:ext>
            </a:extLst>
          </p:cNvPr>
          <p:cNvSpPr>
            <a:spLocks noGrp="1"/>
          </p:cNvSpPr>
          <p:nvPr/>
        </p:nvSpPr>
        <p:spPr>
          <a:xfrm>
            <a:off x="2024063" y="4524375"/>
            <a:ext cx="10953750" cy="35719"/>
          </a:xfrm>
          <a:prstGeom prst="rect">
            <a:avLst/>
          </a:prstGeom>
          <a:solidFill>
            <a:srgbClr val="172B4D"/>
          </a:solidFill>
          <a:ln w="0">
            <a:noFill/>
          </a:ln>
        </p:spPr>
      </p:sp>
      <p:sp>
        <p:nvSpPr>
          <p:cNvPr id="7" name="object-7">
            <a:extLst>
              <a:ext uri="{FF2B5EF4-FFF2-40B4-BE49-F238E27FC236}">
                <a16:creationId xmlns:a16="http://schemas.microsoft.com/office/drawing/2014/main" id="{662081E8-37E3-459C-809F-4B7B1AC07C59}"/>
              </a:ext>
            </a:extLst>
          </p:cNvPr>
          <p:cNvSpPr>
            <a:spLocks noGrp="1"/>
          </p:cNvSpPr>
          <p:nvPr/>
        </p:nvSpPr>
        <p:spPr>
          <a:xfrm>
            <a:off x="2024063" y="4310063"/>
            <a:ext cx="0" cy="440531"/>
          </a:xfrm>
          <a:prstGeom prst="line">
            <a:avLst/>
          </a:prstGeom>
          <a:noFill/>
          <a:ln w="35719">
            <a:solidFill>
              <a:srgbClr val="172B4D"/>
            </a:solidFill>
          </a:ln>
        </p:spPr>
      </p:sp>
      <p:sp>
        <p:nvSpPr>
          <p:cNvPr id="8" name="object-8">
            <a:extLst>
              <a:ext uri="{FF2B5EF4-FFF2-40B4-BE49-F238E27FC236}">
                <a16:creationId xmlns:a16="http://schemas.microsoft.com/office/drawing/2014/main" id="{25DE7928-EC5F-4418-BA9E-3E746E49E094}"/>
              </a:ext>
            </a:extLst>
          </p:cNvPr>
          <p:cNvSpPr>
            <a:spLocks noGrp="1"/>
          </p:cNvSpPr>
          <p:nvPr/>
        </p:nvSpPr>
        <p:spPr>
          <a:xfrm>
            <a:off x="29765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6,900,000</a:t>
            </a:r>
          </a:p>
        </p:txBody>
      </p:sp>
      <p:sp>
        <p:nvSpPr>
          <p:cNvPr id="9" name="object-9">
            <a:extLst>
              <a:ext uri="{FF2B5EF4-FFF2-40B4-BE49-F238E27FC236}">
                <a16:creationId xmlns:a16="http://schemas.microsoft.com/office/drawing/2014/main" id="{CFF53420-969E-4E40-9D3D-1D07135D772E}"/>
              </a:ext>
            </a:extLst>
          </p:cNvPr>
          <p:cNvSpPr>
            <a:spLocks noGrp="1"/>
          </p:cNvSpPr>
          <p:nvPr/>
        </p:nvSpPr>
        <p:spPr>
          <a:xfrm>
            <a:off x="7500938" y="4310063"/>
            <a:ext cx="0" cy="440531"/>
          </a:xfrm>
          <a:prstGeom prst="line">
            <a:avLst/>
          </a:prstGeom>
          <a:noFill/>
          <a:ln w="35719">
            <a:solidFill>
              <a:srgbClr val="172B4D"/>
            </a:solidFill>
          </a:ln>
        </p:spPr>
      </p:sp>
      <p:sp>
        <p:nvSpPr>
          <p:cNvPr id="10" name="object-10">
            <a:extLst>
              <a:ext uri="{FF2B5EF4-FFF2-40B4-BE49-F238E27FC236}">
                <a16:creationId xmlns:a16="http://schemas.microsoft.com/office/drawing/2014/main" id="{D633A635-B8EF-4A15-AC2C-D27569A7B76F}"/>
              </a:ext>
            </a:extLst>
          </p:cNvPr>
          <p:cNvSpPr>
            <a:spLocks noGrp="1"/>
          </p:cNvSpPr>
          <p:nvPr/>
        </p:nvSpPr>
        <p:spPr>
          <a:xfrm>
            <a:off x="5774531"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6,950,000</a:t>
            </a:r>
          </a:p>
        </p:txBody>
      </p:sp>
      <p:sp>
        <p:nvSpPr>
          <p:cNvPr id="11" name="object-11">
            <a:extLst>
              <a:ext uri="{FF2B5EF4-FFF2-40B4-BE49-F238E27FC236}">
                <a16:creationId xmlns:a16="http://schemas.microsoft.com/office/drawing/2014/main" id="{5A75AE85-2609-4FCC-B67C-8CBA3BF43CD2}"/>
              </a:ext>
            </a:extLst>
          </p:cNvPr>
          <p:cNvSpPr>
            <a:spLocks noGrp="1"/>
          </p:cNvSpPr>
          <p:nvPr/>
        </p:nvSpPr>
        <p:spPr>
          <a:xfrm>
            <a:off x="12977813" y="4310063"/>
            <a:ext cx="0" cy="440531"/>
          </a:xfrm>
          <a:prstGeom prst="line">
            <a:avLst/>
          </a:prstGeom>
          <a:noFill/>
          <a:ln w="35719">
            <a:solidFill>
              <a:srgbClr val="172B4D"/>
            </a:solidFill>
          </a:ln>
        </p:spPr>
      </p:sp>
      <p:sp>
        <p:nvSpPr>
          <p:cNvPr id="12" name="object-12">
            <a:extLst>
              <a:ext uri="{FF2B5EF4-FFF2-40B4-BE49-F238E27FC236}">
                <a16:creationId xmlns:a16="http://schemas.microsoft.com/office/drawing/2014/main" id="{AE7F8AFE-0FF0-4B89-86BD-85427C46973E}"/>
              </a:ext>
            </a:extLst>
          </p:cNvPr>
          <p:cNvSpPr>
            <a:spLocks noGrp="1"/>
          </p:cNvSpPr>
          <p:nvPr/>
        </p:nvSpPr>
        <p:spPr>
          <a:xfrm>
            <a:off x="1125140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7,000,000</a:t>
            </a:r>
          </a:p>
        </p:txBody>
      </p:sp>
      <p:sp>
        <p:nvSpPr>
          <p:cNvPr id="13" name="object-13">
            <a:extLst>
              <a:ext uri="{FF2B5EF4-FFF2-40B4-BE49-F238E27FC236}">
                <a16:creationId xmlns:a16="http://schemas.microsoft.com/office/drawing/2014/main" id="{7504B2EA-E3A9-45F8-A58C-E35416E3AE3A}"/>
              </a:ext>
            </a:extLst>
          </p:cNvPr>
          <p:cNvSpPr>
            <a:spLocks noGrp="1"/>
          </p:cNvSpPr>
          <p:nvPr/>
        </p:nvSpPr>
        <p:spPr>
          <a:xfrm>
            <a:off x="5893594" y="5715000"/>
            <a:ext cx="3214688" cy="535781"/>
          </a:xfrm>
          <a:prstGeom prst="rect">
            <a:avLst/>
          </a:prstGeom>
          <a:noFill/>
          <a:ln w="0">
            <a:noFill/>
          </a:ln>
        </p:spPr>
        <p:txBody>
          <a:bodyPr anchor="ctr">
            <a:noAutofit/>
          </a:bodyPr>
          <a:lstStyle/>
          <a:p>
            <a:pPr algn="ctr">
              <a:defRPr sz="2625" b="0">
                <a:solidFill>
                  <a:srgbClr val="52647A"/>
                </a:solidFill>
                <a:latin typeface="Arial"/>
                <a:ea typeface="Arial"/>
                <a:cs typeface="Arial"/>
              </a:defRPr>
            </a:pPr>
            <a:r>
              <a:rPr sz="2625" b="0">
                <a:solidFill>
                  <a:srgbClr val="52647A"/>
                </a:solidFill>
                <a:latin typeface="Arial"/>
                <a:ea typeface="Arial"/>
                <a:cs typeface="Arial"/>
              </a:rPr>
              <a:t>halfway</a:t>
            </a:r>
          </a:p>
        </p:txBody>
      </p:sp>
      <p:sp>
        <p:nvSpPr>
          <p:cNvPr id="14" name="object-14">
            <a:extLst>
              <a:ext uri="{FF2B5EF4-FFF2-40B4-BE49-F238E27FC236}">
                <a16:creationId xmlns:a16="http://schemas.microsoft.com/office/drawing/2014/main" id="{1F9B17E4-F7FF-404B-98B4-7CB10C1C592D}"/>
              </a:ext>
            </a:extLst>
          </p:cNvPr>
          <p:cNvSpPr>
            <a:spLocks noGrp="1"/>
          </p:cNvSpPr>
          <p:nvPr/>
        </p:nvSpPr>
        <p:spPr>
          <a:xfrm>
            <a:off x="1785938" y="3274219"/>
            <a:ext cx="357188" cy="357188"/>
          </a:xfrm>
          <a:prstGeom prst="ellipse">
            <a:avLst/>
          </a:prstGeom>
          <a:solidFill>
            <a:srgbClr val="1D4ED8"/>
          </a:solidFill>
          <a:ln w="11906">
            <a:solidFill>
              <a:srgbClr val="172B4D"/>
            </a:solidFill>
          </a:ln>
        </p:spPr>
      </p:sp>
      <p:sp>
        <p:nvSpPr>
          <p:cNvPr id="15" name="object-15">
            <a:extLst>
              <a:ext uri="{FF2B5EF4-FFF2-40B4-BE49-F238E27FC236}">
                <a16:creationId xmlns:a16="http://schemas.microsoft.com/office/drawing/2014/main" id="{EE6D7A9B-F405-42FD-AA63-BFCE18AA551A}"/>
              </a:ext>
            </a:extLst>
          </p:cNvPr>
          <p:cNvSpPr>
            <a:spLocks noGrp="1"/>
          </p:cNvSpPr>
          <p:nvPr/>
        </p:nvSpPr>
        <p:spPr>
          <a:xfrm>
            <a:off x="5400851" y="3036094"/>
            <a:ext cx="3810000" cy="654844"/>
          </a:xfrm>
          <a:prstGeom prst="rect">
            <a:avLst/>
          </a:prstGeom>
          <a:noFill/>
          <a:ln w="0">
            <a:noFill/>
          </a:ln>
        </p:spPr>
        <p:txBody>
          <a:bodyPr anchor="ctr">
            <a:noAutofit/>
          </a:bodyPr>
          <a:lstStyle/>
          <a:p>
            <a:pPr algn="ctr">
              <a:defRPr sz="3000" b="1">
                <a:solidFill>
                  <a:srgbClr val="1D4ED8"/>
                </a:solidFill>
                <a:latin typeface="Arial"/>
                <a:ea typeface="Arial"/>
                <a:cs typeface="Arial"/>
              </a:defRPr>
            </a:pPr>
            <a:r>
              <a:rPr sz="3000" b="1">
                <a:solidFill>
                  <a:srgbClr val="1D4ED8"/>
                </a:solidFill>
                <a:latin typeface="Arial"/>
                <a:ea typeface="Arial"/>
                <a:cs typeface="Arial"/>
              </a:rPr>
              <a:t>6,948,219</a:t>
            </a:r>
          </a:p>
        </p:txBody>
      </p:sp>
      <p:sp>
        <p:nvSpPr>
          <p:cNvPr id="16" name="object-16">
            <a:extLst>
              <a:ext uri="{FF2B5EF4-FFF2-40B4-BE49-F238E27FC236}">
                <a16:creationId xmlns:a16="http://schemas.microsoft.com/office/drawing/2014/main" id="{B3CE3D56-824E-46A2-ADB8-209CCE020F8E}"/>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6,948,219 rounds to 6,900,000.</a:t>
            </a:r>
          </a:p>
        </p:txBody>
      </p:sp>
    </p:spTree>
    <p:extLst>
      <p:ext uri="{BB962C8B-B14F-4D97-AF65-F5344CB8AC3E}">
        <p14:creationId xmlns:p14="http://schemas.microsoft.com/office/powerpoint/2010/main" val="1312404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 0 L 0.35048031 0.1 E" pathEditMode="relative" ptsTypes="">
                                      <p:cBhvr>
                                        <p:cTn id="10" dur="800" fill="hold"/>
                                        <p:tgtEl>
                                          <p:spTgt spid="14"/>
                                        </p:tgtEl>
                                        <p:attrNameLst>
                                          <p:attrName>ppt_x</p:attrName>
                                          <p:attrName>ppt_y</p:attrName>
                                        </p:attrNameLst>
                                      </p:cBhvr>
                                    </p:animMotion>
                                  </p:childTnLst>
                                </p:cTn>
                              </p:par>
                            </p:childTnLst>
                          </p:cTn>
                        </p:par>
                        <p:par>
                          <p:cTn id="11" fill="hold">
                            <p:stCondLst>
                              <p:cond delay="800"/>
                            </p:stCondLst>
                            <p:childTnLst>
                              <p:par>
                                <p:cTn id="12" presetID="1" presetClass="entr" presetSubtype="0"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object-1">
            <a:extLst>
              <a:ext uri="{FF2B5EF4-FFF2-40B4-BE49-F238E27FC236}">
                <a16:creationId xmlns:a16="http://schemas.microsoft.com/office/drawing/2014/main" id="{EF1DC7F5-2B8E-4899-A581-9BE7075EA87E}"/>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1498E190-31B9-4CE3-9179-C5489428F012}"/>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63307C0F-61EE-4FF3-9711-3CF6AA37A624}"/>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Round 7,048,219 to the nearest 100,000.</a:t>
            </a:r>
          </a:p>
        </p:txBody>
      </p:sp>
      <p:sp>
        <p:nvSpPr>
          <p:cNvPr id="4" name="object-4">
            <a:extLst>
              <a:ext uri="{FF2B5EF4-FFF2-40B4-BE49-F238E27FC236}">
                <a16:creationId xmlns:a16="http://schemas.microsoft.com/office/drawing/2014/main" id="{594BFA01-E640-4336-A71F-4F5D17A1FC1C}"/>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700DBD1B-EAF6-43E2-B471-3BB3EFB02D46}"/>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Round to ten thousand, hundred thousand and one million</a:t>
            </a:r>
          </a:p>
        </p:txBody>
      </p:sp>
      <p:sp>
        <p:nvSpPr>
          <p:cNvPr id="6" name="object-6">
            <a:extLst>
              <a:ext uri="{FF2B5EF4-FFF2-40B4-BE49-F238E27FC236}">
                <a16:creationId xmlns:a16="http://schemas.microsoft.com/office/drawing/2014/main" id="{B2D92B66-D566-47B3-9C64-4BD6E0866536}"/>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AC643308-B50D-42CB-8793-2F16B7C7B15B}"/>
              </a:ext>
            </a:extLst>
          </p:cNvPr>
          <p:cNvSpPr>
            <a:spLocks noGrp="1"/>
          </p:cNvSpPr>
          <p:nvPr/>
        </p:nvSpPr>
        <p:spPr>
          <a:xfrm>
            <a:off x="2024063" y="4524375"/>
            <a:ext cx="10953750" cy="35719"/>
          </a:xfrm>
          <a:prstGeom prst="rect">
            <a:avLst/>
          </a:prstGeom>
          <a:solidFill>
            <a:srgbClr val="172B4D"/>
          </a:solidFill>
          <a:ln w="0">
            <a:noFill/>
          </a:ln>
        </p:spPr>
      </p:sp>
      <p:sp>
        <p:nvSpPr>
          <p:cNvPr id="8" name="object-8">
            <a:extLst>
              <a:ext uri="{FF2B5EF4-FFF2-40B4-BE49-F238E27FC236}">
                <a16:creationId xmlns:a16="http://schemas.microsoft.com/office/drawing/2014/main" id="{C2A2002B-6E6D-4C5F-9117-4FA69D1F78E0}"/>
              </a:ext>
            </a:extLst>
          </p:cNvPr>
          <p:cNvSpPr>
            <a:spLocks noGrp="1"/>
          </p:cNvSpPr>
          <p:nvPr/>
        </p:nvSpPr>
        <p:spPr>
          <a:xfrm>
            <a:off x="2024063" y="4310063"/>
            <a:ext cx="0" cy="440531"/>
          </a:xfrm>
          <a:prstGeom prst="line">
            <a:avLst/>
          </a:prstGeom>
          <a:noFill/>
          <a:ln w="35719">
            <a:solidFill>
              <a:srgbClr val="172B4D"/>
            </a:solidFill>
          </a:ln>
        </p:spPr>
      </p:sp>
      <p:sp>
        <p:nvSpPr>
          <p:cNvPr id="9" name="object-9">
            <a:extLst>
              <a:ext uri="{FF2B5EF4-FFF2-40B4-BE49-F238E27FC236}">
                <a16:creationId xmlns:a16="http://schemas.microsoft.com/office/drawing/2014/main" id="{F0150765-F3D2-41B1-B509-894C56B67B96}"/>
              </a:ext>
            </a:extLst>
          </p:cNvPr>
          <p:cNvSpPr>
            <a:spLocks noGrp="1"/>
          </p:cNvSpPr>
          <p:nvPr/>
        </p:nvSpPr>
        <p:spPr>
          <a:xfrm>
            <a:off x="29765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7,000,000</a:t>
            </a:r>
          </a:p>
        </p:txBody>
      </p:sp>
      <p:sp>
        <p:nvSpPr>
          <p:cNvPr id="10" name="object-10">
            <a:extLst>
              <a:ext uri="{FF2B5EF4-FFF2-40B4-BE49-F238E27FC236}">
                <a16:creationId xmlns:a16="http://schemas.microsoft.com/office/drawing/2014/main" id="{A69C9CE6-BD3E-416D-8103-534766EEE865}"/>
              </a:ext>
            </a:extLst>
          </p:cNvPr>
          <p:cNvSpPr>
            <a:spLocks noGrp="1"/>
          </p:cNvSpPr>
          <p:nvPr/>
        </p:nvSpPr>
        <p:spPr>
          <a:xfrm>
            <a:off x="7500938" y="4310063"/>
            <a:ext cx="0" cy="440531"/>
          </a:xfrm>
          <a:prstGeom prst="line">
            <a:avLst/>
          </a:prstGeom>
          <a:noFill/>
          <a:ln w="35719">
            <a:solidFill>
              <a:srgbClr val="172B4D"/>
            </a:solidFill>
          </a:ln>
        </p:spPr>
      </p:sp>
      <p:sp>
        <p:nvSpPr>
          <p:cNvPr id="11" name="object-11">
            <a:extLst>
              <a:ext uri="{FF2B5EF4-FFF2-40B4-BE49-F238E27FC236}">
                <a16:creationId xmlns:a16="http://schemas.microsoft.com/office/drawing/2014/main" id="{1C76C5D5-DFCE-4071-9AD6-12D54B0F8EE1}"/>
              </a:ext>
            </a:extLst>
          </p:cNvPr>
          <p:cNvSpPr>
            <a:spLocks noGrp="1"/>
          </p:cNvSpPr>
          <p:nvPr/>
        </p:nvSpPr>
        <p:spPr>
          <a:xfrm>
            <a:off x="5774531"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7,050,000</a:t>
            </a:r>
          </a:p>
        </p:txBody>
      </p:sp>
      <p:sp>
        <p:nvSpPr>
          <p:cNvPr id="12" name="object-12">
            <a:extLst>
              <a:ext uri="{FF2B5EF4-FFF2-40B4-BE49-F238E27FC236}">
                <a16:creationId xmlns:a16="http://schemas.microsoft.com/office/drawing/2014/main" id="{1C9F4014-7659-4213-A033-AB34A15694E0}"/>
              </a:ext>
            </a:extLst>
          </p:cNvPr>
          <p:cNvSpPr>
            <a:spLocks noGrp="1"/>
          </p:cNvSpPr>
          <p:nvPr/>
        </p:nvSpPr>
        <p:spPr>
          <a:xfrm>
            <a:off x="12977813" y="4310063"/>
            <a:ext cx="0" cy="440531"/>
          </a:xfrm>
          <a:prstGeom prst="line">
            <a:avLst/>
          </a:prstGeom>
          <a:noFill/>
          <a:ln w="35719">
            <a:solidFill>
              <a:srgbClr val="172B4D"/>
            </a:solidFill>
          </a:ln>
        </p:spPr>
      </p:sp>
      <p:sp>
        <p:nvSpPr>
          <p:cNvPr id="13" name="object-13">
            <a:extLst>
              <a:ext uri="{FF2B5EF4-FFF2-40B4-BE49-F238E27FC236}">
                <a16:creationId xmlns:a16="http://schemas.microsoft.com/office/drawing/2014/main" id="{367E46EE-3A66-45DE-A738-0655D13888E2}"/>
              </a:ext>
            </a:extLst>
          </p:cNvPr>
          <p:cNvSpPr>
            <a:spLocks noGrp="1"/>
          </p:cNvSpPr>
          <p:nvPr/>
        </p:nvSpPr>
        <p:spPr>
          <a:xfrm>
            <a:off x="1125140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7,100,000</a:t>
            </a:r>
          </a:p>
        </p:txBody>
      </p:sp>
      <p:sp>
        <p:nvSpPr>
          <p:cNvPr id="14" name="object-14">
            <a:extLst>
              <a:ext uri="{FF2B5EF4-FFF2-40B4-BE49-F238E27FC236}">
                <a16:creationId xmlns:a16="http://schemas.microsoft.com/office/drawing/2014/main" id="{65B6FF89-2300-4DE4-BFB6-CDFADAFCF569}"/>
              </a:ext>
            </a:extLst>
          </p:cNvPr>
          <p:cNvSpPr>
            <a:spLocks noGrp="1"/>
          </p:cNvSpPr>
          <p:nvPr/>
        </p:nvSpPr>
        <p:spPr>
          <a:xfrm>
            <a:off x="5893594" y="5715000"/>
            <a:ext cx="3214688" cy="535781"/>
          </a:xfrm>
          <a:prstGeom prst="rect">
            <a:avLst/>
          </a:prstGeom>
          <a:noFill/>
          <a:ln w="0">
            <a:noFill/>
          </a:ln>
        </p:spPr>
        <p:txBody>
          <a:bodyPr anchor="ctr">
            <a:noAutofit/>
          </a:bodyPr>
          <a:lstStyle/>
          <a:p>
            <a:pPr algn="ctr">
              <a:defRPr sz="2625" b="0">
                <a:solidFill>
                  <a:srgbClr val="52647A"/>
                </a:solidFill>
                <a:latin typeface="Arial"/>
                <a:ea typeface="Arial"/>
                <a:cs typeface="Arial"/>
              </a:defRPr>
            </a:pPr>
            <a:r>
              <a:rPr sz="2625" b="0">
                <a:solidFill>
                  <a:srgbClr val="52647A"/>
                </a:solidFill>
                <a:latin typeface="Arial"/>
                <a:ea typeface="Arial"/>
                <a:cs typeface="Arial"/>
              </a:rPr>
              <a:t>halfway</a:t>
            </a:r>
          </a:p>
        </p:txBody>
      </p:sp>
      <p:sp>
        <p:nvSpPr>
          <p:cNvPr id="15" name="object-15">
            <a:extLst>
              <a:ext uri="{FF2B5EF4-FFF2-40B4-BE49-F238E27FC236}">
                <a16:creationId xmlns:a16="http://schemas.microsoft.com/office/drawing/2014/main" id="{072888ED-6C3F-40D1-B599-17C95410A1A4}"/>
              </a:ext>
            </a:extLst>
          </p:cNvPr>
          <p:cNvSpPr>
            <a:spLocks noGrp="1"/>
          </p:cNvSpPr>
          <p:nvPr/>
        </p:nvSpPr>
        <p:spPr>
          <a:xfrm>
            <a:off x="1785938" y="3274219"/>
            <a:ext cx="357188" cy="357188"/>
          </a:xfrm>
          <a:prstGeom prst="ellipse">
            <a:avLst/>
          </a:prstGeom>
          <a:solidFill>
            <a:srgbClr val="1D4ED8"/>
          </a:solidFill>
          <a:ln w="11906">
            <a:solidFill>
              <a:srgbClr val="172B4D"/>
            </a:solidFill>
          </a:ln>
        </p:spPr>
      </p:sp>
      <p:sp>
        <p:nvSpPr>
          <p:cNvPr id="16" name="object-16">
            <a:extLst>
              <a:ext uri="{FF2B5EF4-FFF2-40B4-BE49-F238E27FC236}">
                <a16:creationId xmlns:a16="http://schemas.microsoft.com/office/drawing/2014/main" id="{6EBF374C-AD19-48D7-8183-4FF65C533F35}"/>
              </a:ext>
            </a:extLst>
          </p:cNvPr>
          <p:cNvSpPr>
            <a:spLocks noGrp="1"/>
          </p:cNvSpPr>
          <p:nvPr/>
        </p:nvSpPr>
        <p:spPr>
          <a:xfrm>
            <a:off x="5400851" y="3036094"/>
            <a:ext cx="3810000" cy="654844"/>
          </a:xfrm>
          <a:prstGeom prst="rect">
            <a:avLst/>
          </a:prstGeom>
          <a:noFill/>
          <a:ln w="0">
            <a:noFill/>
          </a:ln>
        </p:spPr>
        <p:txBody>
          <a:bodyPr anchor="ctr">
            <a:noAutofit/>
          </a:bodyPr>
          <a:lstStyle/>
          <a:p>
            <a:pPr algn="ctr">
              <a:defRPr sz="3000" b="1">
                <a:solidFill>
                  <a:srgbClr val="1D4ED8"/>
                </a:solidFill>
                <a:latin typeface="Arial"/>
                <a:ea typeface="Arial"/>
                <a:cs typeface="Arial"/>
              </a:defRPr>
            </a:pPr>
            <a:r>
              <a:rPr sz="3000" b="1">
                <a:solidFill>
                  <a:srgbClr val="1D4ED8"/>
                </a:solidFill>
                <a:latin typeface="Arial"/>
                <a:ea typeface="Arial"/>
                <a:cs typeface="Arial"/>
              </a:rPr>
              <a:t>7,048,219</a:t>
            </a:r>
          </a:p>
        </p:txBody>
      </p:sp>
      <p:sp>
        <p:nvSpPr>
          <p:cNvPr id="17" name="object-17">
            <a:extLst>
              <a:ext uri="{FF2B5EF4-FFF2-40B4-BE49-F238E27FC236}">
                <a16:creationId xmlns:a16="http://schemas.microsoft.com/office/drawing/2014/main" id="{659D1FB5-AA2A-44EB-BCBA-BC7036DEF1B4}"/>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7,048,219 rounds to 7,000,000.</a:t>
            </a:r>
          </a:p>
        </p:txBody>
      </p:sp>
    </p:spTree>
    <p:extLst>
      <p:ext uri="{BB962C8B-B14F-4D97-AF65-F5344CB8AC3E}">
        <p14:creationId xmlns:p14="http://schemas.microsoft.com/office/powerpoint/2010/main" val="1366221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 0 L 0.35048031 0.1 E" pathEditMode="relative" ptsTypes="">
                                      <p:cBhvr>
                                        <p:cTn id="10" dur="800" fill="hold"/>
                                        <p:tgtEl>
                                          <p:spTgt spid="15"/>
                                        </p:tgtEl>
                                        <p:attrNameLst>
                                          <p:attrName>ppt_x</p:attrName>
                                          <p:attrName>ppt_y</p:attrName>
                                        </p:attrNameLst>
                                      </p:cBhvr>
                                    </p:animMotion>
                                  </p:childTnLst>
                                </p:cTn>
                              </p:par>
                            </p:childTnLst>
                          </p:cTn>
                        </p:par>
                        <p:par>
                          <p:cTn id="11" fill="hold">
                            <p:stCondLst>
                              <p:cond delay="800"/>
                            </p:stCondLst>
                            <p:childTnLst>
                              <p:par>
                                <p:cTn id="12" presetID="1" presetClass="entr" presetSubtype="0" fill="hold" grpId="0" nodeType="after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89884A69-66CD-49D0-9DF7-C42BFEC1B692}"/>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CBA107F1-F792-4A9A-B2F3-010C8522256A}"/>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A5FDF05C-02BE-429E-A40D-1C448D38753E}"/>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20C1C34D-158A-410C-A05D-0B6B3E02E2E3}"/>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13B60BB4-DF04-433D-AAF0-8005BA1B8F6D}"/>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Round to ten thousand, hundred thousand and one million</a:t>
            </a:r>
          </a:p>
        </p:txBody>
      </p:sp>
      <p:sp>
        <p:nvSpPr>
          <p:cNvPr id="6" name="object-6">
            <a:extLst>
              <a:ext uri="{FF2B5EF4-FFF2-40B4-BE49-F238E27FC236}">
                <a16:creationId xmlns:a16="http://schemas.microsoft.com/office/drawing/2014/main" id="{49E68157-4791-4150-B560-1CCE0180D99E}"/>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46D79A5E-EFBE-4667-86A0-2A4D4EB2DA51}"/>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DA7E84F5-5771-47D7-A88C-3087CDF24777}"/>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Round 6,748,219 to the nearest 10,000, 100,000 and 1,000,000.</a:t>
            </a:r>
          </a:p>
        </p:txBody>
      </p:sp>
      <p:sp>
        <p:nvSpPr>
          <p:cNvPr id="9" name="object-9">
            <a:extLst>
              <a:ext uri="{FF2B5EF4-FFF2-40B4-BE49-F238E27FC236}">
                <a16:creationId xmlns:a16="http://schemas.microsoft.com/office/drawing/2014/main" id="{D689BA20-EF4C-49B3-BA3A-4135AE46E377}"/>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7884D4A0-3C54-43BD-A266-9B871FAB7B0C}"/>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Round 3,451,200 to the nearest 100,000.</a:t>
            </a:r>
          </a:p>
        </p:txBody>
      </p:sp>
      <p:sp>
        <p:nvSpPr>
          <p:cNvPr id="11" name="object-11">
            <a:extLst>
              <a:ext uri="{FF2B5EF4-FFF2-40B4-BE49-F238E27FC236}">
                <a16:creationId xmlns:a16="http://schemas.microsoft.com/office/drawing/2014/main" id="{DC8E1721-2DC3-4238-9A3B-FFFFCE99B094}"/>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638450C7-35A5-4886-8694-A9B5CE450B35}"/>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Round 8,249,999 to the nearest 1,000,000.</a:t>
            </a:r>
          </a:p>
        </p:txBody>
      </p:sp>
      <p:sp>
        <p:nvSpPr>
          <p:cNvPr id="13" name="object-13">
            <a:extLst>
              <a:ext uri="{FF2B5EF4-FFF2-40B4-BE49-F238E27FC236}">
                <a16:creationId xmlns:a16="http://schemas.microsoft.com/office/drawing/2014/main" id="{81F9442A-1AE0-4BBD-B350-E1EB4FEA470A}"/>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F8A3B67B-11F4-4F66-914B-B9685821C730}"/>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Round 6,748,219 to the nearest 10,000, 100,000 and 1,000,000.</a:t>
            </a:r>
          </a:p>
        </p:txBody>
      </p:sp>
      <p:sp>
        <p:nvSpPr>
          <p:cNvPr id="15" name="object-15">
            <a:extLst>
              <a:ext uri="{FF2B5EF4-FFF2-40B4-BE49-F238E27FC236}">
                <a16:creationId xmlns:a16="http://schemas.microsoft.com/office/drawing/2014/main" id="{CA23286D-2E2C-4251-A2AA-0E21A7670E17}"/>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F3E925F2-9B6C-4A3B-8352-F9BED1E13FD1}"/>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Round 3,451,200 to the nearest 100,000.</a:t>
            </a:r>
          </a:p>
        </p:txBody>
      </p:sp>
      <p:sp>
        <p:nvSpPr>
          <p:cNvPr id="17" name="object-17">
            <a:extLst>
              <a:ext uri="{FF2B5EF4-FFF2-40B4-BE49-F238E27FC236}">
                <a16:creationId xmlns:a16="http://schemas.microsoft.com/office/drawing/2014/main" id="{F170A719-3994-4DE5-854B-9C4888B33F7A}"/>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948A04AB-890C-4535-9FBB-EEC5576F5A2D}"/>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Round 8,249,999 to the nearest 1,000,000.</a:t>
            </a:r>
          </a:p>
        </p:txBody>
      </p:sp>
      <p:sp>
        <p:nvSpPr>
          <p:cNvPr id="19" name="object-19">
            <a:extLst>
              <a:ext uri="{FF2B5EF4-FFF2-40B4-BE49-F238E27FC236}">
                <a16:creationId xmlns:a16="http://schemas.microsoft.com/office/drawing/2014/main" id="{7F27C412-793D-481E-852F-8EF69FC6F823}"/>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720EF962-F895-4B8E-B3E5-20C20147A728}"/>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Find the greatest number that rounds to 6,000,000 to the nearest million.</a:t>
            </a:r>
          </a:p>
        </p:txBody>
      </p:sp>
      <p:sp>
        <p:nvSpPr>
          <p:cNvPr id="21" name="object-21">
            <a:extLst>
              <a:ext uri="{FF2B5EF4-FFF2-40B4-BE49-F238E27FC236}">
                <a16:creationId xmlns:a16="http://schemas.microsoft.com/office/drawing/2014/main" id="{40644136-00F0-4B41-AB13-8E512ED61644}"/>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92D76D1F-D30C-48DD-AEF7-96C8FF5BC4FB}"/>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keeps all the digits after the rounding place unchanged.</a:t>
            </a:r>
          </a:p>
        </p:txBody>
      </p:sp>
      <p:sp>
        <p:nvSpPr>
          <p:cNvPr id="23" name="object-23">
            <a:extLst>
              <a:ext uri="{FF2B5EF4-FFF2-40B4-BE49-F238E27FC236}">
                <a16:creationId xmlns:a16="http://schemas.microsoft.com/office/drawing/2014/main" id="{0DAC49BE-94B8-41E4-BA2B-4B274E80DCF0}"/>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7C80803F-0741-49DD-8C62-4FFE89E5D94F}"/>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F9554A07-EE78-497E-BF77-650A52DE9663}"/>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427293DF-1CF9-4ED3-95AE-965ABE327204}"/>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Round 8,249,999 to the nearest 1,000,000.</a:t>
            </a:r>
          </a:p>
        </p:txBody>
      </p:sp>
    </p:spTree>
    <p:extLst>
      <p:ext uri="{BB962C8B-B14F-4D97-AF65-F5344CB8AC3E}">
        <p14:creationId xmlns:p14="http://schemas.microsoft.com/office/powerpoint/2010/main" val="270111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DD73BC81-5D30-401D-BA67-D31C93F69F99}"/>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CBCCE281-4DF4-49EF-BE86-29FF5AACA3E0}"/>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997403EC-F689-4132-B8DD-BC9E4A48DD7F}"/>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5C5FCD0B-957D-4B4C-9F07-C91A2F735A07}"/>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Round to ten thousand, hundred thousand and one million</a:t>
            </a:r>
          </a:p>
        </p:txBody>
      </p:sp>
      <p:sp>
        <p:nvSpPr>
          <p:cNvPr id="5" name="object-5">
            <a:extLst>
              <a:ext uri="{FF2B5EF4-FFF2-40B4-BE49-F238E27FC236}">
                <a16:creationId xmlns:a16="http://schemas.microsoft.com/office/drawing/2014/main" id="{9B3EDBF1-2A05-460C-8461-AAD33CE4F8D3}"/>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24EB31AB-0739-492E-B4C7-2626492A7F0D}"/>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5436595F-446F-4216-8F27-FB15C949523F}"/>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6,750,000; 6,700,000; 7,000,000.</a:t>
            </a:r>
          </a:p>
        </p:txBody>
      </p:sp>
      <p:sp>
        <p:nvSpPr>
          <p:cNvPr id="8" name="object-8">
            <a:extLst>
              <a:ext uri="{FF2B5EF4-FFF2-40B4-BE49-F238E27FC236}">
                <a16:creationId xmlns:a16="http://schemas.microsoft.com/office/drawing/2014/main" id="{CA022883-DED5-4F0D-A02A-8518A6752679}"/>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E1EDCBA7-383E-448D-A961-458F11402E49}"/>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3,500,000.</a:t>
            </a:r>
          </a:p>
        </p:txBody>
      </p:sp>
      <p:sp>
        <p:nvSpPr>
          <p:cNvPr id="10" name="object-10">
            <a:extLst>
              <a:ext uri="{FF2B5EF4-FFF2-40B4-BE49-F238E27FC236}">
                <a16:creationId xmlns:a16="http://schemas.microsoft.com/office/drawing/2014/main" id="{7359A7B8-B716-46B5-AA04-622489D060A2}"/>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9BBAB6B1-8025-4BA2-89CD-9ADCF7D211B5}"/>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8,000,000.</a:t>
            </a:r>
          </a:p>
        </p:txBody>
      </p:sp>
      <p:sp>
        <p:nvSpPr>
          <p:cNvPr id="12" name="object-12">
            <a:extLst>
              <a:ext uri="{FF2B5EF4-FFF2-40B4-BE49-F238E27FC236}">
                <a16:creationId xmlns:a16="http://schemas.microsoft.com/office/drawing/2014/main" id="{79421780-F8E0-4BDE-ABD4-F933A12A7C88}"/>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08C1C0F6-B87C-4003-8378-60AD0C4D5FF8}"/>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6,750,000; 6,700,000; 7,000,000.</a:t>
            </a:r>
          </a:p>
        </p:txBody>
      </p:sp>
      <p:sp>
        <p:nvSpPr>
          <p:cNvPr id="14" name="object-14">
            <a:extLst>
              <a:ext uri="{FF2B5EF4-FFF2-40B4-BE49-F238E27FC236}">
                <a16:creationId xmlns:a16="http://schemas.microsoft.com/office/drawing/2014/main" id="{38E4242F-E746-45EE-833B-FAC06F58A0A2}"/>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AC39DB2B-DF4D-4949-8F5B-96855B00D51F}"/>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3,500,000. Method or representation may vary.</a:t>
            </a:r>
          </a:p>
        </p:txBody>
      </p:sp>
      <p:sp>
        <p:nvSpPr>
          <p:cNvPr id="16" name="object-16">
            <a:extLst>
              <a:ext uri="{FF2B5EF4-FFF2-40B4-BE49-F238E27FC236}">
                <a16:creationId xmlns:a16="http://schemas.microsoft.com/office/drawing/2014/main" id="{937FEA6C-D66C-4ACC-89A1-D28F34E55B60}"/>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44A9E58C-FD8B-49C4-B6C3-3D75A8B471E4}"/>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8,000,000. A valid check must be shown.</a:t>
            </a:r>
          </a:p>
        </p:txBody>
      </p:sp>
      <p:sp>
        <p:nvSpPr>
          <p:cNvPr id="18" name="object-18">
            <a:extLst>
              <a:ext uri="{FF2B5EF4-FFF2-40B4-BE49-F238E27FC236}">
                <a16:creationId xmlns:a16="http://schemas.microsoft.com/office/drawing/2014/main" id="{DA19EDBB-D8EB-4C47-A3BE-86D9D613B60F}"/>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2B23A109-A35B-47BA-B2AA-B051808B208E}"/>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6,499,999.</a:t>
            </a:r>
          </a:p>
        </p:txBody>
      </p:sp>
      <p:sp>
        <p:nvSpPr>
          <p:cNvPr id="20" name="object-20">
            <a:extLst>
              <a:ext uri="{FF2B5EF4-FFF2-40B4-BE49-F238E27FC236}">
                <a16:creationId xmlns:a16="http://schemas.microsoft.com/office/drawing/2014/main" id="{30377477-0C76-4703-86A6-1C68946F7DE3}"/>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CC23D43B-165F-489A-B519-9122A528508B}"/>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After rounding, every digit to the right becomes zero.</a:t>
            </a:r>
          </a:p>
        </p:txBody>
      </p:sp>
      <p:sp>
        <p:nvSpPr>
          <p:cNvPr id="22" name="object-22">
            <a:extLst>
              <a:ext uri="{FF2B5EF4-FFF2-40B4-BE49-F238E27FC236}">
                <a16:creationId xmlns:a16="http://schemas.microsoft.com/office/drawing/2014/main" id="{F2E48C1A-E47B-4B3F-B130-4BFE8C162482}"/>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654C44EC-7144-49C0-857A-D248D91CAB47}"/>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1D09D4EB-8AE0-4F23-8719-3CB90D4FB423}"/>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02153DEB-9F1B-46D6-AE25-FDED12AB987D}"/>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48763436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946</Words>
  <Application>Microsoft Office PowerPoint</Application>
  <DocSecurity>0</DocSecurity>
  <PresentationFormat>Custom</PresentationFormat>
  <Paragraphs>110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2026-09-14T13:14:13Z</dcterms:created>
  <dcterms:modified xsi:type="dcterms:W3CDTF">2026-09-14T13:16:48Z</dcterms:modified>
</cp:coreProperties>
</file>