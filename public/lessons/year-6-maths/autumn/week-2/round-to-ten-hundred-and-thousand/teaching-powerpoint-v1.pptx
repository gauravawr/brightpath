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Round to ten, hundred and thousand. Round to ten, hundred and thousand.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Round to ten, hundred and thousand. I do. Mark the two multiples and halfway point. Compare the position with halfway.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Round to ten, hundred and thousand. You do. Pause before clicking. Let pupils try independently, then reveal and discuss every step. Mark the two multiples and halfway point. Compare the position with halfway.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Round to ten, hundred and thousand. I do. Mark the two multiples and halfway point. Compare the position with halfway.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Round to ten, hundred and thousand. You do. Pause before clicking. Let pupils try independently, then reveal and discuss every step. Mark the two multiples and halfway point. Compare the position with halfway.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Round to ten, hundred and thousand.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Round to ten, hundred and thousand.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07D57396-8B5B-45EA-8BCC-1785ECF78B82}"/>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Round to ten, hundred and thousand</a:t>
            </a:r>
          </a:p>
        </p:txBody>
      </p:sp>
      <p:sp>
        <p:nvSpPr>
          <p:cNvPr id="2" name="object-2">
            <a:extLst>
              <a:ext uri="{FF2B5EF4-FFF2-40B4-BE49-F238E27FC236}">
                <a16:creationId xmlns:a16="http://schemas.microsoft.com/office/drawing/2014/main" id="{9D5D8E45-69A8-4602-B6AA-2F07933FC3D3}"/>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F5A4583A-7854-48C5-AE5C-3376B52DD522}"/>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304BB6E6-E2AF-4049-BACB-D7CEB74ABDF2}"/>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Round to ten, hundred and thousand</a:t>
            </a:r>
          </a:p>
        </p:txBody>
      </p:sp>
      <p:sp>
        <p:nvSpPr>
          <p:cNvPr id="5" name="object-5">
            <a:extLst>
              <a:ext uri="{FF2B5EF4-FFF2-40B4-BE49-F238E27FC236}">
                <a16:creationId xmlns:a16="http://schemas.microsoft.com/office/drawing/2014/main" id="{720C3223-A619-45A8-B120-BA469D76DD60}"/>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3401ABB9-3559-45ED-B1DB-95451708E5A4}"/>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round whole numbers to the nearest 10, 100 and 1,000.</a:t>
            </a:r>
          </a:p>
        </p:txBody>
      </p:sp>
    </p:spTree>
    <p:extLst>
      <p:ext uri="{BB962C8B-B14F-4D97-AF65-F5344CB8AC3E}">
        <p14:creationId xmlns:p14="http://schemas.microsoft.com/office/powerpoint/2010/main" val="838881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object-1">
            <a:extLst>
              <a:ext uri="{FF2B5EF4-FFF2-40B4-BE49-F238E27FC236}">
                <a16:creationId xmlns:a16="http://schemas.microsoft.com/office/drawing/2014/main" id="{A73CDE5C-FCA2-43E0-9D11-013DE980078A}"/>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787B2569-25F5-4FFF-974B-8976D83F6A6C}"/>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Round 468,753 to the nearest 1,000.</a:t>
            </a:r>
          </a:p>
        </p:txBody>
      </p:sp>
      <p:sp>
        <p:nvSpPr>
          <p:cNvPr id="3" name="object-3">
            <a:extLst>
              <a:ext uri="{FF2B5EF4-FFF2-40B4-BE49-F238E27FC236}">
                <a16:creationId xmlns:a16="http://schemas.microsoft.com/office/drawing/2014/main" id="{67749722-363A-4246-A34D-0995CF309F9A}"/>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A3700F86-64C5-43EF-B0C5-699D87369FB4}"/>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Round to ten, hundred and thousand</a:t>
            </a:r>
          </a:p>
        </p:txBody>
      </p:sp>
      <p:sp>
        <p:nvSpPr>
          <p:cNvPr id="5" name="object-5">
            <a:extLst>
              <a:ext uri="{FF2B5EF4-FFF2-40B4-BE49-F238E27FC236}">
                <a16:creationId xmlns:a16="http://schemas.microsoft.com/office/drawing/2014/main" id="{D96FD71C-1451-47AA-AAAF-5A08532E3037}"/>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1582B729-5747-4ABF-A98C-D076FED3624B}"/>
              </a:ext>
            </a:extLst>
          </p:cNvPr>
          <p:cNvSpPr>
            <a:spLocks noGrp="1"/>
          </p:cNvSpPr>
          <p:nvPr/>
        </p:nvSpPr>
        <p:spPr>
          <a:xfrm>
            <a:off x="2024063" y="4524375"/>
            <a:ext cx="10953750" cy="35719"/>
          </a:xfrm>
          <a:prstGeom prst="rect">
            <a:avLst/>
          </a:prstGeom>
          <a:solidFill>
            <a:srgbClr val="172B4D"/>
          </a:solidFill>
          <a:ln w="0">
            <a:noFill/>
          </a:ln>
        </p:spPr>
      </p:sp>
      <p:sp>
        <p:nvSpPr>
          <p:cNvPr id="7" name="object-7">
            <a:extLst>
              <a:ext uri="{FF2B5EF4-FFF2-40B4-BE49-F238E27FC236}">
                <a16:creationId xmlns:a16="http://schemas.microsoft.com/office/drawing/2014/main" id="{6CA75C68-3C55-42F4-8642-644CA79422F6}"/>
              </a:ext>
            </a:extLst>
          </p:cNvPr>
          <p:cNvSpPr>
            <a:spLocks noGrp="1"/>
          </p:cNvSpPr>
          <p:nvPr/>
        </p:nvSpPr>
        <p:spPr>
          <a:xfrm>
            <a:off x="2024063" y="4310063"/>
            <a:ext cx="0" cy="440531"/>
          </a:xfrm>
          <a:prstGeom prst="line">
            <a:avLst/>
          </a:prstGeom>
          <a:noFill/>
          <a:ln w="35719">
            <a:solidFill>
              <a:srgbClr val="172B4D"/>
            </a:solidFill>
          </a:ln>
        </p:spPr>
      </p:sp>
      <p:sp>
        <p:nvSpPr>
          <p:cNvPr id="8" name="object-8">
            <a:extLst>
              <a:ext uri="{FF2B5EF4-FFF2-40B4-BE49-F238E27FC236}">
                <a16:creationId xmlns:a16="http://schemas.microsoft.com/office/drawing/2014/main" id="{0CEC9407-7373-45C9-BE0D-D2C5787A234F}"/>
              </a:ext>
            </a:extLst>
          </p:cNvPr>
          <p:cNvSpPr>
            <a:spLocks noGrp="1"/>
          </p:cNvSpPr>
          <p:nvPr/>
        </p:nvSpPr>
        <p:spPr>
          <a:xfrm>
            <a:off x="29765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468,000</a:t>
            </a:r>
          </a:p>
        </p:txBody>
      </p:sp>
      <p:sp>
        <p:nvSpPr>
          <p:cNvPr id="9" name="object-9">
            <a:extLst>
              <a:ext uri="{FF2B5EF4-FFF2-40B4-BE49-F238E27FC236}">
                <a16:creationId xmlns:a16="http://schemas.microsoft.com/office/drawing/2014/main" id="{92F22641-2F9F-47A1-82B5-FB8057191435}"/>
              </a:ext>
            </a:extLst>
          </p:cNvPr>
          <p:cNvSpPr>
            <a:spLocks noGrp="1"/>
          </p:cNvSpPr>
          <p:nvPr/>
        </p:nvSpPr>
        <p:spPr>
          <a:xfrm>
            <a:off x="7500938" y="4310063"/>
            <a:ext cx="0" cy="440531"/>
          </a:xfrm>
          <a:prstGeom prst="line">
            <a:avLst/>
          </a:prstGeom>
          <a:noFill/>
          <a:ln w="35719">
            <a:solidFill>
              <a:srgbClr val="172B4D"/>
            </a:solidFill>
          </a:ln>
        </p:spPr>
      </p:sp>
      <p:sp>
        <p:nvSpPr>
          <p:cNvPr id="10" name="object-10">
            <a:extLst>
              <a:ext uri="{FF2B5EF4-FFF2-40B4-BE49-F238E27FC236}">
                <a16:creationId xmlns:a16="http://schemas.microsoft.com/office/drawing/2014/main" id="{236D62A6-CE03-47CE-961A-E9FB7B559A55}"/>
              </a:ext>
            </a:extLst>
          </p:cNvPr>
          <p:cNvSpPr>
            <a:spLocks noGrp="1"/>
          </p:cNvSpPr>
          <p:nvPr/>
        </p:nvSpPr>
        <p:spPr>
          <a:xfrm>
            <a:off x="5774531"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468,500</a:t>
            </a:r>
          </a:p>
        </p:txBody>
      </p:sp>
      <p:sp>
        <p:nvSpPr>
          <p:cNvPr id="11" name="object-11">
            <a:extLst>
              <a:ext uri="{FF2B5EF4-FFF2-40B4-BE49-F238E27FC236}">
                <a16:creationId xmlns:a16="http://schemas.microsoft.com/office/drawing/2014/main" id="{13B2A405-DB7B-4BB8-B03D-22D39C5FC95D}"/>
              </a:ext>
            </a:extLst>
          </p:cNvPr>
          <p:cNvSpPr>
            <a:spLocks noGrp="1"/>
          </p:cNvSpPr>
          <p:nvPr/>
        </p:nvSpPr>
        <p:spPr>
          <a:xfrm>
            <a:off x="12977813" y="4310063"/>
            <a:ext cx="0" cy="440531"/>
          </a:xfrm>
          <a:prstGeom prst="line">
            <a:avLst/>
          </a:prstGeom>
          <a:noFill/>
          <a:ln w="35719">
            <a:solidFill>
              <a:srgbClr val="172B4D"/>
            </a:solidFill>
          </a:ln>
        </p:spPr>
      </p:sp>
      <p:sp>
        <p:nvSpPr>
          <p:cNvPr id="12" name="object-12">
            <a:extLst>
              <a:ext uri="{FF2B5EF4-FFF2-40B4-BE49-F238E27FC236}">
                <a16:creationId xmlns:a16="http://schemas.microsoft.com/office/drawing/2014/main" id="{B52AADBD-FD21-4E2B-97C3-D6E19E406C6C}"/>
              </a:ext>
            </a:extLst>
          </p:cNvPr>
          <p:cNvSpPr>
            <a:spLocks noGrp="1"/>
          </p:cNvSpPr>
          <p:nvPr/>
        </p:nvSpPr>
        <p:spPr>
          <a:xfrm>
            <a:off x="1125140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469,000</a:t>
            </a:r>
          </a:p>
        </p:txBody>
      </p:sp>
      <p:sp>
        <p:nvSpPr>
          <p:cNvPr id="13" name="object-13">
            <a:extLst>
              <a:ext uri="{FF2B5EF4-FFF2-40B4-BE49-F238E27FC236}">
                <a16:creationId xmlns:a16="http://schemas.microsoft.com/office/drawing/2014/main" id="{2FC5E8A2-5B51-4700-AB99-DD9E102AACB5}"/>
              </a:ext>
            </a:extLst>
          </p:cNvPr>
          <p:cNvSpPr>
            <a:spLocks noGrp="1"/>
          </p:cNvSpPr>
          <p:nvPr/>
        </p:nvSpPr>
        <p:spPr>
          <a:xfrm>
            <a:off x="5893594" y="5715000"/>
            <a:ext cx="3214688" cy="535781"/>
          </a:xfrm>
          <a:prstGeom prst="rect">
            <a:avLst/>
          </a:prstGeom>
          <a:noFill/>
          <a:ln w="0">
            <a:noFill/>
          </a:ln>
        </p:spPr>
        <p:txBody>
          <a:bodyPr anchor="ctr">
            <a:noAutofit/>
          </a:bodyPr>
          <a:lstStyle/>
          <a:p>
            <a:pPr algn="ctr">
              <a:defRPr sz="2625" b="0">
                <a:solidFill>
                  <a:srgbClr val="52647A"/>
                </a:solidFill>
                <a:latin typeface="Arial"/>
                <a:ea typeface="Arial"/>
                <a:cs typeface="Arial"/>
              </a:defRPr>
            </a:pPr>
            <a:r>
              <a:rPr sz="2625" b="0">
                <a:solidFill>
                  <a:srgbClr val="52647A"/>
                </a:solidFill>
                <a:latin typeface="Arial"/>
                <a:ea typeface="Arial"/>
                <a:cs typeface="Arial"/>
              </a:rPr>
              <a:t>halfway</a:t>
            </a:r>
          </a:p>
        </p:txBody>
      </p:sp>
      <p:sp>
        <p:nvSpPr>
          <p:cNvPr id="14" name="object-14">
            <a:extLst>
              <a:ext uri="{FF2B5EF4-FFF2-40B4-BE49-F238E27FC236}">
                <a16:creationId xmlns:a16="http://schemas.microsoft.com/office/drawing/2014/main" id="{2E7F0E22-9F09-42A8-BE05-3F63E4753BFD}"/>
              </a:ext>
            </a:extLst>
          </p:cNvPr>
          <p:cNvSpPr>
            <a:spLocks noGrp="1"/>
          </p:cNvSpPr>
          <p:nvPr/>
        </p:nvSpPr>
        <p:spPr>
          <a:xfrm>
            <a:off x="1785938" y="3274219"/>
            <a:ext cx="357188" cy="357188"/>
          </a:xfrm>
          <a:prstGeom prst="ellipse">
            <a:avLst/>
          </a:prstGeom>
          <a:solidFill>
            <a:srgbClr val="1D4ED8"/>
          </a:solidFill>
          <a:ln w="11906">
            <a:solidFill>
              <a:srgbClr val="172B4D"/>
            </a:solidFill>
          </a:ln>
        </p:spPr>
      </p:sp>
      <p:sp>
        <p:nvSpPr>
          <p:cNvPr id="15" name="object-15">
            <a:extLst>
              <a:ext uri="{FF2B5EF4-FFF2-40B4-BE49-F238E27FC236}">
                <a16:creationId xmlns:a16="http://schemas.microsoft.com/office/drawing/2014/main" id="{685C3646-9B95-4948-A4B2-A6B3F1BACC09}"/>
              </a:ext>
            </a:extLst>
          </p:cNvPr>
          <p:cNvSpPr>
            <a:spLocks noGrp="1"/>
          </p:cNvSpPr>
          <p:nvPr/>
        </p:nvSpPr>
        <p:spPr>
          <a:xfrm>
            <a:off x="8367236" y="3036094"/>
            <a:ext cx="3810000" cy="654844"/>
          </a:xfrm>
          <a:prstGeom prst="rect">
            <a:avLst/>
          </a:prstGeom>
          <a:noFill/>
          <a:ln w="0">
            <a:noFill/>
          </a:ln>
        </p:spPr>
        <p:txBody>
          <a:bodyPr anchor="ctr">
            <a:noAutofit/>
          </a:bodyPr>
          <a:lstStyle/>
          <a:p>
            <a:pPr algn="ctr">
              <a:defRPr sz="3000" b="1">
                <a:solidFill>
                  <a:srgbClr val="1D4ED8"/>
                </a:solidFill>
                <a:latin typeface="Arial"/>
                <a:ea typeface="Arial"/>
                <a:cs typeface="Arial"/>
              </a:defRPr>
            </a:pPr>
            <a:r>
              <a:rPr sz="3000" b="1">
                <a:solidFill>
                  <a:srgbClr val="1D4ED8"/>
                </a:solidFill>
                <a:latin typeface="Arial"/>
                <a:ea typeface="Arial"/>
                <a:cs typeface="Arial"/>
              </a:rPr>
              <a:t>468,753</a:t>
            </a:r>
          </a:p>
        </p:txBody>
      </p:sp>
      <p:sp>
        <p:nvSpPr>
          <p:cNvPr id="16" name="object-16">
            <a:extLst>
              <a:ext uri="{FF2B5EF4-FFF2-40B4-BE49-F238E27FC236}">
                <a16:creationId xmlns:a16="http://schemas.microsoft.com/office/drawing/2014/main" id="{2BF6FE78-748D-4F3C-9703-5A99102EE394}"/>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468,753 rounds to 469,000.</a:t>
            </a:r>
          </a:p>
        </p:txBody>
      </p:sp>
    </p:spTree>
    <p:extLst>
      <p:ext uri="{BB962C8B-B14F-4D97-AF65-F5344CB8AC3E}">
        <p14:creationId xmlns:p14="http://schemas.microsoft.com/office/powerpoint/2010/main" val="1159027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 0 L 0.545125 0.1 E" pathEditMode="relative" ptsTypes="">
                                      <p:cBhvr>
                                        <p:cTn id="10" dur="800" fill="hold"/>
                                        <p:tgtEl>
                                          <p:spTgt spid="14"/>
                                        </p:tgtEl>
                                        <p:attrNameLst>
                                          <p:attrName>ppt_x</p:attrName>
                                          <p:attrName>ppt_y</p:attrName>
                                        </p:attrNameLst>
                                      </p:cBhvr>
                                    </p:animMotion>
                                  </p:childTnLst>
                                </p:cTn>
                              </p:par>
                            </p:childTnLst>
                          </p:cTn>
                        </p:par>
                        <p:par>
                          <p:cTn id="11" fill="hold">
                            <p:stCondLst>
                              <p:cond delay="800"/>
                            </p:stCondLst>
                            <p:childTnLst>
                              <p:par>
                                <p:cTn id="12" presetID="1" presetClass="entr" presetSubtype="0"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object-1">
            <a:extLst>
              <a:ext uri="{FF2B5EF4-FFF2-40B4-BE49-F238E27FC236}">
                <a16:creationId xmlns:a16="http://schemas.microsoft.com/office/drawing/2014/main" id="{A1CB5CBD-A259-45F0-9CAE-4FC929CFACE3}"/>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0B0A01F7-B128-49DF-8B2D-BB40DA068C2B}"/>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C92D4C99-B93D-46A5-88F5-18AEE4057EE4}"/>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Round 469,753 to the nearest 1,000.</a:t>
            </a:r>
          </a:p>
        </p:txBody>
      </p:sp>
      <p:sp>
        <p:nvSpPr>
          <p:cNvPr id="4" name="object-4">
            <a:extLst>
              <a:ext uri="{FF2B5EF4-FFF2-40B4-BE49-F238E27FC236}">
                <a16:creationId xmlns:a16="http://schemas.microsoft.com/office/drawing/2014/main" id="{3A9CA849-05DC-4B7C-B7B0-4ABD7E54C0BD}"/>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50DF7A3A-5DDC-408D-9A26-F2ACEBB3952B}"/>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Round to ten, hundred and thousand</a:t>
            </a:r>
          </a:p>
        </p:txBody>
      </p:sp>
      <p:sp>
        <p:nvSpPr>
          <p:cNvPr id="6" name="object-6">
            <a:extLst>
              <a:ext uri="{FF2B5EF4-FFF2-40B4-BE49-F238E27FC236}">
                <a16:creationId xmlns:a16="http://schemas.microsoft.com/office/drawing/2014/main" id="{3A4F4D5D-E11B-489C-A915-525F0F30BD2B}"/>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2D169F05-411F-44D2-9CD7-BDAC83A2C083}"/>
              </a:ext>
            </a:extLst>
          </p:cNvPr>
          <p:cNvSpPr>
            <a:spLocks noGrp="1"/>
          </p:cNvSpPr>
          <p:nvPr/>
        </p:nvSpPr>
        <p:spPr>
          <a:xfrm>
            <a:off x="2024063" y="4524375"/>
            <a:ext cx="10953750" cy="35719"/>
          </a:xfrm>
          <a:prstGeom prst="rect">
            <a:avLst/>
          </a:prstGeom>
          <a:solidFill>
            <a:srgbClr val="172B4D"/>
          </a:solidFill>
          <a:ln w="0">
            <a:noFill/>
          </a:ln>
        </p:spPr>
      </p:sp>
      <p:sp>
        <p:nvSpPr>
          <p:cNvPr id="8" name="object-8">
            <a:extLst>
              <a:ext uri="{FF2B5EF4-FFF2-40B4-BE49-F238E27FC236}">
                <a16:creationId xmlns:a16="http://schemas.microsoft.com/office/drawing/2014/main" id="{665BF521-92DC-467B-AAE9-C704D35294DB}"/>
              </a:ext>
            </a:extLst>
          </p:cNvPr>
          <p:cNvSpPr>
            <a:spLocks noGrp="1"/>
          </p:cNvSpPr>
          <p:nvPr/>
        </p:nvSpPr>
        <p:spPr>
          <a:xfrm>
            <a:off x="2024063" y="4310063"/>
            <a:ext cx="0" cy="440531"/>
          </a:xfrm>
          <a:prstGeom prst="line">
            <a:avLst/>
          </a:prstGeom>
          <a:noFill/>
          <a:ln w="35719">
            <a:solidFill>
              <a:srgbClr val="172B4D"/>
            </a:solidFill>
          </a:ln>
        </p:spPr>
      </p:sp>
      <p:sp>
        <p:nvSpPr>
          <p:cNvPr id="9" name="object-9">
            <a:extLst>
              <a:ext uri="{FF2B5EF4-FFF2-40B4-BE49-F238E27FC236}">
                <a16:creationId xmlns:a16="http://schemas.microsoft.com/office/drawing/2014/main" id="{2B86EAFC-DC5E-4DB2-8656-507137492C30}"/>
              </a:ext>
            </a:extLst>
          </p:cNvPr>
          <p:cNvSpPr>
            <a:spLocks noGrp="1"/>
          </p:cNvSpPr>
          <p:nvPr/>
        </p:nvSpPr>
        <p:spPr>
          <a:xfrm>
            <a:off x="29765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469,000</a:t>
            </a:r>
          </a:p>
        </p:txBody>
      </p:sp>
      <p:sp>
        <p:nvSpPr>
          <p:cNvPr id="10" name="object-10">
            <a:extLst>
              <a:ext uri="{FF2B5EF4-FFF2-40B4-BE49-F238E27FC236}">
                <a16:creationId xmlns:a16="http://schemas.microsoft.com/office/drawing/2014/main" id="{F7425015-01A7-4437-AF35-C6C102A1BDF7}"/>
              </a:ext>
            </a:extLst>
          </p:cNvPr>
          <p:cNvSpPr>
            <a:spLocks noGrp="1"/>
          </p:cNvSpPr>
          <p:nvPr/>
        </p:nvSpPr>
        <p:spPr>
          <a:xfrm>
            <a:off x="7500938" y="4310063"/>
            <a:ext cx="0" cy="440531"/>
          </a:xfrm>
          <a:prstGeom prst="line">
            <a:avLst/>
          </a:prstGeom>
          <a:noFill/>
          <a:ln w="35719">
            <a:solidFill>
              <a:srgbClr val="172B4D"/>
            </a:solidFill>
          </a:ln>
        </p:spPr>
      </p:sp>
      <p:sp>
        <p:nvSpPr>
          <p:cNvPr id="11" name="object-11">
            <a:extLst>
              <a:ext uri="{FF2B5EF4-FFF2-40B4-BE49-F238E27FC236}">
                <a16:creationId xmlns:a16="http://schemas.microsoft.com/office/drawing/2014/main" id="{AFA98B35-B400-4353-9C99-E5BF147169C3}"/>
              </a:ext>
            </a:extLst>
          </p:cNvPr>
          <p:cNvSpPr>
            <a:spLocks noGrp="1"/>
          </p:cNvSpPr>
          <p:nvPr/>
        </p:nvSpPr>
        <p:spPr>
          <a:xfrm>
            <a:off x="5774531"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469,500</a:t>
            </a:r>
          </a:p>
        </p:txBody>
      </p:sp>
      <p:sp>
        <p:nvSpPr>
          <p:cNvPr id="12" name="object-12">
            <a:extLst>
              <a:ext uri="{FF2B5EF4-FFF2-40B4-BE49-F238E27FC236}">
                <a16:creationId xmlns:a16="http://schemas.microsoft.com/office/drawing/2014/main" id="{CF0A9291-51CD-4C49-80A5-10144CC64488}"/>
              </a:ext>
            </a:extLst>
          </p:cNvPr>
          <p:cNvSpPr>
            <a:spLocks noGrp="1"/>
          </p:cNvSpPr>
          <p:nvPr/>
        </p:nvSpPr>
        <p:spPr>
          <a:xfrm>
            <a:off x="12977813" y="4310063"/>
            <a:ext cx="0" cy="440531"/>
          </a:xfrm>
          <a:prstGeom prst="line">
            <a:avLst/>
          </a:prstGeom>
          <a:noFill/>
          <a:ln w="35719">
            <a:solidFill>
              <a:srgbClr val="172B4D"/>
            </a:solidFill>
          </a:ln>
        </p:spPr>
      </p:sp>
      <p:sp>
        <p:nvSpPr>
          <p:cNvPr id="13" name="object-13">
            <a:extLst>
              <a:ext uri="{FF2B5EF4-FFF2-40B4-BE49-F238E27FC236}">
                <a16:creationId xmlns:a16="http://schemas.microsoft.com/office/drawing/2014/main" id="{220DC0D2-6219-4002-84B9-A81653F4C602}"/>
              </a:ext>
            </a:extLst>
          </p:cNvPr>
          <p:cNvSpPr>
            <a:spLocks noGrp="1"/>
          </p:cNvSpPr>
          <p:nvPr/>
        </p:nvSpPr>
        <p:spPr>
          <a:xfrm>
            <a:off x="1125140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470,000</a:t>
            </a:r>
          </a:p>
        </p:txBody>
      </p:sp>
      <p:sp>
        <p:nvSpPr>
          <p:cNvPr id="14" name="object-14">
            <a:extLst>
              <a:ext uri="{FF2B5EF4-FFF2-40B4-BE49-F238E27FC236}">
                <a16:creationId xmlns:a16="http://schemas.microsoft.com/office/drawing/2014/main" id="{95A57110-AEAE-4D22-926A-06F6392196F3}"/>
              </a:ext>
            </a:extLst>
          </p:cNvPr>
          <p:cNvSpPr>
            <a:spLocks noGrp="1"/>
          </p:cNvSpPr>
          <p:nvPr/>
        </p:nvSpPr>
        <p:spPr>
          <a:xfrm>
            <a:off x="5893594" y="5715000"/>
            <a:ext cx="3214688" cy="535781"/>
          </a:xfrm>
          <a:prstGeom prst="rect">
            <a:avLst/>
          </a:prstGeom>
          <a:noFill/>
          <a:ln w="0">
            <a:noFill/>
          </a:ln>
        </p:spPr>
        <p:txBody>
          <a:bodyPr anchor="ctr">
            <a:noAutofit/>
          </a:bodyPr>
          <a:lstStyle/>
          <a:p>
            <a:pPr algn="ctr">
              <a:defRPr sz="2625" b="0">
                <a:solidFill>
                  <a:srgbClr val="52647A"/>
                </a:solidFill>
                <a:latin typeface="Arial"/>
                <a:ea typeface="Arial"/>
                <a:cs typeface="Arial"/>
              </a:defRPr>
            </a:pPr>
            <a:r>
              <a:rPr sz="2625" b="0">
                <a:solidFill>
                  <a:srgbClr val="52647A"/>
                </a:solidFill>
                <a:latin typeface="Arial"/>
                <a:ea typeface="Arial"/>
                <a:cs typeface="Arial"/>
              </a:rPr>
              <a:t>halfway</a:t>
            </a:r>
          </a:p>
        </p:txBody>
      </p:sp>
      <p:sp>
        <p:nvSpPr>
          <p:cNvPr id="15" name="object-15">
            <a:extLst>
              <a:ext uri="{FF2B5EF4-FFF2-40B4-BE49-F238E27FC236}">
                <a16:creationId xmlns:a16="http://schemas.microsoft.com/office/drawing/2014/main" id="{11E66C94-B822-4A52-9954-7495590AA8EC}"/>
              </a:ext>
            </a:extLst>
          </p:cNvPr>
          <p:cNvSpPr>
            <a:spLocks noGrp="1"/>
          </p:cNvSpPr>
          <p:nvPr/>
        </p:nvSpPr>
        <p:spPr>
          <a:xfrm>
            <a:off x="1785938" y="3274219"/>
            <a:ext cx="357188" cy="357188"/>
          </a:xfrm>
          <a:prstGeom prst="ellipse">
            <a:avLst/>
          </a:prstGeom>
          <a:solidFill>
            <a:srgbClr val="1D4ED8"/>
          </a:solidFill>
          <a:ln w="11906">
            <a:solidFill>
              <a:srgbClr val="172B4D"/>
            </a:solidFill>
          </a:ln>
        </p:spPr>
      </p:sp>
      <p:sp>
        <p:nvSpPr>
          <p:cNvPr id="16" name="object-16">
            <a:extLst>
              <a:ext uri="{FF2B5EF4-FFF2-40B4-BE49-F238E27FC236}">
                <a16:creationId xmlns:a16="http://schemas.microsoft.com/office/drawing/2014/main" id="{767E5A85-BC4E-4DC8-AB84-FE7247A03568}"/>
              </a:ext>
            </a:extLst>
          </p:cNvPr>
          <p:cNvSpPr>
            <a:spLocks noGrp="1"/>
          </p:cNvSpPr>
          <p:nvPr/>
        </p:nvSpPr>
        <p:spPr>
          <a:xfrm>
            <a:off x="8367236" y="3036094"/>
            <a:ext cx="3810000" cy="654844"/>
          </a:xfrm>
          <a:prstGeom prst="rect">
            <a:avLst/>
          </a:prstGeom>
          <a:noFill/>
          <a:ln w="0">
            <a:noFill/>
          </a:ln>
        </p:spPr>
        <p:txBody>
          <a:bodyPr anchor="ctr">
            <a:noAutofit/>
          </a:bodyPr>
          <a:lstStyle/>
          <a:p>
            <a:pPr algn="ctr">
              <a:defRPr sz="3000" b="1">
                <a:solidFill>
                  <a:srgbClr val="1D4ED8"/>
                </a:solidFill>
                <a:latin typeface="Arial"/>
                <a:ea typeface="Arial"/>
                <a:cs typeface="Arial"/>
              </a:defRPr>
            </a:pPr>
            <a:r>
              <a:rPr sz="3000" b="1">
                <a:solidFill>
                  <a:srgbClr val="1D4ED8"/>
                </a:solidFill>
                <a:latin typeface="Arial"/>
                <a:ea typeface="Arial"/>
                <a:cs typeface="Arial"/>
              </a:rPr>
              <a:t>469,753</a:t>
            </a:r>
          </a:p>
        </p:txBody>
      </p:sp>
      <p:sp>
        <p:nvSpPr>
          <p:cNvPr id="17" name="object-17">
            <a:extLst>
              <a:ext uri="{FF2B5EF4-FFF2-40B4-BE49-F238E27FC236}">
                <a16:creationId xmlns:a16="http://schemas.microsoft.com/office/drawing/2014/main" id="{B7870E17-0D1C-435C-99AC-A72860E21315}"/>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469,753 rounds to 470,000.</a:t>
            </a:r>
          </a:p>
        </p:txBody>
      </p:sp>
    </p:spTree>
    <p:extLst>
      <p:ext uri="{BB962C8B-B14F-4D97-AF65-F5344CB8AC3E}">
        <p14:creationId xmlns:p14="http://schemas.microsoft.com/office/powerpoint/2010/main" val="1938662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 0 L 0.545125 0.1 E" pathEditMode="relative" ptsTypes="">
                                      <p:cBhvr>
                                        <p:cTn id="10" dur="800" fill="hold"/>
                                        <p:tgtEl>
                                          <p:spTgt spid="15"/>
                                        </p:tgtEl>
                                        <p:attrNameLst>
                                          <p:attrName>ppt_x</p:attrName>
                                          <p:attrName>ppt_y</p:attrName>
                                        </p:attrNameLst>
                                      </p:cBhvr>
                                    </p:animMotion>
                                  </p:childTnLst>
                                </p:cTn>
                              </p:par>
                            </p:childTnLst>
                          </p:cTn>
                        </p:par>
                        <p:par>
                          <p:cTn id="11" fill="hold">
                            <p:stCondLst>
                              <p:cond delay="800"/>
                            </p:stCondLst>
                            <p:childTnLst>
                              <p:par>
                                <p:cTn id="12" presetID="1" presetClass="entr" presetSubtype="0" fill="hold" grpId="0" nodeType="after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object-1">
            <a:extLst>
              <a:ext uri="{FF2B5EF4-FFF2-40B4-BE49-F238E27FC236}">
                <a16:creationId xmlns:a16="http://schemas.microsoft.com/office/drawing/2014/main" id="{F93DE576-4861-4AD0-975C-3BCFE19B48E1}"/>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F2341CA9-341B-4926-9BAC-BF75665D18A1}"/>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Round 470,753 to the nearest 1,000.</a:t>
            </a:r>
          </a:p>
        </p:txBody>
      </p:sp>
      <p:sp>
        <p:nvSpPr>
          <p:cNvPr id="3" name="object-3">
            <a:extLst>
              <a:ext uri="{FF2B5EF4-FFF2-40B4-BE49-F238E27FC236}">
                <a16:creationId xmlns:a16="http://schemas.microsoft.com/office/drawing/2014/main" id="{9A19BAFD-F955-48B3-ABCF-E43AE4274DC7}"/>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3CF033DF-C60F-460F-B82D-E56C15595073}"/>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Round to ten, hundred and thousand</a:t>
            </a:r>
          </a:p>
        </p:txBody>
      </p:sp>
      <p:sp>
        <p:nvSpPr>
          <p:cNvPr id="5" name="object-5">
            <a:extLst>
              <a:ext uri="{FF2B5EF4-FFF2-40B4-BE49-F238E27FC236}">
                <a16:creationId xmlns:a16="http://schemas.microsoft.com/office/drawing/2014/main" id="{E8C92252-1A2A-4124-8786-CCBE008E59D6}"/>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9968EDAF-3DCF-43CE-ACC9-C2CCF4BAFA3B}"/>
              </a:ext>
            </a:extLst>
          </p:cNvPr>
          <p:cNvSpPr>
            <a:spLocks noGrp="1"/>
          </p:cNvSpPr>
          <p:nvPr/>
        </p:nvSpPr>
        <p:spPr>
          <a:xfrm>
            <a:off x="2024063" y="4524375"/>
            <a:ext cx="10953750" cy="35719"/>
          </a:xfrm>
          <a:prstGeom prst="rect">
            <a:avLst/>
          </a:prstGeom>
          <a:solidFill>
            <a:srgbClr val="172B4D"/>
          </a:solidFill>
          <a:ln w="0">
            <a:noFill/>
          </a:ln>
        </p:spPr>
      </p:sp>
      <p:sp>
        <p:nvSpPr>
          <p:cNvPr id="7" name="object-7">
            <a:extLst>
              <a:ext uri="{FF2B5EF4-FFF2-40B4-BE49-F238E27FC236}">
                <a16:creationId xmlns:a16="http://schemas.microsoft.com/office/drawing/2014/main" id="{A91851B5-B5CF-45CA-85E9-49B9C808AC46}"/>
              </a:ext>
            </a:extLst>
          </p:cNvPr>
          <p:cNvSpPr>
            <a:spLocks noGrp="1"/>
          </p:cNvSpPr>
          <p:nvPr/>
        </p:nvSpPr>
        <p:spPr>
          <a:xfrm>
            <a:off x="2024063" y="4310063"/>
            <a:ext cx="0" cy="440531"/>
          </a:xfrm>
          <a:prstGeom prst="line">
            <a:avLst/>
          </a:prstGeom>
          <a:noFill/>
          <a:ln w="35719">
            <a:solidFill>
              <a:srgbClr val="172B4D"/>
            </a:solidFill>
          </a:ln>
        </p:spPr>
      </p:sp>
      <p:sp>
        <p:nvSpPr>
          <p:cNvPr id="8" name="object-8">
            <a:extLst>
              <a:ext uri="{FF2B5EF4-FFF2-40B4-BE49-F238E27FC236}">
                <a16:creationId xmlns:a16="http://schemas.microsoft.com/office/drawing/2014/main" id="{C7756783-2A76-47DD-9DC3-8E1999BE5ADC}"/>
              </a:ext>
            </a:extLst>
          </p:cNvPr>
          <p:cNvSpPr>
            <a:spLocks noGrp="1"/>
          </p:cNvSpPr>
          <p:nvPr/>
        </p:nvSpPr>
        <p:spPr>
          <a:xfrm>
            <a:off x="29765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470,000</a:t>
            </a:r>
          </a:p>
        </p:txBody>
      </p:sp>
      <p:sp>
        <p:nvSpPr>
          <p:cNvPr id="9" name="object-9">
            <a:extLst>
              <a:ext uri="{FF2B5EF4-FFF2-40B4-BE49-F238E27FC236}">
                <a16:creationId xmlns:a16="http://schemas.microsoft.com/office/drawing/2014/main" id="{DC10C995-9A1D-449D-A38D-F91C972107EB}"/>
              </a:ext>
            </a:extLst>
          </p:cNvPr>
          <p:cNvSpPr>
            <a:spLocks noGrp="1"/>
          </p:cNvSpPr>
          <p:nvPr/>
        </p:nvSpPr>
        <p:spPr>
          <a:xfrm>
            <a:off x="7500938" y="4310063"/>
            <a:ext cx="0" cy="440531"/>
          </a:xfrm>
          <a:prstGeom prst="line">
            <a:avLst/>
          </a:prstGeom>
          <a:noFill/>
          <a:ln w="35719">
            <a:solidFill>
              <a:srgbClr val="172B4D"/>
            </a:solidFill>
          </a:ln>
        </p:spPr>
      </p:sp>
      <p:sp>
        <p:nvSpPr>
          <p:cNvPr id="10" name="object-10">
            <a:extLst>
              <a:ext uri="{FF2B5EF4-FFF2-40B4-BE49-F238E27FC236}">
                <a16:creationId xmlns:a16="http://schemas.microsoft.com/office/drawing/2014/main" id="{EB465589-3E99-4DFA-83D0-0F7AC2A0F64C}"/>
              </a:ext>
            </a:extLst>
          </p:cNvPr>
          <p:cNvSpPr>
            <a:spLocks noGrp="1"/>
          </p:cNvSpPr>
          <p:nvPr/>
        </p:nvSpPr>
        <p:spPr>
          <a:xfrm>
            <a:off x="5774531"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470,500</a:t>
            </a:r>
          </a:p>
        </p:txBody>
      </p:sp>
      <p:sp>
        <p:nvSpPr>
          <p:cNvPr id="11" name="object-11">
            <a:extLst>
              <a:ext uri="{FF2B5EF4-FFF2-40B4-BE49-F238E27FC236}">
                <a16:creationId xmlns:a16="http://schemas.microsoft.com/office/drawing/2014/main" id="{B4BC87DB-338E-4FC5-8304-81BC2BD9F580}"/>
              </a:ext>
            </a:extLst>
          </p:cNvPr>
          <p:cNvSpPr>
            <a:spLocks noGrp="1"/>
          </p:cNvSpPr>
          <p:nvPr/>
        </p:nvSpPr>
        <p:spPr>
          <a:xfrm>
            <a:off x="12977813" y="4310063"/>
            <a:ext cx="0" cy="440531"/>
          </a:xfrm>
          <a:prstGeom prst="line">
            <a:avLst/>
          </a:prstGeom>
          <a:noFill/>
          <a:ln w="35719">
            <a:solidFill>
              <a:srgbClr val="172B4D"/>
            </a:solidFill>
          </a:ln>
        </p:spPr>
      </p:sp>
      <p:sp>
        <p:nvSpPr>
          <p:cNvPr id="12" name="object-12">
            <a:extLst>
              <a:ext uri="{FF2B5EF4-FFF2-40B4-BE49-F238E27FC236}">
                <a16:creationId xmlns:a16="http://schemas.microsoft.com/office/drawing/2014/main" id="{815F613A-F33B-42E1-874D-60FCA3CA1717}"/>
              </a:ext>
            </a:extLst>
          </p:cNvPr>
          <p:cNvSpPr>
            <a:spLocks noGrp="1"/>
          </p:cNvSpPr>
          <p:nvPr/>
        </p:nvSpPr>
        <p:spPr>
          <a:xfrm>
            <a:off x="1125140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471,000</a:t>
            </a:r>
          </a:p>
        </p:txBody>
      </p:sp>
      <p:sp>
        <p:nvSpPr>
          <p:cNvPr id="13" name="object-13">
            <a:extLst>
              <a:ext uri="{FF2B5EF4-FFF2-40B4-BE49-F238E27FC236}">
                <a16:creationId xmlns:a16="http://schemas.microsoft.com/office/drawing/2014/main" id="{C723BA37-A6AB-4DC8-9770-F0C905356C40}"/>
              </a:ext>
            </a:extLst>
          </p:cNvPr>
          <p:cNvSpPr>
            <a:spLocks noGrp="1"/>
          </p:cNvSpPr>
          <p:nvPr/>
        </p:nvSpPr>
        <p:spPr>
          <a:xfrm>
            <a:off x="5893594" y="5715000"/>
            <a:ext cx="3214688" cy="535781"/>
          </a:xfrm>
          <a:prstGeom prst="rect">
            <a:avLst/>
          </a:prstGeom>
          <a:noFill/>
          <a:ln w="0">
            <a:noFill/>
          </a:ln>
        </p:spPr>
        <p:txBody>
          <a:bodyPr anchor="ctr">
            <a:noAutofit/>
          </a:bodyPr>
          <a:lstStyle/>
          <a:p>
            <a:pPr algn="ctr">
              <a:defRPr sz="2625" b="0">
                <a:solidFill>
                  <a:srgbClr val="52647A"/>
                </a:solidFill>
                <a:latin typeface="Arial"/>
                <a:ea typeface="Arial"/>
                <a:cs typeface="Arial"/>
              </a:defRPr>
            </a:pPr>
            <a:r>
              <a:rPr sz="2625" b="0">
                <a:solidFill>
                  <a:srgbClr val="52647A"/>
                </a:solidFill>
                <a:latin typeface="Arial"/>
                <a:ea typeface="Arial"/>
                <a:cs typeface="Arial"/>
              </a:rPr>
              <a:t>halfway</a:t>
            </a:r>
          </a:p>
        </p:txBody>
      </p:sp>
      <p:sp>
        <p:nvSpPr>
          <p:cNvPr id="14" name="object-14">
            <a:extLst>
              <a:ext uri="{FF2B5EF4-FFF2-40B4-BE49-F238E27FC236}">
                <a16:creationId xmlns:a16="http://schemas.microsoft.com/office/drawing/2014/main" id="{E000B15F-4E7B-4E94-8CD8-B9AFA78AEF22}"/>
              </a:ext>
            </a:extLst>
          </p:cNvPr>
          <p:cNvSpPr>
            <a:spLocks noGrp="1"/>
          </p:cNvSpPr>
          <p:nvPr/>
        </p:nvSpPr>
        <p:spPr>
          <a:xfrm>
            <a:off x="1785938" y="3274219"/>
            <a:ext cx="357188" cy="357188"/>
          </a:xfrm>
          <a:prstGeom prst="ellipse">
            <a:avLst/>
          </a:prstGeom>
          <a:solidFill>
            <a:srgbClr val="1D4ED8"/>
          </a:solidFill>
          <a:ln w="11906">
            <a:solidFill>
              <a:srgbClr val="172B4D"/>
            </a:solidFill>
          </a:ln>
        </p:spPr>
      </p:sp>
      <p:sp>
        <p:nvSpPr>
          <p:cNvPr id="15" name="object-15">
            <a:extLst>
              <a:ext uri="{FF2B5EF4-FFF2-40B4-BE49-F238E27FC236}">
                <a16:creationId xmlns:a16="http://schemas.microsoft.com/office/drawing/2014/main" id="{01FFBFB6-0353-4FDD-A88E-365C86684CE5}"/>
              </a:ext>
            </a:extLst>
          </p:cNvPr>
          <p:cNvSpPr>
            <a:spLocks noGrp="1"/>
          </p:cNvSpPr>
          <p:nvPr/>
        </p:nvSpPr>
        <p:spPr>
          <a:xfrm>
            <a:off x="8367236" y="3036094"/>
            <a:ext cx="3810000" cy="654844"/>
          </a:xfrm>
          <a:prstGeom prst="rect">
            <a:avLst/>
          </a:prstGeom>
          <a:noFill/>
          <a:ln w="0">
            <a:noFill/>
          </a:ln>
        </p:spPr>
        <p:txBody>
          <a:bodyPr anchor="ctr">
            <a:noAutofit/>
          </a:bodyPr>
          <a:lstStyle/>
          <a:p>
            <a:pPr algn="ctr">
              <a:defRPr sz="3000" b="1">
                <a:solidFill>
                  <a:srgbClr val="1D4ED8"/>
                </a:solidFill>
                <a:latin typeface="Arial"/>
                <a:ea typeface="Arial"/>
                <a:cs typeface="Arial"/>
              </a:defRPr>
            </a:pPr>
            <a:r>
              <a:rPr sz="3000" b="1">
                <a:solidFill>
                  <a:srgbClr val="1D4ED8"/>
                </a:solidFill>
                <a:latin typeface="Arial"/>
                <a:ea typeface="Arial"/>
                <a:cs typeface="Arial"/>
              </a:rPr>
              <a:t>470,753</a:t>
            </a:r>
          </a:p>
        </p:txBody>
      </p:sp>
      <p:sp>
        <p:nvSpPr>
          <p:cNvPr id="16" name="object-16">
            <a:extLst>
              <a:ext uri="{FF2B5EF4-FFF2-40B4-BE49-F238E27FC236}">
                <a16:creationId xmlns:a16="http://schemas.microsoft.com/office/drawing/2014/main" id="{5DA5FEAB-35E2-4527-9029-782A7918241A}"/>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470,753 rounds to 471,000.</a:t>
            </a:r>
          </a:p>
        </p:txBody>
      </p:sp>
    </p:spTree>
    <p:extLst>
      <p:ext uri="{BB962C8B-B14F-4D97-AF65-F5344CB8AC3E}">
        <p14:creationId xmlns:p14="http://schemas.microsoft.com/office/powerpoint/2010/main" val="582907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 0 L 0.545125 0.1 E" pathEditMode="relative" ptsTypes="">
                                      <p:cBhvr>
                                        <p:cTn id="10" dur="800" fill="hold"/>
                                        <p:tgtEl>
                                          <p:spTgt spid="14"/>
                                        </p:tgtEl>
                                        <p:attrNameLst>
                                          <p:attrName>ppt_x</p:attrName>
                                          <p:attrName>ppt_y</p:attrName>
                                        </p:attrNameLst>
                                      </p:cBhvr>
                                    </p:animMotion>
                                  </p:childTnLst>
                                </p:cTn>
                              </p:par>
                            </p:childTnLst>
                          </p:cTn>
                        </p:par>
                        <p:par>
                          <p:cTn id="11" fill="hold">
                            <p:stCondLst>
                              <p:cond delay="800"/>
                            </p:stCondLst>
                            <p:childTnLst>
                              <p:par>
                                <p:cTn id="12" presetID="1" presetClass="entr" presetSubtype="0"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object-1">
            <a:extLst>
              <a:ext uri="{FF2B5EF4-FFF2-40B4-BE49-F238E27FC236}">
                <a16:creationId xmlns:a16="http://schemas.microsoft.com/office/drawing/2014/main" id="{53278668-99C4-43C0-B0EA-AB7B311A9EB1}"/>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71581629-EE06-421F-83D1-232A8D923B81}"/>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F15D1BD4-894D-4D92-8C6F-58D173C811BF}"/>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Round 471,753 to the nearest 1,000.</a:t>
            </a:r>
          </a:p>
        </p:txBody>
      </p:sp>
      <p:sp>
        <p:nvSpPr>
          <p:cNvPr id="4" name="object-4">
            <a:extLst>
              <a:ext uri="{FF2B5EF4-FFF2-40B4-BE49-F238E27FC236}">
                <a16:creationId xmlns:a16="http://schemas.microsoft.com/office/drawing/2014/main" id="{1AD9CDD9-93DB-4A05-8DCD-47148E3F1741}"/>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E0EB4863-E6D8-4C2B-8238-447D0C270279}"/>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Round to ten, hundred and thousand</a:t>
            </a:r>
          </a:p>
        </p:txBody>
      </p:sp>
      <p:sp>
        <p:nvSpPr>
          <p:cNvPr id="6" name="object-6">
            <a:extLst>
              <a:ext uri="{FF2B5EF4-FFF2-40B4-BE49-F238E27FC236}">
                <a16:creationId xmlns:a16="http://schemas.microsoft.com/office/drawing/2014/main" id="{04953A16-083D-4D6F-8A61-B2DE8E99EB5B}"/>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0EEAC47A-5C46-4243-B5B3-E42F79594327}"/>
              </a:ext>
            </a:extLst>
          </p:cNvPr>
          <p:cNvSpPr>
            <a:spLocks noGrp="1"/>
          </p:cNvSpPr>
          <p:nvPr/>
        </p:nvSpPr>
        <p:spPr>
          <a:xfrm>
            <a:off x="2024063" y="4524375"/>
            <a:ext cx="10953750" cy="35719"/>
          </a:xfrm>
          <a:prstGeom prst="rect">
            <a:avLst/>
          </a:prstGeom>
          <a:solidFill>
            <a:srgbClr val="172B4D"/>
          </a:solidFill>
          <a:ln w="0">
            <a:noFill/>
          </a:ln>
        </p:spPr>
      </p:sp>
      <p:sp>
        <p:nvSpPr>
          <p:cNvPr id="8" name="object-8">
            <a:extLst>
              <a:ext uri="{FF2B5EF4-FFF2-40B4-BE49-F238E27FC236}">
                <a16:creationId xmlns:a16="http://schemas.microsoft.com/office/drawing/2014/main" id="{FC4A9384-1D8A-40FC-85B4-B4C2E23789BD}"/>
              </a:ext>
            </a:extLst>
          </p:cNvPr>
          <p:cNvSpPr>
            <a:spLocks noGrp="1"/>
          </p:cNvSpPr>
          <p:nvPr/>
        </p:nvSpPr>
        <p:spPr>
          <a:xfrm>
            <a:off x="2024063" y="4310063"/>
            <a:ext cx="0" cy="440531"/>
          </a:xfrm>
          <a:prstGeom prst="line">
            <a:avLst/>
          </a:prstGeom>
          <a:noFill/>
          <a:ln w="35719">
            <a:solidFill>
              <a:srgbClr val="172B4D"/>
            </a:solidFill>
          </a:ln>
        </p:spPr>
      </p:sp>
      <p:sp>
        <p:nvSpPr>
          <p:cNvPr id="9" name="object-9">
            <a:extLst>
              <a:ext uri="{FF2B5EF4-FFF2-40B4-BE49-F238E27FC236}">
                <a16:creationId xmlns:a16="http://schemas.microsoft.com/office/drawing/2014/main" id="{503D140F-191F-4C41-A1DC-1B493D47446D}"/>
              </a:ext>
            </a:extLst>
          </p:cNvPr>
          <p:cNvSpPr>
            <a:spLocks noGrp="1"/>
          </p:cNvSpPr>
          <p:nvPr/>
        </p:nvSpPr>
        <p:spPr>
          <a:xfrm>
            <a:off x="29765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471,000</a:t>
            </a:r>
          </a:p>
        </p:txBody>
      </p:sp>
      <p:sp>
        <p:nvSpPr>
          <p:cNvPr id="10" name="object-10">
            <a:extLst>
              <a:ext uri="{FF2B5EF4-FFF2-40B4-BE49-F238E27FC236}">
                <a16:creationId xmlns:a16="http://schemas.microsoft.com/office/drawing/2014/main" id="{66350679-E4B9-4A5F-87C7-0D58841E50BF}"/>
              </a:ext>
            </a:extLst>
          </p:cNvPr>
          <p:cNvSpPr>
            <a:spLocks noGrp="1"/>
          </p:cNvSpPr>
          <p:nvPr/>
        </p:nvSpPr>
        <p:spPr>
          <a:xfrm>
            <a:off x="7500938" y="4310063"/>
            <a:ext cx="0" cy="440531"/>
          </a:xfrm>
          <a:prstGeom prst="line">
            <a:avLst/>
          </a:prstGeom>
          <a:noFill/>
          <a:ln w="35719">
            <a:solidFill>
              <a:srgbClr val="172B4D"/>
            </a:solidFill>
          </a:ln>
        </p:spPr>
      </p:sp>
      <p:sp>
        <p:nvSpPr>
          <p:cNvPr id="11" name="object-11">
            <a:extLst>
              <a:ext uri="{FF2B5EF4-FFF2-40B4-BE49-F238E27FC236}">
                <a16:creationId xmlns:a16="http://schemas.microsoft.com/office/drawing/2014/main" id="{DBAE0531-4AF8-4745-B2F8-E9DEE1B9F5EB}"/>
              </a:ext>
            </a:extLst>
          </p:cNvPr>
          <p:cNvSpPr>
            <a:spLocks noGrp="1"/>
          </p:cNvSpPr>
          <p:nvPr/>
        </p:nvSpPr>
        <p:spPr>
          <a:xfrm>
            <a:off x="5774531"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471,500</a:t>
            </a:r>
          </a:p>
        </p:txBody>
      </p:sp>
      <p:sp>
        <p:nvSpPr>
          <p:cNvPr id="12" name="object-12">
            <a:extLst>
              <a:ext uri="{FF2B5EF4-FFF2-40B4-BE49-F238E27FC236}">
                <a16:creationId xmlns:a16="http://schemas.microsoft.com/office/drawing/2014/main" id="{1C69BB9B-24C8-4F59-99A3-51C4FA97A3B9}"/>
              </a:ext>
            </a:extLst>
          </p:cNvPr>
          <p:cNvSpPr>
            <a:spLocks noGrp="1"/>
          </p:cNvSpPr>
          <p:nvPr/>
        </p:nvSpPr>
        <p:spPr>
          <a:xfrm>
            <a:off x="12977813" y="4310063"/>
            <a:ext cx="0" cy="440531"/>
          </a:xfrm>
          <a:prstGeom prst="line">
            <a:avLst/>
          </a:prstGeom>
          <a:noFill/>
          <a:ln w="35719">
            <a:solidFill>
              <a:srgbClr val="172B4D"/>
            </a:solidFill>
          </a:ln>
        </p:spPr>
      </p:sp>
      <p:sp>
        <p:nvSpPr>
          <p:cNvPr id="13" name="object-13">
            <a:extLst>
              <a:ext uri="{FF2B5EF4-FFF2-40B4-BE49-F238E27FC236}">
                <a16:creationId xmlns:a16="http://schemas.microsoft.com/office/drawing/2014/main" id="{BABD6462-A4E5-409E-8278-BD1250C5411F}"/>
              </a:ext>
            </a:extLst>
          </p:cNvPr>
          <p:cNvSpPr>
            <a:spLocks noGrp="1"/>
          </p:cNvSpPr>
          <p:nvPr/>
        </p:nvSpPr>
        <p:spPr>
          <a:xfrm>
            <a:off x="1125140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472,000</a:t>
            </a:r>
          </a:p>
        </p:txBody>
      </p:sp>
      <p:sp>
        <p:nvSpPr>
          <p:cNvPr id="14" name="object-14">
            <a:extLst>
              <a:ext uri="{FF2B5EF4-FFF2-40B4-BE49-F238E27FC236}">
                <a16:creationId xmlns:a16="http://schemas.microsoft.com/office/drawing/2014/main" id="{A11B1DCF-015E-4B87-B8F3-1AA35825615E}"/>
              </a:ext>
            </a:extLst>
          </p:cNvPr>
          <p:cNvSpPr>
            <a:spLocks noGrp="1"/>
          </p:cNvSpPr>
          <p:nvPr/>
        </p:nvSpPr>
        <p:spPr>
          <a:xfrm>
            <a:off x="5893594" y="5715000"/>
            <a:ext cx="3214688" cy="535781"/>
          </a:xfrm>
          <a:prstGeom prst="rect">
            <a:avLst/>
          </a:prstGeom>
          <a:noFill/>
          <a:ln w="0">
            <a:noFill/>
          </a:ln>
        </p:spPr>
        <p:txBody>
          <a:bodyPr anchor="ctr">
            <a:noAutofit/>
          </a:bodyPr>
          <a:lstStyle/>
          <a:p>
            <a:pPr algn="ctr">
              <a:defRPr sz="2625" b="0">
                <a:solidFill>
                  <a:srgbClr val="52647A"/>
                </a:solidFill>
                <a:latin typeface="Arial"/>
                <a:ea typeface="Arial"/>
                <a:cs typeface="Arial"/>
              </a:defRPr>
            </a:pPr>
            <a:r>
              <a:rPr sz="2625" b="0">
                <a:solidFill>
                  <a:srgbClr val="52647A"/>
                </a:solidFill>
                <a:latin typeface="Arial"/>
                <a:ea typeface="Arial"/>
                <a:cs typeface="Arial"/>
              </a:rPr>
              <a:t>halfway</a:t>
            </a:r>
          </a:p>
        </p:txBody>
      </p:sp>
      <p:sp>
        <p:nvSpPr>
          <p:cNvPr id="15" name="object-15">
            <a:extLst>
              <a:ext uri="{FF2B5EF4-FFF2-40B4-BE49-F238E27FC236}">
                <a16:creationId xmlns:a16="http://schemas.microsoft.com/office/drawing/2014/main" id="{3BC726F4-3BF7-49F3-8144-ECF59DFE6A13}"/>
              </a:ext>
            </a:extLst>
          </p:cNvPr>
          <p:cNvSpPr>
            <a:spLocks noGrp="1"/>
          </p:cNvSpPr>
          <p:nvPr/>
        </p:nvSpPr>
        <p:spPr>
          <a:xfrm>
            <a:off x="1785938" y="3274219"/>
            <a:ext cx="357188" cy="357188"/>
          </a:xfrm>
          <a:prstGeom prst="ellipse">
            <a:avLst/>
          </a:prstGeom>
          <a:solidFill>
            <a:srgbClr val="1D4ED8"/>
          </a:solidFill>
          <a:ln w="11906">
            <a:solidFill>
              <a:srgbClr val="172B4D"/>
            </a:solidFill>
          </a:ln>
        </p:spPr>
      </p:sp>
      <p:sp>
        <p:nvSpPr>
          <p:cNvPr id="16" name="object-16">
            <a:extLst>
              <a:ext uri="{FF2B5EF4-FFF2-40B4-BE49-F238E27FC236}">
                <a16:creationId xmlns:a16="http://schemas.microsoft.com/office/drawing/2014/main" id="{8FFC2C8B-5A94-4380-B8E4-05BCF7F9FAEB}"/>
              </a:ext>
            </a:extLst>
          </p:cNvPr>
          <p:cNvSpPr>
            <a:spLocks noGrp="1"/>
          </p:cNvSpPr>
          <p:nvPr/>
        </p:nvSpPr>
        <p:spPr>
          <a:xfrm>
            <a:off x="8367236" y="3036094"/>
            <a:ext cx="3810000" cy="654844"/>
          </a:xfrm>
          <a:prstGeom prst="rect">
            <a:avLst/>
          </a:prstGeom>
          <a:noFill/>
          <a:ln w="0">
            <a:noFill/>
          </a:ln>
        </p:spPr>
        <p:txBody>
          <a:bodyPr anchor="ctr">
            <a:noAutofit/>
          </a:bodyPr>
          <a:lstStyle/>
          <a:p>
            <a:pPr algn="ctr">
              <a:defRPr sz="3000" b="1">
                <a:solidFill>
                  <a:srgbClr val="1D4ED8"/>
                </a:solidFill>
                <a:latin typeface="Arial"/>
                <a:ea typeface="Arial"/>
                <a:cs typeface="Arial"/>
              </a:defRPr>
            </a:pPr>
            <a:r>
              <a:rPr sz="3000" b="1">
                <a:solidFill>
                  <a:srgbClr val="1D4ED8"/>
                </a:solidFill>
                <a:latin typeface="Arial"/>
                <a:ea typeface="Arial"/>
                <a:cs typeface="Arial"/>
              </a:rPr>
              <a:t>471,753</a:t>
            </a:r>
          </a:p>
        </p:txBody>
      </p:sp>
      <p:sp>
        <p:nvSpPr>
          <p:cNvPr id="17" name="object-17">
            <a:extLst>
              <a:ext uri="{FF2B5EF4-FFF2-40B4-BE49-F238E27FC236}">
                <a16:creationId xmlns:a16="http://schemas.microsoft.com/office/drawing/2014/main" id="{2DA1A0FC-6F9C-4D3C-BFE4-7F1EB1AA4FF4}"/>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471,753 rounds to 472,000.</a:t>
            </a:r>
          </a:p>
        </p:txBody>
      </p:sp>
    </p:spTree>
    <p:extLst>
      <p:ext uri="{BB962C8B-B14F-4D97-AF65-F5344CB8AC3E}">
        <p14:creationId xmlns:p14="http://schemas.microsoft.com/office/powerpoint/2010/main" val="40336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 0 L 0.545125 0.1 E" pathEditMode="relative" ptsTypes="">
                                      <p:cBhvr>
                                        <p:cTn id="10" dur="800" fill="hold"/>
                                        <p:tgtEl>
                                          <p:spTgt spid="15"/>
                                        </p:tgtEl>
                                        <p:attrNameLst>
                                          <p:attrName>ppt_x</p:attrName>
                                          <p:attrName>ppt_y</p:attrName>
                                        </p:attrNameLst>
                                      </p:cBhvr>
                                    </p:animMotion>
                                  </p:childTnLst>
                                </p:cTn>
                              </p:par>
                            </p:childTnLst>
                          </p:cTn>
                        </p:par>
                        <p:par>
                          <p:cTn id="11" fill="hold">
                            <p:stCondLst>
                              <p:cond delay="800"/>
                            </p:stCondLst>
                            <p:childTnLst>
                              <p:par>
                                <p:cTn id="12" presetID="1" presetClass="entr" presetSubtype="0" fill="hold" grpId="0" nodeType="after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A59CAA30-7862-40EF-A52E-05292126A97F}"/>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EB37532E-066B-4A02-B96B-5EE27E382C57}"/>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61F44CDD-35C0-4BD9-9896-1902BAAF00FF}"/>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AE3F88ED-AB9B-493F-B30D-198B7F952812}"/>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FE6F7A64-BF32-4611-9638-9006FFBE0BBE}"/>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Round to ten, hundred and thousand</a:t>
            </a:r>
          </a:p>
        </p:txBody>
      </p:sp>
      <p:sp>
        <p:nvSpPr>
          <p:cNvPr id="6" name="object-6">
            <a:extLst>
              <a:ext uri="{FF2B5EF4-FFF2-40B4-BE49-F238E27FC236}">
                <a16:creationId xmlns:a16="http://schemas.microsoft.com/office/drawing/2014/main" id="{7E53600A-8480-44AF-8269-228728BBAEB5}"/>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8FE21DE0-3216-4832-A2EA-841E9F49D955}"/>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D9FB2FE3-F7A9-4358-9BA9-F920BAFAAF85}"/>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Round 468,753 to the nearest 10, 100 and 1,000.</a:t>
            </a:r>
          </a:p>
        </p:txBody>
      </p:sp>
      <p:sp>
        <p:nvSpPr>
          <p:cNvPr id="9" name="object-9">
            <a:extLst>
              <a:ext uri="{FF2B5EF4-FFF2-40B4-BE49-F238E27FC236}">
                <a16:creationId xmlns:a16="http://schemas.microsoft.com/office/drawing/2014/main" id="{D57FBC59-035F-4F48-839D-31883EB89A5F}"/>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F235864C-715D-49F7-B502-A706CCB8E9C8}"/>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Round 905,449 to the nearest 100.</a:t>
            </a:r>
          </a:p>
        </p:txBody>
      </p:sp>
      <p:sp>
        <p:nvSpPr>
          <p:cNvPr id="11" name="object-11">
            <a:extLst>
              <a:ext uri="{FF2B5EF4-FFF2-40B4-BE49-F238E27FC236}">
                <a16:creationId xmlns:a16="http://schemas.microsoft.com/office/drawing/2014/main" id="{2D42E8EF-546E-4765-AF8A-4E611FB53229}"/>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2CFE7A95-6C3F-4F40-80C1-ECE94DE80D8E}"/>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Round 279,650 to the nearest 1,000.</a:t>
            </a:r>
          </a:p>
        </p:txBody>
      </p:sp>
      <p:sp>
        <p:nvSpPr>
          <p:cNvPr id="13" name="object-13">
            <a:extLst>
              <a:ext uri="{FF2B5EF4-FFF2-40B4-BE49-F238E27FC236}">
                <a16:creationId xmlns:a16="http://schemas.microsoft.com/office/drawing/2014/main" id="{05802DF9-D05E-46DB-8B2A-1DC3235860C6}"/>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677AA74C-F230-412C-B227-CCBB7A8BAA30}"/>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Round 468,753 to the nearest 10, 100 and 1,000.</a:t>
            </a:r>
          </a:p>
        </p:txBody>
      </p:sp>
      <p:sp>
        <p:nvSpPr>
          <p:cNvPr id="15" name="object-15">
            <a:extLst>
              <a:ext uri="{FF2B5EF4-FFF2-40B4-BE49-F238E27FC236}">
                <a16:creationId xmlns:a16="http://schemas.microsoft.com/office/drawing/2014/main" id="{E5FB4F74-310D-4E00-BA34-E2F039A4A165}"/>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AA4E1419-D068-4AE3-A445-839F5B5A8A58}"/>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Round 905,449 to the nearest 100.</a:t>
            </a:r>
          </a:p>
        </p:txBody>
      </p:sp>
      <p:sp>
        <p:nvSpPr>
          <p:cNvPr id="17" name="object-17">
            <a:extLst>
              <a:ext uri="{FF2B5EF4-FFF2-40B4-BE49-F238E27FC236}">
                <a16:creationId xmlns:a16="http://schemas.microsoft.com/office/drawing/2014/main" id="{34E731E1-B5C8-48AA-83EA-2923B84B2AD6}"/>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B2876CEC-6F56-46EB-85B2-3CBEE761FDFD}"/>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Round 279,650 to the nearest 1,000.</a:t>
            </a:r>
          </a:p>
        </p:txBody>
      </p:sp>
      <p:sp>
        <p:nvSpPr>
          <p:cNvPr id="19" name="object-19">
            <a:extLst>
              <a:ext uri="{FF2B5EF4-FFF2-40B4-BE49-F238E27FC236}">
                <a16:creationId xmlns:a16="http://schemas.microsoft.com/office/drawing/2014/main" id="{FA7D6CED-2823-4054-B362-D01886036844}"/>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005982FC-AA78-4D1D-B5A0-7BC83B8F697A}"/>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Give three numbers that round to 52,000 to the nearest 1,000.</a:t>
            </a:r>
          </a:p>
        </p:txBody>
      </p:sp>
      <p:sp>
        <p:nvSpPr>
          <p:cNvPr id="21" name="object-21">
            <a:extLst>
              <a:ext uri="{FF2B5EF4-FFF2-40B4-BE49-F238E27FC236}">
                <a16:creationId xmlns:a16="http://schemas.microsoft.com/office/drawing/2014/main" id="{6EF223C0-B156-4F29-BD4D-A4464B9E34EB}"/>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9955E801-F5A6-46E2-B96D-71EB82737D5D}"/>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always rounds up when the number contains a 5 anywhere.</a:t>
            </a:r>
          </a:p>
        </p:txBody>
      </p:sp>
      <p:sp>
        <p:nvSpPr>
          <p:cNvPr id="23" name="object-23">
            <a:extLst>
              <a:ext uri="{FF2B5EF4-FFF2-40B4-BE49-F238E27FC236}">
                <a16:creationId xmlns:a16="http://schemas.microsoft.com/office/drawing/2014/main" id="{DDE705FB-9308-4661-8186-6E94994BB808}"/>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5D3635AC-409B-4A27-99E9-642D7D226133}"/>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6245D397-B6A3-4AA3-B598-6D20E83DF668}"/>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61422769-A418-4A2A-B232-850B02D4E626}"/>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Round 279,650 to the nearest 1,000.</a:t>
            </a:r>
          </a:p>
        </p:txBody>
      </p:sp>
    </p:spTree>
    <p:extLst>
      <p:ext uri="{BB962C8B-B14F-4D97-AF65-F5344CB8AC3E}">
        <p14:creationId xmlns:p14="http://schemas.microsoft.com/office/powerpoint/2010/main" val="1368809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91D44F66-E645-422A-89D4-E3C3299EB8A1}"/>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4A58B414-DA13-4B52-9A85-5A3F2D87863E}"/>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28B7DC6D-96F4-401C-9D3F-EC4B5CAADD73}"/>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C5125FE0-6CBD-4CCE-8D16-E8B564EA6BA6}"/>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Round to ten, hundred and thousand</a:t>
            </a:r>
          </a:p>
        </p:txBody>
      </p:sp>
      <p:sp>
        <p:nvSpPr>
          <p:cNvPr id="5" name="object-5">
            <a:extLst>
              <a:ext uri="{FF2B5EF4-FFF2-40B4-BE49-F238E27FC236}">
                <a16:creationId xmlns:a16="http://schemas.microsoft.com/office/drawing/2014/main" id="{CB58385E-7FFE-44BB-96C2-1FEDE0EEE8B9}"/>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FA926609-7D46-422B-AF30-A0769B9FC99C}"/>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72621642-3D1D-478D-A933-94202FDB5761}"/>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468,750; 468,800; 469,000.</a:t>
            </a:r>
          </a:p>
        </p:txBody>
      </p:sp>
      <p:sp>
        <p:nvSpPr>
          <p:cNvPr id="8" name="object-8">
            <a:extLst>
              <a:ext uri="{FF2B5EF4-FFF2-40B4-BE49-F238E27FC236}">
                <a16:creationId xmlns:a16="http://schemas.microsoft.com/office/drawing/2014/main" id="{9CAB62C5-42A2-465E-98B1-2C74F1874FD4}"/>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76B7D20E-257C-430D-A003-3ABE582DEFB7}"/>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905,400.</a:t>
            </a:r>
          </a:p>
        </p:txBody>
      </p:sp>
      <p:sp>
        <p:nvSpPr>
          <p:cNvPr id="10" name="object-10">
            <a:extLst>
              <a:ext uri="{FF2B5EF4-FFF2-40B4-BE49-F238E27FC236}">
                <a16:creationId xmlns:a16="http://schemas.microsoft.com/office/drawing/2014/main" id="{FB1F0939-7DD7-46A8-8D23-649C38083BB2}"/>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A0185991-2271-417B-BF49-CBB87D0D670C}"/>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280,000.</a:t>
            </a:r>
          </a:p>
        </p:txBody>
      </p:sp>
      <p:sp>
        <p:nvSpPr>
          <p:cNvPr id="12" name="object-12">
            <a:extLst>
              <a:ext uri="{FF2B5EF4-FFF2-40B4-BE49-F238E27FC236}">
                <a16:creationId xmlns:a16="http://schemas.microsoft.com/office/drawing/2014/main" id="{9A56BA97-5497-4CF3-941A-8C0DBC8CAB4F}"/>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72347CB3-D81F-4950-A597-4F21EBAC4F8F}"/>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468,750; 468,800; 469,000.</a:t>
            </a:r>
          </a:p>
        </p:txBody>
      </p:sp>
      <p:sp>
        <p:nvSpPr>
          <p:cNvPr id="14" name="object-14">
            <a:extLst>
              <a:ext uri="{FF2B5EF4-FFF2-40B4-BE49-F238E27FC236}">
                <a16:creationId xmlns:a16="http://schemas.microsoft.com/office/drawing/2014/main" id="{78734713-BF16-4FBD-8144-D208E1A62449}"/>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8ADF0830-4A89-407F-A269-13BA220FDCC1}"/>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905,400. Method or representation may vary.</a:t>
            </a:r>
          </a:p>
        </p:txBody>
      </p:sp>
      <p:sp>
        <p:nvSpPr>
          <p:cNvPr id="16" name="object-16">
            <a:extLst>
              <a:ext uri="{FF2B5EF4-FFF2-40B4-BE49-F238E27FC236}">
                <a16:creationId xmlns:a16="http://schemas.microsoft.com/office/drawing/2014/main" id="{1581B046-C842-4623-87CE-A07AE8DABE1D}"/>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7F036437-E7F7-474B-86AC-1BAE5C6C7FE3}"/>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280,000. A valid check must be shown.</a:t>
            </a:r>
          </a:p>
        </p:txBody>
      </p:sp>
      <p:sp>
        <p:nvSpPr>
          <p:cNvPr id="18" name="object-18">
            <a:extLst>
              <a:ext uri="{FF2B5EF4-FFF2-40B4-BE49-F238E27FC236}">
                <a16:creationId xmlns:a16="http://schemas.microsoft.com/office/drawing/2014/main" id="{57DD9FC0-CC88-43E9-B63E-66756E7BE4B6}"/>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B235C9F6-4726-4024-8351-8737E32FEBD6}"/>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Any three from 51,500 to 52,499.</a:t>
            </a:r>
          </a:p>
        </p:txBody>
      </p:sp>
      <p:sp>
        <p:nvSpPr>
          <p:cNvPr id="20" name="object-20">
            <a:extLst>
              <a:ext uri="{FF2B5EF4-FFF2-40B4-BE49-F238E27FC236}">
                <a16:creationId xmlns:a16="http://schemas.microsoft.com/office/drawing/2014/main" id="{32AEBD96-9108-4F07-A7D4-9F0645B09778}"/>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87FC6E42-1004-4B3F-9524-DD80D057C61A}"/>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Only the digit immediately to the right of the rounding place decides the direction.</a:t>
            </a:r>
          </a:p>
        </p:txBody>
      </p:sp>
      <p:sp>
        <p:nvSpPr>
          <p:cNvPr id="22" name="object-22">
            <a:extLst>
              <a:ext uri="{FF2B5EF4-FFF2-40B4-BE49-F238E27FC236}">
                <a16:creationId xmlns:a16="http://schemas.microsoft.com/office/drawing/2014/main" id="{65914D7F-5E91-468A-86B2-78B8885F2638}"/>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8BD5E1F6-3368-4B27-9956-BBC240F59802}"/>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8303421D-9EA4-4B07-9DB9-47B726E06837}"/>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9614B384-0BE4-473D-B6CD-946883E368B8}"/>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201634901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909</Words>
  <Application>Microsoft Office PowerPoint</Application>
  <DocSecurity>0</DocSecurity>
  <PresentationFormat>Custom</PresentationFormat>
  <Paragraphs>110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2026-09-14T13:14:13Z</dcterms:created>
  <dcterms:modified xsi:type="dcterms:W3CDTF">2026-09-14T13:16:47Z</dcterms:modified>
</cp:coreProperties>
</file>