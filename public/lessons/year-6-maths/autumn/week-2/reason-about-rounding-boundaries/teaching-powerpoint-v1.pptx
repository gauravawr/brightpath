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5240000" cy="85725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Reason about rounding boundaries. Reason about rounding boundaries. Introduce the mathematical idea using the first worked example. The lesson can be placed anywhere in the teaching sequence.</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Reason about rounding boundaries. I do. Mark the two multiples and halfway point. Compare the position with halfway.</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Reason about rounding boundaries. You do. Pause before clicking. Let pupils try independently, then reveal and discuss every step. Mark the two multiples and halfway point. Compare the position with halfway.</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Reason about rounding boundaries. I do. Mark the two multiples and halfway point. Compare the position with halfway.</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Reason about rounding boundaries. You do. Pause before clicking. Let pupils try independently, then reveal and discuss every step. Mark the two multiples and halfway point. Compare the position with halfway.</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Reason about rounding boundaries. You do. Pause before clicking. Let pupils try independently, then reveal and discuss every step. These are the existing expected-level worksheet questions, in their original order. Do not advance to the answer slide until pupils have had time to finish.</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Reason about rounding boundaries. Answers. Answers to the preceding complete activity question set, in matching order. Accept mathematically valid alternatives for open questions.</a:t>
            </a:r>
          </a:p>
          <a:p>
            <a:r>
              <a:t>All moving objects are editable. Each click advances a mathematical step. The final two slides reproduce the existing expected-level activity questions and answers.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object-1">
            <a:extLst>
              <a:ext uri="{FF2B5EF4-FFF2-40B4-BE49-F238E27FC236}">
                <a16:creationId xmlns:a16="http://schemas.microsoft.com/office/drawing/2014/main" id="{C54FE2B5-EFFF-4554-9E26-A7B4CF2A9AFF}"/>
              </a:ext>
            </a:extLst>
          </p:cNvPr>
          <p:cNvSpPr>
            <a:spLocks noGrp="1"/>
          </p:cNvSpPr>
          <p:nvPr/>
        </p:nvSpPr>
        <p:spPr>
          <a:xfrm>
            <a:off x="654844" y="357188"/>
            <a:ext cx="13930313" cy="1547813"/>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Reason about rounding boundaries</a:t>
            </a:r>
          </a:p>
        </p:txBody>
      </p:sp>
      <p:sp>
        <p:nvSpPr>
          <p:cNvPr id="2" name="object-2">
            <a:extLst>
              <a:ext uri="{FF2B5EF4-FFF2-40B4-BE49-F238E27FC236}">
                <a16:creationId xmlns:a16="http://schemas.microsoft.com/office/drawing/2014/main" id="{A837F081-8DD8-4D11-9ECC-E4A241B0CB37}"/>
              </a:ext>
            </a:extLst>
          </p:cNvPr>
          <p:cNvSpPr>
            <a:spLocks noGrp="1"/>
          </p:cNvSpPr>
          <p:nvPr/>
        </p:nvSpPr>
        <p:spPr>
          <a:xfrm>
            <a:off x="654844" y="2024063"/>
            <a:ext cx="13930313" cy="1012031"/>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Watch the model. Try the next question. Explain what changes.</a:t>
            </a:r>
          </a:p>
        </p:txBody>
      </p:sp>
      <p:sp>
        <p:nvSpPr>
          <p:cNvPr id="3" name="object-3">
            <a:extLst>
              <a:ext uri="{FF2B5EF4-FFF2-40B4-BE49-F238E27FC236}">
                <a16:creationId xmlns:a16="http://schemas.microsoft.com/office/drawing/2014/main" id="{FE0D85F0-7802-4A0D-98FB-95659A129B60}"/>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C56C4753-C76B-4841-B151-EEF7F8425C35}"/>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Reason about rounding boundaries</a:t>
            </a:r>
          </a:p>
        </p:txBody>
      </p:sp>
      <p:sp>
        <p:nvSpPr>
          <p:cNvPr id="5" name="object-5">
            <a:extLst>
              <a:ext uri="{FF2B5EF4-FFF2-40B4-BE49-F238E27FC236}">
                <a16:creationId xmlns:a16="http://schemas.microsoft.com/office/drawing/2014/main" id="{4B3F75DA-A722-4B9D-A727-D649CC04C1D9}"/>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1</a:t>
            </a:r>
          </a:p>
        </p:txBody>
      </p:sp>
      <p:sp>
        <p:nvSpPr>
          <p:cNvPr id="6" name="object-6">
            <a:extLst>
              <a:ext uri="{FF2B5EF4-FFF2-40B4-BE49-F238E27FC236}">
                <a16:creationId xmlns:a16="http://schemas.microsoft.com/office/drawing/2014/main" id="{CBA64D07-CF17-4144-8ADC-B386738B0796}"/>
              </a:ext>
            </a:extLst>
          </p:cNvPr>
          <p:cNvSpPr>
            <a:spLocks noGrp="1"/>
          </p:cNvSpPr>
          <p:nvPr/>
        </p:nvSpPr>
        <p:spPr>
          <a:xfrm>
            <a:off x="1190625" y="3631406"/>
            <a:ext cx="12858750" cy="2143125"/>
          </a:xfrm>
          <a:prstGeom prst="rect">
            <a:avLst/>
          </a:prstGeom>
          <a:noFill/>
          <a:ln w="0">
            <a:noFill/>
          </a:ln>
        </p:spPr>
        <p:txBody>
          <a:bodyPr anchor="ctr">
            <a:noAutofit/>
          </a:bodyPr>
          <a:lstStyle/>
          <a:p>
            <a:pPr algn="ctr">
              <a:defRPr sz="3375" b="1">
                <a:solidFill>
                  <a:srgbClr val="1D4ED8"/>
                </a:solidFill>
                <a:latin typeface="Arial"/>
                <a:ea typeface="Arial"/>
                <a:cs typeface="Arial"/>
              </a:defRPr>
            </a:pPr>
            <a:r>
              <a:rPr sz="3375" b="1">
                <a:solidFill>
                  <a:srgbClr val="1D4ED8"/>
                </a:solidFill>
                <a:latin typeface="Arial"/>
                <a:ea typeface="Arial"/>
                <a:cs typeface="Arial"/>
              </a:rPr>
              <a:t>To solve problems involving rounding ranges and errors.</a:t>
            </a:r>
          </a:p>
        </p:txBody>
      </p:sp>
    </p:spTree>
    <p:extLst>
      <p:ext uri="{BB962C8B-B14F-4D97-AF65-F5344CB8AC3E}">
        <p14:creationId xmlns:p14="http://schemas.microsoft.com/office/powerpoint/2010/main" val="7083413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object-1">
            <a:extLst>
              <a:ext uri="{FF2B5EF4-FFF2-40B4-BE49-F238E27FC236}">
                <a16:creationId xmlns:a16="http://schemas.microsoft.com/office/drawing/2014/main" id="{B93CE2A1-2927-4363-9116-133025239FA0}"/>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19686508-7241-488A-B036-1F868E5EEE9C}"/>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What is the smallest whole number that rounds to 86,000 to the nearest 1,000?</a:t>
            </a:r>
          </a:p>
        </p:txBody>
      </p:sp>
      <p:sp>
        <p:nvSpPr>
          <p:cNvPr id="3" name="object-3">
            <a:extLst>
              <a:ext uri="{FF2B5EF4-FFF2-40B4-BE49-F238E27FC236}">
                <a16:creationId xmlns:a16="http://schemas.microsoft.com/office/drawing/2014/main" id="{70C9F5AE-707C-43DA-B146-EBD92935995E}"/>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360CFE84-3CFC-4907-A9FC-57C218CFB75A}"/>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Reason about rounding boundaries</a:t>
            </a:r>
          </a:p>
        </p:txBody>
      </p:sp>
      <p:sp>
        <p:nvSpPr>
          <p:cNvPr id="5" name="object-5">
            <a:extLst>
              <a:ext uri="{FF2B5EF4-FFF2-40B4-BE49-F238E27FC236}">
                <a16:creationId xmlns:a16="http://schemas.microsoft.com/office/drawing/2014/main" id="{643A9A83-C080-4BA8-9472-4A57B2B0751C}"/>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2</a:t>
            </a:r>
          </a:p>
        </p:txBody>
      </p:sp>
      <p:sp>
        <p:nvSpPr>
          <p:cNvPr id="6" name="object-6">
            <a:extLst>
              <a:ext uri="{FF2B5EF4-FFF2-40B4-BE49-F238E27FC236}">
                <a16:creationId xmlns:a16="http://schemas.microsoft.com/office/drawing/2014/main" id="{D06647E4-2739-4061-83AB-21008D148D1F}"/>
              </a:ext>
            </a:extLst>
          </p:cNvPr>
          <p:cNvSpPr>
            <a:spLocks noGrp="1"/>
          </p:cNvSpPr>
          <p:nvPr/>
        </p:nvSpPr>
        <p:spPr>
          <a:xfrm>
            <a:off x="2024063" y="4524375"/>
            <a:ext cx="10953750" cy="35719"/>
          </a:xfrm>
          <a:prstGeom prst="rect">
            <a:avLst/>
          </a:prstGeom>
          <a:solidFill>
            <a:srgbClr val="172B4D"/>
          </a:solidFill>
          <a:ln w="0">
            <a:noFill/>
          </a:ln>
        </p:spPr>
      </p:sp>
      <p:sp>
        <p:nvSpPr>
          <p:cNvPr id="7" name="object-7">
            <a:extLst>
              <a:ext uri="{FF2B5EF4-FFF2-40B4-BE49-F238E27FC236}">
                <a16:creationId xmlns:a16="http://schemas.microsoft.com/office/drawing/2014/main" id="{77ED2885-C90E-4E45-B33C-90A7E8C600B7}"/>
              </a:ext>
            </a:extLst>
          </p:cNvPr>
          <p:cNvSpPr>
            <a:spLocks noGrp="1"/>
          </p:cNvSpPr>
          <p:nvPr/>
        </p:nvSpPr>
        <p:spPr>
          <a:xfrm>
            <a:off x="2024063" y="4310063"/>
            <a:ext cx="0" cy="440531"/>
          </a:xfrm>
          <a:prstGeom prst="line">
            <a:avLst/>
          </a:prstGeom>
          <a:noFill/>
          <a:ln w="35719">
            <a:solidFill>
              <a:srgbClr val="172B4D"/>
            </a:solidFill>
          </a:ln>
        </p:spPr>
      </p:sp>
      <p:sp>
        <p:nvSpPr>
          <p:cNvPr id="8" name="object-8">
            <a:extLst>
              <a:ext uri="{FF2B5EF4-FFF2-40B4-BE49-F238E27FC236}">
                <a16:creationId xmlns:a16="http://schemas.microsoft.com/office/drawing/2014/main" id="{11FDC9F5-C473-42DB-8787-A625326363F7}"/>
              </a:ext>
            </a:extLst>
          </p:cNvPr>
          <p:cNvSpPr>
            <a:spLocks noGrp="1"/>
          </p:cNvSpPr>
          <p:nvPr/>
        </p:nvSpPr>
        <p:spPr>
          <a:xfrm>
            <a:off x="297656" y="4941094"/>
            <a:ext cx="3452813" cy="654844"/>
          </a:xfrm>
          <a:prstGeom prst="rect">
            <a:avLst/>
          </a:prstGeom>
          <a:noFill/>
          <a:ln w="0">
            <a:noFill/>
          </a:ln>
        </p:spPr>
        <p:txBody>
          <a:bodyPr anchor="ctr">
            <a:noAutofit/>
          </a:bodyPr>
          <a:lstStyle/>
          <a:p>
            <a:pPr algn="ctr">
              <a:defRPr sz="2625" b="1">
                <a:solidFill>
                  <a:srgbClr val="172B4D"/>
                </a:solidFill>
                <a:latin typeface="Arial"/>
                <a:ea typeface="Arial"/>
                <a:cs typeface="Arial"/>
              </a:defRPr>
            </a:pPr>
            <a:r>
              <a:rPr sz="2625" b="1">
                <a:solidFill>
                  <a:srgbClr val="172B4D"/>
                </a:solidFill>
                <a:latin typeface="Arial"/>
                <a:ea typeface="Arial"/>
                <a:cs typeface="Arial"/>
              </a:rPr>
              <a:t>85,000</a:t>
            </a:r>
          </a:p>
        </p:txBody>
      </p:sp>
      <p:sp>
        <p:nvSpPr>
          <p:cNvPr id="9" name="object-9">
            <a:extLst>
              <a:ext uri="{FF2B5EF4-FFF2-40B4-BE49-F238E27FC236}">
                <a16:creationId xmlns:a16="http://schemas.microsoft.com/office/drawing/2014/main" id="{61BE51B8-3602-4B10-9B3C-0ABF39C85721}"/>
              </a:ext>
            </a:extLst>
          </p:cNvPr>
          <p:cNvSpPr>
            <a:spLocks noGrp="1"/>
          </p:cNvSpPr>
          <p:nvPr/>
        </p:nvSpPr>
        <p:spPr>
          <a:xfrm>
            <a:off x="7500938" y="4310063"/>
            <a:ext cx="0" cy="440531"/>
          </a:xfrm>
          <a:prstGeom prst="line">
            <a:avLst/>
          </a:prstGeom>
          <a:noFill/>
          <a:ln w="35719">
            <a:solidFill>
              <a:srgbClr val="172B4D"/>
            </a:solidFill>
          </a:ln>
        </p:spPr>
      </p:sp>
      <p:sp>
        <p:nvSpPr>
          <p:cNvPr id="10" name="object-10">
            <a:extLst>
              <a:ext uri="{FF2B5EF4-FFF2-40B4-BE49-F238E27FC236}">
                <a16:creationId xmlns:a16="http://schemas.microsoft.com/office/drawing/2014/main" id="{C2422B02-0607-4612-BAF3-102F5312DCF0}"/>
              </a:ext>
            </a:extLst>
          </p:cNvPr>
          <p:cNvSpPr>
            <a:spLocks noGrp="1"/>
          </p:cNvSpPr>
          <p:nvPr/>
        </p:nvSpPr>
        <p:spPr>
          <a:xfrm>
            <a:off x="5774531" y="4941094"/>
            <a:ext cx="3452813" cy="654844"/>
          </a:xfrm>
          <a:prstGeom prst="rect">
            <a:avLst/>
          </a:prstGeom>
          <a:noFill/>
          <a:ln w="0">
            <a:noFill/>
          </a:ln>
        </p:spPr>
        <p:txBody>
          <a:bodyPr anchor="ctr">
            <a:noAutofit/>
          </a:bodyPr>
          <a:lstStyle/>
          <a:p>
            <a:pPr algn="ctr">
              <a:defRPr sz="2625" b="1">
                <a:solidFill>
                  <a:srgbClr val="172B4D"/>
                </a:solidFill>
                <a:latin typeface="Arial"/>
                <a:ea typeface="Arial"/>
                <a:cs typeface="Arial"/>
              </a:defRPr>
            </a:pPr>
            <a:r>
              <a:rPr sz="2625" b="1">
                <a:solidFill>
                  <a:srgbClr val="172B4D"/>
                </a:solidFill>
                <a:latin typeface="Arial"/>
                <a:ea typeface="Arial"/>
                <a:cs typeface="Arial"/>
              </a:rPr>
              <a:t>85,500</a:t>
            </a:r>
          </a:p>
        </p:txBody>
      </p:sp>
      <p:sp>
        <p:nvSpPr>
          <p:cNvPr id="11" name="object-11">
            <a:extLst>
              <a:ext uri="{FF2B5EF4-FFF2-40B4-BE49-F238E27FC236}">
                <a16:creationId xmlns:a16="http://schemas.microsoft.com/office/drawing/2014/main" id="{0B3B4DCB-875D-492F-9C02-36F0277EA1DE}"/>
              </a:ext>
            </a:extLst>
          </p:cNvPr>
          <p:cNvSpPr>
            <a:spLocks noGrp="1"/>
          </p:cNvSpPr>
          <p:nvPr/>
        </p:nvSpPr>
        <p:spPr>
          <a:xfrm>
            <a:off x="12977813" y="4310063"/>
            <a:ext cx="0" cy="440531"/>
          </a:xfrm>
          <a:prstGeom prst="line">
            <a:avLst/>
          </a:prstGeom>
          <a:noFill/>
          <a:ln w="35719">
            <a:solidFill>
              <a:srgbClr val="172B4D"/>
            </a:solidFill>
          </a:ln>
        </p:spPr>
      </p:sp>
      <p:sp>
        <p:nvSpPr>
          <p:cNvPr id="12" name="object-12">
            <a:extLst>
              <a:ext uri="{FF2B5EF4-FFF2-40B4-BE49-F238E27FC236}">
                <a16:creationId xmlns:a16="http://schemas.microsoft.com/office/drawing/2014/main" id="{C66783C5-DF55-48C7-9979-89EE78247C53}"/>
              </a:ext>
            </a:extLst>
          </p:cNvPr>
          <p:cNvSpPr>
            <a:spLocks noGrp="1"/>
          </p:cNvSpPr>
          <p:nvPr/>
        </p:nvSpPr>
        <p:spPr>
          <a:xfrm>
            <a:off x="11251406" y="4941094"/>
            <a:ext cx="3452813" cy="654844"/>
          </a:xfrm>
          <a:prstGeom prst="rect">
            <a:avLst/>
          </a:prstGeom>
          <a:noFill/>
          <a:ln w="0">
            <a:noFill/>
          </a:ln>
        </p:spPr>
        <p:txBody>
          <a:bodyPr anchor="ctr">
            <a:noAutofit/>
          </a:bodyPr>
          <a:lstStyle/>
          <a:p>
            <a:pPr algn="ctr">
              <a:defRPr sz="2625" b="1">
                <a:solidFill>
                  <a:srgbClr val="172B4D"/>
                </a:solidFill>
                <a:latin typeface="Arial"/>
                <a:ea typeface="Arial"/>
                <a:cs typeface="Arial"/>
              </a:defRPr>
            </a:pPr>
            <a:r>
              <a:rPr sz="2625" b="1">
                <a:solidFill>
                  <a:srgbClr val="172B4D"/>
                </a:solidFill>
                <a:latin typeface="Arial"/>
                <a:ea typeface="Arial"/>
                <a:cs typeface="Arial"/>
              </a:rPr>
              <a:t>86,000</a:t>
            </a:r>
          </a:p>
        </p:txBody>
      </p:sp>
      <p:sp>
        <p:nvSpPr>
          <p:cNvPr id="13" name="object-13">
            <a:extLst>
              <a:ext uri="{FF2B5EF4-FFF2-40B4-BE49-F238E27FC236}">
                <a16:creationId xmlns:a16="http://schemas.microsoft.com/office/drawing/2014/main" id="{A5C18AEC-CC3D-4FAF-A8E8-F494E3F829FB}"/>
              </a:ext>
            </a:extLst>
          </p:cNvPr>
          <p:cNvSpPr>
            <a:spLocks noGrp="1"/>
          </p:cNvSpPr>
          <p:nvPr/>
        </p:nvSpPr>
        <p:spPr>
          <a:xfrm>
            <a:off x="5893594" y="5715000"/>
            <a:ext cx="3214688" cy="535781"/>
          </a:xfrm>
          <a:prstGeom prst="rect">
            <a:avLst/>
          </a:prstGeom>
          <a:noFill/>
          <a:ln w="0">
            <a:noFill/>
          </a:ln>
        </p:spPr>
        <p:txBody>
          <a:bodyPr anchor="ctr">
            <a:noAutofit/>
          </a:bodyPr>
          <a:lstStyle/>
          <a:p>
            <a:pPr algn="ctr">
              <a:defRPr sz="2625" b="0">
                <a:solidFill>
                  <a:srgbClr val="52647A"/>
                </a:solidFill>
                <a:latin typeface="Arial"/>
                <a:ea typeface="Arial"/>
                <a:cs typeface="Arial"/>
              </a:defRPr>
            </a:pPr>
            <a:r>
              <a:rPr sz="2625" b="0">
                <a:solidFill>
                  <a:srgbClr val="52647A"/>
                </a:solidFill>
                <a:latin typeface="Arial"/>
                <a:ea typeface="Arial"/>
                <a:cs typeface="Arial"/>
              </a:rPr>
              <a:t>halfway</a:t>
            </a:r>
          </a:p>
        </p:txBody>
      </p:sp>
      <p:sp>
        <p:nvSpPr>
          <p:cNvPr id="14" name="object-14">
            <a:extLst>
              <a:ext uri="{FF2B5EF4-FFF2-40B4-BE49-F238E27FC236}">
                <a16:creationId xmlns:a16="http://schemas.microsoft.com/office/drawing/2014/main" id="{F7FF594B-9013-4FD6-AD86-0A0BB58D9B28}"/>
              </a:ext>
            </a:extLst>
          </p:cNvPr>
          <p:cNvSpPr>
            <a:spLocks noGrp="1"/>
          </p:cNvSpPr>
          <p:nvPr/>
        </p:nvSpPr>
        <p:spPr>
          <a:xfrm>
            <a:off x="1785938" y="3274219"/>
            <a:ext cx="357188" cy="357188"/>
          </a:xfrm>
          <a:prstGeom prst="ellipse">
            <a:avLst/>
          </a:prstGeom>
          <a:solidFill>
            <a:srgbClr val="1D4ED8"/>
          </a:solidFill>
          <a:ln w="11906">
            <a:solidFill>
              <a:srgbClr val="172B4D"/>
            </a:solidFill>
          </a:ln>
        </p:spPr>
      </p:sp>
      <p:sp>
        <p:nvSpPr>
          <p:cNvPr id="15" name="object-15">
            <a:extLst>
              <a:ext uri="{FF2B5EF4-FFF2-40B4-BE49-F238E27FC236}">
                <a16:creationId xmlns:a16="http://schemas.microsoft.com/office/drawing/2014/main" id="{3BA6E2D7-E59C-498C-A1C0-D2398B90461C}"/>
              </a:ext>
            </a:extLst>
          </p:cNvPr>
          <p:cNvSpPr>
            <a:spLocks noGrp="1"/>
          </p:cNvSpPr>
          <p:nvPr/>
        </p:nvSpPr>
        <p:spPr>
          <a:xfrm>
            <a:off x="5595938" y="3036094"/>
            <a:ext cx="3810000" cy="654844"/>
          </a:xfrm>
          <a:prstGeom prst="rect">
            <a:avLst/>
          </a:prstGeom>
          <a:noFill/>
          <a:ln w="0">
            <a:noFill/>
          </a:ln>
        </p:spPr>
        <p:txBody>
          <a:bodyPr anchor="ctr">
            <a:noAutofit/>
          </a:bodyPr>
          <a:lstStyle/>
          <a:p>
            <a:pPr algn="ctr">
              <a:defRPr sz="3000" b="1">
                <a:solidFill>
                  <a:srgbClr val="1D4ED8"/>
                </a:solidFill>
                <a:latin typeface="Arial"/>
                <a:ea typeface="Arial"/>
                <a:cs typeface="Arial"/>
              </a:defRPr>
            </a:pPr>
            <a:r>
              <a:rPr sz="3000" b="1">
                <a:solidFill>
                  <a:srgbClr val="1D4ED8"/>
                </a:solidFill>
                <a:latin typeface="Arial"/>
                <a:ea typeface="Arial"/>
                <a:cs typeface="Arial"/>
              </a:rPr>
              <a:t>85,500</a:t>
            </a:r>
          </a:p>
        </p:txBody>
      </p:sp>
      <p:sp>
        <p:nvSpPr>
          <p:cNvPr id="16" name="object-16">
            <a:extLst>
              <a:ext uri="{FF2B5EF4-FFF2-40B4-BE49-F238E27FC236}">
                <a16:creationId xmlns:a16="http://schemas.microsoft.com/office/drawing/2014/main" id="{147F94D1-1839-48E3-885A-0D70E292BE6E}"/>
              </a:ext>
            </a:extLst>
          </p:cNvPr>
          <p:cNvSpPr>
            <a:spLocks noGrp="1"/>
          </p:cNvSpPr>
          <p:nvPr/>
        </p:nvSpPr>
        <p:spPr>
          <a:xfrm>
            <a:off x="892969" y="6965156"/>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The boundary is 85,500.</a:t>
            </a:r>
          </a:p>
        </p:txBody>
      </p:sp>
    </p:spTree>
    <p:extLst>
      <p:ext uri="{BB962C8B-B14F-4D97-AF65-F5344CB8AC3E}">
        <p14:creationId xmlns:p14="http://schemas.microsoft.com/office/powerpoint/2010/main" val="1413226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nodeType="clickEffect">
                                  <p:stCondLst>
                                    <p:cond delay="0"/>
                                  </p:stCondLst>
                                  <p:childTnLst>
                                    <p:animMotion origin="layout" path="M 0 0 L 0.36328125 0.1 E" pathEditMode="relative" ptsTypes="">
                                      <p:cBhvr>
                                        <p:cTn id="10" dur="800" fill="hold"/>
                                        <p:tgtEl>
                                          <p:spTgt spid="14"/>
                                        </p:tgtEl>
                                        <p:attrNameLst>
                                          <p:attrName>ppt_x</p:attrName>
                                          <p:attrName>ppt_y</p:attrName>
                                        </p:attrNameLst>
                                      </p:cBhvr>
                                    </p:animMotion>
                                  </p:childTnLst>
                                </p:cTn>
                              </p:par>
                            </p:childTnLst>
                          </p:cTn>
                        </p:par>
                        <p:par>
                          <p:cTn id="11" fill="hold">
                            <p:stCondLst>
                              <p:cond delay="800"/>
                            </p:stCondLst>
                            <p:childTnLst>
                              <p:par>
                                <p:cTn id="12" presetID="1" presetClass="entr" presetSubtype="0" fill="hold" grpId="0" nodeType="afterEffect">
                                  <p:stCondLst>
                                    <p:cond delay="0"/>
                                  </p:stCondLst>
                                  <p:childTnLst>
                                    <p:set>
                                      <p:cBhvr>
                                        <p:cTn id="13" dur="1" fill="hold">
                                          <p:stCondLst>
                                            <p:cond delay="0"/>
                                          </p:stCondLst>
                                        </p:cTn>
                                        <p:tgtEl>
                                          <p:spTgt spid="15"/>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P spid="16"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object-1">
            <a:extLst>
              <a:ext uri="{FF2B5EF4-FFF2-40B4-BE49-F238E27FC236}">
                <a16:creationId xmlns:a16="http://schemas.microsoft.com/office/drawing/2014/main" id="{77B4E72C-B2A7-41C2-99E8-E1CABAA9F779}"/>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21A99AD2-61DD-4742-8EA3-4CE111C434D3}"/>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23C0E975-874F-4485-A8F0-2B2CC305FE89}"/>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What is the smallest whole number that rounds to 87,000 to the nearest 1,000?</a:t>
            </a:r>
          </a:p>
        </p:txBody>
      </p:sp>
      <p:sp>
        <p:nvSpPr>
          <p:cNvPr id="4" name="object-4">
            <a:extLst>
              <a:ext uri="{FF2B5EF4-FFF2-40B4-BE49-F238E27FC236}">
                <a16:creationId xmlns:a16="http://schemas.microsoft.com/office/drawing/2014/main" id="{6825D228-114A-4060-841E-2F69765E7C59}"/>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87A80288-890B-4AAF-8406-CDAF6084E0C6}"/>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Reason about rounding boundaries</a:t>
            </a:r>
          </a:p>
        </p:txBody>
      </p:sp>
      <p:sp>
        <p:nvSpPr>
          <p:cNvPr id="6" name="object-6">
            <a:extLst>
              <a:ext uri="{FF2B5EF4-FFF2-40B4-BE49-F238E27FC236}">
                <a16:creationId xmlns:a16="http://schemas.microsoft.com/office/drawing/2014/main" id="{E03C476C-1F00-4D73-A911-ECD10DCC7E33}"/>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3</a:t>
            </a:r>
          </a:p>
        </p:txBody>
      </p:sp>
      <p:sp>
        <p:nvSpPr>
          <p:cNvPr id="7" name="object-7">
            <a:extLst>
              <a:ext uri="{FF2B5EF4-FFF2-40B4-BE49-F238E27FC236}">
                <a16:creationId xmlns:a16="http://schemas.microsoft.com/office/drawing/2014/main" id="{0A4DFD76-D05A-4E4E-82D6-E841306CCACF}"/>
              </a:ext>
            </a:extLst>
          </p:cNvPr>
          <p:cNvSpPr>
            <a:spLocks noGrp="1"/>
          </p:cNvSpPr>
          <p:nvPr/>
        </p:nvSpPr>
        <p:spPr>
          <a:xfrm>
            <a:off x="2024063" y="4524375"/>
            <a:ext cx="10953750" cy="35719"/>
          </a:xfrm>
          <a:prstGeom prst="rect">
            <a:avLst/>
          </a:prstGeom>
          <a:solidFill>
            <a:srgbClr val="172B4D"/>
          </a:solidFill>
          <a:ln w="0">
            <a:noFill/>
          </a:ln>
        </p:spPr>
      </p:sp>
      <p:sp>
        <p:nvSpPr>
          <p:cNvPr id="8" name="object-8">
            <a:extLst>
              <a:ext uri="{FF2B5EF4-FFF2-40B4-BE49-F238E27FC236}">
                <a16:creationId xmlns:a16="http://schemas.microsoft.com/office/drawing/2014/main" id="{EB9481EF-6B4C-4482-ABFE-ADFBFFDD89B4}"/>
              </a:ext>
            </a:extLst>
          </p:cNvPr>
          <p:cNvSpPr>
            <a:spLocks noGrp="1"/>
          </p:cNvSpPr>
          <p:nvPr/>
        </p:nvSpPr>
        <p:spPr>
          <a:xfrm>
            <a:off x="2024063" y="4310063"/>
            <a:ext cx="0" cy="440531"/>
          </a:xfrm>
          <a:prstGeom prst="line">
            <a:avLst/>
          </a:prstGeom>
          <a:noFill/>
          <a:ln w="35719">
            <a:solidFill>
              <a:srgbClr val="172B4D"/>
            </a:solidFill>
          </a:ln>
        </p:spPr>
      </p:sp>
      <p:sp>
        <p:nvSpPr>
          <p:cNvPr id="9" name="object-9">
            <a:extLst>
              <a:ext uri="{FF2B5EF4-FFF2-40B4-BE49-F238E27FC236}">
                <a16:creationId xmlns:a16="http://schemas.microsoft.com/office/drawing/2014/main" id="{14D2850E-9063-48A9-ACAF-82DA312A3E6C}"/>
              </a:ext>
            </a:extLst>
          </p:cNvPr>
          <p:cNvSpPr>
            <a:spLocks noGrp="1"/>
          </p:cNvSpPr>
          <p:nvPr/>
        </p:nvSpPr>
        <p:spPr>
          <a:xfrm>
            <a:off x="297656" y="4941094"/>
            <a:ext cx="3452813" cy="654844"/>
          </a:xfrm>
          <a:prstGeom prst="rect">
            <a:avLst/>
          </a:prstGeom>
          <a:noFill/>
          <a:ln w="0">
            <a:noFill/>
          </a:ln>
        </p:spPr>
        <p:txBody>
          <a:bodyPr anchor="ctr">
            <a:noAutofit/>
          </a:bodyPr>
          <a:lstStyle/>
          <a:p>
            <a:pPr algn="ctr">
              <a:defRPr sz="2625" b="1">
                <a:solidFill>
                  <a:srgbClr val="172B4D"/>
                </a:solidFill>
                <a:latin typeface="Arial"/>
                <a:ea typeface="Arial"/>
                <a:cs typeface="Arial"/>
              </a:defRPr>
            </a:pPr>
            <a:r>
              <a:rPr sz="2625" b="1">
                <a:solidFill>
                  <a:srgbClr val="172B4D"/>
                </a:solidFill>
                <a:latin typeface="Arial"/>
                <a:ea typeface="Arial"/>
                <a:cs typeface="Arial"/>
              </a:rPr>
              <a:t>86,000</a:t>
            </a:r>
          </a:p>
        </p:txBody>
      </p:sp>
      <p:sp>
        <p:nvSpPr>
          <p:cNvPr id="10" name="object-10">
            <a:extLst>
              <a:ext uri="{FF2B5EF4-FFF2-40B4-BE49-F238E27FC236}">
                <a16:creationId xmlns:a16="http://schemas.microsoft.com/office/drawing/2014/main" id="{B7D0C854-B0B1-4DFD-B8DB-A24716BB1551}"/>
              </a:ext>
            </a:extLst>
          </p:cNvPr>
          <p:cNvSpPr>
            <a:spLocks noGrp="1"/>
          </p:cNvSpPr>
          <p:nvPr/>
        </p:nvSpPr>
        <p:spPr>
          <a:xfrm>
            <a:off x="7500938" y="4310063"/>
            <a:ext cx="0" cy="440531"/>
          </a:xfrm>
          <a:prstGeom prst="line">
            <a:avLst/>
          </a:prstGeom>
          <a:noFill/>
          <a:ln w="35719">
            <a:solidFill>
              <a:srgbClr val="172B4D"/>
            </a:solidFill>
          </a:ln>
        </p:spPr>
      </p:sp>
      <p:sp>
        <p:nvSpPr>
          <p:cNvPr id="11" name="object-11">
            <a:extLst>
              <a:ext uri="{FF2B5EF4-FFF2-40B4-BE49-F238E27FC236}">
                <a16:creationId xmlns:a16="http://schemas.microsoft.com/office/drawing/2014/main" id="{D8A7E28B-9625-4093-879D-59ABC32A837B}"/>
              </a:ext>
            </a:extLst>
          </p:cNvPr>
          <p:cNvSpPr>
            <a:spLocks noGrp="1"/>
          </p:cNvSpPr>
          <p:nvPr/>
        </p:nvSpPr>
        <p:spPr>
          <a:xfrm>
            <a:off x="5774531" y="4941094"/>
            <a:ext cx="3452813" cy="654844"/>
          </a:xfrm>
          <a:prstGeom prst="rect">
            <a:avLst/>
          </a:prstGeom>
          <a:noFill/>
          <a:ln w="0">
            <a:noFill/>
          </a:ln>
        </p:spPr>
        <p:txBody>
          <a:bodyPr anchor="ctr">
            <a:noAutofit/>
          </a:bodyPr>
          <a:lstStyle/>
          <a:p>
            <a:pPr algn="ctr">
              <a:defRPr sz="2625" b="1">
                <a:solidFill>
                  <a:srgbClr val="172B4D"/>
                </a:solidFill>
                <a:latin typeface="Arial"/>
                <a:ea typeface="Arial"/>
                <a:cs typeface="Arial"/>
              </a:defRPr>
            </a:pPr>
            <a:r>
              <a:rPr sz="2625" b="1">
                <a:solidFill>
                  <a:srgbClr val="172B4D"/>
                </a:solidFill>
                <a:latin typeface="Arial"/>
                <a:ea typeface="Arial"/>
                <a:cs typeface="Arial"/>
              </a:rPr>
              <a:t>86,500</a:t>
            </a:r>
          </a:p>
        </p:txBody>
      </p:sp>
      <p:sp>
        <p:nvSpPr>
          <p:cNvPr id="12" name="object-12">
            <a:extLst>
              <a:ext uri="{FF2B5EF4-FFF2-40B4-BE49-F238E27FC236}">
                <a16:creationId xmlns:a16="http://schemas.microsoft.com/office/drawing/2014/main" id="{AA1DB2E0-0CC8-4C6C-8A1A-533AF4619C30}"/>
              </a:ext>
            </a:extLst>
          </p:cNvPr>
          <p:cNvSpPr>
            <a:spLocks noGrp="1"/>
          </p:cNvSpPr>
          <p:nvPr/>
        </p:nvSpPr>
        <p:spPr>
          <a:xfrm>
            <a:off x="12977813" y="4310063"/>
            <a:ext cx="0" cy="440531"/>
          </a:xfrm>
          <a:prstGeom prst="line">
            <a:avLst/>
          </a:prstGeom>
          <a:noFill/>
          <a:ln w="35719">
            <a:solidFill>
              <a:srgbClr val="172B4D"/>
            </a:solidFill>
          </a:ln>
        </p:spPr>
      </p:sp>
      <p:sp>
        <p:nvSpPr>
          <p:cNvPr id="13" name="object-13">
            <a:extLst>
              <a:ext uri="{FF2B5EF4-FFF2-40B4-BE49-F238E27FC236}">
                <a16:creationId xmlns:a16="http://schemas.microsoft.com/office/drawing/2014/main" id="{1932E8DD-F72A-42E6-AE0C-2FB850422F4C}"/>
              </a:ext>
            </a:extLst>
          </p:cNvPr>
          <p:cNvSpPr>
            <a:spLocks noGrp="1"/>
          </p:cNvSpPr>
          <p:nvPr/>
        </p:nvSpPr>
        <p:spPr>
          <a:xfrm>
            <a:off x="11251406" y="4941094"/>
            <a:ext cx="3452813" cy="654844"/>
          </a:xfrm>
          <a:prstGeom prst="rect">
            <a:avLst/>
          </a:prstGeom>
          <a:noFill/>
          <a:ln w="0">
            <a:noFill/>
          </a:ln>
        </p:spPr>
        <p:txBody>
          <a:bodyPr anchor="ctr">
            <a:noAutofit/>
          </a:bodyPr>
          <a:lstStyle/>
          <a:p>
            <a:pPr algn="ctr">
              <a:defRPr sz="2625" b="1">
                <a:solidFill>
                  <a:srgbClr val="172B4D"/>
                </a:solidFill>
                <a:latin typeface="Arial"/>
                <a:ea typeface="Arial"/>
                <a:cs typeface="Arial"/>
              </a:defRPr>
            </a:pPr>
            <a:r>
              <a:rPr sz="2625" b="1">
                <a:solidFill>
                  <a:srgbClr val="172B4D"/>
                </a:solidFill>
                <a:latin typeface="Arial"/>
                <a:ea typeface="Arial"/>
                <a:cs typeface="Arial"/>
              </a:rPr>
              <a:t>87,000</a:t>
            </a:r>
          </a:p>
        </p:txBody>
      </p:sp>
      <p:sp>
        <p:nvSpPr>
          <p:cNvPr id="14" name="object-14">
            <a:extLst>
              <a:ext uri="{FF2B5EF4-FFF2-40B4-BE49-F238E27FC236}">
                <a16:creationId xmlns:a16="http://schemas.microsoft.com/office/drawing/2014/main" id="{B7108615-5928-4087-8347-FA326405076C}"/>
              </a:ext>
            </a:extLst>
          </p:cNvPr>
          <p:cNvSpPr>
            <a:spLocks noGrp="1"/>
          </p:cNvSpPr>
          <p:nvPr/>
        </p:nvSpPr>
        <p:spPr>
          <a:xfrm>
            <a:off x="5893594" y="5715000"/>
            <a:ext cx="3214688" cy="535781"/>
          </a:xfrm>
          <a:prstGeom prst="rect">
            <a:avLst/>
          </a:prstGeom>
          <a:noFill/>
          <a:ln w="0">
            <a:noFill/>
          </a:ln>
        </p:spPr>
        <p:txBody>
          <a:bodyPr anchor="ctr">
            <a:noAutofit/>
          </a:bodyPr>
          <a:lstStyle/>
          <a:p>
            <a:pPr algn="ctr">
              <a:defRPr sz="2625" b="0">
                <a:solidFill>
                  <a:srgbClr val="52647A"/>
                </a:solidFill>
                <a:latin typeface="Arial"/>
                <a:ea typeface="Arial"/>
                <a:cs typeface="Arial"/>
              </a:defRPr>
            </a:pPr>
            <a:r>
              <a:rPr sz="2625" b="0">
                <a:solidFill>
                  <a:srgbClr val="52647A"/>
                </a:solidFill>
                <a:latin typeface="Arial"/>
                <a:ea typeface="Arial"/>
                <a:cs typeface="Arial"/>
              </a:rPr>
              <a:t>halfway</a:t>
            </a:r>
          </a:p>
        </p:txBody>
      </p:sp>
      <p:sp>
        <p:nvSpPr>
          <p:cNvPr id="15" name="object-15">
            <a:extLst>
              <a:ext uri="{FF2B5EF4-FFF2-40B4-BE49-F238E27FC236}">
                <a16:creationId xmlns:a16="http://schemas.microsoft.com/office/drawing/2014/main" id="{A9F96F30-970E-44FA-B6BD-90BA80A20CC0}"/>
              </a:ext>
            </a:extLst>
          </p:cNvPr>
          <p:cNvSpPr>
            <a:spLocks noGrp="1"/>
          </p:cNvSpPr>
          <p:nvPr/>
        </p:nvSpPr>
        <p:spPr>
          <a:xfrm>
            <a:off x="1785938" y="3274219"/>
            <a:ext cx="357188" cy="357188"/>
          </a:xfrm>
          <a:prstGeom prst="ellipse">
            <a:avLst/>
          </a:prstGeom>
          <a:solidFill>
            <a:srgbClr val="1D4ED8"/>
          </a:solidFill>
          <a:ln w="11906">
            <a:solidFill>
              <a:srgbClr val="172B4D"/>
            </a:solidFill>
          </a:ln>
        </p:spPr>
      </p:sp>
      <p:sp>
        <p:nvSpPr>
          <p:cNvPr id="16" name="object-16">
            <a:extLst>
              <a:ext uri="{FF2B5EF4-FFF2-40B4-BE49-F238E27FC236}">
                <a16:creationId xmlns:a16="http://schemas.microsoft.com/office/drawing/2014/main" id="{910C9CBF-D1D0-4BF7-BF28-4B8D9824E101}"/>
              </a:ext>
            </a:extLst>
          </p:cNvPr>
          <p:cNvSpPr>
            <a:spLocks noGrp="1"/>
          </p:cNvSpPr>
          <p:nvPr/>
        </p:nvSpPr>
        <p:spPr>
          <a:xfrm>
            <a:off x="5595938" y="3036094"/>
            <a:ext cx="3810000" cy="654844"/>
          </a:xfrm>
          <a:prstGeom prst="rect">
            <a:avLst/>
          </a:prstGeom>
          <a:noFill/>
          <a:ln w="0">
            <a:noFill/>
          </a:ln>
        </p:spPr>
        <p:txBody>
          <a:bodyPr anchor="ctr">
            <a:noAutofit/>
          </a:bodyPr>
          <a:lstStyle/>
          <a:p>
            <a:pPr algn="ctr">
              <a:defRPr sz="3000" b="1">
                <a:solidFill>
                  <a:srgbClr val="1D4ED8"/>
                </a:solidFill>
                <a:latin typeface="Arial"/>
                <a:ea typeface="Arial"/>
                <a:cs typeface="Arial"/>
              </a:defRPr>
            </a:pPr>
            <a:r>
              <a:rPr sz="3000" b="1">
                <a:solidFill>
                  <a:srgbClr val="1D4ED8"/>
                </a:solidFill>
                <a:latin typeface="Arial"/>
                <a:ea typeface="Arial"/>
                <a:cs typeface="Arial"/>
              </a:rPr>
              <a:t>86,500</a:t>
            </a:r>
          </a:p>
        </p:txBody>
      </p:sp>
      <p:sp>
        <p:nvSpPr>
          <p:cNvPr id="17" name="object-17">
            <a:extLst>
              <a:ext uri="{FF2B5EF4-FFF2-40B4-BE49-F238E27FC236}">
                <a16:creationId xmlns:a16="http://schemas.microsoft.com/office/drawing/2014/main" id="{FCD3C022-FA7B-4170-9C4C-A5565482209A}"/>
              </a:ext>
            </a:extLst>
          </p:cNvPr>
          <p:cNvSpPr>
            <a:spLocks noGrp="1"/>
          </p:cNvSpPr>
          <p:nvPr/>
        </p:nvSpPr>
        <p:spPr>
          <a:xfrm>
            <a:off x="892969" y="6965156"/>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The boundary is 86,500.</a:t>
            </a:r>
          </a:p>
        </p:txBody>
      </p:sp>
    </p:spTree>
    <p:extLst>
      <p:ext uri="{BB962C8B-B14F-4D97-AF65-F5344CB8AC3E}">
        <p14:creationId xmlns:p14="http://schemas.microsoft.com/office/powerpoint/2010/main" val="1025673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nodeType="clickEffect">
                                  <p:stCondLst>
                                    <p:cond delay="0"/>
                                  </p:stCondLst>
                                  <p:childTnLst>
                                    <p:animMotion origin="layout" path="M 0 0 L 0.36328125 0.1 E" pathEditMode="relative" ptsTypes="">
                                      <p:cBhvr>
                                        <p:cTn id="10" dur="800" fill="hold"/>
                                        <p:tgtEl>
                                          <p:spTgt spid="15"/>
                                        </p:tgtEl>
                                        <p:attrNameLst>
                                          <p:attrName>ppt_x</p:attrName>
                                          <p:attrName>ppt_y</p:attrName>
                                        </p:attrNameLst>
                                      </p:cBhvr>
                                    </p:animMotion>
                                  </p:childTnLst>
                                </p:cTn>
                              </p:par>
                            </p:childTnLst>
                          </p:cTn>
                        </p:par>
                        <p:par>
                          <p:cTn id="11" fill="hold">
                            <p:stCondLst>
                              <p:cond delay="800"/>
                            </p:stCondLst>
                            <p:childTnLst>
                              <p:par>
                                <p:cTn id="12" presetID="1" presetClass="entr" presetSubtype="0" fill="hold" grpId="0" nodeType="afterEffect">
                                  <p:stCondLst>
                                    <p:cond delay="0"/>
                                  </p:stCondLst>
                                  <p:childTnLst>
                                    <p:set>
                                      <p:cBhvr>
                                        <p:cTn id="13" dur="1" fill="hold">
                                          <p:stCondLst>
                                            <p:cond delay="0"/>
                                          </p:stCondLst>
                                        </p:cTn>
                                        <p:tgtEl>
                                          <p:spTgt spid="1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17"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object-1">
            <a:extLst>
              <a:ext uri="{FF2B5EF4-FFF2-40B4-BE49-F238E27FC236}">
                <a16:creationId xmlns:a16="http://schemas.microsoft.com/office/drawing/2014/main" id="{0866D814-0C1D-4496-BC5F-E99044EE5E71}"/>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I do</a:t>
            </a:r>
          </a:p>
        </p:txBody>
      </p:sp>
      <p:sp>
        <p:nvSpPr>
          <p:cNvPr id="2" name="object-2">
            <a:extLst>
              <a:ext uri="{FF2B5EF4-FFF2-40B4-BE49-F238E27FC236}">
                <a16:creationId xmlns:a16="http://schemas.microsoft.com/office/drawing/2014/main" id="{4FA09604-13A4-42D1-891F-CA1FA1CE9F97}"/>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What is the smallest whole number that rounds to 88,000 to the nearest 1,000?</a:t>
            </a:r>
          </a:p>
        </p:txBody>
      </p:sp>
      <p:sp>
        <p:nvSpPr>
          <p:cNvPr id="3" name="object-3">
            <a:extLst>
              <a:ext uri="{FF2B5EF4-FFF2-40B4-BE49-F238E27FC236}">
                <a16:creationId xmlns:a16="http://schemas.microsoft.com/office/drawing/2014/main" id="{21A115AB-D86B-4198-BF8F-2044ECCDBDA4}"/>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2EFDBEAB-EB3B-4961-8845-172457FC9766}"/>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Reason about rounding boundaries</a:t>
            </a:r>
          </a:p>
        </p:txBody>
      </p:sp>
      <p:sp>
        <p:nvSpPr>
          <p:cNvPr id="5" name="object-5">
            <a:extLst>
              <a:ext uri="{FF2B5EF4-FFF2-40B4-BE49-F238E27FC236}">
                <a16:creationId xmlns:a16="http://schemas.microsoft.com/office/drawing/2014/main" id="{7D663442-59E9-4D9A-B74A-4652645551EE}"/>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4</a:t>
            </a:r>
          </a:p>
        </p:txBody>
      </p:sp>
      <p:sp>
        <p:nvSpPr>
          <p:cNvPr id="6" name="object-6">
            <a:extLst>
              <a:ext uri="{FF2B5EF4-FFF2-40B4-BE49-F238E27FC236}">
                <a16:creationId xmlns:a16="http://schemas.microsoft.com/office/drawing/2014/main" id="{8068C46B-3C31-40EB-AD66-3A8C035EC34A}"/>
              </a:ext>
            </a:extLst>
          </p:cNvPr>
          <p:cNvSpPr>
            <a:spLocks noGrp="1"/>
          </p:cNvSpPr>
          <p:nvPr/>
        </p:nvSpPr>
        <p:spPr>
          <a:xfrm>
            <a:off x="2024063" y="4524375"/>
            <a:ext cx="10953750" cy="35719"/>
          </a:xfrm>
          <a:prstGeom prst="rect">
            <a:avLst/>
          </a:prstGeom>
          <a:solidFill>
            <a:srgbClr val="172B4D"/>
          </a:solidFill>
          <a:ln w="0">
            <a:noFill/>
          </a:ln>
        </p:spPr>
      </p:sp>
      <p:sp>
        <p:nvSpPr>
          <p:cNvPr id="7" name="object-7">
            <a:extLst>
              <a:ext uri="{FF2B5EF4-FFF2-40B4-BE49-F238E27FC236}">
                <a16:creationId xmlns:a16="http://schemas.microsoft.com/office/drawing/2014/main" id="{4FDFC0C7-28AD-4355-B576-8A5FF7F9AFA4}"/>
              </a:ext>
            </a:extLst>
          </p:cNvPr>
          <p:cNvSpPr>
            <a:spLocks noGrp="1"/>
          </p:cNvSpPr>
          <p:nvPr/>
        </p:nvSpPr>
        <p:spPr>
          <a:xfrm>
            <a:off x="2024063" y="4310063"/>
            <a:ext cx="0" cy="440531"/>
          </a:xfrm>
          <a:prstGeom prst="line">
            <a:avLst/>
          </a:prstGeom>
          <a:noFill/>
          <a:ln w="35719">
            <a:solidFill>
              <a:srgbClr val="172B4D"/>
            </a:solidFill>
          </a:ln>
        </p:spPr>
      </p:sp>
      <p:sp>
        <p:nvSpPr>
          <p:cNvPr id="8" name="object-8">
            <a:extLst>
              <a:ext uri="{FF2B5EF4-FFF2-40B4-BE49-F238E27FC236}">
                <a16:creationId xmlns:a16="http://schemas.microsoft.com/office/drawing/2014/main" id="{52621FB2-AD2D-4209-9C6B-6398E2AE6966}"/>
              </a:ext>
            </a:extLst>
          </p:cNvPr>
          <p:cNvSpPr>
            <a:spLocks noGrp="1"/>
          </p:cNvSpPr>
          <p:nvPr/>
        </p:nvSpPr>
        <p:spPr>
          <a:xfrm>
            <a:off x="297656" y="4941094"/>
            <a:ext cx="3452813" cy="654844"/>
          </a:xfrm>
          <a:prstGeom prst="rect">
            <a:avLst/>
          </a:prstGeom>
          <a:noFill/>
          <a:ln w="0">
            <a:noFill/>
          </a:ln>
        </p:spPr>
        <p:txBody>
          <a:bodyPr anchor="ctr">
            <a:noAutofit/>
          </a:bodyPr>
          <a:lstStyle/>
          <a:p>
            <a:pPr algn="ctr">
              <a:defRPr sz="2625" b="1">
                <a:solidFill>
                  <a:srgbClr val="172B4D"/>
                </a:solidFill>
                <a:latin typeface="Arial"/>
                <a:ea typeface="Arial"/>
                <a:cs typeface="Arial"/>
              </a:defRPr>
            </a:pPr>
            <a:r>
              <a:rPr sz="2625" b="1">
                <a:solidFill>
                  <a:srgbClr val="172B4D"/>
                </a:solidFill>
                <a:latin typeface="Arial"/>
                <a:ea typeface="Arial"/>
                <a:cs typeface="Arial"/>
              </a:rPr>
              <a:t>87,000</a:t>
            </a:r>
          </a:p>
        </p:txBody>
      </p:sp>
      <p:sp>
        <p:nvSpPr>
          <p:cNvPr id="9" name="object-9">
            <a:extLst>
              <a:ext uri="{FF2B5EF4-FFF2-40B4-BE49-F238E27FC236}">
                <a16:creationId xmlns:a16="http://schemas.microsoft.com/office/drawing/2014/main" id="{7D15202D-4329-471B-AC7E-20F56264BF4C}"/>
              </a:ext>
            </a:extLst>
          </p:cNvPr>
          <p:cNvSpPr>
            <a:spLocks noGrp="1"/>
          </p:cNvSpPr>
          <p:nvPr/>
        </p:nvSpPr>
        <p:spPr>
          <a:xfrm>
            <a:off x="7500938" y="4310063"/>
            <a:ext cx="0" cy="440531"/>
          </a:xfrm>
          <a:prstGeom prst="line">
            <a:avLst/>
          </a:prstGeom>
          <a:noFill/>
          <a:ln w="35719">
            <a:solidFill>
              <a:srgbClr val="172B4D"/>
            </a:solidFill>
          </a:ln>
        </p:spPr>
      </p:sp>
      <p:sp>
        <p:nvSpPr>
          <p:cNvPr id="10" name="object-10">
            <a:extLst>
              <a:ext uri="{FF2B5EF4-FFF2-40B4-BE49-F238E27FC236}">
                <a16:creationId xmlns:a16="http://schemas.microsoft.com/office/drawing/2014/main" id="{A81337AB-1B25-42CB-8BC6-82F22D253A57}"/>
              </a:ext>
            </a:extLst>
          </p:cNvPr>
          <p:cNvSpPr>
            <a:spLocks noGrp="1"/>
          </p:cNvSpPr>
          <p:nvPr/>
        </p:nvSpPr>
        <p:spPr>
          <a:xfrm>
            <a:off x="5774531" y="4941094"/>
            <a:ext cx="3452813" cy="654844"/>
          </a:xfrm>
          <a:prstGeom prst="rect">
            <a:avLst/>
          </a:prstGeom>
          <a:noFill/>
          <a:ln w="0">
            <a:noFill/>
          </a:ln>
        </p:spPr>
        <p:txBody>
          <a:bodyPr anchor="ctr">
            <a:noAutofit/>
          </a:bodyPr>
          <a:lstStyle/>
          <a:p>
            <a:pPr algn="ctr">
              <a:defRPr sz="2625" b="1">
                <a:solidFill>
                  <a:srgbClr val="172B4D"/>
                </a:solidFill>
                <a:latin typeface="Arial"/>
                <a:ea typeface="Arial"/>
                <a:cs typeface="Arial"/>
              </a:defRPr>
            </a:pPr>
            <a:r>
              <a:rPr sz="2625" b="1">
                <a:solidFill>
                  <a:srgbClr val="172B4D"/>
                </a:solidFill>
                <a:latin typeface="Arial"/>
                <a:ea typeface="Arial"/>
                <a:cs typeface="Arial"/>
              </a:rPr>
              <a:t>87,500</a:t>
            </a:r>
          </a:p>
        </p:txBody>
      </p:sp>
      <p:sp>
        <p:nvSpPr>
          <p:cNvPr id="11" name="object-11">
            <a:extLst>
              <a:ext uri="{FF2B5EF4-FFF2-40B4-BE49-F238E27FC236}">
                <a16:creationId xmlns:a16="http://schemas.microsoft.com/office/drawing/2014/main" id="{44117FB6-07FB-49E4-ABA9-238BE5CD3DE7}"/>
              </a:ext>
            </a:extLst>
          </p:cNvPr>
          <p:cNvSpPr>
            <a:spLocks noGrp="1"/>
          </p:cNvSpPr>
          <p:nvPr/>
        </p:nvSpPr>
        <p:spPr>
          <a:xfrm>
            <a:off x="12977813" y="4310063"/>
            <a:ext cx="0" cy="440531"/>
          </a:xfrm>
          <a:prstGeom prst="line">
            <a:avLst/>
          </a:prstGeom>
          <a:noFill/>
          <a:ln w="35719">
            <a:solidFill>
              <a:srgbClr val="172B4D"/>
            </a:solidFill>
          </a:ln>
        </p:spPr>
      </p:sp>
      <p:sp>
        <p:nvSpPr>
          <p:cNvPr id="12" name="object-12">
            <a:extLst>
              <a:ext uri="{FF2B5EF4-FFF2-40B4-BE49-F238E27FC236}">
                <a16:creationId xmlns:a16="http://schemas.microsoft.com/office/drawing/2014/main" id="{D9182B7C-2596-4FD3-8780-5CA5743BC132}"/>
              </a:ext>
            </a:extLst>
          </p:cNvPr>
          <p:cNvSpPr>
            <a:spLocks noGrp="1"/>
          </p:cNvSpPr>
          <p:nvPr/>
        </p:nvSpPr>
        <p:spPr>
          <a:xfrm>
            <a:off x="11251406" y="4941094"/>
            <a:ext cx="3452813" cy="654844"/>
          </a:xfrm>
          <a:prstGeom prst="rect">
            <a:avLst/>
          </a:prstGeom>
          <a:noFill/>
          <a:ln w="0">
            <a:noFill/>
          </a:ln>
        </p:spPr>
        <p:txBody>
          <a:bodyPr anchor="ctr">
            <a:noAutofit/>
          </a:bodyPr>
          <a:lstStyle/>
          <a:p>
            <a:pPr algn="ctr">
              <a:defRPr sz="2625" b="1">
                <a:solidFill>
                  <a:srgbClr val="172B4D"/>
                </a:solidFill>
                <a:latin typeface="Arial"/>
                <a:ea typeface="Arial"/>
                <a:cs typeface="Arial"/>
              </a:defRPr>
            </a:pPr>
            <a:r>
              <a:rPr sz="2625" b="1">
                <a:solidFill>
                  <a:srgbClr val="172B4D"/>
                </a:solidFill>
                <a:latin typeface="Arial"/>
                <a:ea typeface="Arial"/>
                <a:cs typeface="Arial"/>
              </a:rPr>
              <a:t>88,000</a:t>
            </a:r>
          </a:p>
        </p:txBody>
      </p:sp>
      <p:sp>
        <p:nvSpPr>
          <p:cNvPr id="13" name="object-13">
            <a:extLst>
              <a:ext uri="{FF2B5EF4-FFF2-40B4-BE49-F238E27FC236}">
                <a16:creationId xmlns:a16="http://schemas.microsoft.com/office/drawing/2014/main" id="{C19811B5-D981-43E1-8000-204FE0518A00}"/>
              </a:ext>
            </a:extLst>
          </p:cNvPr>
          <p:cNvSpPr>
            <a:spLocks noGrp="1"/>
          </p:cNvSpPr>
          <p:nvPr/>
        </p:nvSpPr>
        <p:spPr>
          <a:xfrm>
            <a:off x="5893594" y="5715000"/>
            <a:ext cx="3214688" cy="535781"/>
          </a:xfrm>
          <a:prstGeom prst="rect">
            <a:avLst/>
          </a:prstGeom>
          <a:noFill/>
          <a:ln w="0">
            <a:noFill/>
          </a:ln>
        </p:spPr>
        <p:txBody>
          <a:bodyPr anchor="ctr">
            <a:noAutofit/>
          </a:bodyPr>
          <a:lstStyle/>
          <a:p>
            <a:pPr algn="ctr">
              <a:defRPr sz="2625" b="0">
                <a:solidFill>
                  <a:srgbClr val="52647A"/>
                </a:solidFill>
                <a:latin typeface="Arial"/>
                <a:ea typeface="Arial"/>
                <a:cs typeface="Arial"/>
              </a:defRPr>
            </a:pPr>
            <a:r>
              <a:rPr sz="2625" b="0">
                <a:solidFill>
                  <a:srgbClr val="52647A"/>
                </a:solidFill>
                <a:latin typeface="Arial"/>
                <a:ea typeface="Arial"/>
                <a:cs typeface="Arial"/>
              </a:rPr>
              <a:t>halfway</a:t>
            </a:r>
          </a:p>
        </p:txBody>
      </p:sp>
      <p:sp>
        <p:nvSpPr>
          <p:cNvPr id="14" name="object-14">
            <a:extLst>
              <a:ext uri="{FF2B5EF4-FFF2-40B4-BE49-F238E27FC236}">
                <a16:creationId xmlns:a16="http://schemas.microsoft.com/office/drawing/2014/main" id="{A330A274-723A-4620-91CF-8F3FD8BADE4D}"/>
              </a:ext>
            </a:extLst>
          </p:cNvPr>
          <p:cNvSpPr>
            <a:spLocks noGrp="1"/>
          </p:cNvSpPr>
          <p:nvPr/>
        </p:nvSpPr>
        <p:spPr>
          <a:xfrm>
            <a:off x="1785938" y="3274219"/>
            <a:ext cx="357188" cy="357188"/>
          </a:xfrm>
          <a:prstGeom prst="ellipse">
            <a:avLst/>
          </a:prstGeom>
          <a:solidFill>
            <a:srgbClr val="1D4ED8"/>
          </a:solidFill>
          <a:ln w="11906">
            <a:solidFill>
              <a:srgbClr val="172B4D"/>
            </a:solidFill>
          </a:ln>
        </p:spPr>
      </p:sp>
      <p:sp>
        <p:nvSpPr>
          <p:cNvPr id="15" name="object-15">
            <a:extLst>
              <a:ext uri="{FF2B5EF4-FFF2-40B4-BE49-F238E27FC236}">
                <a16:creationId xmlns:a16="http://schemas.microsoft.com/office/drawing/2014/main" id="{82253BEF-2D46-485E-AEA7-D02D0DE5FAE6}"/>
              </a:ext>
            </a:extLst>
          </p:cNvPr>
          <p:cNvSpPr>
            <a:spLocks noGrp="1"/>
          </p:cNvSpPr>
          <p:nvPr/>
        </p:nvSpPr>
        <p:spPr>
          <a:xfrm>
            <a:off x="5595938" y="3036094"/>
            <a:ext cx="3810000" cy="654844"/>
          </a:xfrm>
          <a:prstGeom prst="rect">
            <a:avLst/>
          </a:prstGeom>
          <a:noFill/>
          <a:ln w="0">
            <a:noFill/>
          </a:ln>
        </p:spPr>
        <p:txBody>
          <a:bodyPr anchor="ctr">
            <a:noAutofit/>
          </a:bodyPr>
          <a:lstStyle/>
          <a:p>
            <a:pPr algn="ctr">
              <a:defRPr sz="3000" b="1">
                <a:solidFill>
                  <a:srgbClr val="1D4ED8"/>
                </a:solidFill>
                <a:latin typeface="Arial"/>
                <a:ea typeface="Arial"/>
                <a:cs typeface="Arial"/>
              </a:defRPr>
            </a:pPr>
            <a:r>
              <a:rPr sz="3000" b="1">
                <a:solidFill>
                  <a:srgbClr val="1D4ED8"/>
                </a:solidFill>
                <a:latin typeface="Arial"/>
                <a:ea typeface="Arial"/>
                <a:cs typeface="Arial"/>
              </a:rPr>
              <a:t>87,500</a:t>
            </a:r>
          </a:p>
        </p:txBody>
      </p:sp>
      <p:sp>
        <p:nvSpPr>
          <p:cNvPr id="16" name="object-16">
            <a:extLst>
              <a:ext uri="{FF2B5EF4-FFF2-40B4-BE49-F238E27FC236}">
                <a16:creationId xmlns:a16="http://schemas.microsoft.com/office/drawing/2014/main" id="{84CB9759-76F6-445C-85F0-16D803368E56}"/>
              </a:ext>
            </a:extLst>
          </p:cNvPr>
          <p:cNvSpPr>
            <a:spLocks noGrp="1"/>
          </p:cNvSpPr>
          <p:nvPr/>
        </p:nvSpPr>
        <p:spPr>
          <a:xfrm>
            <a:off x="892969" y="6965156"/>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The boundary is 87,500.</a:t>
            </a:r>
          </a:p>
        </p:txBody>
      </p:sp>
    </p:spTree>
    <p:extLst>
      <p:ext uri="{BB962C8B-B14F-4D97-AF65-F5344CB8AC3E}">
        <p14:creationId xmlns:p14="http://schemas.microsoft.com/office/powerpoint/2010/main" val="1107495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nodeType="clickEffect">
                                  <p:stCondLst>
                                    <p:cond delay="0"/>
                                  </p:stCondLst>
                                  <p:childTnLst>
                                    <p:animMotion origin="layout" path="M 0 0 L 0.36328125 0.1 E" pathEditMode="relative" ptsTypes="">
                                      <p:cBhvr>
                                        <p:cTn id="10" dur="800" fill="hold"/>
                                        <p:tgtEl>
                                          <p:spTgt spid="14"/>
                                        </p:tgtEl>
                                        <p:attrNameLst>
                                          <p:attrName>ppt_x</p:attrName>
                                          <p:attrName>ppt_y</p:attrName>
                                        </p:attrNameLst>
                                      </p:cBhvr>
                                    </p:animMotion>
                                  </p:childTnLst>
                                </p:cTn>
                              </p:par>
                            </p:childTnLst>
                          </p:cTn>
                        </p:par>
                        <p:par>
                          <p:cTn id="11" fill="hold">
                            <p:stCondLst>
                              <p:cond delay="800"/>
                            </p:stCondLst>
                            <p:childTnLst>
                              <p:par>
                                <p:cTn id="12" presetID="1" presetClass="entr" presetSubtype="0" fill="hold" grpId="0" nodeType="afterEffect">
                                  <p:stCondLst>
                                    <p:cond delay="0"/>
                                  </p:stCondLst>
                                  <p:childTnLst>
                                    <p:set>
                                      <p:cBhvr>
                                        <p:cTn id="13" dur="1" fill="hold">
                                          <p:stCondLst>
                                            <p:cond delay="0"/>
                                          </p:stCondLst>
                                        </p:cTn>
                                        <p:tgtEl>
                                          <p:spTgt spid="15"/>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P spid="16"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object-1">
            <a:extLst>
              <a:ext uri="{FF2B5EF4-FFF2-40B4-BE49-F238E27FC236}">
                <a16:creationId xmlns:a16="http://schemas.microsoft.com/office/drawing/2014/main" id="{28DF4832-CA36-476A-8943-DF869DD4B591}"/>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51A42C68-FD52-45E2-A217-04DE41C1EAA3}"/>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8D0D0F96-BCC2-470E-8897-F44997281686}"/>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What is the smallest whole number that rounds to 89,000 to the nearest 1,000?</a:t>
            </a:r>
          </a:p>
        </p:txBody>
      </p:sp>
      <p:sp>
        <p:nvSpPr>
          <p:cNvPr id="4" name="object-4">
            <a:extLst>
              <a:ext uri="{FF2B5EF4-FFF2-40B4-BE49-F238E27FC236}">
                <a16:creationId xmlns:a16="http://schemas.microsoft.com/office/drawing/2014/main" id="{E04A4F46-B3BC-4131-8AED-4B8105553264}"/>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CDA75D5A-2D80-429C-9DD9-7A7F444458BE}"/>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Reason about rounding boundaries</a:t>
            </a:r>
          </a:p>
        </p:txBody>
      </p:sp>
      <p:sp>
        <p:nvSpPr>
          <p:cNvPr id="6" name="object-6">
            <a:extLst>
              <a:ext uri="{FF2B5EF4-FFF2-40B4-BE49-F238E27FC236}">
                <a16:creationId xmlns:a16="http://schemas.microsoft.com/office/drawing/2014/main" id="{401C78DD-5E90-4A98-9387-C70ACD529DDE}"/>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5</a:t>
            </a:r>
          </a:p>
        </p:txBody>
      </p:sp>
      <p:sp>
        <p:nvSpPr>
          <p:cNvPr id="7" name="object-7">
            <a:extLst>
              <a:ext uri="{FF2B5EF4-FFF2-40B4-BE49-F238E27FC236}">
                <a16:creationId xmlns:a16="http://schemas.microsoft.com/office/drawing/2014/main" id="{D974C7DD-FA75-43B1-A483-ACC9AD153C07}"/>
              </a:ext>
            </a:extLst>
          </p:cNvPr>
          <p:cNvSpPr>
            <a:spLocks noGrp="1"/>
          </p:cNvSpPr>
          <p:nvPr/>
        </p:nvSpPr>
        <p:spPr>
          <a:xfrm>
            <a:off x="2024063" y="4524375"/>
            <a:ext cx="10953750" cy="35719"/>
          </a:xfrm>
          <a:prstGeom prst="rect">
            <a:avLst/>
          </a:prstGeom>
          <a:solidFill>
            <a:srgbClr val="172B4D"/>
          </a:solidFill>
          <a:ln w="0">
            <a:noFill/>
          </a:ln>
        </p:spPr>
      </p:sp>
      <p:sp>
        <p:nvSpPr>
          <p:cNvPr id="8" name="object-8">
            <a:extLst>
              <a:ext uri="{FF2B5EF4-FFF2-40B4-BE49-F238E27FC236}">
                <a16:creationId xmlns:a16="http://schemas.microsoft.com/office/drawing/2014/main" id="{2736C99A-5D53-496C-8E72-80B01FE90168}"/>
              </a:ext>
            </a:extLst>
          </p:cNvPr>
          <p:cNvSpPr>
            <a:spLocks noGrp="1"/>
          </p:cNvSpPr>
          <p:nvPr/>
        </p:nvSpPr>
        <p:spPr>
          <a:xfrm>
            <a:off x="2024063" y="4310063"/>
            <a:ext cx="0" cy="440531"/>
          </a:xfrm>
          <a:prstGeom prst="line">
            <a:avLst/>
          </a:prstGeom>
          <a:noFill/>
          <a:ln w="35719">
            <a:solidFill>
              <a:srgbClr val="172B4D"/>
            </a:solidFill>
          </a:ln>
        </p:spPr>
      </p:sp>
      <p:sp>
        <p:nvSpPr>
          <p:cNvPr id="9" name="object-9">
            <a:extLst>
              <a:ext uri="{FF2B5EF4-FFF2-40B4-BE49-F238E27FC236}">
                <a16:creationId xmlns:a16="http://schemas.microsoft.com/office/drawing/2014/main" id="{A50D4087-057E-4606-922B-71877D2B9C90}"/>
              </a:ext>
            </a:extLst>
          </p:cNvPr>
          <p:cNvSpPr>
            <a:spLocks noGrp="1"/>
          </p:cNvSpPr>
          <p:nvPr/>
        </p:nvSpPr>
        <p:spPr>
          <a:xfrm>
            <a:off x="297656" y="4941094"/>
            <a:ext cx="3452813" cy="654844"/>
          </a:xfrm>
          <a:prstGeom prst="rect">
            <a:avLst/>
          </a:prstGeom>
          <a:noFill/>
          <a:ln w="0">
            <a:noFill/>
          </a:ln>
        </p:spPr>
        <p:txBody>
          <a:bodyPr anchor="ctr">
            <a:noAutofit/>
          </a:bodyPr>
          <a:lstStyle/>
          <a:p>
            <a:pPr algn="ctr">
              <a:defRPr sz="2625" b="1">
                <a:solidFill>
                  <a:srgbClr val="172B4D"/>
                </a:solidFill>
                <a:latin typeface="Arial"/>
                <a:ea typeface="Arial"/>
                <a:cs typeface="Arial"/>
              </a:defRPr>
            </a:pPr>
            <a:r>
              <a:rPr sz="2625" b="1">
                <a:solidFill>
                  <a:srgbClr val="172B4D"/>
                </a:solidFill>
                <a:latin typeface="Arial"/>
                <a:ea typeface="Arial"/>
                <a:cs typeface="Arial"/>
              </a:rPr>
              <a:t>88,000</a:t>
            </a:r>
          </a:p>
        </p:txBody>
      </p:sp>
      <p:sp>
        <p:nvSpPr>
          <p:cNvPr id="10" name="object-10">
            <a:extLst>
              <a:ext uri="{FF2B5EF4-FFF2-40B4-BE49-F238E27FC236}">
                <a16:creationId xmlns:a16="http://schemas.microsoft.com/office/drawing/2014/main" id="{2B9B9DD4-1D18-4CF3-90B2-8E0183DBDE21}"/>
              </a:ext>
            </a:extLst>
          </p:cNvPr>
          <p:cNvSpPr>
            <a:spLocks noGrp="1"/>
          </p:cNvSpPr>
          <p:nvPr/>
        </p:nvSpPr>
        <p:spPr>
          <a:xfrm>
            <a:off x="7500938" y="4310063"/>
            <a:ext cx="0" cy="440531"/>
          </a:xfrm>
          <a:prstGeom prst="line">
            <a:avLst/>
          </a:prstGeom>
          <a:noFill/>
          <a:ln w="35719">
            <a:solidFill>
              <a:srgbClr val="172B4D"/>
            </a:solidFill>
          </a:ln>
        </p:spPr>
      </p:sp>
      <p:sp>
        <p:nvSpPr>
          <p:cNvPr id="11" name="object-11">
            <a:extLst>
              <a:ext uri="{FF2B5EF4-FFF2-40B4-BE49-F238E27FC236}">
                <a16:creationId xmlns:a16="http://schemas.microsoft.com/office/drawing/2014/main" id="{5A7E9160-1D49-4427-8066-911DF82B6FDD}"/>
              </a:ext>
            </a:extLst>
          </p:cNvPr>
          <p:cNvSpPr>
            <a:spLocks noGrp="1"/>
          </p:cNvSpPr>
          <p:nvPr/>
        </p:nvSpPr>
        <p:spPr>
          <a:xfrm>
            <a:off x="5774531" y="4941094"/>
            <a:ext cx="3452813" cy="654844"/>
          </a:xfrm>
          <a:prstGeom prst="rect">
            <a:avLst/>
          </a:prstGeom>
          <a:noFill/>
          <a:ln w="0">
            <a:noFill/>
          </a:ln>
        </p:spPr>
        <p:txBody>
          <a:bodyPr anchor="ctr">
            <a:noAutofit/>
          </a:bodyPr>
          <a:lstStyle/>
          <a:p>
            <a:pPr algn="ctr">
              <a:defRPr sz="2625" b="1">
                <a:solidFill>
                  <a:srgbClr val="172B4D"/>
                </a:solidFill>
                <a:latin typeface="Arial"/>
                <a:ea typeface="Arial"/>
                <a:cs typeface="Arial"/>
              </a:defRPr>
            </a:pPr>
            <a:r>
              <a:rPr sz="2625" b="1">
                <a:solidFill>
                  <a:srgbClr val="172B4D"/>
                </a:solidFill>
                <a:latin typeface="Arial"/>
                <a:ea typeface="Arial"/>
                <a:cs typeface="Arial"/>
              </a:rPr>
              <a:t>88,500</a:t>
            </a:r>
          </a:p>
        </p:txBody>
      </p:sp>
      <p:sp>
        <p:nvSpPr>
          <p:cNvPr id="12" name="object-12">
            <a:extLst>
              <a:ext uri="{FF2B5EF4-FFF2-40B4-BE49-F238E27FC236}">
                <a16:creationId xmlns:a16="http://schemas.microsoft.com/office/drawing/2014/main" id="{41B83A0F-4A39-48AC-A56A-BF8C1B8CE306}"/>
              </a:ext>
            </a:extLst>
          </p:cNvPr>
          <p:cNvSpPr>
            <a:spLocks noGrp="1"/>
          </p:cNvSpPr>
          <p:nvPr/>
        </p:nvSpPr>
        <p:spPr>
          <a:xfrm>
            <a:off x="12977813" y="4310063"/>
            <a:ext cx="0" cy="440531"/>
          </a:xfrm>
          <a:prstGeom prst="line">
            <a:avLst/>
          </a:prstGeom>
          <a:noFill/>
          <a:ln w="35719">
            <a:solidFill>
              <a:srgbClr val="172B4D"/>
            </a:solidFill>
          </a:ln>
        </p:spPr>
      </p:sp>
      <p:sp>
        <p:nvSpPr>
          <p:cNvPr id="13" name="object-13">
            <a:extLst>
              <a:ext uri="{FF2B5EF4-FFF2-40B4-BE49-F238E27FC236}">
                <a16:creationId xmlns:a16="http://schemas.microsoft.com/office/drawing/2014/main" id="{3533B454-D34B-4EEB-A591-105DD82AF897}"/>
              </a:ext>
            </a:extLst>
          </p:cNvPr>
          <p:cNvSpPr>
            <a:spLocks noGrp="1"/>
          </p:cNvSpPr>
          <p:nvPr/>
        </p:nvSpPr>
        <p:spPr>
          <a:xfrm>
            <a:off x="11251406" y="4941094"/>
            <a:ext cx="3452813" cy="654844"/>
          </a:xfrm>
          <a:prstGeom prst="rect">
            <a:avLst/>
          </a:prstGeom>
          <a:noFill/>
          <a:ln w="0">
            <a:noFill/>
          </a:ln>
        </p:spPr>
        <p:txBody>
          <a:bodyPr anchor="ctr">
            <a:noAutofit/>
          </a:bodyPr>
          <a:lstStyle/>
          <a:p>
            <a:pPr algn="ctr">
              <a:defRPr sz="2625" b="1">
                <a:solidFill>
                  <a:srgbClr val="172B4D"/>
                </a:solidFill>
                <a:latin typeface="Arial"/>
                <a:ea typeface="Arial"/>
                <a:cs typeface="Arial"/>
              </a:defRPr>
            </a:pPr>
            <a:r>
              <a:rPr sz="2625" b="1">
                <a:solidFill>
                  <a:srgbClr val="172B4D"/>
                </a:solidFill>
                <a:latin typeface="Arial"/>
                <a:ea typeface="Arial"/>
                <a:cs typeface="Arial"/>
              </a:rPr>
              <a:t>89,000</a:t>
            </a:r>
          </a:p>
        </p:txBody>
      </p:sp>
      <p:sp>
        <p:nvSpPr>
          <p:cNvPr id="14" name="object-14">
            <a:extLst>
              <a:ext uri="{FF2B5EF4-FFF2-40B4-BE49-F238E27FC236}">
                <a16:creationId xmlns:a16="http://schemas.microsoft.com/office/drawing/2014/main" id="{24010F9A-463E-4CFC-8BE6-CF2696483658}"/>
              </a:ext>
            </a:extLst>
          </p:cNvPr>
          <p:cNvSpPr>
            <a:spLocks noGrp="1"/>
          </p:cNvSpPr>
          <p:nvPr/>
        </p:nvSpPr>
        <p:spPr>
          <a:xfrm>
            <a:off x="5893594" y="5715000"/>
            <a:ext cx="3214688" cy="535781"/>
          </a:xfrm>
          <a:prstGeom prst="rect">
            <a:avLst/>
          </a:prstGeom>
          <a:noFill/>
          <a:ln w="0">
            <a:noFill/>
          </a:ln>
        </p:spPr>
        <p:txBody>
          <a:bodyPr anchor="ctr">
            <a:noAutofit/>
          </a:bodyPr>
          <a:lstStyle/>
          <a:p>
            <a:pPr algn="ctr">
              <a:defRPr sz="2625" b="0">
                <a:solidFill>
                  <a:srgbClr val="52647A"/>
                </a:solidFill>
                <a:latin typeface="Arial"/>
                <a:ea typeface="Arial"/>
                <a:cs typeface="Arial"/>
              </a:defRPr>
            </a:pPr>
            <a:r>
              <a:rPr sz="2625" b="0">
                <a:solidFill>
                  <a:srgbClr val="52647A"/>
                </a:solidFill>
                <a:latin typeface="Arial"/>
                <a:ea typeface="Arial"/>
                <a:cs typeface="Arial"/>
              </a:rPr>
              <a:t>halfway</a:t>
            </a:r>
          </a:p>
        </p:txBody>
      </p:sp>
      <p:sp>
        <p:nvSpPr>
          <p:cNvPr id="15" name="object-15">
            <a:extLst>
              <a:ext uri="{FF2B5EF4-FFF2-40B4-BE49-F238E27FC236}">
                <a16:creationId xmlns:a16="http://schemas.microsoft.com/office/drawing/2014/main" id="{1F0CBD44-B542-4D53-8B62-0128419B63D7}"/>
              </a:ext>
            </a:extLst>
          </p:cNvPr>
          <p:cNvSpPr>
            <a:spLocks noGrp="1"/>
          </p:cNvSpPr>
          <p:nvPr/>
        </p:nvSpPr>
        <p:spPr>
          <a:xfrm>
            <a:off x="1785938" y="3274219"/>
            <a:ext cx="357188" cy="357188"/>
          </a:xfrm>
          <a:prstGeom prst="ellipse">
            <a:avLst/>
          </a:prstGeom>
          <a:solidFill>
            <a:srgbClr val="1D4ED8"/>
          </a:solidFill>
          <a:ln w="11906">
            <a:solidFill>
              <a:srgbClr val="172B4D"/>
            </a:solidFill>
          </a:ln>
        </p:spPr>
      </p:sp>
      <p:sp>
        <p:nvSpPr>
          <p:cNvPr id="16" name="object-16">
            <a:extLst>
              <a:ext uri="{FF2B5EF4-FFF2-40B4-BE49-F238E27FC236}">
                <a16:creationId xmlns:a16="http://schemas.microsoft.com/office/drawing/2014/main" id="{7CB30138-C02F-4004-9839-F3CAC0EE75F6}"/>
              </a:ext>
            </a:extLst>
          </p:cNvPr>
          <p:cNvSpPr>
            <a:spLocks noGrp="1"/>
          </p:cNvSpPr>
          <p:nvPr/>
        </p:nvSpPr>
        <p:spPr>
          <a:xfrm>
            <a:off x="5595938" y="3036094"/>
            <a:ext cx="3810000" cy="654844"/>
          </a:xfrm>
          <a:prstGeom prst="rect">
            <a:avLst/>
          </a:prstGeom>
          <a:noFill/>
          <a:ln w="0">
            <a:noFill/>
          </a:ln>
        </p:spPr>
        <p:txBody>
          <a:bodyPr anchor="ctr">
            <a:noAutofit/>
          </a:bodyPr>
          <a:lstStyle/>
          <a:p>
            <a:pPr algn="ctr">
              <a:defRPr sz="3000" b="1">
                <a:solidFill>
                  <a:srgbClr val="1D4ED8"/>
                </a:solidFill>
                <a:latin typeface="Arial"/>
                <a:ea typeface="Arial"/>
                <a:cs typeface="Arial"/>
              </a:defRPr>
            </a:pPr>
            <a:r>
              <a:rPr sz="3000" b="1">
                <a:solidFill>
                  <a:srgbClr val="1D4ED8"/>
                </a:solidFill>
                <a:latin typeface="Arial"/>
                <a:ea typeface="Arial"/>
                <a:cs typeface="Arial"/>
              </a:rPr>
              <a:t>88,500</a:t>
            </a:r>
          </a:p>
        </p:txBody>
      </p:sp>
      <p:sp>
        <p:nvSpPr>
          <p:cNvPr id="17" name="object-17">
            <a:extLst>
              <a:ext uri="{FF2B5EF4-FFF2-40B4-BE49-F238E27FC236}">
                <a16:creationId xmlns:a16="http://schemas.microsoft.com/office/drawing/2014/main" id="{AF527987-5E9C-4DA7-9960-311E22B51AE1}"/>
              </a:ext>
            </a:extLst>
          </p:cNvPr>
          <p:cNvSpPr>
            <a:spLocks noGrp="1"/>
          </p:cNvSpPr>
          <p:nvPr/>
        </p:nvSpPr>
        <p:spPr>
          <a:xfrm>
            <a:off x="892969" y="6965156"/>
            <a:ext cx="13454063" cy="738188"/>
          </a:xfrm>
          <a:prstGeom prst="rect">
            <a:avLst/>
          </a:prstGeom>
          <a:noFill/>
          <a:ln w="0">
            <a:noFill/>
          </a:ln>
        </p:spPr>
        <p:txBody>
          <a:bodyPr anchor="ctr">
            <a:noAutofit/>
          </a:bodyPr>
          <a:lstStyle/>
          <a:p>
            <a:pPr algn="ctr">
              <a:defRPr sz="2813" b="1">
                <a:solidFill>
                  <a:srgbClr val="11745A"/>
                </a:solidFill>
                <a:latin typeface="Arial"/>
                <a:ea typeface="Arial"/>
                <a:cs typeface="Arial"/>
              </a:defRPr>
            </a:pPr>
            <a:r>
              <a:rPr sz="2813" b="1">
                <a:solidFill>
                  <a:srgbClr val="11745A"/>
                </a:solidFill>
                <a:latin typeface="Arial"/>
                <a:ea typeface="Arial"/>
                <a:cs typeface="Arial"/>
              </a:rPr>
              <a:t>The boundary is 88,500.</a:t>
            </a:r>
          </a:p>
        </p:txBody>
      </p:sp>
    </p:spTree>
    <p:extLst>
      <p:ext uri="{BB962C8B-B14F-4D97-AF65-F5344CB8AC3E}">
        <p14:creationId xmlns:p14="http://schemas.microsoft.com/office/powerpoint/2010/main" val="520562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63" presetClass="path" presetSubtype="0" accel="50000" decel="50000" fill="hold" nodeType="clickEffect">
                                  <p:stCondLst>
                                    <p:cond delay="0"/>
                                  </p:stCondLst>
                                  <p:childTnLst>
                                    <p:animMotion origin="layout" path="M 0 0 L 0.36328125 0.1 E" pathEditMode="relative" ptsTypes="">
                                      <p:cBhvr>
                                        <p:cTn id="10" dur="800" fill="hold"/>
                                        <p:tgtEl>
                                          <p:spTgt spid="15"/>
                                        </p:tgtEl>
                                        <p:attrNameLst>
                                          <p:attrName>ppt_x</p:attrName>
                                          <p:attrName>ppt_y</p:attrName>
                                        </p:attrNameLst>
                                      </p:cBhvr>
                                    </p:animMotion>
                                  </p:childTnLst>
                                </p:cTn>
                              </p:par>
                            </p:childTnLst>
                          </p:cTn>
                        </p:par>
                        <p:par>
                          <p:cTn id="11" fill="hold">
                            <p:stCondLst>
                              <p:cond delay="800"/>
                            </p:stCondLst>
                            <p:childTnLst>
                              <p:par>
                                <p:cTn id="12" presetID="1" presetClass="entr" presetSubtype="0" fill="hold" grpId="0" nodeType="afterEffect">
                                  <p:stCondLst>
                                    <p:cond delay="0"/>
                                  </p:stCondLst>
                                  <p:childTnLst>
                                    <p:set>
                                      <p:cBhvr>
                                        <p:cTn id="13" dur="1" fill="hold">
                                          <p:stCondLst>
                                            <p:cond delay="0"/>
                                          </p:stCondLst>
                                        </p:cTn>
                                        <p:tgtEl>
                                          <p:spTgt spid="1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17"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object-1">
            <a:extLst>
              <a:ext uri="{FF2B5EF4-FFF2-40B4-BE49-F238E27FC236}">
                <a16:creationId xmlns:a16="http://schemas.microsoft.com/office/drawing/2014/main" id="{9BEB9015-A9A2-4779-83A0-73FF649E270A}"/>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You do</a:t>
            </a:r>
          </a:p>
        </p:txBody>
      </p:sp>
      <p:sp>
        <p:nvSpPr>
          <p:cNvPr id="2" name="object-2">
            <a:extLst>
              <a:ext uri="{FF2B5EF4-FFF2-40B4-BE49-F238E27FC236}">
                <a16:creationId xmlns:a16="http://schemas.microsoft.com/office/drawing/2014/main" id="{A8E0B095-6265-41C5-A3E5-0AC13F425B1F}"/>
              </a:ext>
            </a:extLst>
          </p:cNvPr>
          <p:cNvSpPr>
            <a:spLocks noGrp="1"/>
          </p:cNvSpPr>
          <p:nvPr/>
        </p:nvSpPr>
        <p:spPr>
          <a:xfrm>
            <a:off x="11430000" y="476250"/>
            <a:ext cx="3155156" cy="547688"/>
          </a:xfrm>
          <a:prstGeom prst="rect">
            <a:avLst/>
          </a:prstGeom>
          <a:noFill/>
          <a:ln w="0">
            <a:noFill/>
          </a:ln>
        </p:spPr>
        <p:txBody>
          <a:bodyPr anchor="ctr">
            <a:noAutofit/>
          </a:bodyPr>
          <a:lstStyle/>
          <a:p>
            <a:pPr algn="r">
              <a:defRPr sz="2625" b="0">
                <a:solidFill>
                  <a:srgbClr val="52647A"/>
                </a:solidFill>
                <a:latin typeface="Arial"/>
                <a:ea typeface="Arial"/>
                <a:cs typeface="Arial"/>
              </a:defRPr>
            </a:pPr>
            <a:r>
              <a:rPr sz="2625" b="0">
                <a:solidFill>
                  <a:srgbClr val="52647A"/>
                </a:solidFill>
                <a:latin typeface="Arial"/>
                <a:ea typeface="Arial"/>
                <a:cs typeface="Arial"/>
              </a:rPr>
              <a:t>You try.</a:t>
            </a:r>
          </a:p>
        </p:txBody>
      </p:sp>
      <p:sp>
        <p:nvSpPr>
          <p:cNvPr id="3" name="object-3">
            <a:extLst>
              <a:ext uri="{FF2B5EF4-FFF2-40B4-BE49-F238E27FC236}">
                <a16:creationId xmlns:a16="http://schemas.microsoft.com/office/drawing/2014/main" id="{FF3BEB72-A33B-45AC-8C21-AEDB65D545C6}"/>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Try these questions.</a:t>
            </a:r>
          </a:p>
        </p:txBody>
      </p:sp>
      <p:sp>
        <p:nvSpPr>
          <p:cNvPr id="4" name="object-4">
            <a:extLst>
              <a:ext uri="{FF2B5EF4-FFF2-40B4-BE49-F238E27FC236}">
                <a16:creationId xmlns:a16="http://schemas.microsoft.com/office/drawing/2014/main" id="{BF7077FE-DF38-4CCF-BB7F-5C846B4EDE68}"/>
              </a:ext>
            </a:extLst>
          </p:cNvPr>
          <p:cNvSpPr>
            <a:spLocks noGrp="1"/>
          </p:cNvSpPr>
          <p:nvPr/>
        </p:nvSpPr>
        <p:spPr>
          <a:xfrm>
            <a:off x="654844" y="8012906"/>
            <a:ext cx="13930313" cy="11906"/>
          </a:xfrm>
          <a:prstGeom prst="rect">
            <a:avLst/>
          </a:prstGeom>
          <a:solidFill>
            <a:srgbClr val="BCD0EA"/>
          </a:solidFill>
          <a:ln w="0">
            <a:noFill/>
          </a:ln>
        </p:spPr>
      </p:sp>
      <p:sp>
        <p:nvSpPr>
          <p:cNvPr id="5" name="object-5">
            <a:extLst>
              <a:ext uri="{FF2B5EF4-FFF2-40B4-BE49-F238E27FC236}">
                <a16:creationId xmlns:a16="http://schemas.microsoft.com/office/drawing/2014/main" id="{525E8635-5ED0-4FCC-9ED6-0DB7399374E6}"/>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Reason about rounding boundaries</a:t>
            </a:r>
          </a:p>
        </p:txBody>
      </p:sp>
      <p:sp>
        <p:nvSpPr>
          <p:cNvPr id="6" name="object-6">
            <a:extLst>
              <a:ext uri="{FF2B5EF4-FFF2-40B4-BE49-F238E27FC236}">
                <a16:creationId xmlns:a16="http://schemas.microsoft.com/office/drawing/2014/main" id="{2ED98139-661C-4136-A8E5-42F8672FB376}"/>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6</a:t>
            </a:r>
          </a:p>
        </p:txBody>
      </p:sp>
      <p:sp>
        <p:nvSpPr>
          <p:cNvPr id="7" name="object-7">
            <a:extLst>
              <a:ext uri="{FF2B5EF4-FFF2-40B4-BE49-F238E27FC236}">
                <a16:creationId xmlns:a16="http://schemas.microsoft.com/office/drawing/2014/main" id="{5DFF2338-E9E6-4D6C-8138-7C083DE146AA}"/>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8" name="object-8">
            <a:extLst>
              <a:ext uri="{FF2B5EF4-FFF2-40B4-BE49-F238E27FC236}">
                <a16:creationId xmlns:a16="http://schemas.microsoft.com/office/drawing/2014/main" id="{CC7FC96E-E5E8-452F-A9D9-4B124993D9CE}"/>
              </a:ext>
            </a:extLst>
          </p:cNvPr>
          <p:cNvSpPr>
            <a:spLocks noGrp="1"/>
          </p:cNvSpPr>
          <p:nvPr/>
        </p:nvSpPr>
        <p:spPr>
          <a:xfrm>
            <a:off x="1464469" y="2512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What is the smallest whole number that rounds to 86,000 to the nearest 1,000?</a:t>
            </a:r>
          </a:p>
        </p:txBody>
      </p:sp>
      <p:sp>
        <p:nvSpPr>
          <p:cNvPr id="9" name="object-9">
            <a:extLst>
              <a:ext uri="{FF2B5EF4-FFF2-40B4-BE49-F238E27FC236}">
                <a16:creationId xmlns:a16="http://schemas.microsoft.com/office/drawing/2014/main" id="{20C7F27C-6DDC-4667-B830-82CB0EF17577}"/>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10" name="object-10">
            <a:extLst>
              <a:ext uri="{FF2B5EF4-FFF2-40B4-BE49-F238E27FC236}">
                <a16:creationId xmlns:a16="http://schemas.microsoft.com/office/drawing/2014/main" id="{4FCD2D37-B3E5-40B0-A0BD-D9AC25287708}"/>
              </a:ext>
            </a:extLst>
          </p:cNvPr>
          <p:cNvSpPr>
            <a:spLocks noGrp="1"/>
          </p:cNvSpPr>
          <p:nvPr/>
        </p:nvSpPr>
        <p:spPr>
          <a:xfrm>
            <a:off x="1464469" y="35599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A number rounds to 4,300,000 to the nearest 100,000. What is the greatest possible number?</a:t>
            </a:r>
          </a:p>
        </p:txBody>
      </p:sp>
      <p:sp>
        <p:nvSpPr>
          <p:cNvPr id="11" name="object-11">
            <a:extLst>
              <a:ext uri="{FF2B5EF4-FFF2-40B4-BE49-F238E27FC236}">
                <a16:creationId xmlns:a16="http://schemas.microsoft.com/office/drawing/2014/main" id="{07AA4781-66D9-490F-9D50-8BC061C162C4}"/>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2" name="object-12">
            <a:extLst>
              <a:ext uri="{FF2B5EF4-FFF2-40B4-BE49-F238E27FC236}">
                <a16:creationId xmlns:a16="http://schemas.microsoft.com/office/drawing/2014/main" id="{01282C5F-FC61-4418-9292-EAB41CC5C723}"/>
              </a:ext>
            </a:extLst>
          </p:cNvPr>
          <p:cNvSpPr>
            <a:spLocks noGrp="1"/>
          </p:cNvSpPr>
          <p:nvPr/>
        </p:nvSpPr>
        <p:spPr>
          <a:xfrm>
            <a:off x="1464469" y="46077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Is 2,650,000 rounded to the nearest million 3,000,000?</a:t>
            </a:r>
          </a:p>
        </p:txBody>
      </p:sp>
      <p:sp>
        <p:nvSpPr>
          <p:cNvPr id="13" name="object-13">
            <a:extLst>
              <a:ext uri="{FF2B5EF4-FFF2-40B4-BE49-F238E27FC236}">
                <a16:creationId xmlns:a16="http://schemas.microsoft.com/office/drawing/2014/main" id="{56EDFDB2-0759-4C43-86D8-9BB41080C9EB}"/>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4" name="object-14">
            <a:extLst>
              <a:ext uri="{FF2B5EF4-FFF2-40B4-BE49-F238E27FC236}">
                <a16:creationId xmlns:a16="http://schemas.microsoft.com/office/drawing/2014/main" id="{56351242-D538-4C60-8297-7E43056BD923}"/>
              </a:ext>
            </a:extLst>
          </p:cNvPr>
          <p:cNvSpPr>
            <a:spLocks noGrp="1"/>
          </p:cNvSpPr>
          <p:nvPr/>
        </p:nvSpPr>
        <p:spPr>
          <a:xfrm>
            <a:off x="1464469" y="56554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Solve this independently and show every stage: What is the smallest whole number that rounds to 86,000 to the nearest 1,000?</a:t>
            </a:r>
          </a:p>
        </p:txBody>
      </p:sp>
      <p:sp>
        <p:nvSpPr>
          <p:cNvPr id="15" name="object-15">
            <a:extLst>
              <a:ext uri="{FF2B5EF4-FFF2-40B4-BE49-F238E27FC236}">
                <a16:creationId xmlns:a16="http://schemas.microsoft.com/office/drawing/2014/main" id="{2875F6A2-93F8-49AC-B982-ED172CBCF1A8}"/>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6" name="object-16">
            <a:extLst>
              <a:ext uri="{FF2B5EF4-FFF2-40B4-BE49-F238E27FC236}">
                <a16:creationId xmlns:a16="http://schemas.microsoft.com/office/drawing/2014/main" id="{E0B094E1-C837-4D1E-940F-05245A884122}"/>
              </a:ext>
            </a:extLst>
          </p:cNvPr>
          <p:cNvSpPr>
            <a:spLocks noGrp="1"/>
          </p:cNvSpPr>
          <p:nvPr/>
        </p:nvSpPr>
        <p:spPr>
          <a:xfrm>
            <a:off x="1464469" y="6703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Use a second method or representation for: A number rounds to 4,300,000 to the nearest 100,000. What is the greatest possible number?</a:t>
            </a:r>
          </a:p>
        </p:txBody>
      </p:sp>
      <p:sp>
        <p:nvSpPr>
          <p:cNvPr id="17" name="object-17">
            <a:extLst>
              <a:ext uri="{FF2B5EF4-FFF2-40B4-BE49-F238E27FC236}">
                <a16:creationId xmlns:a16="http://schemas.microsoft.com/office/drawing/2014/main" id="{4C0B66B5-9C55-425A-ABFE-8825F7CED2FD}"/>
              </a:ext>
            </a:extLst>
          </p:cNvPr>
          <p:cNvSpPr>
            <a:spLocks noGrp="1"/>
          </p:cNvSpPr>
          <p:nvPr/>
        </p:nvSpPr>
        <p:spPr>
          <a:xfrm>
            <a:off x="8215313"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6.</a:t>
            </a:r>
          </a:p>
        </p:txBody>
      </p:sp>
      <p:sp>
        <p:nvSpPr>
          <p:cNvPr id="18" name="object-18">
            <a:extLst>
              <a:ext uri="{FF2B5EF4-FFF2-40B4-BE49-F238E27FC236}">
                <a16:creationId xmlns:a16="http://schemas.microsoft.com/office/drawing/2014/main" id="{1267710B-4D82-4EC5-AE8B-2893D2B23F55}"/>
              </a:ext>
            </a:extLst>
          </p:cNvPr>
          <p:cNvSpPr>
            <a:spLocks noGrp="1"/>
          </p:cNvSpPr>
          <p:nvPr/>
        </p:nvSpPr>
        <p:spPr>
          <a:xfrm>
            <a:off x="8905875" y="2512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Check this result using an inverse, estimate or known fact: Is 2,650,000 rounded to the nearest million 3,000,000?</a:t>
            </a:r>
          </a:p>
        </p:txBody>
      </p:sp>
      <p:sp>
        <p:nvSpPr>
          <p:cNvPr id="19" name="object-19">
            <a:extLst>
              <a:ext uri="{FF2B5EF4-FFF2-40B4-BE49-F238E27FC236}">
                <a16:creationId xmlns:a16="http://schemas.microsoft.com/office/drawing/2014/main" id="{169AFFC6-645D-4C2E-8BFC-ED81EA4821D7}"/>
              </a:ext>
            </a:extLst>
          </p:cNvPr>
          <p:cNvSpPr>
            <a:spLocks noGrp="1"/>
          </p:cNvSpPr>
          <p:nvPr/>
        </p:nvSpPr>
        <p:spPr>
          <a:xfrm>
            <a:off x="8215313"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7.</a:t>
            </a:r>
          </a:p>
        </p:txBody>
      </p:sp>
      <p:sp>
        <p:nvSpPr>
          <p:cNvPr id="20" name="object-20">
            <a:extLst>
              <a:ext uri="{FF2B5EF4-FFF2-40B4-BE49-F238E27FC236}">
                <a16:creationId xmlns:a16="http://schemas.microsoft.com/office/drawing/2014/main" id="{EA3F0355-14A9-4295-988E-4BBAFC1D27AB}"/>
              </a:ext>
            </a:extLst>
          </p:cNvPr>
          <p:cNvSpPr>
            <a:spLocks noGrp="1"/>
          </p:cNvSpPr>
          <p:nvPr/>
        </p:nvSpPr>
        <p:spPr>
          <a:xfrm>
            <a:off x="8905875" y="35599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Two different numbers both round to 720,000 to the nearest 10,000. What is the greatest possible difference?</a:t>
            </a:r>
          </a:p>
        </p:txBody>
      </p:sp>
      <p:sp>
        <p:nvSpPr>
          <p:cNvPr id="21" name="object-21">
            <a:extLst>
              <a:ext uri="{FF2B5EF4-FFF2-40B4-BE49-F238E27FC236}">
                <a16:creationId xmlns:a16="http://schemas.microsoft.com/office/drawing/2014/main" id="{AF3BBBDF-D9E3-4106-BD82-50F054D23D4D}"/>
              </a:ext>
            </a:extLst>
          </p:cNvPr>
          <p:cNvSpPr>
            <a:spLocks noGrp="1"/>
          </p:cNvSpPr>
          <p:nvPr/>
        </p:nvSpPr>
        <p:spPr>
          <a:xfrm>
            <a:off x="8215313"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8.</a:t>
            </a:r>
          </a:p>
        </p:txBody>
      </p:sp>
      <p:sp>
        <p:nvSpPr>
          <p:cNvPr id="22" name="object-22">
            <a:extLst>
              <a:ext uri="{FF2B5EF4-FFF2-40B4-BE49-F238E27FC236}">
                <a16:creationId xmlns:a16="http://schemas.microsoft.com/office/drawing/2014/main" id="{B53DA71C-6D2E-4E45-93F4-232480B7CB59}"/>
              </a:ext>
            </a:extLst>
          </p:cNvPr>
          <p:cNvSpPr>
            <a:spLocks noGrp="1"/>
          </p:cNvSpPr>
          <p:nvPr/>
        </p:nvSpPr>
        <p:spPr>
          <a:xfrm>
            <a:off x="8905875" y="46077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Identify and correct this misconception: Miro includes 85,499 in the range that rounds to 86,000.</a:t>
            </a:r>
          </a:p>
        </p:txBody>
      </p:sp>
      <p:sp>
        <p:nvSpPr>
          <p:cNvPr id="23" name="object-23">
            <a:extLst>
              <a:ext uri="{FF2B5EF4-FFF2-40B4-BE49-F238E27FC236}">
                <a16:creationId xmlns:a16="http://schemas.microsoft.com/office/drawing/2014/main" id="{9657CFFD-B19F-484A-BD1E-D0A91392B5DB}"/>
              </a:ext>
            </a:extLst>
          </p:cNvPr>
          <p:cNvSpPr>
            <a:spLocks noGrp="1"/>
          </p:cNvSpPr>
          <p:nvPr/>
        </p:nvSpPr>
        <p:spPr>
          <a:xfrm>
            <a:off x="8215313"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9.</a:t>
            </a:r>
          </a:p>
        </p:txBody>
      </p:sp>
      <p:sp>
        <p:nvSpPr>
          <p:cNvPr id="24" name="object-24">
            <a:extLst>
              <a:ext uri="{FF2B5EF4-FFF2-40B4-BE49-F238E27FC236}">
                <a16:creationId xmlns:a16="http://schemas.microsoft.com/office/drawing/2014/main" id="{AF0686A4-5189-4B0C-AA3D-5F466F94BC7F}"/>
              </a:ext>
            </a:extLst>
          </p:cNvPr>
          <p:cNvSpPr>
            <a:spLocks noGrp="1"/>
          </p:cNvSpPr>
          <p:nvPr/>
        </p:nvSpPr>
        <p:spPr>
          <a:xfrm>
            <a:off x="8905875" y="565546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Write a complete sentence explaining how you checked one answer.</a:t>
            </a:r>
          </a:p>
        </p:txBody>
      </p:sp>
      <p:sp>
        <p:nvSpPr>
          <p:cNvPr id="25" name="object-25">
            <a:extLst>
              <a:ext uri="{FF2B5EF4-FFF2-40B4-BE49-F238E27FC236}">
                <a16:creationId xmlns:a16="http://schemas.microsoft.com/office/drawing/2014/main" id="{9C53CCE5-8749-4534-BF36-4DA7808913A1}"/>
              </a:ext>
            </a:extLst>
          </p:cNvPr>
          <p:cNvSpPr>
            <a:spLocks noGrp="1"/>
          </p:cNvSpPr>
          <p:nvPr/>
        </p:nvSpPr>
        <p:spPr>
          <a:xfrm>
            <a:off x="8215313"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10.</a:t>
            </a:r>
          </a:p>
        </p:txBody>
      </p:sp>
      <p:sp>
        <p:nvSpPr>
          <p:cNvPr id="26" name="object-26">
            <a:extLst>
              <a:ext uri="{FF2B5EF4-FFF2-40B4-BE49-F238E27FC236}">
                <a16:creationId xmlns:a16="http://schemas.microsoft.com/office/drawing/2014/main" id="{E56D78BB-BD47-4D9C-A469-E0CF75F2B6C1}"/>
              </a:ext>
            </a:extLst>
          </p:cNvPr>
          <p:cNvSpPr>
            <a:spLocks noGrp="1"/>
          </p:cNvSpPr>
          <p:nvPr/>
        </p:nvSpPr>
        <p:spPr>
          <a:xfrm>
            <a:off x="8905875" y="6703219"/>
            <a:ext cx="5917406" cy="976313"/>
          </a:xfrm>
          <a:prstGeom prst="rect">
            <a:avLst/>
          </a:prstGeom>
          <a:noFill/>
          <a:ln w="0">
            <a:noFill/>
          </a:ln>
        </p:spPr>
        <p:txBody>
          <a:bodyPr anchor="ctr">
            <a:noAutofit/>
          </a:bodyPr>
          <a:lstStyle/>
          <a:p>
            <a:pPr algn="l">
              <a:defRPr sz="1800" b="0">
                <a:solidFill>
                  <a:srgbClr val="172B4D"/>
                </a:solidFill>
                <a:latin typeface="Arial"/>
                <a:ea typeface="Arial"/>
                <a:cs typeface="Arial"/>
              </a:defRPr>
            </a:pPr>
            <a:r>
              <a:rPr sz="1800" b="0">
                <a:solidFill>
                  <a:srgbClr val="172B4D"/>
                </a:solidFill>
                <a:latin typeface="Arial"/>
                <a:ea typeface="Arial"/>
                <a:cs typeface="Arial"/>
              </a:rPr>
              <a:t>Write and solve a similar question to: Is 2,650,000 rounded to the nearest million 3,000,000?</a:t>
            </a:r>
          </a:p>
        </p:txBody>
      </p:sp>
    </p:spTree>
    <p:extLst>
      <p:ext uri="{BB962C8B-B14F-4D97-AF65-F5344CB8AC3E}">
        <p14:creationId xmlns:p14="http://schemas.microsoft.com/office/powerpoint/2010/main" val="3585260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object-1">
            <a:extLst>
              <a:ext uri="{FF2B5EF4-FFF2-40B4-BE49-F238E27FC236}">
                <a16:creationId xmlns:a16="http://schemas.microsoft.com/office/drawing/2014/main" id="{F83B2DA4-68A9-40F6-8A0B-37DCA9288F1A}"/>
              </a:ext>
            </a:extLst>
          </p:cNvPr>
          <p:cNvSpPr>
            <a:spLocks noGrp="1"/>
          </p:cNvSpPr>
          <p:nvPr/>
        </p:nvSpPr>
        <p:spPr>
          <a:xfrm>
            <a:off x="654844" y="357188"/>
            <a:ext cx="13930313" cy="714375"/>
          </a:xfrm>
          <a:prstGeom prst="rect">
            <a:avLst/>
          </a:prstGeom>
          <a:noFill/>
          <a:ln w="0">
            <a:noFill/>
          </a:ln>
        </p:spPr>
        <p:txBody>
          <a:bodyPr anchor="ctr">
            <a:noAutofit/>
          </a:bodyPr>
          <a:lstStyle/>
          <a:p>
            <a:pPr algn="l">
              <a:defRPr sz="4125" b="1">
                <a:solidFill>
                  <a:srgbClr val="1D4ED8"/>
                </a:solidFill>
                <a:latin typeface="Arial"/>
                <a:ea typeface="Arial"/>
                <a:cs typeface="Arial"/>
              </a:defRPr>
            </a:pPr>
            <a:r>
              <a:rPr sz="4125" b="1">
                <a:solidFill>
                  <a:srgbClr val="1D4ED8"/>
                </a:solidFill>
                <a:latin typeface="Arial"/>
                <a:ea typeface="Arial"/>
                <a:cs typeface="Arial"/>
              </a:rPr>
              <a:t>Answers</a:t>
            </a:r>
          </a:p>
        </p:txBody>
      </p:sp>
      <p:sp>
        <p:nvSpPr>
          <p:cNvPr id="2" name="object-2">
            <a:extLst>
              <a:ext uri="{FF2B5EF4-FFF2-40B4-BE49-F238E27FC236}">
                <a16:creationId xmlns:a16="http://schemas.microsoft.com/office/drawing/2014/main" id="{FB7ECDCB-6005-4459-9D67-B7B9BC1529E8}"/>
              </a:ext>
            </a:extLst>
          </p:cNvPr>
          <p:cNvSpPr>
            <a:spLocks noGrp="1"/>
          </p:cNvSpPr>
          <p:nvPr/>
        </p:nvSpPr>
        <p:spPr>
          <a:xfrm>
            <a:off x="654844" y="1250156"/>
            <a:ext cx="13930313" cy="1190625"/>
          </a:xfrm>
          <a:prstGeom prst="rect">
            <a:avLst/>
          </a:prstGeom>
          <a:noFill/>
          <a:ln w="0">
            <a:noFill/>
          </a:ln>
        </p:spPr>
        <p:txBody>
          <a:bodyPr anchor="ctr">
            <a:noAutofit/>
          </a:bodyPr>
          <a:lstStyle/>
          <a:p>
            <a:pPr algn="l">
              <a:defRPr sz="2625" b="1">
                <a:solidFill>
                  <a:srgbClr val="172B4D"/>
                </a:solidFill>
                <a:latin typeface="Arial"/>
                <a:ea typeface="Arial"/>
                <a:cs typeface="Arial"/>
              </a:defRPr>
            </a:pPr>
            <a:r>
              <a:rPr sz="2625" b="1">
                <a:solidFill>
                  <a:srgbClr val="172B4D"/>
                </a:solidFill>
                <a:latin typeface="Arial"/>
                <a:ea typeface="Arial"/>
                <a:cs typeface="Arial"/>
              </a:rPr>
              <a:t>Check your answers. Explain any corrections.</a:t>
            </a:r>
          </a:p>
        </p:txBody>
      </p:sp>
      <p:sp>
        <p:nvSpPr>
          <p:cNvPr id="3" name="object-3">
            <a:extLst>
              <a:ext uri="{FF2B5EF4-FFF2-40B4-BE49-F238E27FC236}">
                <a16:creationId xmlns:a16="http://schemas.microsoft.com/office/drawing/2014/main" id="{73087659-CCE7-4365-8C73-834F59459EAF}"/>
              </a:ext>
            </a:extLst>
          </p:cNvPr>
          <p:cNvSpPr>
            <a:spLocks noGrp="1"/>
          </p:cNvSpPr>
          <p:nvPr/>
        </p:nvSpPr>
        <p:spPr>
          <a:xfrm>
            <a:off x="654844" y="8012906"/>
            <a:ext cx="13930313" cy="11906"/>
          </a:xfrm>
          <a:prstGeom prst="rect">
            <a:avLst/>
          </a:prstGeom>
          <a:solidFill>
            <a:srgbClr val="BCD0EA"/>
          </a:solidFill>
          <a:ln w="0">
            <a:noFill/>
          </a:ln>
        </p:spPr>
      </p:sp>
      <p:sp>
        <p:nvSpPr>
          <p:cNvPr id="4" name="object-4">
            <a:extLst>
              <a:ext uri="{FF2B5EF4-FFF2-40B4-BE49-F238E27FC236}">
                <a16:creationId xmlns:a16="http://schemas.microsoft.com/office/drawing/2014/main" id="{636E3FA0-89A0-4FBF-885E-A24BAA3E4D7A}"/>
              </a:ext>
            </a:extLst>
          </p:cNvPr>
          <p:cNvSpPr>
            <a:spLocks noGrp="1"/>
          </p:cNvSpPr>
          <p:nvPr/>
        </p:nvSpPr>
        <p:spPr>
          <a:xfrm>
            <a:off x="654844" y="8120063"/>
            <a:ext cx="12977813" cy="285750"/>
          </a:xfrm>
          <a:prstGeom prst="rect">
            <a:avLst/>
          </a:prstGeom>
          <a:noFill/>
          <a:ln w="0">
            <a:noFill/>
          </a:ln>
        </p:spPr>
        <p:txBody>
          <a:bodyPr anchor="ctr">
            <a:noAutofit/>
          </a:bodyPr>
          <a:lstStyle/>
          <a:p>
            <a:pPr algn="l">
              <a:defRPr sz="1219" b="0">
                <a:solidFill>
                  <a:srgbClr val="52647A"/>
                </a:solidFill>
                <a:latin typeface="Arial"/>
                <a:ea typeface="Arial"/>
                <a:cs typeface="Arial"/>
              </a:defRPr>
            </a:pPr>
            <a:r>
              <a:rPr sz="1219" b="0">
                <a:solidFill>
                  <a:srgbClr val="52647A"/>
                </a:solidFill>
                <a:latin typeface="Arial"/>
                <a:ea typeface="Arial"/>
                <a:cs typeface="Arial"/>
              </a:rPr>
              <a:t>BrightPath · Reason about rounding boundaries</a:t>
            </a:r>
          </a:p>
        </p:txBody>
      </p:sp>
      <p:sp>
        <p:nvSpPr>
          <p:cNvPr id="5" name="object-5">
            <a:extLst>
              <a:ext uri="{FF2B5EF4-FFF2-40B4-BE49-F238E27FC236}">
                <a16:creationId xmlns:a16="http://schemas.microsoft.com/office/drawing/2014/main" id="{B27966FF-4495-48AA-83C2-C78D5E5192D9}"/>
              </a:ext>
            </a:extLst>
          </p:cNvPr>
          <p:cNvSpPr>
            <a:spLocks noGrp="1"/>
          </p:cNvSpPr>
          <p:nvPr/>
        </p:nvSpPr>
        <p:spPr>
          <a:xfrm>
            <a:off x="13811250" y="8120063"/>
            <a:ext cx="773906" cy="285750"/>
          </a:xfrm>
          <a:prstGeom prst="rect">
            <a:avLst/>
          </a:prstGeom>
          <a:noFill/>
          <a:ln w="0">
            <a:noFill/>
          </a:ln>
        </p:spPr>
        <p:txBody>
          <a:bodyPr anchor="ctr">
            <a:noAutofit/>
          </a:bodyPr>
          <a:lstStyle/>
          <a:p>
            <a:pPr algn="r">
              <a:defRPr sz="1219" b="0">
                <a:solidFill>
                  <a:srgbClr val="52647A"/>
                </a:solidFill>
                <a:latin typeface="Arial"/>
                <a:ea typeface="Arial"/>
                <a:cs typeface="Arial"/>
              </a:defRPr>
            </a:pPr>
            <a:r>
              <a:rPr sz="1219" b="0">
                <a:solidFill>
                  <a:srgbClr val="52647A"/>
                </a:solidFill>
                <a:latin typeface="Arial"/>
                <a:ea typeface="Arial"/>
                <a:cs typeface="Arial"/>
              </a:rPr>
              <a:t>7</a:t>
            </a:r>
          </a:p>
        </p:txBody>
      </p:sp>
      <p:sp>
        <p:nvSpPr>
          <p:cNvPr id="6" name="object-6">
            <a:extLst>
              <a:ext uri="{FF2B5EF4-FFF2-40B4-BE49-F238E27FC236}">
                <a16:creationId xmlns:a16="http://schemas.microsoft.com/office/drawing/2014/main" id="{52E391CE-59CB-43DD-8638-9B5AC8C5C4C1}"/>
              </a:ext>
            </a:extLst>
          </p:cNvPr>
          <p:cNvSpPr>
            <a:spLocks noGrp="1"/>
          </p:cNvSpPr>
          <p:nvPr/>
        </p:nvSpPr>
        <p:spPr>
          <a:xfrm>
            <a:off x="773906"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a:t>
            </a:r>
          </a:p>
        </p:txBody>
      </p:sp>
      <p:sp>
        <p:nvSpPr>
          <p:cNvPr id="7" name="object-7">
            <a:extLst>
              <a:ext uri="{FF2B5EF4-FFF2-40B4-BE49-F238E27FC236}">
                <a16:creationId xmlns:a16="http://schemas.microsoft.com/office/drawing/2014/main" id="{86E26377-33D5-4DF0-91E7-F9B370FFA545}"/>
              </a:ext>
            </a:extLst>
          </p:cNvPr>
          <p:cNvSpPr>
            <a:spLocks noGrp="1"/>
          </p:cNvSpPr>
          <p:nvPr/>
        </p:nvSpPr>
        <p:spPr>
          <a:xfrm>
            <a:off x="1464469" y="2512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85,500.</a:t>
            </a:r>
          </a:p>
        </p:txBody>
      </p:sp>
      <p:sp>
        <p:nvSpPr>
          <p:cNvPr id="8" name="object-8">
            <a:extLst>
              <a:ext uri="{FF2B5EF4-FFF2-40B4-BE49-F238E27FC236}">
                <a16:creationId xmlns:a16="http://schemas.microsoft.com/office/drawing/2014/main" id="{BD0CF8BC-389B-4916-8EF0-394F39E08075}"/>
              </a:ext>
            </a:extLst>
          </p:cNvPr>
          <p:cNvSpPr>
            <a:spLocks noGrp="1"/>
          </p:cNvSpPr>
          <p:nvPr/>
        </p:nvSpPr>
        <p:spPr>
          <a:xfrm>
            <a:off x="773906"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2.</a:t>
            </a:r>
          </a:p>
        </p:txBody>
      </p:sp>
      <p:sp>
        <p:nvSpPr>
          <p:cNvPr id="9" name="object-9">
            <a:extLst>
              <a:ext uri="{FF2B5EF4-FFF2-40B4-BE49-F238E27FC236}">
                <a16:creationId xmlns:a16="http://schemas.microsoft.com/office/drawing/2014/main" id="{ACBFD722-1454-4608-9D21-BF3699C12853}"/>
              </a:ext>
            </a:extLst>
          </p:cNvPr>
          <p:cNvSpPr>
            <a:spLocks noGrp="1"/>
          </p:cNvSpPr>
          <p:nvPr/>
        </p:nvSpPr>
        <p:spPr>
          <a:xfrm>
            <a:off x="1464469" y="35599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4,349,999.</a:t>
            </a:r>
          </a:p>
        </p:txBody>
      </p:sp>
      <p:sp>
        <p:nvSpPr>
          <p:cNvPr id="10" name="object-10">
            <a:extLst>
              <a:ext uri="{FF2B5EF4-FFF2-40B4-BE49-F238E27FC236}">
                <a16:creationId xmlns:a16="http://schemas.microsoft.com/office/drawing/2014/main" id="{3D451ADA-2C41-482D-A340-AE59866F8390}"/>
              </a:ext>
            </a:extLst>
          </p:cNvPr>
          <p:cNvSpPr>
            <a:spLocks noGrp="1"/>
          </p:cNvSpPr>
          <p:nvPr/>
        </p:nvSpPr>
        <p:spPr>
          <a:xfrm>
            <a:off x="773906"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3.</a:t>
            </a:r>
          </a:p>
        </p:txBody>
      </p:sp>
      <p:sp>
        <p:nvSpPr>
          <p:cNvPr id="11" name="object-11">
            <a:extLst>
              <a:ext uri="{FF2B5EF4-FFF2-40B4-BE49-F238E27FC236}">
                <a16:creationId xmlns:a16="http://schemas.microsoft.com/office/drawing/2014/main" id="{48C34284-4D8A-4452-9EC5-35AE9DE0D1C4}"/>
              </a:ext>
            </a:extLst>
          </p:cNvPr>
          <p:cNvSpPr>
            <a:spLocks noGrp="1"/>
          </p:cNvSpPr>
          <p:nvPr/>
        </p:nvSpPr>
        <p:spPr>
          <a:xfrm>
            <a:off x="1464469" y="46077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Yes.</a:t>
            </a:r>
          </a:p>
        </p:txBody>
      </p:sp>
      <p:sp>
        <p:nvSpPr>
          <p:cNvPr id="12" name="object-12">
            <a:extLst>
              <a:ext uri="{FF2B5EF4-FFF2-40B4-BE49-F238E27FC236}">
                <a16:creationId xmlns:a16="http://schemas.microsoft.com/office/drawing/2014/main" id="{BFC6DA48-C6EF-4CB2-A23F-8D02A30CDC2A}"/>
              </a:ext>
            </a:extLst>
          </p:cNvPr>
          <p:cNvSpPr>
            <a:spLocks noGrp="1"/>
          </p:cNvSpPr>
          <p:nvPr/>
        </p:nvSpPr>
        <p:spPr>
          <a:xfrm>
            <a:off x="773906"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4.</a:t>
            </a:r>
          </a:p>
        </p:txBody>
      </p:sp>
      <p:sp>
        <p:nvSpPr>
          <p:cNvPr id="13" name="object-13">
            <a:extLst>
              <a:ext uri="{FF2B5EF4-FFF2-40B4-BE49-F238E27FC236}">
                <a16:creationId xmlns:a16="http://schemas.microsoft.com/office/drawing/2014/main" id="{43894F49-67C9-49C7-BF2E-3862CD5FAF0B}"/>
              </a:ext>
            </a:extLst>
          </p:cNvPr>
          <p:cNvSpPr>
            <a:spLocks noGrp="1"/>
          </p:cNvSpPr>
          <p:nvPr/>
        </p:nvSpPr>
        <p:spPr>
          <a:xfrm>
            <a:off x="1464469" y="56554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85,500.</a:t>
            </a:r>
          </a:p>
        </p:txBody>
      </p:sp>
      <p:sp>
        <p:nvSpPr>
          <p:cNvPr id="14" name="object-14">
            <a:extLst>
              <a:ext uri="{FF2B5EF4-FFF2-40B4-BE49-F238E27FC236}">
                <a16:creationId xmlns:a16="http://schemas.microsoft.com/office/drawing/2014/main" id="{348F7928-D2B5-464C-A483-30B3BFA06A12}"/>
              </a:ext>
            </a:extLst>
          </p:cNvPr>
          <p:cNvSpPr>
            <a:spLocks noGrp="1"/>
          </p:cNvSpPr>
          <p:nvPr/>
        </p:nvSpPr>
        <p:spPr>
          <a:xfrm>
            <a:off x="773906"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5.</a:t>
            </a:r>
          </a:p>
        </p:txBody>
      </p:sp>
      <p:sp>
        <p:nvSpPr>
          <p:cNvPr id="15" name="object-15">
            <a:extLst>
              <a:ext uri="{FF2B5EF4-FFF2-40B4-BE49-F238E27FC236}">
                <a16:creationId xmlns:a16="http://schemas.microsoft.com/office/drawing/2014/main" id="{6BF1D759-1F6A-4E2D-B1CC-03E919AEDB7F}"/>
              </a:ext>
            </a:extLst>
          </p:cNvPr>
          <p:cNvSpPr>
            <a:spLocks noGrp="1"/>
          </p:cNvSpPr>
          <p:nvPr/>
        </p:nvSpPr>
        <p:spPr>
          <a:xfrm>
            <a:off x="1464469" y="6703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Expected result: 4,349,999. Method or representation may vary.</a:t>
            </a:r>
          </a:p>
        </p:txBody>
      </p:sp>
      <p:sp>
        <p:nvSpPr>
          <p:cNvPr id="16" name="object-16">
            <a:extLst>
              <a:ext uri="{FF2B5EF4-FFF2-40B4-BE49-F238E27FC236}">
                <a16:creationId xmlns:a16="http://schemas.microsoft.com/office/drawing/2014/main" id="{77D3FE12-200F-4747-A95A-4E9293374F87}"/>
              </a:ext>
            </a:extLst>
          </p:cNvPr>
          <p:cNvSpPr>
            <a:spLocks noGrp="1"/>
          </p:cNvSpPr>
          <p:nvPr/>
        </p:nvSpPr>
        <p:spPr>
          <a:xfrm>
            <a:off x="8215313" y="2512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6.</a:t>
            </a:r>
          </a:p>
        </p:txBody>
      </p:sp>
      <p:sp>
        <p:nvSpPr>
          <p:cNvPr id="17" name="object-17">
            <a:extLst>
              <a:ext uri="{FF2B5EF4-FFF2-40B4-BE49-F238E27FC236}">
                <a16:creationId xmlns:a16="http://schemas.microsoft.com/office/drawing/2014/main" id="{D561C824-E076-4C09-9389-9A4C35522294}"/>
              </a:ext>
            </a:extLst>
          </p:cNvPr>
          <p:cNvSpPr>
            <a:spLocks noGrp="1"/>
          </p:cNvSpPr>
          <p:nvPr/>
        </p:nvSpPr>
        <p:spPr>
          <a:xfrm>
            <a:off x="8905875" y="2512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Expected result: Yes. A valid check must be shown.</a:t>
            </a:r>
          </a:p>
        </p:txBody>
      </p:sp>
      <p:sp>
        <p:nvSpPr>
          <p:cNvPr id="18" name="object-18">
            <a:extLst>
              <a:ext uri="{FF2B5EF4-FFF2-40B4-BE49-F238E27FC236}">
                <a16:creationId xmlns:a16="http://schemas.microsoft.com/office/drawing/2014/main" id="{FD7AB844-063D-414C-8489-549144306159}"/>
              </a:ext>
            </a:extLst>
          </p:cNvPr>
          <p:cNvSpPr>
            <a:spLocks noGrp="1"/>
          </p:cNvSpPr>
          <p:nvPr/>
        </p:nvSpPr>
        <p:spPr>
          <a:xfrm>
            <a:off x="8215313" y="35599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7.</a:t>
            </a:r>
          </a:p>
        </p:txBody>
      </p:sp>
      <p:sp>
        <p:nvSpPr>
          <p:cNvPr id="19" name="object-19">
            <a:extLst>
              <a:ext uri="{FF2B5EF4-FFF2-40B4-BE49-F238E27FC236}">
                <a16:creationId xmlns:a16="http://schemas.microsoft.com/office/drawing/2014/main" id="{14BD9702-9A9D-4762-96BE-F534A0A7696F}"/>
              </a:ext>
            </a:extLst>
          </p:cNvPr>
          <p:cNvSpPr>
            <a:spLocks noGrp="1"/>
          </p:cNvSpPr>
          <p:nvPr/>
        </p:nvSpPr>
        <p:spPr>
          <a:xfrm>
            <a:off x="8905875" y="35599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9,999, using 715,000 and 724,999.</a:t>
            </a:r>
          </a:p>
        </p:txBody>
      </p:sp>
      <p:sp>
        <p:nvSpPr>
          <p:cNvPr id="20" name="object-20">
            <a:extLst>
              <a:ext uri="{FF2B5EF4-FFF2-40B4-BE49-F238E27FC236}">
                <a16:creationId xmlns:a16="http://schemas.microsoft.com/office/drawing/2014/main" id="{184DA701-8FE1-4A08-93F0-C4D46C12A8DF}"/>
              </a:ext>
            </a:extLst>
          </p:cNvPr>
          <p:cNvSpPr>
            <a:spLocks noGrp="1"/>
          </p:cNvSpPr>
          <p:nvPr/>
        </p:nvSpPr>
        <p:spPr>
          <a:xfrm>
            <a:off x="8215313" y="46077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8.</a:t>
            </a:r>
          </a:p>
        </p:txBody>
      </p:sp>
      <p:sp>
        <p:nvSpPr>
          <p:cNvPr id="21" name="object-21">
            <a:extLst>
              <a:ext uri="{FF2B5EF4-FFF2-40B4-BE49-F238E27FC236}">
                <a16:creationId xmlns:a16="http://schemas.microsoft.com/office/drawing/2014/main" id="{FB9D723A-B950-411A-9327-39FD07CBA6BF}"/>
              </a:ext>
            </a:extLst>
          </p:cNvPr>
          <p:cNvSpPr>
            <a:spLocks noGrp="1"/>
          </p:cNvSpPr>
          <p:nvPr/>
        </p:nvSpPr>
        <p:spPr>
          <a:xfrm>
            <a:off x="8905875" y="46077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85,499 is nearer 85,000. The lower boundary is 85,500.</a:t>
            </a:r>
          </a:p>
        </p:txBody>
      </p:sp>
      <p:sp>
        <p:nvSpPr>
          <p:cNvPr id="22" name="object-22">
            <a:extLst>
              <a:ext uri="{FF2B5EF4-FFF2-40B4-BE49-F238E27FC236}">
                <a16:creationId xmlns:a16="http://schemas.microsoft.com/office/drawing/2014/main" id="{F5154F92-B032-43D9-8447-A4D8AC7AD88C}"/>
              </a:ext>
            </a:extLst>
          </p:cNvPr>
          <p:cNvSpPr>
            <a:spLocks noGrp="1"/>
          </p:cNvSpPr>
          <p:nvPr/>
        </p:nvSpPr>
        <p:spPr>
          <a:xfrm>
            <a:off x="8215313" y="565546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9.</a:t>
            </a:r>
          </a:p>
        </p:txBody>
      </p:sp>
      <p:sp>
        <p:nvSpPr>
          <p:cNvPr id="23" name="object-23">
            <a:extLst>
              <a:ext uri="{FF2B5EF4-FFF2-40B4-BE49-F238E27FC236}">
                <a16:creationId xmlns:a16="http://schemas.microsoft.com/office/drawing/2014/main" id="{BB7D281B-9F50-4FFA-868F-11961DBCE393}"/>
              </a:ext>
            </a:extLst>
          </p:cNvPr>
          <p:cNvSpPr>
            <a:spLocks noGrp="1"/>
          </p:cNvSpPr>
          <p:nvPr/>
        </p:nvSpPr>
        <p:spPr>
          <a:xfrm>
            <a:off x="8905875" y="565546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Answer should name an inverse, estimate, boundary, known fact or equivalent representation.</a:t>
            </a:r>
          </a:p>
        </p:txBody>
      </p:sp>
      <p:sp>
        <p:nvSpPr>
          <p:cNvPr id="24" name="object-24">
            <a:extLst>
              <a:ext uri="{FF2B5EF4-FFF2-40B4-BE49-F238E27FC236}">
                <a16:creationId xmlns:a16="http://schemas.microsoft.com/office/drawing/2014/main" id="{BBC1A31B-CC98-49AB-A358-501AA3C03B04}"/>
              </a:ext>
            </a:extLst>
          </p:cNvPr>
          <p:cNvSpPr>
            <a:spLocks noGrp="1"/>
          </p:cNvSpPr>
          <p:nvPr/>
        </p:nvSpPr>
        <p:spPr>
          <a:xfrm>
            <a:off x="8215313" y="6703219"/>
            <a:ext cx="678656" cy="976313"/>
          </a:xfrm>
          <a:prstGeom prst="rect">
            <a:avLst/>
          </a:prstGeom>
          <a:noFill/>
          <a:ln w="0">
            <a:noFill/>
          </a:ln>
        </p:spPr>
        <p:txBody>
          <a:bodyPr anchor="ctr">
            <a:noAutofit/>
          </a:bodyPr>
          <a:lstStyle/>
          <a:p>
            <a:pPr algn="l">
              <a:defRPr sz="1875" b="1">
                <a:solidFill>
                  <a:srgbClr val="1D4ED8"/>
                </a:solidFill>
                <a:latin typeface="Arial"/>
                <a:ea typeface="Arial"/>
                <a:cs typeface="Arial"/>
              </a:defRPr>
            </a:pPr>
            <a:r>
              <a:rPr sz="1875" b="1">
                <a:solidFill>
                  <a:srgbClr val="1D4ED8"/>
                </a:solidFill>
                <a:latin typeface="Arial"/>
                <a:ea typeface="Arial"/>
                <a:cs typeface="Arial"/>
              </a:rPr>
              <a:t>10.</a:t>
            </a:r>
          </a:p>
        </p:txBody>
      </p:sp>
      <p:sp>
        <p:nvSpPr>
          <p:cNvPr id="25" name="object-25">
            <a:extLst>
              <a:ext uri="{FF2B5EF4-FFF2-40B4-BE49-F238E27FC236}">
                <a16:creationId xmlns:a16="http://schemas.microsoft.com/office/drawing/2014/main" id="{73138638-A366-4F77-AFFF-0F80A15B2B5F}"/>
              </a:ext>
            </a:extLst>
          </p:cNvPr>
          <p:cNvSpPr>
            <a:spLocks noGrp="1"/>
          </p:cNvSpPr>
          <p:nvPr/>
        </p:nvSpPr>
        <p:spPr>
          <a:xfrm>
            <a:off x="8905875" y="6703219"/>
            <a:ext cx="5917406" cy="976313"/>
          </a:xfrm>
          <a:prstGeom prst="rect">
            <a:avLst/>
          </a:prstGeom>
          <a:noFill/>
          <a:ln w="0">
            <a:noFill/>
          </a:ln>
        </p:spPr>
        <p:txBody>
          <a:bodyPr anchor="ctr">
            <a:noAutofit/>
          </a:bodyPr>
          <a:lstStyle/>
          <a:p>
            <a:pPr algn="l">
              <a:defRPr sz="1800" b="0">
                <a:solidFill>
                  <a:srgbClr val="11745A"/>
                </a:solidFill>
                <a:latin typeface="Arial"/>
                <a:ea typeface="Arial"/>
                <a:cs typeface="Arial"/>
              </a:defRPr>
            </a:pPr>
            <a:r>
              <a:rPr sz="1800" b="0">
                <a:solidFill>
                  <a:srgbClr val="11745A"/>
                </a:solidFill>
                <a:latin typeface="Arial"/>
                <a:ea typeface="Arial"/>
                <a:cs typeface="Arial"/>
              </a:rPr>
              <a:t>Answers vary. The new question must use the same mathematical structure and include a correct solution.</a:t>
            </a:r>
          </a:p>
        </p:txBody>
      </p:sp>
    </p:spTree>
    <p:extLst>
      <p:ext uri="{BB962C8B-B14F-4D97-AF65-F5344CB8AC3E}">
        <p14:creationId xmlns:p14="http://schemas.microsoft.com/office/powerpoint/2010/main" val="153264553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917</Words>
  <Application>Microsoft Office PowerPoint</Application>
  <DocSecurity>0</DocSecurity>
  <PresentationFormat>Custom</PresentationFormat>
  <Paragraphs>110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Garima Sharma</cp:lastModifiedBy>
  <cp:revision>1</cp:revision>
  <dcterms:created xsi:type="dcterms:W3CDTF">2026-09-14T13:14:14Z</dcterms:created>
  <dcterms:modified xsi:type="dcterms:W3CDTF">2026-09-14T13:16:50Z</dcterms:modified>
</cp:coreProperties>
</file>