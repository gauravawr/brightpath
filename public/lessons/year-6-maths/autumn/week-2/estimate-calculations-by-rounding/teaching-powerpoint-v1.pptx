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Open number lines, place-value chart, digit cards, highlighters, mini whiteboards.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8,000 x 50 = 400,000. | Underline the place named in the question. | An estimate is deliberately approximate and should show the likely size of the exact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round, nearest, boundary, multiple, accuracy, estimate.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Estimate 398,742 + 203,118 by rounding each number to the nearest 100,000. Answer: 400,000 + 200,000 = 600,000.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8,000 x 50 = 400,000.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An estimate is deliberately approximate and should show the likely size of the exact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8,000 x 50 = 400,000..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600,000 - 200,000 = 400,000..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About 50,000 x 200 = 10,000,000. Other justified close estimates are acceptable.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only the core independent-practice example. Give pupils time to solve and check before revealing the answer at the side. Answer: 600,000 - 200,000 = 400,000.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600,000 - 200,000 = 400,000. | An estimate is deliberately approximate and should show the likely size of the exact answer.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4CB2E8EB-F736-4D25-9272-1FB3AEFB40E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E8653D-511E-42E0-AAA9-16BCB438EED1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602665E-A2CA-4513-80F8-7DF51432A86A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46D818D-AFAD-416E-8613-7EF51CDBDF6F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DE420AE-7E74-4F65-ABC7-C6AA20C81885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calculations by rounding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02E2522-DFB9-46C2-86F6-6B246CCA1E76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CF1CA8E-510A-4530-8ACE-A9FFD4E558B2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E86DD28-19A7-4953-AE37-33310680B0EC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use rounding to estimate and check calculations.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0A1145D-7D3C-4745-A13E-EFB9109F2077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DA2B61B-E0D5-4B69-87D0-76BC3F07E831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Open number lines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4336469-691A-42B0-BE33-CC25B54CC467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6993482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24741533-CF41-47FF-B6B2-1ED1E5CB9F4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02369C5-3026-4A3D-89D9-CB14C731759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74BCB7B-B6BA-409C-88A5-145A75D4AED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4CD5CFA-ACCC-4B97-9C3F-1E3DA3ABCA89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FA57571-9BC3-4FD6-93CD-290FFE4992F2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836310F-D88A-4C81-8FDA-C77AC72CDCAB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01D30C6-D1D7-468B-86AC-9EE896E65727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E056443-2307-4D80-80CE-B11EF3B1399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62C7D14-8B09-46C0-A487-E9D3E013DE6D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calculations by rounding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C15AB1C-9447-4A45-A452-6771B7AAC5BA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CCB503C-C587-495B-A4EA-27747894F8E6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6CE7D2-C492-40F8-8642-3B8A4353DC78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B9B41D2-4A4C-4939-BFA5-2D6074D88C1C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Round whole numbers to the nearest 10, 100, 1,000, 10,000 and 100,000.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51CA520-0C57-412A-AFC1-9543A61451B1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4EB3A5F4-9C59-4C04-B7EA-656E98B28869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FDEF2ED-6333-4A0D-92BF-90C64D26F1FC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5AB40C2-32A9-4FB2-8DF6-F7A831C9E41D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8,102 x 49 using convenient rounded numbers.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8128CAA3-2338-4448-99C7-FA3469DFAE4A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8F3F9B2A-5B33-4E3D-AC5A-1F1A3D5EE19F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5DE8E4B-79FC-469E-AE14-17313898DAAE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B40EFF9-6807-4917-97EE-62E0460B3717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Estimate 398,742 + 203,118 by rounding each number to the nearest 100,000.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F573667-473A-4107-B3FF-C48FF947B97B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1638966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B5AE41F4-6F16-4364-ADE9-F675F3D8F5D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1E9C784-D4B0-43A4-AE9F-B4EDF7B750B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E6E7275-A924-4025-97BB-FF6C3604ED2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0E8951C-9C02-4DC8-884E-39A072B081B4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8F2BD63-F09C-4960-84E5-24E62CEBAD76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4DF159E-A382-4AE3-BC2E-2A4B0194108C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809D1B-70CC-4870-A26D-B46F0859BDA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3416F0C-6055-48A8-A4E9-83F2A3279EDC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584A6B3-C84E-45BD-965F-C123DB929DA4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calculations by rounding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290D945-A859-4761-A93B-354A0D9E9A20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use rounding to estimate and check calculations.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F79D99C-B5C7-425F-918C-AEF632DAE14C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FA6427A-4580-4FF5-9A6B-802B3D090330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Underline the place named in the question.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F067ACF-93A4-43F1-84B2-A679A8B7CE32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Check the digit immediately to its right or locate the two boundaries.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4E9B6FF-8B9A-4404-B3DF-FBC82775C802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Round to the nearer multiple and replace following digits with zeros.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E71C90B-EB03-486D-99D5-CF0FA7C06F84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round  |  nearest  |  boundary  |  multiple  |  accuracy  |  estimate</a:t>
            </a:r>
          </a:p>
        </p:txBody>
      </p:sp>
    </p:spTree>
    <p:extLst>
      <p:ext uri="{BB962C8B-B14F-4D97-AF65-F5344CB8AC3E}">
        <p14:creationId xmlns:p14="http://schemas.microsoft.com/office/powerpoint/2010/main" val="1474123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2A94F14A-90C2-4C6B-95FD-CA8C7DB5C6C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E7F8B06-01FE-4008-BD07-ECE83158714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E1B065F-B786-4F32-825E-934DABEA286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F13ED99-808A-408C-8831-33221E5C2AAD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755341E-AFD7-423E-B45A-EE225C08A0C7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CAEDD19-E3D7-4398-A645-DA2FB26E58CB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5D06667-0810-4FB5-A52C-809700314088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868FDDD-4DE2-4502-BD8E-E1DA1DEB7F79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32EA02-BEFC-45CE-9056-C92F1CE54F84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calculations by rounding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667EE28-7582-45C8-BAE1-F4217D69F6A0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398,742 + 203,118 by rounding each number to the nearest 100,000.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14574B5-D57A-46ED-8735-67FE5B7F051C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963613F-20D4-4EE6-944A-2AB24764DD8F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35459AF-3E41-4818-A96A-D66BFFC3001B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4833742-B0E8-4D04-A131-3CA7B006AA92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Underline the place named in the question.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EFB502D-2C21-40EE-9A4D-F9C4C3679FD9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070AF7ED-1AC5-4371-826A-C54D20681972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59ACE5-9A1A-4158-92EC-430ED56E508C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C4E5EFF-421B-48FD-8140-C6F397499185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the digit immediately to its right or locate the two boundaries.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01BE898-3FCB-43BB-9B4F-A81CD3A7F0BA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A0C65583-B90B-4D06-97EC-A15221080C20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B138917-EF2C-403A-A243-09FD05A316B2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FA26105-0FC0-41A8-850C-7F7D647C8BE3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to the nearer multiple and replace following digits with zeros.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36277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CC8893BF-A7D6-4888-AB03-1C2619DA9EA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984A3FB-C9C8-4729-968F-253179DE6F0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8559D69-4B94-4D71-A4C4-BC02AB7DA16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E71331B-A201-4C62-B046-AC19D6C9B4AF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C891C7F-62AF-4804-9220-035D02D0B60E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9B83FF5-D00C-42EA-B77D-260F088F9D54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FBB2676-CAB9-4BCC-B4C9-AA15AD04B856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7618F8-6A02-4CDA-9D4E-B42008231924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260AB7C-024E-42A7-8E57-18FCC0528415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calculations by rounding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757B4D-6F52-4AA9-B732-4AE38DF45AEF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F2D45AC-CDA9-4286-9A3A-B2381552AEAD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400,000 + 200,000 = 600,000.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062216-348F-431E-A174-BA619A2F9243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B33CF26-28A7-4163-9C68-93DB3D5ECDE4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Round to the nearer multiple and replace following digits with zeros.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ACDDDBE-F5E4-4312-BE9D-570A03389F6F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91832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9F4E5018-D8B1-4A07-8E47-BB39A8277DB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7BC1F00-FA7A-42D1-9997-AA44AE411DD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E60F654-037C-416B-9C38-058A036D3E7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0FFF28E-58E9-4539-B7EF-A84A33C8F20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B53FC83-FEE3-4B8E-8355-7B5B29E527A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56703C-3E18-4875-A3DF-E5F0EDD10802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702CAAD-4FED-4C35-9D77-23415AD311C4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06D7DFD-DBE3-4DB5-BED9-940FB5A4AF20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339FF87-EAEA-483C-B7CB-C4AE3857C4DB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calculations by rounding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0A752F-3A5D-4713-AE49-6696E9276DE8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8,102 x 49 using convenient rounded numbers.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E6A0275-5539-4D3B-9728-B25CB55C5A1E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61177E3-7300-43A2-AEC5-4D62176F13BE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DC0E7E0-53C3-4025-8D89-11D7A6C10D12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ACB1738-35A8-4946-A420-A7B1EFF3ECAA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692BF88-CE76-467E-9B7C-872B24B8102F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8,000 x 50 = 400,000.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28591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ECFA56A7-3281-4DEC-8B3C-36071DB3177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C3360F6-79AF-485D-A605-EFA368A14EF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8F97CA4-4C9D-49F1-9EF1-880FBC6B621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3E14BF-FF02-462D-BB50-2F9FC56BABCD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D573348-68BE-466F-9C5C-EB9BF0F06163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D6FB0AB-A76A-490B-9592-82A46654EB93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B3557B2-D87B-43B6-950C-B68C8B53072C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191EDC4-573A-43DC-B7AB-3FF7ACE538EB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9557F7C-26CA-4596-9083-FB0345431300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calculations by rounding</a:t>
            </a: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D277C91A-256B-49B4-869B-069E6B284578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EEC1095-E951-49FD-9CE6-206EDB1ED0D3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believes an estimate must equal the exact answer.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6868EF9-948D-4015-A912-1B4D65D3AD20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80FAEFF-386D-49FB-9DE7-2888A62D6892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68C4938-992D-491F-BCD3-51B737CC9137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An estimate is deliberately approximate and should show the likely size of the exact answer.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72232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A66C475C-E205-4BD6-8843-24E74E45ED9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323D96E-73FC-4BEC-901F-DA9B406B84C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E1820E2-FB3D-4544-A818-671A9B1BFF9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6DE4108-B7BB-4F6D-85C5-1943F4FC7D51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12DE51B-E068-4F55-A0E9-A1D53A8E8799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FCEE4AB-CC43-4A42-8F10-280ED62B8F1E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A2F17DB-6B77-4965-9BDD-7D3C86A07476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F09880-1E8A-49E2-AD37-51065841803C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2A69BB6-4C7E-47EF-A25E-B223A9B0B0E9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calculations by rounding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76027B5-99A7-4A37-B866-A9F20881FCFD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28678D8-325E-4E61-9E74-88EAD50B5333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A5E1FCB-0B15-46C3-A4E1-F6017642E234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542E6A1-2D5A-4F86-9166-03A5DC665BAC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8,102 x 49 using convenient rounded numbers.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DF6A607-041A-414A-A9AA-C9643B6E3948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1E518FA-B5D7-4D33-880B-0D383479A856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8460D84-5848-4962-BF7C-2662B118459A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A89C57C-EB04-46A4-A2B0-59528AFFF257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ED32ADD-FB41-4A4E-8725-C9D2B96CCD40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8BE1791B-5360-4342-8BA2-C7329C982244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6E568E9-B66F-443E-B44A-6B7D884DACB7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BAC75B8-5CA7-4BE6-9370-33B7CF08A9BE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8,000 x 50 = 400,000.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42E49AD-A808-4596-85B4-6CAE6F17D808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6184131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98A27D6F-BDAB-4372-ACD2-751F184E869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4B1FEC6-4D51-43DF-AE38-8AF8744BE5E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270D2D9-22BC-459E-9DDE-724C6DCCB7A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5534F1F-3C9A-4C47-9FF8-5194DBB67DB4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600A45E-7AED-4659-8368-54C05C0892A8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36FA47C-8DD2-46BA-AAA6-C30DC7880A3C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D8E40AF-9AA1-4000-89F3-D403CF3284F0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45B4467-8E48-4D15-9A3F-D2436DA116A8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55AD48-6C09-4324-9DB6-AB31B3830F1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calculations by rounding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866A729-5BC7-4DA7-9584-3C5603C66368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77BE79D-6B39-4EBD-BC0E-950740A03FC5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301D845-BA34-4E06-B515-96A7B42DB58F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676BE5-CBFD-4CC7-A459-B26DE4CFAAF9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623,590 - 188,420 to the nearest 100,000.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9B2A641-9564-4ECC-98FF-ED5F336681B3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2045C456-37E0-4D63-8127-B605F0EBC30C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A08531E-4961-4007-BF21-EF787E2C5EC4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F261B35-F8DE-45DF-9F65-962294BE763C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3B69C068-9329-4984-899D-4259A387A17F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A43F10F4-ACE3-4B47-AD0E-40D7485CD4E6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43E88C9-2E58-4856-B621-53937E697016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BAF0949-D881-4396-AAED-A0D5C308D6AF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741681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A367A8B6-082E-498E-A26F-B950F35A0DA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CD36FEA-33CE-4778-A761-87618DCADF2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4F4C0CA-ACE3-49A8-97F9-6E0094B5E3F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96D0DBE-B169-4695-A390-E27FC2DB9289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FA9F393-5148-40D2-AEAA-3F38B37E20D8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9B74941-D75C-4F04-92D4-2047443E6FD3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F34950-347F-4D8E-82BB-10B941408C4B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58B0080-C278-4D90-886E-3B44F3FCE607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D2C41E7-068B-4945-A127-1F330E6795D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calculations by rounding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713D961-0757-4EE9-90E3-612B7F733139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Choose an efficient estimate for 48,912 x 198 and explain the accuracy.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42855D3-287B-4B0C-9150-E4A41C7B8DCB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BFF38CF-A579-46D7-89BF-983B5000C436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DA98C06-2A89-4588-B44C-87D405146E42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242"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About 50,000 x 200 = 10,000,000. Other justified close estimates are acceptable.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39117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ADCE2A19-3FD5-4FA4-BB04-F28DE4937A9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AF966D8-9CD1-4521-A488-4527E0DD6D2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253A12E-6311-4842-A7F4-15AB9365D2D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179C318-8CB8-4D43-8348-5AFC2F51B545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C7DD01-D7E8-4859-8F1D-81E09792C563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6D3EE53-51D8-4D6D-805A-87AAE11B8E9F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01EFAA-0AD9-4298-A5A5-6019F0DB529C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54849C2-5C21-4EC5-B73F-9D35BD388701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3A1A9F2-B2ED-4DCD-B3B2-623DEEA2A50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calculations by rounding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94E55FD-2FEC-4977-8624-D688A1EE0A7C}"/>
              </a:ext>
            </a:extLst>
          </p:cNvPr>
          <p:cNvSpPr>
            <a:spLocks noGrp="1"/>
          </p:cNvSpPr>
          <p:nvPr/>
        </p:nvSpPr>
        <p:spPr>
          <a:xfrm>
            <a:off x="781050" y="1476375"/>
            <a:ext cx="6667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4AD08D2-A7B7-4476-8EB9-C903C5BC9B38}"/>
              </a:ext>
            </a:extLst>
          </p:cNvPr>
          <p:cNvSpPr>
            <a:spLocks noGrp="1"/>
          </p:cNvSpPr>
          <p:nvPr/>
        </p:nvSpPr>
        <p:spPr>
          <a:xfrm>
            <a:off x="781050" y="2047875"/>
            <a:ext cx="6858000" cy="28575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4288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403DF2D-CE7C-4588-8BF9-F6F6E37E7A63}"/>
              </a:ext>
            </a:extLst>
          </p:cNvPr>
          <p:cNvSpPr>
            <a:spLocks noGrp="1"/>
          </p:cNvSpPr>
          <p:nvPr/>
        </p:nvSpPr>
        <p:spPr>
          <a:xfrm>
            <a:off x="1143000" y="2400300"/>
            <a:ext cx="6115050" cy="1428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623,590 - 188,420 to the nearest 100,000.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CB839E7-9ABF-43E1-9393-42527D5BD679}"/>
              </a:ext>
            </a:extLst>
          </p:cNvPr>
          <p:cNvSpPr>
            <a:spLocks noGrp="1"/>
          </p:cNvSpPr>
          <p:nvPr/>
        </p:nvSpPr>
        <p:spPr>
          <a:xfrm>
            <a:off x="1285875" y="4095750"/>
            <a:ext cx="5810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787E21C-AD90-42EE-8791-D28FF1EC5BBF}"/>
              </a:ext>
            </a:extLst>
          </p:cNvPr>
          <p:cNvSpPr>
            <a:spLocks noGrp="1"/>
          </p:cNvSpPr>
          <p:nvPr/>
        </p:nvSpPr>
        <p:spPr>
          <a:xfrm>
            <a:off x="8210550" y="166687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478A0C73-EF4D-4AF4-905D-14E1538797DA}"/>
              </a:ext>
            </a:extLst>
          </p:cNvPr>
          <p:cNvSpPr>
            <a:spLocks noGrp="1"/>
          </p:cNvSpPr>
          <p:nvPr/>
        </p:nvSpPr>
        <p:spPr>
          <a:xfrm>
            <a:off x="8001000" y="2190750"/>
            <a:ext cx="3048000" cy="2714625"/>
          </a:xfrm>
          <a:prstGeom prst="roundRect">
            <a:avLst>
              <a:gd name="adj" fmla="val 2807"/>
            </a:avLst>
          </a:prstGeom>
          <a:solidFill>
            <a:srgbClr val="E7F1F1"/>
          </a:solidFill>
          <a:ln w="14288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86C8DA2-CBF8-40A9-887D-497E45687D6D}"/>
              </a:ext>
            </a:extLst>
          </p:cNvPr>
          <p:cNvSpPr>
            <a:spLocks noGrp="1"/>
          </p:cNvSpPr>
          <p:nvPr/>
        </p:nvSpPr>
        <p:spPr>
          <a:xfrm>
            <a:off x="8334375" y="2619375"/>
            <a:ext cx="23812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3281"/>
          </a:bodyPr>
          <a:lstStyle/>
          <a:p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GB"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600,000 - 200,000 = 400,000.</a:t>
            </a:r>
            <a:endParaRPr sz="25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3F01FA8-BE04-485A-8EC2-F03B12AA106A}"/>
              </a:ext>
            </a:extLst>
          </p:cNvPr>
          <p:cNvSpPr>
            <a:spLocks noGrp="1"/>
          </p:cNvSpPr>
          <p:nvPr/>
        </p:nvSpPr>
        <p:spPr>
          <a:xfrm>
            <a:off x="8334375" y="4000500"/>
            <a:ext cx="238125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9825"/>
          </a:bodyPr>
          <a:lstStyle/>
          <a:p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GB"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  <a:endParaRPr sz="142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59681C2-5AF8-4738-8CB2-D662DB7AA1F6}"/>
              </a:ext>
            </a:extLst>
          </p:cNvPr>
          <p:cNvSpPr>
            <a:spLocks noGrp="1"/>
          </p:cNvSpPr>
          <p:nvPr/>
        </p:nvSpPr>
        <p:spPr>
          <a:xfrm>
            <a:off x="2190750" y="5334000"/>
            <a:ext cx="7810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21415507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70E0975A-AF8F-4D48-A9B3-446B2EB2224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7EE89CB-178D-42B8-B472-4881B6E7918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6B729C6-AF15-4A07-AB8D-A90BAFF6DC1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83BFA99-2C76-4A07-A40B-A1DD929341A9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FE10B3B-7158-4D0A-98A7-C67538D44034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293052B-DD99-4A32-B2EA-E29EA6220F8A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D4522EA-A46B-477A-B424-299F37787ED6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9802661-F04D-4CE1-85D4-345C8F579C90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1DCD754-22EB-4902-AF71-0FF59E7F35FF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calculations by rounding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85C0A53-6334-45A6-BA04-94B002C8048D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B2E4817-9A16-48A7-8046-DB0752E7A49C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4217A11-4924-4E9D-93CE-B73942434398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073052C-9D15-49B0-99CF-06EED771B2F1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623,590 - 188,420 to the nearest 100,000.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474929D-D052-44FC-978E-4117E44D4122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E5DE973D-9FF3-4241-ACC9-3A31258D2951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6786F55-4E24-4C9E-AD47-08ADA64CD512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D355CE6-E05E-4F62-BAE7-FD73388BCE7E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believes an estimate must equal the exact answer.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D26ADE71-7092-4C49-AD54-ED2594E86C9A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B4ABB55-CA5F-4952-92D0-7567E9CB0741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94B431A-9F48-4A6F-BAF2-BA65423EBBDB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EA91F82-4E23-4FA6-BB0F-3CE41DE1395D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4A6EBCA-1AAA-4073-B6F8-BE3628BF3904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686721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1195</Words>
  <Application>Microsoft Office PowerPoint</Application>
  <DocSecurity>0</DocSecurity>
  <PresentationFormat>Widescreen</PresentationFormat>
  <Paragraphs>153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2026-09-09T10:55:54Z</dcterms:created>
  <dcterms:modified xsi:type="dcterms:W3CDTF">2026-09-09T11:02:27Z</dcterms:modified>
</cp:coreProperties>
</file>