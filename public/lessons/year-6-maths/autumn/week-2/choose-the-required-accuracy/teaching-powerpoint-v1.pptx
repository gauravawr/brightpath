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Choose the required accuracy. Choose the required accuracy.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Choose the required accuracy. I do. Mark the two multiples and halfway point. Compare the position with halfway.</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Choose the required accuracy. You do. Pause before clicking. Let pupils try independently, then reveal and discuss every step. Mark the two multiples and halfway point. Compare the position with halfway.</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Choose the required accuracy. I do. Mark the two multiples and halfway point. Compare the position with halfway.</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Choose the required accuracy. You do. Pause before clicking. Let pupils try independently, then reveal and discuss every step. Mark the two multiples and halfway point. Compare the position with halfway.</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Choose the required accuracy.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Choose the required accuracy.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BB3D0F4C-B787-41AB-AAD4-6D1AB2F9AC1D}"/>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Choose the required accuracy</a:t>
            </a:r>
          </a:p>
        </p:txBody>
      </p:sp>
      <p:sp>
        <p:nvSpPr>
          <p:cNvPr id="2" name="object-2">
            <a:extLst>
              <a:ext uri="{FF2B5EF4-FFF2-40B4-BE49-F238E27FC236}">
                <a16:creationId xmlns:a16="http://schemas.microsoft.com/office/drawing/2014/main" id="{D5618021-9DC6-40D5-A327-70CFDE8F32CE}"/>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D77AAAE7-DA27-477D-826C-B0F6E23BE89F}"/>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FF1A3CA1-1C36-4B87-A389-C59F74588733}"/>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Choose the required accuracy</a:t>
            </a:r>
          </a:p>
        </p:txBody>
      </p:sp>
      <p:sp>
        <p:nvSpPr>
          <p:cNvPr id="5" name="object-5">
            <a:extLst>
              <a:ext uri="{FF2B5EF4-FFF2-40B4-BE49-F238E27FC236}">
                <a16:creationId xmlns:a16="http://schemas.microsoft.com/office/drawing/2014/main" id="{B79F198D-3B72-4C06-9398-B55BA48121EF}"/>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DEC466DB-F463-4F12-8412-E0D462C09CF8}"/>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round a number to a stated degree of accuracy.</a:t>
            </a:r>
          </a:p>
        </p:txBody>
      </p:sp>
    </p:spTree>
    <p:extLst>
      <p:ext uri="{BB962C8B-B14F-4D97-AF65-F5344CB8AC3E}">
        <p14:creationId xmlns:p14="http://schemas.microsoft.com/office/powerpoint/2010/main" val="9344574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object-1">
            <a:extLst>
              <a:ext uri="{FF2B5EF4-FFF2-40B4-BE49-F238E27FC236}">
                <a16:creationId xmlns:a16="http://schemas.microsoft.com/office/drawing/2014/main" id="{91A38EDD-DAA5-4754-B41A-75DE34DC2F4A}"/>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21ED060E-661C-4697-BF5A-AD0ACC6F17AC}"/>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Round 384,650 to the nearest 10,000.</a:t>
            </a:r>
          </a:p>
        </p:txBody>
      </p:sp>
      <p:sp>
        <p:nvSpPr>
          <p:cNvPr id="3" name="object-3">
            <a:extLst>
              <a:ext uri="{FF2B5EF4-FFF2-40B4-BE49-F238E27FC236}">
                <a16:creationId xmlns:a16="http://schemas.microsoft.com/office/drawing/2014/main" id="{D34EC0D8-9CE5-460D-B050-1C235284D102}"/>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131235A3-2716-4F16-9DDC-CF63BA1A7769}"/>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Choose the required accuracy</a:t>
            </a:r>
          </a:p>
        </p:txBody>
      </p:sp>
      <p:sp>
        <p:nvSpPr>
          <p:cNvPr id="5" name="object-5">
            <a:extLst>
              <a:ext uri="{FF2B5EF4-FFF2-40B4-BE49-F238E27FC236}">
                <a16:creationId xmlns:a16="http://schemas.microsoft.com/office/drawing/2014/main" id="{F4A83CA4-30BB-4523-BDC6-B362BFA145BD}"/>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50504CF0-8B3B-4074-87B8-ABC6E063C82B}"/>
              </a:ext>
            </a:extLst>
          </p:cNvPr>
          <p:cNvSpPr>
            <a:spLocks noGrp="1"/>
          </p:cNvSpPr>
          <p:nvPr/>
        </p:nvSpPr>
        <p:spPr>
          <a:xfrm>
            <a:off x="2024063" y="4524375"/>
            <a:ext cx="10953750" cy="35719"/>
          </a:xfrm>
          <a:prstGeom prst="rect">
            <a:avLst/>
          </a:prstGeom>
          <a:solidFill>
            <a:srgbClr val="172B4D"/>
          </a:solidFill>
          <a:ln w="0">
            <a:noFill/>
          </a:ln>
        </p:spPr>
      </p:sp>
      <p:sp>
        <p:nvSpPr>
          <p:cNvPr id="7" name="object-7">
            <a:extLst>
              <a:ext uri="{FF2B5EF4-FFF2-40B4-BE49-F238E27FC236}">
                <a16:creationId xmlns:a16="http://schemas.microsoft.com/office/drawing/2014/main" id="{F6CBF274-095C-4263-BFB5-D21C917A4895}"/>
              </a:ext>
            </a:extLst>
          </p:cNvPr>
          <p:cNvSpPr>
            <a:spLocks noGrp="1"/>
          </p:cNvSpPr>
          <p:nvPr/>
        </p:nvSpPr>
        <p:spPr>
          <a:xfrm>
            <a:off x="2024063" y="4310063"/>
            <a:ext cx="0" cy="440531"/>
          </a:xfrm>
          <a:prstGeom prst="line">
            <a:avLst/>
          </a:prstGeom>
          <a:noFill/>
          <a:ln w="35719">
            <a:solidFill>
              <a:srgbClr val="172B4D"/>
            </a:solidFill>
          </a:ln>
        </p:spPr>
      </p:sp>
      <p:sp>
        <p:nvSpPr>
          <p:cNvPr id="8" name="object-8">
            <a:extLst>
              <a:ext uri="{FF2B5EF4-FFF2-40B4-BE49-F238E27FC236}">
                <a16:creationId xmlns:a16="http://schemas.microsoft.com/office/drawing/2014/main" id="{8C453DE7-6B91-4B9D-BD1E-AFB23C40BB78}"/>
              </a:ext>
            </a:extLst>
          </p:cNvPr>
          <p:cNvSpPr>
            <a:spLocks noGrp="1"/>
          </p:cNvSpPr>
          <p:nvPr/>
        </p:nvSpPr>
        <p:spPr>
          <a:xfrm>
            <a:off x="297656" y="4941094"/>
            <a:ext cx="3452813" cy="654844"/>
          </a:xfrm>
          <a:prstGeom prst="rect">
            <a:avLst/>
          </a:prstGeom>
          <a:noFill/>
          <a:ln w="0">
            <a:noFill/>
          </a:ln>
        </p:spPr>
        <p:txBody>
          <a:bodyPr anchor="ctr">
            <a:noAutofit/>
          </a:bodyPr>
          <a:lstStyle/>
          <a:p>
            <a:pPr algn="ctr">
              <a:defRPr sz="2625" b="1">
                <a:solidFill>
                  <a:srgbClr val="172B4D"/>
                </a:solidFill>
                <a:latin typeface="Arial"/>
                <a:ea typeface="Arial"/>
                <a:cs typeface="Arial"/>
              </a:defRPr>
            </a:pPr>
            <a:r>
              <a:rPr sz="2625" b="1">
                <a:solidFill>
                  <a:srgbClr val="172B4D"/>
                </a:solidFill>
                <a:latin typeface="Arial"/>
                <a:ea typeface="Arial"/>
                <a:cs typeface="Arial"/>
              </a:rPr>
              <a:t>380,000</a:t>
            </a:r>
          </a:p>
        </p:txBody>
      </p:sp>
      <p:sp>
        <p:nvSpPr>
          <p:cNvPr id="9" name="object-9">
            <a:extLst>
              <a:ext uri="{FF2B5EF4-FFF2-40B4-BE49-F238E27FC236}">
                <a16:creationId xmlns:a16="http://schemas.microsoft.com/office/drawing/2014/main" id="{C12175CB-15D5-4F3C-BC11-00F33BB74859}"/>
              </a:ext>
            </a:extLst>
          </p:cNvPr>
          <p:cNvSpPr>
            <a:spLocks noGrp="1"/>
          </p:cNvSpPr>
          <p:nvPr/>
        </p:nvSpPr>
        <p:spPr>
          <a:xfrm>
            <a:off x="7500938" y="4310063"/>
            <a:ext cx="0" cy="440531"/>
          </a:xfrm>
          <a:prstGeom prst="line">
            <a:avLst/>
          </a:prstGeom>
          <a:noFill/>
          <a:ln w="35719">
            <a:solidFill>
              <a:srgbClr val="172B4D"/>
            </a:solidFill>
          </a:ln>
        </p:spPr>
      </p:sp>
      <p:sp>
        <p:nvSpPr>
          <p:cNvPr id="10" name="object-10">
            <a:extLst>
              <a:ext uri="{FF2B5EF4-FFF2-40B4-BE49-F238E27FC236}">
                <a16:creationId xmlns:a16="http://schemas.microsoft.com/office/drawing/2014/main" id="{AB1083F6-D78A-4B5B-ACD9-49C3BABFE559}"/>
              </a:ext>
            </a:extLst>
          </p:cNvPr>
          <p:cNvSpPr>
            <a:spLocks noGrp="1"/>
          </p:cNvSpPr>
          <p:nvPr/>
        </p:nvSpPr>
        <p:spPr>
          <a:xfrm>
            <a:off x="5774531" y="4941094"/>
            <a:ext cx="3452813" cy="654844"/>
          </a:xfrm>
          <a:prstGeom prst="rect">
            <a:avLst/>
          </a:prstGeom>
          <a:noFill/>
          <a:ln w="0">
            <a:noFill/>
          </a:ln>
        </p:spPr>
        <p:txBody>
          <a:bodyPr anchor="ctr">
            <a:noAutofit/>
          </a:bodyPr>
          <a:lstStyle/>
          <a:p>
            <a:pPr algn="ctr">
              <a:defRPr sz="2625" b="1">
                <a:solidFill>
                  <a:srgbClr val="172B4D"/>
                </a:solidFill>
                <a:latin typeface="Arial"/>
                <a:ea typeface="Arial"/>
                <a:cs typeface="Arial"/>
              </a:defRPr>
            </a:pPr>
            <a:r>
              <a:rPr sz="2625" b="1">
                <a:solidFill>
                  <a:srgbClr val="172B4D"/>
                </a:solidFill>
                <a:latin typeface="Arial"/>
                <a:ea typeface="Arial"/>
                <a:cs typeface="Arial"/>
              </a:rPr>
              <a:t>385,000</a:t>
            </a:r>
          </a:p>
        </p:txBody>
      </p:sp>
      <p:sp>
        <p:nvSpPr>
          <p:cNvPr id="11" name="object-11">
            <a:extLst>
              <a:ext uri="{FF2B5EF4-FFF2-40B4-BE49-F238E27FC236}">
                <a16:creationId xmlns:a16="http://schemas.microsoft.com/office/drawing/2014/main" id="{4788BB83-AD44-4902-8B94-FFBF21B58497}"/>
              </a:ext>
            </a:extLst>
          </p:cNvPr>
          <p:cNvSpPr>
            <a:spLocks noGrp="1"/>
          </p:cNvSpPr>
          <p:nvPr/>
        </p:nvSpPr>
        <p:spPr>
          <a:xfrm>
            <a:off x="12977813" y="4310063"/>
            <a:ext cx="0" cy="440531"/>
          </a:xfrm>
          <a:prstGeom prst="line">
            <a:avLst/>
          </a:prstGeom>
          <a:noFill/>
          <a:ln w="35719">
            <a:solidFill>
              <a:srgbClr val="172B4D"/>
            </a:solidFill>
          </a:ln>
        </p:spPr>
      </p:sp>
      <p:sp>
        <p:nvSpPr>
          <p:cNvPr id="12" name="object-12">
            <a:extLst>
              <a:ext uri="{FF2B5EF4-FFF2-40B4-BE49-F238E27FC236}">
                <a16:creationId xmlns:a16="http://schemas.microsoft.com/office/drawing/2014/main" id="{7BA66F6E-2763-463D-B730-B1A555480A81}"/>
              </a:ext>
            </a:extLst>
          </p:cNvPr>
          <p:cNvSpPr>
            <a:spLocks noGrp="1"/>
          </p:cNvSpPr>
          <p:nvPr/>
        </p:nvSpPr>
        <p:spPr>
          <a:xfrm>
            <a:off x="11251406" y="4941094"/>
            <a:ext cx="3452813" cy="654844"/>
          </a:xfrm>
          <a:prstGeom prst="rect">
            <a:avLst/>
          </a:prstGeom>
          <a:noFill/>
          <a:ln w="0">
            <a:noFill/>
          </a:ln>
        </p:spPr>
        <p:txBody>
          <a:bodyPr anchor="ctr">
            <a:noAutofit/>
          </a:bodyPr>
          <a:lstStyle/>
          <a:p>
            <a:pPr algn="ctr">
              <a:defRPr sz="2625" b="1">
                <a:solidFill>
                  <a:srgbClr val="172B4D"/>
                </a:solidFill>
                <a:latin typeface="Arial"/>
                <a:ea typeface="Arial"/>
                <a:cs typeface="Arial"/>
              </a:defRPr>
            </a:pPr>
            <a:r>
              <a:rPr sz="2625" b="1">
                <a:solidFill>
                  <a:srgbClr val="172B4D"/>
                </a:solidFill>
                <a:latin typeface="Arial"/>
                <a:ea typeface="Arial"/>
                <a:cs typeface="Arial"/>
              </a:rPr>
              <a:t>390,000</a:t>
            </a:r>
          </a:p>
        </p:txBody>
      </p:sp>
      <p:sp>
        <p:nvSpPr>
          <p:cNvPr id="13" name="object-13">
            <a:extLst>
              <a:ext uri="{FF2B5EF4-FFF2-40B4-BE49-F238E27FC236}">
                <a16:creationId xmlns:a16="http://schemas.microsoft.com/office/drawing/2014/main" id="{A41C7FAB-46CE-49B1-9054-8ECA83A8BA41}"/>
              </a:ext>
            </a:extLst>
          </p:cNvPr>
          <p:cNvSpPr>
            <a:spLocks noGrp="1"/>
          </p:cNvSpPr>
          <p:nvPr/>
        </p:nvSpPr>
        <p:spPr>
          <a:xfrm>
            <a:off x="5893594" y="5715000"/>
            <a:ext cx="3214688" cy="535781"/>
          </a:xfrm>
          <a:prstGeom prst="rect">
            <a:avLst/>
          </a:prstGeom>
          <a:noFill/>
          <a:ln w="0">
            <a:noFill/>
          </a:ln>
        </p:spPr>
        <p:txBody>
          <a:bodyPr anchor="ctr">
            <a:noAutofit/>
          </a:bodyPr>
          <a:lstStyle/>
          <a:p>
            <a:pPr algn="ctr">
              <a:defRPr sz="2625" b="0">
                <a:solidFill>
                  <a:srgbClr val="52647A"/>
                </a:solidFill>
                <a:latin typeface="Arial"/>
                <a:ea typeface="Arial"/>
                <a:cs typeface="Arial"/>
              </a:defRPr>
            </a:pPr>
            <a:r>
              <a:rPr sz="2625" b="0">
                <a:solidFill>
                  <a:srgbClr val="52647A"/>
                </a:solidFill>
                <a:latin typeface="Arial"/>
                <a:ea typeface="Arial"/>
                <a:cs typeface="Arial"/>
              </a:rPr>
              <a:t>halfway</a:t>
            </a:r>
          </a:p>
        </p:txBody>
      </p:sp>
      <p:sp>
        <p:nvSpPr>
          <p:cNvPr id="14" name="object-14">
            <a:extLst>
              <a:ext uri="{FF2B5EF4-FFF2-40B4-BE49-F238E27FC236}">
                <a16:creationId xmlns:a16="http://schemas.microsoft.com/office/drawing/2014/main" id="{2F630069-370B-41A9-882E-22C6463ED826}"/>
              </a:ext>
            </a:extLst>
          </p:cNvPr>
          <p:cNvSpPr>
            <a:spLocks noGrp="1"/>
          </p:cNvSpPr>
          <p:nvPr/>
        </p:nvSpPr>
        <p:spPr>
          <a:xfrm>
            <a:off x="1785938" y="3274219"/>
            <a:ext cx="357188" cy="357188"/>
          </a:xfrm>
          <a:prstGeom prst="ellipse">
            <a:avLst/>
          </a:prstGeom>
          <a:solidFill>
            <a:srgbClr val="1D4ED8"/>
          </a:solidFill>
          <a:ln w="11906">
            <a:solidFill>
              <a:srgbClr val="172B4D"/>
            </a:solidFill>
          </a:ln>
        </p:spPr>
      </p:sp>
      <p:sp>
        <p:nvSpPr>
          <p:cNvPr id="15" name="object-15">
            <a:extLst>
              <a:ext uri="{FF2B5EF4-FFF2-40B4-BE49-F238E27FC236}">
                <a16:creationId xmlns:a16="http://schemas.microsoft.com/office/drawing/2014/main" id="{2E1EF3C5-490A-485A-85D7-26C760B3AA6B}"/>
              </a:ext>
            </a:extLst>
          </p:cNvPr>
          <p:cNvSpPr>
            <a:spLocks noGrp="1"/>
          </p:cNvSpPr>
          <p:nvPr/>
        </p:nvSpPr>
        <p:spPr>
          <a:xfrm>
            <a:off x="5212556" y="3036094"/>
            <a:ext cx="3810000" cy="654844"/>
          </a:xfrm>
          <a:prstGeom prst="rect">
            <a:avLst/>
          </a:prstGeom>
          <a:noFill/>
          <a:ln w="0">
            <a:noFill/>
          </a:ln>
        </p:spPr>
        <p:txBody>
          <a:bodyPr anchor="ctr">
            <a:noAutofit/>
          </a:bodyPr>
          <a:lstStyle/>
          <a:p>
            <a:pPr algn="ctr">
              <a:defRPr sz="3000" b="1">
                <a:solidFill>
                  <a:srgbClr val="1D4ED8"/>
                </a:solidFill>
                <a:latin typeface="Arial"/>
                <a:ea typeface="Arial"/>
                <a:cs typeface="Arial"/>
              </a:defRPr>
            </a:pPr>
            <a:r>
              <a:rPr sz="3000" b="1">
                <a:solidFill>
                  <a:srgbClr val="1D4ED8"/>
                </a:solidFill>
                <a:latin typeface="Arial"/>
                <a:ea typeface="Arial"/>
                <a:cs typeface="Arial"/>
              </a:rPr>
              <a:t>384,650</a:t>
            </a:r>
          </a:p>
        </p:txBody>
      </p:sp>
      <p:sp>
        <p:nvSpPr>
          <p:cNvPr id="16" name="object-16">
            <a:extLst>
              <a:ext uri="{FF2B5EF4-FFF2-40B4-BE49-F238E27FC236}">
                <a16:creationId xmlns:a16="http://schemas.microsoft.com/office/drawing/2014/main" id="{ECF728CD-9BFF-4B12-82A3-52CACE32CF62}"/>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384,650 rounds to 380,000.</a:t>
            </a:r>
          </a:p>
        </p:txBody>
      </p:sp>
    </p:spTree>
    <p:extLst>
      <p:ext uri="{BB962C8B-B14F-4D97-AF65-F5344CB8AC3E}">
        <p14:creationId xmlns:p14="http://schemas.microsoft.com/office/powerpoint/2010/main" val="187258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nodeType="clickEffect">
                                  <p:stCondLst>
                                    <p:cond delay="0"/>
                                  </p:stCondLst>
                                  <p:childTnLst>
                                    <p:animMotion origin="layout" path="M 0 0 L 0.338125 0.1 E" pathEditMode="relative" ptsTypes="">
                                      <p:cBhvr>
                                        <p:cTn id="10" dur="800" fill="hold"/>
                                        <p:tgtEl>
                                          <p:spTgt spid="14"/>
                                        </p:tgtEl>
                                        <p:attrNameLst>
                                          <p:attrName>ppt_x</p:attrName>
                                          <p:attrName>ppt_y</p:attrName>
                                        </p:attrNameLst>
                                      </p:cBhvr>
                                    </p:animMotion>
                                  </p:childTnLst>
                                </p:cTn>
                              </p:par>
                            </p:childTnLst>
                          </p:cTn>
                        </p:par>
                        <p:par>
                          <p:cTn id="11" fill="hold">
                            <p:stCondLst>
                              <p:cond delay="800"/>
                            </p:stCondLst>
                            <p:childTnLst>
                              <p:par>
                                <p:cTn id="12" presetID="1" presetClass="entr" presetSubtype="0" fill="hold" grpId="0" nodeType="afterEffect">
                                  <p:stCondLst>
                                    <p:cond delay="0"/>
                                  </p:stCondLst>
                                  <p:childTnLst>
                                    <p:set>
                                      <p:cBhvr>
                                        <p:cTn id="13" dur="1" fill="hold">
                                          <p:stCondLst>
                                            <p:cond delay="0"/>
                                          </p:stCondLst>
                                        </p:cTn>
                                        <p:tgtEl>
                                          <p:spTgt spid="15"/>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5" grpId="0"/>
      <p:bldP spid="16"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object-1">
            <a:extLst>
              <a:ext uri="{FF2B5EF4-FFF2-40B4-BE49-F238E27FC236}">
                <a16:creationId xmlns:a16="http://schemas.microsoft.com/office/drawing/2014/main" id="{5DCA10AF-A6B0-4896-A71C-4958B6F83B75}"/>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88D1B166-6602-4BCB-97FB-A6316CF467AA}"/>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77FA7784-6C02-44A1-A672-2EA4CA339F0B}"/>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Round 394,650 to the nearest 10,000.</a:t>
            </a:r>
          </a:p>
        </p:txBody>
      </p:sp>
      <p:sp>
        <p:nvSpPr>
          <p:cNvPr id="4" name="object-4">
            <a:extLst>
              <a:ext uri="{FF2B5EF4-FFF2-40B4-BE49-F238E27FC236}">
                <a16:creationId xmlns:a16="http://schemas.microsoft.com/office/drawing/2014/main" id="{34C43EEB-A973-4F95-8E28-663FC9BE5F42}"/>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7D4C2827-DA9E-44C3-ADF7-C4D0196D359F}"/>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Choose the required accuracy</a:t>
            </a:r>
          </a:p>
        </p:txBody>
      </p:sp>
      <p:sp>
        <p:nvSpPr>
          <p:cNvPr id="6" name="object-6">
            <a:extLst>
              <a:ext uri="{FF2B5EF4-FFF2-40B4-BE49-F238E27FC236}">
                <a16:creationId xmlns:a16="http://schemas.microsoft.com/office/drawing/2014/main" id="{2E6F1DA1-BA9A-4759-96C6-3879F604C270}"/>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B1A6E935-FD19-43D9-A86F-975C52E29849}"/>
              </a:ext>
            </a:extLst>
          </p:cNvPr>
          <p:cNvSpPr>
            <a:spLocks noGrp="1"/>
          </p:cNvSpPr>
          <p:nvPr/>
        </p:nvSpPr>
        <p:spPr>
          <a:xfrm>
            <a:off x="2024063" y="4524375"/>
            <a:ext cx="10953750" cy="35719"/>
          </a:xfrm>
          <a:prstGeom prst="rect">
            <a:avLst/>
          </a:prstGeom>
          <a:solidFill>
            <a:srgbClr val="172B4D"/>
          </a:solidFill>
          <a:ln w="0">
            <a:noFill/>
          </a:ln>
        </p:spPr>
      </p:sp>
      <p:sp>
        <p:nvSpPr>
          <p:cNvPr id="8" name="object-8">
            <a:extLst>
              <a:ext uri="{FF2B5EF4-FFF2-40B4-BE49-F238E27FC236}">
                <a16:creationId xmlns:a16="http://schemas.microsoft.com/office/drawing/2014/main" id="{D73BF040-A569-4F55-AAE8-BB29EFBB22C8}"/>
              </a:ext>
            </a:extLst>
          </p:cNvPr>
          <p:cNvSpPr>
            <a:spLocks noGrp="1"/>
          </p:cNvSpPr>
          <p:nvPr/>
        </p:nvSpPr>
        <p:spPr>
          <a:xfrm>
            <a:off x="2024063" y="4310063"/>
            <a:ext cx="0" cy="440531"/>
          </a:xfrm>
          <a:prstGeom prst="line">
            <a:avLst/>
          </a:prstGeom>
          <a:noFill/>
          <a:ln w="35719">
            <a:solidFill>
              <a:srgbClr val="172B4D"/>
            </a:solidFill>
          </a:ln>
        </p:spPr>
      </p:sp>
      <p:sp>
        <p:nvSpPr>
          <p:cNvPr id="9" name="object-9">
            <a:extLst>
              <a:ext uri="{FF2B5EF4-FFF2-40B4-BE49-F238E27FC236}">
                <a16:creationId xmlns:a16="http://schemas.microsoft.com/office/drawing/2014/main" id="{4C030C58-C7E7-4F40-AAB0-BC69D3782212}"/>
              </a:ext>
            </a:extLst>
          </p:cNvPr>
          <p:cNvSpPr>
            <a:spLocks noGrp="1"/>
          </p:cNvSpPr>
          <p:nvPr/>
        </p:nvSpPr>
        <p:spPr>
          <a:xfrm>
            <a:off x="297656" y="4941094"/>
            <a:ext cx="3452813" cy="654844"/>
          </a:xfrm>
          <a:prstGeom prst="rect">
            <a:avLst/>
          </a:prstGeom>
          <a:noFill/>
          <a:ln w="0">
            <a:noFill/>
          </a:ln>
        </p:spPr>
        <p:txBody>
          <a:bodyPr anchor="ctr">
            <a:noAutofit/>
          </a:bodyPr>
          <a:lstStyle/>
          <a:p>
            <a:pPr algn="ctr">
              <a:defRPr sz="2625" b="1">
                <a:solidFill>
                  <a:srgbClr val="172B4D"/>
                </a:solidFill>
                <a:latin typeface="Arial"/>
                <a:ea typeface="Arial"/>
                <a:cs typeface="Arial"/>
              </a:defRPr>
            </a:pPr>
            <a:r>
              <a:rPr sz="2625" b="1">
                <a:solidFill>
                  <a:srgbClr val="172B4D"/>
                </a:solidFill>
                <a:latin typeface="Arial"/>
                <a:ea typeface="Arial"/>
                <a:cs typeface="Arial"/>
              </a:rPr>
              <a:t>390,000</a:t>
            </a:r>
          </a:p>
        </p:txBody>
      </p:sp>
      <p:sp>
        <p:nvSpPr>
          <p:cNvPr id="10" name="object-10">
            <a:extLst>
              <a:ext uri="{FF2B5EF4-FFF2-40B4-BE49-F238E27FC236}">
                <a16:creationId xmlns:a16="http://schemas.microsoft.com/office/drawing/2014/main" id="{1F95B455-9D13-4636-AEEB-07736BF73AE8}"/>
              </a:ext>
            </a:extLst>
          </p:cNvPr>
          <p:cNvSpPr>
            <a:spLocks noGrp="1"/>
          </p:cNvSpPr>
          <p:nvPr/>
        </p:nvSpPr>
        <p:spPr>
          <a:xfrm>
            <a:off x="7500938" y="4310063"/>
            <a:ext cx="0" cy="440531"/>
          </a:xfrm>
          <a:prstGeom prst="line">
            <a:avLst/>
          </a:prstGeom>
          <a:noFill/>
          <a:ln w="35719">
            <a:solidFill>
              <a:srgbClr val="172B4D"/>
            </a:solidFill>
          </a:ln>
        </p:spPr>
      </p:sp>
      <p:sp>
        <p:nvSpPr>
          <p:cNvPr id="11" name="object-11">
            <a:extLst>
              <a:ext uri="{FF2B5EF4-FFF2-40B4-BE49-F238E27FC236}">
                <a16:creationId xmlns:a16="http://schemas.microsoft.com/office/drawing/2014/main" id="{76E0D950-F5EF-4ECE-A91B-1AAEC6D933DF}"/>
              </a:ext>
            </a:extLst>
          </p:cNvPr>
          <p:cNvSpPr>
            <a:spLocks noGrp="1"/>
          </p:cNvSpPr>
          <p:nvPr/>
        </p:nvSpPr>
        <p:spPr>
          <a:xfrm>
            <a:off x="5774531" y="4941094"/>
            <a:ext cx="3452813" cy="654844"/>
          </a:xfrm>
          <a:prstGeom prst="rect">
            <a:avLst/>
          </a:prstGeom>
          <a:noFill/>
          <a:ln w="0">
            <a:noFill/>
          </a:ln>
        </p:spPr>
        <p:txBody>
          <a:bodyPr anchor="ctr">
            <a:noAutofit/>
          </a:bodyPr>
          <a:lstStyle/>
          <a:p>
            <a:pPr algn="ctr">
              <a:defRPr sz="2625" b="1">
                <a:solidFill>
                  <a:srgbClr val="172B4D"/>
                </a:solidFill>
                <a:latin typeface="Arial"/>
                <a:ea typeface="Arial"/>
                <a:cs typeface="Arial"/>
              </a:defRPr>
            </a:pPr>
            <a:r>
              <a:rPr sz="2625" b="1">
                <a:solidFill>
                  <a:srgbClr val="172B4D"/>
                </a:solidFill>
                <a:latin typeface="Arial"/>
                <a:ea typeface="Arial"/>
                <a:cs typeface="Arial"/>
              </a:rPr>
              <a:t>395,000</a:t>
            </a:r>
          </a:p>
        </p:txBody>
      </p:sp>
      <p:sp>
        <p:nvSpPr>
          <p:cNvPr id="12" name="object-12">
            <a:extLst>
              <a:ext uri="{FF2B5EF4-FFF2-40B4-BE49-F238E27FC236}">
                <a16:creationId xmlns:a16="http://schemas.microsoft.com/office/drawing/2014/main" id="{E4357971-D4AB-4F17-9253-04DD2AC81033}"/>
              </a:ext>
            </a:extLst>
          </p:cNvPr>
          <p:cNvSpPr>
            <a:spLocks noGrp="1"/>
          </p:cNvSpPr>
          <p:nvPr/>
        </p:nvSpPr>
        <p:spPr>
          <a:xfrm>
            <a:off x="12977813" y="4310063"/>
            <a:ext cx="0" cy="440531"/>
          </a:xfrm>
          <a:prstGeom prst="line">
            <a:avLst/>
          </a:prstGeom>
          <a:noFill/>
          <a:ln w="35719">
            <a:solidFill>
              <a:srgbClr val="172B4D"/>
            </a:solidFill>
          </a:ln>
        </p:spPr>
      </p:sp>
      <p:sp>
        <p:nvSpPr>
          <p:cNvPr id="13" name="object-13">
            <a:extLst>
              <a:ext uri="{FF2B5EF4-FFF2-40B4-BE49-F238E27FC236}">
                <a16:creationId xmlns:a16="http://schemas.microsoft.com/office/drawing/2014/main" id="{80593412-0344-4826-A29B-8E80404EF977}"/>
              </a:ext>
            </a:extLst>
          </p:cNvPr>
          <p:cNvSpPr>
            <a:spLocks noGrp="1"/>
          </p:cNvSpPr>
          <p:nvPr/>
        </p:nvSpPr>
        <p:spPr>
          <a:xfrm>
            <a:off x="11251406" y="4941094"/>
            <a:ext cx="3452813" cy="654844"/>
          </a:xfrm>
          <a:prstGeom prst="rect">
            <a:avLst/>
          </a:prstGeom>
          <a:noFill/>
          <a:ln w="0">
            <a:noFill/>
          </a:ln>
        </p:spPr>
        <p:txBody>
          <a:bodyPr anchor="ctr">
            <a:noAutofit/>
          </a:bodyPr>
          <a:lstStyle/>
          <a:p>
            <a:pPr algn="ctr">
              <a:defRPr sz="2625" b="1">
                <a:solidFill>
                  <a:srgbClr val="172B4D"/>
                </a:solidFill>
                <a:latin typeface="Arial"/>
                <a:ea typeface="Arial"/>
                <a:cs typeface="Arial"/>
              </a:defRPr>
            </a:pPr>
            <a:r>
              <a:rPr sz="2625" b="1">
                <a:solidFill>
                  <a:srgbClr val="172B4D"/>
                </a:solidFill>
                <a:latin typeface="Arial"/>
                <a:ea typeface="Arial"/>
                <a:cs typeface="Arial"/>
              </a:rPr>
              <a:t>400,000</a:t>
            </a:r>
          </a:p>
        </p:txBody>
      </p:sp>
      <p:sp>
        <p:nvSpPr>
          <p:cNvPr id="14" name="object-14">
            <a:extLst>
              <a:ext uri="{FF2B5EF4-FFF2-40B4-BE49-F238E27FC236}">
                <a16:creationId xmlns:a16="http://schemas.microsoft.com/office/drawing/2014/main" id="{069EC4A0-E5CD-4D4B-AE16-92ED7E9E1BB6}"/>
              </a:ext>
            </a:extLst>
          </p:cNvPr>
          <p:cNvSpPr>
            <a:spLocks noGrp="1"/>
          </p:cNvSpPr>
          <p:nvPr/>
        </p:nvSpPr>
        <p:spPr>
          <a:xfrm>
            <a:off x="5893594" y="5715000"/>
            <a:ext cx="3214688" cy="535781"/>
          </a:xfrm>
          <a:prstGeom prst="rect">
            <a:avLst/>
          </a:prstGeom>
          <a:noFill/>
          <a:ln w="0">
            <a:noFill/>
          </a:ln>
        </p:spPr>
        <p:txBody>
          <a:bodyPr anchor="ctr">
            <a:noAutofit/>
          </a:bodyPr>
          <a:lstStyle/>
          <a:p>
            <a:pPr algn="ctr">
              <a:defRPr sz="2625" b="0">
                <a:solidFill>
                  <a:srgbClr val="52647A"/>
                </a:solidFill>
                <a:latin typeface="Arial"/>
                <a:ea typeface="Arial"/>
                <a:cs typeface="Arial"/>
              </a:defRPr>
            </a:pPr>
            <a:r>
              <a:rPr sz="2625" b="0">
                <a:solidFill>
                  <a:srgbClr val="52647A"/>
                </a:solidFill>
                <a:latin typeface="Arial"/>
                <a:ea typeface="Arial"/>
                <a:cs typeface="Arial"/>
              </a:rPr>
              <a:t>halfway</a:t>
            </a:r>
          </a:p>
        </p:txBody>
      </p:sp>
      <p:sp>
        <p:nvSpPr>
          <p:cNvPr id="15" name="object-15">
            <a:extLst>
              <a:ext uri="{FF2B5EF4-FFF2-40B4-BE49-F238E27FC236}">
                <a16:creationId xmlns:a16="http://schemas.microsoft.com/office/drawing/2014/main" id="{87B0C994-D2BC-4C59-8D52-0E2ABC742F85}"/>
              </a:ext>
            </a:extLst>
          </p:cNvPr>
          <p:cNvSpPr>
            <a:spLocks noGrp="1"/>
          </p:cNvSpPr>
          <p:nvPr/>
        </p:nvSpPr>
        <p:spPr>
          <a:xfrm>
            <a:off x="1785938" y="3274219"/>
            <a:ext cx="357188" cy="357188"/>
          </a:xfrm>
          <a:prstGeom prst="ellipse">
            <a:avLst/>
          </a:prstGeom>
          <a:solidFill>
            <a:srgbClr val="1D4ED8"/>
          </a:solidFill>
          <a:ln w="11906">
            <a:solidFill>
              <a:srgbClr val="172B4D"/>
            </a:solidFill>
          </a:ln>
        </p:spPr>
      </p:sp>
      <p:sp>
        <p:nvSpPr>
          <p:cNvPr id="16" name="object-16">
            <a:extLst>
              <a:ext uri="{FF2B5EF4-FFF2-40B4-BE49-F238E27FC236}">
                <a16:creationId xmlns:a16="http://schemas.microsoft.com/office/drawing/2014/main" id="{88F61CCF-3CE2-41BF-B9C8-2D4322EC37ED}"/>
              </a:ext>
            </a:extLst>
          </p:cNvPr>
          <p:cNvSpPr>
            <a:spLocks noGrp="1"/>
          </p:cNvSpPr>
          <p:nvPr/>
        </p:nvSpPr>
        <p:spPr>
          <a:xfrm>
            <a:off x="5212556" y="3036094"/>
            <a:ext cx="3810000" cy="654844"/>
          </a:xfrm>
          <a:prstGeom prst="rect">
            <a:avLst/>
          </a:prstGeom>
          <a:noFill/>
          <a:ln w="0">
            <a:noFill/>
          </a:ln>
        </p:spPr>
        <p:txBody>
          <a:bodyPr anchor="ctr">
            <a:noAutofit/>
          </a:bodyPr>
          <a:lstStyle/>
          <a:p>
            <a:pPr algn="ctr">
              <a:defRPr sz="3000" b="1">
                <a:solidFill>
                  <a:srgbClr val="1D4ED8"/>
                </a:solidFill>
                <a:latin typeface="Arial"/>
                <a:ea typeface="Arial"/>
                <a:cs typeface="Arial"/>
              </a:defRPr>
            </a:pPr>
            <a:r>
              <a:rPr sz="3000" b="1">
                <a:solidFill>
                  <a:srgbClr val="1D4ED8"/>
                </a:solidFill>
                <a:latin typeface="Arial"/>
                <a:ea typeface="Arial"/>
                <a:cs typeface="Arial"/>
              </a:rPr>
              <a:t>394,650</a:t>
            </a:r>
          </a:p>
        </p:txBody>
      </p:sp>
      <p:sp>
        <p:nvSpPr>
          <p:cNvPr id="17" name="object-17">
            <a:extLst>
              <a:ext uri="{FF2B5EF4-FFF2-40B4-BE49-F238E27FC236}">
                <a16:creationId xmlns:a16="http://schemas.microsoft.com/office/drawing/2014/main" id="{E76D2955-587B-4DA4-B335-37C137149175}"/>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394,650 rounds to 390,000.</a:t>
            </a:r>
          </a:p>
        </p:txBody>
      </p:sp>
    </p:spTree>
    <p:extLst>
      <p:ext uri="{BB962C8B-B14F-4D97-AF65-F5344CB8AC3E}">
        <p14:creationId xmlns:p14="http://schemas.microsoft.com/office/powerpoint/2010/main" val="1066670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nodeType="clickEffect">
                                  <p:stCondLst>
                                    <p:cond delay="0"/>
                                  </p:stCondLst>
                                  <p:childTnLst>
                                    <p:animMotion origin="layout" path="M 0 0 L 0.338125 0.1 E" pathEditMode="relative" ptsTypes="">
                                      <p:cBhvr>
                                        <p:cTn id="10" dur="800" fill="hold"/>
                                        <p:tgtEl>
                                          <p:spTgt spid="15"/>
                                        </p:tgtEl>
                                        <p:attrNameLst>
                                          <p:attrName>ppt_x</p:attrName>
                                          <p:attrName>ppt_y</p:attrName>
                                        </p:attrNameLst>
                                      </p:cBhvr>
                                    </p:animMotion>
                                  </p:childTnLst>
                                </p:cTn>
                              </p:par>
                            </p:childTnLst>
                          </p:cTn>
                        </p:par>
                        <p:par>
                          <p:cTn id="11" fill="hold">
                            <p:stCondLst>
                              <p:cond delay="800"/>
                            </p:stCondLst>
                            <p:childTnLst>
                              <p:par>
                                <p:cTn id="12" presetID="1" presetClass="entr" presetSubtype="0" fill="hold" grpId="0" nodeType="afterEffect">
                                  <p:stCondLst>
                                    <p:cond delay="0"/>
                                  </p:stCondLst>
                                  <p:childTnLst>
                                    <p:set>
                                      <p:cBhvr>
                                        <p:cTn id="13" dur="1" fill="hold">
                                          <p:stCondLst>
                                            <p:cond delay="0"/>
                                          </p:stCondLst>
                                        </p:cTn>
                                        <p:tgtEl>
                                          <p:spTgt spid="16"/>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6" grpId="0"/>
      <p:bldP spid="17"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object-1">
            <a:extLst>
              <a:ext uri="{FF2B5EF4-FFF2-40B4-BE49-F238E27FC236}">
                <a16:creationId xmlns:a16="http://schemas.microsoft.com/office/drawing/2014/main" id="{15493C30-6305-4A67-BC3E-C127985137FC}"/>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571A9CB6-90B3-4909-8939-81C5886C967D}"/>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Round 404,650 to the nearest 10,000.</a:t>
            </a:r>
          </a:p>
        </p:txBody>
      </p:sp>
      <p:sp>
        <p:nvSpPr>
          <p:cNvPr id="3" name="object-3">
            <a:extLst>
              <a:ext uri="{FF2B5EF4-FFF2-40B4-BE49-F238E27FC236}">
                <a16:creationId xmlns:a16="http://schemas.microsoft.com/office/drawing/2014/main" id="{F68EAF49-E4BB-43C7-8AA5-8594F7CAA55D}"/>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6B1D4015-929B-428F-AA61-4CF43256C47E}"/>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Choose the required accuracy</a:t>
            </a:r>
          </a:p>
        </p:txBody>
      </p:sp>
      <p:sp>
        <p:nvSpPr>
          <p:cNvPr id="5" name="object-5">
            <a:extLst>
              <a:ext uri="{FF2B5EF4-FFF2-40B4-BE49-F238E27FC236}">
                <a16:creationId xmlns:a16="http://schemas.microsoft.com/office/drawing/2014/main" id="{94D5F7C5-ACC8-4C63-8150-8CBA3B98D0DF}"/>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E9B5D1A1-6A55-45B6-A1DD-700F9BF33472}"/>
              </a:ext>
            </a:extLst>
          </p:cNvPr>
          <p:cNvSpPr>
            <a:spLocks noGrp="1"/>
          </p:cNvSpPr>
          <p:nvPr/>
        </p:nvSpPr>
        <p:spPr>
          <a:xfrm>
            <a:off x="2024063" y="4524375"/>
            <a:ext cx="10953750" cy="35719"/>
          </a:xfrm>
          <a:prstGeom prst="rect">
            <a:avLst/>
          </a:prstGeom>
          <a:solidFill>
            <a:srgbClr val="172B4D"/>
          </a:solidFill>
          <a:ln w="0">
            <a:noFill/>
          </a:ln>
        </p:spPr>
      </p:sp>
      <p:sp>
        <p:nvSpPr>
          <p:cNvPr id="7" name="object-7">
            <a:extLst>
              <a:ext uri="{FF2B5EF4-FFF2-40B4-BE49-F238E27FC236}">
                <a16:creationId xmlns:a16="http://schemas.microsoft.com/office/drawing/2014/main" id="{83A34E9E-0FED-4C1F-B79F-7AF45CBE8CD5}"/>
              </a:ext>
            </a:extLst>
          </p:cNvPr>
          <p:cNvSpPr>
            <a:spLocks noGrp="1"/>
          </p:cNvSpPr>
          <p:nvPr/>
        </p:nvSpPr>
        <p:spPr>
          <a:xfrm>
            <a:off x="2024063" y="4310063"/>
            <a:ext cx="0" cy="440531"/>
          </a:xfrm>
          <a:prstGeom prst="line">
            <a:avLst/>
          </a:prstGeom>
          <a:noFill/>
          <a:ln w="35719">
            <a:solidFill>
              <a:srgbClr val="172B4D"/>
            </a:solidFill>
          </a:ln>
        </p:spPr>
      </p:sp>
      <p:sp>
        <p:nvSpPr>
          <p:cNvPr id="8" name="object-8">
            <a:extLst>
              <a:ext uri="{FF2B5EF4-FFF2-40B4-BE49-F238E27FC236}">
                <a16:creationId xmlns:a16="http://schemas.microsoft.com/office/drawing/2014/main" id="{74B703D7-9E41-4738-B5CB-0F5C6A05CE9A}"/>
              </a:ext>
            </a:extLst>
          </p:cNvPr>
          <p:cNvSpPr>
            <a:spLocks noGrp="1"/>
          </p:cNvSpPr>
          <p:nvPr/>
        </p:nvSpPr>
        <p:spPr>
          <a:xfrm>
            <a:off x="297656" y="4941094"/>
            <a:ext cx="3452813" cy="654844"/>
          </a:xfrm>
          <a:prstGeom prst="rect">
            <a:avLst/>
          </a:prstGeom>
          <a:noFill/>
          <a:ln w="0">
            <a:noFill/>
          </a:ln>
        </p:spPr>
        <p:txBody>
          <a:bodyPr anchor="ctr">
            <a:noAutofit/>
          </a:bodyPr>
          <a:lstStyle/>
          <a:p>
            <a:pPr algn="ctr">
              <a:defRPr sz="2625" b="1">
                <a:solidFill>
                  <a:srgbClr val="172B4D"/>
                </a:solidFill>
                <a:latin typeface="Arial"/>
                <a:ea typeface="Arial"/>
                <a:cs typeface="Arial"/>
              </a:defRPr>
            </a:pPr>
            <a:r>
              <a:rPr sz="2625" b="1">
                <a:solidFill>
                  <a:srgbClr val="172B4D"/>
                </a:solidFill>
                <a:latin typeface="Arial"/>
                <a:ea typeface="Arial"/>
                <a:cs typeface="Arial"/>
              </a:rPr>
              <a:t>400,000</a:t>
            </a:r>
          </a:p>
        </p:txBody>
      </p:sp>
      <p:sp>
        <p:nvSpPr>
          <p:cNvPr id="9" name="object-9">
            <a:extLst>
              <a:ext uri="{FF2B5EF4-FFF2-40B4-BE49-F238E27FC236}">
                <a16:creationId xmlns:a16="http://schemas.microsoft.com/office/drawing/2014/main" id="{52E382D3-1C10-477D-A3B2-9349E4C24713}"/>
              </a:ext>
            </a:extLst>
          </p:cNvPr>
          <p:cNvSpPr>
            <a:spLocks noGrp="1"/>
          </p:cNvSpPr>
          <p:nvPr/>
        </p:nvSpPr>
        <p:spPr>
          <a:xfrm>
            <a:off x="7500938" y="4310063"/>
            <a:ext cx="0" cy="440531"/>
          </a:xfrm>
          <a:prstGeom prst="line">
            <a:avLst/>
          </a:prstGeom>
          <a:noFill/>
          <a:ln w="35719">
            <a:solidFill>
              <a:srgbClr val="172B4D"/>
            </a:solidFill>
          </a:ln>
        </p:spPr>
      </p:sp>
      <p:sp>
        <p:nvSpPr>
          <p:cNvPr id="10" name="object-10">
            <a:extLst>
              <a:ext uri="{FF2B5EF4-FFF2-40B4-BE49-F238E27FC236}">
                <a16:creationId xmlns:a16="http://schemas.microsoft.com/office/drawing/2014/main" id="{06547B03-9F27-4D96-8451-DCC5631DE38E}"/>
              </a:ext>
            </a:extLst>
          </p:cNvPr>
          <p:cNvSpPr>
            <a:spLocks noGrp="1"/>
          </p:cNvSpPr>
          <p:nvPr/>
        </p:nvSpPr>
        <p:spPr>
          <a:xfrm>
            <a:off x="5774531" y="4941094"/>
            <a:ext cx="3452813" cy="654844"/>
          </a:xfrm>
          <a:prstGeom prst="rect">
            <a:avLst/>
          </a:prstGeom>
          <a:noFill/>
          <a:ln w="0">
            <a:noFill/>
          </a:ln>
        </p:spPr>
        <p:txBody>
          <a:bodyPr anchor="ctr">
            <a:noAutofit/>
          </a:bodyPr>
          <a:lstStyle/>
          <a:p>
            <a:pPr algn="ctr">
              <a:defRPr sz="2625" b="1">
                <a:solidFill>
                  <a:srgbClr val="172B4D"/>
                </a:solidFill>
                <a:latin typeface="Arial"/>
                <a:ea typeface="Arial"/>
                <a:cs typeface="Arial"/>
              </a:defRPr>
            </a:pPr>
            <a:r>
              <a:rPr sz="2625" b="1">
                <a:solidFill>
                  <a:srgbClr val="172B4D"/>
                </a:solidFill>
                <a:latin typeface="Arial"/>
                <a:ea typeface="Arial"/>
                <a:cs typeface="Arial"/>
              </a:rPr>
              <a:t>405,000</a:t>
            </a:r>
          </a:p>
        </p:txBody>
      </p:sp>
      <p:sp>
        <p:nvSpPr>
          <p:cNvPr id="11" name="object-11">
            <a:extLst>
              <a:ext uri="{FF2B5EF4-FFF2-40B4-BE49-F238E27FC236}">
                <a16:creationId xmlns:a16="http://schemas.microsoft.com/office/drawing/2014/main" id="{BE519AEA-9B97-4F6F-A7B4-81342DDA4984}"/>
              </a:ext>
            </a:extLst>
          </p:cNvPr>
          <p:cNvSpPr>
            <a:spLocks noGrp="1"/>
          </p:cNvSpPr>
          <p:nvPr/>
        </p:nvSpPr>
        <p:spPr>
          <a:xfrm>
            <a:off x="12977813" y="4310063"/>
            <a:ext cx="0" cy="440531"/>
          </a:xfrm>
          <a:prstGeom prst="line">
            <a:avLst/>
          </a:prstGeom>
          <a:noFill/>
          <a:ln w="35719">
            <a:solidFill>
              <a:srgbClr val="172B4D"/>
            </a:solidFill>
          </a:ln>
        </p:spPr>
      </p:sp>
      <p:sp>
        <p:nvSpPr>
          <p:cNvPr id="12" name="object-12">
            <a:extLst>
              <a:ext uri="{FF2B5EF4-FFF2-40B4-BE49-F238E27FC236}">
                <a16:creationId xmlns:a16="http://schemas.microsoft.com/office/drawing/2014/main" id="{AF50BCDA-4C33-44D9-AAA2-51E547D97644}"/>
              </a:ext>
            </a:extLst>
          </p:cNvPr>
          <p:cNvSpPr>
            <a:spLocks noGrp="1"/>
          </p:cNvSpPr>
          <p:nvPr/>
        </p:nvSpPr>
        <p:spPr>
          <a:xfrm>
            <a:off x="11251406" y="4941094"/>
            <a:ext cx="3452813" cy="654844"/>
          </a:xfrm>
          <a:prstGeom prst="rect">
            <a:avLst/>
          </a:prstGeom>
          <a:noFill/>
          <a:ln w="0">
            <a:noFill/>
          </a:ln>
        </p:spPr>
        <p:txBody>
          <a:bodyPr anchor="ctr">
            <a:noAutofit/>
          </a:bodyPr>
          <a:lstStyle/>
          <a:p>
            <a:pPr algn="ctr">
              <a:defRPr sz="2625" b="1">
                <a:solidFill>
                  <a:srgbClr val="172B4D"/>
                </a:solidFill>
                <a:latin typeface="Arial"/>
                <a:ea typeface="Arial"/>
                <a:cs typeface="Arial"/>
              </a:defRPr>
            </a:pPr>
            <a:r>
              <a:rPr sz="2625" b="1">
                <a:solidFill>
                  <a:srgbClr val="172B4D"/>
                </a:solidFill>
                <a:latin typeface="Arial"/>
                <a:ea typeface="Arial"/>
                <a:cs typeface="Arial"/>
              </a:rPr>
              <a:t>410,000</a:t>
            </a:r>
          </a:p>
        </p:txBody>
      </p:sp>
      <p:sp>
        <p:nvSpPr>
          <p:cNvPr id="13" name="object-13">
            <a:extLst>
              <a:ext uri="{FF2B5EF4-FFF2-40B4-BE49-F238E27FC236}">
                <a16:creationId xmlns:a16="http://schemas.microsoft.com/office/drawing/2014/main" id="{690E4E58-9CC5-4289-ABC2-4EB8091A09D6}"/>
              </a:ext>
            </a:extLst>
          </p:cNvPr>
          <p:cNvSpPr>
            <a:spLocks noGrp="1"/>
          </p:cNvSpPr>
          <p:nvPr/>
        </p:nvSpPr>
        <p:spPr>
          <a:xfrm>
            <a:off x="5893594" y="5715000"/>
            <a:ext cx="3214688" cy="535781"/>
          </a:xfrm>
          <a:prstGeom prst="rect">
            <a:avLst/>
          </a:prstGeom>
          <a:noFill/>
          <a:ln w="0">
            <a:noFill/>
          </a:ln>
        </p:spPr>
        <p:txBody>
          <a:bodyPr anchor="ctr">
            <a:noAutofit/>
          </a:bodyPr>
          <a:lstStyle/>
          <a:p>
            <a:pPr algn="ctr">
              <a:defRPr sz="2625" b="0">
                <a:solidFill>
                  <a:srgbClr val="52647A"/>
                </a:solidFill>
                <a:latin typeface="Arial"/>
                <a:ea typeface="Arial"/>
                <a:cs typeface="Arial"/>
              </a:defRPr>
            </a:pPr>
            <a:r>
              <a:rPr sz="2625" b="0">
                <a:solidFill>
                  <a:srgbClr val="52647A"/>
                </a:solidFill>
                <a:latin typeface="Arial"/>
                <a:ea typeface="Arial"/>
                <a:cs typeface="Arial"/>
              </a:rPr>
              <a:t>halfway</a:t>
            </a:r>
          </a:p>
        </p:txBody>
      </p:sp>
      <p:sp>
        <p:nvSpPr>
          <p:cNvPr id="14" name="object-14">
            <a:extLst>
              <a:ext uri="{FF2B5EF4-FFF2-40B4-BE49-F238E27FC236}">
                <a16:creationId xmlns:a16="http://schemas.microsoft.com/office/drawing/2014/main" id="{6DABEE0C-21FA-41DA-9E23-78C986A521E6}"/>
              </a:ext>
            </a:extLst>
          </p:cNvPr>
          <p:cNvSpPr>
            <a:spLocks noGrp="1"/>
          </p:cNvSpPr>
          <p:nvPr/>
        </p:nvSpPr>
        <p:spPr>
          <a:xfrm>
            <a:off x="1785938" y="3274219"/>
            <a:ext cx="357188" cy="357188"/>
          </a:xfrm>
          <a:prstGeom prst="ellipse">
            <a:avLst/>
          </a:prstGeom>
          <a:solidFill>
            <a:srgbClr val="1D4ED8"/>
          </a:solidFill>
          <a:ln w="11906">
            <a:solidFill>
              <a:srgbClr val="172B4D"/>
            </a:solidFill>
          </a:ln>
        </p:spPr>
      </p:sp>
      <p:sp>
        <p:nvSpPr>
          <p:cNvPr id="15" name="object-15">
            <a:extLst>
              <a:ext uri="{FF2B5EF4-FFF2-40B4-BE49-F238E27FC236}">
                <a16:creationId xmlns:a16="http://schemas.microsoft.com/office/drawing/2014/main" id="{E6E59409-C2C2-4D64-A463-C96AFE023B4E}"/>
              </a:ext>
            </a:extLst>
          </p:cNvPr>
          <p:cNvSpPr>
            <a:spLocks noGrp="1"/>
          </p:cNvSpPr>
          <p:nvPr/>
        </p:nvSpPr>
        <p:spPr>
          <a:xfrm>
            <a:off x="5212556" y="3036094"/>
            <a:ext cx="3810000" cy="654844"/>
          </a:xfrm>
          <a:prstGeom prst="rect">
            <a:avLst/>
          </a:prstGeom>
          <a:noFill/>
          <a:ln w="0">
            <a:noFill/>
          </a:ln>
        </p:spPr>
        <p:txBody>
          <a:bodyPr anchor="ctr">
            <a:noAutofit/>
          </a:bodyPr>
          <a:lstStyle/>
          <a:p>
            <a:pPr algn="ctr">
              <a:defRPr sz="3000" b="1">
                <a:solidFill>
                  <a:srgbClr val="1D4ED8"/>
                </a:solidFill>
                <a:latin typeface="Arial"/>
                <a:ea typeface="Arial"/>
                <a:cs typeface="Arial"/>
              </a:defRPr>
            </a:pPr>
            <a:r>
              <a:rPr sz="3000" b="1">
                <a:solidFill>
                  <a:srgbClr val="1D4ED8"/>
                </a:solidFill>
                <a:latin typeface="Arial"/>
                <a:ea typeface="Arial"/>
                <a:cs typeface="Arial"/>
              </a:rPr>
              <a:t>404,650</a:t>
            </a:r>
          </a:p>
        </p:txBody>
      </p:sp>
      <p:sp>
        <p:nvSpPr>
          <p:cNvPr id="16" name="object-16">
            <a:extLst>
              <a:ext uri="{FF2B5EF4-FFF2-40B4-BE49-F238E27FC236}">
                <a16:creationId xmlns:a16="http://schemas.microsoft.com/office/drawing/2014/main" id="{2A842599-0A64-4D7F-BD74-E99F1E426FFF}"/>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404,650 rounds to 400,000.</a:t>
            </a:r>
          </a:p>
        </p:txBody>
      </p:sp>
    </p:spTree>
    <p:extLst>
      <p:ext uri="{BB962C8B-B14F-4D97-AF65-F5344CB8AC3E}">
        <p14:creationId xmlns:p14="http://schemas.microsoft.com/office/powerpoint/2010/main" val="108468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nodeType="clickEffect">
                                  <p:stCondLst>
                                    <p:cond delay="0"/>
                                  </p:stCondLst>
                                  <p:childTnLst>
                                    <p:animMotion origin="layout" path="M 0 0 L 0.338125 0.1 E" pathEditMode="relative" ptsTypes="">
                                      <p:cBhvr>
                                        <p:cTn id="10" dur="800" fill="hold"/>
                                        <p:tgtEl>
                                          <p:spTgt spid="14"/>
                                        </p:tgtEl>
                                        <p:attrNameLst>
                                          <p:attrName>ppt_x</p:attrName>
                                          <p:attrName>ppt_y</p:attrName>
                                        </p:attrNameLst>
                                      </p:cBhvr>
                                    </p:animMotion>
                                  </p:childTnLst>
                                </p:cTn>
                              </p:par>
                            </p:childTnLst>
                          </p:cTn>
                        </p:par>
                        <p:par>
                          <p:cTn id="11" fill="hold">
                            <p:stCondLst>
                              <p:cond delay="800"/>
                            </p:stCondLst>
                            <p:childTnLst>
                              <p:par>
                                <p:cTn id="12" presetID="1" presetClass="entr" presetSubtype="0" fill="hold" grpId="0" nodeType="afterEffect">
                                  <p:stCondLst>
                                    <p:cond delay="0"/>
                                  </p:stCondLst>
                                  <p:childTnLst>
                                    <p:set>
                                      <p:cBhvr>
                                        <p:cTn id="13" dur="1" fill="hold">
                                          <p:stCondLst>
                                            <p:cond delay="0"/>
                                          </p:stCondLst>
                                        </p:cTn>
                                        <p:tgtEl>
                                          <p:spTgt spid="15"/>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5" grpId="0"/>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object-1">
            <a:extLst>
              <a:ext uri="{FF2B5EF4-FFF2-40B4-BE49-F238E27FC236}">
                <a16:creationId xmlns:a16="http://schemas.microsoft.com/office/drawing/2014/main" id="{207EB7DF-9653-4D92-AF05-B4D05AFE7BA9}"/>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5220DF2C-ADA1-490E-8735-7F03E1EAC17C}"/>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A76E3360-EC36-425D-9F38-3F525F5164C4}"/>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Round 414,650 to the nearest 10,000.</a:t>
            </a:r>
          </a:p>
        </p:txBody>
      </p:sp>
      <p:sp>
        <p:nvSpPr>
          <p:cNvPr id="4" name="object-4">
            <a:extLst>
              <a:ext uri="{FF2B5EF4-FFF2-40B4-BE49-F238E27FC236}">
                <a16:creationId xmlns:a16="http://schemas.microsoft.com/office/drawing/2014/main" id="{07C48342-A820-4C60-AB65-36FC8E134DE9}"/>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680E2854-9B53-4DFC-A72C-5113FB6C35A9}"/>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Choose the required accuracy</a:t>
            </a:r>
          </a:p>
        </p:txBody>
      </p:sp>
      <p:sp>
        <p:nvSpPr>
          <p:cNvPr id="6" name="object-6">
            <a:extLst>
              <a:ext uri="{FF2B5EF4-FFF2-40B4-BE49-F238E27FC236}">
                <a16:creationId xmlns:a16="http://schemas.microsoft.com/office/drawing/2014/main" id="{ACB06FD2-5C40-49DF-AF7A-665BD8E9CBDE}"/>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6F6A2AA4-AEDA-4ADE-AFDA-BB25F4E0CD53}"/>
              </a:ext>
            </a:extLst>
          </p:cNvPr>
          <p:cNvSpPr>
            <a:spLocks noGrp="1"/>
          </p:cNvSpPr>
          <p:nvPr/>
        </p:nvSpPr>
        <p:spPr>
          <a:xfrm>
            <a:off x="2024063" y="4524375"/>
            <a:ext cx="10953750" cy="35719"/>
          </a:xfrm>
          <a:prstGeom prst="rect">
            <a:avLst/>
          </a:prstGeom>
          <a:solidFill>
            <a:srgbClr val="172B4D"/>
          </a:solidFill>
          <a:ln w="0">
            <a:noFill/>
          </a:ln>
        </p:spPr>
      </p:sp>
      <p:sp>
        <p:nvSpPr>
          <p:cNvPr id="8" name="object-8">
            <a:extLst>
              <a:ext uri="{FF2B5EF4-FFF2-40B4-BE49-F238E27FC236}">
                <a16:creationId xmlns:a16="http://schemas.microsoft.com/office/drawing/2014/main" id="{76D89579-5279-4530-B041-C53166523D4B}"/>
              </a:ext>
            </a:extLst>
          </p:cNvPr>
          <p:cNvSpPr>
            <a:spLocks noGrp="1"/>
          </p:cNvSpPr>
          <p:nvPr/>
        </p:nvSpPr>
        <p:spPr>
          <a:xfrm>
            <a:off x="2024063" y="4310063"/>
            <a:ext cx="0" cy="440531"/>
          </a:xfrm>
          <a:prstGeom prst="line">
            <a:avLst/>
          </a:prstGeom>
          <a:noFill/>
          <a:ln w="35719">
            <a:solidFill>
              <a:srgbClr val="172B4D"/>
            </a:solidFill>
          </a:ln>
        </p:spPr>
      </p:sp>
      <p:sp>
        <p:nvSpPr>
          <p:cNvPr id="9" name="object-9">
            <a:extLst>
              <a:ext uri="{FF2B5EF4-FFF2-40B4-BE49-F238E27FC236}">
                <a16:creationId xmlns:a16="http://schemas.microsoft.com/office/drawing/2014/main" id="{C049B3DB-8A4D-460D-A644-237693B357BB}"/>
              </a:ext>
            </a:extLst>
          </p:cNvPr>
          <p:cNvSpPr>
            <a:spLocks noGrp="1"/>
          </p:cNvSpPr>
          <p:nvPr/>
        </p:nvSpPr>
        <p:spPr>
          <a:xfrm>
            <a:off x="297656" y="4941094"/>
            <a:ext cx="3452813" cy="654844"/>
          </a:xfrm>
          <a:prstGeom prst="rect">
            <a:avLst/>
          </a:prstGeom>
          <a:noFill/>
          <a:ln w="0">
            <a:noFill/>
          </a:ln>
        </p:spPr>
        <p:txBody>
          <a:bodyPr anchor="ctr">
            <a:noAutofit/>
          </a:bodyPr>
          <a:lstStyle/>
          <a:p>
            <a:pPr algn="ctr">
              <a:defRPr sz="2625" b="1">
                <a:solidFill>
                  <a:srgbClr val="172B4D"/>
                </a:solidFill>
                <a:latin typeface="Arial"/>
                <a:ea typeface="Arial"/>
                <a:cs typeface="Arial"/>
              </a:defRPr>
            </a:pPr>
            <a:r>
              <a:rPr sz="2625" b="1">
                <a:solidFill>
                  <a:srgbClr val="172B4D"/>
                </a:solidFill>
                <a:latin typeface="Arial"/>
                <a:ea typeface="Arial"/>
                <a:cs typeface="Arial"/>
              </a:rPr>
              <a:t>410,000</a:t>
            </a:r>
          </a:p>
        </p:txBody>
      </p:sp>
      <p:sp>
        <p:nvSpPr>
          <p:cNvPr id="10" name="object-10">
            <a:extLst>
              <a:ext uri="{FF2B5EF4-FFF2-40B4-BE49-F238E27FC236}">
                <a16:creationId xmlns:a16="http://schemas.microsoft.com/office/drawing/2014/main" id="{B910A2E0-4108-4A44-9F01-19C97776ECF6}"/>
              </a:ext>
            </a:extLst>
          </p:cNvPr>
          <p:cNvSpPr>
            <a:spLocks noGrp="1"/>
          </p:cNvSpPr>
          <p:nvPr/>
        </p:nvSpPr>
        <p:spPr>
          <a:xfrm>
            <a:off x="7500938" y="4310063"/>
            <a:ext cx="0" cy="440531"/>
          </a:xfrm>
          <a:prstGeom prst="line">
            <a:avLst/>
          </a:prstGeom>
          <a:noFill/>
          <a:ln w="35719">
            <a:solidFill>
              <a:srgbClr val="172B4D"/>
            </a:solidFill>
          </a:ln>
        </p:spPr>
      </p:sp>
      <p:sp>
        <p:nvSpPr>
          <p:cNvPr id="11" name="object-11">
            <a:extLst>
              <a:ext uri="{FF2B5EF4-FFF2-40B4-BE49-F238E27FC236}">
                <a16:creationId xmlns:a16="http://schemas.microsoft.com/office/drawing/2014/main" id="{9B090251-EC4E-4AFE-AE1A-D0C8D1D45B4D}"/>
              </a:ext>
            </a:extLst>
          </p:cNvPr>
          <p:cNvSpPr>
            <a:spLocks noGrp="1"/>
          </p:cNvSpPr>
          <p:nvPr/>
        </p:nvSpPr>
        <p:spPr>
          <a:xfrm>
            <a:off x="5774531" y="4941094"/>
            <a:ext cx="3452813" cy="654844"/>
          </a:xfrm>
          <a:prstGeom prst="rect">
            <a:avLst/>
          </a:prstGeom>
          <a:noFill/>
          <a:ln w="0">
            <a:noFill/>
          </a:ln>
        </p:spPr>
        <p:txBody>
          <a:bodyPr anchor="ctr">
            <a:noAutofit/>
          </a:bodyPr>
          <a:lstStyle/>
          <a:p>
            <a:pPr algn="ctr">
              <a:defRPr sz="2625" b="1">
                <a:solidFill>
                  <a:srgbClr val="172B4D"/>
                </a:solidFill>
                <a:latin typeface="Arial"/>
                <a:ea typeface="Arial"/>
                <a:cs typeface="Arial"/>
              </a:defRPr>
            </a:pPr>
            <a:r>
              <a:rPr sz="2625" b="1">
                <a:solidFill>
                  <a:srgbClr val="172B4D"/>
                </a:solidFill>
                <a:latin typeface="Arial"/>
                <a:ea typeface="Arial"/>
                <a:cs typeface="Arial"/>
              </a:rPr>
              <a:t>415,000</a:t>
            </a:r>
          </a:p>
        </p:txBody>
      </p:sp>
      <p:sp>
        <p:nvSpPr>
          <p:cNvPr id="12" name="object-12">
            <a:extLst>
              <a:ext uri="{FF2B5EF4-FFF2-40B4-BE49-F238E27FC236}">
                <a16:creationId xmlns:a16="http://schemas.microsoft.com/office/drawing/2014/main" id="{3DA79CE8-C239-4F56-825D-08838EC3400C}"/>
              </a:ext>
            </a:extLst>
          </p:cNvPr>
          <p:cNvSpPr>
            <a:spLocks noGrp="1"/>
          </p:cNvSpPr>
          <p:nvPr/>
        </p:nvSpPr>
        <p:spPr>
          <a:xfrm>
            <a:off x="12977813" y="4310063"/>
            <a:ext cx="0" cy="440531"/>
          </a:xfrm>
          <a:prstGeom prst="line">
            <a:avLst/>
          </a:prstGeom>
          <a:noFill/>
          <a:ln w="35719">
            <a:solidFill>
              <a:srgbClr val="172B4D"/>
            </a:solidFill>
          </a:ln>
        </p:spPr>
      </p:sp>
      <p:sp>
        <p:nvSpPr>
          <p:cNvPr id="13" name="object-13">
            <a:extLst>
              <a:ext uri="{FF2B5EF4-FFF2-40B4-BE49-F238E27FC236}">
                <a16:creationId xmlns:a16="http://schemas.microsoft.com/office/drawing/2014/main" id="{C75150E2-5807-4A9B-B121-A47CE022729C}"/>
              </a:ext>
            </a:extLst>
          </p:cNvPr>
          <p:cNvSpPr>
            <a:spLocks noGrp="1"/>
          </p:cNvSpPr>
          <p:nvPr/>
        </p:nvSpPr>
        <p:spPr>
          <a:xfrm>
            <a:off x="11251406" y="4941094"/>
            <a:ext cx="3452813" cy="654844"/>
          </a:xfrm>
          <a:prstGeom prst="rect">
            <a:avLst/>
          </a:prstGeom>
          <a:noFill/>
          <a:ln w="0">
            <a:noFill/>
          </a:ln>
        </p:spPr>
        <p:txBody>
          <a:bodyPr anchor="ctr">
            <a:noAutofit/>
          </a:bodyPr>
          <a:lstStyle/>
          <a:p>
            <a:pPr algn="ctr">
              <a:defRPr sz="2625" b="1">
                <a:solidFill>
                  <a:srgbClr val="172B4D"/>
                </a:solidFill>
                <a:latin typeface="Arial"/>
                <a:ea typeface="Arial"/>
                <a:cs typeface="Arial"/>
              </a:defRPr>
            </a:pPr>
            <a:r>
              <a:rPr sz="2625" b="1">
                <a:solidFill>
                  <a:srgbClr val="172B4D"/>
                </a:solidFill>
                <a:latin typeface="Arial"/>
                <a:ea typeface="Arial"/>
                <a:cs typeface="Arial"/>
              </a:rPr>
              <a:t>420,000</a:t>
            </a:r>
          </a:p>
        </p:txBody>
      </p:sp>
      <p:sp>
        <p:nvSpPr>
          <p:cNvPr id="14" name="object-14">
            <a:extLst>
              <a:ext uri="{FF2B5EF4-FFF2-40B4-BE49-F238E27FC236}">
                <a16:creationId xmlns:a16="http://schemas.microsoft.com/office/drawing/2014/main" id="{AC21EEBC-4C70-49DB-9D1F-A1CAFEDF20FB}"/>
              </a:ext>
            </a:extLst>
          </p:cNvPr>
          <p:cNvSpPr>
            <a:spLocks noGrp="1"/>
          </p:cNvSpPr>
          <p:nvPr/>
        </p:nvSpPr>
        <p:spPr>
          <a:xfrm>
            <a:off x="5893594" y="5715000"/>
            <a:ext cx="3214688" cy="535781"/>
          </a:xfrm>
          <a:prstGeom prst="rect">
            <a:avLst/>
          </a:prstGeom>
          <a:noFill/>
          <a:ln w="0">
            <a:noFill/>
          </a:ln>
        </p:spPr>
        <p:txBody>
          <a:bodyPr anchor="ctr">
            <a:noAutofit/>
          </a:bodyPr>
          <a:lstStyle/>
          <a:p>
            <a:pPr algn="ctr">
              <a:defRPr sz="2625" b="0">
                <a:solidFill>
                  <a:srgbClr val="52647A"/>
                </a:solidFill>
                <a:latin typeface="Arial"/>
                <a:ea typeface="Arial"/>
                <a:cs typeface="Arial"/>
              </a:defRPr>
            </a:pPr>
            <a:r>
              <a:rPr sz="2625" b="0">
                <a:solidFill>
                  <a:srgbClr val="52647A"/>
                </a:solidFill>
                <a:latin typeface="Arial"/>
                <a:ea typeface="Arial"/>
                <a:cs typeface="Arial"/>
              </a:rPr>
              <a:t>halfway</a:t>
            </a:r>
          </a:p>
        </p:txBody>
      </p:sp>
      <p:sp>
        <p:nvSpPr>
          <p:cNvPr id="15" name="object-15">
            <a:extLst>
              <a:ext uri="{FF2B5EF4-FFF2-40B4-BE49-F238E27FC236}">
                <a16:creationId xmlns:a16="http://schemas.microsoft.com/office/drawing/2014/main" id="{0994489C-CFED-4203-87CC-04D7D5733A99}"/>
              </a:ext>
            </a:extLst>
          </p:cNvPr>
          <p:cNvSpPr>
            <a:spLocks noGrp="1"/>
          </p:cNvSpPr>
          <p:nvPr/>
        </p:nvSpPr>
        <p:spPr>
          <a:xfrm>
            <a:off x="1785938" y="3274219"/>
            <a:ext cx="357188" cy="357188"/>
          </a:xfrm>
          <a:prstGeom prst="ellipse">
            <a:avLst/>
          </a:prstGeom>
          <a:solidFill>
            <a:srgbClr val="1D4ED8"/>
          </a:solidFill>
          <a:ln w="11906">
            <a:solidFill>
              <a:srgbClr val="172B4D"/>
            </a:solidFill>
          </a:ln>
        </p:spPr>
      </p:sp>
      <p:sp>
        <p:nvSpPr>
          <p:cNvPr id="16" name="object-16">
            <a:extLst>
              <a:ext uri="{FF2B5EF4-FFF2-40B4-BE49-F238E27FC236}">
                <a16:creationId xmlns:a16="http://schemas.microsoft.com/office/drawing/2014/main" id="{C342743B-25FC-4F18-BA32-351146A95E85}"/>
              </a:ext>
            </a:extLst>
          </p:cNvPr>
          <p:cNvSpPr>
            <a:spLocks noGrp="1"/>
          </p:cNvSpPr>
          <p:nvPr/>
        </p:nvSpPr>
        <p:spPr>
          <a:xfrm>
            <a:off x="5212556" y="3036094"/>
            <a:ext cx="3810000" cy="654844"/>
          </a:xfrm>
          <a:prstGeom prst="rect">
            <a:avLst/>
          </a:prstGeom>
          <a:noFill/>
          <a:ln w="0">
            <a:noFill/>
          </a:ln>
        </p:spPr>
        <p:txBody>
          <a:bodyPr anchor="ctr">
            <a:noAutofit/>
          </a:bodyPr>
          <a:lstStyle/>
          <a:p>
            <a:pPr algn="ctr">
              <a:defRPr sz="3000" b="1">
                <a:solidFill>
                  <a:srgbClr val="1D4ED8"/>
                </a:solidFill>
                <a:latin typeface="Arial"/>
                <a:ea typeface="Arial"/>
                <a:cs typeface="Arial"/>
              </a:defRPr>
            </a:pPr>
            <a:r>
              <a:rPr sz="3000" b="1">
                <a:solidFill>
                  <a:srgbClr val="1D4ED8"/>
                </a:solidFill>
                <a:latin typeface="Arial"/>
                <a:ea typeface="Arial"/>
                <a:cs typeface="Arial"/>
              </a:rPr>
              <a:t>414,650</a:t>
            </a:r>
          </a:p>
        </p:txBody>
      </p:sp>
      <p:sp>
        <p:nvSpPr>
          <p:cNvPr id="17" name="object-17">
            <a:extLst>
              <a:ext uri="{FF2B5EF4-FFF2-40B4-BE49-F238E27FC236}">
                <a16:creationId xmlns:a16="http://schemas.microsoft.com/office/drawing/2014/main" id="{4074890E-1C2C-47CC-B01B-12D72BE18F4D}"/>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414,650 rounds to 410,000.</a:t>
            </a:r>
          </a:p>
        </p:txBody>
      </p:sp>
    </p:spTree>
    <p:extLst>
      <p:ext uri="{BB962C8B-B14F-4D97-AF65-F5344CB8AC3E}">
        <p14:creationId xmlns:p14="http://schemas.microsoft.com/office/powerpoint/2010/main" val="513316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nodeType="clickEffect">
                                  <p:stCondLst>
                                    <p:cond delay="0"/>
                                  </p:stCondLst>
                                  <p:childTnLst>
                                    <p:animMotion origin="layout" path="M 0 0 L 0.338125 0.1 E" pathEditMode="relative" ptsTypes="">
                                      <p:cBhvr>
                                        <p:cTn id="10" dur="800" fill="hold"/>
                                        <p:tgtEl>
                                          <p:spTgt spid="15"/>
                                        </p:tgtEl>
                                        <p:attrNameLst>
                                          <p:attrName>ppt_x</p:attrName>
                                          <p:attrName>ppt_y</p:attrName>
                                        </p:attrNameLst>
                                      </p:cBhvr>
                                    </p:animMotion>
                                  </p:childTnLst>
                                </p:cTn>
                              </p:par>
                            </p:childTnLst>
                          </p:cTn>
                        </p:par>
                        <p:par>
                          <p:cTn id="11" fill="hold">
                            <p:stCondLst>
                              <p:cond delay="800"/>
                            </p:stCondLst>
                            <p:childTnLst>
                              <p:par>
                                <p:cTn id="12" presetID="1" presetClass="entr" presetSubtype="0" fill="hold" grpId="0" nodeType="afterEffect">
                                  <p:stCondLst>
                                    <p:cond delay="0"/>
                                  </p:stCondLst>
                                  <p:childTnLst>
                                    <p:set>
                                      <p:cBhvr>
                                        <p:cTn id="13" dur="1" fill="hold">
                                          <p:stCondLst>
                                            <p:cond delay="0"/>
                                          </p:stCondLst>
                                        </p:cTn>
                                        <p:tgtEl>
                                          <p:spTgt spid="16"/>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6" grpId="0"/>
      <p:bldP spid="17"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E533DC22-4F28-4908-B411-82C3902DCF82}"/>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9A7CCBA4-A7A9-47B8-86C3-E61C1F36B140}"/>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1686BF91-9669-4538-BB93-829033C51881}"/>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B5A471EF-FD26-47F2-A75D-7C1939263366}"/>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1797AF9E-ADA7-486E-9636-D929F35FCE39}"/>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Choose the required accuracy</a:t>
            </a:r>
          </a:p>
        </p:txBody>
      </p:sp>
      <p:sp>
        <p:nvSpPr>
          <p:cNvPr id="6" name="object-6">
            <a:extLst>
              <a:ext uri="{FF2B5EF4-FFF2-40B4-BE49-F238E27FC236}">
                <a16:creationId xmlns:a16="http://schemas.microsoft.com/office/drawing/2014/main" id="{CB7515C7-4ADF-4F3F-A960-120C7848A87A}"/>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409DC210-D626-41D8-8266-485747436AA0}"/>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212DA514-0D2F-4C4B-8B78-0B7543651753}"/>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Round 384,650 to the nearest 10,000 and then to the nearest 1,000.</a:t>
            </a:r>
          </a:p>
        </p:txBody>
      </p:sp>
      <p:sp>
        <p:nvSpPr>
          <p:cNvPr id="9" name="object-9">
            <a:extLst>
              <a:ext uri="{FF2B5EF4-FFF2-40B4-BE49-F238E27FC236}">
                <a16:creationId xmlns:a16="http://schemas.microsoft.com/office/drawing/2014/main" id="{0F44AD8C-0BE6-4AF4-AFFD-79FA6C0BE145}"/>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9AF7222A-1C8D-4240-AE64-F8F3212A7A75}"/>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Round 2,749,501 to the nearest 100,000.</a:t>
            </a:r>
          </a:p>
        </p:txBody>
      </p:sp>
      <p:sp>
        <p:nvSpPr>
          <p:cNvPr id="11" name="object-11">
            <a:extLst>
              <a:ext uri="{FF2B5EF4-FFF2-40B4-BE49-F238E27FC236}">
                <a16:creationId xmlns:a16="http://schemas.microsoft.com/office/drawing/2014/main" id="{68471D0C-E25E-422C-BD12-3A327B746418}"/>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3DF3775F-3276-476A-A377-EEB91451AD39}"/>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Round 999,499 to the nearest 1,000.</a:t>
            </a:r>
          </a:p>
        </p:txBody>
      </p:sp>
      <p:sp>
        <p:nvSpPr>
          <p:cNvPr id="13" name="object-13">
            <a:extLst>
              <a:ext uri="{FF2B5EF4-FFF2-40B4-BE49-F238E27FC236}">
                <a16:creationId xmlns:a16="http://schemas.microsoft.com/office/drawing/2014/main" id="{72E765E4-7CAD-43B7-88EA-599A13F76CDF}"/>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211161EF-EC57-4479-AF51-655830757968}"/>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Round 384,650 to the nearest 10,000 and then to the nearest 1,000.</a:t>
            </a:r>
          </a:p>
        </p:txBody>
      </p:sp>
      <p:sp>
        <p:nvSpPr>
          <p:cNvPr id="15" name="object-15">
            <a:extLst>
              <a:ext uri="{FF2B5EF4-FFF2-40B4-BE49-F238E27FC236}">
                <a16:creationId xmlns:a16="http://schemas.microsoft.com/office/drawing/2014/main" id="{7E6DDD53-5537-481B-92C1-58860044AD83}"/>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E15ABCD5-882D-473F-BBDD-BC82CAC629AC}"/>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Round 2,749,501 to the nearest 100,000.</a:t>
            </a:r>
          </a:p>
        </p:txBody>
      </p:sp>
      <p:sp>
        <p:nvSpPr>
          <p:cNvPr id="17" name="object-17">
            <a:extLst>
              <a:ext uri="{FF2B5EF4-FFF2-40B4-BE49-F238E27FC236}">
                <a16:creationId xmlns:a16="http://schemas.microsoft.com/office/drawing/2014/main" id="{2C03B562-E4F3-4AF8-8FDD-AB395375A468}"/>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65E59C10-1837-4088-A674-FE5DDCB833B9}"/>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Round 999,499 to the nearest 1,000.</a:t>
            </a:r>
          </a:p>
        </p:txBody>
      </p:sp>
      <p:sp>
        <p:nvSpPr>
          <p:cNvPr id="19" name="object-19">
            <a:extLst>
              <a:ext uri="{FF2B5EF4-FFF2-40B4-BE49-F238E27FC236}">
                <a16:creationId xmlns:a16="http://schemas.microsoft.com/office/drawing/2014/main" id="{80BB88F6-AF6F-448A-8BCE-6D8D536898DD}"/>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E34C3D36-CE40-4549-9B2C-3C3918E1020C}"/>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number rounds to 730,000 to the nearest 10,000. State its full possible range.</a:t>
            </a:r>
          </a:p>
        </p:txBody>
      </p:sp>
      <p:sp>
        <p:nvSpPr>
          <p:cNvPr id="21" name="object-21">
            <a:extLst>
              <a:ext uri="{FF2B5EF4-FFF2-40B4-BE49-F238E27FC236}">
                <a16:creationId xmlns:a16="http://schemas.microsoft.com/office/drawing/2014/main" id="{7619C509-68F8-488E-ABF1-9705D0F4C0FF}"/>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6EBC1C7D-9FC8-457F-8130-2A8069219A59}"/>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rounds to the largest place value he can see instead of the place named.</a:t>
            </a:r>
          </a:p>
        </p:txBody>
      </p:sp>
      <p:sp>
        <p:nvSpPr>
          <p:cNvPr id="23" name="object-23">
            <a:extLst>
              <a:ext uri="{FF2B5EF4-FFF2-40B4-BE49-F238E27FC236}">
                <a16:creationId xmlns:a16="http://schemas.microsoft.com/office/drawing/2014/main" id="{7157271E-1752-494D-838D-003E15836460}"/>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C80142B7-3C75-486A-8CF1-A9587DCE0ADC}"/>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EE72794C-FC51-41DE-957B-A8E3D6B9A7E6}"/>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13A3FBD0-209F-4916-934D-BE33DAB8373F}"/>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Round 999,499 to the nearest 1,000.</a:t>
            </a:r>
          </a:p>
        </p:txBody>
      </p:sp>
    </p:spTree>
    <p:extLst>
      <p:ext uri="{BB962C8B-B14F-4D97-AF65-F5344CB8AC3E}">
        <p14:creationId xmlns:p14="http://schemas.microsoft.com/office/powerpoint/2010/main" val="20721802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CC2387DE-4682-4B59-A127-D74306B2DE9B}"/>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7BC94255-8981-4454-9A66-FE2DC291DAFC}"/>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83F81FA1-9F3D-4BC2-B298-1A0B802163AF}"/>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7BC06FC3-3D6A-492A-A418-48EC256F494E}"/>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Choose the required accuracy</a:t>
            </a:r>
          </a:p>
        </p:txBody>
      </p:sp>
      <p:sp>
        <p:nvSpPr>
          <p:cNvPr id="5" name="object-5">
            <a:extLst>
              <a:ext uri="{FF2B5EF4-FFF2-40B4-BE49-F238E27FC236}">
                <a16:creationId xmlns:a16="http://schemas.microsoft.com/office/drawing/2014/main" id="{9F4D64B3-9238-4D15-A91B-6E8E682B9EDE}"/>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F3C810B3-75ED-461E-AAC7-FC69C298F98A}"/>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B80ACD99-57EE-4B07-96D5-A65FA32C3947}"/>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380,000 and 385,000.</a:t>
            </a:r>
          </a:p>
        </p:txBody>
      </p:sp>
      <p:sp>
        <p:nvSpPr>
          <p:cNvPr id="8" name="object-8">
            <a:extLst>
              <a:ext uri="{FF2B5EF4-FFF2-40B4-BE49-F238E27FC236}">
                <a16:creationId xmlns:a16="http://schemas.microsoft.com/office/drawing/2014/main" id="{9C0A1BE4-360E-48FF-9522-E0DD8F50ACA6}"/>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B66634AF-EF9C-49FD-B4F6-445EAF547E97}"/>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2,700,000.</a:t>
            </a:r>
          </a:p>
        </p:txBody>
      </p:sp>
      <p:sp>
        <p:nvSpPr>
          <p:cNvPr id="10" name="object-10">
            <a:extLst>
              <a:ext uri="{FF2B5EF4-FFF2-40B4-BE49-F238E27FC236}">
                <a16:creationId xmlns:a16="http://schemas.microsoft.com/office/drawing/2014/main" id="{00FDBD94-86AB-4612-A714-E833372C883A}"/>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B8913FF9-A547-4052-965A-9189C0CA9DC2}"/>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999,000.</a:t>
            </a:r>
          </a:p>
        </p:txBody>
      </p:sp>
      <p:sp>
        <p:nvSpPr>
          <p:cNvPr id="12" name="object-12">
            <a:extLst>
              <a:ext uri="{FF2B5EF4-FFF2-40B4-BE49-F238E27FC236}">
                <a16:creationId xmlns:a16="http://schemas.microsoft.com/office/drawing/2014/main" id="{4CDFFACB-DE2D-478F-BC2B-C0464DB2398D}"/>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D3086247-14AC-417B-8254-603B76C4AAD3}"/>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380,000 and 385,000.</a:t>
            </a:r>
          </a:p>
        </p:txBody>
      </p:sp>
      <p:sp>
        <p:nvSpPr>
          <p:cNvPr id="14" name="object-14">
            <a:extLst>
              <a:ext uri="{FF2B5EF4-FFF2-40B4-BE49-F238E27FC236}">
                <a16:creationId xmlns:a16="http://schemas.microsoft.com/office/drawing/2014/main" id="{BE324FB4-1DBA-4399-B265-CA1B4857B7B5}"/>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DB9422EB-3A0D-4F4A-9136-4445844A9AB7}"/>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2,700,000. Method or representation may vary.</a:t>
            </a:r>
          </a:p>
        </p:txBody>
      </p:sp>
      <p:sp>
        <p:nvSpPr>
          <p:cNvPr id="16" name="object-16">
            <a:extLst>
              <a:ext uri="{FF2B5EF4-FFF2-40B4-BE49-F238E27FC236}">
                <a16:creationId xmlns:a16="http://schemas.microsoft.com/office/drawing/2014/main" id="{48E9BC8D-90A8-450F-9596-81A862F1A165}"/>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EE1FB8EB-471E-4D79-B05D-839C54870FDC}"/>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999,000. A valid check must be shown.</a:t>
            </a:r>
          </a:p>
        </p:txBody>
      </p:sp>
      <p:sp>
        <p:nvSpPr>
          <p:cNvPr id="18" name="object-18">
            <a:extLst>
              <a:ext uri="{FF2B5EF4-FFF2-40B4-BE49-F238E27FC236}">
                <a16:creationId xmlns:a16="http://schemas.microsoft.com/office/drawing/2014/main" id="{0831591E-B75C-4EB9-A4A2-84A4DFC62C60}"/>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28BBA6BD-B960-41AD-A29D-8BADFDE31938}"/>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725,000 to 734,999.</a:t>
            </a:r>
          </a:p>
        </p:txBody>
      </p:sp>
      <p:sp>
        <p:nvSpPr>
          <p:cNvPr id="20" name="object-20">
            <a:extLst>
              <a:ext uri="{FF2B5EF4-FFF2-40B4-BE49-F238E27FC236}">
                <a16:creationId xmlns:a16="http://schemas.microsoft.com/office/drawing/2014/main" id="{28913266-CBFE-409E-891D-692D8C44C641}"/>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C81CA917-BDC7-483F-8E74-9947019B31A2}"/>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The question controls the accuracy. Mark that place before deciding.</a:t>
            </a:r>
          </a:p>
        </p:txBody>
      </p:sp>
      <p:sp>
        <p:nvSpPr>
          <p:cNvPr id="22" name="object-22">
            <a:extLst>
              <a:ext uri="{FF2B5EF4-FFF2-40B4-BE49-F238E27FC236}">
                <a16:creationId xmlns:a16="http://schemas.microsoft.com/office/drawing/2014/main" id="{E3AA5A3D-448A-4DFE-A422-8E9712B09F78}"/>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27F27F25-2EE6-4F8F-93EB-15644D0E1AC0}"/>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9E00BD49-FEF4-4D79-B512-0629F63CF7E6}"/>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EE6AD6F0-B074-4682-B6BA-622AF742827E}"/>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51205503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861</Words>
  <Application>Microsoft Office PowerPoint</Application>
  <DocSecurity>0</DocSecurity>
  <PresentationFormat>Custom</PresentationFormat>
  <Paragraphs>110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2026-09-14T13:14:13Z</dcterms:created>
  <dcterms:modified xsi:type="dcterms:W3CDTF">2026-09-14T13:16:48Z</dcterms:modified>
</cp:coreProperties>
</file>