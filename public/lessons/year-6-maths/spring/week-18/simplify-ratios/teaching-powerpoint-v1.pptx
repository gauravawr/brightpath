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5240000" cy="85725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Simplify ratios. Simplify ratios. Introduce the mathematical idea using the first worked example. The lesson can be placed anywhere in the teaching sequence.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Simplify ratios. I do. Use equal-sized ratio units. Keep the same scale factor for both quantities.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Simplify ratios. You do. Pause before clicking. Let pupils try independently, then reveal and discuss every step. Use equal-sized ratio units. Keep the same scale factor for both quantities.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Simplify ratios. I do. Use equal-sized ratio units. Keep the same scale factor for both quantities.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Simplify ratios. You do. Pause before clicking. Let pupils try independently, then reveal and discuss every step. Use equal-sized ratio units. Keep the same scale factor for both quantities.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Simplify ratios. You do. Pause before clicking. Let pupils try independently, then reveal and discuss every step. These are the existing expected-level worksheet questions, in their original order. Do not advance to the answer slide until pupils have had time to finish.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Simplify ratios. Answers. Answers to the preceding complete activity question set, in matching order. Accept mathematically valid alternatives for open questions.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bject-1">
            <a:extLst>
              <a:ext uri="{FF2B5EF4-FFF2-40B4-BE49-F238E27FC236}">
                <a16:creationId xmlns:a16="http://schemas.microsoft.com/office/drawing/2014/main" id="{6C2D752F-1734-4FDD-B67E-FFB8C46A1C73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15478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Simplify ratios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6BA06B42-BF83-4916-91F8-77E427FBCAFF}"/>
              </a:ext>
            </a:extLst>
          </p:cNvPr>
          <p:cNvSpPr>
            <a:spLocks noGrp="1"/>
          </p:cNvSpPr>
          <p:nvPr/>
        </p:nvSpPr>
        <p:spPr>
          <a:xfrm>
            <a:off x="654844" y="2024063"/>
            <a:ext cx="13930313" cy="1012031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Watch the model. Try the next question. Explain what changes.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CF290531-A9FA-4B46-A1C1-F07315A39F9E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5525C004-565B-4018-946C-2EE7017FC905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Simplify ratios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25E60740-C1FC-4E2E-8F3F-2C2850107FD2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C8F43A4F-35B7-45AB-9A0A-F0F6C762E82E}"/>
              </a:ext>
            </a:extLst>
          </p:cNvPr>
          <p:cNvSpPr>
            <a:spLocks noGrp="1"/>
          </p:cNvSpPr>
          <p:nvPr/>
        </p:nvSpPr>
        <p:spPr>
          <a:xfrm>
            <a:off x="1190625" y="3631406"/>
            <a:ext cx="12858750" cy="2143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To simplify ratios using common factors.</a:t>
            </a:r>
          </a:p>
        </p:txBody>
      </p:sp>
    </p:spTree>
    <p:extLst>
      <p:ext uri="{BB962C8B-B14F-4D97-AF65-F5344CB8AC3E}">
        <p14:creationId xmlns:p14="http://schemas.microsoft.com/office/powerpoint/2010/main" val="16490275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-1">
            <a:extLst>
              <a:ext uri="{FF2B5EF4-FFF2-40B4-BE49-F238E27FC236}">
                <a16:creationId xmlns:a16="http://schemas.microsoft.com/office/drawing/2014/main" id="{4A7D088F-A242-4073-8299-43FB18BE1924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655A17E2-0CF2-4A7D-BB42-359E15AF5158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Simplify the ratio 36:48.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017958C2-FE43-42E1-8801-C42AECEF79C1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B7B7E9E9-AE62-4378-B5EF-CA93BC3FC704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Simplify ratios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480D03A1-7F80-4F25-8C31-E4D5BCA3A245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4F2C8BFB-84AD-42A1-A3FC-D44003419F3F}"/>
              </a:ext>
            </a:extLst>
          </p:cNvPr>
          <p:cNvSpPr>
            <a:spLocks noGrp="1"/>
          </p:cNvSpPr>
          <p:nvPr/>
        </p:nvSpPr>
        <p:spPr>
          <a:xfrm>
            <a:off x="2857500" y="3155156"/>
            <a:ext cx="2381250" cy="892969"/>
          </a:xfrm>
          <a:prstGeom prst="rect">
            <a:avLst/>
          </a:prstGeom>
          <a:solidFill>
            <a:srgbClr val="1D4ED8"/>
          </a:solidFill>
          <a:ln w="23813">
            <a:solidFill>
              <a:srgbClr val="FFFFFF"/>
            </a:solidFill>
          </a:ln>
        </p:spPr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5814A5F6-4AE6-4860-9CED-DD576D95400B}"/>
              </a:ext>
            </a:extLst>
          </p:cNvPr>
          <p:cNvSpPr>
            <a:spLocks noGrp="1"/>
          </p:cNvSpPr>
          <p:nvPr/>
        </p:nvSpPr>
        <p:spPr>
          <a:xfrm>
            <a:off x="5238750" y="3155156"/>
            <a:ext cx="2381250" cy="892969"/>
          </a:xfrm>
          <a:prstGeom prst="rect">
            <a:avLst/>
          </a:prstGeom>
          <a:solidFill>
            <a:srgbClr val="1D4ED8"/>
          </a:solidFill>
          <a:ln w="23813">
            <a:solidFill>
              <a:srgbClr val="FFFFFF"/>
            </a:solidFill>
          </a:ln>
        </p:spPr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B809D225-8316-4868-8CB8-CFF27FDFB5BA}"/>
              </a:ext>
            </a:extLst>
          </p:cNvPr>
          <p:cNvSpPr>
            <a:spLocks noGrp="1"/>
          </p:cNvSpPr>
          <p:nvPr/>
        </p:nvSpPr>
        <p:spPr>
          <a:xfrm>
            <a:off x="7620000" y="3155156"/>
            <a:ext cx="2381250" cy="892969"/>
          </a:xfrm>
          <a:prstGeom prst="rect">
            <a:avLst/>
          </a:prstGeom>
          <a:solidFill>
            <a:srgbClr val="1D4ED8"/>
          </a:solidFill>
          <a:ln w="23813">
            <a:solidFill>
              <a:srgbClr val="FFFFFF"/>
            </a:solidFill>
          </a:ln>
        </p:spPr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776C9AF1-CE3C-47E9-8687-6C582A5A85C6}"/>
              </a:ext>
            </a:extLst>
          </p:cNvPr>
          <p:cNvSpPr>
            <a:spLocks noGrp="1"/>
          </p:cNvSpPr>
          <p:nvPr/>
        </p:nvSpPr>
        <p:spPr>
          <a:xfrm>
            <a:off x="2857500" y="4524375"/>
            <a:ext cx="2381250" cy="892969"/>
          </a:xfrm>
          <a:prstGeom prst="rect">
            <a:avLst/>
          </a:prstGeom>
          <a:solidFill>
            <a:srgbClr val="EFF6FF"/>
          </a:solidFill>
          <a:ln w="23813">
            <a:solidFill>
              <a:srgbClr val="1D4ED8"/>
            </a:solidFill>
          </a:ln>
        </p:spPr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22954A69-C910-4612-A1EC-4C42705925CD}"/>
              </a:ext>
            </a:extLst>
          </p:cNvPr>
          <p:cNvSpPr>
            <a:spLocks noGrp="1"/>
          </p:cNvSpPr>
          <p:nvPr/>
        </p:nvSpPr>
        <p:spPr>
          <a:xfrm>
            <a:off x="5238750" y="4524375"/>
            <a:ext cx="2381250" cy="892969"/>
          </a:xfrm>
          <a:prstGeom prst="rect">
            <a:avLst/>
          </a:prstGeom>
          <a:solidFill>
            <a:srgbClr val="EFF6FF"/>
          </a:solidFill>
          <a:ln w="23813">
            <a:solidFill>
              <a:srgbClr val="1D4ED8"/>
            </a:solidFill>
          </a:ln>
        </p:spPr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F406D770-4D5A-48BC-9699-8292590045C8}"/>
              </a:ext>
            </a:extLst>
          </p:cNvPr>
          <p:cNvSpPr>
            <a:spLocks noGrp="1"/>
          </p:cNvSpPr>
          <p:nvPr/>
        </p:nvSpPr>
        <p:spPr>
          <a:xfrm>
            <a:off x="7620000" y="4524375"/>
            <a:ext cx="2381250" cy="892969"/>
          </a:xfrm>
          <a:prstGeom prst="rect">
            <a:avLst/>
          </a:prstGeom>
          <a:solidFill>
            <a:srgbClr val="EFF6FF"/>
          </a:solidFill>
          <a:ln w="23813">
            <a:solidFill>
              <a:srgbClr val="1D4ED8"/>
            </a:solidFill>
          </a:ln>
        </p:spPr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E9E38962-1D18-4169-8012-76809D59C9EA}"/>
              </a:ext>
            </a:extLst>
          </p:cNvPr>
          <p:cNvSpPr>
            <a:spLocks noGrp="1"/>
          </p:cNvSpPr>
          <p:nvPr/>
        </p:nvSpPr>
        <p:spPr>
          <a:xfrm>
            <a:off x="10001250" y="4524375"/>
            <a:ext cx="2381250" cy="892969"/>
          </a:xfrm>
          <a:prstGeom prst="rect">
            <a:avLst/>
          </a:prstGeom>
          <a:solidFill>
            <a:srgbClr val="EFF6FF"/>
          </a:solidFill>
          <a:ln w="23813">
            <a:solidFill>
              <a:srgbClr val="1D4ED8"/>
            </a:solidFill>
          </a:ln>
        </p:spPr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FEA36102-5B0F-4C9D-9EE8-D279E6D01430}"/>
              </a:ext>
            </a:extLst>
          </p:cNvPr>
          <p:cNvSpPr>
            <a:spLocks noGrp="1"/>
          </p:cNvSpPr>
          <p:nvPr/>
        </p:nvSpPr>
        <p:spPr>
          <a:xfrm>
            <a:off x="773906" y="3214688"/>
            <a:ext cx="1905000" cy="65484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first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D71D2C33-DDFD-423C-A17B-444DE3A7C52A}"/>
              </a:ext>
            </a:extLst>
          </p:cNvPr>
          <p:cNvSpPr>
            <a:spLocks noGrp="1"/>
          </p:cNvSpPr>
          <p:nvPr/>
        </p:nvSpPr>
        <p:spPr>
          <a:xfrm>
            <a:off x="773906" y="4572000"/>
            <a:ext cx="1905000" cy="65484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second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C6D33325-74E5-413B-9D3D-97EAA5FC077D}"/>
              </a:ext>
            </a:extLst>
          </p:cNvPr>
          <p:cNvSpPr>
            <a:spLocks noGrp="1"/>
          </p:cNvSpPr>
          <p:nvPr/>
        </p:nvSpPr>
        <p:spPr>
          <a:xfrm>
            <a:off x="892969" y="6965156"/>
            <a:ext cx="13454063" cy="7381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36 ÷ 12 : 48 ÷ 12 = 3:4</a:t>
            </a:r>
          </a:p>
        </p:txBody>
      </p:sp>
    </p:spTree>
    <p:extLst>
      <p:ext uri="{BB962C8B-B14F-4D97-AF65-F5344CB8AC3E}">
        <p14:creationId xmlns:p14="http://schemas.microsoft.com/office/powerpoint/2010/main" val="5409862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object-1">
            <a:extLst>
              <a:ext uri="{FF2B5EF4-FFF2-40B4-BE49-F238E27FC236}">
                <a16:creationId xmlns:a16="http://schemas.microsoft.com/office/drawing/2014/main" id="{A586A4F6-B880-41D6-A978-B0F3CB538C3E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EECC7576-1EBD-4DD4-A5B4-504EFA34CCFD}"/>
              </a:ext>
            </a:extLst>
          </p:cNvPr>
          <p:cNvSpPr>
            <a:spLocks noGrp="1"/>
          </p:cNvSpPr>
          <p:nvPr/>
        </p:nvSpPr>
        <p:spPr>
          <a:xfrm>
            <a:off x="11430000" y="476250"/>
            <a:ext cx="3155156" cy="547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262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You try.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0723257D-38DD-4A3C-8FD4-3894021FC247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Simplify the ratio 72:96.</a:t>
            </a:r>
          </a:p>
        </p:txBody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047BCAB7-5FC3-40C3-A11E-636D9E2BE6A1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FFE5077C-EA0B-47DC-AB32-19298D773A9E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Simplify ratios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7D131992-8430-4528-82D4-B3FB46FD1892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2B9FE8F6-29E8-4C31-901C-2432098C0165}"/>
              </a:ext>
            </a:extLst>
          </p:cNvPr>
          <p:cNvSpPr>
            <a:spLocks noGrp="1"/>
          </p:cNvSpPr>
          <p:nvPr/>
        </p:nvSpPr>
        <p:spPr>
          <a:xfrm>
            <a:off x="2857500" y="3155156"/>
            <a:ext cx="2381250" cy="892969"/>
          </a:xfrm>
          <a:prstGeom prst="rect">
            <a:avLst/>
          </a:prstGeom>
          <a:solidFill>
            <a:srgbClr val="1D4ED8"/>
          </a:solidFill>
          <a:ln w="23813">
            <a:solidFill>
              <a:srgbClr val="FFFFFF"/>
            </a:solidFill>
          </a:ln>
        </p:spPr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1CD0816E-4A76-4406-9861-7DF51BE51DB8}"/>
              </a:ext>
            </a:extLst>
          </p:cNvPr>
          <p:cNvSpPr>
            <a:spLocks noGrp="1"/>
          </p:cNvSpPr>
          <p:nvPr/>
        </p:nvSpPr>
        <p:spPr>
          <a:xfrm>
            <a:off x="5238750" y="3155156"/>
            <a:ext cx="2381250" cy="892969"/>
          </a:xfrm>
          <a:prstGeom prst="rect">
            <a:avLst/>
          </a:prstGeom>
          <a:solidFill>
            <a:srgbClr val="1D4ED8"/>
          </a:solidFill>
          <a:ln w="23813">
            <a:solidFill>
              <a:srgbClr val="FFFFFF"/>
            </a:solidFill>
          </a:ln>
        </p:spPr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DBA47637-1E72-41C4-BDFF-4EAFF30D1F60}"/>
              </a:ext>
            </a:extLst>
          </p:cNvPr>
          <p:cNvSpPr>
            <a:spLocks noGrp="1"/>
          </p:cNvSpPr>
          <p:nvPr/>
        </p:nvSpPr>
        <p:spPr>
          <a:xfrm>
            <a:off x="7620000" y="3155156"/>
            <a:ext cx="2381250" cy="892969"/>
          </a:xfrm>
          <a:prstGeom prst="rect">
            <a:avLst/>
          </a:prstGeom>
          <a:solidFill>
            <a:srgbClr val="1D4ED8"/>
          </a:solidFill>
          <a:ln w="23813">
            <a:solidFill>
              <a:srgbClr val="FFFFFF"/>
            </a:solidFill>
          </a:ln>
        </p:spPr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B1579258-1FF0-446D-8CE5-02BD30B0C225}"/>
              </a:ext>
            </a:extLst>
          </p:cNvPr>
          <p:cNvSpPr>
            <a:spLocks noGrp="1"/>
          </p:cNvSpPr>
          <p:nvPr/>
        </p:nvSpPr>
        <p:spPr>
          <a:xfrm>
            <a:off x="2857500" y="4524375"/>
            <a:ext cx="2381250" cy="892969"/>
          </a:xfrm>
          <a:prstGeom prst="rect">
            <a:avLst/>
          </a:prstGeom>
          <a:solidFill>
            <a:srgbClr val="EFF6FF"/>
          </a:solidFill>
          <a:ln w="23813">
            <a:solidFill>
              <a:srgbClr val="1D4ED8"/>
            </a:solidFill>
          </a:ln>
        </p:spPr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C498C774-4C3A-4D87-B77B-6782BD42CFD7}"/>
              </a:ext>
            </a:extLst>
          </p:cNvPr>
          <p:cNvSpPr>
            <a:spLocks noGrp="1"/>
          </p:cNvSpPr>
          <p:nvPr/>
        </p:nvSpPr>
        <p:spPr>
          <a:xfrm>
            <a:off x="5238750" y="4524375"/>
            <a:ext cx="2381250" cy="892969"/>
          </a:xfrm>
          <a:prstGeom prst="rect">
            <a:avLst/>
          </a:prstGeom>
          <a:solidFill>
            <a:srgbClr val="EFF6FF"/>
          </a:solidFill>
          <a:ln w="23813">
            <a:solidFill>
              <a:srgbClr val="1D4ED8"/>
            </a:solidFill>
          </a:ln>
        </p:spPr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EC5D404E-A4E8-4658-B646-86CF0516EA20}"/>
              </a:ext>
            </a:extLst>
          </p:cNvPr>
          <p:cNvSpPr>
            <a:spLocks noGrp="1"/>
          </p:cNvSpPr>
          <p:nvPr/>
        </p:nvSpPr>
        <p:spPr>
          <a:xfrm>
            <a:off x="7620000" y="4524375"/>
            <a:ext cx="2381250" cy="892969"/>
          </a:xfrm>
          <a:prstGeom prst="rect">
            <a:avLst/>
          </a:prstGeom>
          <a:solidFill>
            <a:srgbClr val="EFF6FF"/>
          </a:solidFill>
          <a:ln w="23813">
            <a:solidFill>
              <a:srgbClr val="1D4ED8"/>
            </a:solidFill>
          </a:ln>
        </p:spPr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2A1599DE-5DBD-4C37-9029-46FDE212BC70}"/>
              </a:ext>
            </a:extLst>
          </p:cNvPr>
          <p:cNvSpPr>
            <a:spLocks noGrp="1"/>
          </p:cNvSpPr>
          <p:nvPr/>
        </p:nvSpPr>
        <p:spPr>
          <a:xfrm>
            <a:off x="10001250" y="4524375"/>
            <a:ext cx="2381250" cy="892969"/>
          </a:xfrm>
          <a:prstGeom prst="rect">
            <a:avLst/>
          </a:prstGeom>
          <a:solidFill>
            <a:srgbClr val="EFF6FF"/>
          </a:solidFill>
          <a:ln w="23813">
            <a:solidFill>
              <a:srgbClr val="1D4ED8"/>
            </a:solidFill>
          </a:ln>
        </p:spPr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BCE5D253-644D-426E-AA94-655848B93B18}"/>
              </a:ext>
            </a:extLst>
          </p:cNvPr>
          <p:cNvSpPr>
            <a:spLocks noGrp="1"/>
          </p:cNvSpPr>
          <p:nvPr/>
        </p:nvSpPr>
        <p:spPr>
          <a:xfrm>
            <a:off x="773906" y="3214688"/>
            <a:ext cx="1905000" cy="65484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first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A04322D0-DEA5-452E-8E66-75F2FFDA8C3F}"/>
              </a:ext>
            </a:extLst>
          </p:cNvPr>
          <p:cNvSpPr>
            <a:spLocks noGrp="1"/>
          </p:cNvSpPr>
          <p:nvPr/>
        </p:nvSpPr>
        <p:spPr>
          <a:xfrm>
            <a:off x="773906" y="4572000"/>
            <a:ext cx="1905000" cy="65484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second</a:t>
            </a:r>
          </a:p>
        </p:txBody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BDA54953-6AD1-42AD-99D2-B5845591869D}"/>
              </a:ext>
            </a:extLst>
          </p:cNvPr>
          <p:cNvSpPr>
            <a:spLocks noGrp="1"/>
          </p:cNvSpPr>
          <p:nvPr/>
        </p:nvSpPr>
        <p:spPr>
          <a:xfrm>
            <a:off x="892969" y="6965156"/>
            <a:ext cx="13454063" cy="7381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72 ÷ 24 : 96 ÷ 24 = 3:4</a:t>
            </a:r>
          </a:p>
        </p:txBody>
      </p:sp>
    </p:spTree>
    <p:extLst>
      <p:ext uri="{BB962C8B-B14F-4D97-AF65-F5344CB8AC3E}">
        <p14:creationId xmlns:p14="http://schemas.microsoft.com/office/powerpoint/2010/main" val="18391995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-1">
            <a:extLst>
              <a:ext uri="{FF2B5EF4-FFF2-40B4-BE49-F238E27FC236}">
                <a16:creationId xmlns:a16="http://schemas.microsoft.com/office/drawing/2014/main" id="{1ACE9141-B23B-4D6D-A1BC-C040D8B3B73F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98E1C830-6B84-42DF-A315-81D41E4DA98A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Simplify the ratio 108:144.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5A99B07F-394F-4EFF-92A0-AEBC88D241B7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7F8D1C89-0D65-4B43-BF11-3B5D9984962B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Simplify ratios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FF104DCD-83DA-4855-A2B2-F53B4D2765C1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2775BFC3-5E45-4CC3-AE93-8C97E043731C}"/>
              </a:ext>
            </a:extLst>
          </p:cNvPr>
          <p:cNvSpPr>
            <a:spLocks noGrp="1"/>
          </p:cNvSpPr>
          <p:nvPr/>
        </p:nvSpPr>
        <p:spPr>
          <a:xfrm>
            <a:off x="2857500" y="3155156"/>
            <a:ext cx="2381250" cy="892969"/>
          </a:xfrm>
          <a:prstGeom prst="rect">
            <a:avLst/>
          </a:prstGeom>
          <a:solidFill>
            <a:srgbClr val="1D4ED8"/>
          </a:solidFill>
          <a:ln w="23813">
            <a:solidFill>
              <a:srgbClr val="FFFFFF"/>
            </a:solidFill>
          </a:ln>
        </p:spPr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4F386008-5341-4F08-B223-03969DD59922}"/>
              </a:ext>
            </a:extLst>
          </p:cNvPr>
          <p:cNvSpPr>
            <a:spLocks noGrp="1"/>
          </p:cNvSpPr>
          <p:nvPr/>
        </p:nvSpPr>
        <p:spPr>
          <a:xfrm>
            <a:off x="5238750" y="3155156"/>
            <a:ext cx="2381250" cy="892969"/>
          </a:xfrm>
          <a:prstGeom prst="rect">
            <a:avLst/>
          </a:prstGeom>
          <a:solidFill>
            <a:srgbClr val="1D4ED8"/>
          </a:solidFill>
          <a:ln w="23813">
            <a:solidFill>
              <a:srgbClr val="FFFFFF"/>
            </a:solidFill>
          </a:ln>
        </p:spPr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EBC97AE0-436E-41D2-BC09-8770602E5FDF}"/>
              </a:ext>
            </a:extLst>
          </p:cNvPr>
          <p:cNvSpPr>
            <a:spLocks noGrp="1"/>
          </p:cNvSpPr>
          <p:nvPr/>
        </p:nvSpPr>
        <p:spPr>
          <a:xfrm>
            <a:off x="7620000" y="3155156"/>
            <a:ext cx="2381250" cy="892969"/>
          </a:xfrm>
          <a:prstGeom prst="rect">
            <a:avLst/>
          </a:prstGeom>
          <a:solidFill>
            <a:srgbClr val="1D4ED8"/>
          </a:solidFill>
          <a:ln w="23813">
            <a:solidFill>
              <a:srgbClr val="FFFFFF"/>
            </a:solidFill>
          </a:ln>
        </p:spPr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B60484A5-7ED3-4CE0-A77C-8DDF743CC80C}"/>
              </a:ext>
            </a:extLst>
          </p:cNvPr>
          <p:cNvSpPr>
            <a:spLocks noGrp="1"/>
          </p:cNvSpPr>
          <p:nvPr/>
        </p:nvSpPr>
        <p:spPr>
          <a:xfrm>
            <a:off x="2857500" y="4524375"/>
            <a:ext cx="2381250" cy="892969"/>
          </a:xfrm>
          <a:prstGeom prst="rect">
            <a:avLst/>
          </a:prstGeom>
          <a:solidFill>
            <a:srgbClr val="EFF6FF"/>
          </a:solidFill>
          <a:ln w="23813">
            <a:solidFill>
              <a:srgbClr val="1D4ED8"/>
            </a:solidFill>
          </a:ln>
        </p:spPr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ABC5B71E-4654-4180-AD08-DA0B36D520E9}"/>
              </a:ext>
            </a:extLst>
          </p:cNvPr>
          <p:cNvSpPr>
            <a:spLocks noGrp="1"/>
          </p:cNvSpPr>
          <p:nvPr/>
        </p:nvSpPr>
        <p:spPr>
          <a:xfrm>
            <a:off x="5238750" y="4524375"/>
            <a:ext cx="2381250" cy="892969"/>
          </a:xfrm>
          <a:prstGeom prst="rect">
            <a:avLst/>
          </a:prstGeom>
          <a:solidFill>
            <a:srgbClr val="EFF6FF"/>
          </a:solidFill>
          <a:ln w="23813">
            <a:solidFill>
              <a:srgbClr val="1D4ED8"/>
            </a:solidFill>
          </a:ln>
        </p:spPr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FC2EE1DA-F9BC-46B7-BCF6-A952DB1C690C}"/>
              </a:ext>
            </a:extLst>
          </p:cNvPr>
          <p:cNvSpPr>
            <a:spLocks noGrp="1"/>
          </p:cNvSpPr>
          <p:nvPr/>
        </p:nvSpPr>
        <p:spPr>
          <a:xfrm>
            <a:off x="7620000" y="4524375"/>
            <a:ext cx="2381250" cy="892969"/>
          </a:xfrm>
          <a:prstGeom prst="rect">
            <a:avLst/>
          </a:prstGeom>
          <a:solidFill>
            <a:srgbClr val="EFF6FF"/>
          </a:solidFill>
          <a:ln w="23813">
            <a:solidFill>
              <a:srgbClr val="1D4ED8"/>
            </a:solidFill>
          </a:ln>
        </p:spPr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3DD00AC8-AF7E-4501-9A17-30DA85C7C82D}"/>
              </a:ext>
            </a:extLst>
          </p:cNvPr>
          <p:cNvSpPr>
            <a:spLocks noGrp="1"/>
          </p:cNvSpPr>
          <p:nvPr/>
        </p:nvSpPr>
        <p:spPr>
          <a:xfrm>
            <a:off x="10001250" y="4524375"/>
            <a:ext cx="2381250" cy="892969"/>
          </a:xfrm>
          <a:prstGeom prst="rect">
            <a:avLst/>
          </a:prstGeom>
          <a:solidFill>
            <a:srgbClr val="EFF6FF"/>
          </a:solidFill>
          <a:ln w="23813">
            <a:solidFill>
              <a:srgbClr val="1D4ED8"/>
            </a:solidFill>
          </a:ln>
        </p:spPr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A740E978-00EB-4461-B83F-B36248A4E059}"/>
              </a:ext>
            </a:extLst>
          </p:cNvPr>
          <p:cNvSpPr>
            <a:spLocks noGrp="1"/>
          </p:cNvSpPr>
          <p:nvPr/>
        </p:nvSpPr>
        <p:spPr>
          <a:xfrm>
            <a:off x="773906" y="3214688"/>
            <a:ext cx="1905000" cy="65484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first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EC8C7C89-0885-4E0F-B37B-2F92AC34C687}"/>
              </a:ext>
            </a:extLst>
          </p:cNvPr>
          <p:cNvSpPr>
            <a:spLocks noGrp="1"/>
          </p:cNvSpPr>
          <p:nvPr/>
        </p:nvSpPr>
        <p:spPr>
          <a:xfrm>
            <a:off x="773906" y="4572000"/>
            <a:ext cx="1905000" cy="65484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second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D8FEED22-FE7F-4DF8-B1B2-754E6C35FD62}"/>
              </a:ext>
            </a:extLst>
          </p:cNvPr>
          <p:cNvSpPr>
            <a:spLocks noGrp="1"/>
          </p:cNvSpPr>
          <p:nvPr/>
        </p:nvSpPr>
        <p:spPr>
          <a:xfrm>
            <a:off x="892969" y="6965156"/>
            <a:ext cx="13454063" cy="7381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108 ÷ 36 : 144 ÷ 36 = 3:4</a:t>
            </a:r>
          </a:p>
        </p:txBody>
      </p:sp>
    </p:spTree>
    <p:extLst>
      <p:ext uri="{BB962C8B-B14F-4D97-AF65-F5344CB8AC3E}">
        <p14:creationId xmlns:p14="http://schemas.microsoft.com/office/powerpoint/2010/main" val="12876940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object-1">
            <a:extLst>
              <a:ext uri="{FF2B5EF4-FFF2-40B4-BE49-F238E27FC236}">
                <a16:creationId xmlns:a16="http://schemas.microsoft.com/office/drawing/2014/main" id="{9EF2AE4B-C735-4347-970B-3DC81BEA96C6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53E577DC-3BEE-4F58-9C85-45A084B0AF4D}"/>
              </a:ext>
            </a:extLst>
          </p:cNvPr>
          <p:cNvSpPr>
            <a:spLocks noGrp="1"/>
          </p:cNvSpPr>
          <p:nvPr/>
        </p:nvSpPr>
        <p:spPr>
          <a:xfrm>
            <a:off x="11430000" y="476250"/>
            <a:ext cx="3155156" cy="547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262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You try.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B44108A0-FBB1-4675-9A1D-1645DD35138B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Simplify the ratio 144:192.</a:t>
            </a:r>
          </a:p>
        </p:txBody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E6DBC3AA-84FA-4BFF-B047-20B219AA2566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4BE86A7E-F96A-4238-8140-3DBA5B65767E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Simplify ratios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7257D159-6F4F-4F0E-8E79-23BBC82046D0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A84CA351-2E58-443E-ACE8-4CDF2628590C}"/>
              </a:ext>
            </a:extLst>
          </p:cNvPr>
          <p:cNvSpPr>
            <a:spLocks noGrp="1"/>
          </p:cNvSpPr>
          <p:nvPr/>
        </p:nvSpPr>
        <p:spPr>
          <a:xfrm>
            <a:off x="2857500" y="3155156"/>
            <a:ext cx="2381250" cy="892969"/>
          </a:xfrm>
          <a:prstGeom prst="rect">
            <a:avLst/>
          </a:prstGeom>
          <a:solidFill>
            <a:srgbClr val="1D4ED8"/>
          </a:solidFill>
          <a:ln w="23813">
            <a:solidFill>
              <a:srgbClr val="FFFFFF"/>
            </a:solidFill>
          </a:ln>
        </p:spPr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8CC16E9B-A910-4DAB-8175-5166933C538C}"/>
              </a:ext>
            </a:extLst>
          </p:cNvPr>
          <p:cNvSpPr>
            <a:spLocks noGrp="1"/>
          </p:cNvSpPr>
          <p:nvPr/>
        </p:nvSpPr>
        <p:spPr>
          <a:xfrm>
            <a:off x="5238750" y="3155156"/>
            <a:ext cx="2381250" cy="892969"/>
          </a:xfrm>
          <a:prstGeom prst="rect">
            <a:avLst/>
          </a:prstGeom>
          <a:solidFill>
            <a:srgbClr val="1D4ED8"/>
          </a:solidFill>
          <a:ln w="23813">
            <a:solidFill>
              <a:srgbClr val="FFFFFF"/>
            </a:solidFill>
          </a:ln>
        </p:spPr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3DA5AB1F-3557-45B7-AE3B-6850DABE8131}"/>
              </a:ext>
            </a:extLst>
          </p:cNvPr>
          <p:cNvSpPr>
            <a:spLocks noGrp="1"/>
          </p:cNvSpPr>
          <p:nvPr/>
        </p:nvSpPr>
        <p:spPr>
          <a:xfrm>
            <a:off x="7620000" y="3155156"/>
            <a:ext cx="2381250" cy="892969"/>
          </a:xfrm>
          <a:prstGeom prst="rect">
            <a:avLst/>
          </a:prstGeom>
          <a:solidFill>
            <a:srgbClr val="1D4ED8"/>
          </a:solidFill>
          <a:ln w="23813">
            <a:solidFill>
              <a:srgbClr val="FFFFFF"/>
            </a:solidFill>
          </a:ln>
        </p:spPr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08C78491-4396-477B-A5F1-DD1CDEE116BA}"/>
              </a:ext>
            </a:extLst>
          </p:cNvPr>
          <p:cNvSpPr>
            <a:spLocks noGrp="1"/>
          </p:cNvSpPr>
          <p:nvPr/>
        </p:nvSpPr>
        <p:spPr>
          <a:xfrm>
            <a:off x="2857500" y="4524375"/>
            <a:ext cx="2381250" cy="892969"/>
          </a:xfrm>
          <a:prstGeom prst="rect">
            <a:avLst/>
          </a:prstGeom>
          <a:solidFill>
            <a:srgbClr val="EFF6FF"/>
          </a:solidFill>
          <a:ln w="23813">
            <a:solidFill>
              <a:srgbClr val="1D4ED8"/>
            </a:solidFill>
          </a:ln>
        </p:spPr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568AD44A-7729-4E7A-8214-5CE8D4A68B78}"/>
              </a:ext>
            </a:extLst>
          </p:cNvPr>
          <p:cNvSpPr>
            <a:spLocks noGrp="1"/>
          </p:cNvSpPr>
          <p:nvPr/>
        </p:nvSpPr>
        <p:spPr>
          <a:xfrm>
            <a:off x="5238750" y="4524375"/>
            <a:ext cx="2381250" cy="892969"/>
          </a:xfrm>
          <a:prstGeom prst="rect">
            <a:avLst/>
          </a:prstGeom>
          <a:solidFill>
            <a:srgbClr val="EFF6FF"/>
          </a:solidFill>
          <a:ln w="23813">
            <a:solidFill>
              <a:srgbClr val="1D4ED8"/>
            </a:solidFill>
          </a:ln>
        </p:spPr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05420F63-986A-4801-82BB-08C0C67FC47B}"/>
              </a:ext>
            </a:extLst>
          </p:cNvPr>
          <p:cNvSpPr>
            <a:spLocks noGrp="1"/>
          </p:cNvSpPr>
          <p:nvPr/>
        </p:nvSpPr>
        <p:spPr>
          <a:xfrm>
            <a:off x="7620000" y="4524375"/>
            <a:ext cx="2381250" cy="892969"/>
          </a:xfrm>
          <a:prstGeom prst="rect">
            <a:avLst/>
          </a:prstGeom>
          <a:solidFill>
            <a:srgbClr val="EFF6FF"/>
          </a:solidFill>
          <a:ln w="23813">
            <a:solidFill>
              <a:srgbClr val="1D4ED8"/>
            </a:solidFill>
          </a:ln>
        </p:spPr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D1F118C6-6447-4203-89D7-49F01CECDBDA}"/>
              </a:ext>
            </a:extLst>
          </p:cNvPr>
          <p:cNvSpPr>
            <a:spLocks noGrp="1"/>
          </p:cNvSpPr>
          <p:nvPr/>
        </p:nvSpPr>
        <p:spPr>
          <a:xfrm>
            <a:off x="10001250" y="4524375"/>
            <a:ext cx="2381250" cy="892969"/>
          </a:xfrm>
          <a:prstGeom prst="rect">
            <a:avLst/>
          </a:prstGeom>
          <a:solidFill>
            <a:srgbClr val="EFF6FF"/>
          </a:solidFill>
          <a:ln w="23813">
            <a:solidFill>
              <a:srgbClr val="1D4ED8"/>
            </a:solidFill>
          </a:ln>
        </p:spPr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4066842C-A349-47CB-8676-BD1BC0190799}"/>
              </a:ext>
            </a:extLst>
          </p:cNvPr>
          <p:cNvSpPr>
            <a:spLocks noGrp="1"/>
          </p:cNvSpPr>
          <p:nvPr/>
        </p:nvSpPr>
        <p:spPr>
          <a:xfrm>
            <a:off x="773906" y="3214688"/>
            <a:ext cx="1905000" cy="65484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first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C1417671-2493-4E33-8BAA-B899ECB913B0}"/>
              </a:ext>
            </a:extLst>
          </p:cNvPr>
          <p:cNvSpPr>
            <a:spLocks noGrp="1"/>
          </p:cNvSpPr>
          <p:nvPr/>
        </p:nvSpPr>
        <p:spPr>
          <a:xfrm>
            <a:off x="773906" y="4572000"/>
            <a:ext cx="1905000" cy="65484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second</a:t>
            </a:r>
          </a:p>
        </p:txBody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8AD68E43-67A1-4E21-AAB7-2FC38B079BE0}"/>
              </a:ext>
            </a:extLst>
          </p:cNvPr>
          <p:cNvSpPr>
            <a:spLocks noGrp="1"/>
          </p:cNvSpPr>
          <p:nvPr/>
        </p:nvSpPr>
        <p:spPr>
          <a:xfrm>
            <a:off x="892969" y="6965156"/>
            <a:ext cx="13454063" cy="7381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144 ÷ 48 : 192 ÷ 48 = 3:4</a:t>
            </a:r>
          </a:p>
        </p:txBody>
      </p:sp>
    </p:spTree>
    <p:extLst>
      <p:ext uri="{BB962C8B-B14F-4D97-AF65-F5344CB8AC3E}">
        <p14:creationId xmlns:p14="http://schemas.microsoft.com/office/powerpoint/2010/main" val="4762356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object-1">
            <a:extLst>
              <a:ext uri="{FF2B5EF4-FFF2-40B4-BE49-F238E27FC236}">
                <a16:creationId xmlns:a16="http://schemas.microsoft.com/office/drawing/2014/main" id="{0FFF1C07-87B2-4672-8229-ADC594E22E07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4F791184-E572-4B90-90FF-BA3AB3A26D4E}"/>
              </a:ext>
            </a:extLst>
          </p:cNvPr>
          <p:cNvSpPr>
            <a:spLocks noGrp="1"/>
          </p:cNvSpPr>
          <p:nvPr/>
        </p:nvSpPr>
        <p:spPr>
          <a:xfrm>
            <a:off x="11430000" y="476250"/>
            <a:ext cx="3155156" cy="547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262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You try.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971741F7-20CD-4978-8CFF-F4B9258D2793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Try these questions.</a:t>
            </a:r>
          </a:p>
        </p:txBody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AED601B0-3DD3-426B-BE95-4E19F8D94F52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77E7DBA4-970C-4D0A-9217-80D52298B1C5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Simplify ratios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D50CAC29-F2B5-4E63-8C10-05C52C74A114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A0F52D9E-0528-46A1-98BC-ED57FBF22A4E}"/>
              </a:ext>
            </a:extLst>
          </p:cNvPr>
          <p:cNvSpPr>
            <a:spLocks noGrp="1"/>
          </p:cNvSpPr>
          <p:nvPr/>
        </p:nvSpPr>
        <p:spPr>
          <a:xfrm>
            <a:off x="773906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1.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856ADFB2-7D5D-42F2-9C67-C02B43014A00}"/>
              </a:ext>
            </a:extLst>
          </p:cNvPr>
          <p:cNvSpPr>
            <a:spLocks noGrp="1"/>
          </p:cNvSpPr>
          <p:nvPr/>
        </p:nvSpPr>
        <p:spPr>
          <a:xfrm>
            <a:off x="1464469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Simplify 36:48.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42949F04-11B5-45F6-8B21-44B7CB3F2176}"/>
              </a:ext>
            </a:extLst>
          </p:cNvPr>
          <p:cNvSpPr>
            <a:spLocks noGrp="1"/>
          </p:cNvSpPr>
          <p:nvPr/>
        </p:nvSpPr>
        <p:spPr>
          <a:xfrm>
            <a:off x="773906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2.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EA4E5D46-3F81-4EB8-9FAF-CED09CF7BD57}"/>
              </a:ext>
            </a:extLst>
          </p:cNvPr>
          <p:cNvSpPr>
            <a:spLocks noGrp="1"/>
          </p:cNvSpPr>
          <p:nvPr/>
        </p:nvSpPr>
        <p:spPr>
          <a:xfrm>
            <a:off x="1464469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Paint is mixed red to white in the ratio 3:5. How much white is needed with 18 ml red?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ABC95A1F-BC83-40A9-AE99-0747C88EB4B0}"/>
              </a:ext>
            </a:extLst>
          </p:cNvPr>
          <p:cNvSpPr>
            <a:spLocks noGrp="1"/>
          </p:cNvSpPr>
          <p:nvPr/>
        </p:nvSpPr>
        <p:spPr>
          <a:xfrm>
            <a:off x="773906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3.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9B8856AC-A97A-4A9F-9366-315299A0A4BF}"/>
              </a:ext>
            </a:extLst>
          </p:cNvPr>
          <p:cNvSpPr>
            <a:spLocks noGrp="1"/>
          </p:cNvSpPr>
          <p:nvPr/>
        </p:nvSpPr>
        <p:spPr>
          <a:xfrm>
            <a:off x="1464469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There are 8 red and 12 blue counters. Write red to blue as a ratio.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6DE0A49D-B7F8-4A70-AC7F-743FDCC10B92}"/>
              </a:ext>
            </a:extLst>
          </p:cNvPr>
          <p:cNvSpPr>
            <a:spLocks noGrp="1"/>
          </p:cNvSpPr>
          <p:nvPr/>
        </p:nvSpPr>
        <p:spPr>
          <a:xfrm>
            <a:off x="773906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4.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48CF2870-FB79-4C81-8861-31678A0285F9}"/>
              </a:ext>
            </a:extLst>
          </p:cNvPr>
          <p:cNvSpPr>
            <a:spLocks noGrp="1"/>
          </p:cNvSpPr>
          <p:nvPr/>
        </p:nvSpPr>
        <p:spPr>
          <a:xfrm>
            <a:off x="1464469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Solve this independently and show every stage: Simplify 36:48.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BA8F53B6-06C3-480C-A559-3100D01B609D}"/>
              </a:ext>
            </a:extLst>
          </p:cNvPr>
          <p:cNvSpPr>
            <a:spLocks noGrp="1"/>
          </p:cNvSpPr>
          <p:nvPr/>
        </p:nvSpPr>
        <p:spPr>
          <a:xfrm>
            <a:off x="773906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5.</a:t>
            </a:r>
          </a:p>
        </p:txBody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1A2F20DA-98EA-4675-98DF-0CFB7B9BD5F3}"/>
              </a:ext>
            </a:extLst>
          </p:cNvPr>
          <p:cNvSpPr>
            <a:spLocks noGrp="1"/>
          </p:cNvSpPr>
          <p:nvPr/>
        </p:nvSpPr>
        <p:spPr>
          <a:xfrm>
            <a:off x="1464469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Use a second method or representation for: Paint is mixed red to white in the ratio 3:5. How much white is needed with 18 ml red?</a:t>
            </a:r>
          </a:p>
        </p:txBody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B426C03D-E81A-41A0-9312-460C83FBFDF7}"/>
              </a:ext>
            </a:extLst>
          </p:cNvPr>
          <p:cNvSpPr>
            <a:spLocks noGrp="1"/>
          </p:cNvSpPr>
          <p:nvPr/>
        </p:nvSpPr>
        <p:spPr>
          <a:xfrm>
            <a:off x="8215313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6.</a:t>
            </a:r>
          </a:p>
        </p:txBody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77871A00-94CD-4DCD-933E-F7E83C28EBF3}"/>
              </a:ext>
            </a:extLst>
          </p:cNvPr>
          <p:cNvSpPr>
            <a:spLocks noGrp="1"/>
          </p:cNvSpPr>
          <p:nvPr/>
        </p:nvSpPr>
        <p:spPr>
          <a:xfrm>
            <a:off x="8905875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Check this result using an inverse, estimate or known fact: There are 8 red and 12 blue counters. Write red to blue as a ratio.</a:t>
            </a:r>
          </a:p>
        </p:txBody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E142875D-F460-45E6-A77D-9174C6B3793C}"/>
              </a:ext>
            </a:extLst>
          </p:cNvPr>
          <p:cNvSpPr>
            <a:spLocks noGrp="1"/>
          </p:cNvSpPr>
          <p:nvPr/>
        </p:nvSpPr>
        <p:spPr>
          <a:xfrm>
            <a:off x="8215313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7.</a:t>
            </a:r>
          </a:p>
        </p:txBody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FFCC1257-A799-4B0F-AB4E-0C6D82CC044A}"/>
              </a:ext>
            </a:extLst>
          </p:cNvPr>
          <p:cNvSpPr>
            <a:spLocks noGrp="1"/>
          </p:cNvSpPr>
          <p:nvPr/>
        </p:nvSpPr>
        <p:spPr>
          <a:xfrm>
            <a:off x="8905875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Prove or explain your reasoning: Explain the ratio 5:2 in a sentence.</a:t>
            </a:r>
          </a:p>
        </p:txBody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FD4A254E-3600-4E39-85E6-4EB848C75053}"/>
              </a:ext>
            </a:extLst>
          </p:cNvPr>
          <p:cNvSpPr>
            <a:spLocks noGrp="1"/>
          </p:cNvSpPr>
          <p:nvPr/>
        </p:nvSpPr>
        <p:spPr>
          <a:xfrm>
            <a:off x="8215313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8.</a:t>
            </a:r>
          </a:p>
        </p:txBody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880A3421-0C12-4AA5-BEAC-CBFEE249FDF6}"/>
              </a:ext>
            </a:extLst>
          </p:cNvPr>
          <p:cNvSpPr>
            <a:spLocks noGrp="1"/>
          </p:cNvSpPr>
          <p:nvPr/>
        </p:nvSpPr>
        <p:spPr>
          <a:xfrm>
            <a:off x="8905875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Identify and correct this misconception: Miro adds the same number to both parts to make an equivalent ratio.</a:t>
            </a:r>
          </a:p>
        </p:txBody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1D5AA534-D34B-499E-9B4F-A135E7ECB6AF}"/>
              </a:ext>
            </a:extLst>
          </p:cNvPr>
          <p:cNvSpPr>
            <a:spLocks noGrp="1"/>
          </p:cNvSpPr>
          <p:nvPr/>
        </p:nvSpPr>
        <p:spPr>
          <a:xfrm>
            <a:off x="8215313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9.</a:t>
            </a:r>
          </a:p>
        </p:txBody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4EA80957-9657-40E9-A3F2-6E1AA2747799}"/>
              </a:ext>
            </a:extLst>
          </p:cNvPr>
          <p:cNvSpPr>
            <a:spLocks noGrp="1"/>
          </p:cNvSpPr>
          <p:nvPr/>
        </p:nvSpPr>
        <p:spPr>
          <a:xfrm>
            <a:off x="8905875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Write a complete sentence explaining how you checked one answer.</a:t>
            </a:r>
          </a:p>
        </p:txBody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BAFC3F59-3903-4153-A83E-A5826303B63F}"/>
              </a:ext>
            </a:extLst>
          </p:cNvPr>
          <p:cNvSpPr>
            <a:spLocks noGrp="1"/>
          </p:cNvSpPr>
          <p:nvPr/>
        </p:nvSpPr>
        <p:spPr>
          <a:xfrm>
            <a:off x="8215313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10.</a:t>
            </a:r>
          </a:p>
        </p:txBody>
      </p:sp>
      <p:sp>
        <p:nvSpPr>
          <p:cNvPr id="26" name="object-26">
            <a:extLst>
              <a:ext uri="{FF2B5EF4-FFF2-40B4-BE49-F238E27FC236}">
                <a16:creationId xmlns:a16="http://schemas.microsoft.com/office/drawing/2014/main" id="{AD2FF151-C6FA-491D-8CFD-02D13F6ABBD6}"/>
              </a:ext>
            </a:extLst>
          </p:cNvPr>
          <p:cNvSpPr>
            <a:spLocks noGrp="1"/>
          </p:cNvSpPr>
          <p:nvPr/>
        </p:nvSpPr>
        <p:spPr>
          <a:xfrm>
            <a:off x="8905875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Write and solve a similar question to: There are 8 red and 12 blue counters. Write red to blue as a ratio.</a:t>
            </a:r>
          </a:p>
        </p:txBody>
      </p:sp>
    </p:spTree>
    <p:extLst>
      <p:ext uri="{BB962C8B-B14F-4D97-AF65-F5344CB8AC3E}">
        <p14:creationId xmlns:p14="http://schemas.microsoft.com/office/powerpoint/2010/main" val="14521620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object-1">
            <a:extLst>
              <a:ext uri="{FF2B5EF4-FFF2-40B4-BE49-F238E27FC236}">
                <a16:creationId xmlns:a16="http://schemas.microsoft.com/office/drawing/2014/main" id="{D6E4132A-09AC-4096-9880-015E56EBA7DC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Answers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A12F62B8-55E5-435C-8F00-2149153BAE70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Check your answers. Explain any corrections.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5BA0E26E-406C-4751-B0ED-C4AB82418F44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60185CF3-7E57-4E9D-B3B3-5151C85E3DF8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Simplify ratios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874DAD21-38DB-49C3-BD99-C9978C0BF3F3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4C88F2A3-9386-4D0E-BBD3-502CEB0E17B8}"/>
              </a:ext>
            </a:extLst>
          </p:cNvPr>
          <p:cNvSpPr>
            <a:spLocks noGrp="1"/>
          </p:cNvSpPr>
          <p:nvPr/>
        </p:nvSpPr>
        <p:spPr>
          <a:xfrm>
            <a:off x="773906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1.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A642C85D-8213-415E-B262-E61F530C7865}"/>
              </a:ext>
            </a:extLst>
          </p:cNvPr>
          <p:cNvSpPr>
            <a:spLocks noGrp="1"/>
          </p:cNvSpPr>
          <p:nvPr/>
        </p:nvSpPr>
        <p:spPr>
          <a:xfrm>
            <a:off x="1464469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3:4.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473EF6B2-1E3E-44AD-9A59-5B0869BAE84E}"/>
              </a:ext>
            </a:extLst>
          </p:cNvPr>
          <p:cNvSpPr>
            <a:spLocks noGrp="1"/>
          </p:cNvSpPr>
          <p:nvPr/>
        </p:nvSpPr>
        <p:spPr>
          <a:xfrm>
            <a:off x="773906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2.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57BFA15C-CEA1-4D6D-A78A-7E94EE6975B4}"/>
              </a:ext>
            </a:extLst>
          </p:cNvPr>
          <p:cNvSpPr>
            <a:spLocks noGrp="1"/>
          </p:cNvSpPr>
          <p:nvPr/>
        </p:nvSpPr>
        <p:spPr>
          <a:xfrm>
            <a:off x="1464469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30 ml.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94A82DE4-8C12-4990-B71C-6EEB4FD022E5}"/>
              </a:ext>
            </a:extLst>
          </p:cNvPr>
          <p:cNvSpPr>
            <a:spLocks noGrp="1"/>
          </p:cNvSpPr>
          <p:nvPr/>
        </p:nvSpPr>
        <p:spPr>
          <a:xfrm>
            <a:off x="773906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3.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EBB90E36-C8F3-4A2F-BE22-B92C88D942CB}"/>
              </a:ext>
            </a:extLst>
          </p:cNvPr>
          <p:cNvSpPr>
            <a:spLocks noGrp="1"/>
          </p:cNvSpPr>
          <p:nvPr/>
        </p:nvSpPr>
        <p:spPr>
          <a:xfrm>
            <a:off x="1464469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8:12, which simplifies to 2:3.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B4175A93-D1EB-45C7-B219-813C267EDFFB}"/>
              </a:ext>
            </a:extLst>
          </p:cNvPr>
          <p:cNvSpPr>
            <a:spLocks noGrp="1"/>
          </p:cNvSpPr>
          <p:nvPr/>
        </p:nvSpPr>
        <p:spPr>
          <a:xfrm>
            <a:off x="773906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4.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A4FAEE90-66EC-408D-A460-A003E8CCA62F}"/>
              </a:ext>
            </a:extLst>
          </p:cNvPr>
          <p:cNvSpPr>
            <a:spLocks noGrp="1"/>
          </p:cNvSpPr>
          <p:nvPr/>
        </p:nvSpPr>
        <p:spPr>
          <a:xfrm>
            <a:off x="1464469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3:4.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EA5A23B7-518E-4E4A-8D3D-F8E900F92A10}"/>
              </a:ext>
            </a:extLst>
          </p:cNvPr>
          <p:cNvSpPr>
            <a:spLocks noGrp="1"/>
          </p:cNvSpPr>
          <p:nvPr/>
        </p:nvSpPr>
        <p:spPr>
          <a:xfrm>
            <a:off x="773906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5.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BEB498DA-B1B1-449D-A3E4-30322912D84D}"/>
              </a:ext>
            </a:extLst>
          </p:cNvPr>
          <p:cNvSpPr>
            <a:spLocks noGrp="1"/>
          </p:cNvSpPr>
          <p:nvPr/>
        </p:nvSpPr>
        <p:spPr>
          <a:xfrm>
            <a:off x="1464469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Expected result: 30 ml. Method or representation may vary.</a:t>
            </a:r>
          </a:p>
        </p:txBody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EB772AAD-E5C4-4E6A-BA65-13C89D8438AA}"/>
              </a:ext>
            </a:extLst>
          </p:cNvPr>
          <p:cNvSpPr>
            <a:spLocks noGrp="1"/>
          </p:cNvSpPr>
          <p:nvPr/>
        </p:nvSpPr>
        <p:spPr>
          <a:xfrm>
            <a:off x="8215313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6.</a:t>
            </a:r>
          </a:p>
        </p:txBody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2C16FD15-BBC4-42E9-8A85-05AC122EA97D}"/>
              </a:ext>
            </a:extLst>
          </p:cNvPr>
          <p:cNvSpPr>
            <a:spLocks noGrp="1"/>
          </p:cNvSpPr>
          <p:nvPr/>
        </p:nvSpPr>
        <p:spPr>
          <a:xfrm>
            <a:off x="8905875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Expected result: 8:12, which simplifies to 2:3. A valid check must be shown.</a:t>
            </a:r>
          </a:p>
        </p:txBody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03BAE30E-0CA7-4F55-86AF-AEF95F20FBA9}"/>
              </a:ext>
            </a:extLst>
          </p:cNvPr>
          <p:cNvSpPr>
            <a:spLocks noGrp="1"/>
          </p:cNvSpPr>
          <p:nvPr/>
        </p:nvSpPr>
        <p:spPr>
          <a:xfrm>
            <a:off x="8215313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7.</a:t>
            </a:r>
          </a:p>
        </p:txBody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7BE3F636-7DFB-425A-8765-2FD4F0D1FC3B}"/>
              </a:ext>
            </a:extLst>
          </p:cNvPr>
          <p:cNvSpPr>
            <a:spLocks noGrp="1"/>
          </p:cNvSpPr>
          <p:nvPr/>
        </p:nvSpPr>
        <p:spPr>
          <a:xfrm>
            <a:off x="8905875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For every 5 of the first quantity, there are 2 of the second. The explanation must show why the method works.</a:t>
            </a:r>
          </a:p>
        </p:txBody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22BBDBB9-D618-4666-8DE6-29F836DAE788}"/>
              </a:ext>
            </a:extLst>
          </p:cNvPr>
          <p:cNvSpPr>
            <a:spLocks noGrp="1"/>
          </p:cNvSpPr>
          <p:nvPr/>
        </p:nvSpPr>
        <p:spPr>
          <a:xfrm>
            <a:off x="8215313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8.</a:t>
            </a:r>
          </a:p>
        </p:txBody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EC0FCF48-A30E-46B4-A36A-C1991FBE5FFD}"/>
              </a:ext>
            </a:extLst>
          </p:cNvPr>
          <p:cNvSpPr>
            <a:spLocks noGrp="1"/>
          </p:cNvSpPr>
          <p:nvPr/>
        </p:nvSpPr>
        <p:spPr>
          <a:xfrm>
            <a:off x="8905875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Equivalent ratios come from multiplying or dividing both parts by the same factor.</a:t>
            </a:r>
          </a:p>
        </p:txBody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1A674CC2-D6AA-4EA2-8B37-0E85E9D68426}"/>
              </a:ext>
            </a:extLst>
          </p:cNvPr>
          <p:cNvSpPr>
            <a:spLocks noGrp="1"/>
          </p:cNvSpPr>
          <p:nvPr/>
        </p:nvSpPr>
        <p:spPr>
          <a:xfrm>
            <a:off x="8215313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9.</a:t>
            </a:r>
          </a:p>
        </p:txBody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54A93489-CBCA-4C02-ACC2-93D0480A8432}"/>
              </a:ext>
            </a:extLst>
          </p:cNvPr>
          <p:cNvSpPr>
            <a:spLocks noGrp="1"/>
          </p:cNvSpPr>
          <p:nvPr/>
        </p:nvSpPr>
        <p:spPr>
          <a:xfrm>
            <a:off x="8905875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Answer should name an inverse, estimate, boundary, known fact or equivalent representation.</a:t>
            </a:r>
          </a:p>
        </p:txBody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57DD3DD7-124C-4C16-865C-B6A185007271}"/>
              </a:ext>
            </a:extLst>
          </p:cNvPr>
          <p:cNvSpPr>
            <a:spLocks noGrp="1"/>
          </p:cNvSpPr>
          <p:nvPr/>
        </p:nvSpPr>
        <p:spPr>
          <a:xfrm>
            <a:off x="8215313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10.</a:t>
            </a:r>
          </a:p>
        </p:txBody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2F450F34-2ADD-498F-8946-B9DDCE74F327}"/>
              </a:ext>
            </a:extLst>
          </p:cNvPr>
          <p:cNvSpPr>
            <a:spLocks noGrp="1"/>
          </p:cNvSpPr>
          <p:nvPr/>
        </p:nvSpPr>
        <p:spPr>
          <a:xfrm>
            <a:off x="8905875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Answers vary. The new question must use the same mathematical structure and include a correct solution.</a:t>
            </a:r>
          </a:p>
        </p:txBody>
      </p:sp>
    </p:spTree>
    <p:extLst>
      <p:ext uri="{BB962C8B-B14F-4D97-AF65-F5344CB8AC3E}">
        <p14:creationId xmlns:p14="http://schemas.microsoft.com/office/powerpoint/2010/main" val="496611591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885</Words>
  <Application>Microsoft Office PowerPoint</Application>
  <DocSecurity>0</DocSecurity>
  <PresentationFormat>Custom</PresentationFormat>
  <Paragraphs>98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Garima Sharma</cp:lastModifiedBy>
  <cp:revision>1</cp:revision>
  <dcterms:created xsi:type="dcterms:W3CDTF">2026-09-14T13:14:31Z</dcterms:created>
  <dcterms:modified xsi:type="dcterms:W3CDTF">2026-09-14T13:16:40Z</dcterms:modified>
</cp:coreProperties>
</file>