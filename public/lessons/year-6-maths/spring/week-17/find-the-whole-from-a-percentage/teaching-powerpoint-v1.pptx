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the whole from a percentage. Find the whole from a percentage.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the whole from a percentage. I do. The complete bar represents 100%. Find 1%, then build the required percentage. For a reduction, subtract the discount from the original whole.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the whole from a percentage. You do. Pause before clicking. Let pupils try independently, then reveal and discuss every step. The complete bar represents 100%. Find 1%, then build the required percentage. For a reduction, subtract the discount from the original whole.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the whole from a percentage. I do. The complete bar represents 100%. Find 1%, then build the required percentage. For a reduction, subtract the discount from the original whole.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the whole from a percentage. You do. Pause before clicking. Let pupils try independently, then reveal and discuss every step. The complete bar represents 100%. Find 1%, then build the required percentage. For a reduction, subtract the discount from the original whole.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the whole from a percentage.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the whole from a percentage.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07412582-B538-4566-9537-EB96D99DE541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Find the whole from a percentage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BD0C5B7-D927-4D9C-89A6-EEACDFC40E62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B91F2AB-7C33-42B4-B75D-B57E6D96744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351BCB07-0027-4648-9627-D77F31601E74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the whole from a percentage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A3F9D928-BD2D-4527-AD21-93D689A9D16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3A030957-5ACD-4BD0-9CDE-DBE55B50A639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work backwards from a percentage to find the original amount.</a:t>
            </a:r>
          </a:p>
        </p:txBody>
      </p:sp>
    </p:spTree>
    <p:extLst>
      <p:ext uri="{BB962C8B-B14F-4D97-AF65-F5344CB8AC3E}">
        <p14:creationId xmlns:p14="http://schemas.microsoft.com/office/powerpoint/2010/main" val="1223794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-1">
            <a:extLst>
              <a:ext uri="{FF2B5EF4-FFF2-40B4-BE49-F238E27FC236}">
                <a16:creationId xmlns:a16="http://schemas.microsoft.com/office/drawing/2014/main" id="{4CD7888D-A6B0-411F-90A3-F9B32E34D01D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4B6F0412-E055-40B5-A5AB-B965400EFA8E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84 is 35% of a number. Find the whole.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BB7461BC-2995-46BE-83CA-A328818821EF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4EF7209-7753-40CD-A9AD-AE6197D95F7F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the whole from a percentage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A46B9A45-2AF2-4A5A-A406-3367E6BCE4B2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20846C8-5A8F-4DA2-BA0D-24AE032F8F54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1906250" cy="892969"/>
          </a:xfrm>
          <a:prstGeom prst="rect">
            <a:avLst/>
          </a:prstGeom>
          <a:solidFill>
            <a:srgbClr val="FFFFFF"/>
          </a:solidFill>
          <a:ln w="23813">
            <a:solidFill>
              <a:srgbClr val="1D4ED8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7F83ADFA-6C94-4475-B933-1A89A2052706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4167188" cy="89296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1B5E1696-9425-4558-9DF9-38BA53C2B9F0}"/>
              </a:ext>
            </a:extLst>
          </p:cNvPr>
          <p:cNvSpPr>
            <a:spLocks noGrp="1"/>
          </p:cNvSpPr>
          <p:nvPr/>
        </p:nvSpPr>
        <p:spPr>
          <a:xfrm>
            <a:off x="11906250" y="4429125"/>
            <a:ext cx="19050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0C6855ED-19FC-4A83-913B-5ABA9016D8B8}"/>
              </a:ext>
            </a:extLst>
          </p:cNvPr>
          <p:cNvSpPr>
            <a:spLocks noGrp="1"/>
          </p:cNvSpPr>
          <p:nvPr/>
        </p:nvSpPr>
        <p:spPr>
          <a:xfrm>
            <a:off x="1547813" y="4429125"/>
            <a:ext cx="3571875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35%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9B7D9C2-0E15-4858-9C0E-A4A263A4B390}"/>
              </a:ext>
            </a:extLst>
          </p:cNvPr>
          <p:cNvSpPr>
            <a:spLocks noGrp="1"/>
          </p:cNvSpPr>
          <p:nvPr/>
        </p:nvSpPr>
        <p:spPr>
          <a:xfrm>
            <a:off x="1428750" y="5345906"/>
            <a:ext cx="12739688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84 ÷ 35 = 2.4 (1%)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058D6485-F37F-4FE4-9E10-B5D9D1AD8205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2.4 × 100 = 240</a:t>
            </a:r>
          </a:p>
        </p:txBody>
      </p:sp>
    </p:spTree>
    <p:extLst>
      <p:ext uri="{BB962C8B-B14F-4D97-AF65-F5344CB8AC3E}">
        <p14:creationId xmlns:p14="http://schemas.microsoft.com/office/powerpoint/2010/main" val="1798309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bject-1">
            <a:extLst>
              <a:ext uri="{FF2B5EF4-FFF2-40B4-BE49-F238E27FC236}">
                <a16:creationId xmlns:a16="http://schemas.microsoft.com/office/drawing/2014/main" id="{A680C72B-B2F4-42E4-B1C8-90CC386E7760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362E8F47-9611-4E0D-97DD-73E0F9A27A95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86F6E776-AD18-4EF1-BD75-26013562056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112 is 35% of a number. Find the whole.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2F65EA6-85BE-447A-9A21-56E95CBF424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08C5147-310D-49D6-9449-BFB3A2573054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the whole from a percentage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D7B0D14-6867-4312-9550-5309A21B5FDF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799CB626-0B51-4161-883E-D83D012FAA01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1906250" cy="892969"/>
          </a:xfrm>
          <a:prstGeom prst="rect">
            <a:avLst/>
          </a:prstGeom>
          <a:solidFill>
            <a:srgbClr val="FFFFFF"/>
          </a:solidFill>
          <a:ln w="23813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F91439B2-2B2F-47A6-A319-962590FA6AE0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4167188" cy="89296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9F798FA-FDB4-40A3-8656-67CF379896CE}"/>
              </a:ext>
            </a:extLst>
          </p:cNvPr>
          <p:cNvSpPr>
            <a:spLocks noGrp="1"/>
          </p:cNvSpPr>
          <p:nvPr/>
        </p:nvSpPr>
        <p:spPr>
          <a:xfrm>
            <a:off x="11906250" y="4429125"/>
            <a:ext cx="19050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CCE99E44-1D11-4DEE-96CD-DDB25609DA85}"/>
              </a:ext>
            </a:extLst>
          </p:cNvPr>
          <p:cNvSpPr>
            <a:spLocks noGrp="1"/>
          </p:cNvSpPr>
          <p:nvPr/>
        </p:nvSpPr>
        <p:spPr>
          <a:xfrm>
            <a:off x="1547813" y="4429125"/>
            <a:ext cx="3571875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35%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3C2331F8-6322-4D2D-914E-C8DDC25C997E}"/>
              </a:ext>
            </a:extLst>
          </p:cNvPr>
          <p:cNvSpPr>
            <a:spLocks noGrp="1"/>
          </p:cNvSpPr>
          <p:nvPr/>
        </p:nvSpPr>
        <p:spPr>
          <a:xfrm>
            <a:off x="1428750" y="5345906"/>
            <a:ext cx="12739688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112 ÷ 35 = 3.2 (1%)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8847549C-E85A-4C23-B723-F5139C133286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3.2 × 100 = 320</a:t>
            </a:r>
          </a:p>
        </p:txBody>
      </p:sp>
    </p:spTree>
    <p:extLst>
      <p:ext uri="{BB962C8B-B14F-4D97-AF65-F5344CB8AC3E}">
        <p14:creationId xmlns:p14="http://schemas.microsoft.com/office/powerpoint/2010/main" val="692561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-1">
            <a:extLst>
              <a:ext uri="{FF2B5EF4-FFF2-40B4-BE49-F238E27FC236}">
                <a16:creationId xmlns:a16="http://schemas.microsoft.com/office/drawing/2014/main" id="{EB27263E-698B-47A6-ADAD-F0F7C39E24F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95797BBF-3ABD-4AD9-9605-BDE451BAF55C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140 is 35% of a number. Find the whole.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84E79DE-B383-4D90-A2D7-659E6B04434B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2DF3731-CFF5-46C8-B208-1F023BCC2FA5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the whole from a percentage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1435D002-1947-47A4-B1E9-D6EF70AA050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25A71C6-3334-4FF7-AF50-D020C615D490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1906250" cy="892969"/>
          </a:xfrm>
          <a:prstGeom prst="rect">
            <a:avLst/>
          </a:prstGeom>
          <a:solidFill>
            <a:srgbClr val="FFFFFF"/>
          </a:solidFill>
          <a:ln w="23813">
            <a:solidFill>
              <a:srgbClr val="1D4ED8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31D3A821-89E2-4118-B25B-E765EC8EBDE8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4167188" cy="89296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7D9A902B-9841-4F0E-B8B5-BD34B439AE36}"/>
              </a:ext>
            </a:extLst>
          </p:cNvPr>
          <p:cNvSpPr>
            <a:spLocks noGrp="1"/>
          </p:cNvSpPr>
          <p:nvPr/>
        </p:nvSpPr>
        <p:spPr>
          <a:xfrm>
            <a:off x="11906250" y="4429125"/>
            <a:ext cx="19050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8B145B25-2875-4821-BB7E-D750DCBF3BE6}"/>
              </a:ext>
            </a:extLst>
          </p:cNvPr>
          <p:cNvSpPr>
            <a:spLocks noGrp="1"/>
          </p:cNvSpPr>
          <p:nvPr/>
        </p:nvSpPr>
        <p:spPr>
          <a:xfrm>
            <a:off x="1547813" y="4429125"/>
            <a:ext cx="3571875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35%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F52A0542-1F57-4BF5-9973-EC8ED1F47A04}"/>
              </a:ext>
            </a:extLst>
          </p:cNvPr>
          <p:cNvSpPr>
            <a:spLocks noGrp="1"/>
          </p:cNvSpPr>
          <p:nvPr/>
        </p:nvSpPr>
        <p:spPr>
          <a:xfrm>
            <a:off x="1428750" y="5345906"/>
            <a:ext cx="12739688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140 ÷ 35 = 4 (1%)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2A32B79A-367F-4FDF-982D-3E87B4B4DF4C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 × 100 = 400</a:t>
            </a:r>
          </a:p>
        </p:txBody>
      </p:sp>
    </p:spTree>
    <p:extLst>
      <p:ext uri="{BB962C8B-B14F-4D97-AF65-F5344CB8AC3E}">
        <p14:creationId xmlns:p14="http://schemas.microsoft.com/office/powerpoint/2010/main" val="1517414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bject-1">
            <a:extLst>
              <a:ext uri="{FF2B5EF4-FFF2-40B4-BE49-F238E27FC236}">
                <a16:creationId xmlns:a16="http://schemas.microsoft.com/office/drawing/2014/main" id="{6ED2CF3B-C7AD-425C-8F60-F582F63F14D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B2E059F-F5DA-467B-AB32-D8E36B59F7C5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F76C950A-C583-42F1-B06B-BEE053536655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168 is 35% of a number. Find the whole.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AE9E9DE1-C395-4623-A9E1-59DD1C34165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EA13A35-297D-4652-AE3C-52A180BEA5B5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the whole from a percentage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EFAEB569-41C7-4248-B17E-2522FBDF551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9A916360-9399-433B-8672-4E156EAA0585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1906250" cy="892969"/>
          </a:xfrm>
          <a:prstGeom prst="rect">
            <a:avLst/>
          </a:prstGeom>
          <a:solidFill>
            <a:srgbClr val="FFFFFF"/>
          </a:solidFill>
          <a:ln w="23813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D64CAF2-B536-4E04-B618-57DEF26C8C66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4167188" cy="89296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EA682918-B631-4F07-A5D9-CBC9333F906A}"/>
              </a:ext>
            </a:extLst>
          </p:cNvPr>
          <p:cNvSpPr>
            <a:spLocks noGrp="1"/>
          </p:cNvSpPr>
          <p:nvPr/>
        </p:nvSpPr>
        <p:spPr>
          <a:xfrm>
            <a:off x="11906250" y="4429125"/>
            <a:ext cx="19050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3347F727-C656-4B29-B5B3-0168C0C64777}"/>
              </a:ext>
            </a:extLst>
          </p:cNvPr>
          <p:cNvSpPr>
            <a:spLocks noGrp="1"/>
          </p:cNvSpPr>
          <p:nvPr/>
        </p:nvSpPr>
        <p:spPr>
          <a:xfrm>
            <a:off x="1547813" y="4429125"/>
            <a:ext cx="3571875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35%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98C483CC-FC72-495E-8F83-EACAB968CE38}"/>
              </a:ext>
            </a:extLst>
          </p:cNvPr>
          <p:cNvSpPr>
            <a:spLocks noGrp="1"/>
          </p:cNvSpPr>
          <p:nvPr/>
        </p:nvSpPr>
        <p:spPr>
          <a:xfrm>
            <a:off x="1428750" y="5345906"/>
            <a:ext cx="12739688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168 ÷ 35 = 4.8 (1%)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61E74F89-81DD-4BF7-9AA6-2D1678F15472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4.8 × 100 = 480</a:t>
            </a:r>
          </a:p>
        </p:txBody>
      </p:sp>
    </p:spTree>
    <p:extLst>
      <p:ext uri="{BB962C8B-B14F-4D97-AF65-F5344CB8AC3E}">
        <p14:creationId xmlns:p14="http://schemas.microsoft.com/office/powerpoint/2010/main" val="635488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3F2B1143-378F-4823-A594-D6EA5E0507A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2DEEA2CB-06F1-439C-9542-DE9612995CC8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4027FC6-4FC9-47EF-B832-A1D15AF160F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D0DACA0-17F2-422B-8879-D98392CC329F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A80F6AA4-E625-465D-A252-A64E5D855E3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the whole from a percentage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AD5A5F1-8FF1-4DF0-907C-E068C624AB6D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1AC90EB5-9129-4F53-B6A0-565A31B75F67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EFAEF9B4-DA3F-4510-BF9D-9937348DC6EC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84 is 35% of a number. What is the number?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5858B59F-76E8-4255-80A2-368D2F60B0E9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885B9402-C40C-443D-81CF-97E4FAFD3C70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25% of 360.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49B020D5-BC90-41C5-940D-905BCE13A8A3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E61C41B-DD7B-454A-A07E-9B4BBD516D52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35% of 480.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2E10EB02-7C4D-4807-AE2D-729D525B2E1D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D59B1A33-FCF0-4216-B726-A5CE3DDB6611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84 is 35% of a number. What is the number?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8DD3AF8-A3B6-4A1E-B649-61817FD79AAB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D477A077-F2FD-4FA6-B5E1-79FD9197A80E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Find 25% of 360.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1A960971-69E1-402C-90A1-55AD3CBF2FB9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DD2003CB-B137-43F7-B747-9FBA9F6FD6BD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Find 35% of 480.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BC64F950-262D-4F0B-A103-9C567B563D96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82955E26-51F6-4E88-B07D-526E4780ABE5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Find 17% of 650.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A54554D7-BDDD-4CEA-A9A5-E7E95641F195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1146D05F-6700-4C02-90D4-011919DFD7F9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subtracts the percentage number rather than the percentage amount.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1F26F69A-64A3-49D0-98B1-8F7091534B8E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CFE3E279-91B3-4FDE-8454-688AA9A5E1B8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45C19683-1BA0-47E7-8C32-6B742BF46269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E77CE3B9-7C3C-489A-B3B8-2F86E9F4718A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Find 35% of 480.</a:t>
            </a:r>
          </a:p>
        </p:txBody>
      </p:sp>
    </p:spTree>
    <p:extLst>
      <p:ext uri="{BB962C8B-B14F-4D97-AF65-F5344CB8AC3E}">
        <p14:creationId xmlns:p14="http://schemas.microsoft.com/office/powerpoint/2010/main" val="7412223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BCD1EE1E-D6E5-4A35-8C7C-74067EFE477B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6193457-DBE0-4EAA-B56C-BE21EBD54090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77465E1C-A8A0-4676-89D9-9880F3EDE07F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47AE5F9-8241-4184-8019-B7ECA1831A0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the whole from a percentage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61B90B8-CC59-4AEC-9493-E1D9A606B4F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10769B19-16E0-4624-8B78-6D94573A668B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7BD4065E-4B14-4C20-A394-6C187C7BA771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240.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A4C4D2A8-5AFC-447E-BFAB-EC0537F9116B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8C4866A-62E0-4D46-88A1-2A5F004E35A9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90.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4380011-A002-44D8-B391-3EEA014835B8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08031416-5323-43F3-A805-EBBC0ABCDBE6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168.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18972097-5D9A-48D8-82CB-1691CD76893C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49363162-D6F7-418E-80C9-C56155740648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240.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A28DA239-D14A-4F59-A6E2-D30ADD5317BD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FF9D2C6-2819-464D-B358-5E14C8778AB0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90.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F943EBCB-AAE8-44A5-9191-49C36DFBB10D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EE4DE231-0A21-4DE0-A20A-BBA55D8DA0C3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168.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0662AA73-B52C-43AF-A205-DEA398383A53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D9B5D7F5-F63E-4D34-9C72-049586032B1C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110.5.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B9D25B8B-3DE7-44C0-ACA5-AA4CA1627BFB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DA86A94B-31B0-4EE3-A176-815D65917326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Calculate the percentage of the original amount first, then apply that change in the context.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3FABB770-8650-47D0-94B6-E12CCAF60C72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AA5AC46B-9FBC-486B-B12D-A694DB17A187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A5E695A6-28EB-42C5-B389-CAAA9BDABFB7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ACDF4B46-BB67-4975-AEE9-5EAF67AA1FAB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71513683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988</Words>
  <Application>Microsoft Office PowerPoint</Application>
  <DocSecurity>0</DocSecurity>
  <PresentationFormat>Custom</PresentationFormat>
  <Paragraphs>102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2026-09-14T13:14:30Z</dcterms:created>
  <dcterms:modified xsi:type="dcterms:W3CDTF">2026-09-14T13:16:36Z</dcterms:modified>
</cp:coreProperties>
</file>