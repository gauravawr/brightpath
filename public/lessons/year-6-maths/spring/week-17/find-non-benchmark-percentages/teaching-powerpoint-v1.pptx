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non-benchmark percentages. Find non-benchmark percentages.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non-benchmark percentages.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non-benchmark percentages.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non-benchmark percentages. I do.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non-benchmark percentages. You do. Pause before clicking. Let pupils try independently, then reveal and discuss every step. The complete bar represents 100%. Find 1%, then build the required percentage. For a reduction, subtract the discount from the original whole.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non-benchmark percentages.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Find non-benchmark percentages.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D8CF8894-0BC6-4106-A820-FD14890D396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Find non-benchmark percentages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6A9DA1E-EBF5-4AAE-B210-11B23779E054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30475F4-58D0-4737-BB30-4889745FFF8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076178C-65AA-46A4-B072-6899C9F539B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non-benchmark percentages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FCAC98A-8862-40A3-A97F-35148F8547C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5C01455-C64B-4ACA-B437-98C3B1934158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calculate percentages by combining known parts.</a:t>
            </a:r>
          </a:p>
        </p:txBody>
      </p:sp>
    </p:spTree>
    <p:extLst>
      <p:ext uri="{BB962C8B-B14F-4D97-AF65-F5344CB8AC3E}">
        <p14:creationId xmlns:p14="http://schemas.microsoft.com/office/powerpoint/2010/main" val="857214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FBFC13F7-ED1E-4C01-9479-6946B8F36A2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39E44FD-BBE5-4245-8E90-4C6A8336561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C1BC85E-48BD-4260-A7CD-B598B8AB74B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3187EED-A5DB-409C-82E1-542BE7109B9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non-benchmark percentages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735D6959-977C-402C-8FBA-C0D2F6A65EC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833B1ED1-AE61-49F5-BFEA-7F9361A47315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B716BB0-F53A-4E1E-B999-433556C0933D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416718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6152A22-F0EF-45BE-A557-456A068AC843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6E6B40B-296C-4FBB-94D7-4E6BABAE4FB2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82CC19B9-23C2-4EF4-A872-1631EDF0FD5D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480 ÷ 100 = 4.8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A5492772-9C20-4FE3-9174-5400674EBD30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4.8 × 35 = 168</a:t>
            </a:r>
          </a:p>
        </p:txBody>
      </p:sp>
    </p:spTree>
    <p:extLst>
      <p:ext uri="{BB962C8B-B14F-4D97-AF65-F5344CB8AC3E}">
        <p14:creationId xmlns:p14="http://schemas.microsoft.com/office/powerpoint/2010/main" val="289051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D8E3C5FE-3AAE-4806-B69F-9AF2F1714F8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367441FE-3D28-4373-846C-2760943318A9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7AE6D7F-7B95-491C-AC8E-C79649D1A7B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35% of 560.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89617F7-8929-427D-9444-9CB82326396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3EC20CC-29F4-4C3D-8D55-FF35056E6B2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non-benchmark percentages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6ED5EB1-EA6E-4940-9183-42DA78072FD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229D3F0-7C3E-4ABE-BDA0-097961369D5C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29B63C8E-CDFA-41DF-A909-0ADFA595075A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416718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34784C9-3854-4311-9577-60AA257D12D0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66C9054-CAFF-435E-890F-ABA3308F13BE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19BC9A0-D9C9-45B2-AD83-0B7BCCC390E6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560 ÷ 100 = 5.6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C1C54687-1F3E-4746-8300-0DF47E37C221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5.6 × 35 = 196</a:t>
            </a:r>
          </a:p>
        </p:txBody>
      </p:sp>
    </p:spTree>
    <p:extLst>
      <p:ext uri="{BB962C8B-B14F-4D97-AF65-F5344CB8AC3E}">
        <p14:creationId xmlns:p14="http://schemas.microsoft.com/office/powerpoint/2010/main" val="15427944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-1">
            <a:extLst>
              <a:ext uri="{FF2B5EF4-FFF2-40B4-BE49-F238E27FC236}">
                <a16:creationId xmlns:a16="http://schemas.microsoft.com/office/drawing/2014/main" id="{E8AAEFFD-E2D2-4D20-B97F-9022EC11615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165A433-2AE8-4B5F-8158-969DAFEF0B3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35% of 640.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6099CE5-F039-47C1-9EB8-5DAF5767B90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582375E-CA2C-4A5F-8D85-85667B5BFE72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non-benchmark percentages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288CEE5-CDDA-43DC-A99B-659608BC4BF0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E05E299-9233-4CE0-9346-E36553B65D60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F110722-ACBF-45B0-B25B-6895D969728B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416718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F7F98DD-23A2-42BC-A581-43E0AFBBBA19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75CD2FC-C39E-4769-8F1C-B0887AED61CD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EAC88E2-2F5B-4F33-B843-107DEEE5562A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640 ÷ 100 = 6.4 (1%)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92FE37E-7B1C-4E3E-9971-89501866A2DF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6.4 × 35 = 224</a:t>
            </a:r>
          </a:p>
        </p:txBody>
      </p:sp>
    </p:spTree>
    <p:extLst>
      <p:ext uri="{BB962C8B-B14F-4D97-AF65-F5344CB8AC3E}">
        <p14:creationId xmlns:p14="http://schemas.microsoft.com/office/powerpoint/2010/main" val="57422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object-1">
            <a:extLst>
              <a:ext uri="{FF2B5EF4-FFF2-40B4-BE49-F238E27FC236}">
                <a16:creationId xmlns:a16="http://schemas.microsoft.com/office/drawing/2014/main" id="{76A36A38-0D1D-4C9E-AD9E-3F7227F399F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D28CF70-4F90-4F85-9C08-BB1559B0A8E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ACFE601-4BE1-47ED-B672-915D16BEDB6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35% of 720.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78CE72D-728B-4550-90A3-811A15A99ED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90DE6BC-0A89-4F9C-A818-D97C592B4C6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non-benchmark percentages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3505E22-2811-4496-8A0D-8A8299343E7C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56ED1794-A333-4154-8391-44BB2571B00D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11906250" cy="892969"/>
          </a:xfrm>
          <a:prstGeom prst="rect">
            <a:avLst/>
          </a:prstGeom>
          <a:solidFill>
            <a:srgbClr val="FFFFFF"/>
          </a:solidFill>
          <a:ln w="23813">
            <a:solidFill>
              <a:srgbClr val="1D4ED8"/>
            </a:solidFill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5DC6015-5929-43D5-BF65-9616FC419E12}"/>
              </a:ext>
            </a:extLst>
          </p:cNvPr>
          <p:cNvSpPr>
            <a:spLocks noGrp="1"/>
          </p:cNvSpPr>
          <p:nvPr/>
        </p:nvSpPr>
        <p:spPr>
          <a:xfrm>
            <a:off x="1547813" y="3393281"/>
            <a:ext cx="4167188" cy="89296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34540AB-602A-4EC3-B373-06C4F9D164EA}"/>
              </a:ext>
            </a:extLst>
          </p:cNvPr>
          <p:cNvSpPr>
            <a:spLocks noGrp="1"/>
          </p:cNvSpPr>
          <p:nvPr/>
        </p:nvSpPr>
        <p:spPr>
          <a:xfrm>
            <a:off x="11906250" y="4429125"/>
            <a:ext cx="1905000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52647A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0B86BE7-A875-4EB4-9351-A9CBAFEE0F3B}"/>
              </a:ext>
            </a:extLst>
          </p:cNvPr>
          <p:cNvSpPr>
            <a:spLocks noGrp="1"/>
          </p:cNvSpPr>
          <p:nvPr/>
        </p:nvSpPr>
        <p:spPr>
          <a:xfrm>
            <a:off x="1547813" y="4429125"/>
            <a:ext cx="3571875" cy="595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813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35%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A70A782-BF86-45DA-9DB0-A03BC9B26789}"/>
              </a:ext>
            </a:extLst>
          </p:cNvPr>
          <p:cNvSpPr>
            <a:spLocks noGrp="1"/>
          </p:cNvSpPr>
          <p:nvPr/>
        </p:nvSpPr>
        <p:spPr>
          <a:xfrm>
            <a:off x="1428750" y="5345906"/>
            <a:ext cx="12739688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000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720 ÷ 100 = 7.2 (1%)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EEF43E9-8841-41E4-B78F-661AC769DC0C}"/>
              </a:ext>
            </a:extLst>
          </p:cNvPr>
          <p:cNvSpPr>
            <a:spLocks noGrp="1"/>
          </p:cNvSpPr>
          <p:nvPr/>
        </p:nvSpPr>
        <p:spPr>
          <a:xfrm>
            <a:off x="892969" y="6965156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7.2 × 35 = 252</a:t>
            </a:r>
          </a:p>
        </p:txBody>
      </p:sp>
    </p:spTree>
    <p:extLst>
      <p:ext uri="{BB962C8B-B14F-4D97-AF65-F5344CB8AC3E}">
        <p14:creationId xmlns:p14="http://schemas.microsoft.com/office/powerpoint/2010/main" val="14359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7C647F25-B403-49F5-8162-84432BBDE07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27E3CBE-3DB4-4BD3-B130-9AC31BD4F361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B30D40D-2DE7-4AD2-8AE5-D4CF6A634996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BD34E96D-2373-4DDD-A070-26A04F259CF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3895133-EE6B-474E-BA44-ECC2F50A67A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non-benchmark percentages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477F5A2-82D7-4708-8BB4-50CF0D251C8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3D02F61-1F48-4B22-8B0C-AF8A30BEFA92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98C951C-DA53-44A1-AEF3-64F1685DEB4F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35% of 480.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FC0466B-E3FC-4B9C-84F1-F05BAF8A8799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A86A009-018E-4590-874D-4FB5C992B4E4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17% of 650.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084D458-BC66-498F-AE19-C11B68E65013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8D8C60B-CBDD-4FBA-91B1-8D044E58DB8D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£240 coat is reduced by 15%. What is the sale price?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45E65BE-8430-4FA4-9956-90F6FD484F5F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0FC0784-94A0-4293-93E2-FAE5B45B1D27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Find 35% of 480.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B0F0B2B-A3BA-44C1-B005-27CB6CA9900C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BCD773F-35B1-46D3-818E-519DC0E39DD9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Find 17% of 650.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63AABEA-E528-4F38-BC47-54CC6921AE09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070251E-CAF6-4A6D-B89A-57425A2DC9D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A £240 coat is reduced by 15%. What is the sale price?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5996A64-9100-4065-A470-FA5A0101468A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E622278-E4E6-4415-8208-5191C70C2E7E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84 is 35% of a number. What is the number?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FF80EA08-23CD-409F-8D08-0453ACF45C46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E0BBF85-4835-46CB-A7A2-9EB907D5323F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subtracts the percentage number rather than the percentage amount.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8EA4DC1-3D2F-454F-9872-281026A5B3D0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7A4B88DF-3EB0-4E40-B755-1292AA00E869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C5C5397-9BC8-46D5-A300-64D9C83D0361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3630B40C-E253-44BE-906A-1BE6A5134099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A £240 coat is reduced by 15%. What is the sale price?</a:t>
            </a:r>
          </a:p>
        </p:txBody>
      </p:sp>
    </p:spTree>
    <p:extLst>
      <p:ext uri="{BB962C8B-B14F-4D97-AF65-F5344CB8AC3E}">
        <p14:creationId xmlns:p14="http://schemas.microsoft.com/office/powerpoint/2010/main" val="12290490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168F50B4-7607-4B70-843F-5571AF1AAEE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E34077B-5D95-48BF-A066-A311F6C9053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524395B-7888-46FC-BB0C-15E89060577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35F12CD-B589-4B14-8154-A12F4DC5F8F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Find non-benchmark percentages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F85E1CE-9E16-4C2B-AE5A-90CBFB09ED6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6B2FD29-C739-4111-BED8-89A4E220BEBC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AD981DB-D589-45FB-A666-637431819E96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168.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F5895AF-EE4D-454D-B4F1-F55129B429F3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F6E7171-E13A-43B0-9594-A5C44C211F27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110.5.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F9CA1AD-B470-4680-B320-6BC58316B3DA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B281BD9-7DD9-47E0-9CBD-B01568B20199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£204.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EFF5F76-DBDC-4B8C-9AEF-21E4A840C18F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B0F2F37-37CE-42DA-9E05-AD235775C8AE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168.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8301DB6-C0CA-4F2A-B283-8E0710944ECE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3794B8D-C010-4800-B537-B19BF63CEFF2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110.5.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B662CC4-3DFA-4C02-B2BF-D14E8BE6E035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D50C52C-B1DD-4CD3-B46E-D869F9A2BD1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£204.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F81232F-921D-4F69-9864-37A2496BC64A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7E86F6BA-BBF0-4D36-8BBE-D9FD9EF22D66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240.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25272883-2F10-46F3-99D8-B9BD87B084F6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6C887A5-698E-41D7-ADE6-00BD36FAC2CE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Calculate the percentage of the original amount first, then apply that change in the context.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AB8E8871-F430-4017-85AE-1606B2214C12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12443D8A-A768-4F47-BFB2-D6AC40A85F3D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D15654C8-B53D-4D9D-A28A-954DE5B7CD0F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F0DC822-8808-4CFC-BADC-875A37C1E942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81624711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934</Words>
  <Application>Microsoft Office PowerPoint</Application>
  <DocSecurity>0</DocSecurity>
  <PresentationFormat>Custom</PresentationFormat>
  <Paragraphs>102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2026-09-14T13:14:30Z</dcterms:created>
  <dcterms:modified xsi:type="dcterms:W3CDTF">2026-09-14T13:16:34Z</dcterms:modified>
</cp:coreProperties>
</file>