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Simplify fractions.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I do. Move each pair together. All pieces keep their size and colour. Count shaded groups and total groups.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I do. Apply the same operation to numerator and denominator. The divisor or multiplier moves into each row, then each result moves into the new fraction.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You do. Pause before clicking. Let pupils try independently, then reveal and discuss every step. Move each pair together. All pieces keep their size and colour. Count shaded groups and total groups.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You do. Pause before clicking. Let pupils try independently, then reveal and discuss every step. Apply the same operation to numerator and denominator. The divisor or multiplier moves into each row, then each result moves into the new fraction.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I do. Move each pair together. All pieces keep their size and colour. Count shaded groups and total groups.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I do. Apply the same operation to numerator and denominator. The divisor or multiplier moves into each row, then each result moves into the new fraction.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You do. Pause before clicking. Let pupils try independently, then reveal and discuss every step. Move each pair together. All pieces keep their size and colour. Count shaded groups and total groups.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You do. Pause before clicking. Let pupils try independently, then reveal and discuss every step. Apply the same operation to numerator and denominator. The divisor or multiplier moves into each row, then each result moves into the new fraction.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Simplify fractions.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5A2A9EF6-BE0B-41EF-A57E-0961CE11A6B0}"/>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Simplify fractions</a:t>
            </a:r>
          </a:p>
        </p:txBody>
      </p:sp>
      <p:sp>
        <p:nvSpPr>
          <p:cNvPr id="2" name="object-2">
            <a:extLst>
              <a:ext uri="{FF2B5EF4-FFF2-40B4-BE49-F238E27FC236}">
                <a16:creationId xmlns:a16="http://schemas.microsoft.com/office/drawing/2014/main" id="{5D45727C-DFCC-4E1F-8C5C-B6B191A34FDC}"/>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05341DAD-BD0B-4C4F-B6DD-4FDA2E841DFC}"/>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86117855-6D24-482E-9418-05486CCA186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5" name="object-5">
            <a:extLst>
              <a:ext uri="{FF2B5EF4-FFF2-40B4-BE49-F238E27FC236}">
                <a16:creationId xmlns:a16="http://schemas.microsoft.com/office/drawing/2014/main" id="{6362B57C-8F02-464F-AF80-6744E46933B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E9FE9B27-463A-4CDB-866B-2355A8F41446}"/>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simplify fractions using the highest common factor.</a:t>
            </a:r>
          </a:p>
        </p:txBody>
      </p:sp>
    </p:spTree>
    <p:extLst>
      <p:ext uri="{BB962C8B-B14F-4D97-AF65-F5344CB8AC3E}">
        <p14:creationId xmlns:p14="http://schemas.microsoft.com/office/powerpoint/2010/main" val="6307602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object-1">
            <a:extLst>
              <a:ext uri="{FF2B5EF4-FFF2-40B4-BE49-F238E27FC236}">
                <a16:creationId xmlns:a16="http://schemas.microsoft.com/office/drawing/2014/main" id="{1955D1AA-919F-4B9E-BDF0-4EBA983C9D4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6A8AF790-EAD0-4ABE-B460-C4B6A9CA906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Group the pieces: 6/8 = ?</a:t>
            </a:r>
          </a:p>
        </p:txBody>
      </p:sp>
      <p:sp>
        <p:nvSpPr>
          <p:cNvPr id="3" name="object-3">
            <a:extLst>
              <a:ext uri="{FF2B5EF4-FFF2-40B4-BE49-F238E27FC236}">
                <a16:creationId xmlns:a16="http://schemas.microsoft.com/office/drawing/2014/main" id="{A8CF14F0-AAD0-4D41-9BCF-E49D89BEF9B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8650083-A53F-403A-9B8C-49CD0EFD0B8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5" name="object-5">
            <a:extLst>
              <a:ext uri="{FF2B5EF4-FFF2-40B4-BE49-F238E27FC236}">
                <a16:creationId xmlns:a16="http://schemas.microsoft.com/office/drawing/2014/main" id="{1A67682A-1DAC-4457-B176-8A5B0DF4B6F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CF7FB0C4-E313-45F5-8B16-6B12C926D1F7}"/>
              </a:ext>
            </a:extLst>
          </p:cNvPr>
          <p:cNvSpPr>
            <a:spLocks noGrp="1"/>
          </p:cNvSpPr>
          <p:nvPr/>
        </p:nvSpPr>
        <p:spPr>
          <a:xfrm>
            <a:off x="1547813" y="3155156"/>
            <a:ext cx="1071563" cy="773906"/>
          </a:xfrm>
          <a:prstGeom prst="rect">
            <a:avLst/>
          </a:prstGeom>
          <a:solidFill>
            <a:srgbClr val="1D4ED8"/>
          </a:solidFill>
          <a:ln w="13097">
            <a:solidFill>
              <a:srgbClr val="172B4D"/>
            </a:solidFill>
          </a:ln>
        </p:spPr>
      </p:sp>
      <p:sp>
        <p:nvSpPr>
          <p:cNvPr id="7" name="object-7">
            <a:extLst>
              <a:ext uri="{FF2B5EF4-FFF2-40B4-BE49-F238E27FC236}">
                <a16:creationId xmlns:a16="http://schemas.microsoft.com/office/drawing/2014/main" id="{3A4D6405-3AEC-4307-B13C-F8C54B561643}"/>
              </a:ext>
            </a:extLst>
          </p:cNvPr>
          <p:cNvSpPr>
            <a:spLocks noGrp="1"/>
          </p:cNvSpPr>
          <p:nvPr/>
        </p:nvSpPr>
        <p:spPr>
          <a:xfrm>
            <a:off x="2619375" y="3155156"/>
            <a:ext cx="1071563" cy="773906"/>
          </a:xfrm>
          <a:prstGeom prst="rect">
            <a:avLst/>
          </a:prstGeom>
          <a:solidFill>
            <a:srgbClr val="1D4ED8"/>
          </a:solidFill>
          <a:ln w="13097">
            <a:solidFill>
              <a:srgbClr val="172B4D"/>
            </a:solidFill>
          </a:ln>
        </p:spPr>
      </p:sp>
      <p:sp>
        <p:nvSpPr>
          <p:cNvPr id="8" name="object-8">
            <a:extLst>
              <a:ext uri="{FF2B5EF4-FFF2-40B4-BE49-F238E27FC236}">
                <a16:creationId xmlns:a16="http://schemas.microsoft.com/office/drawing/2014/main" id="{5EED470D-B842-4856-863A-3778560BB26B}"/>
              </a:ext>
            </a:extLst>
          </p:cNvPr>
          <p:cNvSpPr>
            <a:spLocks noGrp="1"/>
          </p:cNvSpPr>
          <p:nvPr/>
        </p:nvSpPr>
        <p:spPr>
          <a:xfrm>
            <a:off x="3690938" y="3155156"/>
            <a:ext cx="1071563" cy="773906"/>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933E0B9E-7F8D-4E42-BD45-1E65700018E1}"/>
              </a:ext>
            </a:extLst>
          </p:cNvPr>
          <p:cNvSpPr>
            <a:spLocks noGrp="1"/>
          </p:cNvSpPr>
          <p:nvPr/>
        </p:nvSpPr>
        <p:spPr>
          <a:xfrm>
            <a:off x="4762500" y="3155156"/>
            <a:ext cx="1071563" cy="773906"/>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A936987C-6D50-4A3B-889A-EEE6D9AD9E58}"/>
              </a:ext>
            </a:extLst>
          </p:cNvPr>
          <p:cNvSpPr>
            <a:spLocks noGrp="1"/>
          </p:cNvSpPr>
          <p:nvPr/>
        </p:nvSpPr>
        <p:spPr>
          <a:xfrm>
            <a:off x="5834063" y="3155156"/>
            <a:ext cx="1071563" cy="773906"/>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93F133A9-E914-488E-A27E-B471A68BD1BF}"/>
              </a:ext>
            </a:extLst>
          </p:cNvPr>
          <p:cNvSpPr>
            <a:spLocks noGrp="1"/>
          </p:cNvSpPr>
          <p:nvPr/>
        </p:nvSpPr>
        <p:spPr>
          <a:xfrm>
            <a:off x="6905625" y="3155156"/>
            <a:ext cx="1071563" cy="773906"/>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12279BEB-7FC7-4CE9-B5B0-2DEF2F06FCD3}"/>
              </a:ext>
            </a:extLst>
          </p:cNvPr>
          <p:cNvSpPr>
            <a:spLocks noGrp="1"/>
          </p:cNvSpPr>
          <p:nvPr/>
        </p:nvSpPr>
        <p:spPr>
          <a:xfrm>
            <a:off x="7977188" y="3155156"/>
            <a:ext cx="1071563" cy="773906"/>
          </a:xfrm>
          <a:prstGeom prst="rect">
            <a:avLst/>
          </a:prstGeom>
          <a:solidFill>
            <a:srgbClr val="FFFFFF"/>
          </a:solidFill>
          <a:ln w="13097">
            <a:solidFill>
              <a:srgbClr val="172B4D"/>
            </a:solidFill>
          </a:ln>
        </p:spPr>
      </p:sp>
      <p:sp>
        <p:nvSpPr>
          <p:cNvPr id="13" name="object-13">
            <a:extLst>
              <a:ext uri="{FF2B5EF4-FFF2-40B4-BE49-F238E27FC236}">
                <a16:creationId xmlns:a16="http://schemas.microsoft.com/office/drawing/2014/main" id="{376A0FC5-3EE5-4F17-A42A-9CA22084A173}"/>
              </a:ext>
            </a:extLst>
          </p:cNvPr>
          <p:cNvSpPr>
            <a:spLocks noGrp="1"/>
          </p:cNvSpPr>
          <p:nvPr/>
        </p:nvSpPr>
        <p:spPr>
          <a:xfrm>
            <a:off x="9048750" y="3155156"/>
            <a:ext cx="1071563" cy="773906"/>
          </a:xfrm>
          <a:prstGeom prst="rect">
            <a:avLst/>
          </a:prstGeom>
          <a:solidFill>
            <a:srgbClr val="FFFFFF"/>
          </a:solidFill>
          <a:ln w="13097">
            <a:solidFill>
              <a:srgbClr val="172B4D"/>
            </a:solidFill>
          </a:ln>
        </p:spPr>
      </p:sp>
      <p:sp>
        <p:nvSpPr>
          <p:cNvPr id="14" name="object-14">
            <a:extLst>
              <a:ext uri="{FF2B5EF4-FFF2-40B4-BE49-F238E27FC236}">
                <a16:creationId xmlns:a16="http://schemas.microsoft.com/office/drawing/2014/main" id="{5B150AB1-D416-420A-814D-56EB4F445973}"/>
              </a:ext>
            </a:extLst>
          </p:cNvPr>
          <p:cNvSpPr>
            <a:spLocks noGrp="1"/>
          </p:cNvSpPr>
          <p:nvPr/>
        </p:nvSpPr>
        <p:spPr>
          <a:xfrm>
            <a:off x="1547813"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1</a:t>
            </a:r>
          </a:p>
        </p:txBody>
      </p:sp>
      <p:sp>
        <p:nvSpPr>
          <p:cNvPr id="15" name="object-15">
            <a:extLst>
              <a:ext uri="{FF2B5EF4-FFF2-40B4-BE49-F238E27FC236}">
                <a16:creationId xmlns:a16="http://schemas.microsoft.com/office/drawing/2014/main" id="{2A0B1854-7EF8-45AA-A6BB-63646E0E7F9B}"/>
              </a:ext>
            </a:extLst>
          </p:cNvPr>
          <p:cNvSpPr>
            <a:spLocks noGrp="1"/>
          </p:cNvSpPr>
          <p:nvPr/>
        </p:nvSpPr>
        <p:spPr>
          <a:xfrm>
            <a:off x="3786188"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2</a:t>
            </a:r>
          </a:p>
        </p:txBody>
      </p:sp>
      <p:sp>
        <p:nvSpPr>
          <p:cNvPr id="16" name="object-16">
            <a:extLst>
              <a:ext uri="{FF2B5EF4-FFF2-40B4-BE49-F238E27FC236}">
                <a16:creationId xmlns:a16="http://schemas.microsoft.com/office/drawing/2014/main" id="{449E31DB-5BAA-4FA4-87E6-C6A7DF0E7D5F}"/>
              </a:ext>
            </a:extLst>
          </p:cNvPr>
          <p:cNvSpPr>
            <a:spLocks noGrp="1"/>
          </p:cNvSpPr>
          <p:nvPr/>
        </p:nvSpPr>
        <p:spPr>
          <a:xfrm>
            <a:off x="6024563"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3</a:t>
            </a:r>
          </a:p>
        </p:txBody>
      </p:sp>
      <p:sp>
        <p:nvSpPr>
          <p:cNvPr id="17" name="object-17">
            <a:extLst>
              <a:ext uri="{FF2B5EF4-FFF2-40B4-BE49-F238E27FC236}">
                <a16:creationId xmlns:a16="http://schemas.microsoft.com/office/drawing/2014/main" id="{0D9BAF94-3DFB-4649-AC9E-F157F6CA5B06}"/>
              </a:ext>
            </a:extLst>
          </p:cNvPr>
          <p:cNvSpPr>
            <a:spLocks noGrp="1"/>
          </p:cNvSpPr>
          <p:nvPr/>
        </p:nvSpPr>
        <p:spPr>
          <a:xfrm>
            <a:off x="8262938"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4</a:t>
            </a:r>
          </a:p>
        </p:txBody>
      </p:sp>
      <p:sp>
        <p:nvSpPr>
          <p:cNvPr id="18" name="object-18">
            <a:extLst>
              <a:ext uri="{FF2B5EF4-FFF2-40B4-BE49-F238E27FC236}">
                <a16:creationId xmlns:a16="http://schemas.microsoft.com/office/drawing/2014/main" id="{B6203CFB-924F-4B52-B55B-AE70FC53ADCC}"/>
              </a:ext>
            </a:extLst>
          </p:cNvPr>
          <p:cNvSpPr>
            <a:spLocks noGrp="1"/>
          </p:cNvSpPr>
          <p:nvPr/>
        </p:nvSpPr>
        <p:spPr>
          <a:xfrm>
            <a:off x="892969" y="7143750"/>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6/8 = 3/4</a:t>
            </a:r>
          </a:p>
        </p:txBody>
      </p:sp>
    </p:spTree>
    <p:extLst>
      <p:ext uri="{BB962C8B-B14F-4D97-AF65-F5344CB8AC3E}">
        <p14:creationId xmlns:p14="http://schemas.microsoft.com/office/powerpoint/2010/main" val="1312744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 0.24305556 E" pathEditMode="relative" ptsTypes="">
                                      <p:cBhvr>
                                        <p:cTn id="6" dur="800" fill="hold"/>
                                        <p:tgtEl>
                                          <p:spTgt spid="6"/>
                                        </p:tgtEl>
                                        <p:attrNameLst>
                                          <p:attrName>ppt_x</p:attrName>
                                          <p:attrName>ppt_y</p:attrName>
                                        </p:attrNameLst>
                                      </p:cBhvr>
                                    </p:animMotion>
                                  </p:childTnLst>
                                </p:cTn>
                              </p:par>
                              <p:par>
                                <p:cTn id="7" presetID="63" presetClass="path" presetSubtype="0" accel="50000" decel="50000" fill="hold" nodeType="withEffect">
                                  <p:stCondLst>
                                    <p:cond delay="0"/>
                                  </p:stCondLst>
                                  <p:childTnLst>
                                    <p:animMotion origin="layout" path="M 0 0 L 0 0.24305556 E" pathEditMode="relative" ptsTypes="">
                                      <p:cBhvr>
                                        <p:cTn id="8" dur="800" fill="hold"/>
                                        <p:tgtEl>
                                          <p:spTgt spid="7"/>
                                        </p:tgtEl>
                                        <p:attrNameLst>
                                          <p:attrName>ppt_x</p:attrName>
                                          <p:attrName>ppt_y</p:attrName>
                                        </p:attrNameLst>
                                      </p:cBhvr>
                                    </p:animMotion>
                                  </p:childTnLst>
                                </p:cTn>
                              </p:par>
                            </p:childTnLst>
                          </p:cTn>
                        </p:par>
                        <p:par>
                          <p:cTn id="9" fill="hold">
                            <p:stCondLst>
                              <p:cond delay="800"/>
                            </p:stCondLst>
                            <p:childTnLst>
                              <p:par>
                                <p:cTn id="10" presetID="1" presetClass="entr" presetSubtype="0" fill="hold" grpId="0" nodeType="after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63" presetClass="path" presetSubtype="0" accel="50000" decel="50000" fill="hold" nodeType="clickEffect">
                                  <p:stCondLst>
                                    <p:cond delay="0"/>
                                  </p:stCondLst>
                                  <p:childTnLst>
                                    <p:animMotion origin="layout" path="M 0 0 L 0.00625 0.24305556 E" pathEditMode="relative" ptsTypes="">
                                      <p:cBhvr>
                                        <p:cTn id="15" dur="800" fill="hold"/>
                                        <p:tgtEl>
                                          <p:spTgt spid="8"/>
                                        </p:tgtEl>
                                        <p:attrNameLst>
                                          <p:attrName>ppt_x</p:attrName>
                                          <p:attrName>ppt_y</p:attrName>
                                        </p:attrNameLst>
                                      </p:cBhvr>
                                    </p:animMotion>
                                  </p:childTnLst>
                                </p:cTn>
                              </p:par>
                              <p:par>
                                <p:cTn id="16" presetID="63" presetClass="path" presetSubtype="0" accel="50000" decel="50000" fill="hold" nodeType="withEffect">
                                  <p:stCondLst>
                                    <p:cond delay="0"/>
                                  </p:stCondLst>
                                  <p:childTnLst>
                                    <p:animMotion origin="layout" path="M 0 0 L 0.00625 0.24305556 E" pathEditMode="relative" ptsTypes="">
                                      <p:cBhvr>
                                        <p:cTn id="17" dur="800" fill="hold"/>
                                        <p:tgtEl>
                                          <p:spTgt spid="9"/>
                                        </p:tgtEl>
                                        <p:attrNameLst>
                                          <p:attrName>ppt_x</p:attrName>
                                          <p:attrName>ppt_y</p:attrName>
                                        </p:attrNameLst>
                                      </p:cBhvr>
                                    </p:animMotion>
                                  </p:childTnLst>
                                </p:cTn>
                              </p:par>
                            </p:childTnLst>
                          </p:cTn>
                        </p:par>
                        <p:par>
                          <p:cTn id="18" fill="hold">
                            <p:stCondLst>
                              <p:cond delay="800"/>
                            </p:stCondLst>
                            <p:childTnLst>
                              <p:par>
                                <p:cTn id="19" presetID="1" presetClass="entr" presetSubtype="0" fill="hold" grpId="0" nodeType="after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63" presetClass="path" presetSubtype="0" accel="50000" decel="50000" fill="hold" nodeType="clickEffect">
                                  <p:stCondLst>
                                    <p:cond delay="0"/>
                                  </p:stCondLst>
                                  <p:childTnLst>
                                    <p:animMotion origin="layout" path="M 0 0 L 0.0125 0.24305556 E" pathEditMode="relative" ptsTypes="">
                                      <p:cBhvr>
                                        <p:cTn id="24" dur="800" fill="hold"/>
                                        <p:tgtEl>
                                          <p:spTgt spid="10"/>
                                        </p:tgtEl>
                                        <p:attrNameLst>
                                          <p:attrName>ppt_x</p:attrName>
                                          <p:attrName>ppt_y</p:attrName>
                                        </p:attrNameLst>
                                      </p:cBhvr>
                                    </p:animMotion>
                                  </p:childTnLst>
                                </p:cTn>
                              </p:par>
                              <p:par>
                                <p:cTn id="25" presetID="63" presetClass="path" presetSubtype="0" accel="50000" decel="50000" fill="hold" nodeType="withEffect">
                                  <p:stCondLst>
                                    <p:cond delay="0"/>
                                  </p:stCondLst>
                                  <p:childTnLst>
                                    <p:animMotion origin="layout" path="M 0 0 L 0.0125 0.24305556 E" pathEditMode="relative" ptsTypes="">
                                      <p:cBhvr>
                                        <p:cTn id="26" dur="800" fill="hold"/>
                                        <p:tgtEl>
                                          <p:spTgt spid="11"/>
                                        </p:tgtEl>
                                        <p:attrNameLst>
                                          <p:attrName>ppt_x</p:attrName>
                                          <p:attrName>ppt_y</p:attrName>
                                        </p:attrNameLst>
                                      </p:cBhvr>
                                    </p:animMotion>
                                  </p:childTnLst>
                                </p:cTn>
                              </p:par>
                            </p:childTnLst>
                          </p:cTn>
                        </p:par>
                        <p:par>
                          <p:cTn id="27" fill="hold">
                            <p:stCondLst>
                              <p:cond delay="800"/>
                            </p:stCondLst>
                            <p:childTnLst>
                              <p:par>
                                <p:cTn id="28" presetID="1" presetClass="entr" presetSubtype="0" fill="hold" grpId="0" nodeType="afterEffect">
                                  <p:stCondLst>
                                    <p:cond delay="0"/>
                                  </p:stCondLst>
                                  <p:childTnLst>
                                    <p:set>
                                      <p:cBhvr>
                                        <p:cTn id="29" dur="1" fill="hold">
                                          <p:stCondLst>
                                            <p:cond delay="0"/>
                                          </p:stCondLst>
                                        </p:cTn>
                                        <p:tgtEl>
                                          <p:spTgt spid="16"/>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63" presetClass="path" presetSubtype="0" accel="50000" decel="50000" fill="hold" nodeType="clickEffect">
                                  <p:stCondLst>
                                    <p:cond delay="0"/>
                                  </p:stCondLst>
                                  <p:childTnLst>
                                    <p:animMotion origin="layout" path="M 0 0 L 0.01875 0.24305556 E" pathEditMode="relative" ptsTypes="">
                                      <p:cBhvr>
                                        <p:cTn id="33" dur="800" fill="hold"/>
                                        <p:tgtEl>
                                          <p:spTgt spid="12"/>
                                        </p:tgtEl>
                                        <p:attrNameLst>
                                          <p:attrName>ppt_x</p:attrName>
                                          <p:attrName>ppt_y</p:attrName>
                                        </p:attrNameLst>
                                      </p:cBhvr>
                                    </p:animMotion>
                                  </p:childTnLst>
                                </p:cTn>
                              </p:par>
                              <p:par>
                                <p:cTn id="34" presetID="63" presetClass="path" presetSubtype="0" accel="50000" decel="50000" fill="hold" nodeType="withEffect">
                                  <p:stCondLst>
                                    <p:cond delay="0"/>
                                  </p:stCondLst>
                                  <p:childTnLst>
                                    <p:animMotion origin="layout" path="M 0 0 L 0.01875 0.24305556 E" pathEditMode="relative" ptsTypes="">
                                      <p:cBhvr>
                                        <p:cTn id="35" dur="800" fill="hold"/>
                                        <p:tgtEl>
                                          <p:spTgt spid="13"/>
                                        </p:tgtEl>
                                        <p:attrNameLst>
                                          <p:attrName>ppt_x</p:attrName>
                                          <p:attrName>ppt_y</p:attrName>
                                        </p:attrNameLst>
                                      </p:cBhvr>
                                    </p:animMotion>
                                  </p:childTnLst>
                                </p:cTn>
                              </p:par>
                            </p:childTnLst>
                          </p:cTn>
                        </p:par>
                        <p:par>
                          <p:cTn id="36" fill="hold">
                            <p:stCondLst>
                              <p:cond delay="800"/>
                            </p:stCondLst>
                            <p:childTnLst>
                              <p:par>
                                <p:cTn id="37" presetID="1" presetClass="entr" presetSubtype="0" fill="hold" grpId="0" nodeType="after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P spid="18"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object-1">
            <a:extLst>
              <a:ext uri="{FF2B5EF4-FFF2-40B4-BE49-F238E27FC236}">
                <a16:creationId xmlns:a16="http://schemas.microsoft.com/office/drawing/2014/main" id="{7521C1FC-AA51-4BFF-9694-91E9658C8BE1}"/>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4F88B06F-4C83-4E4B-BD20-1F4D2160D34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Simplify 42/56.</a:t>
            </a:r>
          </a:p>
        </p:txBody>
      </p:sp>
      <p:sp>
        <p:nvSpPr>
          <p:cNvPr id="3" name="object-3">
            <a:extLst>
              <a:ext uri="{FF2B5EF4-FFF2-40B4-BE49-F238E27FC236}">
                <a16:creationId xmlns:a16="http://schemas.microsoft.com/office/drawing/2014/main" id="{C8474135-A9F4-4E25-AA59-BDFA55AD2FCA}"/>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A9AEEAD-8F5D-4E6B-88F4-34602E7392A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5" name="object-5">
            <a:extLst>
              <a:ext uri="{FF2B5EF4-FFF2-40B4-BE49-F238E27FC236}">
                <a16:creationId xmlns:a16="http://schemas.microsoft.com/office/drawing/2014/main" id="{AAB988B2-8267-444E-B0C1-C7B2A4C1EB1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6" name="object-6">
            <a:extLst>
              <a:ext uri="{FF2B5EF4-FFF2-40B4-BE49-F238E27FC236}">
                <a16:creationId xmlns:a16="http://schemas.microsoft.com/office/drawing/2014/main" id="{454C94CB-BDE2-4EAB-97DA-C5BC2CF75898}"/>
              </a:ext>
            </a:extLst>
          </p:cNvPr>
          <p:cNvSpPr>
            <a:spLocks noGrp="1"/>
          </p:cNvSpPr>
          <p:nvPr/>
        </p:nvSpPr>
        <p:spPr>
          <a:xfrm>
            <a:off x="1905000" y="35718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42</a:t>
            </a:r>
          </a:p>
        </p:txBody>
      </p:sp>
      <p:sp>
        <p:nvSpPr>
          <p:cNvPr id="7" name="object-7">
            <a:extLst>
              <a:ext uri="{FF2B5EF4-FFF2-40B4-BE49-F238E27FC236}">
                <a16:creationId xmlns:a16="http://schemas.microsoft.com/office/drawing/2014/main" id="{503C4DB5-A807-44A0-95D1-6E2563F2C8DF}"/>
              </a:ext>
            </a:extLst>
          </p:cNvPr>
          <p:cNvSpPr>
            <a:spLocks noGrp="1"/>
          </p:cNvSpPr>
          <p:nvPr/>
        </p:nvSpPr>
        <p:spPr>
          <a:xfrm>
            <a:off x="1905000" y="4429125"/>
            <a:ext cx="1785938" cy="35719"/>
          </a:xfrm>
          <a:prstGeom prst="rect">
            <a:avLst/>
          </a:prstGeom>
          <a:solidFill>
            <a:srgbClr val="1D4ED8"/>
          </a:solidFill>
          <a:ln w="0">
            <a:noFill/>
          </a:ln>
        </p:spPr>
      </p:sp>
      <p:sp>
        <p:nvSpPr>
          <p:cNvPr id="8" name="object-8">
            <a:extLst>
              <a:ext uri="{FF2B5EF4-FFF2-40B4-BE49-F238E27FC236}">
                <a16:creationId xmlns:a16="http://schemas.microsoft.com/office/drawing/2014/main" id="{F03CCA14-F5A5-4B63-BF76-A14B775F6A75}"/>
              </a:ext>
            </a:extLst>
          </p:cNvPr>
          <p:cNvSpPr>
            <a:spLocks noGrp="1"/>
          </p:cNvSpPr>
          <p:nvPr/>
        </p:nvSpPr>
        <p:spPr>
          <a:xfrm>
            <a:off x="1905000" y="45243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56</a:t>
            </a:r>
          </a:p>
        </p:txBody>
      </p:sp>
      <p:sp>
        <p:nvSpPr>
          <p:cNvPr id="9" name="object-9">
            <a:extLst>
              <a:ext uri="{FF2B5EF4-FFF2-40B4-BE49-F238E27FC236}">
                <a16:creationId xmlns:a16="http://schemas.microsoft.com/office/drawing/2014/main" id="{86F33F03-5DC3-4AAF-B84A-F642CB1316A3}"/>
              </a:ext>
            </a:extLst>
          </p:cNvPr>
          <p:cNvSpPr>
            <a:spLocks noGrp="1"/>
          </p:cNvSpPr>
          <p:nvPr/>
        </p:nvSpPr>
        <p:spPr>
          <a:xfrm>
            <a:off x="3690938" y="4429125"/>
            <a:ext cx="3571875" cy="35719"/>
          </a:xfrm>
          <a:prstGeom prst="rect">
            <a:avLst/>
          </a:prstGeom>
          <a:solidFill>
            <a:srgbClr val="1D4ED8"/>
          </a:solidFill>
          <a:ln w="0">
            <a:noFill/>
          </a:ln>
        </p:spPr>
      </p:sp>
      <p:sp>
        <p:nvSpPr>
          <p:cNvPr id="10" name="object-10">
            <a:extLst>
              <a:ext uri="{FF2B5EF4-FFF2-40B4-BE49-F238E27FC236}">
                <a16:creationId xmlns:a16="http://schemas.microsoft.com/office/drawing/2014/main" id="{932C77C0-A61C-4C44-A4B0-0E072E151BB2}"/>
              </a:ext>
            </a:extLst>
          </p:cNvPr>
          <p:cNvSpPr>
            <a:spLocks noGrp="1"/>
          </p:cNvSpPr>
          <p:nvPr/>
        </p:nvSpPr>
        <p:spPr>
          <a:xfrm>
            <a:off x="8572500" y="3976688"/>
            <a:ext cx="1012031" cy="952500"/>
          </a:xfrm>
          <a:prstGeom prst="rect">
            <a:avLst/>
          </a:prstGeom>
          <a:noFill/>
          <a:ln w="0">
            <a:noFill/>
          </a:ln>
        </p:spPr>
        <p:txBody>
          <a:bodyPr anchor="ctr">
            <a:noAutofit/>
          </a:bodyPr>
          <a:lstStyle/>
          <a:p>
            <a:pPr algn="l">
              <a:defRPr sz="5344" b="0">
                <a:solidFill>
                  <a:srgbClr val="172B4D"/>
                </a:solidFill>
                <a:latin typeface="Arial"/>
                <a:ea typeface="Arial"/>
                <a:cs typeface="Arial"/>
              </a:defRPr>
            </a:pPr>
            <a:r>
              <a:rPr sz="5344" b="0">
                <a:solidFill>
                  <a:srgbClr val="172B4D"/>
                </a:solidFill>
                <a:latin typeface="Arial"/>
                <a:ea typeface="Arial"/>
                <a:cs typeface="Arial"/>
              </a:rPr>
              <a:t>=</a:t>
            </a:r>
          </a:p>
        </p:txBody>
      </p:sp>
      <p:sp>
        <p:nvSpPr>
          <p:cNvPr id="11" name="object-11">
            <a:extLst>
              <a:ext uri="{FF2B5EF4-FFF2-40B4-BE49-F238E27FC236}">
                <a16:creationId xmlns:a16="http://schemas.microsoft.com/office/drawing/2014/main" id="{42ED61FD-CC22-41D2-B46F-8964EC97A628}"/>
              </a:ext>
            </a:extLst>
          </p:cNvPr>
          <p:cNvSpPr>
            <a:spLocks noGrp="1"/>
          </p:cNvSpPr>
          <p:nvPr/>
        </p:nvSpPr>
        <p:spPr>
          <a:xfrm>
            <a:off x="10834688" y="4429125"/>
            <a:ext cx="1666875" cy="35719"/>
          </a:xfrm>
          <a:prstGeom prst="rect">
            <a:avLst/>
          </a:prstGeom>
          <a:solidFill>
            <a:srgbClr val="11745A"/>
          </a:solidFill>
          <a:ln w="0">
            <a:noFill/>
          </a:ln>
        </p:spPr>
      </p:sp>
      <p:sp>
        <p:nvSpPr>
          <p:cNvPr id="12" name="object-12">
            <a:extLst>
              <a:ext uri="{FF2B5EF4-FFF2-40B4-BE49-F238E27FC236}">
                <a16:creationId xmlns:a16="http://schemas.microsoft.com/office/drawing/2014/main" id="{54923D2F-4D9E-4C1B-A4B0-A83C1A59F247}"/>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14</a:t>
            </a:r>
          </a:p>
        </p:txBody>
      </p:sp>
      <p:sp>
        <p:nvSpPr>
          <p:cNvPr id="13" name="object-13">
            <a:extLst>
              <a:ext uri="{FF2B5EF4-FFF2-40B4-BE49-F238E27FC236}">
                <a16:creationId xmlns:a16="http://schemas.microsoft.com/office/drawing/2014/main" id="{FFF4F7A1-55E6-4BF7-9434-4D55478013AA}"/>
              </a:ext>
            </a:extLst>
          </p:cNvPr>
          <p:cNvSpPr>
            <a:spLocks noGrp="1"/>
          </p:cNvSpPr>
          <p:nvPr/>
        </p:nvSpPr>
        <p:spPr>
          <a:xfrm>
            <a:off x="8036719" y="2738438"/>
            <a:ext cx="4167188" cy="547688"/>
          </a:xfrm>
          <a:prstGeom prst="rect">
            <a:avLst/>
          </a:prstGeom>
          <a:noFill/>
          <a:ln w="0">
            <a:noFill/>
          </a:ln>
        </p:spPr>
        <p:txBody>
          <a:bodyPr anchor="ctr">
            <a:noAutofit/>
          </a:bodyPr>
          <a:lstStyle/>
          <a:p>
            <a:pPr algn="l">
              <a:defRPr sz="2344" b="0">
                <a:solidFill>
                  <a:srgbClr val="9A5800"/>
                </a:solidFill>
                <a:latin typeface="Arial"/>
                <a:ea typeface="Arial"/>
                <a:cs typeface="Arial"/>
              </a:defRPr>
            </a:pPr>
            <a:r>
              <a:rPr sz="2344" b="0">
                <a:solidFill>
                  <a:srgbClr val="9A5800"/>
                </a:solidFill>
                <a:latin typeface="Arial"/>
                <a:ea typeface="Arial"/>
                <a:cs typeface="Arial"/>
              </a:rPr>
              <a:t>common factor</a:t>
            </a:r>
          </a:p>
        </p:txBody>
      </p:sp>
      <p:sp>
        <p:nvSpPr>
          <p:cNvPr id="14" name="object-14">
            <a:extLst>
              <a:ext uri="{FF2B5EF4-FFF2-40B4-BE49-F238E27FC236}">
                <a16:creationId xmlns:a16="http://schemas.microsoft.com/office/drawing/2014/main" id="{AB1C2D4F-56F8-4B49-BB8C-1FDED7A1465E}"/>
              </a:ext>
            </a:extLst>
          </p:cNvPr>
          <p:cNvSpPr>
            <a:spLocks noGrp="1"/>
          </p:cNvSpPr>
          <p:nvPr/>
        </p:nvSpPr>
        <p:spPr>
          <a:xfrm>
            <a:off x="4345781" y="35718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5" name="object-15">
            <a:extLst>
              <a:ext uri="{FF2B5EF4-FFF2-40B4-BE49-F238E27FC236}">
                <a16:creationId xmlns:a16="http://schemas.microsoft.com/office/drawing/2014/main" id="{0EA9B7CA-4E60-4170-BC35-F1B1259F16BB}"/>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14</a:t>
            </a:r>
          </a:p>
        </p:txBody>
      </p:sp>
      <p:sp>
        <p:nvSpPr>
          <p:cNvPr id="16" name="object-16">
            <a:extLst>
              <a:ext uri="{FF2B5EF4-FFF2-40B4-BE49-F238E27FC236}">
                <a16:creationId xmlns:a16="http://schemas.microsoft.com/office/drawing/2014/main" id="{7FB23CD9-19F2-4B4F-B84C-6385BA42819C}"/>
              </a:ext>
            </a:extLst>
          </p:cNvPr>
          <p:cNvSpPr>
            <a:spLocks noGrp="1"/>
          </p:cNvSpPr>
          <p:nvPr/>
        </p:nvSpPr>
        <p:spPr>
          <a:xfrm>
            <a:off x="7739063" y="35718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3</a:t>
            </a:r>
          </a:p>
        </p:txBody>
      </p:sp>
      <p:sp>
        <p:nvSpPr>
          <p:cNvPr id="17" name="object-17">
            <a:extLst>
              <a:ext uri="{FF2B5EF4-FFF2-40B4-BE49-F238E27FC236}">
                <a16:creationId xmlns:a16="http://schemas.microsoft.com/office/drawing/2014/main" id="{C0337C9E-3F12-42FC-BAE4-27ABCB764B8A}"/>
              </a:ext>
            </a:extLst>
          </p:cNvPr>
          <p:cNvSpPr>
            <a:spLocks noGrp="1"/>
          </p:cNvSpPr>
          <p:nvPr/>
        </p:nvSpPr>
        <p:spPr>
          <a:xfrm>
            <a:off x="4345781" y="45243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8" name="object-18">
            <a:extLst>
              <a:ext uri="{FF2B5EF4-FFF2-40B4-BE49-F238E27FC236}">
                <a16:creationId xmlns:a16="http://schemas.microsoft.com/office/drawing/2014/main" id="{84485ADC-C8B7-4081-B9D0-6DF1EE271E4D}"/>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14</a:t>
            </a:r>
          </a:p>
        </p:txBody>
      </p:sp>
      <p:sp>
        <p:nvSpPr>
          <p:cNvPr id="19" name="object-19">
            <a:extLst>
              <a:ext uri="{FF2B5EF4-FFF2-40B4-BE49-F238E27FC236}">
                <a16:creationId xmlns:a16="http://schemas.microsoft.com/office/drawing/2014/main" id="{116C64B2-4276-4C6C-9654-ACE3454315DA}"/>
              </a:ext>
            </a:extLst>
          </p:cNvPr>
          <p:cNvSpPr>
            <a:spLocks noGrp="1"/>
          </p:cNvSpPr>
          <p:nvPr/>
        </p:nvSpPr>
        <p:spPr>
          <a:xfrm>
            <a:off x="7739063" y="45243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4</a:t>
            </a:r>
          </a:p>
        </p:txBody>
      </p:sp>
      <p:sp>
        <p:nvSpPr>
          <p:cNvPr id="20" name="object-20">
            <a:extLst>
              <a:ext uri="{FF2B5EF4-FFF2-40B4-BE49-F238E27FC236}">
                <a16:creationId xmlns:a16="http://schemas.microsoft.com/office/drawing/2014/main" id="{8BF6627D-ED33-4A88-A318-81399F9F412B}"/>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 and 4 share no common factor greater than 1.</a:t>
            </a:r>
          </a:p>
        </p:txBody>
      </p:sp>
    </p:spTree>
    <p:extLst>
      <p:ext uri="{BB962C8B-B14F-4D97-AF65-F5344CB8AC3E}">
        <p14:creationId xmlns:p14="http://schemas.microsoft.com/office/powerpoint/2010/main" val="138732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par>
                          <p:cTn id="9" fill="hold">
                            <p:stCondLst>
                              <p:cond delay="0"/>
                            </p:stCondLst>
                            <p:childTnLst>
                              <p:par>
                                <p:cTn id="10" presetID="63" presetClass="path" presetSubtype="0" accel="50000" decel="50000" fill="hold" grpId="1" nodeType="afterEffect">
                                  <p:stCondLst>
                                    <p:cond delay="0"/>
                                  </p:stCondLst>
                                  <p:childTnLst>
                                    <p:animMotion origin="layout" path="M 0 0 L -0.0390625 0.11388889 E" pathEditMode="relative" ptsTypes="">
                                      <p:cBhvr>
                                        <p:cTn id="11" dur="800" fill="hold"/>
                                        <p:tgtEl>
                                          <p:spTgt spid="15"/>
                                        </p:tgtEl>
                                        <p:attrNameLst>
                                          <p:attrName>ppt_x</p:attrName>
                                          <p:attrName>ppt_y</p:attrName>
                                        </p:attrNameLst>
                                      </p:cBhvr>
                                    </p:animMotion>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63" presetClass="path" presetSubtype="0" accel="50000" decel="50000" fill="hold" grpId="1" nodeType="afterEffect">
                                  <p:stCondLst>
                                    <p:cond delay="0"/>
                                  </p:stCondLst>
                                  <p:childTnLst>
                                    <p:animMotion origin="layout" path="M 0 0 L 0.20703125 0 E" pathEditMode="relative" ptsTypes="">
                                      <p:cBhvr>
                                        <p:cTn id="18" dur="800" fill="hold"/>
                                        <p:tgtEl>
                                          <p:spTgt spid="16"/>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par>
                          <p:cTn id="25" fill="hold">
                            <p:stCondLst>
                              <p:cond delay="0"/>
                            </p:stCondLst>
                            <p:childTnLst>
                              <p:par>
                                <p:cTn id="26" presetID="63" presetClass="path" presetSubtype="0" accel="50000" decel="50000" fill="hold" grpId="1" nodeType="afterEffect">
                                  <p:stCondLst>
                                    <p:cond delay="0"/>
                                  </p:stCondLst>
                                  <p:childTnLst>
                                    <p:animMotion origin="layout" path="M 0 0 L -0.0390625 0.225 E" pathEditMode="relative" ptsTypes="">
                                      <p:cBhvr>
                                        <p:cTn id="27" dur="800" fill="hold"/>
                                        <p:tgtEl>
                                          <p:spTgt spid="18"/>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0703125 0 E" pathEditMode="relative" ptsTypes="">
                                      <p:cBhvr>
                                        <p:cTn id="34" dur="800" fill="hold"/>
                                        <p:tgtEl>
                                          <p:spTgt spid="19"/>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5" grpId="1"/>
      <p:bldP spid="16" grpId="0"/>
      <p:bldP spid="16" grpId="1"/>
      <p:bldP spid="17" grpId="0"/>
      <p:bldP spid="18" grpId="0"/>
      <p:bldP spid="18" grpId="1"/>
      <p:bldP spid="19" grpId="0"/>
      <p:bldP spid="19" grpId="1"/>
      <p:bldP spid="2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object-1">
            <a:extLst>
              <a:ext uri="{FF2B5EF4-FFF2-40B4-BE49-F238E27FC236}">
                <a16:creationId xmlns:a16="http://schemas.microsoft.com/office/drawing/2014/main" id="{F269DF5E-78E9-4E05-9F65-322B306CAD5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6CC51CF-44BF-4F70-8A48-B7DF44523530}"/>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8CABCA6D-A1C2-4E37-8791-3848D24ABB6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Group the pieces: 6/8 = ?</a:t>
            </a:r>
          </a:p>
        </p:txBody>
      </p:sp>
      <p:sp>
        <p:nvSpPr>
          <p:cNvPr id="4" name="object-4">
            <a:extLst>
              <a:ext uri="{FF2B5EF4-FFF2-40B4-BE49-F238E27FC236}">
                <a16:creationId xmlns:a16="http://schemas.microsoft.com/office/drawing/2014/main" id="{414BF078-3C97-4A26-9284-6CB40FB1F793}"/>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471E8859-75A5-444D-80CB-58F6B9AFFDA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6" name="object-6">
            <a:extLst>
              <a:ext uri="{FF2B5EF4-FFF2-40B4-BE49-F238E27FC236}">
                <a16:creationId xmlns:a16="http://schemas.microsoft.com/office/drawing/2014/main" id="{098ADC1C-159A-4DA1-9301-26C5AF7E88B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7" name="object-7">
            <a:extLst>
              <a:ext uri="{FF2B5EF4-FFF2-40B4-BE49-F238E27FC236}">
                <a16:creationId xmlns:a16="http://schemas.microsoft.com/office/drawing/2014/main" id="{40A735B0-D843-4B07-99A6-82EFB150C2A8}"/>
              </a:ext>
            </a:extLst>
          </p:cNvPr>
          <p:cNvSpPr>
            <a:spLocks noGrp="1"/>
          </p:cNvSpPr>
          <p:nvPr/>
        </p:nvSpPr>
        <p:spPr>
          <a:xfrm>
            <a:off x="1547813" y="3155156"/>
            <a:ext cx="1071563" cy="773906"/>
          </a:xfrm>
          <a:prstGeom prst="rect">
            <a:avLst/>
          </a:prstGeom>
          <a:solidFill>
            <a:srgbClr val="1D4ED8"/>
          </a:solidFill>
          <a:ln w="13097">
            <a:solidFill>
              <a:srgbClr val="172B4D"/>
            </a:solidFill>
          </a:ln>
        </p:spPr>
      </p:sp>
      <p:sp>
        <p:nvSpPr>
          <p:cNvPr id="8" name="object-8">
            <a:extLst>
              <a:ext uri="{FF2B5EF4-FFF2-40B4-BE49-F238E27FC236}">
                <a16:creationId xmlns:a16="http://schemas.microsoft.com/office/drawing/2014/main" id="{3EDF943E-1A5D-41B5-A469-BAE542691AFE}"/>
              </a:ext>
            </a:extLst>
          </p:cNvPr>
          <p:cNvSpPr>
            <a:spLocks noGrp="1"/>
          </p:cNvSpPr>
          <p:nvPr/>
        </p:nvSpPr>
        <p:spPr>
          <a:xfrm>
            <a:off x="2619375" y="3155156"/>
            <a:ext cx="1071563" cy="773906"/>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5102C6FE-E623-4384-925F-22EE80C0C091}"/>
              </a:ext>
            </a:extLst>
          </p:cNvPr>
          <p:cNvSpPr>
            <a:spLocks noGrp="1"/>
          </p:cNvSpPr>
          <p:nvPr/>
        </p:nvSpPr>
        <p:spPr>
          <a:xfrm>
            <a:off x="3690938" y="3155156"/>
            <a:ext cx="1071563" cy="773906"/>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5FBD982F-FBE0-43A4-B6AE-5B87541CC86F}"/>
              </a:ext>
            </a:extLst>
          </p:cNvPr>
          <p:cNvSpPr>
            <a:spLocks noGrp="1"/>
          </p:cNvSpPr>
          <p:nvPr/>
        </p:nvSpPr>
        <p:spPr>
          <a:xfrm>
            <a:off x="4762500" y="3155156"/>
            <a:ext cx="1071563" cy="773906"/>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F434244F-4C52-47F7-8897-8431580A0F07}"/>
              </a:ext>
            </a:extLst>
          </p:cNvPr>
          <p:cNvSpPr>
            <a:spLocks noGrp="1"/>
          </p:cNvSpPr>
          <p:nvPr/>
        </p:nvSpPr>
        <p:spPr>
          <a:xfrm>
            <a:off x="5834063" y="3155156"/>
            <a:ext cx="1071563" cy="773906"/>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55B4FD75-575A-4680-8B57-4A371CF8FFFF}"/>
              </a:ext>
            </a:extLst>
          </p:cNvPr>
          <p:cNvSpPr>
            <a:spLocks noGrp="1"/>
          </p:cNvSpPr>
          <p:nvPr/>
        </p:nvSpPr>
        <p:spPr>
          <a:xfrm>
            <a:off x="6905625" y="3155156"/>
            <a:ext cx="1071563" cy="773906"/>
          </a:xfrm>
          <a:prstGeom prst="rect">
            <a:avLst/>
          </a:prstGeom>
          <a:solidFill>
            <a:srgbClr val="1D4ED8"/>
          </a:solidFill>
          <a:ln w="13097">
            <a:solidFill>
              <a:srgbClr val="172B4D"/>
            </a:solidFill>
          </a:ln>
        </p:spPr>
      </p:sp>
      <p:sp>
        <p:nvSpPr>
          <p:cNvPr id="13" name="object-13">
            <a:extLst>
              <a:ext uri="{FF2B5EF4-FFF2-40B4-BE49-F238E27FC236}">
                <a16:creationId xmlns:a16="http://schemas.microsoft.com/office/drawing/2014/main" id="{553C9F5E-2DFB-4C8D-B02D-867AB791CF70}"/>
              </a:ext>
            </a:extLst>
          </p:cNvPr>
          <p:cNvSpPr>
            <a:spLocks noGrp="1"/>
          </p:cNvSpPr>
          <p:nvPr/>
        </p:nvSpPr>
        <p:spPr>
          <a:xfrm>
            <a:off x="7977188" y="3155156"/>
            <a:ext cx="1071563" cy="773906"/>
          </a:xfrm>
          <a:prstGeom prst="rect">
            <a:avLst/>
          </a:prstGeom>
          <a:solidFill>
            <a:srgbClr val="FFFFFF"/>
          </a:solidFill>
          <a:ln w="13097">
            <a:solidFill>
              <a:srgbClr val="172B4D"/>
            </a:solidFill>
          </a:ln>
        </p:spPr>
      </p:sp>
      <p:sp>
        <p:nvSpPr>
          <p:cNvPr id="14" name="object-14">
            <a:extLst>
              <a:ext uri="{FF2B5EF4-FFF2-40B4-BE49-F238E27FC236}">
                <a16:creationId xmlns:a16="http://schemas.microsoft.com/office/drawing/2014/main" id="{D4AB4974-68FD-4C39-B9A9-E3BDB2AE2F4B}"/>
              </a:ext>
            </a:extLst>
          </p:cNvPr>
          <p:cNvSpPr>
            <a:spLocks noGrp="1"/>
          </p:cNvSpPr>
          <p:nvPr/>
        </p:nvSpPr>
        <p:spPr>
          <a:xfrm>
            <a:off x="9048750" y="3155156"/>
            <a:ext cx="1071563" cy="773906"/>
          </a:xfrm>
          <a:prstGeom prst="rect">
            <a:avLst/>
          </a:prstGeom>
          <a:solidFill>
            <a:srgbClr val="FFFFFF"/>
          </a:solidFill>
          <a:ln w="13097">
            <a:solidFill>
              <a:srgbClr val="172B4D"/>
            </a:solidFill>
          </a:ln>
        </p:spPr>
      </p:sp>
      <p:sp>
        <p:nvSpPr>
          <p:cNvPr id="15" name="object-15">
            <a:extLst>
              <a:ext uri="{FF2B5EF4-FFF2-40B4-BE49-F238E27FC236}">
                <a16:creationId xmlns:a16="http://schemas.microsoft.com/office/drawing/2014/main" id="{75F2A40D-277B-4236-AADD-FB8A9906775E}"/>
              </a:ext>
            </a:extLst>
          </p:cNvPr>
          <p:cNvSpPr>
            <a:spLocks noGrp="1"/>
          </p:cNvSpPr>
          <p:nvPr/>
        </p:nvSpPr>
        <p:spPr>
          <a:xfrm>
            <a:off x="1547813"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1</a:t>
            </a:r>
          </a:p>
        </p:txBody>
      </p:sp>
      <p:sp>
        <p:nvSpPr>
          <p:cNvPr id="16" name="object-16">
            <a:extLst>
              <a:ext uri="{FF2B5EF4-FFF2-40B4-BE49-F238E27FC236}">
                <a16:creationId xmlns:a16="http://schemas.microsoft.com/office/drawing/2014/main" id="{BAE4BE2F-33AB-4633-993A-27D4F38939F6}"/>
              </a:ext>
            </a:extLst>
          </p:cNvPr>
          <p:cNvSpPr>
            <a:spLocks noGrp="1"/>
          </p:cNvSpPr>
          <p:nvPr/>
        </p:nvSpPr>
        <p:spPr>
          <a:xfrm>
            <a:off x="3786188"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2</a:t>
            </a:r>
          </a:p>
        </p:txBody>
      </p:sp>
      <p:sp>
        <p:nvSpPr>
          <p:cNvPr id="17" name="object-17">
            <a:extLst>
              <a:ext uri="{FF2B5EF4-FFF2-40B4-BE49-F238E27FC236}">
                <a16:creationId xmlns:a16="http://schemas.microsoft.com/office/drawing/2014/main" id="{625D7F0E-AFE7-4827-B969-591093097A79}"/>
              </a:ext>
            </a:extLst>
          </p:cNvPr>
          <p:cNvSpPr>
            <a:spLocks noGrp="1"/>
          </p:cNvSpPr>
          <p:nvPr/>
        </p:nvSpPr>
        <p:spPr>
          <a:xfrm>
            <a:off x="6024563"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3</a:t>
            </a:r>
          </a:p>
        </p:txBody>
      </p:sp>
      <p:sp>
        <p:nvSpPr>
          <p:cNvPr id="18" name="object-18">
            <a:extLst>
              <a:ext uri="{FF2B5EF4-FFF2-40B4-BE49-F238E27FC236}">
                <a16:creationId xmlns:a16="http://schemas.microsoft.com/office/drawing/2014/main" id="{8BE1E1DF-27FC-4057-9110-5C1C3312E4AD}"/>
              </a:ext>
            </a:extLst>
          </p:cNvPr>
          <p:cNvSpPr>
            <a:spLocks noGrp="1"/>
          </p:cNvSpPr>
          <p:nvPr/>
        </p:nvSpPr>
        <p:spPr>
          <a:xfrm>
            <a:off x="8262938"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4</a:t>
            </a:r>
          </a:p>
        </p:txBody>
      </p:sp>
      <p:sp>
        <p:nvSpPr>
          <p:cNvPr id="19" name="object-19">
            <a:extLst>
              <a:ext uri="{FF2B5EF4-FFF2-40B4-BE49-F238E27FC236}">
                <a16:creationId xmlns:a16="http://schemas.microsoft.com/office/drawing/2014/main" id="{0562B6FD-7BB0-48B6-BEFB-363F5C906C74}"/>
              </a:ext>
            </a:extLst>
          </p:cNvPr>
          <p:cNvSpPr>
            <a:spLocks noGrp="1"/>
          </p:cNvSpPr>
          <p:nvPr/>
        </p:nvSpPr>
        <p:spPr>
          <a:xfrm>
            <a:off x="892969" y="7143750"/>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6/8 = 3/4</a:t>
            </a:r>
          </a:p>
        </p:txBody>
      </p:sp>
    </p:spTree>
    <p:extLst>
      <p:ext uri="{BB962C8B-B14F-4D97-AF65-F5344CB8AC3E}">
        <p14:creationId xmlns:p14="http://schemas.microsoft.com/office/powerpoint/2010/main" val="866403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 0.24305556 E" pathEditMode="relative" ptsTypes="">
                                      <p:cBhvr>
                                        <p:cTn id="6" dur="800" fill="hold"/>
                                        <p:tgtEl>
                                          <p:spTgt spid="7"/>
                                        </p:tgtEl>
                                        <p:attrNameLst>
                                          <p:attrName>ppt_x</p:attrName>
                                          <p:attrName>ppt_y</p:attrName>
                                        </p:attrNameLst>
                                      </p:cBhvr>
                                    </p:animMotion>
                                  </p:childTnLst>
                                </p:cTn>
                              </p:par>
                              <p:par>
                                <p:cTn id="7" presetID="63" presetClass="path" presetSubtype="0" accel="50000" decel="50000" fill="hold" nodeType="withEffect">
                                  <p:stCondLst>
                                    <p:cond delay="0"/>
                                  </p:stCondLst>
                                  <p:childTnLst>
                                    <p:animMotion origin="layout" path="M 0 0 L 0 0.24305556 E" pathEditMode="relative" ptsTypes="">
                                      <p:cBhvr>
                                        <p:cTn id="8" dur="800" fill="hold"/>
                                        <p:tgtEl>
                                          <p:spTgt spid="8"/>
                                        </p:tgtEl>
                                        <p:attrNameLst>
                                          <p:attrName>ppt_x</p:attrName>
                                          <p:attrName>ppt_y</p:attrName>
                                        </p:attrNameLst>
                                      </p:cBhvr>
                                    </p:animMotion>
                                  </p:childTnLst>
                                </p:cTn>
                              </p:par>
                            </p:childTnLst>
                          </p:cTn>
                        </p:par>
                        <p:par>
                          <p:cTn id="9" fill="hold">
                            <p:stCondLst>
                              <p:cond delay="8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63" presetClass="path" presetSubtype="0" accel="50000" decel="50000" fill="hold" nodeType="clickEffect">
                                  <p:stCondLst>
                                    <p:cond delay="0"/>
                                  </p:stCondLst>
                                  <p:childTnLst>
                                    <p:animMotion origin="layout" path="M 0 0 L 0.00625 0.24305556 E" pathEditMode="relative" ptsTypes="">
                                      <p:cBhvr>
                                        <p:cTn id="15" dur="800" fill="hold"/>
                                        <p:tgtEl>
                                          <p:spTgt spid="9"/>
                                        </p:tgtEl>
                                        <p:attrNameLst>
                                          <p:attrName>ppt_x</p:attrName>
                                          <p:attrName>ppt_y</p:attrName>
                                        </p:attrNameLst>
                                      </p:cBhvr>
                                    </p:animMotion>
                                  </p:childTnLst>
                                </p:cTn>
                              </p:par>
                              <p:par>
                                <p:cTn id="16" presetID="63" presetClass="path" presetSubtype="0" accel="50000" decel="50000" fill="hold" nodeType="withEffect">
                                  <p:stCondLst>
                                    <p:cond delay="0"/>
                                  </p:stCondLst>
                                  <p:childTnLst>
                                    <p:animMotion origin="layout" path="M 0 0 L 0.00625 0.24305556 E" pathEditMode="relative" ptsTypes="">
                                      <p:cBhvr>
                                        <p:cTn id="17" dur="800" fill="hold"/>
                                        <p:tgtEl>
                                          <p:spTgt spid="10"/>
                                        </p:tgtEl>
                                        <p:attrNameLst>
                                          <p:attrName>ppt_x</p:attrName>
                                          <p:attrName>ppt_y</p:attrName>
                                        </p:attrNameLst>
                                      </p:cBhvr>
                                    </p:animMotion>
                                  </p:childTnLst>
                                </p:cTn>
                              </p:par>
                            </p:childTnLst>
                          </p:cTn>
                        </p:par>
                        <p:par>
                          <p:cTn id="18" fill="hold">
                            <p:stCondLst>
                              <p:cond delay="800"/>
                            </p:stCondLst>
                            <p:childTnLst>
                              <p:par>
                                <p:cTn id="19" presetID="1" presetClass="entr" presetSubtype="0" fill="hold" grpId="0" nodeType="after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63" presetClass="path" presetSubtype="0" accel="50000" decel="50000" fill="hold" nodeType="clickEffect">
                                  <p:stCondLst>
                                    <p:cond delay="0"/>
                                  </p:stCondLst>
                                  <p:childTnLst>
                                    <p:animMotion origin="layout" path="M 0 0 L 0.0125 0.24305556 E" pathEditMode="relative" ptsTypes="">
                                      <p:cBhvr>
                                        <p:cTn id="24" dur="800" fill="hold"/>
                                        <p:tgtEl>
                                          <p:spTgt spid="11"/>
                                        </p:tgtEl>
                                        <p:attrNameLst>
                                          <p:attrName>ppt_x</p:attrName>
                                          <p:attrName>ppt_y</p:attrName>
                                        </p:attrNameLst>
                                      </p:cBhvr>
                                    </p:animMotion>
                                  </p:childTnLst>
                                </p:cTn>
                              </p:par>
                              <p:par>
                                <p:cTn id="25" presetID="63" presetClass="path" presetSubtype="0" accel="50000" decel="50000" fill="hold" nodeType="withEffect">
                                  <p:stCondLst>
                                    <p:cond delay="0"/>
                                  </p:stCondLst>
                                  <p:childTnLst>
                                    <p:animMotion origin="layout" path="M 0 0 L 0.0125 0.24305556 E" pathEditMode="relative" ptsTypes="">
                                      <p:cBhvr>
                                        <p:cTn id="26" dur="800" fill="hold"/>
                                        <p:tgtEl>
                                          <p:spTgt spid="12"/>
                                        </p:tgtEl>
                                        <p:attrNameLst>
                                          <p:attrName>ppt_x</p:attrName>
                                          <p:attrName>ppt_y</p:attrName>
                                        </p:attrNameLst>
                                      </p:cBhvr>
                                    </p:animMotion>
                                  </p:childTnLst>
                                </p:cTn>
                              </p:par>
                            </p:childTnLst>
                          </p:cTn>
                        </p:par>
                        <p:par>
                          <p:cTn id="27" fill="hold">
                            <p:stCondLst>
                              <p:cond delay="800"/>
                            </p:stCondLst>
                            <p:childTnLst>
                              <p:par>
                                <p:cTn id="28" presetID="1" presetClass="entr" presetSubtype="0" fill="hold" grpId="0" nodeType="afterEffect">
                                  <p:stCondLst>
                                    <p:cond delay="0"/>
                                  </p:stCondLst>
                                  <p:childTnLst>
                                    <p:set>
                                      <p:cBhvr>
                                        <p:cTn id="29" dur="1" fill="hold">
                                          <p:stCondLst>
                                            <p:cond delay="0"/>
                                          </p:stCondLst>
                                        </p:cTn>
                                        <p:tgtEl>
                                          <p:spTgt spid="17"/>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63" presetClass="path" presetSubtype="0" accel="50000" decel="50000" fill="hold" nodeType="clickEffect">
                                  <p:stCondLst>
                                    <p:cond delay="0"/>
                                  </p:stCondLst>
                                  <p:childTnLst>
                                    <p:animMotion origin="layout" path="M 0 0 L 0.01875 0.24305556 E" pathEditMode="relative" ptsTypes="">
                                      <p:cBhvr>
                                        <p:cTn id="33" dur="800" fill="hold"/>
                                        <p:tgtEl>
                                          <p:spTgt spid="13"/>
                                        </p:tgtEl>
                                        <p:attrNameLst>
                                          <p:attrName>ppt_x</p:attrName>
                                          <p:attrName>ppt_y</p:attrName>
                                        </p:attrNameLst>
                                      </p:cBhvr>
                                    </p:animMotion>
                                  </p:childTnLst>
                                </p:cTn>
                              </p:par>
                              <p:par>
                                <p:cTn id="34" presetID="63" presetClass="path" presetSubtype="0" accel="50000" decel="50000" fill="hold" nodeType="withEffect">
                                  <p:stCondLst>
                                    <p:cond delay="0"/>
                                  </p:stCondLst>
                                  <p:childTnLst>
                                    <p:animMotion origin="layout" path="M 0 0 L 0.01875 0.24305556 E" pathEditMode="relative" ptsTypes="">
                                      <p:cBhvr>
                                        <p:cTn id="35" dur="800" fill="hold"/>
                                        <p:tgtEl>
                                          <p:spTgt spid="14"/>
                                        </p:tgtEl>
                                        <p:attrNameLst>
                                          <p:attrName>ppt_x</p:attrName>
                                          <p:attrName>ppt_y</p:attrName>
                                        </p:attrNameLst>
                                      </p:cBhvr>
                                    </p:animMotion>
                                  </p:childTnLst>
                                </p:cTn>
                              </p:par>
                            </p:childTnLst>
                          </p:cTn>
                        </p:par>
                        <p:par>
                          <p:cTn id="36" fill="hold">
                            <p:stCondLst>
                              <p:cond delay="800"/>
                            </p:stCondLst>
                            <p:childTnLst>
                              <p:par>
                                <p:cTn id="37" presetID="1" presetClass="entr" presetSubtype="0" fill="hold" grpId="0" nodeType="after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P spid="18" grpId="0"/>
      <p:bldP spid="1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object-1">
            <a:extLst>
              <a:ext uri="{FF2B5EF4-FFF2-40B4-BE49-F238E27FC236}">
                <a16:creationId xmlns:a16="http://schemas.microsoft.com/office/drawing/2014/main" id="{D1B4E9F8-2F5F-4FD8-99E5-8A084C67DF1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CBC3A1A-B7F9-455F-BEEB-AA1EAF619971}"/>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E3E97CD7-DE9B-4443-B347-A1724B3D24F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Simplify 12/16.</a:t>
            </a:r>
          </a:p>
        </p:txBody>
      </p:sp>
      <p:sp>
        <p:nvSpPr>
          <p:cNvPr id="4" name="object-4">
            <a:extLst>
              <a:ext uri="{FF2B5EF4-FFF2-40B4-BE49-F238E27FC236}">
                <a16:creationId xmlns:a16="http://schemas.microsoft.com/office/drawing/2014/main" id="{4039938A-F8E7-479D-A614-888FF46CFC5E}"/>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649437F4-4520-42AA-8705-4A09D59F986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6" name="object-6">
            <a:extLst>
              <a:ext uri="{FF2B5EF4-FFF2-40B4-BE49-F238E27FC236}">
                <a16:creationId xmlns:a16="http://schemas.microsoft.com/office/drawing/2014/main" id="{96DBB674-D9BE-4004-8A5C-5B6D4058DE2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89314567-4F8C-47CC-A2A0-1DC7AFA56C7D}"/>
              </a:ext>
            </a:extLst>
          </p:cNvPr>
          <p:cNvSpPr>
            <a:spLocks noGrp="1"/>
          </p:cNvSpPr>
          <p:nvPr/>
        </p:nvSpPr>
        <p:spPr>
          <a:xfrm>
            <a:off x="1905000" y="35718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12</a:t>
            </a:r>
          </a:p>
        </p:txBody>
      </p:sp>
      <p:sp>
        <p:nvSpPr>
          <p:cNvPr id="8" name="object-8">
            <a:extLst>
              <a:ext uri="{FF2B5EF4-FFF2-40B4-BE49-F238E27FC236}">
                <a16:creationId xmlns:a16="http://schemas.microsoft.com/office/drawing/2014/main" id="{64EB46B3-CE6B-4D3A-8CDD-79B2E7B09891}"/>
              </a:ext>
            </a:extLst>
          </p:cNvPr>
          <p:cNvSpPr>
            <a:spLocks noGrp="1"/>
          </p:cNvSpPr>
          <p:nvPr/>
        </p:nvSpPr>
        <p:spPr>
          <a:xfrm>
            <a:off x="1905000" y="4429125"/>
            <a:ext cx="1785938" cy="35719"/>
          </a:xfrm>
          <a:prstGeom prst="rect">
            <a:avLst/>
          </a:prstGeom>
          <a:solidFill>
            <a:srgbClr val="1D4ED8"/>
          </a:solidFill>
          <a:ln w="0">
            <a:noFill/>
          </a:ln>
        </p:spPr>
      </p:sp>
      <p:sp>
        <p:nvSpPr>
          <p:cNvPr id="9" name="object-9">
            <a:extLst>
              <a:ext uri="{FF2B5EF4-FFF2-40B4-BE49-F238E27FC236}">
                <a16:creationId xmlns:a16="http://schemas.microsoft.com/office/drawing/2014/main" id="{4FE0CA7A-669B-4440-A412-A46C415DDF57}"/>
              </a:ext>
            </a:extLst>
          </p:cNvPr>
          <p:cNvSpPr>
            <a:spLocks noGrp="1"/>
          </p:cNvSpPr>
          <p:nvPr/>
        </p:nvSpPr>
        <p:spPr>
          <a:xfrm>
            <a:off x="1905000" y="45243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16</a:t>
            </a:r>
          </a:p>
        </p:txBody>
      </p:sp>
      <p:sp>
        <p:nvSpPr>
          <p:cNvPr id="10" name="object-10">
            <a:extLst>
              <a:ext uri="{FF2B5EF4-FFF2-40B4-BE49-F238E27FC236}">
                <a16:creationId xmlns:a16="http://schemas.microsoft.com/office/drawing/2014/main" id="{50153963-4980-4159-84D3-816DDF08E8E5}"/>
              </a:ext>
            </a:extLst>
          </p:cNvPr>
          <p:cNvSpPr>
            <a:spLocks noGrp="1"/>
          </p:cNvSpPr>
          <p:nvPr/>
        </p:nvSpPr>
        <p:spPr>
          <a:xfrm>
            <a:off x="3690938" y="4429125"/>
            <a:ext cx="3571875" cy="35719"/>
          </a:xfrm>
          <a:prstGeom prst="rect">
            <a:avLst/>
          </a:prstGeom>
          <a:solidFill>
            <a:srgbClr val="1D4ED8"/>
          </a:solidFill>
          <a:ln w="0">
            <a:noFill/>
          </a:ln>
        </p:spPr>
      </p:sp>
      <p:sp>
        <p:nvSpPr>
          <p:cNvPr id="11" name="object-11">
            <a:extLst>
              <a:ext uri="{FF2B5EF4-FFF2-40B4-BE49-F238E27FC236}">
                <a16:creationId xmlns:a16="http://schemas.microsoft.com/office/drawing/2014/main" id="{1910C748-C262-486B-B311-0C9B8EE27981}"/>
              </a:ext>
            </a:extLst>
          </p:cNvPr>
          <p:cNvSpPr>
            <a:spLocks noGrp="1"/>
          </p:cNvSpPr>
          <p:nvPr/>
        </p:nvSpPr>
        <p:spPr>
          <a:xfrm>
            <a:off x="8572500" y="3976688"/>
            <a:ext cx="1012031" cy="952500"/>
          </a:xfrm>
          <a:prstGeom prst="rect">
            <a:avLst/>
          </a:prstGeom>
          <a:noFill/>
          <a:ln w="0">
            <a:noFill/>
          </a:ln>
        </p:spPr>
        <p:txBody>
          <a:bodyPr anchor="ctr">
            <a:noAutofit/>
          </a:bodyPr>
          <a:lstStyle/>
          <a:p>
            <a:pPr algn="l">
              <a:defRPr sz="5344" b="0">
                <a:solidFill>
                  <a:srgbClr val="172B4D"/>
                </a:solidFill>
                <a:latin typeface="Arial"/>
                <a:ea typeface="Arial"/>
                <a:cs typeface="Arial"/>
              </a:defRPr>
            </a:pPr>
            <a:r>
              <a:rPr sz="5344" b="0">
                <a:solidFill>
                  <a:srgbClr val="172B4D"/>
                </a:solidFill>
                <a:latin typeface="Arial"/>
                <a:ea typeface="Arial"/>
                <a:cs typeface="Arial"/>
              </a:rPr>
              <a:t>=</a:t>
            </a:r>
          </a:p>
        </p:txBody>
      </p:sp>
      <p:sp>
        <p:nvSpPr>
          <p:cNvPr id="12" name="object-12">
            <a:extLst>
              <a:ext uri="{FF2B5EF4-FFF2-40B4-BE49-F238E27FC236}">
                <a16:creationId xmlns:a16="http://schemas.microsoft.com/office/drawing/2014/main" id="{C99D0C31-B39F-4A24-A214-BEC1562C289D}"/>
              </a:ext>
            </a:extLst>
          </p:cNvPr>
          <p:cNvSpPr>
            <a:spLocks noGrp="1"/>
          </p:cNvSpPr>
          <p:nvPr/>
        </p:nvSpPr>
        <p:spPr>
          <a:xfrm>
            <a:off x="10834688" y="4429125"/>
            <a:ext cx="1666875" cy="35719"/>
          </a:xfrm>
          <a:prstGeom prst="rect">
            <a:avLst/>
          </a:prstGeom>
          <a:solidFill>
            <a:srgbClr val="11745A"/>
          </a:solidFill>
          <a:ln w="0">
            <a:noFill/>
          </a:ln>
        </p:spPr>
      </p:sp>
      <p:sp>
        <p:nvSpPr>
          <p:cNvPr id="13" name="object-13">
            <a:extLst>
              <a:ext uri="{FF2B5EF4-FFF2-40B4-BE49-F238E27FC236}">
                <a16:creationId xmlns:a16="http://schemas.microsoft.com/office/drawing/2014/main" id="{A9DFA79C-65E3-4FA0-9D65-6288A9AAE997}"/>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4" name="object-14">
            <a:extLst>
              <a:ext uri="{FF2B5EF4-FFF2-40B4-BE49-F238E27FC236}">
                <a16:creationId xmlns:a16="http://schemas.microsoft.com/office/drawing/2014/main" id="{E3CD9553-BDD7-4BB1-8DD3-32F23D7C9126}"/>
              </a:ext>
            </a:extLst>
          </p:cNvPr>
          <p:cNvSpPr>
            <a:spLocks noGrp="1"/>
          </p:cNvSpPr>
          <p:nvPr/>
        </p:nvSpPr>
        <p:spPr>
          <a:xfrm>
            <a:off x="8036719" y="2738438"/>
            <a:ext cx="4167188" cy="547688"/>
          </a:xfrm>
          <a:prstGeom prst="rect">
            <a:avLst/>
          </a:prstGeom>
          <a:noFill/>
          <a:ln w="0">
            <a:noFill/>
          </a:ln>
        </p:spPr>
        <p:txBody>
          <a:bodyPr anchor="ctr">
            <a:noAutofit/>
          </a:bodyPr>
          <a:lstStyle/>
          <a:p>
            <a:pPr algn="l">
              <a:defRPr sz="2344" b="0">
                <a:solidFill>
                  <a:srgbClr val="9A5800"/>
                </a:solidFill>
                <a:latin typeface="Arial"/>
                <a:ea typeface="Arial"/>
                <a:cs typeface="Arial"/>
              </a:defRPr>
            </a:pPr>
            <a:r>
              <a:rPr sz="2344" b="0">
                <a:solidFill>
                  <a:srgbClr val="9A5800"/>
                </a:solidFill>
                <a:latin typeface="Arial"/>
                <a:ea typeface="Arial"/>
                <a:cs typeface="Arial"/>
              </a:rPr>
              <a:t>common factor</a:t>
            </a:r>
          </a:p>
        </p:txBody>
      </p:sp>
      <p:sp>
        <p:nvSpPr>
          <p:cNvPr id="15" name="object-15">
            <a:extLst>
              <a:ext uri="{FF2B5EF4-FFF2-40B4-BE49-F238E27FC236}">
                <a16:creationId xmlns:a16="http://schemas.microsoft.com/office/drawing/2014/main" id="{80D156F3-0708-458D-BDA3-464D0F0AF323}"/>
              </a:ext>
            </a:extLst>
          </p:cNvPr>
          <p:cNvSpPr>
            <a:spLocks noGrp="1"/>
          </p:cNvSpPr>
          <p:nvPr/>
        </p:nvSpPr>
        <p:spPr>
          <a:xfrm>
            <a:off x="4345781" y="35718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6" name="object-16">
            <a:extLst>
              <a:ext uri="{FF2B5EF4-FFF2-40B4-BE49-F238E27FC236}">
                <a16:creationId xmlns:a16="http://schemas.microsoft.com/office/drawing/2014/main" id="{03F9A922-387B-4766-818E-044D97D60CAF}"/>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17" name="object-17">
            <a:extLst>
              <a:ext uri="{FF2B5EF4-FFF2-40B4-BE49-F238E27FC236}">
                <a16:creationId xmlns:a16="http://schemas.microsoft.com/office/drawing/2014/main" id="{75E8E367-F9F1-46F2-890F-6240FA3F1021}"/>
              </a:ext>
            </a:extLst>
          </p:cNvPr>
          <p:cNvSpPr>
            <a:spLocks noGrp="1"/>
          </p:cNvSpPr>
          <p:nvPr/>
        </p:nvSpPr>
        <p:spPr>
          <a:xfrm>
            <a:off x="7739063" y="35718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3</a:t>
            </a:r>
          </a:p>
        </p:txBody>
      </p:sp>
      <p:sp>
        <p:nvSpPr>
          <p:cNvPr id="18" name="object-18">
            <a:extLst>
              <a:ext uri="{FF2B5EF4-FFF2-40B4-BE49-F238E27FC236}">
                <a16:creationId xmlns:a16="http://schemas.microsoft.com/office/drawing/2014/main" id="{3072E347-2848-4C0B-BB2E-26F07615CAC6}"/>
              </a:ext>
            </a:extLst>
          </p:cNvPr>
          <p:cNvSpPr>
            <a:spLocks noGrp="1"/>
          </p:cNvSpPr>
          <p:nvPr/>
        </p:nvSpPr>
        <p:spPr>
          <a:xfrm>
            <a:off x="4345781" y="45243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9" name="object-19">
            <a:extLst>
              <a:ext uri="{FF2B5EF4-FFF2-40B4-BE49-F238E27FC236}">
                <a16:creationId xmlns:a16="http://schemas.microsoft.com/office/drawing/2014/main" id="{EF81D542-F02F-40EA-8C89-3F126C7702A6}"/>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4</a:t>
            </a:r>
          </a:p>
        </p:txBody>
      </p:sp>
      <p:sp>
        <p:nvSpPr>
          <p:cNvPr id="20" name="object-20">
            <a:extLst>
              <a:ext uri="{FF2B5EF4-FFF2-40B4-BE49-F238E27FC236}">
                <a16:creationId xmlns:a16="http://schemas.microsoft.com/office/drawing/2014/main" id="{1B3E4F27-DE7B-421D-8E88-41A60097C445}"/>
              </a:ext>
            </a:extLst>
          </p:cNvPr>
          <p:cNvSpPr>
            <a:spLocks noGrp="1"/>
          </p:cNvSpPr>
          <p:nvPr/>
        </p:nvSpPr>
        <p:spPr>
          <a:xfrm>
            <a:off x="7739063" y="45243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4</a:t>
            </a:r>
          </a:p>
        </p:txBody>
      </p:sp>
      <p:sp>
        <p:nvSpPr>
          <p:cNvPr id="21" name="object-21">
            <a:extLst>
              <a:ext uri="{FF2B5EF4-FFF2-40B4-BE49-F238E27FC236}">
                <a16:creationId xmlns:a16="http://schemas.microsoft.com/office/drawing/2014/main" id="{7AF25453-A2C2-4EA9-8299-1A1E97EE2AB3}"/>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 and 4 share no common factor greater than 1.</a:t>
            </a:r>
          </a:p>
        </p:txBody>
      </p:sp>
    </p:spTree>
    <p:extLst>
      <p:ext uri="{BB962C8B-B14F-4D97-AF65-F5344CB8AC3E}">
        <p14:creationId xmlns:p14="http://schemas.microsoft.com/office/powerpoint/2010/main" val="1686712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par>
                          <p:cTn id="9" fill="hold">
                            <p:stCondLst>
                              <p:cond delay="0"/>
                            </p:stCondLst>
                            <p:childTnLst>
                              <p:par>
                                <p:cTn id="10" presetID="63" presetClass="path" presetSubtype="0" accel="50000" decel="50000" fill="hold" grpId="1" nodeType="afterEffect">
                                  <p:stCondLst>
                                    <p:cond delay="0"/>
                                  </p:stCondLst>
                                  <p:childTnLst>
                                    <p:animMotion origin="layout" path="M 0 0 L -0.0390625 0.11388889 E" pathEditMode="relative" ptsTypes="">
                                      <p:cBhvr>
                                        <p:cTn id="11" dur="800" fill="hold"/>
                                        <p:tgtEl>
                                          <p:spTgt spid="16"/>
                                        </p:tgtEl>
                                        <p:attrNameLst>
                                          <p:attrName>ppt_x</p:attrName>
                                          <p:attrName>ppt_y</p:attrName>
                                        </p:attrNameLst>
                                      </p:cBhvr>
                                    </p:animMotion>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childTnLst>
                                </p:cTn>
                              </p:par>
                            </p:childTnLst>
                          </p:cTn>
                        </p:par>
                        <p:par>
                          <p:cTn id="16" fill="hold">
                            <p:stCondLst>
                              <p:cond delay="0"/>
                            </p:stCondLst>
                            <p:childTnLst>
                              <p:par>
                                <p:cTn id="17" presetID="63" presetClass="path" presetSubtype="0" accel="50000" decel="50000" fill="hold" grpId="1" nodeType="afterEffect">
                                  <p:stCondLst>
                                    <p:cond delay="0"/>
                                  </p:stCondLst>
                                  <p:childTnLst>
                                    <p:animMotion origin="layout" path="M 0 0 L 0.20703125 0 E" pathEditMode="relative" ptsTypes="">
                                      <p:cBhvr>
                                        <p:cTn id="18" dur="800" fill="hold"/>
                                        <p:tgtEl>
                                          <p:spTgt spid="17"/>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childTnLst>
                          </p:cTn>
                        </p:par>
                        <p:par>
                          <p:cTn id="25" fill="hold">
                            <p:stCondLst>
                              <p:cond delay="0"/>
                            </p:stCondLst>
                            <p:childTnLst>
                              <p:par>
                                <p:cTn id="26" presetID="63" presetClass="path" presetSubtype="0" accel="50000" decel="50000" fill="hold" grpId="1" nodeType="afterEffect">
                                  <p:stCondLst>
                                    <p:cond delay="0"/>
                                  </p:stCondLst>
                                  <p:childTnLst>
                                    <p:animMotion origin="layout" path="M 0 0 L -0.0390625 0.225 E" pathEditMode="relative" ptsTypes="">
                                      <p:cBhvr>
                                        <p:cTn id="27" dur="800" fill="hold"/>
                                        <p:tgtEl>
                                          <p:spTgt spid="19"/>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0703125 0 E" pathEditMode="relative" ptsTypes="">
                                      <p:cBhvr>
                                        <p:cTn id="34" dur="800" fill="hold"/>
                                        <p:tgtEl>
                                          <p:spTgt spid="2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6" grpId="1"/>
      <p:bldP spid="17" grpId="0"/>
      <p:bldP spid="17" grpId="1"/>
      <p:bldP spid="18" grpId="0"/>
      <p:bldP spid="19" grpId="0"/>
      <p:bldP spid="19" grpId="1"/>
      <p:bldP spid="20" grpId="0"/>
      <p:bldP spid="20" grpId="1"/>
      <p:bldP spid="21"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object-1">
            <a:extLst>
              <a:ext uri="{FF2B5EF4-FFF2-40B4-BE49-F238E27FC236}">
                <a16:creationId xmlns:a16="http://schemas.microsoft.com/office/drawing/2014/main" id="{26679BE2-57B7-425B-B90A-29ED3670CEE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4A127E6C-9293-4164-92D5-41990C3A8F9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Group the pieces: 6/8 = ?</a:t>
            </a:r>
          </a:p>
        </p:txBody>
      </p:sp>
      <p:sp>
        <p:nvSpPr>
          <p:cNvPr id="3" name="object-3">
            <a:extLst>
              <a:ext uri="{FF2B5EF4-FFF2-40B4-BE49-F238E27FC236}">
                <a16:creationId xmlns:a16="http://schemas.microsoft.com/office/drawing/2014/main" id="{A41B91AD-30A8-40FC-BD77-62F8C524FA45}"/>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0B269CC-2B2B-44A9-AEEF-86B1E201502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5" name="object-5">
            <a:extLst>
              <a:ext uri="{FF2B5EF4-FFF2-40B4-BE49-F238E27FC236}">
                <a16:creationId xmlns:a16="http://schemas.microsoft.com/office/drawing/2014/main" id="{1548817A-D1B7-4E47-BD1B-FEE61EB6634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6" name="object-6">
            <a:extLst>
              <a:ext uri="{FF2B5EF4-FFF2-40B4-BE49-F238E27FC236}">
                <a16:creationId xmlns:a16="http://schemas.microsoft.com/office/drawing/2014/main" id="{9FD42729-22E0-43A4-A7A5-1D2BDE84DBF8}"/>
              </a:ext>
            </a:extLst>
          </p:cNvPr>
          <p:cNvSpPr>
            <a:spLocks noGrp="1"/>
          </p:cNvSpPr>
          <p:nvPr/>
        </p:nvSpPr>
        <p:spPr>
          <a:xfrm>
            <a:off x="1547813" y="3155156"/>
            <a:ext cx="1071563" cy="773906"/>
          </a:xfrm>
          <a:prstGeom prst="rect">
            <a:avLst/>
          </a:prstGeom>
          <a:solidFill>
            <a:srgbClr val="1D4ED8"/>
          </a:solidFill>
          <a:ln w="13097">
            <a:solidFill>
              <a:srgbClr val="172B4D"/>
            </a:solidFill>
          </a:ln>
        </p:spPr>
      </p:sp>
      <p:sp>
        <p:nvSpPr>
          <p:cNvPr id="7" name="object-7">
            <a:extLst>
              <a:ext uri="{FF2B5EF4-FFF2-40B4-BE49-F238E27FC236}">
                <a16:creationId xmlns:a16="http://schemas.microsoft.com/office/drawing/2014/main" id="{FA4A5AD1-6C15-40DA-98EB-CE088FE6D6FC}"/>
              </a:ext>
            </a:extLst>
          </p:cNvPr>
          <p:cNvSpPr>
            <a:spLocks noGrp="1"/>
          </p:cNvSpPr>
          <p:nvPr/>
        </p:nvSpPr>
        <p:spPr>
          <a:xfrm>
            <a:off x="2619375" y="3155156"/>
            <a:ext cx="1071563" cy="773906"/>
          </a:xfrm>
          <a:prstGeom prst="rect">
            <a:avLst/>
          </a:prstGeom>
          <a:solidFill>
            <a:srgbClr val="1D4ED8"/>
          </a:solidFill>
          <a:ln w="13097">
            <a:solidFill>
              <a:srgbClr val="172B4D"/>
            </a:solidFill>
          </a:ln>
        </p:spPr>
      </p:sp>
      <p:sp>
        <p:nvSpPr>
          <p:cNvPr id="8" name="object-8">
            <a:extLst>
              <a:ext uri="{FF2B5EF4-FFF2-40B4-BE49-F238E27FC236}">
                <a16:creationId xmlns:a16="http://schemas.microsoft.com/office/drawing/2014/main" id="{5417039D-9A3D-47CA-91B5-CC4B3E8D6074}"/>
              </a:ext>
            </a:extLst>
          </p:cNvPr>
          <p:cNvSpPr>
            <a:spLocks noGrp="1"/>
          </p:cNvSpPr>
          <p:nvPr/>
        </p:nvSpPr>
        <p:spPr>
          <a:xfrm>
            <a:off x="3690938" y="3155156"/>
            <a:ext cx="1071563" cy="773906"/>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A5A9BA52-4123-4CA6-B69E-0A0653FFC086}"/>
              </a:ext>
            </a:extLst>
          </p:cNvPr>
          <p:cNvSpPr>
            <a:spLocks noGrp="1"/>
          </p:cNvSpPr>
          <p:nvPr/>
        </p:nvSpPr>
        <p:spPr>
          <a:xfrm>
            <a:off x="4762500" y="3155156"/>
            <a:ext cx="1071563" cy="773906"/>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330EEA1D-EE4D-4012-991F-0F975D4AECD8}"/>
              </a:ext>
            </a:extLst>
          </p:cNvPr>
          <p:cNvSpPr>
            <a:spLocks noGrp="1"/>
          </p:cNvSpPr>
          <p:nvPr/>
        </p:nvSpPr>
        <p:spPr>
          <a:xfrm>
            <a:off x="5834063" y="3155156"/>
            <a:ext cx="1071563" cy="773906"/>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6CD8F5D8-A7DF-49A2-96BA-E1745A380586}"/>
              </a:ext>
            </a:extLst>
          </p:cNvPr>
          <p:cNvSpPr>
            <a:spLocks noGrp="1"/>
          </p:cNvSpPr>
          <p:nvPr/>
        </p:nvSpPr>
        <p:spPr>
          <a:xfrm>
            <a:off x="6905625" y="3155156"/>
            <a:ext cx="1071563" cy="773906"/>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042D7DF7-4400-4B1B-A1F3-E85A4201D8F2}"/>
              </a:ext>
            </a:extLst>
          </p:cNvPr>
          <p:cNvSpPr>
            <a:spLocks noGrp="1"/>
          </p:cNvSpPr>
          <p:nvPr/>
        </p:nvSpPr>
        <p:spPr>
          <a:xfrm>
            <a:off x="7977188" y="3155156"/>
            <a:ext cx="1071563" cy="773906"/>
          </a:xfrm>
          <a:prstGeom prst="rect">
            <a:avLst/>
          </a:prstGeom>
          <a:solidFill>
            <a:srgbClr val="FFFFFF"/>
          </a:solidFill>
          <a:ln w="13097">
            <a:solidFill>
              <a:srgbClr val="172B4D"/>
            </a:solidFill>
          </a:ln>
        </p:spPr>
      </p:sp>
      <p:sp>
        <p:nvSpPr>
          <p:cNvPr id="13" name="object-13">
            <a:extLst>
              <a:ext uri="{FF2B5EF4-FFF2-40B4-BE49-F238E27FC236}">
                <a16:creationId xmlns:a16="http://schemas.microsoft.com/office/drawing/2014/main" id="{88E86720-4BCD-4DE6-85F8-B388DA5C2915}"/>
              </a:ext>
            </a:extLst>
          </p:cNvPr>
          <p:cNvSpPr>
            <a:spLocks noGrp="1"/>
          </p:cNvSpPr>
          <p:nvPr/>
        </p:nvSpPr>
        <p:spPr>
          <a:xfrm>
            <a:off x="9048750" y="3155156"/>
            <a:ext cx="1071563" cy="773906"/>
          </a:xfrm>
          <a:prstGeom prst="rect">
            <a:avLst/>
          </a:prstGeom>
          <a:solidFill>
            <a:srgbClr val="FFFFFF"/>
          </a:solidFill>
          <a:ln w="13097">
            <a:solidFill>
              <a:srgbClr val="172B4D"/>
            </a:solidFill>
          </a:ln>
        </p:spPr>
      </p:sp>
      <p:sp>
        <p:nvSpPr>
          <p:cNvPr id="14" name="object-14">
            <a:extLst>
              <a:ext uri="{FF2B5EF4-FFF2-40B4-BE49-F238E27FC236}">
                <a16:creationId xmlns:a16="http://schemas.microsoft.com/office/drawing/2014/main" id="{F08216D6-562B-4172-87AC-4E8D68C25770}"/>
              </a:ext>
            </a:extLst>
          </p:cNvPr>
          <p:cNvSpPr>
            <a:spLocks noGrp="1"/>
          </p:cNvSpPr>
          <p:nvPr/>
        </p:nvSpPr>
        <p:spPr>
          <a:xfrm>
            <a:off x="1547813"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1</a:t>
            </a:r>
          </a:p>
        </p:txBody>
      </p:sp>
      <p:sp>
        <p:nvSpPr>
          <p:cNvPr id="15" name="object-15">
            <a:extLst>
              <a:ext uri="{FF2B5EF4-FFF2-40B4-BE49-F238E27FC236}">
                <a16:creationId xmlns:a16="http://schemas.microsoft.com/office/drawing/2014/main" id="{56AF9AE4-02BC-494B-9E13-17FE90A74BD7}"/>
              </a:ext>
            </a:extLst>
          </p:cNvPr>
          <p:cNvSpPr>
            <a:spLocks noGrp="1"/>
          </p:cNvSpPr>
          <p:nvPr/>
        </p:nvSpPr>
        <p:spPr>
          <a:xfrm>
            <a:off x="3786188"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2</a:t>
            </a:r>
          </a:p>
        </p:txBody>
      </p:sp>
      <p:sp>
        <p:nvSpPr>
          <p:cNvPr id="16" name="object-16">
            <a:extLst>
              <a:ext uri="{FF2B5EF4-FFF2-40B4-BE49-F238E27FC236}">
                <a16:creationId xmlns:a16="http://schemas.microsoft.com/office/drawing/2014/main" id="{8D282811-37D3-4E91-80C0-20B42DE94C1B}"/>
              </a:ext>
            </a:extLst>
          </p:cNvPr>
          <p:cNvSpPr>
            <a:spLocks noGrp="1"/>
          </p:cNvSpPr>
          <p:nvPr/>
        </p:nvSpPr>
        <p:spPr>
          <a:xfrm>
            <a:off x="6024563"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3</a:t>
            </a:r>
          </a:p>
        </p:txBody>
      </p:sp>
      <p:sp>
        <p:nvSpPr>
          <p:cNvPr id="17" name="object-17">
            <a:extLst>
              <a:ext uri="{FF2B5EF4-FFF2-40B4-BE49-F238E27FC236}">
                <a16:creationId xmlns:a16="http://schemas.microsoft.com/office/drawing/2014/main" id="{5A114DB8-9112-4F07-9EE5-F01FA39FC2A3}"/>
              </a:ext>
            </a:extLst>
          </p:cNvPr>
          <p:cNvSpPr>
            <a:spLocks noGrp="1"/>
          </p:cNvSpPr>
          <p:nvPr/>
        </p:nvSpPr>
        <p:spPr>
          <a:xfrm>
            <a:off x="8262938"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4</a:t>
            </a:r>
          </a:p>
        </p:txBody>
      </p:sp>
      <p:sp>
        <p:nvSpPr>
          <p:cNvPr id="18" name="object-18">
            <a:extLst>
              <a:ext uri="{FF2B5EF4-FFF2-40B4-BE49-F238E27FC236}">
                <a16:creationId xmlns:a16="http://schemas.microsoft.com/office/drawing/2014/main" id="{870C1818-BC86-4FCC-BC48-E447C7889662}"/>
              </a:ext>
            </a:extLst>
          </p:cNvPr>
          <p:cNvSpPr>
            <a:spLocks noGrp="1"/>
          </p:cNvSpPr>
          <p:nvPr/>
        </p:nvSpPr>
        <p:spPr>
          <a:xfrm>
            <a:off x="892969" y="7143750"/>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6/8 = 3/4</a:t>
            </a:r>
          </a:p>
        </p:txBody>
      </p:sp>
    </p:spTree>
    <p:extLst>
      <p:ext uri="{BB962C8B-B14F-4D97-AF65-F5344CB8AC3E}">
        <p14:creationId xmlns:p14="http://schemas.microsoft.com/office/powerpoint/2010/main" val="520815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 0.24305556 E" pathEditMode="relative" ptsTypes="">
                                      <p:cBhvr>
                                        <p:cTn id="6" dur="800" fill="hold"/>
                                        <p:tgtEl>
                                          <p:spTgt spid="6"/>
                                        </p:tgtEl>
                                        <p:attrNameLst>
                                          <p:attrName>ppt_x</p:attrName>
                                          <p:attrName>ppt_y</p:attrName>
                                        </p:attrNameLst>
                                      </p:cBhvr>
                                    </p:animMotion>
                                  </p:childTnLst>
                                </p:cTn>
                              </p:par>
                              <p:par>
                                <p:cTn id="7" presetID="63" presetClass="path" presetSubtype="0" accel="50000" decel="50000" fill="hold" nodeType="withEffect">
                                  <p:stCondLst>
                                    <p:cond delay="0"/>
                                  </p:stCondLst>
                                  <p:childTnLst>
                                    <p:animMotion origin="layout" path="M 0 0 L 0 0.24305556 E" pathEditMode="relative" ptsTypes="">
                                      <p:cBhvr>
                                        <p:cTn id="8" dur="800" fill="hold"/>
                                        <p:tgtEl>
                                          <p:spTgt spid="7"/>
                                        </p:tgtEl>
                                        <p:attrNameLst>
                                          <p:attrName>ppt_x</p:attrName>
                                          <p:attrName>ppt_y</p:attrName>
                                        </p:attrNameLst>
                                      </p:cBhvr>
                                    </p:animMotion>
                                  </p:childTnLst>
                                </p:cTn>
                              </p:par>
                            </p:childTnLst>
                          </p:cTn>
                        </p:par>
                        <p:par>
                          <p:cTn id="9" fill="hold">
                            <p:stCondLst>
                              <p:cond delay="800"/>
                            </p:stCondLst>
                            <p:childTnLst>
                              <p:par>
                                <p:cTn id="10" presetID="1" presetClass="entr" presetSubtype="0" fill="hold" grpId="0" nodeType="after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63" presetClass="path" presetSubtype="0" accel="50000" decel="50000" fill="hold" nodeType="clickEffect">
                                  <p:stCondLst>
                                    <p:cond delay="0"/>
                                  </p:stCondLst>
                                  <p:childTnLst>
                                    <p:animMotion origin="layout" path="M 0 0 L 0.00625 0.24305556 E" pathEditMode="relative" ptsTypes="">
                                      <p:cBhvr>
                                        <p:cTn id="15" dur="800" fill="hold"/>
                                        <p:tgtEl>
                                          <p:spTgt spid="8"/>
                                        </p:tgtEl>
                                        <p:attrNameLst>
                                          <p:attrName>ppt_x</p:attrName>
                                          <p:attrName>ppt_y</p:attrName>
                                        </p:attrNameLst>
                                      </p:cBhvr>
                                    </p:animMotion>
                                  </p:childTnLst>
                                </p:cTn>
                              </p:par>
                              <p:par>
                                <p:cTn id="16" presetID="63" presetClass="path" presetSubtype="0" accel="50000" decel="50000" fill="hold" nodeType="withEffect">
                                  <p:stCondLst>
                                    <p:cond delay="0"/>
                                  </p:stCondLst>
                                  <p:childTnLst>
                                    <p:animMotion origin="layout" path="M 0 0 L 0.00625 0.24305556 E" pathEditMode="relative" ptsTypes="">
                                      <p:cBhvr>
                                        <p:cTn id="17" dur="800" fill="hold"/>
                                        <p:tgtEl>
                                          <p:spTgt spid="9"/>
                                        </p:tgtEl>
                                        <p:attrNameLst>
                                          <p:attrName>ppt_x</p:attrName>
                                          <p:attrName>ppt_y</p:attrName>
                                        </p:attrNameLst>
                                      </p:cBhvr>
                                    </p:animMotion>
                                  </p:childTnLst>
                                </p:cTn>
                              </p:par>
                            </p:childTnLst>
                          </p:cTn>
                        </p:par>
                        <p:par>
                          <p:cTn id="18" fill="hold">
                            <p:stCondLst>
                              <p:cond delay="800"/>
                            </p:stCondLst>
                            <p:childTnLst>
                              <p:par>
                                <p:cTn id="19" presetID="1" presetClass="entr" presetSubtype="0" fill="hold" grpId="0" nodeType="after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63" presetClass="path" presetSubtype="0" accel="50000" decel="50000" fill="hold" nodeType="clickEffect">
                                  <p:stCondLst>
                                    <p:cond delay="0"/>
                                  </p:stCondLst>
                                  <p:childTnLst>
                                    <p:animMotion origin="layout" path="M 0 0 L 0.0125 0.24305556 E" pathEditMode="relative" ptsTypes="">
                                      <p:cBhvr>
                                        <p:cTn id="24" dur="800" fill="hold"/>
                                        <p:tgtEl>
                                          <p:spTgt spid="10"/>
                                        </p:tgtEl>
                                        <p:attrNameLst>
                                          <p:attrName>ppt_x</p:attrName>
                                          <p:attrName>ppt_y</p:attrName>
                                        </p:attrNameLst>
                                      </p:cBhvr>
                                    </p:animMotion>
                                  </p:childTnLst>
                                </p:cTn>
                              </p:par>
                              <p:par>
                                <p:cTn id="25" presetID="63" presetClass="path" presetSubtype="0" accel="50000" decel="50000" fill="hold" nodeType="withEffect">
                                  <p:stCondLst>
                                    <p:cond delay="0"/>
                                  </p:stCondLst>
                                  <p:childTnLst>
                                    <p:animMotion origin="layout" path="M 0 0 L 0.0125 0.24305556 E" pathEditMode="relative" ptsTypes="">
                                      <p:cBhvr>
                                        <p:cTn id="26" dur="800" fill="hold"/>
                                        <p:tgtEl>
                                          <p:spTgt spid="11"/>
                                        </p:tgtEl>
                                        <p:attrNameLst>
                                          <p:attrName>ppt_x</p:attrName>
                                          <p:attrName>ppt_y</p:attrName>
                                        </p:attrNameLst>
                                      </p:cBhvr>
                                    </p:animMotion>
                                  </p:childTnLst>
                                </p:cTn>
                              </p:par>
                            </p:childTnLst>
                          </p:cTn>
                        </p:par>
                        <p:par>
                          <p:cTn id="27" fill="hold">
                            <p:stCondLst>
                              <p:cond delay="800"/>
                            </p:stCondLst>
                            <p:childTnLst>
                              <p:par>
                                <p:cTn id="28" presetID="1" presetClass="entr" presetSubtype="0" fill="hold" grpId="0" nodeType="afterEffect">
                                  <p:stCondLst>
                                    <p:cond delay="0"/>
                                  </p:stCondLst>
                                  <p:childTnLst>
                                    <p:set>
                                      <p:cBhvr>
                                        <p:cTn id="29" dur="1" fill="hold">
                                          <p:stCondLst>
                                            <p:cond delay="0"/>
                                          </p:stCondLst>
                                        </p:cTn>
                                        <p:tgtEl>
                                          <p:spTgt spid="16"/>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63" presetClass="path" presetSubtype="0" accel="50000" decel="50000" fill="hold" nodeType="clickEffect">
                                  <p:stCondLst>
                                    <p:cond delay="0"/>
                                  </p:stCondLst>
                                  <p:childTnLst>
                                    <p:animMotion origin="layout" path="M 0 0 L 0.01875 0.24305556 E" pathEditMode="relative" ptsTypes="">
                                      <p:cBhvr>
                                        <p:cTn id="33" dur="800" fill="hold"/>
                                        <p:tgtEl>
                                          <p:spTgt spid="12"/>
                                        </p:tgtEl>
                                        <p:attrNameLst>
                                          <p:attrName>ppt_x</p:attrName>
                                          <p:attrName>ppt_y</p:attrName>
                                        </p:attrNameLst>
                                      </p:cBhvr>
                                    </p:animMotion>
                                  </p:childTnLst>
                                </p:cTn>
                              </p:par>
                              <p:par>
                                <p:cTn id="34" presetID="63" presetClass="path" presetSubtype="0" accel="50000" decel="50000" fill="hold" nodeType="withEffect">
                                  <p:stCondLst>
                                    <p:cond delay="0"/>
                                  </p:stCondLst>
                                  <p:childTnLst>
                                    <p:animMotion origin="layout" path="M 0 0 L 0.01875 0.24305556 E" pathEditMode="relative" ptsTypes="">
                                      <p:cBhvr>
                                        <p:cTn id="35" dur="800" fill="hold"/>
                                        <p:tgtEl>
                                          <p:spTgt spid="13"/>
                                        </p:tgtEl>
                                        <p:attrNameLst>
                                          <p:attrName>ppt_x</p:attrName>
                                          <p:attrName>ppt_y</p:attrName>
                                        </p:attrNameLst>
                                      </p:cBhvr>
                                    </p:animMotion>
                                  </p:childTnLst>
                                </p:cTn>
                              </p:par>
                            </p:childTnLst>
                          </p:cTn>
                        </p:par>
                        <p:par>
                          <p:cTn id="36" fill="hold">
                            <p:stCondLst>
                              <p:cond delay="800"/>
                            </p:stCondLst>
                            <p:childTnLst>
                              <p:par>
                                <p:cTn id="37" presetID="1" presetClass="entr" presetSubtype="0" fill="hold" grpId="0" nodeType="after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P spid="18"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object-1">
            <a:extLst>
              <a:ext uri="{FF2B5EF4-FFF2-40B4-BE49-F238E27FC236}">
                <a16:creationId xmlns:a16="http://schemas.microsoft.com/office/drawing/2014/main" id="{5DEC21A4-A6F1-40B1-B379-0126F17FA81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364B778E-869F-49A7-B45D-F33C9E36CA1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Simplify 18/24.</a:t>
            </a:r>
          </a:p>
        </p:txBody>
      </p:sp>
      <p:sp>
        <p:nvSpPr>
          <p:cNvPr id="3" name="object-3">
            <a:extLst>
              <a:ext uri="{FF2B5EF4-FFF2-40B4-BE49-F238E27FC236}">
                <a16:creationId xmlns:a16="http://schemas.microsoft.com/office/drawing/2014/main" id="{42AC7450-B13B-47B4-A94C-B71FBC66E52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248E1023-2F7A-41F6-A26B-1DA3BE0048B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5" name="object-5">
            <a:extLst>
              <a:ext uri="{FF2B5EF4-FFF2-40B4-BE49-F238E27FC236}">
                <a16:creationId xmlns:a16="http://schemas.microsoft.com/office/drawing/2014/main" id="{74E10658-C68D-4C58-8E20-0ABC276E269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76B26EE6-4558-4821-A73E-7207E04D557E}"/>
              </a:ext>
            </a:extLst>
          </p:cNvPr>
          <p:cNvSpPr>
            <a:spLocks noGrp="1"/>
          </p:cNvSpPr>
          <p:nvPr/>
        </p:nvSpPr>
        <p:spPr>
          <a:xfrm>
            <a:off x="1905000" y="35718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18</a:t>
            </a:r>
          </a:p>
        </p:txBody>
      </p:sp>
      <p:sp>
        <p:nvSpPr>
          <p:cNvPr id="7" name="object-7">
            <a:extLst>
              <a:ext uri="{FF2B5EF4-FFF2-40B4-BE49-F238E27FC236}">
                <a16:creationId xmlns:a16="http://schemas.microsoft.com/office/drawing/2014/main" id="{5A22C86E-05CA-4F69-89BB-215BBA67E715}"/>
              </a:ext>
            </a:extLst>
          </p:cNvPr>
          <p:cNvSpPr>
            <a:spLocks noGrp="1"/>
          </p:cNvSpPr>
          <p:nvPr/>
        </p:nvSpPr>
        <p:spPr>
          <a:xfrm>
            <a:off x="1905000" y="4429125"/>
            <a:ext cx="1785938" cy="35719"/>
          </a:xfrm>
          <a:prstGeom prst="rect">
            <a:avLst/>
          </a:prstGeom>
          <a:solidFill>
            <a:srgbClr val="1D4ED8"/>
          </a:solidFill>
          <a:ln w="0">
            <a:noFill/>
          </a:ln>
        </p:spPr>
      </p:sp>
      <p:sp>
        <p:nvSpPr>
          <p:cNvPr id="8" name="object-8">
            <a:extLst>
              <a:ext uri="{FF2B5EF4-FFF2-40B4-BE49-F238E27FC236}">
                <a16:creationId xmlns:a16="http://schemas.microsoft.com/office/drawing/2014/main" id="{4F788D81-E336-419D-BB25-5F36D6BDC552}"/>
              </a:ext>
            </a:extLst>
          </p:cNvPr>
          <p:cNvSpPr>
            <a:spLocks noGrp="1"/>
          </p:cNvSpPr>
          <p:nvPr/>
        </p:nvSpPr>
        <p:spPr>
          <a:xfrm>
            <a:off x="1905000" y="45243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24</a:t>
            </a:r>
          </a:p>
        </p:txBody>
      </p:sp>
      <p:sp>
        <p:nvSpPr>
          <p:cNvPr id="9" name="object-9">
            <a:extLst>
              <a:ext uri="{FF2B5EF4-FFF2-40B4-BE49-F238E27FC236}">
                <a16:creationId xmlns:a16="http://schemas.microsoft.com/office/drawing/2014/main" id="{ED06FA76-B72E-45BC-BBA9-431C85CFF65A}"/>
              </a:ext>
            </a:extLst>
          </p:cNvPr>
          <p:cNvSpPr>
            <a:spLocks noGrp="1"/>
          </p:cNvSpPr>
          <p:nvPr/>
        </p:nvSpPr>
        <p:spPr>
          <a:xfrm>
            <a:off x="3690938" y="4429125"/>
            <a:ext cx="3571875" cy="35719"/>
          </a:xfrm>
          <a:prstGeom prst="rect">
            <a:avLst/>
          </a:prstGeom>
          <a:solidFill>
            <a:srgbClr val="1D4ED8"/>
          </a:solidFill>
          <a:ln w="0">
            <a:noFill/>
          </a:ln>
        </p:spPr>
      </p:sp>
      <p:sp>
        <p:nvSpPr>
          <p:cNvPr id="10" name="object-10">
            <a:extLst>
              <a:ext uri="{FF2B5EF4-FFF2-40B4-BE49-F238E27FC236}">
                <a16:creationId xmlns:a16="http://schemas.microsoft.com/office/drawing/2014/main" id="{831A9FC3-FCCE-43C0-98D0-6652E93FBE45}"/>
              </a:ext>
            </a:extLst>
          </p:cNvPr>
          <p:cNvSpPr>
            <a:spLocks noGrp="1"/>
          </p:cNvSpPr>
          <p:nvPr/>
        </p:nvSpPr>
        <p:spPr>
          <a:xfrm>
            <a:off x="8572500" y="3976688"/>
            <a:ext cx="1012031" cy="952500"/>
          </a:xfrm>
          <a:prstGeom prst="rect">
            <a:avLst/>
          </a:prstGeom>
          <a:noFill/>
          <a:ln w="0">
            <a:noFill/>
          </a:ln>
        </p:spPr>
        <p:txBody>
          <a:bodyPr anchor="ctr">
            <a:noAutofit/>
          </a:bodyPr>
          <a:lstStyle/>
          <a:p>
            <a:pPr algn="l">
              <a:defRPr sz="5344" b="0">
                <a:solidFill>
                  <a:srgbClr val="172B4D"/>
                </a:solidFill>
                <a:latin typeface="Arial"/>
                <a:ea typeface="Arial"/>
                <a:cs typeface="Arial"/>
              </a:defRPr>
            </a:pPr>
            <a:r>
              <a:rPr sz="5344" b="0">
                <a:solidFill>
                  <a:srgbClr val="172B4D"/>
                </a:solidFill>
                <a:latin typeface="Arial"/>
                <a:ea typeface="Arial"/>
                <a:cs typeface="Arial"/>
              </a:rPr>
              <a:t>=</a:t>
            </a:r>
          </a:p>
        </p:txBody>
      </p:sp>
      <p:sp>
        <p:nvSpPr>
          <p:cNvPr id="11" name="object-11">
            <a:extLst>
              <a:ext uri="{FF2B5EF4-FFF2-40B4-BE49-F238E27FC236}">
                <a16:creationId xmlns:a16="http://schemas.microsoft.com/office/drawing/2014/main" id="{30D543F4-81BD-47AC-A7EE-1F608C84B6B1}"/>
              </a:ext>
            </a:extLst>
          </p:cNvPr>
          <p:cNvSpPr>
            <a:spLocks noGrp="1"/>
          </p:cNvSpPr>
          <p:nvPr/>
        </p:nvSpPr>
        <p:spPr>
          <a:xfrm>
            <a:off x="10834688" y="4429125"/>
            <a:ext cx="1666875" cy="35719"/>
          </a:xfrm>
          <a:prstGeom prst="rect">
            <a:avLst/>
          </a:prstGeom>
          <a:solidFill>
            <a:srgbClr val="11745A"/>
          </a:solidFill>
          <a:ln w="0">
            <a:noFill/>
          </a:ln>
        </p:spPr>
      </p:sp>
      <p:sp>
        <p:nvSpPr>
          <p:cNvPr id="12" name="object-12">
            <a:extLst>
              <a:ext uri="{FF2B5EF4-FFF2-40B4-BE49-F238E27FC236}">
                <a16:creationId xmlns:a16="http://schemas.microsoft.com/office/drawing/2014/main" id="{E5583B92-0586-4159-8130-893394108A8B}"/>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6</a:t>
            </a:r>
          </a:p>
        </p:txBody>
      </p:sp>
      <p:sp>
        <p:nvSpPr>
          <p:cNvPr id="13" name="object-13">
            <a:extLst>
              <a:ext uri="{FF2B5EF4-FFF2-40B4-BE49-F238E27FC236}">
                <a16:creationId xmlns:a16="http://schemas.microsoft.com/office/drawing/2014/main" id="{B9203FBC-5FDF-41C1-BABA-7B3BB12C8E75}"/>
              </a:ext>
            </a:extLst>
          </p:cNvPr>
          <p:cNvSpPr>
            <a:spLocks noGrp="1"/>
          </p:cNvSpPr>
          <p:nvPr/>
        </p:nvSpPr>
        <p:spPr>
          <a:xfrm>
            <a:off x="8036719" y="2738438"/>
            <a:ext cx="4167188" cy="547688"/>
          </a:xfrm>
          <a:prstGeom prst="rect">
            <a:avLst/>
          </a:prstGeom>
          <a:noFill/>
          <a:ln w="0">
            <a:noFill/>
          </a:ln>
        </p:spPr>
        <p:txBody>
          <a:bodyPr anchor="ctr">
            <a:noAutofit/>
          </a:bodyPr>
          <a:lstStyle/>
          <a:p>
            <a:pPr algn="l">
              <a:defRPr sz="2344" b="0">
                <a:solidFill>
                  <a:srgbClr val="9A5800"/>
                </a:solidFill>
                <a:latin typeface="Arial"/>
                <a:ea typeface="Arial"/>
                <a:cs typeface="Arial"/>
              </a:defRPr>
            </a:pPr>
            <a:r>
              <a:rPr sz="2344" b="0">
                <a:solidFill>
                  <a:srgbClr val="9A5800"/>
                </a:solidFill>
                <a:latin typeface="Arial"/>
                <a:ea typeface="Arial"/>
                <a:cs typeface="Arial"/>
              </a:rPr>
              <a:t>common factor</a:t>
            </a:r>
          </a:p>
        </p:txBody>
      </p:sp>
      <p:sp>
        <p:nvSpPr>
          <p:cNvPr id="14" name="object-14">
            <a:extLst>
              <a:ext uri="{FF2B5EF4-FFF2-40B4-BE49-F238E27FC236}">
                <a16:creationId xmlns:a16="http://schemas.microsoft.com/office/drawing/2014/main" id="{C3471C27-3DC1-4878-A072-E655DB2852F2}"/>
              </a:ext>
            </a:extLst>
          </p:cNvPr>
          <p:cNvSpPr>
            <a:spLocks noGrp="1"/>
          </p:cNvSpPr>
          <p:nvPr/>
        </p:nvSpPr>
        <p:spPr>
          <a:xfrm>
            <a:off x="4345781" y="35718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5" name="object-15">
            <a:extLst>
              <a:ext uri="{FF2B5EF4-FFF2-40B4-BE49-F238E27FC236}">
                <a16:creationId xmlns:a16="http://schemas.microsoft.com/office/drawing/2014/main" id="{EA732D1B-2ACB-4944-B964-C2FCA7AC7CA7}"/>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6</a:t>
            </a:r>
          </a:p>
        </p:txBody>
      </p:sp>
      <p:sp>
        <p:nvSpPr>
          <p:cNvPr id="16" name="object-16">
            <a:extLst>
              <a:ext uri="{FF2B5EF4-FFF2-40B4-BE49-F238E27FC236}">
                <a16:creationId xmlns:a16="http://schemas.microsoft.com/office/drawing/2014/main" id="{BAAACA9D-B786-43F5-B008-2A61FC01482C}"/>
              </a:ext>
            </a:extLst>
          </p:cNvPr>
          <p:cNvSpPr>
            <a:spLocks noGrp="1"/>
          </p:cNvSpPr>
          <p:nvPr/>
        </p:nvSpPr>
        <p:spPr>
          <a:xfrm>
            <a:off x="7739063" y="35718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3</a:t>
            </a:r>
          </a:p>
        </p:txBody>
      </p:sp>
      <p:sp>
        <p:nvSpPr>
          <p:cNvPr id="17" name="object-17">
            <a:extLst>
              <a:ext uri="{FF2B5EF4-FFF2-40B4-BE49-F238E27FC236}">
                <a16:creationId xmlns:a16="http://schemas.microsoft.com/office/drawing/2014/main" id="{C152EDC1-9A08-4657-9267-EA7D4C2D2FEF}"/>
              </a:ext>
            </a:extLst>
          </p:cNvPr>
          <p:cNvSpPr>
            <a:spLocks noGrp="1"/>
          </p:cNvSpPr>
          <p:nvPr/>
        </p:nvSpPr>
        <p:spPr>
          <a:xfrm>
            <a:off x="4345781" y="45243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8" name="object-18">
            <a:extLst>
              <a:ext uri="{FF2B5EF4-FFF2-40B4-BE49-F238E27FC236}">
                <a16:creationId xmlns:a16="http://schemas.microsoft.com/office/drawing/2014/main" id="{A54CCB88-46A4-41B2-B911-ECDBBA1C7CA0}"/>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6</a:t>
            </a:r>
          </a:p>
        </p:txBody>
      </p:sp>
      <p:sp>
        <p:nvSpPr>
          <p:cNvPr id="19" name="object-19">
            <a:extLst>
              <a:ext uri="{FF2B5EF4-FFF2-40B4-BE49-F238E27FC236}">
                <a16:creationId xmlns:a16="http://schemas.microsoft.com/office/drawing/2014/main" id="{6F21B770-9CC8-494E-945F-3A35621D7387}"/>
              </a:ext>
            </a:extLst>
          </p:cNvPr>
          <p:cNvSpPr>
            <a:spLocks noGrp="1"/>
          </p:cNvSpPr>
          <p:nvPr/>
        </p:nvSpPr>
        <p:spPr>
          <a:xfrm>
            <a:off x="7739063" y="45243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4</a:t>
            </a:r>
          </a:p>
        </p:txBody>
      </p:sp>
      <p:sp>
        <p:nvSpPr>
          <p:cNvPr id="20" name="object-20">
            <a:extLst>
              <a:ext uri="{FF2B5EF4-FFF2-40B4-BE49-F238E27FC236}">
                <a16:creationId xmlns:a16="http://schemas.microsoft.com/office/drawing/2014/main" id="{78829A13-25CC-4522-A8D9-CBF7E96359A0}"/>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 and 4 share no common factor greater than 1.</a:t>
            </a:r>
          </a:p>
        </p:txBody>
      </p:sp>
    </p:spTree>
    <p:extLst>
      <p:ext uri="{BB962C8B-B14F-4D97-AF65-F5344CB8AC3E}">
        <p14:creationId xmlns:p14="http://schemas.microsoft.com/office/powerpoint/2010/main" val="1067509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par>
                          <p:cTn id="9" fill="hold">
                            <p:stCondLst>
                              <p:cond delay="0"/>
                            </p:stCondLst>
                            <p:childTnLst>
                              <p:par>
                                <p:cTn id="10" presetID="63" presetClass="path" presetSubtype="0" accel="50000" decel="50000" fill="hold" grpId="1" nodeType="afterEffect">
                                  <p:stCondLst>
                                    <p:cond delay="0"/>
                                  </p:stCondLst>
                                  <p:childTnLst>
                                    <p:animMotion origin="layout" path="M 0 0 L -0.0390625 0.11388889 E" pathEditMode="relative" ptsTypes="">
                                      <p:cBhvr>
                                        <p:cTn id="11" dur="800" fill="hold"/>
                                        <p:tgtEl>
                                          <p:spTgt spid="15"/>
                                        </p:tgtEl>
                                        <p:attrNameLst>
                                          <p:attrName>ppt_x</p:attrName>
                                          <p:attrName>ppt_y</p:attrName>
                                        </p:attrNameLst>
                                      </p:cBhvr>
                                    </p:animMotion>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63" presetClass="path" presetSubtype="0" accel="50000" decel="50000" fill="hold" grpId="1" nodeType="afterEffect">
                                  <p:stCondLst>
                                    <p:cond delay="0"/>
                                  </p:stCondLst>
                                  <p:childTnLst>
                                    <p:animMotion origin="layout" path="M 0 0 L 0.20703125 0 E" pathEditMode="relative" ptsTypes="">
                                      <p:cBhvr>
                                        <p:cTn id="18" dur="800" fill="hold"/>
                                        <p:tgtEl>
                                          <p:spTgt spid="16"/>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par>
                          <p:cTn id="25" fill="hold">
                            <p:stCondLst>
                              <p:cond delay="0"/>
                            </p:stCondLst>
                            <p:childTnLst>
                              <p:par>
                                <p:cTn id="26" presetID="63" presetClass="path" presetSubtype="0" accel="50000" decel="50000" fill="hold" grpId="1" nodeType="afterEffect">
                                  <p:stCondLst>
                                    <p:cond delay="0"/>
                                  </p:stCondLst>
                                  <p:childTnLst>
                                    <p:animMotion origin="layout" path="M 0 0 L -0.0390625 0.225 E" pathEditMode="relative" ptsTypes="">
                                      <p:cBhvr>
                                        <p:cTn id="27" dur="800" fill="hold"/>
                                        <p:tgtEl>
                                          <p:spTgt spid="18"/>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0703125 0 E" pathEditMode="relative" ptsTypes="">
                                      <p:cBhvr>
                                        <p:cTn id="34" dur="800" fill="hold"/>
                                        <p:tgtEl>
                                          <p:spTgt spid="19"/>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5" grpId="1"/>
      <p:bldP spid="16" grpId="0"/>
      <p:bldP spid="16" grpId="1"/>
      <p:bldP spid="17" grpId="0"/>
      <p:bldP spid="18" grpId="0"/>
      <p:bldP spid="18" grpId="1"/>
      <p:bldP spid="19" grpId="0"/>
      <p:bldP spid="19" grpId="1"/>
      <p:bldP spid="20"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object-1">
            <a:extLst>
              <a:ext uri="{FF2B5EF4-FFF2-40B4-BE49-F238E27FC236}">
                <a16:creationId xmlns:a16="http://schemas.microsoft.com/office/drawing/2014/main" id="{C6574F02-D9B2-4852-8177-742ECD61ACA1}"/>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A72043D2-062A-4558-BB3E-556EB11AA0CE}"/>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D294D31D-ECB8-4BDA-8490-284696E1700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Group the pieces: 6/8 = ?</a:t>
            </a:r>
          </a:p>
        </p:txBody>
      </p:sp>
      <p:sp>
        <p:nvSpPr>
          <p:cNvPr id="4" name="object-4">
            <a:extLst>
              <a:ext uri="{FF2B5EF4-FFF2-40B4-BE49-F238E27FC236}">
                <a16:creationId xmlns:a16="http://schemas.microsoft.com/office/drawing/2014/main" id="{8F5DA47E-F082-4056-922F-C6AE8539D913}"/>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FF18E45E-2EAB-48A5-BD0C-BB55B082694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6" name="object-6">
            <a:extLst>
              <a:ext uri="{FF2B5EF4-FFF2-40B4-BE49-F238E27FC236}">
                <a16:creationId xmlns:a16="http://schemas.microsoft.com/office/drawing/2014/main" id="{D1E2BF0F-DD04-4746-BBDF-876EB2CF1DB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8</a:t>
            </a:r>
          </a:p>
        </p:txBody>
      </p:sp>
      <p:sp>
        <p:nvSpPr>
          <p:cNvPr id="7" name="object-7">
            <a:extLst>
              <a:ext uri="{FF2B5EF4-FFF2-40B4-BE49-F238E27FC236}">
                <a16:creationId xmlns:a16="http://schemas.microsoft.com/office/drawing/2014/main" id="{51A6ACF4-02D6-457C-BC9B-773FF74BB569}"/>
              </a:ext>
            </a:extLst>
          </p:cNvPr>
          <p:cNvSpPr>
            <a:spLocks noGrp="1"/>
          </p:cNvSpPr>
          <p:nvPr/>
        </p:nvSpPr>
        <p:spPr>
          <a:xfrm>
            <a:off x="1547813" y="3155156"/>
            <a:ext cx="1071563" cy="773906"/>
          </a:xfrm>
          <a:prstGeom prst="rect">
            <a:avLst/>
          </a:prstGeom>
          <a:solidFill>
            <a:srgbClr val="1D4ED8"/>
          </a:solidFill>
          <a:ln w="13097">
            <a:solidFill>
              <a:srgbClr val="172B4D"/>
            </a:solidFill>
          </a:ln>
        </p:spPr>
      </p:sp>
      <p:sp>
        <p:nvSpPr>
          <p:cNvPr id="8" name="object-8">
            <a:extLst>
              <a:ext uri="{FF2B5EF4-FFF2-40B4-BE49-F238E27FC236}">
                <a16:creationId xmlns:a16="http://schemas.microsoft.com/office/drawing/2014/main" id="{3F69CFAC-1931-4FBA-8DCC-3F5CD1BC466C}"/>
              </a:ext>
            </a:extLst>
          </p:cNvPr>
          <p:cNvSpPr>
            <a:spLocks noGrp="1"/>
          </p:cNvSpPr>
          <p:nvPr/>
        </p:nvSpPr>
        <p:spPr>
          <a:xfrm>
            <a:off x="2619375" y="3155156"/>
            <a:ext cx="1071563" cy="773906"/>
          </a:xfrm>
          <a:prstGeom prst="rect">
            <a:avLst/>
          </a:prstGeom>
          <a:solidFill>
            <a:srgbClr val="1D4ED8"/>
          </a:solidFill>
          <a:ln w="13097">
            <a:solidFill>
              <a:srgbClr val="172B4D"/>
            </a:solidFill>
          </a:ln>
        </p:spPr>
      </p:sp>
      <p:sp>
        <p:nvSpPr>
          <p:cNvPr id="9" name="object-9">
            <a:extLst>
              <a:ext uri="{FF2B5EF4-FFF2-40B4-BE49-F238E27FC236}">
                <a16:creationId xmlns:a16="http://schemas.microsoft.com/office/drawing/2014/main" id="{AAC44A25-7621-4656-B25D-AF90D464BF18}"/>
              </a:ext>
            </a:extLst>
          </p:cNvPr>
          <p:cNvSpPr>
            <a:spLocks noGrp="1"/>
          </p:cNvSpPr>
          <p:nvPr/>
        </p:nvSpPr>
        <p:spPr>
          <a:xfrm>
            <a:off x="3690938" y="3155156"/>
            <a:ext cx="1071563" cy="773906"/>
          </a:xfrm>
          <a:prstGeom prst="rect">
            <a:avLst/>
          </a:prstGeom>
          <a:solidFill>
            <a:srgbClr val="1D4ED8"/>
          </a:solidFill>
          <a:ln w="13097">
            <a:solidFill>
              <a:srgbClr val="172B4D"/>
            </a:solidFill>
          </a:ln>
        </p:spPr>
      </p:sp>
      <p:sp>
        <p:nvSpPr>
          <p:cNvPr id="10" name="object-10">
            <a:extLst>
              <a:ext uri="{FF2B5EF4-FFF2-40B4-BE49-F238E27FC236}">
                <a16:creationId xmlns:a16="http://schemas.microsoft.com/office/drawing/2014/main" id="{43E7B518-DB0E-4126-8E75-9D4796600113}"/>
              </a:ext>
            </a:extLst>
          </p:cNvPr>
          <p:cNvSpPr>
            <a:spLocks noGrp="1"/>
          </p:cNvSpPr>
          <p:nvPr/>
        </p:nvSpPr>
        <p:spPr>
          <a:xfrm>
            <a:off x="4762500" y="3155156"/>
            <a:ext cx="1071563" cy="773906"/>
          </a:xfrm>
          <a:prstGeom prst="rect">
            <a:avLst/>
          </a:prstGeom>
          <a:solidFill>
            <a:srgbClr val="1D4ED8"/>
          </a:solidFill>
          <a:ln w="13097">
            <a:solidFill>
              <a:srgbClr val="172B4D"/>
            </a:solidFill>
          </a:ln>
        </p:spPr>
      </p:sp>
      <p:sp>
        <p:nvSpPr>
          <p:cNvPr id="11" name="object-11">
            <a:extLst>
              <a:ext uri="{FF2B5EF4-FFF2-40B4-BE49-F238E27FC236}">
                <a16:creationId xmlns:a16="http://schemas.microsoft.com/office/drawing/2014/main" id="{BB374235-22D7-4C82-A1F3-1BDE79FA17B9}"/>
              </a:ext>
            </a:extLst>
          </p:cNvPr>
          <p:cNvSpPr>
            <a:spLocks noGrp="1"/>
          </p:cNvSpPr>
          <p:nvPr/>
        </p:nvSpPr>
        <p:spPr>
          <a:xfrm>
            <a:off x="5834063" y="3155156"/>
            <a:ext cx="1071563" cy="773906"/>
          </a:xfrm>
          <a:prstGeom prst="rect">
            <a:avLst/>
          </a:prstGeom>
          <a:solidFill>
            <a:srgbClr val="1D4ED8"/>
          </a:solidFill>
          <a:ln w="13097">
            <a:solidFill>
              <a:srgbClr val="172B4D"/>
            </a:solidFill>
          </a:ln>
        </p:spPr>
      </p:sp>
      <p:sp>
        <p:nvSpPr>
          <p:cNvPr id="12" name="object-12">
            <a:extLst>
              <a:ext uri="{FF2B5EF4-FFF2-40B4-BE49-F238E27FC236}">
                <a16:creationId xmlns:a16="http://schemas.microsoft.com/office/drawing/2014/main" id="{82B460CB-4020-4258-86A9-1A43D7E5A923}"/>
              </a:ext>
            </a:extLst>
          </p:cNvPr>
          <p:cNvSpPr>
            <a:spLocks noGrp="1"/>
          </p:cNvSpPr>
          <p:nvPr/>
        </p:nvSpPr>
        <p:spPr>
          <a:xfrm>
            <a:off x="6905625" y="3155156"/>
            <a:ext cx="1071563" cy="773906"/>
          </a:xfrm>
          <a:prstGeom prst="rect">
            <a:avLst/>
          </a:prstGeom>
          <a:solidFill>
            <a:srgbClr val="1D4ED8"/>
          </a:solidFill>
          <a:ln w="13097">
            <a:solidFill>
              <a:srgbClr val="172B4D"/>
            </a:solidFill>
          </a:ln>
        </p:spPr>
      </p:sp>
      <p:sp>
        <p:nvSpPr>
          <p:cNvPr id="13" name="object-13">
            <a:extLst>
              <a:ext uri="{FF2B5EF4-FFF2-40B4-BE49-F238E27FC236}">
                <a16:creationId xmlns:a16="http://schemas.microsoft.com/office/drawing/2014/main" id="{BB41782A-08B2-49D2-AFF2-56F524A7213B}"/>
              </a:ext>
            </a:extLst>
          </p:cNvPr>
          <p:cNvSpPr>
            <a:spLocks noGrp="1"/>
          </p:cNvSpPr>
          <p:nvPr/>
        </p:nvSpPr>
        <p:spPr>
          <a:xfrm>
            <a:off x="7977188" y="3155156"/>
            <a:ext cx="1071563" cy="773906"/>
          </a:xfrm>
          <a:prstGeom prst="rect">
            <a:avLst/>
          </a:prstGeom>
          <a:solidFill>
            <a:srgbClr val="FFFFFF"/>
          </a:solidFill>
          <a:ln w="13097">
            <a:solidFill>
              <a:srgbClr val="172B4D"/>
            </a:solidFill>
          </a:ln>
        </p:spPr>
      </p:sp>
      <p:sp>
        <p:nvSpPr>
          <p:cNvPr id="14" name="object-14">
            <a:extLst>
              <a:ext uri="{FF2B5EF4-FFF2-40B4-BE49-F238E27FC236}">
                <a16:creationId xmlns:a16="http://schemas.microsoft.com/office/drawing/2014/main" id="{10A54F48-8C29-4071-975C-EC9EBF433F20}"/>
              </a:ext>
            </a:extLst>
          </p:cNvPr>
          <p:cNvSpPr>
            <a:spLocks noGrp="1"/>
          </p:cNvSpPr>
          <p:nvPr/>
        </p:nvSpPr>
        <p:spPr>
          <a:xfrm>
            <a:off x="9048750" y="3155156"/>
            <a:ext cx="1071563" cy="773906"/>
          </a:xfrm>
          <a:prstGeom prst="rect">
            <a:avLst/>
          </a:prstGeom>
          <a:solidFill>
            <a:srgbClr val="FFFFFF"/>
          </a:solidFill>
          <a:ln w="13097">
            <a:solidFill>
              <a:srgbClr val="172B4D"/>
            </a:solidFill>
          </a:ln>
        </p:spPr>
      </p:sp>
      <p:sp>
        <p:nvSpPr>
          <p:cNvPr id="15" name="object-15">
            <a:extLst>
              <a:ext uri="{FF2B5EF4-FFF2-40B4-BE49-F238E27FC236}">
                <a16:creationId xmlns:a16="http://schemas.microsoft.com/office/drawing/2014/main" id="{19414B79-F946-4814-9BB2-A1AEEC4067F2}"/>
              </a:ext>
            </a:extLst>
          </p:cNvPr>
          <p:cNvSpPr>
            <a:spLocks noGrp="1"/>
          </p:cNvSpPr>
          <p:nvPr/>
        </p:nvSpPr>
        <p:spPr>
          <a:xfrm>
            <a:off x="1547813"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1</a:t>
            </a:r>
          </a:p>
        </p:txBody>
      </p:sp>
      <p:sp>
        <p:nvSpPr>
          <p:cNvPr id="16" name="object-16">
            <a:extLst>
              <a:ext uri="{FF2B5EF4-FFF2-40B4-BE49-F238E27FC236}">
                <a16:creationId xmlns:a16="http://schemas.microsoft.com/office/drawing/2014/main" id="{05F69D77-4195-41C0-834C-FC28C6C33992}"/>
              </a:ext>
            </a:extLst>
          </p:cNvPr>
          <p:cNvSpPr>
            <a:spLocks noGrp="1"/>
          </p:cNvSpPr>
          <p:nvPr/>
        </p:nvSpPr>
        <p:spPr>
          <a:xfrm>
            <a:off x="3786188"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2</a:t>
            </a:r>
          </a:p>
        </p:txBody>
      </p:sp>
      <p:sp>
        <p:nvSpPr>
          <p:cNvPr id="17" name="object-17">
            <a:extLst>
              <a:ext uri="{FF2B5EF4-FFF2-40B4-BE49-F238E27FC236}">
                <a16:creationId xmlns:a16="http://schemas.microsoft.com/office/drawing/2014/main" id="{678A7A5C-7AEB-4B1B-81F8-37A1BB8E52C3}"/>
              </a:ext>
            </a:extLst>
          </p:cNvPr>
          <p:cNvSpPr>
            <a:spLocks noGrp="1"/>
          </p:cNvSpPr>
          <p:nvPr/>
        </p:nvSpPr>
        <p:spPr>
          <a:xfrm>
            <a:off x="6024563"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3</a:t>
            </a:r>
          </a:p>
        </p:txBody>
      </p:sp>
      <p:sp>
        <p:nvSpPr>
          <p:cNvPr id="18" name="object-18">
            <a:extLst>
              <a:ext uri="{FF2B5EF4-FFF2-40B4-BE49-F238E27FC236}">
                <a16:creationId xmlns:a16="http://schemas.microsoft.com/office/drawing/2014/main" id="{4DB60F44-9DDD-4F56-BA41-BD286941889E}"/>
              </a:ext>
            </a:extLst>
          </p:cNvPr>
          <p:cNvSpPr>
            <a:spLocks noGrp="1"/>
          </p:cNvSpPr>
          <p:nvPr/>
        </p:nvSpPr>
        <p:spPr>
          <a:xfrm>
            <a:off x="8262938" y="6191250"/>
            <a:ext cx="2143125" cy="476250"/>
          </a:xfrm>
          <a:prstGeom prst="rect">
            <a:avLst/>
          </a:prstGeom>
          <a:noFill/>
          <a:ln w="0">
            <a:noFill/>
          </a:ln>
        </p:spPr>
        <p:txBody>
          <a:bodyPr anchor="ctr">
            <a:noAutofit/>
          </a:bodyPr>
          <a:lstStyle/>
          <a:p>
            <a:pPr algn="ctr">
              <a:defRPr sz="2250" b="1">
                <a:solidFill>
                  <a:srgbClr val="52647A"/>
                </a:solidFill>
                <a:latin typeface="Arial"/>
                <a:ea typeface="Arial"/>
                <a:cs typeface="Arial"/>
              </a:defRPr>
            </a:pPr>
            <a:r>
              <a:rPr sz="2250" b="1">
                <a:solidFill>
                  <a:srgbClr val="52647A"/>
                </a:solidFill>
                <a:latin typeface="Arial"/>
                <a:ea typeface="Arial"/>
                <a:cs typeface="Arial"/>
              </a:rPr>
              <a:t>4</a:t>
            </a:r>
          </a:p>
        </p:txBody>
      </p:sp>
      <p:sp>
        <p:nvSpPr>
          <p:cNvPr id="19" name="object-19">
            <a:extLst>
              <a:ext uri="{FF2B5EF4-FFF2-40B4-BE49-F238E27FC236}">
                <a16:creationId xmlns:a16="http://schemas.microsoft.com/office/drawing/2014/main" id="{79474794-DABE-488E-B9B3-29B3FEB4C3BE}"/>
              </a:ext>
            </a:extLst>
          </p:cNvPr>
          <p:cNvSpPr>
            <a:spLocks noGrp="1"/>
          </p:cNvSpPr>
          <p:nvPr/>
        </p:nvSpPr>
        <p:spPr>
          <a:xfrm>
            <a:off x="892969" y="7143750"/>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6/8 = 3/4</a:t>
            </a:r>
          </a:p>
        </p:txBody>
      </p:sp>
    </p:spTree>
    <p:extLst>
      <p:ext uri="{BB962C8B-B14F-4D97-AF65-F5344CB8AC3E}">
        <p14:creationId xmlns:p14="http://schemas.microsoft.com/office/powerpoint/2010/main" val="254069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 0.24305556 E" pathEditMode="relative" ptsTypes="">
                                      <p:cBhvr>
                                        <p:cTn id="6" dur="800" fill="hold"/>
                                        <p:tgtEl>
                                          <p:spTgt spid="7"/>
                                        </p:tgtEl>
                                        <p:attrNameLst>
                                          <p:attrName>ppt_x</p:attrName>
                                          <p:attrName>ppt_y</p:attrName>
                                        </p:attrNameLst>
                                      </p:cBhvr>
                                    </p:animMotion>
                                  </p:childTnLst>
                                </p:cTn>
                              </p:par>
                              <p:par>
                                <p:cTn id="7" presetID="63" presetClass="path" presetSubtype="0" accel="50000" decel="50000" fill="hold" nodeType="withEffect">
                                  <p:stCondLst>
                                    <p:cond delay="0"/>
                                  </p:stCondLst>
                                  <p:childTnLst>
                                    <p:animMotion origin="layout" path="M 0 0 L 0 0.24305556 E" pathEditMode="relative" ptsTypes="">
                                      <p:cBhvr>
                                        <p:cTn id="8" dur="800" fill="hold"/>
                                        <p:tgtEl>
                                          <p:spTgt spid="8"/>
                                        </p:tgtEl>
                                        <p:attrNameLst>
                                          <p:attrName>ppt_x</p:attrName>
                                          <p:attrName>ppt_y</p:attrName>
                                        </p:attrNameLst>
                                      </p:cBhvr>
                                    </p:animMotion>
                                  </p:childTnLst>
                                </p:cTn>
                              </p:par>
                            </p:childTnLst>
                          </p:cTn>
                        </p:par>
                        <p:par>
                          <p:cTn id="9" fill="hold">
                            <p:stCondLst>
                              <p:cond delay="8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63" presetClass="path" presetSubtype="0" accel="50000" decel="50000" fill="hold" nodeType="clickEffect">
                                  <p:stCondLst>
                                    <p:cond delay="0"/>
                                  </p:stCondLst>
                                  <p:childTnLst>
                                    <p:animMotion origin="layout" path="M 0 0 L 0.00625 0.24305556 E" pathEditMode="relative" ptsTypes="">
                                      <p:cBhvr>
                                        <p:cTn id="15" dur="800" fill="hold"/>
                                        <p:tgtEl>
                                          <p:spTgt spid="9"/>
                                        </p:tgtEl>
                                        <p:attrNameLst>
                                          <p:attrName>ppt_x</p:attrName>
                                          <p:attrName>ppt_y</p:attrName>
                                        </p:attrNameLst>
                                      </p:cBhvr>
                                    </p:animMotion>
                                  </p:childTnLst>
                                </p:cTn>
                              </p:par>
                              <p:par>
                                <p:cTn id="16" presetID="63" presetClass="path" presetSubtype="0" accel="50000" decel="50000" fill="hold" nodeType="withEffect">
                                  <p:stCondLst>
                                    <p:cond delay="0"/>
                                  </p:stCondLst>
                                  <p:childTnLst>
                                    <p:animMotion origin="layout" path="M 0 0 L 0.00625 0.24305556 E" pathEditMode="relative" ptsTypes="">
                                      <p:cBhvr>
                                        <p:cTn id="17" dur="800" fill="hold"/>
                                        <p:tgtEl>
                                          <p:spTgt spid="10"/>
                                        </p:tgtEl>
                                        <p:attrNameLst>
                                          <p:attrName>ppt_x</p:attrName>
                                          <p:attrName>ppt_y</p:attrName>
                                        </p:attrNameLst>
                                      </p:cBhvr>
                                    </p:animMotion>
                                  </p:childTnLst>
                                </p:cTn>
                              </p:par>
                            </p:childTnLst>
                          </p:cTn>
                        </p:par>
                        <p:par>
                          <p:cTn id="18" fill="hold">
                            <p:stCondLst>
                              <p:cond delay="800"/>
                            </p:stCondLst>
                            <p:childTnLst>
                              <p:par>
                                <p:cTn id="19" presetID="1" presetClass="entr" presetSubtype="0" fill="hold" grpId="0" nodeType="after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63" presetClass="path" presetSubtype="0" accel="50000" decel="50000" fill="hold" nodeType="clickEffect">
                                  <p:stCondLst>
                                    <p:cond delay="0"/>
                                  </p:stCondLst>
                                  <p:childTnLst>
                                    <p:animMotion origin="layout" path="M 0 0 L 0.0125 0.24305556 E" pathEditMode="relative" ptsTypes="">
                                      <p:cBhvr>
                                        <p:cTn id="24" dur="800" fill="hold"/>
                                        <p:tgtEl>
                                          <p:spTgt spid="11"/>
                                        </p:tgtEl>
                                        <p:attrNameLst>
                                          <p:attrName>ppt_x</p:attrName>
                                          <p:attrName>ppt_y</p:attrName>
                                        </p:attrNameLst>
                                      </p:cBhvr>
                                    </p:animMotion>
                                  </p:childTnLst>
                                </p:cTn>
                              </p:par>
                              <p:par>
                                <p:cTn id="25" presetID="63" presetClass="path" presetSubtype="0" accel="50000" decel="50000" fill="hold" nodeType="withEffect">
                                  <p:stCondLst>
                                    <p:cond delay="0"/>
                                  </p:stCondLst>
                                  <p:childTnLst>
                                    <p:animMotion origin="layout" path="M 0 0 L 0.0125 0.24305556 E" pathEditMode="relative" ptsTypes="">
                                      <p:cBhvr>
                                        <p:cTn id="26" dur="800" fill="hold"/>
                                        <p:tgtEl>
                                          <p:spTgt spid="12"/>
                                        </p:tgtEl>
                                        <p:attrNameLst>
                                          <p:attrName>ppt_x</p:attrName>
                                          <p:attrName>ppt_y</p:attrName>
                                        </p:attrNameLst>
                                      </p:cBhvr>
                                    </p:animMotion>
                                  </p:childTnLst>
                                </p:cTn>
                              </p:par>
                            </p:childTnLst>
                          </p:cTn>
                        </p:par>
                        <p:par>
                          <p:cTn id="27" fill="hold">
                            <p:stCondLst>
                              <p:cond delay="800"/>
                            </p:stCondLst>
                            <p:childTnLst>
                              <p:par>
                                <p:cTn id="28" presetID="1" presetClass="entr" presetSubtype="0" fill="hold" grpId="0" nodeType="afterEffect">
                                  <p:stCondLst>
                                    <p:cond delay="0"/>
                                  </p:stCondLst>
                                  <p:childTnLst>
                                    <p:set>
                                      <p:cBhvr>
                                        <p:cTn id="29" dur="1" fill="hold">
                                          <p:stCondLst>
                                            <p:cond delay="0"/>
                                          </p:stCondLst>
                                        </p:cTn>
                                        <p:tgtEl>
                                          <p:spTgt spid="17"/>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63" presetClass="path" presetSubtype="0" accel="50000" decel="50000" fill="hold" nodeType="clickEffect">
                                  <p:stCondLst>
                                    <p:cond delay="0"/>
                                  </p:stCondLst>
                                  <p:childTnLst>
                                    <p:animMotion origin="layout" path="M 0 0 L 0.01875 0.24305556 E" pathEditMode="relative" ptsTypes="">
                                      <p:cBhvr>
                                        <p:cTn id="33" dur="800" fill="hold"/>
                                        <p:tgtEl>
                                          <p:spTgt spid="13"/>
                                        </p:tgtEl>
                                        <p:attrNameLst>
                                          <p:attrName>ppt_x</p:attrName>
                                          <p:attrName>ppt_y</p:attrName>
                                        </p:attrNameLst>
                                      </p:cBhvr>
                                    </p:animMotion>
                                  </p:childTnLst>
                                </p:cTn>
                              </p:par>
                              <p:par>
                                <p:cTn id="34" presetID="63" presetClass="path" presetSubtype="0" accel="50000" decel="50000" fill="hold" nodeType="withEffect">
                                  <p:stCondLst>
                                    <p:cond delay="0"/>
                                  </p:stCondLst>
                                  <p:childTnLst>
                                    <p:animMotion origin="layout" path="M 0 0 L 0.01875 0.24305556 E" pathEditMode="relative" ptsTypes="">
                                      <p:cBhvr>
                                        <p:cTn id="35" dur="800" fill="hold"/>
                                        <p:tgtEl>
                                          <p:spTgt spid="14"/>
                                        </p:tgtEl>
                                        <p:attrNameLst>
                                          <p:attrName>ppt_x</p:attrName>
                                          <p:attrName>ppt_y</p:attrName>
                                        </p:attrNameLst>
                                      </p:cBhvr>
                                    </p:animMotion>
                                  </p:childTnLst>
                                </p:cTn>
                              </p:par>
                            </p:childTnLst>
                          </p:cTn>
                        </p:par>
                        <p:par>
                          <p:cTn id="36" fill="hold">
                            <p:stCondLst>
                              <p:cond delay="800"/>
                            </p:stCondLst>
                            <p:childTnLst>
                              <p:par>
                                <p:cTn id="37" presetID="1" presetClass="entr" presetSubtype="0" fill="hold" grpId="0" nodeType="after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P spid="18" grpId="0"/>
      <p:bldP spid="19"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object-1">
            <a:extLst>
              <a:ext uri="{FF2B5EF4-FFF2-40B4-BE49-F238E27FC236}">
                <a16:creationId xmlns:a16="http://schemas.microsoft.com/office/drawing/2014/main" id="{A5978709-4599-4E90-8C6B-71261354895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CFEF1E2F-EAC4-483C-850F-871DB3B6D4D0}"/>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C9E20A4E-8D05-4DF3-AC49-BB95056EFEF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Simplify 24/32.</a:t>
            </a:r>
          </a:p>
        </p:txBody>
      </p:sp>
      <p:sp>
        <p:nvSpPr>
          <p:cNvPr id="4" name="object-4">
            <a:extLst>
              <a:ext uri="{FF2B5EF4-FFF2-40B4-BE49-F238E27FC236}">
                <a16:creationId xmlns:a16="http://schemas.microsoft.com/office/drawing/2014/main" id="{45FD2726-DE8C-4ADF-9620-F4A991933F5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6FA75CD-4BA7-45BD-9482-34FF4FA12B3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6" name="object-6">
            <a:extLst>
              <a:ext uri="{FF2B5EF4-FFF2-40B4-BE49-F238E27FC236}">
                <a16:creationId xmlns:a16="http://schemas.microsoft.com/office/drawing/2014/main" id="{0BD84F09-F363-4456-B6B8-2C979B9A905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9</a:t>
            </a:r>
          </a:p>
        </p:txBody>
      </p:sp>
      <p:sp>
        <p:nvSpPr>
          <p:cNvPr id="7" name="object-7">
            <a:extLst>
              <a:ext uri="{FF2B5EF4-FFF2-40B4-BE49-F238E27FC236}">
                <a16:creationId xmlns:a16="http://schemas.microsoft.com/office/drawing/2014/main" id="{23EF8CBC-3EC2-4B5D-BADF-991675DB2A61}"/>
              </a:ext>
            </a:extLst>
          </p:cNvPr>
          <p:cNvSpPr>
            <a:spLocks noGrp="1"/>
          </p:cNvSpPr>
          <p:nvPr/>
        </p:nvSpPr>
        <p:spPr>
          <a:xfrm>
            <a:off x="1905000" y="35718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24</a:t>
            </a:r>
          </a:p>
        </p:txBody>
      </p:sp>
      <p:sp>
        <p:nvSpPr>
          <p:cNvPr id="8" name="object-8">
            <a:extLst>
              <a:ext uri="{FF2B5EF4-FFF2-40B4-BE49-F238E27FC236}">
                <a16:creationId xmlns:a16="http://schemas.microsoft.com/office/drawing/2014/main" id="{A10EC982-F1E3-42AB-BA11-8EDDB84981FE}"/>
              </a:ext>
            </a:extLst>
          </p:cNvPr>
          <p:cNvSpPr>
            <a:spLocks noGrp="1"/>
          </p:cNvSpPr>
          <p:nvPr/>
        </p:nvSpPr>
        <p:spPr>
          <a:xfrm>
            <a:off x="1905000" y="4429125"/>
            <a:ext cx="1785938" cy="35719"/>
          </a:xfrm>
          <a:prstGeom prst="rect">
            <a:avLst/>
          </a:prstGeom>
          <a:solidFill>
            <a:srgbClr val="1D4ED8"/>
          </a:solidFill>
          <a:ln w="0">
            <a:noFill/>
          </a:ln>
        </p:spPr>
      </p:sp>
      <p:sp>
        <p:nvSpPr>
          <p:cNvPr id="9" name="object-9">
            <a:extLst>
              <a:ext uri="{FF2B5EF4-FFF2-40B4-BE49-F238E27FC236}">
                <a16:creationId xmlns:a16="http://schemas.microsoft.com/office/drawing/2014/main" id="{AA0BBF66-702E-441C-9529-3A8F14C74BD3}"/>
              </a:ext>
            </a:extLst>
          </p:cNvPr>
          <p:cNvSpPr>
            <a:spLocks noGrp="1"/>
          </p:cNvSpPr>
          <p:nvPr/>
        </p:nvSpPr>
        <p:spPr>
          <a:xfrm>
            <a:off x="1905000" y="4524375"/>
            <a:ext cx="1785938" cy="833438"/>
          </a:xfrm>
          <a:prstGeom prst="rect">
            <a:avLst/>
          </a:prstGeom>
          <a:noFill/>
          <a:ln w="0">
            <a:noFill/>
          </a:ln>
        </p:spPr>
        <p:txBody>
          <a:bodyPr anchor="ctr">
            <a:noAutofit/>
          </a:bodyPr>
          <a:lstStyle/>
          <a:p>
            <a:pPr algn="ctr">
              <a:defRPr sz="5156" b="1">
                <a:solidFill>
                  <a:srgbClr val="1D4ED8"/>
                </a:solidFill>
                <a:latin typeface="Arial"/>
                <a:ea typeface="Arial"/>
                <a:cs typeface="Arial"/>
              </a:defRPr>
            </a:pPr>
            <a:r>
              <a:rPr sz="5156" b="1">
                <a:solidFill>
                  <a:srgbClr val="1D4ED8"/>
                </a:solidFill>
                <a:latin typeface="Arial"/>
                <a:ea typeface="Arial"/>
                <a:cs typeface="Arial"/>
              </a:rPr>
              <a:t>32</a:t>
            </a:r>
          </a:p>
        </p:txBody>
      </p:sp>
      <p:sp>
        <p:nvSpPr>
          <p:cNvPr id="10" name="object-10">
            <a:extLst>
              <a:ext uri="{FF2B5EF4-FFF2-40B4-BE49-F238E27FC236}">
                <a16:creationId xmlns:a16="http://schemas.microsoft.com/office/drawing/2014/main" id="{125F25FB-D0A8-48B0-B597-3905E049CDC9}"/>
              </a:ext>
            </a:extLst>
          </p:cNvPr>
          <p:cNvSpPr>
            <a:spLocks noGrp="1"/>
          </p:cNvSpPr>
          <p:nvPr/>
        </p:nvSpPr>
        <p:spPr>
          <a:xfrm>
            <a:off x="3690938" y="4429125"/>
            <a:ext cx="3571875" cy="35719"/>
          </a:xfrm>
          <a:prstGeom prst="rect">
            <a:avLst/>
          </a:prstGeom>
          <a:solidFill>
            <a:srgbClr val="1D4ED8"/>
          </a:solidFill>
          <a:ln w="0">
            <a:noFill/>
          </a:ln>
        </p:spPr>
      </p:sp>
      <p:sp>
        <p:nvSpPr>
          <p:cNvPr id="11" name="object-11">
            <a:extLst>
              <a:ext uri="{FF2B5EF4-FFF2-40B4-BE49-F238E27FC236}">
                <a16:creationId xmlns:a16="http://schemas.microsoft.com/office/drawing/2014/main" id="{09CF8914-7605-4AC8-9EF0-3AB8869D7F75}"/>
              </a:ext>
            </a:extLst>
          </p:cNvPr>
          <p:cNvSpPr>
            <a:spLocks noGrp="1"/>
          </p:cNvSpPr>
          <p:nvPr/>
        </p:nvSpPr>
        <p:spPr>
          <a:xfrm>
            <a:off x="8572500" y="3976688"/>
            <a:ext cx="1012031" cy="952500"/>
          </a:xfrm>
          <a:prstGeom prst="rect">
            <a:avLst/>
          </a:prstGeom>
          <a:noFill/>
          <a:ln w="0">
            <a:noFill/>
          </a:ln>
        </p:spPr>
        <p:txBody>
          <a:bodyPr anchor="ctr">
            <a:noAutofit/>
          </a:bodyPr>
          <a:lstStyle/>
          <a:p>
            <a:pPr algn="l">
              <a:defRPr sz="5344" b="0">
                <a:solidFill>
                  <a:srgbClr val="172B4D"/>
                </a:solidFill>
                <a:latin typeface="Arial"/>
                <a:ea typeface="Arial"/>
                <a:cs typeface="Arial"/>
              </a:defRPr>
            </a:pPr>
            <a:r>
              <a:rPr sz="5344" b="0">
                <a:solidFill>
                  <a:srgbClr val="172B4D"/>
                </a:solidFill>
                <a:latin typeface="Arial"/>
                <a:ea typeface="Arial"/>
                <a:cs typeface="Arial"/>
              </a:rPr>
              <a:t>=</a:t>
            </a:r>
          </a:p>
        </p:txBody>
      </p:sp>
      <p:sp>
        <p:nvSpPr>
          <p:cNvPr id="12" name="object-12">
            <a:extLst>
              <a:ext uri="{FF2B5EF4-FFF2-40B4-BE49-F238E27FC236}">
                <a16:creationId xmlns:a16="http://schemas.microsoft.com/office/drawing/2014/main" id="{4F1DD970-213D-40FD-86BD-493720D7F974}"/>
              </a:ext>
            </a:extLst>
          </p:cNvPr>
          <p:cNvSpPr>
            <a:spLocks noGrp="1"/>
          </p:cNvSpPr>
          <p:nvPr/>
        </p:nvSpPr>
        <p:spPr>
          <a:xfrm>
            <a:off x="10834688" y="4429125"/>
            <a:ext cx="1666875" cy="35719"/>
          </a:xfrm>
          <a:prstGeom prst="rect">
            <a:avLst/>
          </a:prstGeom>
          <a:solidFill>
            <a:srgbClr val="11745A"/>
          </a:solidFill>
          <a:ln w="0">
            <a:noFill/>
          </a:ln>
        </p:spPr>
      </p:sp>
      <p:sp>
        <p:nvSpPr>
          <p:cNvPr id="13" name="object-13">
            <a:extLst>
              <a:ext uri="{FF2B5EF4-FFF2-40B4-BE49-F238E27FC236}">
                <a16:creationId xmlns:a16="http://schemas.microsoft.com/office/drawing/2014/main" id="{9AF08511-E669-4A0C-A2C4-8C4CAB660B79}"/>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8</a:t>
            </a:r>
          </a:p>
        </p:txBody>
      </p:sp>
      <p:sp>
        <p:nvSpPr>
          <p:cNvPr id="14" name="object-14">
            <a:extLst>
              <a:ext uri="{FF2B5EF4-FFF2-40B4-BE49-F238E27FC236}">
                <a16:creationId xmlns:a16="http://schemas.microsoft.com/office/drawing/2014/main" id="{67AB52AC-1729-4734-B130-4A5E754124D9}"/>
              </a:ext>
            </a:extLst>
          </p:cNvPr>
          <p:cNvSpPr>
            <a:spLocks noGrp="1"/>
          </p:cNvSpPr>
          <p:nvPr/>
        </p:nvSpPr>
        <p:spPr>
          <a:xfrm>
            <a:off x="8036719" y="2738438"/>
            <a:ext cx="4167188" cy="547688"/>
          </a:xfrm>
          <a:prstGeom prst="rect">
            <a:avLst/>
          </a:prstGeom>
          <a:noFill/>
          <a:ln w="0">
            <a:noFill/>
          </a:ln>
        </p:spPr>
        <p:txBody>
          <a:bodyPr anchor="ctr">
            <a:noAutofit/>
          </a:bodyPr>
          <a:lstStyle/>
          <a:p>
            <a:pPr algn="l">
              <a:defRPr sz="2344" b="0">
                <a:solidFill>
                  <a:srgbClr val="9A5800"/>
                </a:solidFill>
                <a:latin typeface="Arial"/>
                <a:ea typeface="Arial"/>
                <a:cs typeface="Arial"/>
              </a:defRPr>
            </a:pPr>
            <a:r>
              <a:rPr sz="2344" b="0">
                <a:solidFill>
                  <a:srgbClr val="9A5800"/>
                </a:solidFill>
                <a:latin typeface="Arial"/>
                <a:ea typeface="Arial"/>
                <a:cs typeface="Arial"/>
              </a:rPr>
              <a:t>common factor</a:t>
            </a:r>
          </a:p>
        </p:txBody>
      </p:sp>
      <p:sp>
        <p:nvSpPr>
          <p:cNvPr id="15" name="object-15">
            <a:extLst>
              <a:ext uri="{FF2B5EF4-FFF2-40B4-BE49-F238E27FC236}">
                <a16:creationId xmlns:a16="http://schemas.microsoft.com/office/drawing/2014/main" id="{4550957B-E765-4F9B-9BD5-518E4BA076F5}"/>
              </a:ext>
            </a:extLst>
          </p:cNvPr>
          <p:cNvSpPr>
            <a:spLocks noGrp="1"/>
          </p:cNvSpPr>
          <p:nvPr/>
        </p:nvSpPr>
        <p:spPr>
          <a:xfrm>
            <a:off x="4345781" y="35718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6" name="object-16">
            <a:extLst>
              <a:ext uri="{FF2B5EF4-FFF2-40B4-BE49-F238E27FC236}">
                <a16:creationId xmlns:a16="http://schemas.microsoft.com/office/drawing/2014/main" id="{0A314214-AA1C-44C3-8728-1FC2FEA1FCFD}"/>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8</a:t>
            </a:r>
          </a:p>
        </p:txBody>
      </p:sp>
      <p:sp>
        <p:nvSpPr>
          <p:cNvPr id="17" name="object-17">
            <a:extLst>
              <a:ext uri="{FF2B5EF4-FFF2-40B4-BE49-F238E27FC236}">
                <a16:creationId xmlns:a16="http://schemas.microsoft.com/office/drawing/2014/main" id="{B4291891-5BB3-46ED-BD10-4E3DC14C493F}"/>
              </a:ext>
            </a:extLst>
          </p:cNvPr>
          <p:cNvSpPr>
            <a:spLocks noGrp="1"/>
          </p:cNvSpPr>
          <p:nvPr/>
        </p:nvSpPr>
        <p:spPr>
          <a:xfrm>
            <a:off x="7739063" y="35718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3</a:t>
            </a:r>
          </a:p>
        </p:txBody>
      </p:sp>
      <p:sp>
        <p:nvSpPr>
          <p:cNvPr id="18" name="object-18">
            <a:extLst>
              <a:ext uri="{FF2B5EF4-FFF2-40B4-BE49-F238E27FC236}">
                <a16:creationId xmlns:a16="http://schemas.microsoft.com/office/drawing/2014/main" id="{DE994308-4C37-4B6F-BB2A-0358329006C3}"/>
              </a:ext>
            </a:extLst>
          </p:cNvPr>
          <p:cNvSpPr>
            <a:spLocks noGrp="1"/>
          </p:cNvSpPr>
          <p:nvPr/>
        </p:nvSpPr>
        <p:spPr>
          <a:xfrm>
            <a:off x="4345781" y="4524375"/>
            <a:ext cx="833438" cy="833438"/>
          </a:xfrm>
          <a:prstGeom prst="rect">
            <a:avLst/>
          </a:prstGeom>
          <a:noFill/>
          <a:ln w="0">
            <a:noFill/>
          </a:ln>
        </p:spPr>
        <p:txBody>
          <a:bodyPr anchor="ctr">
            <a:noAutofit/>
          </a:bodyPr>
          <a:lstStyle/>
          <a:p>
            <a:pPr algn="ctr">
              <a:defRPr sz="4500" b="1">
                <a:solidFill>
                  <a:srgbClr val="9A5800"/>
                </a:solidFill>
                <a:latin typeface="Arial"/>
                <a:ea typeface="Arial"/>
                <a:cs typeface="Arial"/>
              </a:defRPr>
            </a:pPr>
            <a:r>
              <a:rPr sz="4500" b="1">
                <a:solidFill>
                  <a:srgbClr val="9A5800"/>
                </a:solidFill>
                <a:latin typeface="Arial"/>
                <a:ea typeface="Arial"/>
                <a:cs typeface="Arial"/>
              </a:rPr>
              <a:t>÷</a:t>
            </a:r>
          </a:p>
        </p:txBody>
      </p:sp>
      <p:sp>
        <p:nvSpPr>
          <p:cNvPr id="19" name="object-19">
            <a:extLst>
              <a:ext uri="{FF2B5EF4-FFF2-40B4-BE49-F238E27FC236}">
                <a16:creationId xmlns:a16="http://schemas.microsoft.com/office/drawing/2014/main" id="{366B6898-5BDF-4B55-8113-381117FCF241}"/>
              </a:ext>
            </a:extLst>
          </p:cNvPr>
          <p:cNvSpPr>
            <a:spLocks noGrp="1"/>
          </p:cNvSpPr>
          <p:nvPr/>
        </p:nvSpPr>
        <p:spPr>
          <a:xfrm>
            <a:off x="6548438" y="2619375"/>
            <a:ext cx="1190625" cy="738188"/>
          </a:xfrm>
          <a:prstGeom prst="rect">
            <a:avLst/>
          </a:prstGeom>
          <a:noFill/>
          <a:ln w="0">
            <a:noFill/>
          </a:ln>
        </p:spPr>
        <p:txBody>
          <a:bodyPr anchor="ctr">
            <a:noAutofit/>
          </a:bodyPr>
          <a:lstStyle/>
          <a:p>
            <a:pPr algn="ctr">
              <a:defRPr sz="4031" b="1">
                <a:solidFill>
                  <a:srgbClr val="9A5800"/>
                </a:solidFill>
                <a:latin typeface="Arial"/>
                <a:ea typeface="Arial"/>
                <a:cs typeface="Arial"/>
              </a:defRPr>
            </a:pPr>
            <a:r>
              <a:rPr sz="4031" b="1">
                <a:solidFill>
                  <a:srgbClr val="9A5800"/>
                </a:solidFill>
                <a:latin typeface="Arial"/>
                <a:ea typeface="Arial"/>
                <a:cs typeface="Arial"/>
              </a:rPr>
              <a:t>8</a:t>
            </a:r>
          </a:p>
        </p:txBody>
      </p:sp>
      <p:sp>
        <p:nvSpPr>
          <p:cNvPr id="20" name="object-20">
            <a:extLst>
              <a:ext uri="{FF2B5EF4-FFF2-40B4-BE49-F238E27FC236}">
                <a16:creationId xmlns:a16="http://schemas.microsoft.com/office/drawing/2014/main" id="{F5E05FC0-E954-43F1-97E9-4EDF1E5C1EBE}"/>
              </a:ext>
            </a:extLst>
          </p:cNvPr>
          <p:cNvSpPr>
            <a:spLocks noGrp="1"/>
          </p:cNvSpPr>
          <p:nvPr/>
        </p:nvSpPr>
        <p:spPr>
          <a:xfrm>
            <a:off x="7739063" y="4524375"/>
            <a:ext cx="1547813" cy="833438"/>
          </a:xfrm>
          <a:prstGeom prst="rect">
            <a:avLst/>
          </a:prstGeom>
          <a:noFill/>
          <a:ln w="0">
            <a:noFill/>
          </a:ln>
        </p:spPr>
        <p:txBody>
          <a:bodyPr anchor="ctr">
            <a:noAutofit/>
          </a:bodyPr>
          <a:lstStyle/>
          <a:p>
            <a:pPr algn="ctr">
              <a:defRPr sz="5156" b="1">
                <a:solidFill>
                  <a:srgbClr val="11745A"/>
                </a:solidFill>
                <a:latin typeface="Arial"/>
                <a:ea typeface="Arial"/>
                <a:cs typeface="Arial"/>
              </a:defRPr>
            </a:pPr>
            <a:r>
              <a:rPr sz="5156" b="1">
                <a:solidFill>
                  <a:srgbClr val="11745A"/>
                </a:solidFill>
                <a:latin typeface="Arial"/>
                <a:ea typeface="Arial"/>
                <a:cs typeface="Arial"/>
              </a:rPr>
              <a:t>4</a:t>
            </a:r>
          </a:p>
        </p:txBody>
      </p:sp>
      <p:sp>
        <p:nvSpPr>
          <p:cNvPr id="21" name="object-21">
            <a:extLst>
              <a:ext uri="{FF2B5EF4-FFF2-40B4-BE49-F238E27FC236}">
                <a16:creationId xmlns:a16="http://schemas.microsoft.com/office/drawing/2014/main" id="{79682114-24A4-4F0C-A8FA-9F3F011D6ED0}"/>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3 and 4 share no common factor greater than 1.</a:t>
            </a:r>
          </a:p>
        </p:txBody>
      </p:sp>
    </p:spTree>
    <p:extLst>
      <p:ext uri="{BB962C8B-B14F-4D97-AF65-F5344CB8AC3E}">
        <p14:creationId xmlns:p14="http://schemas.microsoft.com/office/powerpoint/2010/main" val="562461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par>
                          <p:cTn id="9" fill="hold">
                            <p:stCondLst>
                              <p:cond delay="0"/>
                            </p:stCondLst>
                            <p:childTnLst>
                              <p:par>
                                <p:cTn id="10" presetID="63" presetClass="path" presetSubtype="0" accel="50000" decel="50000" fill="hold" grpId="1" nodeType="afterEffect">
                                  <p:stCondLst>
                                    <p:cond delay="0"/>
                                  </p:stCondLst>
                                  <p:childTnLst>
                                    <p:animMotion origin="layout" path="M 0 0 L -0.0390625 0.11388889 E" pathEditMode="relative" ptsTypes="">
                                      <p:cBhvr>
                                        <p:cTn id="11" dur="800" fill="hold"/>
                                        <p:tgtEl>
                                          <p:spTgt spid="16"/>
                                        </p:tgtEl>
                                        <p:attrNameLst>
                                          <p:attrName>ppt_x</p:attrName>
                                          <p:attrName>ppt_y</p:attrName>
                                        </p:attrNameLst>
                                      </p:cBhvr>
                                    </p:animMotion>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7"/>
                                        </p:tgtEl>
                                        <p:attrNameLst>
                                          <p:attrName>style.visibility</p:attrName>
                                        </p:attrNameLst>
                                      </p:cBhvr>
                                      <p:to>
                                        <p:strVal val="visible"/>
                                      </p:to>
                                    </p:set>
                                  </p:childTnLst>
                                </p:cTn>
                              </p:par>
                            </p:childTnLst>
                          </p:cTn>
                        </p:par>
                        <p:par>
                          <p:cTn id="16" fill="hold">
                            <p:stCondLst>
                              <p:cond delay="0"/>
                            </p:stCondLst>
                            <p:childTnLst>
                              <p:par>
                                <p:cTn id="17" presetID="63" presetClass="path" presetSubtype="0" accel="50000" decel="50000" fill="hold" grpId="1" nodeType="afterEffect">
                                  <p:stCondLst>
                                    <p:cond delay="0"/>
                                  </p:stCondLst>
                                  <p:childTnLst>
                                    <p:animMotion origin="layout" path="M 0 0 L 0.20703125 0 E" pathEditMode="relative" ptsTypes="">
                                      <p:cBhvr>
                                        <p:cTn id="18" dur="800" fill="hold"/>
                                        <p:tgtEl>
                                          <p:spTgt spid="17"/>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childTnLst>
                          </p:cTn>
                        </p:par>
                        <p:par>
                          <p:cTn id="25" fill="hold">
                            <p:stCondLst>
                              <p:cond delay="0"/>
                            </p:stCondLst>
                            <p:childTnLst>
                              <p:par>
                                <p:cTn id="26" presetID="63" presetClass="path" presetSubtype="0" accel="50000" decel="50000" fill="hold" grpId="1" nodeType="afterEffect">
                                  <p:stCondLst>
                                    <p:cond delay="0"/>
                                  </p:stCondLst>
                                  <p:childTnLst>
                                    <p:animMotion origin="layout" path="M 0 0 L -0.0390625 0.225 E" pathEditMode="relative" ptsTypes="">
                                      <p:cBhvr>
                                        <p:cTn id="27" dur="800" fill="hold"/>
                                        <p:tgtEl>
                                          <p:spTgt spid="19"/>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0703125 0 E" pathEditMode="relative" ptsTypes="">
                                      <p:cBhvr>
                                        <p:cTn id="34" dur="800" fill="hold"/>
                                        <p:tgtEl>
                                          <p:spTgt spid="2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6" grpId="1"/>
      <p:bldP spid="17" grpId="0"/>
      <p:bldP spid="17" grpId="1"/>
      <p:bldP spid="18" grpId="0"/>
      <p:bldP spid="19" grpId="0"/>
      <p:bldP spid="19" grpId="1"/>
      <p:bldP spid="20" grpId="0"/>
      <p:bldP spid="20" grpId="1"/>
      <p:bldP spid="21"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21C16289-5E66-400B-82E3-4E9AD8124D8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8E77B9AD-62B8-4B20-BA77-0160B35945FB}"/>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4674F4F0-586E-44EC-AD32-F94F1159471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6EEA2498-5865-4207-8701-3E97506CC6A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C1397C54-185E-447F-AAEA-9A133CD76532}"/>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6" name="object-6">
            <a:extLst>
              <a:ext uri="{FF2B5EF4-FFF2-40B4-BE49-F238E27FC236}">
                <a16:creationId xmlns:a16="http://schemas.microsoft.com/office/drawing/2014/main" id="{7721EEAF-22C8-45A3-BD5B-CF4EF1C473A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10</a:t>
            </a:r>
          </a:p>
        </p:txBody>
      </p:sp>
      <p:sp>
        <p:nvSpPr>
          <p:cNvPr id="7" name="object-7">
            <a:extLst>
              <a:ext uri="{FF2B5EF4-FFF2-40B4-BE49-F238E27FC236}">
                <a16:creationId xmlns:a16="http://schemas.microsoft.com/office/drawing/2014/main" id="{CC68678F-37C9-415C-866B-1EF89E4970CC}"/>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E257A5F8-1A20-4877-B217-BFD272BAE718}"/>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Simplify 42/56.</a:t>
            </a:r>
          </a:p>
        </p:txBody>
      </p:sp>
      <p:sp>
        <p:nvSpPr>
          <p:cNvPr id="9" name="object-9">
            <a:extLst>
              <a:ext uri="{FF2B5EF4-FFF2-40B4-BE49-F238E27FC236}">
                <a16:creationId xmlns:a16="http://schemas.microsoft.com/office/drawing/2014/main" id="{4EA6A29B-3D0F-422E-BCDB-7B1786447B0C}"/>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4C5C7BA1-4201-4367-B856-2453A6CFA65E}"/>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Which is greater, 7/12 or 5/8?</a:t>
            </a:r>
          </a:p>
        </p:txBody>
      </p:sp>
      <p:sp>
        <p:nvSpPr>
          <p:cNvPr id="11" name="object-11">
            <a:extLst>
              <a:ext uri="{FF2B5EF4-FFF2-40B4-BE49-F238E27FC236}">
                <a16:creationId xmlns:a16="http://schemas.microsoft.com/office/drawing/2014/main" id="{8447EEF1-BD59-45BF-8492-5266BF2CC026}"/>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8B79FAE2-6CEF-4534-BECF-3AE3AEDDF1AE}"/>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Order 2/3, 3/4 and 5/6 from least to greatest.</a:t>
            </a:r>
          </a:p>
        </p:txBody>
      </p:sp>
      <p:sp>
        <p:nvSpPr>
          <p:cNvPr id="13" name="object-13">
            <a:extLst>
              <a:ext uri="{FF2B5EF4-FFF2-40B4-BE49-F238E27FC236}">
                <a16:creationId xmlns:a16="http://schemas.microsoft.com/office/drawing/2014/main" id="{796A9C57-FA10-44DB-854D-0F1C3E36BE5D}"/>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F0367EDC-0072-484A-95E1-C1D84F4F26B5}"/>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Simplify 42/56.</a:t>
            </a:r>
          </a:p>
        </p:txBody>
      </p:sp>
      <p:sp>
        <p:nvSpPr>
          <p:cNvPr id="15" name="object-15">
            <a:extLst>
              <a:ext uri="{FF2B5EF4-FFF2-40B4-BE49-F238E27FC236}">
                <a16:creationId xmlns:a16="http://schemas.microsoft.com/office/drawing/2014/main" id="{35111B83-8353-485B-AE45-AF9272A5289E}"/>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61100CB9-84F2-4394-BF22-32449B9886BE}"/>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Which is greater, 7/12 or 5/8?</a:t>
            </a:r>
          </a:p>
        </p:txBody>
      </p:sp>
      <p:sp>
        <p:nvSpPr>
          <p:cNvPr id="17" name="object-17">
            <a:extLst>
              <a:ext uri="{FF2B5EF4-FFF2-40B4-BE49-F238E27FC236}">
                <a16:creationId xmlns:a16="http://schemas.microsoft.com/office/drawing/2014/main" id="{FF12D07A-0206-4998-97F1-2C1E02766384}"/>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89F3089C-5161-43EC-ADC8-731745308464}"/>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Order 2/3, 3/4 and 5/6 from least to greatest.</a:t>
            </a:r>
          </a:p>
        </p:txBody>
      </p:sp>
      <p:sp>
        <p:nvSpPr>
          <p:cNvPr id="19" name="object-19">
            <a:extLst>
              <a:ext uri="{FF2B5EF4-FFF2-40B4-BE49-F238E27FC236}">
                <a16:creationId xmlns:a16="http://schemas.microsoft.com/office/drawing/2014/main" id="{EB2E3237-B77D-4A25-8C1B-EF69C078E6E9}"/>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7F58C3C7-F3DD-4569-B775-6038D13CAA61}"/>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Give a fraction between 3/5 and 2/3.</a:t>
            </a:r>
          </a:p>
        </p:txBody>
      </p:sp>
      <p:sp>
        <p:nvSpPr>
          <p:cNvPr id="21" name="object-21">
            <a:extLst>
              <a:ext uri="{FF2B5EF4-FFF2-40B4-BE49-F238E27FC236}">
                <a16:creationId xmlns:a16="http://schemas.microsoft.com/office/drawing/2014/main" id="{08817F45-EC16-45AC-A53E-02D80527739D}"/>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E8195D29-1855-446A-AE39-85CCE09CFFC5}"/>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compares fractions by looking only at the denominators.</a:t>
            </a:r>
          </a:p>
        </p:txBody>
      </p:sp>
      <p:sp>
        <p:nvSpPr>
          <p:cNvPr id="23" name="object-23">
            <a:extLst>
              <a:ext uri="{FF2B5EF4-FFF2-40B4-BE49-F238E27FC236}">
                <a16:creationId xmlns:a16="http://schemas.microsoft.com/office/drawing/2014/main" id="{08193BC6-F3BF-4B2A-A4F3-EA5761894D14}"/>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6DC49E63-35C2-4E79-9722-A50D3840E3F9}"/>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D7D2201E-333B-403F-815F-E0ED019B2E07}"/>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EFB0CD56-2199-468C-896F-5570DBEBC199}"/>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Order 2/3, 3/4 and 5/6 from least to greatest.</a:t>
            </a:r>
          </a:p>
        </p:txBody>
      </p:sp>
    </p:spTree>
    <p:extLst>
      <p:ext uri="{BB962C8B-B14F-4D97-AF65-F5344CB8AC3E}">
        <p14:creationId xmlns:p14="http://schemas.microsoft.com/office/powerpoint/2010/main" val="7927029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95B28718-29B6-4734-911D-19F8D9BB116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DB559F77-2DF8-463F-B8AB-183E65ED66A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0D47E497-06A1-49D4-88E0-61520AA2C240}"/>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AF8B2897-DD22-4E82-BFF1-823D47B3121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Simplify fractions</a:t>
            </a:r>
          </a:p>
        </p:txBody>
      </p:sp>
      <p:sp>
        <p:nvSpPr>
          <p:cNvPr id="5" name="object-5">
            <a:extLst>
              <a:ext uri="{FF2B5EF4-FFF2-40B4-BE49-F238E27FC236}">
                <a16:creationId xmlns:a16="http://schemas.microsoft.com/office/drawing/2014/main" id="{C4D985D3-91C4-4FB7-9F03-BC02AE831C5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11</a:t>
            </a:r>
          </a:p>
        </p:txBody>
      </p:sp>
      <p:sp>
        <p:nvSpPr>
          <p:cNvPr id="6" name="object-6">
            <a:extLst>
              <a:ext uri="{FF2B5EF4-FFF2-40B4-BE49-F238E27FC236}">
                <a16:creationId xmlns:a16="http://schemas.microsoft.com/office/drawing/2014/main" id="{193E8A97-686A-4590-8A7D-A38EB70D49A4}"/>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B665BBB6-D288-4586-9E3B-58C650DB4677}"/>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3/4.</a:t>
            </a:r>
          </a:p>
        </p:txBody>
      </p:sp>
      <p:sp>
        <p:nvSpPr>
          <p:cNvPr id="8" name="object-8">
            <a:extLst>
              <a:ext uri="{FF2B5EF4-FFF2-40B4-BE49-F238E27FC236}">
                <a16:creationId xmlns:a16="http://schemas.microsoft.com/office/drawing/2014/main" id="{F4C440B8-90ED-4B6C-9BD6-A1CE48B9A673}"/>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B3913857-EF51-4897-B15C-7CDBBE133709}"/>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5/8 because 7/12 = 14/24 and 5/8 = 15/24.</a:t>
            </a:r>
          </a:p>
        </p:txBody>
      </p:sp>
      <p:sp>
        <p:nvSpPr>
          <p:cNvPr id="10" name="object-10">
            <a:extLst>
              <a:ext uri="{FF2B5EF4-FFF2-40B4-BE49-F238E27FC236}">
                <a16:creationId xmlns:a16="http://schemas.microsoft.com/office/drawing/2014/main" id="{8FFDB2E7-780A-4E78-B4F5-152E9C534A02}"/>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D822D4F1-63A1-4F76-A918-4CC236C235F3}"/>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2/3, 3/4, 5/6.</a:t>
            </a:r>
          </a:p>
        </p:txBody>
      </p:sp>
      <p:sp>
        <p:nvSpPr>
          <p:cNvPr id="12" name="object-12">
            <a:extLst>
              <a:ext uri="{FF2B5EF4-FFF2-40B4-BE49-F238E27FC236}">
                <a16:creationId xmlns:a16="http://schemas.microsoft.com/office/drawing/2014/main" id="{8AEE7500-0E53-47F1-832C-9A141BF41CC4}"/>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7AE643DE-1878-4C3F-BA5F-E0B42115682F}"/>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3/4.</a:t>
            </a:r>
          </a:p>
        </p:txBody>
      </p:sp>
      <p:sp>
        <p:nvSpPr>
          <p:cNvPr id="14" name="object-14">
            <a:extLst>
              <a:ext uri="{FF2B5EF4-FFF2-40B4-BE49-F238E27FC236}">
                <a16:creationId xmlns:a16="http://schemas.microsoft.com/office/drawing/2014/main" id="{CEF0E294-64E6-4581-B04C-D0409A9B9BA7}"/>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3663C23C-8C70-4309-9946-41B5F23256CB}"/>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5/8 because 7/12 = 14/24 and 5/8 = 15/24. Method or representation may vary.</a:t>
            </a:r>
          </a:p>
        </p:txBody>
      </p:sp>
      <p:sp>
        <p:nvSpPr>
          <p:cNvPr id="16" name="object-16">
            <a:extLst>
              <a:ext uri="{FF2B5EF4-FFF2-40B4-BE49-F238E27FC236}">
                <a16:creationId xmlns:a16="http://schemas.microsoft.com/office/drawing/2014/main" id="{9706DDE3-68E4-4A8D-A5AD-0FC4FD816878}"/>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11560461-71CE-46DC-A45A-D440299F0FF9}"/>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2/3, 3/4, 5/6. A valid check must be shown.</a:t>
            </a:r>
          </a:p>
        </p:txBody>
      </p:sp>
      <p:sp>
        <p:nvSpPr>
          <p:cNvPr id="18" name="object-18">
            <a:extLst>
              <a:ext uri="{FF2B5EF4-FFF2-40B4-BE49-F238E27FC236}">
                <a16:creationId xmlns:a16="http://schemas.microsoft.com/office/drawing/2014/main" id="{B5465751-B2FD-4AA9-AC3F-22C26E42206B}"/>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9351A6DC-EFD8-48A9-AC42-50FBFD16DE1E}"/>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5/8 is one possible answer. The explanation must show why the method works.</a:t>
            </a:r>
          </a:p>
        </p:txBody>
      </p:sp>
      <p:sp>
        <p:nvSpPr>
          <p:cNvPr id="20" name="object-20">
            <a:extLst>
              <a:ext uri="{FF2B5EF4-FFF2-40B4-BE49-F238E27FC236}">
                <a16:creationId xmlns:a16="http://schemas.microsoft.com/office/drawing/2014/main" id="{62E92FE6-28EA-425F-A74D-A0B0BE2D2D61}"/>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47E251FD-34C4-4ABF-9AF7-D992FD572BC9}"/>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Convert the fractions to equivalent forms or use a shared benchmark before comparing.</a:t>
            </a:r>
          </a:p>
        </p:txBody>
      </p:sp>
      <p:sp>
        <p:nvSpPr>
          <p:cNvPr id="22" name="object-22">
            <a:extLst>
              <a:ext uri="{FF2B5EF4-FFF2-40B4-BE49-F238E27FC236}">
                <a16:creationId xmlns:a16="http://schemas.microsoft.com/office/drawing/2014/main" id="{225A2C87-DC93-4809-B468-C9EFB93E9BFF}"/>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617F4FCF-2E54-49D9-864C-B7264388D744}"/>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A5F82C15-DECC-4947-BC11-557BF4C1D487}"/>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DD7171D3-4160-4315-A0E2-563101B815FF}"/>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053973088"/>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1264</Words>
  <Application>Microsoft Office PowerPoint</Application>
  <DocSecurity>0</DocSecurity>
  <PresentationFormat>Custom</PresentationFormat>
  <Paragraphs>180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2026-09-14T13:19:11Z</dcterms:created>
  <dcterms:modified xsi:type="dcterms:W3CDTF">2026-09-14T13:19:28Z</dcterms:modified>
</cp:coreProperties>
</file>