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equivalent fractions. Generate equivalent fractions.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equivalent fractions. I do. Apply the same operation to numerator and denominator. The divisor or multiplier moves into each row, then each result moves into the new fraction.</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equivalent fractions. You do. Pause before clicking. Let pupils try independently, then reveal and discuss every step. Apply the same operation to numerator and denominator. The divisor or multiplier moves into each row, then each result moves into the new fraction.</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equivalent fractions. I do. Apply the same operation to numerator and denominator. The divisor or multiplier moves into each row, then each result moves into the new fraction.</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equivalent fractions. You do. Pause before clicking. Let pupils try independently, then reveal and discuss every step. Apply the same operation to numerator and denominator. The divisor or multiplier moves into each row, then each result moves into the new fraction.</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equivalent fractions.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equivalent fractions.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43C4E261-6F6A-4819-B092-E1657199EC00}"/>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Generate equivalent fractions</a:t>
            </a:r>
          </a:p>
        </p:txBody>
      </p:sp>
      <p:sp>
        <p:nvSpPr>
          <p:cNvPr id="2" name="object-2">
            <a:extLst>
              <a:ext uri="{FF2B5EF4-FFF2-40B4-BE49-F238E27FC236}">
                <a16:creationId xmlns:a16="http://schemas.microsoft.com/office/drawing/2014/main" id="{7517E9F4-B5CF-41FD-BE2A-4FAF65A17DD5}"/>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88543196-FD05-423F-881A-FE3BEB63831B}"/>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ADBC252B-96BE-48BC-B389-D5909151815A}"/>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Generate equivalent fractions</a:t>
            </a:r>
          </a:p>
        </p:txBody>
      </p:sp>
      <p:sp>
        <p:nvSpPr>
          <p:cNvPr id="5" name="object-5">
            <a:extLst>
              <a:ext uri="{FF2B5EF4-FFF2-40B4-BE49-F238E27FC236}">
                <a16:creationId xmlns:a16="http://schemas.microsoft.com/office/drawing/2014/main" id="{8C3CD50C-9386-48A4-991A-3709D93FFF83}"/>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BC8256B3-6B7C-4E60-A85F-DB683EE877A6}"/>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generate equivalent fractions using multiplication and division.</a:t>
            </a:r>
          </a:p>
        </p:txBody>
      </p:sp>
    </p:spTree>
    <p:extLst>
      <p:ext uri="{BB962C8B-B14F-4D97-AF65-F5344CB8AC3E}">
        <p14:creationId xmlns:p14="http://schemas.microsoft.com/office/powerpoint/2010/main" val="14781237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object-1">
            <a:extLst>
              <a:ext uri="{FF2B5EF4-FFF2-40B4-BE49-F238E27FC236}">
                <a16:creationId xmlns:a16="http://schemas.microsoft.com/office/drawing/2014/main" id="{6799A2BF-7F37-48AF-983B-9E6377BC644D}"/>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B9D59490-FB31-4798-9C78-CF66CAA86A9B}"/>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Write 5/6 with denominator 24.</a:t>
            </a:r>
          </a:p>
        </p:txBody>
      </p:sp>
      <p:sp>
        <p:nvSpPr>
          <p:cNvPr id="3" name="object-3">
            <a:extLst>
              <a:ext uri="{FF2B5EF4-FFF2-40B4-BE49-F238E27FC236}">
                <a16:creationId xmlns:a16="http://schemas.microsoft.com/office/drawing/2014/main" id="{5D6F44F1-43F7-4700-83CA-CB3CA3527A99}"/>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706E3078-78B6-447D-A312-BDE47907F8D9}"/>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Generate equivalent fractions</a:t>
            </a:r>
          </a:p>
        </p:txBody>
      </p:sp>
      <p:sp>
        <p:nvSpPr>
          <p:cNvPr id="5" name="object-5">
            <a:extLst>
              <a:ext uri="{FF2B5EF4-FFF2-40B4-BE49-F238E27FC236}">
                <a16:creationId xmlns:a16="http://schemas.microsoft.com/office/drawing/2014/main" id="{87F02DA4-E589-4DB6-8419-5B45F4712D3B}"/>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C4195B28-C0A0-4DF2-9694-AB51AB503A45}"/>
              </a:ext>
            </a:extLst>
          </p:cNvPr>
          <p:cNvSpPr>
            <a:spLocks noGrp="1"/>
          </p:cNvSpPr>
          <p:nvPr/>
        </p:nvSpPr>
        <p:spPr>
          <a:xfrm>
            <a:off x="1905000" y="3571875"/>
            <a:ext cx="1785938" cy="833438"/>
          </a:xfrm>
          <a:prstGeom prst="rect">
            <a:avLst/>
          </a:prstGeom>
          <a:noFill/>
          <a:ln w="0">
            <a:noFill/>
          </a:ln>
        </p:spPr>
        <p:txBody>
          <a:bodyPr anchor="ctr">
            <a:noAutofit/>
          </a:bodyPr>
          <a:lstStyle/>
          <a:p>
            <a:pPr algn="ctr">
              <a:defRPr sz="5156" b="1">
                <a:solidFill>
                  <a:srgbClr val="1D4ED8"/>
                </a:solidFill>
                <a:latin typeface="Arial"/>
                <a:ea typeface="Arial"/>
                <a:cs typeface="Arial"/>
              </a:defRPr>
            </a:pPr>
            <a:r>
              <a:rPr sz="5156" b="1">
                <a:solidFill>
                  <a:srgbClr val="1D4ED8"/>
                </a:solidFill>
                <a:latin typeface="Arial"/>
                <a:ea typeface="Arial"/>
                <a:cs typeface="Arial"/>
              </a:rPr>
              <a:t>5</a:t>
            </a:r>
          </a:p>
        </p:txBody>
      </p:sp>
      <p:sp>
        <p:nvSpPr>
          <p:cNvPr id="7" name="object-7">
            <a:extLst>
              <a:ext uri="{FF2B5EF4-FFF2-40B4-BE49-F238E27FC236}">
                <a16:creationId xmlns:a16="http://schemas.microsoft.com/office/drawing/2014/main" id="{D0A6F34E-A348-490B-80F0-F807A6403E64}"/>
              </a:ext>
            </a:extLst>
          </p:cNvPr>
          <p:cNvSpPr>
            <a:spLocks noGrp="1"/>
          </p:cNvSpPr>
          <p:nvPr/>
        </p:nvSpPr>
        <p:spPr>
          <a:xfrm>
            <a:off x="1905000" y="4429125"/>
            <a:ext cx="1785938" cy="35719"/>
          </a:xfrm>
          <a:prstGeom prst="rect">
            <a:avLst/>
          </a:prstGeom>
          <a:solidFill>
            <a:srgbClr val="1D4ED8"/>
          </a:solidFill>
          <a:ln w="0">
            <a:noFill/>
          </a:ln>
        </p:spPr>
      </p:sp>
      <p:sp>
        <p:nvSpPr>
          <p:cNvPr id="8" name="object-8">
            <a:extLst>
              <a:ext uri="{FF2B5EF4-FFF2-40B4-BE49-F238E27FC236}">
                <a16:creationId xmlns:a16="http://schemas.microsoft.com/office/drawing/2014/main" id="{F8F181A6-AF08-4521-BB60-C477738B11C1}"/>
              </a:ext>
            </a:extLst>
          </p:cNvPr>
          <p:cNvSpPr>
            <a:spLocks noGrp="1"/>
          </p:cNvSpPr>
          <p:nvPr/>
        </p:nvSpPr>
        <p:spPr>
          <a:xfrm>
            <a:off x="1905000" y="4524375"/>
            <a:ext cx="1785938" cy="833438"/>
          </a:xfrm>
          <a:prstGeom prst="rect">
            <a:avLst/>
          </a:prstGeom>
          <a:noFill/>
          <a:ln w="0">
            <a:noFill/>
          </a:ln>
        </p:spPr>
        <p:txBody>
          <a:bodyPr anchor="ctr">
            <a:noAutofit/>
          </a:bodyPr>
          <a:lstStyle/>
          <a:p>
            <a:pPr algn="ctr">
              <a:defRPr sz="5156" b="1">
                <a:solidFill>
                  <a:srgbClr val="1D4ED8"/>
                </a:solidFill>
                <a:latin typeface="Arial"/>
                <a:ea typeface="Arial"/>
                <a:cs typeface="Arial"/>
              </a:defRPr>
            </a:pPr>
            <a:r>
              <a:rPr sz="5156" b="1">
                <a:solidFill>
                  <a:srgbClr val="1D4ED8"/>
                </a:solidFill>
                <a:latin typeface="Arial"/>
                <a:ea typeface="Arial"/>
                <a:cs typeface="Arial"/>
              </a:rPr>
              <a:t>6</a:t>
            </a:r>
          </a:p>
        </p:txBody>
      </p:sp>
      <p:sp>
        <p:nvSpPr>
          <p:cNvPr id="9" name="object-9">
            <a:extLst>
              <a:ext uri="{FF2B5EF4-FFF2-40B4-BE49-F238E27FC236}">
                <a16:creationId xmlns:a16="http://schemas.microsoft.com/office/drawing/2014/main" id="{4814DD51-0E24-4E1A-BF7C-5D34140254E7}"/>
              </a:ext>
            </a:extLst>
          </p:cNvPr>
          <p:cNvSpPr>
            <a:spLocks noGrp="1"/>
          </p:cNvSpPr>
          <p:nvPr/>
        </p:nvSpPr>
        <p:spPr>
          <a:xfrm>
            <a:off x="3690938" y="4429125"/>
            <a:ext cx="3571875" cy="35719"/>
          </a:xfrm>
          <a:prstGeom prst="rect">
            <a:avLst/>
          </a:prstGeom>
          <a:solidFill>
            <a:srgbClr val="1D4ED8"/>
          </a:solidFill>
          <a:ln w="0">
            <a:noFill/>
          </a:ln>
        </p:spPr>
      </p:sp>
      <p:sp>
        <p:nvSpPr>
          <p:cNvPr id="10" name="object-10">
            <a:extLst>
              <a:ext uri="{FF2B5EF4-FFF2-40B4-BE49-F238E27FC236}">
                <a16:creationId xmlns:a16="http://schemas.microsoft.com/office/drawing/2014/main" id="{9DBCCF21-009E-446E-94D2-12DAD3BB14BB}"/>
              </a:ext>
            </a:extLst>
          </p:cNvPr>
          <p:cNvSpPr>
            <a:spLocks noGrp="1"/>
          </p:cNvSpPr>
          <p:nvPr/>
        </p:nvSpPr>
        <p:spPr>
          <a:xfrm>
            <a:off x="8572500" y="3976688"/>
            <a:ext cx="1012031" cy="952500"/>
          </a:xfrm>
          <a:prstGeom prst="rect">
            <a:avLst/>
          </a:prstGeom>
          <a:noFill/>
          <a:ln w="0">
            <a:noFill/>
          </a:ln>
        </p:spPr>
        <p:txBody>
          <a:bodyPr anchor="ctr">
            <a:noAutofit/>
          </a:bodyPr>
          <a:lstStyle/>
          <a:p>
            <a:pPr algn="l">
              <a:defRPr sz="5344" b="0">
                <a:solidFill>
                  <a:srgbClr val="172B4D"/>
                </a:solidFill>
                <a:latin typeface="Arial"/>
                <a:ea typeface="Arial"/>
                <a:cs typeface="Arial"/>
              </a:defRPr>
            </a:pPr>
            <a:r>
              <a:rPr sz="5344" b="0">
                <a:solidFill>
                  <a:srgbClr val="172B4D"/>
                </a:solidFill>
                <a:latin typeface="Arial"/>
                <a:ea typeface="Arial"/>
                <a:cs typeface="Arial"/>
              </a:rPr>
              <a:t>=</a:t>
            </a:r>
          </a:p>
        </p:txBody>
      </p:sp>
      <p:sp>
        <p:nvSpPr>
          <p:cNvPr id="11" name="object-11">
            <a:extLst>
              <a:ext uri="{FF2B5EF4-FFF2-40B4-BE49-F238E27FC236}">
                <a16:creationId xmlns:a16="http://schemas.microsoft.com/office/drawing/2014/main" id="{89D8B6AB-026C-4B0D-A7ED-862C3E410517}"/>
              </a:ext>
            </a:extLst>
          </p:cNvPr>
          <p:cNvSpPr>
            <a:spLocks noGrp="1"/>
          </p:cNvSpPr>
          <p:nvPr/>
        </p:nvSpPr>
        <p:spPr>
          <a:xfrm>
            <a:off x="10834688" y="4429125"/>
            <a:ext cx="1666875" cy="35719"/>
          </a:xfrm>
          <a:prstGeom prst="rect">
            <a:avLst/>
          </a:prstGeom>
          <a:solidFill>
            <a:srgbClr val="11745A"/>
          </a:solidFill>
          <a:ln w="0">
            <a:noFill/>
          </a:ln>
        </p:spPr>
      </p:sp>
      <p:sp>
        <p:nvSpPr>
          <p:cNvPr id="12" name="object-12">
            <a:extLst>
              <a:ext uri="{FF2B5EF4-FFF2-40B4-BE49-F238E27FC236}">
                <a16:creationId xmlns:a16="http://schemas.microsoft.com/office/drawing/2014/main" id="{C858BB3D-064D-4B87-B3FA-CB0A5E127F74}"/>
              </a:ext>
            </a:extLst>
          </p:cNvPr>
          <p:cNvSpPr>
            <a:spLocks noGrp="1"/>
          </p:cNvSpPr>
          <p:nvPr/>
        </p:nvSpPr>
        <p:spPr>
          <a:xfrm>
            <a:off x="6548438" y="2619375"/>
            <a:ext cx="1190625" cy="738188"/>
          </a:xfrm>
          <a:prstGeom prst="rect">
            <a:avLst/>
          </a:prstGeom>
          <a:noFill/>
          <a:ln w="0">
            <a:noFill/>
          </a:ln>
        </p:spPr>
        <p:txBody>
          <a:bodyPr anchor="ctr">
            <a:noAutofit/>
          </a:bodyPr>
          <a:lstStyle/>
          <a:p>
            <a:pPr algn="ctr">
              <a:defRPr sz="4031" b="1">
                <a:solidFill>
                  <a:srgbClr val="9A5800"/>
                </a:solidFill>
                <a:latin typeface="Arial"/>
                <a:ea typeface="Arial"/>
                <a:cs typeface="Arial"/>
              </a:defRPr>
            </a:pPr>
            <a:r>
              <a:rPr sz="4031" b="1">
                <a:solidFill>
                  <a:srgbClr val="9A5800"/>
                </a:solidFill>
                <a:latin typeface="Arial"/>
                <a:ea typeface="Arial"/>
                <a:cs typeface="Arial"/>
              </a:rPr>
              <a:t>4</a:t>
            </a:r>
          </a:p>
        </p:txBody>
      </p:sp>
      <p:sp>
        <p:nvSpPr>
          <p:cNvPr id="13" name="object-13">
            <a:extLst>
              <a:ext uri="{FF2B5EF4-FFF2-40B4-BE49-F238E27FC236}">
                <a16:creationId xmlns:a16="http://schemas.microsoft.com/office/drawing/2014/main" id="{73F5E059-C604-4899-B4FF-7B3B94AF6BF0}"/>
              </a:ext>
            </a:extLst>
          </p:cNvPr>
          <p:cNvSpPr>
            <a:spLocks noGrp="1"/>
          </p:cNvSpPr>
          <p:nvPr/>
        </p:nvSpPr>
        <p:spPr>
          <a:xfrm>
            <a:off x="8036719" y="2738438"/>
            <a:ext cx="4167188" cy="547688"/>
          </a:xfrm>
          <a:prstGeom prst="rect">
            <a:avLst/>
          </a:prstGeom>
          <a:noFill/>
          <a:ln w="0">
            <a:noFill/>
          </a:ln>
        </p:spPr>
        <p:txBody>
          <a:bodyPr anchor="ctr">
            <a:noAutofit/>
          </a:bodyPr>
          <a:lstStyle/>
          <a:p>
            <a:pPr algn="l">
              <a:defRPr sz="2344" b="0">
                <a:solidFill>
                  <a:srgbClr val="9A5800"/>
                </a:solidFill>
                <a:latin typeface="Arial"/>
                <a:ea typeface="Arial"/>
                <a:cs typeface="Arial"/>
              </a:defRPr>
            </a:pPr>
            <a:r>
              <a:rPr sz="2344" b="0">
                <a:solidFill>
                  <a:srgbClr val="9A5800"/>
                </a:solidFill>
                <a:latin typeface="Arial"/>
                <a:ea typeface="Arial"/>
                <a:cs typeface="Arial"/>
              </a:rPr>
              <a:t>multiplier</a:t>
            </a:r>
          </a:p>
        </p:txBody>
      </p:sp>
      <p:sp>
        <p:nvSpPr>
          <p:cNvPr id="14" name="object-14">
            <a:extLst>
              <a:ext uri="{FF2B5EF4-FFF2-40B4-BE49-F238E27FC236}">
                <a16:creationId xmlns:a16="http://schemas.microsoft.com/office/drawing/2014/main" id="{73BBC28D-2690-4EC2-BD2F-6B556C86F4F0}"/>
              </a:ext>
            </a:extLst>
          </p:cNvPr>
          <p:cNvSpPr>
            <a:spLocks noGrp="1"/>
          </p:cNvSpPr>
          <p:nvPr/>
        </p:nvSpPr>
        <p:spPr>
          <a:xfrm>
            <a:off x="4345781" y="3571875"/>
            <a:ext cx="833438" cy="833438"/>
          </a:xfrm>
          <a:prstGeom prst="rect">
            <a:avLst/>
          </a:prstGeom>
          <a:noFill/>
          <a:ln w="0">
            <a:noFill/>
          </a:ln>
        </p:spPr>
        <p:txBody>
          <a:bodyPr anchor="ctr">
            <a:noAutofit/>
          </a:bodyPr>
          <a:lstStyle/>
          <a:p>
            <a:pPr algn="ctr">
              <a:defRPr sz="4500" b="1">
                <a:solidFill>
                  <a:srgbClr val="9A5800"/>
                </a:solidFill>
                <a:latin typeface="Arial"/>
                <a:ea typeface="Arial"/>
                <a:cs typeface="Arial"/>
              </a:defRPr>
            </a:pPr>
            <a:r>
              <a:rPr sz="4500" b="1">
                <a:solidFill>
                  <a:srgbClr val="9A5800"/>
                </a:solidFill>
                <a:latin typeface="Arial"/>
                <a:ea typeface="Arial"/>
                <a:cs typeface="Arial"/>
              </a:rPr>
              <a:t>×</a:t>
            </a:r>
          </a:p>
        </p:txBody>
      </p:sp>
      <p:sp>
        <p:nvSpPr>
          <p:cNvPr id="15" name="object-15">
            <a:extLst>
              <a:ext uri="{FF2B5EF4-FFF2-40B4-BE49-F238E27FC236}">
                <a16:creationId xmlns:a16="http://schemas.microsoft.com/office/drawing/2014/main" id="{F35A26C6-EAC3-4E52-B359-2EE88137C067}"/>
              </a:ext>
            </a:extLst>
          </p:cNvPr>
          <p:cNvSpPr>
            <a:spLocks noGrp="1"/>
          </p:cNvSpPr>
          <p:nvPr/>
        </p:nvSpPr>
        <p:spPr>
          <a:xfrm>
            <a:off x="6548438" y="2619375"/>
            <a:ext cx="1190625" cy="738188"/>
          </a:xfrm>
          <a:prstGeom prst="rect">
            <a:avLst/>
          </a:prstGeom>
          <a:noFill/>
          <a:ln w="0">
            <a:noFill/>
          </a:ln>
        </p:spPr>
        <p:txBody>
          <a:bodyPr anchor="ctr">
            <a:noAutofit/>
          </a:bodyPr>
          <a:lstStyle/>
          <a:p>
            <a:pPr algn="ctr">
              <a:defRPr sz="4031" b="1">
                <a:solidFill>
                  <a:srgbClr val="9A5800"/>
                </a:solidFill>
                <a:latin typeface="Arial"/>
                <a:ea typeface="Arial"/>
                <a:cs typeface="Arial"/>
              </a:defRPr>
            </a:pPr>
            <a:r>
              <a:rPr sz="4031" b="1">
                <a:solidFill>
                  <a:srgbClr val="9A5800"/>
                </a:solidFill>
                <a:latin typeface="Arial"/>
                <a:ea typeface="Arial"/>
                <a:cs typeface="Arial"/>
              </a:rPr>
              <a:t>4</a:t>
            </a:r>
          </a:p>
        </p:txBody>
      </p:sp>
      <p:sp>
        <p:nvSpPr>
          <p:cNvPr id="16" name="object-16">
            <a:extLst>
              <a:ext uri="{FF2B5EF4-FFF2-40B4-BE49-F238E27FC236}">
                <a16:creationId xmlns:a16="http://schemas.microsoft.com/office/drawing/2014/main" id="{31AEA8A7-6236-495E-AE6F-60CBAFB99556}"/>
              </a:ext>
            </a:extLst>
          </p:cNvPr>
          <p:cNvSpPr>
            <a:spLocks noGrp="1"/>
          </p:cNvSpPr>
          <p:nvPr/>
        </p:nvSpPr>
        <p:spPr>
          <a:xfrm>
            <a:off x="7739063" y="3571875"/>
            <a:ext cx="1547813" cy="833438"/>
          </a:xfrm>
          <a:prstGeom prst="rect">
            <a:avLst/>
          </a:prstGeom>
          <a:noFill/>
          <a:ln w="0">
            <a:noFill/>
          </a:ln>
        </p:spPr>
        <p:txBody>
          <a:bodyPr anchor="ctr">
            <a:noAutofit/>
          </a:bodyPr>
          <a:lstStyle/>
          <a:p>
            <a:pPr algn="ctr">
              <a:defRPr sz="5156" b="1">
                <a:solidFill>
                  <a:srgbClr val="11745A"/>
                </a:solidFill>
                <a:latin typeface="Arial"/>
                <a:ea typeface="Arial"/>
                <a:cs typeface="Arial"/>
              </a:defRPr>
            </a:pPr>
            <a:r>
              <a:rPr sz="5156" b="1">
                <a:solidFill>
                  <a:srgbClr val="11745A"/>
                </a:solidFill>
                <a:latin typeface="Arial"/>
                <a:ea typeface="Arial"/>
                <a:cs typeface="Arial"/>
              </a:rPr>
              <a:t>20</a:t>
            </a:r>
          </a:p>
        </p:txBody>
      </p:sp>
      <p:sp>
        <p:nvSpPr>
          <p:cNvPr id="17" name="object-17">
            <a:extLst>
              <a:ext uri="{FF2B5EF4-FFF2-40B4-BE49-F238E27FC236}">
                <a16:creationId xmlns:a16="http://schemas.microsoft.com/office/drawing/2014/main" id="{C159116F-4D7B-4D47-8950-A8289E05A4F4}"/>
              </a:ext>
            </a:extLst>
          </p:cNvPr>
          <p:cNvSpPr>
            <a:spLocks noGrp="1"/>
          </p:cNvSpPr>
          <p:nvPr/>
        </p:nvSpPr>
        <p:spPr>
          <a:xfrm>
            <a:off x="4345781" y="4524375"/>
            <a:ext cx="833438" cy="833438"/>
          </a:xfrm>
          <a:prstGeom prst="rect">
            <a:avLst/>
          </a:prstGeom>
          <a:noFill/>
          <a:ln w="0">
            <a:noFill/>
          </a:ln>
        </p:spPr>
        <p:txBody>
          <a:bodyPr anchor="ctr">
            <a:noAutofit/>
          </a:bodyPr>
          <a:lstStyle/>
          <a:p>
            <a:pPr algn="ctr">
              <a:defRPr sz="4500" b="1">
                <a:solidFill>
                  <a:srgbClr val="9A5800"/>
                </a:solidFill>
                <a:latin typeface="Arial"/>
                <a:ea typeface="Arial"/>
                <a:cs typeface="Arial"/>
              </a:defRPr>
            </a:pPr>
            <a:r>
              <a:rPr sz="4500" b="1">
                <a:solidFill>
                  <a:srgbClr val="9A5800"/>
                </a:solidFill>
                <a:latin typeface="Arial"/>
                <a:ea typeface="Arial"/>
                <a:cs typeface="Arial"/>
              </a:rPr>
              <a:t>×</a:t>
            </a:r>
          </a:p>
        </p:txBody>
      </p:sp>
      <p:sp>
        <p:nvSpPr>
          <p:cNvPr id="18" name="object-18">
            <a:extLst>
              <a:ext uri="{FF2B5EF4-FFF2-40B4-BE49-F238E27FC236}">
                <a16:creationId xmlns:a16="http://schemas.microsoft.com/office/drawing/2014/main" id="{C4DC9D62-1640-48FE-A8F0-859001302EF6}"/>
              </a:ext>
            </a:extLst>
          </p:cNvPr>
          <p:cNvSpPr>
            <a:spLocks noGrp="1"/>
          </p:cNvSpPr>
          <p:nvPr/>
        </p:nvSpPr>
        <p:spPr>
          <a:xfrm>
            <a:off x="6548438" y="2619375"/>
            <a:ext cx="1190625" cy="738188"/>
          </a:xfrm>
          <a:prstGeom prst="rect">
            <a:avLst/>
          </a:prstGeom>
          <a:noFill/>
          <a:ln w="0">
            <a:noFill/>
          </a:ln>
        </p:spPr>
        <p:txBody>
          <a:bodyPr anchor="ctr">
            <a:noAutofit/>
          </a:bodyPr>
          <a:lstStyle/>
          <a:p>
            <a:pPr algn="ctr">
              <a:defRPr sz="4031" b="1">
                <a:solidFill>
                  <a:srgbClr val="9A5800"/>
                </a:solidFill>
                <a:latin typeface="Arial"/>
                <a:ea typeface="Arial"/>
                <a:cs typeface="Arial"/>
              </a:defRPr>
            </a:pPr>
            <a:r>
              <a:rPr sz="4031" b="1">
                <a:solidFill>
                  <a:srgbClr val="9A5800"/>
                </a:solidFill>
                <a:latin typeface="Arial"/>
                <a:ea typeface="Arial"/>
                <a:cs typeface="Arial"/>
              </a:rPr>
              <a:t>4</a:t>
            </a:r>
          </a:p>
        </p:txBody>
      </p:sp>
      <p:sp>
        <p:nvSpPr>
          <p:cNvPr id="19" name="object-19">
            <a:extLst>
              <a:ext uri="{FF2B5EF4-FFF2-40B4-BE49-F238E27FC236}">
                <a16:creationId xmlns:a16="http://schemas.microsoft.com/office/drawing/2014/main" id="{9F450426-A127-44A5-99ED-EE7067FF2A99}"/>
              </a:ext>
            </a:extLst>
          </p:cNvPr>
          <p:cNvSpPr>
            <a:spLocks noGrp="1"/>
          </p:cNvSpPr>
          <p:nvPr/>
        </p:nvSpPr>
        <p:spPr>
          <a:xfrm>
            <a:off x="7739063" y="4524375"/>
            <a:ext cx="1547813" cy="833438"/>
          </a:xfrm>
          <a:prstGeom prst="rect">
            <a:avLst/>
          </a:prstGeom>
          <a:noFill/>
          <a:ln w="0">
            <a:noFill/>
          </a:ln>
        </p:spPr>
        <p:txBody>
          <a:bodyPr anchor="ctr">
            <a:noAutofit/>
          </a:bodyPr>
          <a:lstStyle/>
          <a:p>
            <a:pPr algn="ctr">
              <a:defRPr sz="5156" b="1">
                <a:solidFill>
                  <a:srgbClr val="11745A"/>
                </a:solidFill>
                <a:latin typeface="Arial"/>
                <a:ea typeface="Arial"/>
                <a:cs typeface="Arial"/>
              </a:defRPr>
            </a:pPr>
            <a:r>
              <a:rPr sz="5156" b="1">
                <a:solidFill>
                  <a:srgbClr val="11745A"/>
                </a:solidFill>
                <a:latin typeface="Arial"/>
                <a:ea typeface="Arial"/>
                <a:cs typeface="Arial"/>
              </a:rPr>
              <a:t>24</a:t>
            </a:r>
          </a:p>
        </p:txBody>
      </p:sp>
      <p:sp>
        <p:nvSpPr>
          <p:cNvPr id="20" name="object-20">
            <a:extLst>
              <a:ext uri="{FF2B5EF4-FFF2-40B4-BE49-F238E27FC236}">
                <a16:creationId xmlns:a16="http://schemas.microsoft.com/office/drawing/2014/main" id="{A52C48BD-6DB6-4889-BC86-FB0E2AD23078}"/>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The same value, renamed with more equal parts.</a:t>
            </a:r>
          </a:p>
        </p:txBody>
      </p:sp>
    </p:spTree>
    <p:extLst>
      <p:ext uri="{BB962C8B-B14F-4D97-AF65-F5344CB8AC3E}">
        <p14:creationId xmlns:p14="http://schemas.microsoft.com/office/powerpoint/2010/main" val="465442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par>
                          <p:cTn id="9" fill="hold">
                            <p:stCondLst>
                              <p:cond delay="0"/>
                            </p:stCondLst>
                            <p:childTnLst>
                              <p:par>
                                <p:cTn id="10" presetID="63" presetClass="path" presetSubtype="0" accel="50000" decel="50000" fill="hold" grpId="1" nodeType="afterEffect">
                                  <p:stCondLst>
                                    <p:cond delay="0"/>
                                  </p:stCondLst>
                                  <p:childTnLst>
                                    <p:animMotion origin="layout" path="M 0 0 L -0.0390625 0.11388889 E" pathEditMode="relative" ptsTypes="">
                                      <p:cBhvr>
                                        <p:cTn id="11" dur="800" fill="hold"/>
                                        <p:tgtEl>
                                          <p:spTgt spid="15"/>
                                        </p:tgtEl>
                                        <p:attrNameLst>
                                          <p:attrName>ppt_x</p:attrName>
                                          <p:attrName>ppt_y</p:attrName>
                                        </p:attrNameLst>
                                      </p:cBhvr>
                                    </p:animMotion>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63" presetClass="path" presetSubtype="0" accel="50000" decel="50000" fill="hold" grpId="1" nodeType="afterEffect">
                                  <p:stCondLst>
                                    <p:cond delay="0"/>
                                  </p:stCondLst>
                                  <p:childTnLst>
                                    <p:animMotion origin="layout" path="M 0 0 L 0.20703125 0 E" pathEditMode="relative" ptsTypes="">
                                      <p:cBhvr>
                                        <p:cTn id="18" dur="800" fill="hold"/>
                                        <p:tgtEl>
                                          <p:spTgt spid="16"/>
                                        </p:tgtEl>
                                        <p:attrNameLst>
                                          <p:attrName>ppt_x</p:attrName>
                                          <p:attrName>ppt_y</p:attrName>
                                        </p:attrNameLst>
                                      </p:cBhvr>
                                    </p:animMotion>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par>
                          <p:cTn id="25" fill="hold">
                            <p:stCondLst>
                              <p:cond delay="0"/>
                            </p:stCondLst>
                            <p:childTnLst>
                              <p:par>
                                <p:cTn id="26" presetID="63" presetClass="path" presetSubtype="0" accel="50000" decel="50000" fill="hold" grpId="1" nodeType="afterEffect">
                                  <p:stCondLst>
                                    <p:cond delay="0"/>
                                  </p:stCondLst>
                                  <p:childTnLst>
                                    <p:animMotion origin="layout" path="M 0 0 L -0.0390625 0.225 E" pathEditMode="relative" ptsTypes="">
                                      <p:cBhvr>
                                        <p:cTn id="27" dur="800" fill="hold"/>
                                        <p:tgtEl>
                                          <p:spTgt spid="18"/>
                                        </p:tgtEl>
                                        <p:attrNameLst>
                                          <p:attrName>ppt_x</p:attrName>
                                          <p:attrName>ppt_y</p:attrName>
                                        </p:attrNameLst>
                                      </p:cBhvr>
                                    </p:animMotion>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19"/>
                                        </p:tgtEl>
                                        <p:attrNameLst>
                                          <p:attrName>style.visibility</p:attrName>
                                        </p:attrNameLst>
                                      </p:cBhvr>
                                      <p:to>
                                        <p:strVal val="visible"/>
                                      </p:to>
                                    </p:set>
                                  </p:childTnLst>
                                </p:cTn>
                              </p:par>
                            </p:childTnLst>
                          </p:cTn>
                        </p:par>
                        <p:par>
                          <p:cTn id="32" fill="hold">
                            <p:stCondLst>
                              <p:cond delay="0"/>
                            </p:stCondLst>
                            <p:childTnLst>
                              <p:par>
                                <p:cTn id="33" presetID="63" presetClass="path" presetSubtype="0" accel="50000" decel="50000" fill="hold" grpId="1" nodeType="afterEffect">
                                  <p:stCondLst>
                                    <p:cond delay="0"/>
                                  </p:stCondLst>
                                  <p:childTnLst>
                                    <p:animMotion origin="layout" path="M 0 0 L 0.20703125 0 E" pathEditMode="relative" ptsTypes="">
                                      <p:cBhvr>
                                        <p:cTn id="34" dur="800" fill="hold"/>
                                        <p:tgtEl>
                                          <p:spTgt spid="19"/>
                                        </p:tgtEl>
                                        <p:attrNameLst>
                                          <p:attrName>ppt_x</p:attrName>
                                          <p:attrName>ppt_y</p:attrName>
                                        </p:attrNameLst>
                                      </p:cBhvr>
                                    </p:animMotion>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5" grpId="1"/>
      <p:bldP spid="16" grpId="0"/>
      <p:bldP spid="16" grpId="1"/>
      <p:bldP spid="17" grpId="0"/>
      <p:bldP spid="18" grpId="0"/>
      <p:bldP spid="18" grpId="1"/>
      <p:bldP spid="19" grpId="0"/>
      <p:bldP spid="19" grpId="1"/>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object-1">
            <a:extLst>
              <a:ext uri="{FF2B5EF4-FFF2-40B4-BE49-F238E27FC236}">
                <a16:creationId xmlns:a16="http://schemas.microsoft.com/office/drawing/2014/main" id="{2E692BD4-7329-4E94-B623-80FD0ED88239}"/>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981281A8-DFA3-4DAC-AD35-697749208387}"/>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F2237200-212D-488B-99C9-634E4D2E4DCA}"/>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Write 4/6 with denominator 24.</a:t>
            </a:r>
          </a:p>
        </p:txBody>
      </p:sp>
      <p:sp>
        <p:nvSpPr>
          <p:cNvPr id="4" name="object-4">
            <a:extLst>
              <a:ext uri="{FF2B5EF4-FFF2-40B4-BE49-F238E27FC236}">
                <a16:creationId xmlns:a16="http://schemas.microsoft.com/office/drawing/2014/main" id="{823CEE2B-F853-4208-9419-5B9322C5600D}"/>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6F068F4C-8346-4350-8A11-9D9F0462153F}"/>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Generate equivalent fractions</a:t>
            </a:r>
          </a:p>
        </p:txBody>
      </p:sp>
      <p:sp>
        <p:nvSpPr>
          <p:cNvPr id="6" name="object-6">
            <a:extLst>
              <a:ext uri="{FF2B5EF4-FFF2-40B4-BE49-F238E27FC236}">
                <a16:creationId xmlns:a16="http://schemas.microsoft.com/office/drawing/2014/main" id="{91752717-ADED-4EB6-B312-BB3D3D8B4058}"/>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A40E1AD0-110C-4F2D-8D9B-72F846F215AE}"/>
              </a:ext>
            </a:extLst>
          </p:cNvPr>
          <p:cNvSpPr>
            <a:spLocks noGrp="1"/>
          </p:cNvSpPr>
          <p:nvPr/>
        </p:nvSpPr>
        <p:spPr>
          <a:xfrm>
            <a:off x="1905000" y="3571875"/>
            <a:ext cx="1785938" cy="833438"/>
          </a:xfrm>
          <a:prstGeom prst="rect">
            <a:avLst/>
          </a:prstGeom>
          <a:noFill/>
          <a:ln w="0">
            <a:noFill/>
          </a:ln>
        </p:spPr>
        <p:txBody>
          <a:bodyPr anchor="ctr">
            <a:noAutofit/>
          </a:bodyPr>
          <a:lstStyle/>
          <a:p>
            <a:pPr algn="ctr">
              <a:defRPr sz="5156" b="1">
                <a:solidFill>
                  <a:srgbClr val="1D4ED8"/>
                </a:solidFill>
                <a:latin typeface="Arial"/>
                <a:ea typeface="Arial"/>
                <a:cs typeface="Arial"/>
              </a:defRPr>
            </a:pPr>
            <a:r>
              <a:rPr sz="5156" b="1">
                <a:solidFill>
                  <a:srgbClr val="1D4ED8"/>
                </a:solidFill>
                <a:latin typeface="Arial"/>
                <a:ea typeface="Arial"/>
                <a:cs typeface="Arial"/>
              </a:rPr>
              <a:t>4</a:t>
            </a:r>
          </a:p>
        </p:txBody>
      </p:sp>
      <p:sp>
        <p:nvSpPr>
          <p:cNvPr id="8" name="object-8">
            <a:extLst>
              <a:ext uri="{FF2B5EF4-FFF2-40B4-BE49-F238E27FC236}">
                <a16:creationId xmlns:a16="http://schemas.microsoft.com/office/drawing/2014/main" id="{DB25E36C-1507-437C-B055-B4CB668E505D}"/>
              </a:ext>
            </a:extLst>
          </p:cNvPr>
          <p:cNvSpPr>
            <a:spLocks noGrp="1"/>
          </p:cNvSpPr>
          <p:nvPr/>
        </p:nvSpPr>
        <p:spPr>
          <a:xfrm>
            <a:off x="1905000" y="4429125"/>
            <a:ext cx="1785938" cy="35719"/>
          </a:xfrm>
          <a:prstGeom prst="rect">
            <a:avLst/>
          </a:prstGeom>
          <a:solidFill>
            <a:srgbClr val="1D4ED8"/>
          </a:solidFill>
          <a:ln w="0">
            <a:noFill/>
          </a:ln>
        </p:spPr>
      </p:sp>
      <p:sp>
        <p:nvSpPr>
          <p:cNvPr id="9" name="object-9">
            <a:extLst>
              <a:ext uri="{FF2B5EF4-FFF2-40B4-BE49-F238E27FC236}">
                <a16:creationId xmlns:a16="http://schemas.microsoft.com/office/drawing/2014/main" id="{FBA2894C-BB0C-4C6A-852E-6A400F881052}"/>
              </a:ext>
            </a:extLst>
          </p:cNvPr>
          <p:cNvSpPr>
            <a:spLocks noGrp="1"/>
          </p:cNvSpPr>
          <p:nvPr/>
        </p:nvSpPr>
        <p:spPr>
          <a:xfrm>
            <a:off x="1905000" y="4524375"/>
            <a:ext cx="1785938" cy="833438"/>
          </a:xfrm>
          <a:prstGeom prst="rect">
            <a:avLst/>
          </a:prstGeom>
          <a:noFill/>
          <a:ln w="0">
            <a:noFill/>
          </a:ln>
        </p:spPr>
        <p:txBody>
          <a:bodyPr anchor="ctr">
            <a:noAutofit/>
          </a:bodyPr>
          <a:lstStyle/>
          <a:p>
            <a:pPr algn="ctr">
              <a:defRPr sz="5156" b="1">
                <a:solidFill>
                  <a:srgbClr val="1D4ED8"/>
                </a:solidFill>
                <a:latin typeface="Arial"/>
                <a:ea typeface="Arial"/>
                <a:cs typeface="Arial"/>
              </a:defRPr>
            </a:pPr>
            <a:r>
              <a:rPr sz="5156" b="1">
                <a:solidFill>
                  <a:srgbClr val="1D4ED8"/>
                </a:solidFill>
                <a:latin typeface="Arial"/>
                <a:ea typeface="Arial"/>
                <a:cs typeface="Arial"/>
              </a:rPr>
              <a:t>6</a:t>
            </a:r>
          </a:p>
        </p:txBody>
      </p:sp>
      <p:sp>
        <p:nvSpPr>
          <p:cNvPr id="10" name="object-10">
            <a:extLst>
              <a:ext uri="{FF2B5EF4-FFF2-40B4-BE49-F238E27FC236}">
                <a16:creationId xmlns:a16="http://schemas.microsoft.com/office/drawing/2014/main" id="{85F86045-E6B3-4678-A0D6-C009A65668E9}"/>
              </a:ext>
            </a:extLst>
          </p:cNvPr>
          <p:cNvSpPr>
            <a:spLocks noGrp="1"/>
          </p:cNvSpPr>
          <p:nvPr/>
        </p:nvSpPr>
        <p:spPr>
          <a:xfrm>
            <a:off x="3690938" y="4429125"/>
            <a:ext cx="3571875" cy="35719"/>
          </a:xfrm>
          <a:prstGeom prst="rect">
            <a:avLst/>
          </a:prstGeom>
          <a:solidFill>
            <a:srgbClr val="1D4ED8"/>
          </a:solidFill>
          <a:ln w="0">
            <a:noFill/>
          </a:ln>
        </p:spPr>
      </p:sp>
      <p:sp>
        <p:nvSpPr>
          <p:cNvPr id="11" name="object-11">
            <a:extLst>
              <a:ext uri="{FF2B5EF4-FFF2-40B4-BE49-F238E27FC236}">
                <a16:creationId xmlns:a16="http://schemas.microsoft.com/office/drawing/2014/main" id="{0DFDCFEE-EC88-417F-B9D6-70493E186BC1}"/>
              </a:ext>
            </a:extLst>
          </p:cNvPr>
          <p:cNvSpPr>
            <a:spLocks noGrp="1"/>
          </p:cNvSpPr>
          <p:nvPr/>
        </p:nvSpPr>
        <p:spPr>
          <a:xfrm>
            <a:off x="8572500" y="3976688"/>
            <a:ext cx="1012031" cy="952500"/>
          </a:xfrm>
          <a:prstGeom prst="rect">
            <a:avLst/>
          </a:prstGeom>
          <a:noFill/>
          <a:ln w="0">
            <a:noFill/>
          </a:ln>
        </p:spPr>
        <p:txBody>
          <a:bodyPr anchor="ctr">
            <a:noAutofit/>
          </a:bodyPr>
          <a:lstStyle/>
          <a:p>
            <a:pPr algn="l">
              <a:defRPr sz="5344" b="0">
                <a:solidFill>
                  <a:srgbClr val="172B4D"/>
                </a:solidFill>
                <a:latin typeface="Arial"/>
                <a:ea typeface="Arial"/>
                <a:cs typeface="Arial"/>
              </a:defRPr>
            </a:pPr>
            <a:r>
              <a:rPr sz="5344" b="0">
                <a:solidFill>
                  <a:srgbClr val="172B4D"/>
                </a:solidFill>
                <a:latin typeface="Arial"/>
                <a:ea typeface="Arial"/>
                <a:cs typeface="Arial"/>
              </a:rPr>
              <a:t>=</a:t>
            </a:r>
          </a:p>
        </p:txBody>
      </p:sp>
      <p:sp>
        <p:nvSpPr>
          <p:cNvPr id="12" name="object-12">
            <a:extLst>
              <a:ext uri="{FF2B5EF4-FFF2-40B4-BE49-F238E27FC236}">
                <a16:creationId xmlns:a16="http://schemas.microsoft.com/office/drawing/2014/main" id="{AC9A2F40-F94F-46A4-AFF6-2E722841E186}"/>
              </a:ext>
            </a:extLst>
          </p:cNvPr>
          <p:cNvSpPr>
            <a:spLocks noGrp="1"/>
          </p:cNvSpPr>
          <p:nvPr/>
        </p:nvSpPr>
        <p:spPr>
          <a:xfrm>
            <a:off x="10834688" y="4429125"/>
            <a:ext cx="1666875" cy="35719"/>
          </a:xfrm>
          <a:prstGeom prst="rect">
            <a:avLst/>
          </a:prstGeom>
          <a:solidFill>
            <a:srgbClr val="11745A"/>
          </a:solidFill>
          <a:ln w="0">
            <a:noFill/>
          </a:ln>
        </p:spPr>
      </p:sp>
      <p:sp>
        <p:nvSpPr>
          <p:cNvPr id="13" name="object-13">
            <a:extLst>
              <a:ext uri="{FF2B5EF4-FFF2-40B4-BE49-F238E27FC236}">
                <a16:creationId xmlns:a16="http://schemas.microsoft.com/office/drawing/2014/main" id="{8BC17186-1B74-46F4-8FE2-C49DE908F967}"/>
              </a:ext>
            </a:extLst>
          </p:cNvPr>
          <p:cNvSpPr>
            <a:spLocks noGrp="1"/>
          </p:cNvSpPr>
          <p:nvPr/>
        </p:nvSpPr>
        <p:spPr>
          <a:xfrm>
            <a:off x="6548438" y="2619375"/>
            <a:ext cx="1190625" cy="738188"/>
          </a:xfrm>
          <a:prstGeom prst="rect">
            <a:avLst/>
          </a:prstGeom>
          <a:noFill/>
          <a:ln w="0">
            <a:noFill/>
          </a:ln>
        </p:spPr>
        <p:txBody>
          <a:bodyPr anchor="ctr">
            <a:noAutofit/>
          </a:bodyPr>
          <a:lstStyle/>
          <a:p>
            <a:pPr algn="ctr">
              <a:defRPr sz="4031" b="1">
                <a:solidFill>
                  <a:srgbClr val="9A5800"/>
                </a:solidFill>
                <a:latin typeface="Arial"/>
                <a:ea typeface="Arial"/>
                <a:cs typeface="Arial"/>
              </a:defRPr>
            </a:pPr>
            <a:r>
              <a:rPr sz="4031" b="1">
                <a:solidFill>
                  <a:srgbClr val="9A5800"/>
                </a:solidFill>
                <a:latin typeface="Arial"/>
                <a:ea typeface="Arial"/>
                <a:cs typeface="Arial"/>
              </a:rPr>
              <a:t>4</a:t>
            </a:r>
          </a:p>
        </p:txBody>
      </p:sp>
      <p:sp>
        <p:nvSpPr>
          <p:cNvPr id="14" name="object-14">
            <a:extLst>
              <a:ext uri="{FF2B5EF4-FFF2-40B4-BE49-F238E27FC236}">
                <a16:creationId xmlns:a16="http://schemas.microsoft.com/office/drawing/2014/main" id="{C467D782-BE04-4BD7-8A18-F65B6388EDFC}"/>
              </a:ext>
            </a:extLst>
          </p:cNvPr>
          <p:cNvSpPr>
            <a:spLocks noGrp="1"/>
          </p:cNvSpPr>
          <p:nvPr/>
        </p:nvSpPr>
        <p:spPr>
          <a:xfrm>
            <a:off x="8036719" y="2738438"/>
            <a:ext cx="4167188" cy="547688"/>
          </a:xfrm>
          <a:prstGeom prst="rect">
            <a:avLst/>
          </a:prstGeom>
          <a:noFill/>
          <a:ln w="0">
            <a:noFill/>
          </a:ln>
        </p:spPr>
        <p:txBody>
          <a:bodyPr anchor="ctr">
            <a:noAutofit/>
          </a:bodyPr>
          <a:lstStyle/>
          <a:p>
            <a:pPr algn="l">
              <a:defRPr sz="2344" b="0">
                <a:solidFill>
                  <a:srgbClr val="9A5800"/>
                </a:solidFill>
                <a:latin typeface="Arial"/>
                <a:ea typeface="Arial"/>
                <a:cs typeface="Arial"/>
              </a:defRPr>
            </a:pPr>
            <a:r>
              <a:rPr sz="2344" b="0">
                <a:solidFill>
                  <a:srgbClr val="9A5800"/>
                </a:solidFill>
                <a:latin typeface="Arial"/>
                <a:ea typeface="Arial"/>
                <a:cs typeface="Arial"/>
              </a:rPr>
              <a:t>multiplier</a:t>
            </a:r>
          </a:p>
        </p:txBody>
      </p:sp>
      <p:sp>
        <p:nvSpPr>
          <p:cNvPr id="15" name="object-15">
            <a:extLst>
              <a:ext uri="{FF2B5EF4-FFF2-40B4-BE49-F238E27FC236}">
                <a16:creationId xmlns:a16="http://schemas.microsoft.com/office/drawing/2014/main" id="{C9425D76-AF6D-464B-8B7D-135D8CF341CD}"/>
              </a:ext>
            </a:extLst>
          </p:cNvPr>
          <p:cNvSpPr>
            <a:spLocks noGrp="1"/>
          </p:cNvSpPr>
          <p:nvPr/>
        </p:nvSpPr>
        <p:spPr>
          <a:xfrm>
            <a:off x="4345781" y="3571875"/>
            <a:ext cx="833438" cy="833438"/>
          </a:xfrm>
          <a:prstGeom prst="rect">
            <a:avLst/>
          </a:prstGeom>
          <a:noFill/>
          <a:ln w="0">
            <a:noFill/>
          </a:ln>
        </p:spPr>
        <p:txBody>
          <a:bodyPr anchor="ctr">
            <a:noAutofit/>
          </a:bodyPr>
          <a:lstStyle/>
          <a:p>
            <a:pPr algn="ctr">
              <a:defRPr sz="4500" b="1">
                <a:solidFill>
                  <a:srgbClr val="9A5800"/>
                </a:solidFill>
                <a:latin typeface="Arial"/>
                <a:ea typeface="Arial"/>
                <a:cs typeface="Arial"/>
              </a:defRPr>
            </a:pPr>
            <a:r>
              <a:rPr sz="4500" b="1">
                <a:solidFill>
                  <a:srgbClr val="9A5800"/>
                </a:solidFill>
                <a:latin typeface="Arial"/>
                <a:ea typeface="Arial"/>
                <a:cs typeface="Arial"/>
              </a:rPr>
              <a:t>×</a:t>
            </a:r>
          </a:p>
        </p:txBody>
      </p:sp>
      <p:sp>
        <p:nvSpPr>
          <p:cNvPr id="16" name="object-16">
            <a:extLst>
              <a:ext uri="{FF2B5EF4-FFF2-40B4-BE49-F238E27FC236}">
                <a16:creationId xmlns:a16="http://schemas.microsoft.com/office/drawing/2014/main" id="{85C8499E-1CAA-422C-B1C2-42015CB0A66C}"/>
              </a:ext>
            </a:extLst>
          </p:cNvPr>
          <p:cNvSpPr>
            <a:spLocks noGrp="1"/>
          </p:cNvSpPr>
          <p:nvPr/>
        </p:nvSpPr>
        <p:spPr>
          <a:xfrm>
            <a:off x="6548438" y="2619375"/>
            <a:ext cx="1190625" cy="738188"/>
          </a:xfrm>
          <a:prstGeom prst="rect">
            <a:avLst/>
          </a:prstGeom>
          <a:noFill/>
          <a:ln w="0">
            <a:noFill/>
          </a:ln>
        </p:spPr>
        <p:txBody>
          <a:bodyPr anchor="ctr">
            <a:noAutofit/>
          </a:bodyPr>
          <a:lstStyle/>
          <a:p>
            <a:pPr algn="ctr">
              <a:defRPr sz="4031" b="1">
                <a:solidFill>
                  <a:srgbClr val="9A5800"/>
                </a:solidFill>
                <a:latin typeface="Arial"/>
                <a:ea typeface="Arial"/>
                <a:cs typeface="Arial"/>
              </a:defRPr>
            </a:pPr>
            <a:r>
              <a:rPr sz="4031" b="1">
                <a:solidFill>
                  <a:srgbClr val="9A5800"/>
                </a:solidFill>
                <a:latin typeface="Arial"/>
                <a:ea typeface="Arial"/>
                <a:cs typeface="Arial"/>
              </a:rPr>
              <a:t>4</a:t>
            </a:r>
          </a:p>
        </p:txBody>
      </p:sp>
      <p:sp>
        <p:nvSpPr>
          <p:cNvPr id="17" name="object-17">
            <a:extLst>
              <a:ext uri="{FF2B5EF4-FFF2-40B4-BE49-F238E27FC236}">
                <a16:creationId xmlns:a16="http://schemas.microsoft.com/office/drawing/2014/main" id="{6EE82A51-A9DC-4764-B256-AF9A8832EBD5}"/>
              </a:ext>
            </a:extLst>
          </p:cNvPr>
          <p:cNvSpPr>
            <a:spLocks noGrp="1"/>
          </p:cNvSpPr>
          <p:nvPr/>
        </p:nvSpPr>
        <p:spPr>
          <a:xfrm>
            <a:off x="7739063" y="3571875"/>
            <a:ext cx="1547813" cy="833438"/>
          </a:xfrm>
          <a:prstGeom prst="rect">
            <a:avLst/>
          </a:prstGeom>
          <a:noFill/>
          <a:ln w="0">
            <a:noFill/>
          </a:ln>
        </p:spPr>
        <p:txBody>
          <a:bodyPr anchor="ctr">
            <a:noAutofit/>
          </a:bodyPr>
          <a:lstStyle/>
          <a:p>
            <a:pPr algn="ctr">
              <a:defRPr sz="5156" b="1">
                <a:solidFill>
                  <a:srgbClr val="11745A"/>
                </a:solidFill>
                <a:latin typeface="Arial"/>
                <a:ea typeface="Arial"/>
                <a:cs typeface="Arial"/>
              </a:defRPr>
            </a:pPr>
            <a:r>
              <a:rPr sz="5156" b="1">
                <a:solidFill>
                  <a:srgbClr val="11745A"/>
                </a:solidFill>
                <a:latin typeface="Arial"/>
                <a:ea typeface="Arial"/>
                <a:cs typeface="Arial"/>
              </a:rPr>
              <a:t>16</a:t>
            </a:r>
          </a:p>
        </p:txBody>
      </p:sp>
      <p:sp>
        <p:nvSpPr>
          <p:cNvPr id="18" name="object-18">
            <a:extLst>
              <a:ext uri="{FF2B5EF4-FFF2-40B4-BE49-F238E27FC236}">
                <a16:creationId xmlns:a16="http://schemas.microsoft.com/office/drawing/2014/main" id="{0E1E9A8C-6F92-409D-AC9B-2D82DCC47836}"/>
              </a:ext>
            </a:extLst>
          </p:cNvPr>
          <p:cNvSpPr>
            <a:spLocks noGrp="1"/>
          </p:cNvSpPr>
          <p:nvPr/>
        </p:nvSpPr>
        <p:spPr>
          <a:xfrm>
            <a:off x="4345781" y="4524375"/>
            <a:ext cx="833438" cy="833438"/>
          </a:xfrm>
          <a:prstGeom prst="rect">
            <a:avLst/>
          </a:prstGeom>
          <a:noFill/>
          <a:ln w="0">
            <a:noFill/>
          </a:ln>
        </p:spPr>
        <p:txBody>
          <a:bodyPr anchor="ctr">
            <a:noAutofit/>
          </a:bodyPr>
          <a:lstStyle/>
          <a:p>
            <a:pPr algn="ctr">
              <a:defRPr sz="4500" b="1">
                <a:solidFill>
                  <a:srgbClr val="9A5800"/>
                </a:solidFill>
                <a:latin typeface="Arial"/>
                <a:ea typeface="Arial"/>
                <a:cs typeface="Arial"/>
              </a:defRPr>
            </a:pPr>
            <a:r>
              <a:rPr sz="4500" b="1">
                <a:solidFill>
                  <a:srgbClr val="9A5800"/>
                </a:solidFill>
                <a:latin typeface="Arial"/>
                <a:ea typeface="Arial"/>
                <a:cs typeface="Arial"/>
              </a:rPr>
              <a:t>×</a:t>
            </a:r>
          </a:p>
        </p:txBody>
      </p:sp>
      <p:sp>
        <p:nvSpPr>
          <p:cNvPr id="19" name="object-19">
            <a:extLst>
              <a:ext uri="{FF2B5EF4-FFF2-40B4-BE49-F238E27FC236}">
                <a16:creationId xmlns:a16="http://schemas.microsoft.com/office/drawing/2014/main" id="{582B3874-4CF7-4B7B-A1DC-EA1C1AF53FAC}"/>
              </a:ext>
            </a:extLst>
          </p:cNvPr>
          <p:cNvSpPr>
            <a:spLocks noGrp="1"/>
          </p:cNvSpPr>
          <p:nvPr/>
        </p:nvSpPr>
        <p:spPr>
          <a:xfrm>
            <a:off x="6548438" y="2619375"/>
            <a:ext cx="1190625" cy="738188"/>
          </a:xfrm>
          <a:prstGeom prst="rect">
            <a:avLst/>
          </a:prstGeom>
          <a:noFill/>
          <a:ln w="0">
            <a:noFill/>
          </a:ln>
        </p:spPr>
        <p:txBody>
          <a:bodyPr anchor="ctr">
            <a:noAutofit/>
          </a:bodyPr>
          <a:lstStyle/>
          <a:p>
            <a:pPr algn="ctr">
              <a:defRPr sz="4031" b="1">
                <a:solidFill>
                  <a:srgbClr val="9A5800"/>
                </a:solidFill>
                <a:latin typeface="Arial"/>
                <a:ea typeface="Arial"/>
                <a:cs typeface="Arial"/>
              </a:defRPr>
            </a:pPr>
            <a:r>
              <a:rPr sz="4031" b="1">
                <a:solidFill>
                  <a:srgbClr val="9A5800"/>
                </a:solidFill>
                <a:latin typeface="Arial"/>
                <a:ea typeface="Arial"/>
                <a:cs typeface="Arial"/>
              </a:rPr>
              <a:t>4</a:t>
            </a:r>
          </a:p>
        </p:txBody>
      </p:sp>
      <p:sp>
        <p:nvSpPr>
          <p:cNvPr id="20" name="object-20">
            <a:extLst>
              <a:ext uri="{FF2B5EF4-FFF2-40B4-BE49-F238E27FC236}">
                <a16:creationId xmlns:a16="http://schemas.microsoft.com/office/drawing/2014/main" id="{FA8E8AEC-DBBB-4981-9B61-C442F31600A3}"/>
              </a:ext>
            </a:extLst>
          </p:cNvPr>
          <p:cNvSpPr>
            <a:spLocks noGrp="1"/>
          </p:cNvSpPr>
          <p:nvPr/>
        </p:nvSpPr>
        <p:spPr>
          <a:xfrm>
            <a:off x="7739063" y="4524375"/>
            <a:ext cx="1547813" cy="833438"/>
          </a:xfrm>
          <a:prstGeom prst="rect">
            <a:avLst/>
          </a:prstGeom>
          <a:noFill/>
          <a:ln w="0">
            <a:noFill/>
          </a:ln>
        </p:spPr>
        <p:txBody>
          <a:bodyPr anchor="ctr">
            <a:noAutofit/>
          </a:bodyPr>
          <a:lstStyle/>
          <a:p>
            <a:pPr algn="ctr">
              <a:defRPr sz="5156" b="1">
                <a:solidFill>
                  <a:srgbClr val="11745A"/>
                </a:solidFill>
                <a:latin typeface="Arial"/>
                <a:ea typeface="Arial"/>
                <a:cs typeface="Arial"/>
              </a:defRPr>
            </a:pPr>
            <a:r>
              <a:rPr sz="5156" b="1">
                <a:solidFill>
                  <a:srgbClr val="11745A"/>
                </a:solidFill>
                <a:latin typeface="Arial"/>
                <a:ea typeface="Arial"/>
                <a:cs typeface="Arial"/>
              </a:rPr>
              <a:t>24</a:t>
            </a:r>
          </a:p>
        </p:txBody>
      </p:sp>
      <p:sp>
        <p:nvSpPr>
          <p:cNvPr id="21" name="object-21">
            <a:extLst>
              <a:ext uri="{FF2B5EF4-FFF2-40B4-BE49-F238E27FC236}">
                <a16:creationId xmlns:a16="http://schemas.microsoft.com/office/drawing/2014/main" id="{99926B96-260E-4607-A2A9-A16261EB1494}"/>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The same value, renamed with more equal parts.</a:t>
            </a:r>
          </a:p>
        </p:txBody>
      </p:sp>
    </p:spTree>
    <p:extLst>
      <p:ext uri="{BB962C8B-B14F-4D97-AF65-F5344CB8AC3E}">
        <p14:creationId xmlns:p14="http://schemas.microsoft.com/office/powerpoint/2010/main" val="2136232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par>
                          <p:cTn id="9" fill="hold">
                            <p:stCondLst>
                              <p:cond delay="0"/>
                            </p:stCondLst>
                            <p:childTnLst>
                              <p:par>
                                <p:cTn id="10" presetID="63" presetClass="path" presetSubtype="0" accel="50000" decel="50000" fill="hold" grpId="1" nodeType="afterEffect">
                                  <p:stCondLst>
                                    <p:cond delay="0"/>
                                  </p:stCondLst>
                                  <p:childTnLst>
                                    <p:animMotion origin="layout" path="M 0 0 L -0.0390625 0.11388889 E" pathEditMode="relative" ptsTypes="">
                                      <p:cBhvr>
                                        <p:cTn id="11" dur="800" fill="hold"/>
                                        <p:tgtEl>
                                          <p:spTgt spid="16"/>
                                        </p:tgtEl>
                                        <p:attrNameLst>
                                          <p:attrName>ppt_x</p:attrName>
                                          <p:attrName>ppt_y</p:attrName>
                                        </p:attrNameLst>
                                      </p:cBhvr>
                                    </p:animMotion>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7"/>
                                        </p:tgtEl>
                                        <p:attrNameLst>
                                          <p:attrName>style.visibility</p:attrName>
                                        </p:attrNameLst>
                                      </p:cBhvr>
                                      <p:to>
                                        <p:strVal val="visible"/>
                                      </p:to>
                                    </p:set>
                                  </p:childTnLst>
                                </p:cTn>
                              </p:par>
                            </p:childTnLst>
                          </p:cTn>
                        </p:par>
                        <p:par>
                          <p:cTn id="16" fill="hold">
                            <p:stCondLst>
                              <p:cond delay="0"/>
                            </p:stCondLst>
                            <p:childTnLst>
                              <p:par>
                                <p:cTn id="17" presetID="63" presetClass="path" presetSubtype="0" accel="50000" decel="50000" fill="hold" grpId="1" nodeType="afterEffect">
                                  <p:stCondLst>
                                    <p:cond delay="0"/>
                                  </p:stCondLst>
                                  <p:childTnLst>
                                    <p:animMotion origin="layout" path="M 0 0 L 0.20703125 0 E" pathEditMode="relative" ptsTypes="">
                                      <p:cBhvr>
                                        <p:cTn id="18" dur="800" fill="hold"/>
                                        <p:tgtEl>
                                          <p:spTgt spid="17"/>
                                        </p:tgtEl>
                                        <p:attrNameLst>
                                          <p:attrName>ppt_x</p:attrName>
                                          <p:attrName>ppt_y</p:attrName>
                                        </p:attrNameLst>
                                      </p:cBhvr>
                                    </p:animMotion>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childTnLst>
                          </p:cTn>
                        </p:par>
                        <p:par>
                          <p:cTn id="25" fill="hold">
                            <p:stCondLst>
                              <p:cond delay="0"/>
                            </p:stCondLst>
                            <p:childTnLst>
                              <p:par>
                                <p:cTn id="26" presetID="63" presetClass="path" presetSubtype="0" accel="50000" decel="50000" fill="hold" grpId="1" nodeType="afterEffect">
                                  <p:stCondLst>
                                    <p:cond delay="0"/>
                                  </p:stCondLst>
                                  <p:childTnLst>
                                    <p:animMotion origin="layout" path="M 0 0 L -0.0390625 0.225 E" pathEditMode="relative" ptsTypes="">
                                      <p:cBhvr>
                                        <p:cTn id="27" dur="800" fill="hold"/>
                                        <p:tgtEl>
                                          <p:spTgt spid="19"/>
                                        </p:tgtEl>
                                        <p:attrNameLst>
                                          <p:attrName>ppt_x</p:attrName>
                                          <p:attrName>ppt_y</p:attrName>
                                        </p:attrNameLst>
                                      </p:cBhvr>
                                    </p:animMotion>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20"/>
                                        </p:tgtEl>
                                        <p:attrNameLst>
                                          <p:attrName>style.visibility</p:attrName>
                                        </p:attrNameLst>
                                      </p:cBhvr>
                                      <p:to>
                                        <p:strVal val="visible"/>
                                      </p:to>
                                    </p:set>
                                  </p:childTnLst>
                                </p:cTn>
                              </p:par>
                            </p:childTnLst>
                          </p:cTn>
                        </p:par>
                        <p:par>
                          <p:cTn id="32" fill="hold">
                            <p:stCondLst>
                              <p:cond delay="0"/>
                            </p:stCondLst>
                            <p:childTnLst>
                              <p:par>
                                <p:cTn id="33" presetID="63" presetClass="path" presetSubtype="0" accel="50000" decel="50000" fill="hold" grpId="1" nodeType="afterEffect">
                                  <p:stCondLst>
                                    <p:cond delay="0"/>
                                  </p:stCondLst>
                                  <p:childTnLst>
                                    <p:animMotion origin="layout" path="M 0 0 L 0.20703125 0 E" pathEditMode="relative" ptsTypes="">
                                      <p:cBhvr>
                                        <p:cTn id="34" dur="800" fill="hold"/>
                                        <p:tgtEl>
                                          <p:spTgt spid="20"/>
                                        </p:tgtEl>
                                        <p:attrNameLst>
                                          <p:attrName>ppt_x</p:attrName>
                                          <p:attrName>ppt_y</p:attrName>
                                        </p:attrNameLst>
                                      </p:cBhvr>
                                    </p:animMotion>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16" grpId="1"/>
      <p:bldP spid="17" grpId="0"/>
      <p:bldP spid="17" grpId="1"/>
      <p:bldP spid="18" grpId="0"/>
      <p:bldP spid="19" grpId="0"/>
      <p:bldP spid="19" grpId="1"/>
      <p:bldP spid="20" grpId="0"/>
      <p:bldP spid="20" grpId="1"/>
      <p:bldP spid="21"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object-1">
            <a:extLst>
              <a:ext uri="{FF2B5EF4-FFF2-40B4-BE49-F238E27FC236}">
                <a16:creationId xmlns:a16="http://schemas.microsoft.com/office/drawing/2014/main" id="{71DBEA53-C87E-486A-9972-5F7AD11E1B7E}"/>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37A9486F-E04C-41A3-9D1A-4BCB8BE9FC66}"/>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Write 3/6 with denominator 24.</a:t>
            </a:r>
          </a:p>
        </p:txBody>
      </p:sp>
      <p:sp>
        <p:nvSpPr>
          <p:cNvPr id="3" name="object-3">
            <a:extLst>
              <a:ext uri="{FF2B5EF4-FFF2-40B4-BE49-F238E27FC236}">
                <a16:creationId xmlns:a16="http://schemas.microsoft.com/office/drawing/2014/main" id="{ECBCAA01-D25A-4A2B-948C-418AFAADE4BB}"/>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A70F9584-CB7A-4C63-B137-4210B0BC24C0}"/>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Generate equivalent fractions</a:t>
            </a:r>
          </a:p>
        </p:txBody>
      </p:sp>
      <p:sp>
        <p:nvSpPr>
          <p:cNvPr id="5" name="object-5">
            <a:extLst>
              <a:ext uri="{FF2B5EF4-FFF2-40B4-BE49-F238E27FC236}">
                <a16:creationId xmlns:a16="http://schemas.microsoft.com/office/drawing/2014/main" id="{8020C5AA-60A3-4522-A08C-DC74D2706CB9}"/>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8EBB79D3-4C49-4468-AA21-B2ECCE0D66A9}"/>
              </a:ext>
            </a:extLst>
          </p:cNvPr>
          <p:cNvSpPr>
            <a:spLocks noGrp="1"/>
          </p:cNvSpPr>
          <p:nvPr/>
        </p:nvSpPr>
        <p:spPr>
          <a:xfrm>
            <a:off x="1905000" y="3571875"/>
            <a:ext cx="1785938" cy="833438"/>
          </a:xfrm>
          <a:prstGeom prst="rect">
            <a:avLst/>
          </a:prstGeom>
          <a:noFill/>
          <a:ln w="0">
            <a:noFill/>
          </a:ln>
        </p:spPr>
        <p:txBody>
          <a:bodyPr anchor="ctr">
            <a:noAutofit/>
          </a:bodyPr>
          <a:lstStyle/>
          <a:p>
            <a:pPr algn="ctr">
              <a:defRPr sz="5156" b="1">
                <a:solidFill>
                  <a:srgbClr val="1D4ED8"/>
                </a:solidFill>
                <a:latin typeface="Arial"/>
                <a:ea typeface="Arial"/>
                <a:cs typeface="Arial"/>
              </a:defRPr>
            </a:pPr>
            <a:r>
              <a:rPr sz="5156" b="1">
                <a:solidFill>
                  <a:srgbClr val="1D4ED8"/>
                </a:solidFill>
                <a:latin typeface="Arial"/>
                <a:ea typeface="Arial"/>
                <a:cs typeface="Arial"/>
              </a:rPr>
              <a:t>3</a:t>
            </a:r>
          </a:p>
        </p:txBody>
      </p:sp>
      <p:sp>
        <p:nvSpPr>
          <p:cNvPr id="7" name="object-7">
            <a:extLst>
              <a:ext uri="{FF2B5EF4-FFF2-40B4-BE49-F238E27FC236}">
                <a16:creationId xmlns:a16="http://schemas.microsoft.com/office/drawing/2014/main" id="{73EDB64A-ECA5-4E88-8111-ECACBECE680A}"/>
              </a:ext>
            </a:extLst>
          </p:cNvPr>
          <p:cNvSpPr>
            <a:spLocks noGrp="1"/>
          </p:cNvSpPr>
          <p:nvPr/>
        </p:nvSpPr>
        <p:spPr>
          <a:xfrm>
            <a:off x="1905000" y="4429125"/>
            <a:ext cx="1785938" cy="35719"/>
          </a:xfrm>
          <a:prstGeom prst="rect">
            <a:avLst/>
          </a:prstGeom>
          <a:solidFill>
            <a:srgbClr val="1D4ED8"/>
          </a:solidFill>
          <a:ln w="0">
            <a:noFill/>
          </a:ln>
        </p:spPr>
      </p:sp>
      <p:sp>
        <p:nvSpPr>
          <p:cNvPr id="8" name="object-8">
            <a:extLst>
              <a:ext uri="{FF2B5EF4-FFF2-40B4-BE49-F238E27FC236}">
                <a16:creationId xmlns:a16="http://schemas.microsoft.com/office/drawing/2014/main" id="{624E6B0B-432C-4412-AEDA-17F80832219F}"/>
              </a:ext>
            </a:extLst>
          </p:cNvPr>
          <p:cNvSpPr>
            <a:spLocks noGrp="1"/>
          </p:cNvSpPr>
          <p:nvPr/>
        </p:nvSpPr>
        <p:spPr>
          <a:xfrm>
            <a:off x="1905000" y="4524375"/>
            <a:ext cx="1785938" cy="833438"/>
          </a:xfrm>
          <a:prstGeom prst="rect">
            <a:avLst/>
          </a:prstGeom>
          <a:noFill/>
          <a:ln w="0">
            <a:noFill/>
          </a:ln>
        </p:spPr>
        <p:txBody>
          <a:bodyPr anchor="ctr">
            <a:noAutofit/>
          </a:bodyPr>
          <a:lstStyle/>
          <a:p>
            <a:pPr algn="ctr">
              <a:defRPr sz="5156" b="1">
                <a:solidFill>
                  <a:srgbClr val="1D4ED8"/>
                </a:solidFill>
                <a:latin typeface="Arial"/>
                <a:ea typeface="Arial"/>
                <a:cs typeface="Arial"/>
              </a:defRPr>
            </a:pPr>
            <a:r>
              <a:rPr sz="5156" b="1">
                <a:solidFill>
                  <a:srgbClr val="1D4ED8"/>
                </a:solidFill>
                <a:latin typeface="Arial"/>
                <a:ea typeface="Arial"/>
                <a:cs typeface="Arial"/>
              </a:rPr>
              <a:t>6</a:t>
            </a:r>
          </a:p>
        </p:txBody>
      </p:sp>
      <p:sp>
        <p:nvSpPr>
          <p:cNvPr id="9" name="object-9">
            <a:extLst>
              <a:ext uri="{FF2B5EF4-FFF2-40B4-BE49-F238E27FC236}">
                <a16:creationId xmlns:a16="http://schemas.microsoft.com/office/drawing/2014/main" id="{03FF50F9-B3D7-4DB4-A6A7-2127217CB1AE}"/>
              </a:ext>
            </a:extLst>
          </p:cNvPr>
          <p:cNvSpPr>
            <a:spLocks noGrp="1"/>
          </p:cNvSpPr>
          <p:nvPr/>
        </p:nvSpPr>
        <p:spPr>
          <a:xfrm>
            <a:off x="3690938" y="4429125"/>
            <a:ext cx="3571875" cy="35719"/>
          </a:xfrm>
          <a:prstGeom prst="rect">
            <a:avLst/>
          </a:prstGeom>
          <a:solidFill>
            <a:srgbClr val="1D4ED8"/>
          </a:solidFill>
          <a:ln w="0">
            <a:noFill/>
          </a:ln>
        </p:spPr>
      </p:sp>
      <p:sp>
        <p:nvSpPr>
          <p:cNvPr id="10" name="object-10">
            <a:extLst>
              <a:ext uri="{FF2B5EF4-FFF2-40B4-BE49-F238E27FC236}">
                <a16:creationId xmlns:a16="http://schemas.microsoft.com/office/drawing/2014/main" id="{F9FC07AA-591F-4397-BE5B-ECC3BE2D6D06}"/>
              </a:ext>
            </a:extLst>
          </p:cNvPr>
          <p:cNvSpPr>
            <a:spLocks noGrp="1"/>
          </p:cNvSpPr>
          <p:nvPr/>
        </p:nvSpPr>
        <p:spPr>
          <a:xfrm>
            <a:off x="8572500" y="3976688"/>
            <a:ext cx="1012031" cy="952500"/>
          </a:xfrm>
          <a:prstGeom prst="rect">
            <a:avLst/>
          </a:prstGeom>
          <a:noFill/>
          <a:ln w="0">
            <a:noFill/>
          </a:ln>
        </p:spPr>
        <p:txBody>
          <a:bodyPr anchor="ctr">
            <a:noAutofit/>
          </a:bodyPr>
          <a:lstStyle/>
          <a:p>
            <a:pPr algn="l">
              <a:defRPr sz="5344" b="0">
                <a:solidFill>
                  <a:srgbClr val="172B4D"/>
                </a:solidFill>
                <a:latin typeface="Arial"/>
                <a:ea typeface="Arial"/>
                <a:cs typeface="Arial"/>
              </a:defRPr>
            </a:pPr>
            <a:r>
              <a:rPr sz="5344" b="0">
                <a:solidFill>
                  <a:srgbClr val="172B4D"/>
                </a:solidFill>
                <a:latin typeface="Arial"/>
                <a:ea typeface="Arial"/>
                <a:cs typeface="Arial"/>
              </a:rPr>
              <a:t>=</a:t>
            </a:r>
          </a:p>
        </p:txBody>
      </p:sp>
      <p:sp>
        <p:nvSpPr>
          <p:cNvPr id="11" name="object-11">
            <a:extLst>
              <a:ext uri="{FF2B5EF4-FFF2-40B4-BE49-F238E27FC236}">
                <a16:creationId xmlns:a16="http://schemas.microsoft.com/office/drawing/2014/main" id="{A8D55A59-BF08-4EBE-BF68-D3EB235AE32B}"/>
              </a:ext>
            </a:extLst>
          </p:cNvPr>
          <p:cNvSpPr>
            <a:spLocks noGrp="1"/>
          </p:cNvSpPr>
          <p:nvPr/>
        </p:nvSpPr>
        <p:spPr>
          <a:xfrm>
            <a:off x="10834688" y="4429125"/>
            <a:ext cx="1666875" cy="35719"/>
          </a:xfrm>
          <a:prstGeom prst="rect">
            <a:avLst/>
          </a:prstGeom>
          <a:solidFill>
            <a:srgbClr val="11745A"/>
          </a:solidFill>
          <a:ln w="0">
            <a:noFill/>
          </a:ln>
        </p:spPr>
      </p:sp>
      <p:sp>
        <p:nvSpPr>
          <p:cNvPr id="12" name="object-12">
            <a:extLst>
              <a:ext uri="{FF2B5EF4-FFF2-40B4-BE49-F238E27FC236}">
                <a16:creationId xmlns:a16="http://schemas.microsoft.com/office/drawing/2014/main" id="{4ED40DF4-4734-4017-B141-7C11F571E4C9}"/>
              </a:ext>
            </a:extLst>
          </p:cNvPr>
          <p:cNvSpPr>
            <a:spLocks noGrp="1"/>
          </p:cNvSpPr>
          <p:nvPr/>
        </p:nvSpPr>
        <p:spPr>
          <a:xfrm>
            <a:off x="6548438" y="2619375"/>
            <a:ext cx="1190625" cy="738188"/>
          </a:xfrm>
          <a:prstGeom prst="rect">
            <a:avLst/>
          </a:prstGeom>
          <a:noFill/>
          <a:ln w="0">
            <a:noFill/>
          </a:ln>
        </p:spPr>
        <p:txBody>
          <a:bodyPr anchor="ctr">
            <a:noAutofit/>
          </a:bodyPr>
          <a:lstStyle/>
          <a:p>
            <a:pPr algn="ctr">
              <a:defRPr sz="4031" b="1">
                <a:solidFill>
                  <a:srgbClr val="9A5800"/>
                </a:solidFill>
                <a:latin typeface="Arial"/>
                <a:ea typeface="Arial"/>
                <a:cs typeface="Arial"/>
              </a:defRPr>
            </a:pPr>
            <a:r>
              <a:rPr sz="4031" b="1">
                <a:solidFill>
                  <a:srgbClr val="9A5800"/>
                </a:solidFill>
                <a:latin typeface="Arial"/>
                <a:ea typeface="Arial"/>
                <a:cs typeface="Arial"/>
              </a:rPr>
              <a:t>4</a:t>
            </a:r>
          </a:p>
        </p:txBody>
      </p:sp>
      <p:sp>
        <p:nvSpPr>
          <p:cNvPr id="13" name="object-13">
            <a:extLst>
              <a:ext uri="{FF2B5EF4-FFF2-40B4-BE49-F238E27FC236}">
                <a16:creationId xmlns:a16="http://schemas.microsoft.com/office/drawing/2014/main" id="{331776CA-4963-48A4-B1FD-930BF86CC51D}"/>
              </a:ext>
            </a:extLst>
          </p:cNvPr>
          <p:cNvSpPr>
            <a:spLocks noGrp="1"/>
          </p:cNvSpPr>
          <p:nvPr/>
        </p:nvSpPr>
        <p:spPr>
          <a:xfrm>
            <a:off x="8036719" y="2738438"/>
            <a:ext cx="4167188" cy="547688"/>
          </a:xfrm>
          <a:prstGeom prst="rect">
            <a:avLst/>
          </a:prstGeom>
          <a:noFill/>
          <a:ln w="0">
            <a:noFill/>
          </a:ln>
        </p:spPr>
        <p:txBody>
          <a:bodyPr anchor="ctr">
            <a:noAutofit/>
          </a:bodyPr>
          <a:lstStyle/>
          <a:p>
            <a:pPr algn="l">
              <a:defRPr sz="2344" b="0">
                <a:solidFill>
                  <a:srgbClr val="9A5800"/>
                </a:solidFill>
                <a:latin typeface="Arial"/>
                <a:ea typeface="Arial"/>
                <a:cs typeface="Arial"/>
              </a:defRPr>
            </a:pPr>
            <a:r>
              <a:rPr sz="2344" b="0">
                <a:solidFill>
                  <a:srgbClr val="9A5800"/>
                </a:solidFill>
                <a:latin typeface="Arial"/>
                <a:ea typeface="Arial"/>
                <a:cs typeface="Arial"/>
              </a:rPr>
              <a:t>multiplier</a:t>
            </a:r>
          </a:p>
        </p:txBody>
      </p:sp>
      <p:sp>
        <p:nvSpPr>
          <p:cNvPr id="14" name="object-14">
            <a:extLst>
              <a:ext uri="{FF2B5EF4-FFF2-40B4-BE49-F238E27FC236}">
                <a16:creationId xmlns:a16="http://schemas.microsoft.com/office/drawing/2014/main" id="{A944AE1A-931A-4096-9A4F-2FA27B1A179F}"/>
              </a:ext>
            </a:extLst>
          </p:cNvPr>
          <p:cNvSpPr>
            <a:spLocks noGrp="1"/>
          </p:cNvSpPr>
          <p:nvPr/>
        </p:nvSpPr>
        <p:spPr>
          <a:xfrm>
            <a:off x="4345781" y="3571875"/>
            <a:ext cx="833438" cy="833438"/>
          </a:xfrm>
          <a:prstGeom prst="rect">
            <a:avLst/>
          </a:prstGeom>
          <a:noFill/>
          <a:ln w="0">
            <a:noFill/>
          </a:ln>
        </p:spPr>
        <p:txBody>
          <a:bodyPr anchor="ctr">
            <a:noAutofit/>
          </a:bodyPr>
          <a:lstStyle/>
          <a:p>
            <a:pPr algn="ctr">
              <a:defRPr sz="4500" b="1">
                <a:solidFill>
                  <a:srgbClr val="9A5800"/>
                </a:solidFill>
                <a:latin typeface="Arial"/>
                <a:ea typeface="Arial"/>
                <a:cs typeface="Arial"/>
              </a:defRPr>
            </a:pPr>
            <a:r>
              <a:rPr sz="4500" b="1">
                <a:solidFill>
                  <a:srgbClr val="9A5800"/>
                </a:solidFill>
                <a:latin typeface="Arial"/>
                <a:ea typeface="Arial"/>
                <a:cs typeface="Arial"/>
              </a:rPr>
              <a:t>×</a:t>
            </a:r>
          </a:p>
        </p:txBody>
      </p:sp>
      <p:sp>
        <p:nvSpPr>
          <p:cNvPr id="15" name="object-15">
            <a:extLst>
              <a:ext uri="{FF2B5EF4-FFF2-40B4-BE49-F238E27FC236}">
                <a16:creationId xmlns:a16="http://schemas.microsoft.com/office/drawing/2014/main" id="{DE147B3D-3F40-4A2E-8DAF-A8E25A0279BF}"/>
              </a:ext>
            </a:extLst>
          </p:cNvPr>
          <p:cNvSpPr>
            <a:spLocks noGrp="1"/>
          </p:cNvSpPr>
          <p:nvPr/>
        </p:nvSpPr>
        <p:spPr>
          <a:xfrm>
            <a:off x="6548438" y="2619375"/>
            <a:ext cx="1190625" cy="738188"/>
          </a:xfrm>
          <a:prstGeom prst="rect">
            <a:avLst/>
          </a:prstGeom>
          <a:noFill/>
          <a:ln w="0">
            <a:noFill/>
          </a:ln>
        </p:spPr>
        <p:txBody>
          <a:bodyPr anchor="ctr">
            <a:noAutofit/>
          </a:bodyPr>
          <a:lstStyle/>
          <a:p>
            <a:pPr algn="ctr">
              <a:defRPr sz="4031" b="1">
                <a:solidFill>
                  <a:srgbClr val="9A5800"/>
                </a:solidFill>
                <a:latin typeface="Arial"/>
                <a:ea typeface="Arial"/>
                <a:cs typeface="Arial"/>
              </a:defRPr>
            </a:pPr>
            <a:r>
              <a:rPr sz="4031" b="1">
                <a:solidFill>
                  <a:srgbClr val="9A5800"/>
                </a:solidFill>
                <a:latin typeface="Arial"/>
                <a:ea typeface="Arial"/>
                <a:cs typeface="Arial"/>
              </a:rPr>
              <a:t>4</a:t>
            </a:r>
          </a:p>
        </p:txBody>
      </p:sp>
      <p:sp>
        <p:nvSpPr>
          <p:cNvPr id="16" name="object-16">
            <a:extLst>
              <a:ext uri="{FF2B5EF4-FFF2-40B4-BE49-F238E27FC236}">
                <a16:creationId xmlns:a16="http://schemas.microsoft.com/office/drawing/2014/main" id="{16A72F42-79F6-4C77-AFB9-52A8DC5DD212}"/>
              </a:ext>
            </a:extLst>
          </p:cNvPr>
          <p:cNvSpPr>
            <a:spLocks noGrp="1"/>
          </p:cNvSpPr>
          <p:nvPr/>
        </p:nvSpPr>
        <p:spPr>
          <a:xfrm>
            <a:off x="7739063" y="3571875"/>
            <a:ext cx="1547813" cy="833438"/>
          </a:xfrm>
          <a:prstGeom prst="rect">
            <a:avLst/>
          </a:prstGeom>
          <a:noFill/>
          <a:ln w="0">
            <a:noFill/>
          </a:ln>
        </p:spPr>
        <p:txBody>
          <a:bodyPr anchor="ctr">
            <a:noAutofit/>
          </a:bodyPr>
          <a:lstStyle/>
          <a:p>
            <a:pPr algn="ctr">
              <a:defRPr sz="5156" b="1">
                <a:solidFill>
                  <a:srgbClr val="11745A"/>
                </a:solidFill>
                <a:latin typeface="Arial"/>
                <a:ea typeface="Arial"/>
                <a:cs typeface="Arial"/>
              </a:defRPr>
            </a:pPr>
            <a:r>
              <a:rPr sz="5156" b="1">
                <a:solidFill>
                  <a:srgbClr val="11745A"/>
                </a:solidFill>
                <a:latin typeface="Arial"/>
                <a:ea typeface="Arial"/>
                <a:cs typeface="Arial"/>
              </a:rPr>
              <a:t>12</a:t>
            </a:r>
          </a:p>
        </p:txBody>
      </p:sp>
      <p:sp>
        <p:nvSpPr>
          <p:cNvPr id="17" name="object-17">
            <a:extLst>
              <a:ext uri="{FF2B5EF4-FFF2-40B4-BE49-F238E27FC236}">
                <a16:creationId xmlns:a16="http://schemas.microsoft.com/office/drawing/2014/main" id="{C6CD34F0-EAC2-447A-82F3-EAC074DC4589}"/>
              </a:ext>
            </a:extLst>
          </p:cNvPr>
          <p:cNvSpPr>
            <a:spLocks noGrp="1"/>
          </p:cNvSpPr>
          <p:nvPr/>
        </p:nvSpPr>
        <p:spPr>
          <a:xfrm>
            <a:off x="4345781" y="4524375"/>
            <a:ext cx="833438" cy="833438"/>
          </a:xfrm>
          <a:prstGeom prst="rect">
            <a:avLst/>
          </a:prstGeom>
          <a:noFill/>
          <a:ln w="0">
            <a:noFill/>
          </a:ln>
        </p:spPr>
        <p:txBody>
          <a:bodyPr anchor="ctr">
            <a:noAutofit/>
          </a:bodyPr>
          <a:lstStyle/>
          <a:p>
            <a:pPr algn="ctr">
              <a:defRPr sz="4500" b="1">
                <a:solidFill>
                  <a:srgbClr val="9A5800"/>
                </a:solidFill>
                <a:latin typeface="Arial"/>
                <a:ea typeface="Arial"/>
                <a:cs typeface="Arial"/>
              </a:defRPr>
            </a:pPr>
            <a:r>
              <a:rPr sz="4500" b="1">
                <a:solidFill>
                  <a:srgbClr val="9A5800"/>
                </a:solidFill>
                <a:latin typeface="Arial"/>
                <a:ea typeface="Arial"/>
                <a:cs typeface="Arial"/>
              </a:rPr>
              <a:t>×</a:t>
            </a:r>
          </a:p>
        </p:txBody>
      </p:sp>
      <p:sp>
        <p:nvSpPr>
          <p:cNvPr id="18" name="object-18">
            <a:extLst>
              <a:ext uri="{FF2B5EF4-FFF2-40B4-BE49-F238E27FC236}">
                <a16:creationId xmlns:a16="http://schemas.microsoft.com/office/drawing/2014/main" id="{BB8DED01-18A3-4180-8B77-8D738EF3786C}"/>
              </a:ext>
            </a:extLst>
          </p:cNvPr>
          <p:cNvSpPr>
            <a:spLocks noGrp="1"/>
          </p:cNvSpPr>
          <p:nvPr/>
        </p:nvSpPr>
        <p:spPr>
          <a:xfrm>
            <a:off x="6548438" y="2619375"/>
            <a:ext cx="1190625" cy="738188"/>
          </a:xfrm>
          <a:prstGeom prst="rect">
            <a:avLst/>
          </a:prstGeom>
          <a:noFill/>
          <a:ln w="0">
            <a:noFill/>
          </a:ln>
        </p:spPr>
        <p:txBody>
          <a:bodyPr anchor="ctr">
            <a:noAutofit/>
          </a:bodyPr>
          <a:lstStyle/>
          <a:p>
            <a:pPr algn="ctr">
              <a:defRPr sz="4031" b="1">
                <a:solidFill>
                  <a:srgbClr val="9A5800"/>
                </a:solidFill>
                <a:latin typeface="Arial"/>
                <a:ea typeface="Arial"/>
                <a:cs typeface="Arial"/>
              </a:defRPr>
            </a:pPr>
            <a:r>
              <a:rPr sz="4031" b="1">
                <a:solidFill>
                  <a:srgbClr val="9A5800"/>
                </a:solidFill>
                <a:latin typeface="Arial"/>
                <a:ea typeface="Arial"/>
                <a:cs typeface="Arial"/>
              </a:rPr>
              <a:t>4</a:t>
            </a:r>
          </a:p>
        </p:txBody>
      </p:sp>
      <p:sp>
        <p:nvSpPr>
          <p:cNvPr id="19" name="object-19">
            <a:extLst>
              <a:ext uri="{FF2B5EF4-FFF2-40B4-BE49-F238E27FC236}">
                <a16:creationId xmlns:a16="http://schemas.microsoft.com/office/drawing/2014/main" id="{1660400A-8BB7-45BC-9211-FC0F7B5FDDDD}"/>
              </a:ext>
            </a:extLst>
          </p:cNvPr>
          <p:cNvSpPr>
            <a:spLocks noGrp="1"/>
          </p:cNvSpPr>
          <p:nvPr/>
        </p:nvSpPr>
        <p:spPr>
          <a:xfrm>
            <a:off x="7739063" y="4524375"/>
            <a:ext cx="1547813" cy="833438"/>
          </a:xfrm>
          <a:prstGeom prst="rect">
            <a:avLst/>
          </a:prstGeom>
          <a:noFill/>
          <a:ln w="0">
            <a:noFill/>
          </a:ln>
        </p:spPr>
        <p:txBody>
          <a:bodyPr anchor="ctr">
            <a:noAutofit/>
          </a:bodyPr>
          <a:lstStyle/>
          <a:p>
            <a:pPr algn="ctr">
              <a:defRPr sz="5156" b="1">
                <a:solidFill>
                  <a:srgbClr val="11745A"/>
                </a:solidFill>
                <a:latin typeface="Arial"/>
                <a:ea typeface="Arial"/>
                <a:cs typeface="Arial"/>
              </a:defRPr>
            </a:pPr>
            <a:r>
              <a:rPr sz="5156" b="1">
                <a:solidFill>
                  <a:srgbClr val="11745A"/>
                </a:solidFill>
                <a:latin typeface="Arial"/>
                <a:ea typeface="Arial"/>
                <a:cs typeface="Arial"/>
              </a:rPr>
              <a:t>24</a:t>
            </a:r>
          </a:p>
        </p:txBody>
      </p:sp>
      <p:sp>
        <p:nvSpPr>
          <p:cNvPr id="20" name="object-20">
            <a:extLst>
              <a:ext uri="{FF2B5EF4-FFF2-40B4-BE49-F238E27FC236}">
                <a16:creationId xmlns:a16="http://schemas.microsoft.com/office/drawing/2014/main" id="{7E028DCE-B7A6-439D-8E6A-852DB9324272}"/>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The same value, renamed with more equal parts.</a:t>
            </a:r>
          </a:p>
        </p:txBody>
      </p:sp>
    </p:spTree>
    <p:extLst>
      <p:ext uri="{BB962C8B-B14F-4D97-AF65-F5344CB8AC3E}">
        <p14:creationId xmlns:p14="http://schemas.microsoft.com/office/powerpoint/2010/main" val="2912870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par>
                          <p:cTn id="9" fill="hold">
                            <p:stCondLst>
                              <p:cond delay="0"/>
                            </p:stCondLst>
                            <p:childTnLst>
                              <p:par>
                                <p:cTn id="10" presetID="63" presetClass="path" presetSubtype="0" accel="50000" decel="50000" fill="hold" grpId="1" nodeType="afterEffect">
                                  <p:stCondLst>
                                    <p:cond delay="0"/>
                                  </p:stCondLst>
                                  <p:childTnLst>
                                    <p:animMotion origin="layout" path="M 0 0 L -0.0390625 0.11388889 E" pathEditMode="relative" ptsTypes="">
                                      <p:cBhvr>
                                        <p:cTn id="11" dur="800" fill="hold"/>
                                        <p:tgtEl>
                                          <p:spTgt spid="15"/>
                                        </p:tgtEl>
                                        <p:attrNameLst>
                                          <p:attrName>ppt_x</p:attrName>
                                          <p:attrName>ppt_y</p:attrName>
                                        </p:attrNameLst>
                                      </p:cBhvr>
                                    </p:animMotion>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63" presetClass="path" presetSubtype="0" accel="50000" decel="50000" fill="hold" grpId="1" nodeType="afterEffect">
                                  <p:stCondLst>
                                    <p:cond delay="0"/>
                                  </p:stCondLst>
                                  <p:childTnLst>
                                    <p:animMotion origin="layout" path="M 0 0 L 0.20703125 0 E" pathEditMode="relative" ptsTypes="">
                                      <p:cBhvr>
                                        <p:cTn id="18" dur="800" fill="hold"/>
                                        <p:tgtEl>
                                          <p:spTgt spid="16"/>
                                        </p:tgtEl>
                                        <p:attrNameLst>
                                          <p:attrName>ppt_x</p:attrName>
                                          <p:attrName>ppt_y</p:attrName>
                                        </p:attrNameLst>
                                      </p:cBhvr>
                                    </p:animMotion>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par>
                          <p:cTn id="25" fill="hold">
                            <p:stCondLst>
                              <p:cond delay="0"/>
                            </p:stCondLst>
                            <p:childTnLst>
                              <p:par>
                                <p:cTn id="26" presetID="63" presetClass="path" presetSubtype="0" accel="50000" decel="50000" fill="hold" grpId="1" nodeType="afterEffect">
                                  <p:stCondLst>
                                    <p:cond delay="0"/>
                                  </p:stCondLst>
                                  <p:childTnLst>
                                    <p:animMotion origin="layout" path="M 0 0 L -0.0390625 0.225 E" pathEditMode="relative" ptsTypes="">
                                      <p:cBhvr>
                                        <p:cTn id="27" dur="800" fill="hold"/>
                                        <p:tgtEl>
                                          <p:spTgt spid="18"/>
                                        </p:tgtEl>
                                        <p:attrNameLst>
                                          <p:attrName>ppt_x</p:attrName>
                                          <p:attrName>ppt_y</p:attrName>
                                        </p:attrNameLst>
                                      </p:cBhvr>
                                    </p:animMotion>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19"/>
                                        </p:tgtEl>
                                        <p:attrNameLst>
                                          <p:attrName>style.visibility</p:attrName>
                                        </p:attrNameLst>
                                      </p:cBhvr>
                                      <p:to>
                                        <p:strVal val="visible"/>
                                      </p:to>
                                    </p:set>
                                  </p:childTnLst>
                                </p:cTn>
                              </p:par>
                            </p:childTnLst>
                          </p:cTn>
                        </p:par>
                        <p:par>
                          <p:cTn id="32" fill="hold">
                            <p:stCondLst>
                              <p:cond delay="0"/>
                            </p:stCondLst>
                            <p:childTnLst>
                              <p:par>
                                <p:cTn id="33" presetID="63" presetClass="path" presetSubtype="0" accel="50000" decel="50000" fill="hold" grpId="1" nodeType="afterEffect">
                                  <p:stCondLst>
                                    <p:cond delay="0"/>
                                  </p:stCondLst>
                                  <p:childTnLst>
                                    <p:animMotion origin="layout" path="M 0 0 L 0.20703125 0 E" pathEditMode="relative" ptsTypes="">
                                      <p:cBhvr>
                                        <p:cTn id="34" dur="800" fill="hold"/>
                                        <p:tgtEl>
                                          <p:spTgt spid="19"/>
                                        </p:tgtEl>
                                        <p:attrNameLst>
                                          <p:attrName>ppt_x</p:attrName>
                                          <p:attrName>ppt_y</p:attrName>
                                        </p:attrNameLst>
                                      </p:cBhvr>
                                    </p:animMotion>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5" grpId="1"/>
      <p:bldP spid="16" grpId="0"/>
      <p:bldP spid="16" grpId="1"/>
      <p:bldP spid="17" grpId="0"/>
      <p:bldP spid="18" grpId="0"/>
      <p:bldP spid="18" grpId="1"/>
      <p:bldP spid="19" grpId="0"/>
      <p:bldP spid="19" grpId="1"/>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object-1">
            <a:extLst>
              <a:ext uri="{FF2B5EF4-FFF2-40B4-BE49-F238E27FC236}">
                <a16:creationId xmlns:a16="http://schemas.microsoft.com/office/drawing/2014/main" id="{3BAF3221-DF01-44AC-82E4-368C5B0DA7B4}"/>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AC2D143A-BAB4-49D4-90CC-C080718A4185}"/>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557F45B3-A0E4-43D7-BE40-BF42583746D2}"/>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Write 2/6 with denominator 24.</a:t>
            </a:r>
          </a:p>
        </p:txBody>
      </p:sp>
      <p:sp>
        <p:nvSpPr>
          <p:cNvPr id="4" name="object-4">
            <a:extLst>
              <a:ext uri="{FF2B5EF4-FFF2-40B4-BE49-F238E27FC236}">
                <a16:creationId xmlns:a16="http://schemas.microsoft.com/office/drawing/2014/main" id="{3AE11CAF-4CE2-4503-A048-D5AEAC4222DC}"/>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4C8D06F0-898D-47D3-8228-E643B1A02380}"/>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Generate equivalent fractions</a:t>
            </a:r>
          </a:p>
        </p:txBody>
      </p:sp>
      <p:sp>
        <p:nvSpPr>
          <p:cNvPr id="6" name="object-6">
            <a:extLst>
              <a:ext uri="{FF2B5EF4-FFF2-40B4-BE49-F238E27FC236}">
                <a16:creationId xmlns:a16="http://schemas.microsoft.com/office/drawing/2014/main" id="{003D04EC-D617-48BD-A3DA-03DD06A7F544}"/>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54BC34DE-AF2F-475E-8D79-50969E1501CB}"/>
              </a:ext>
            </a:extLst>
          </p:cNvPr>
          <p:cNvSpPr>
            <a:spLocks noGrp="1"/>
          </p:cNvSpPr>
          <p:nvPr/>
        </p:nvSpPr>
        <p:spPr>
          <a:xfrm>
            <a:off x="1905000" y="3571875"/>
            <a:ext cx="1785938" cy="833438"/>
          </a:xfrm>
          <a:prstGeom prst="rect">
            <a:avLst/>
          </a:prstGeom>
          <a:noFill/>
          <a:ln w="0">
            <a:noFill/>
          </a:ln>
        </p:spPr>
        <p:txBody>
          <a:bodyPr anchor="ctr">
            <a:noAutofit/>
          </a:bodyPr>
          <a:lstStyle/>
          <a:p>
            <a:pPr algn="ctr">
              <a:defRPr sz="5156" b="1">
                <a:solidFill>
                  <a:srgbClr val="1D4ED8"/>
                </a:solidFill>
                <a:latin typeface="Arial"/>
                <a:ea typeface="Arial"/>
                <a:cs typeface="Arial"/>
              </a:defRPr>
            </a:pPr>
            <a:r>
              <a:rPr sz="5156" b="1">
                <a:solidFill>
                  <a:srgbClr val="1D4ED8"/>
                </a:solidFill>
                <a:latin typeface="Arial"/>
                <a:ea typeface="Arial"/>
                <a:cs typeface="Arial"/>
              </a:rPr>
              <a:t>2</a:t>
            </a:r>
          </a:p>
        </p:txBody>
      </p:sp>
      <p:sp>
        <p:nvSpPr>
          <p:cNvPr id="8" name="object-8">
            <a:extLst>
              <a:ext uri="{FF2B5EF4-FFF2-40B4-BE49-F238E27FC236}">
                <a16:creationId xmlns:a16="http://schemas.microsoft.com/office/drawing/2014/main" id="{26BFB26A-33CF-4216-8EFF-938024A2F5FF}"/>
              </a:ext>
            </a:extLst>
          </p:cNvPr>
          <p:cNvSpPr>
            <a:spLocks noGrp="1"/>
          </p:cNvSpPr>
          <p:nvPr/>
        </p:nvSpPr>
        <p:spPr>
          <a:xfrm>
            <a:off x="1905000" y="4429125"/>
            <a:ext cx="1785938" cy="35719"/>
          </a:xfrm>
          <a:prstGeom prst="rect">
            <a:avLst/>
          </a:prstGeom>
          <a:solidFill>
            <a:srgbClr val="1D4ED8"/>
          </a:solidFill>
          <a:ln w="0">
            <a:noFill/>
          </a:ln>
        </p:spPr>
      </p:sp>
      <p:sp>
        <p:nvSpPr>
          <p:cNvPr id="9" name="object-9">
            <a:extLst>
              <a:ext uri="{FF2B5EF4-FFF2-40B4-BE49-F238E27FC236}">
                <a16:creationId xmlns:a16="http://schemas.microsoft.com/office/drawing/2014/main" id="{E7351EB3-52BA-4058-86BE-DBB1025A1314}"/>
              </a:ext>
            </a:extLst>
          </p:cNvPr>
          <p:cNvSpPr>
            <a:spLocks noGrp="1"/>
          </p:cNvSpPr>
          <p:nvPr/>
        </p:nvSpPr>
        <p:spPr>
          <a:xfrm>
            <a:off x="1905000" y="4524375"/>
            <a:ext cx="1785938" cy="833438"/>
          </a:xfrm>
          <a:prstGeom prst="rect">
            <a:avLst/>
          </a:prstGeom>
          <a:noFill/>
          <a:ln w="0">
            <a:noFill/>
          </a:ln>
        </p:spPr>
        <p:txBody>
          <a:bodyPr anchor="ctr">
            <a:noAutofit/>
          </a:bodyPr>
          <a:lstStyle/>
          <a:p>
            <a:pPr algn="ctr">
              <a:defRPr sz="5156" b="1">
                <a:solidFill>
                  <a:srgbClr val="1D4ED8"/>
                </a:solidFill>
                <a:latin typeface="Arial"/>
                <a:ea typeface="Arial"/>
                <a:cs typeface="Arial"/>
              </a:defRPr>
            </a:pPr>
            <a:r>
              <a:rPr sz="5156" b="1">
                <a:solidFill>
                  <a:srgbClr val="1D4ED8"/>
                </a:solidFill>
                <a:latin typeface="Arial"/>
                <a:ea typeface="Arial"/>
                <a:cs typeface="Arial"/>
              </a:rPr>
              <a:t>6</a:t>
            </a:r>
          </a:p>
        </p:txBody>
      </p:sp>
      <p:sp>
        <p:nvSpPr>
          <p:cNvPr id="10" name="object-10">
            <a:extLst>
              <a:ext uri="{FF2B5EF4-FFF2-40B4-BE49-F238E27FC236}">
                <a16:creationId xmlns:a16="http://schemas.microsoft.com/office/drawing/2014/main" id="{63151914-B457-421B-8E36-4202697992EF}"/>
              </a:ext>
            </a:extLst>
          </p:cNvPr>
          <p:cNvSpPr>
            <a:spLocks noGrp="1"/>
          </p:cNvSpPr>
          <p:nvPr/>
        </p:nvSpPr>
        <p:spPr>
          <a:xfrm>
            <a:off x="3690938" y="4429125"/>
            <a:ext cx="3571875" cy="35719"/>
          </a:xfrm>
          <a:prstGeom prst="rect">
            <a:avLst/>
          </a:prstGeom>
          <a:solidFill>
            <a:srgbClr val="1D4ED8"/>
          </a:solidFill>
          <a:ln w="0">
            <a:noFill/>
          </a:ln>
        </p:spPr>
      </p:sp>
      <p:sp>
        <p:nvSpPr>
          <p:cNvPr id="11" name="object-11">
            <a:extLst>
              <a:ext uri="{FF2B5EF4-FFF2-40B4-BE49-F238E27FC236}">
                <a16:creationId xmlns:a16="http://schemas.microsoft.com/office/drawing/2014/main" id="{2B10F54A-F07D-45A3-95CF-EDDDAFF5D5E2}"/>
              </a:ext>
            </a:extLst>
          </p:cNvPr>
          <p:cNvSpPr>
            <a:spLocks noGrp="1"/>
          </p:cNvSpPr>
          <p:nvPr/>
        </p:nvSpPr>
        <p:spPr>
          <a:xfrm>
            <a:off x="8572500" y="3976688"/>
            <a:ext cx="1012031" cy="952500"/>
          </a:xfrm>
          <a:prstGeom prst="rect">
            <a:avLst/>
          </a:prstGeom>
          <a:noFill/>
          <a:ln w="0">
            <a:noFill/>
          </a:ln>
        </p:spPr>
        <p:txBody>
          <a:bodyPr anchor="ctr">
            <a:noAutofit/>
          </a:bodyPr>
          <a:lstStyle/>
          <a:p>
            <a:pPr algn="l">
              <a:defRPr sz="5344" b="0">
                <a:solidFill>
                  <a:srgbClr val="172B4D"/>
                </a:solidFill>
                <a:latin typeface="Arial"/>
                <a:ea typeface="Arial"/>
                <a:cs typeface="Arial"/>
              </a:defRPr>
            </a:pPr>
            <a:r>
              <a:rPr sz="5344" b="0">
                <a:solidFill>
                  <a:srgbClr val="172B4D"/>
                </a:solidFill>
                <a:latin typeface="Arial"/>
                <a:ea typeface="Arial"/>
                <a:cs typeface="Arial"/>
              </a:rPr>
              <a:t>=</a:t>
            </a:r>
          </a:p>
        </p:txBody>
      </p:sp>
      <p:sp>
        <p:nvSpPr>
          <p:cNvPr id="12" name="object-12">
            <a:extLst>
              <a:ext uri="{FF2B5EF4-FFF2-40B4-BE49-F238E27FC236}">
                <a16:creationId xmlns:a16="http://schemas.microsoft.com/office/drawing/2014/main" id="{5E0AF5F1-D243-4F10-BA29-68A4F35D90A5}"/>
              </a:ext>
            </a:extLst>
          </p:cNvPr>
          <p:cNvSpPr>
            <a:spLocks noGrp="1"/>
          </p:cNvSpPr>
          <p:nvPr/>
        </p:nvSpPr>
        <p:spPr>
          <a:xfrm>
            <a:off x="10834688" y="4429125"/>
            <a:ext cx="1666875" cy="35719"/>
          </a:xfrm>
          <a:prstGeom prst="rect">
            <a:avLst/>
          </a:prstGeom>
          <a:solidFill>
            <a:srgbClr val="11745A"/>
          </a:solidFill>
          <a:ln w="0">
            <a:noFill/>
          </a:ln>
        </p:spPr>
      </p:sp>
      <p:sp>
        <p:nvSpPr>
          <p:cNvPr id="13" name="object-13">
            <a:extLst>
              <a:ext uri="{FF2B5EF4-FFF2-40B4-BE49-F238E27FC236}">
                <a16:creationId xmlns:a16="http://schemas.microsoft.com/office/drawing/2014/main" id="{CEA9A3C1-27E1-495D-9852-2C2CCACAFB79}"/>
              </a:ext>
            </a:extLst>
          </p:cNvPr>
          <p:cNvSpPr>
            <a:spLocks noGrp="1"/>
          </p:cNvSpPr>
          <p:nvPr/>
        </p:nvSpPr>
        <p:spPr>
          <a:xfrm>
            <a:off x="6548438" y="2619375"/>
            <a:ext cx="1190625" cy="738188"/>
          </a:xfrm>
          <a:prstGeom prst="rect">
            <a:avLst/>
          </a:prstGeom>
          <a:noFill/>
          <a:ln w="0">
            <a:noFill/>
          </a:ln>
        </p:spPr>
        <p:txBody>
          <a:bodyPr anchor="ctr">
            <a:noAutofit/>
          </a:bodyPr>
          <a:lstStyle/>
          <a:p>
            <a:pPr algn="ctr">
              <a:defRPr sz="4031" b="1">
                <a:solidFill>
                  <a:srgbClr val="9A5800"/>
                </a:solidFill>
                <a:latin typeface="Arial"/>
                <a:ea typeface="Arial"/>
                <a:cs typeface="Arial"/>
              </a:defRPr>
            </a:pPr>
            <a:r>
              <a:rPr sz="4031" b="1">
                <a:solidFill>
                  <a:srgbClr val="9A5800"/>
                </a:solidFill>
                <a:latin typeface="Arial"/>
                <a:ea typeface="Arial"/>
                <a:cs typeface="Arial"/>
              </a:rPr>
              <a:t>4</a:t>
            </a:r>
          </a:p>
        </p:txBody>
      </p:sp>
      <p:sp>
        <p:nvSpPr>
          <p:cNvPr id="14" name="object-14">
            <a:extLst>
              <a:ext uri="{FF2B5EF4-FFF2-40B4-BE49-F238E27FC236}">
                <a16:creationId xmlns:a16="http://schemas.microsoft.com/office/drawing/2014/main" id="{6B148DDA-04AB-4E3D-A2B7-2E1059297F4D}"/>
              </a:ext>
            </a:extLst>
          </p:cNvPr>
          <p:cNvSpPr>
            <a:spLocks noGrp="1"/>
          </p:cNvSpPr>
          <p:nvPr/>
        </p:nvSpPr>
        <p:spPr>
          <a:xfrm>
            <a:off x="8036719" y="2738438"/>
            <a:ext cx="4167188" cy="547688"/>
          </a:xfrm>
          <a:prstGeom prst="rect">
            <a:avLst/>
          </a:prstGeom>
          <a:noFill/>
          <a:ln w="0">
            <a:noFill/>
          </a:ln>
        </p:spPr>
        <p:txBody>
          <a:bodyPr anchor="ctr">
            <a:noAutofit/>
          </a:bodyPr>
          <a:lstStyle/>
          <a:p>
            <a:pPr algn="l">
              <a:defRPr sz="2344" b="0">
                <a:solidFill>
                  <a:srgbClr val="9A5800"/>
                </a:solidFill>
                <a:latin typeface="Arial"/>
                <a:ea typeface="Arial"/>
                <a:cs typeface="Arial"/>
              </a:defRPr>
            </a:pPr>
            <a:r>
              <a:rPr sz="2344" b="0">
                <a:solidFill>
                  <a:srgbClr val="9A5800"/>
                </a:solidFill>
                <a:latin typeface="Arial"/>
                <a:ea typeface="Arial"/>
                <a:cs typeface="Arial"/>
              </a:rPr>
              <a:t>multiplier</a:t>
            </a:r>
          </a:p>
        </p:txBody>
      </p:sp>
      <p:sp>
        <p:nvSpPr>
          <p:cNvPr id="15" name="object-15">
            <a:extLst>
              <a:ext uri="{FF2B5EF4-FFF2-40B4-BE49-F238E27FC236}">
                <a16:creationId xmlns:a16="http://schemas.microsoft.com/office/drawing/2014/main" id="{C79C12C4-4037-4783-A81C-1AEC780A8601}"/>
              </a:ext>
            </a:extLst>
          </p:cNvPr>
          <p:cNvSpPr>
            <a:spLocks noGrp="1"/>
          </p:cNvSpPr>
          <p:nvPr/>
        </p:nvSpPr>
        <p:spPr>
          <a:xfrm>
            <a:off x="4345781" y="3571875"/>
            <a:ext cx="833438" cy="833438"/>
          </a:xfrm>
          <a:prstGeom prst="rect">
            <a:avLst/>
          </a:prstGeom>
          <a:noFill/>
          <a:ln w="0">
            <a:noFill/>
          </a:ln>
        </p:spPr>
        <p:txBody>
          <a:bodyPr anchor="ctr">
            <a:noAutofit/>
          </a:bodyPr>
          <a:lstStyle/>
          <a:p>
            <a:pPr algn="ctr">
              <a:defRPr sz="4500" b="1">
                <a:solidFill>
                  <a:srgbClr val="9A5800"/>
                </a:solidFill>
                <a:latin typeface="Arial"/>
                <a:ea typeface="Arial"/>
                <a:cs typeface="Arial"/>
              </a:defRPr>
            </a:pPr>
            <a:r>
              <a:rPr sz="4500" b="1">
                <a:solidFill>
                  <a:srgbClr val="9A5800"/>
                </a:solidFill>
                <a:latin typeface="Arial"/>
                <a:ea typeface="Arial"/>
                <a:cs typeface="Arial"/>
              </a:rPr>
              <a:t>×</a:t>
            </a:r>
          </a:p>
        </p:txBody>
      </p:sp>
      <p:sp>
        <p:nvSpPr>
          <p:cNvPr id="16" name="object-16">
            <a:extLst>
              <a:ext uri="{FF2B5EF4-FFF2-40B4-BE49-F238E27FC236}">
                <a16:creationId xmlns:a16="http://schemas.microsoft.com/office/drawing/2014/main" id="{44006ED7-B9C0-4B14-8356-2B496B89FB4A}"/>
              </a:ext>
            </a:extLst>
          </p:cNvPr>
          <p:cNvSpPr>
            <a:spLocks noGrp="1"/>
          </p:cNvSpPr>
          <p:nvPr/>
        </p:nvSpPr>
        <p:spPr>
          <a:xfrm>
            <a:off x="6548438" y="2619375"/>
            <a:ext cx="1190625" cy="738188"/>
          </a:xfrm>
          <a:prstGeom prst="rect">
            <a:avLst/>
          </a:prstGeom>
          <a:noFill/>
          <a:ln w="0">
            <a:noFill/>
          </a:ln>
        </p:spPr>
        <p:txBody>
          <a:bodyPr anchor="ctr">
            <a:noAutofit/>
          </a:bodyPr>
          <a:lstStyle/>
          <a:p>
            <a:pPr algn="ctr">
              <a:defRPr sz="4031" b="1">
                <a:solidFill>
                  <a:srgbClr val="9A5800"/>
                </a:solidFill>
                <a:latin typeface="Arial"/>
                <a:ea typeface="Arial"/>
                <a:cs typeface="Arial"/>
              </a:defRPr>
            </a:pPr>
            <a:r>
              <a:rPr sz="4031" b="1">
                <a:solidFill>
                  <a:srgbClr val="9A5800"/>
                </a:solidFill>
                <a:latin typeface="Arial"/>
                <a:ea typeface="Arial"/>
                <a:cs typeface="Arial"/>
              </a:rPr>
              <a:t>4</a:t>
            </a:r>
          </a:p>
        </p:txBody>
      </p:sp>
      <p:sp>
        <p:nvSpPr>
          <p:cNvPr id="17" name="object-17">
            <a:extLst>
              <a:ext uri="{FF2B5EF4-FFF2-40B4-BE49-F238E27FC236}">
                <a16:creationId xmlns:a16="http://schemas.microsoft.com/office/drawing/2014/main" id="{64C34E31-868B-49FE-BA20-481C9BC207AB}"/>
              </a:ext>
            </a:extLst>
          </p:cNvPr>
          <p:cNvSpPr>
            <a:spLocks noGrp="1"/>
          </p:cNvSpPr>
          <p:nvPr/>
        </p:nvSpPr>
        <p:spPr>
          <a:xfrm>
            <a:off x="7739063" y="3571875"/>
            <a:ext cx="1547813" cy="833438"/>
          </a:xfrm>
          <a:prstGeom prst="rect">
            <a:avLst/>
          </a:prstGeom>
          <a:noFill/>
          <a:ln w="0">
            <a:noFill/>
          </a:ln>
        </p:spPr>
        <p:txBody>
          <a:bodyPr anchor="ctr">
            <a:noAutofit/>
          </a:bodyPr>
          <a:lstStyle/>
          <a:p>
            <a:pPr algn="ctr">
              <a:defRPr sz="5156" b="1">
                <a:solidFill>
                  <a:srgbClr val="11745A"/>
                </a:solidFill>
                <a:latin typeface="Arial"/>
                <a:ea typeface="Arial"/>
                <a:cs typeface="Arial"/>
              </a:defRPr>
            </a:pPr>
            <a:r>
              <a:rPr sz="5156" b="1">
                <a:solidFill>
                  <a:srgbClr val="11745A"/>
                </a:solidFill>
                <a:latin typeface="Arial"/>
                <a:ea typeface="Arial"/>
                <a:cs typeface="Arial"/>
              </a:rPr>
              <a:t>8</a:t>
            </a:r>
          </a:p>
        </p:txBody>
      </p:sp>
      <p:sp>
        <p:nvSpPr>
          <p:cNvPr id="18" name="object-18">
            <a:extLst>
              <a:ext uri="{FF2B5EF4-FFF2-40B4-BE49-F238E27FC236}">
                <a16:creationId xmlns:a16="http://schemas.microsoft.com/office/drawing/2014/main" id="{F3D9201E-39F4-4220-AF0C-26EB05790CDE}"/>
              </a:ext>
            </a:extLst>
          </p:cNvPr>
          <p:cNvSpPr>
            <a:spLocks noGrp="1"/>
          </p:cNvSpPr>
          <p:nvPr/>
        </p:nvSpPr>
        <p:spPr>
          <a:xfrm>
            <a:off x="4345781" y="4524375"/>
            <a:ext cx="833438" cy="833438"/>
          </a:xfrm>
          <a:prstGeom prst="rect">
            <a:avLst/>
          </a:prstGeom>
          <a:noFill/>
          <a:ln w="0">
            <a:noFill/>
          </a:ln>
        </p:spPr>
        <p:txBody>
          <a:bodyPr anchor="ctr">
            <a:noAutofit/>
          </a:bodyPr>
          <a:lstStyle/>
          <a:p>
            <a:pPr algn="ctr">
              <a:defRPr sz="4500" b="1">
                <a:solidFill>
                  <a:srgbClr val="9A5800"/>
                </a:solidFill>
                <a:latin typeface="Arial"/>
                <a:ea typeface="Arial"/>
                <a:cs typeface="Arial"/>
              </a:defRPr>
            </a:pPr>
            <a:r>
              <a:rPr sz="4500" b="1">
                <a:solidFill>
                  <a:srgbClr val="9A5800"/>
                </a:solidFill>
                <a:latin typeface="Arial"/>
                <a:ea typeface="Arial"/>
                <a:cs typeface="Arial"/>
              </a:rPr>
              <a:t>×</a:t>
            </a:r>
          </a:p>
        </p:txBody>
      </p:sp>
      <p:sp>
        <p:nvSpPr>
          <p:cNvPr id="19" name="object-19">
            <a:extLst>
              <a:ext uri="{FF2B5EF4-FFF2-40B4-BE49-F238E27FC236}">
                <a16:creationId xmlns:a16="http://schemas.microsoft.com/office/drawing/2014/main" id="{1F365251-04A0-431B-B0A8-6E95297BE325}"/>
              </a:ext>
            </a:extLst>
          </p:cNvPr>
          <p:cNvSpPr>
            <a:spLocks noGrp="1"/>
          </p:cNvSpPr>
          <p:nvPr/>
        </p:nvSpPr>
        <p:spPr>
          <a:xfrm>
            <a:off x="6548438" y="2619375"/>
            <a:ext cx="1190625" cy="738188"/>
          </a:xfrm>
          <a:prstGeom prst="rect">
            <a:avLst/>
          </a:prstGeom>
          <a:noFill/>
          <a:ln w="0">
            <a:noFill/>
          </a:ln>
        </p:spPr>
        <p:txBody>
          <a:bodyPr anchor="ctr">
            <a:noAutofit/>
          </a:bodyPr>
          <a:lstStyle/>
          <a:p>
            <a:pPr algn="ctr">
              <a:defRPr sz="4031" b="1">
                <a:solidFill>
                  <a:srgbClr val="9A5800"/>
                </a:solidFill>
                <a:latin typeface="Arial"/>
                <a:ea typeface="Arial"/>
                <a:cs typeface="Arial"/>
              </a:defRPr>
            </a:pPr>
            <a:r>
              <a:rPr sz="4031" b="1">
                <a:solidFill>
                  <a:srgbClr val="9A5800"/>
                </a:solidFill>
                <a:latin typeface="Arial"/>
                <a:ea typeface="Arial"/>
                <a:cs typeface="Arial"/>
              </a:rPr>
              <a:t>4</a:t>
            </a:r>
          </a:p>
        </p:txBody>
      </p:sp>
      <p:sp>
        <p:nvSpPr>
          <p:cNvPr id="20" name="object-20">
            <a:extLst>
              <a:ext uri="{FF2B5EF4-FFF2-40B4-BE49-F238E27FC236}">
                <a16:creationId xmlns:a16="http://schemas.microsoft.com/office/drawing/2014/main" id="{454123A1-DD86-4152-B7DE-704687004E83}"/>
              </a:ext>
            </a:extLst>
          </p:cNvPr>
          <p:cNvSpPr>
            <a:spLocks noGrp="1"/>
          </p:cNvSpPr>
          <p:nvPr/>
        </p:nvSpPr>
        <p:spPr>
          <a:xfrm>
            <a:off x="7739063" y="4524375"/>
            <a:ext cx="1547813" cy="833438"/>
          </a:xfrm>
          <a:prstGeom prst="rect">
            <a:avLst/>
          </a:prstGeom>
          <a:noFill/>
          <a:ln w="0">
            <a:noFill/>
          </a:ln>
        </p:spPr>
        <p:txBody>
          <a:bodyPr anchor="ctr">
            <a:noAutofit/>
          </a:bodyPr>
          <a:lstStyle/>
          <a:p>
            <a:pPr algn="ctr">
              <a:defRPr sz="5156" b="1">
                <a:solidFill>
                  <a:srgbClr val="11745A"/>
                </a:solidFill>
                <a:latin typeface="Arial"/>
                <a:ea typeface="Arial"/>
                <a:cs typeface="Arial"/>
              </a:defRPr>
            </a:pPr>
            <a:r>
              <a:rPr sz="5156" b="1">
                <a:solidFill>
                  <a:srgbClr val="11745A"/>
                </a:solidFill>
                <a:latin typeface="Arial"/>
                <a:ea typeface="Arial"/>
                <a:cs typeface="Arial"/>
              </a:rPr>
              <a:t>24</a:t>
            </a:r>
          </a:p>
        </p:txBody>
      </p:sp>
      <p:sp>
        <p:nvSpPr>
          <p:cNvPr id="21" name="object-21">
            <a:extLst>
              <a:ext uri="{FF2B5EF4-FFF2-40B4-BE49-F238E27FC236}">
                <a16:creationId xmlns:a16="http://schemas.microsoft.com/office/drawing/2014/main" id="{27377852-761A-46E0-A220-2BC4061FD314}"/>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The same value, renamed with more equal parts.</a:t>
            </a:r>
          </a:p>
        </p:txBody>
      </p:sp>
    </p:spTree>
    <p:extLst>
      <p:ext uri="{BB962C8B-B14F-4D97-AF65-F5344CB8AC3E}">
        <p14:creationId xmlns:p14="http://schemas.microsoft.com/office/powerpoint/2010/main" val="644523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par>
                          <p:cTn id="9" fill="hold">
                            <p:stCondLst>
                              <p:cond delay="0"/>
                            </p:stCondLst>
                            <p:childTnLst>
                              <p:par>
                                <p:cTn id="10" presetID="63" presetClass="path" presetSubtype="0" accel="50000" decel="50000" fill="hold" grpId="1" nodeType="afterEffect">
                                  <p:stCondLst>
                                    <p:cond delay="0"/>
                                  </p:stCondLst>
                                  <p:childTnLst>
                                    <p:animMotion origin="layout" path="M 0 0 L -0.0390625 0.11388889 E" pathEditMode="relative" ptsTypes="">
                                      <p:cBhvr>
                                        <p:cTn id="11" dur="800" fill="hold"/>
                                        <p:tgtEl>
                                          <p:spTgt spid="16"/>
                                        </p:tgtEl>
                                        <p:attrNameLst>
                                          <p:attrName>ppt_x</p:attrName>
                                          <p:attrName>ppt_y</p:attrName>
                                        </p:attrNameLst>
                                      </p:cBhvr>
                                    </p:animMotion>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7"/>
                                        </p:tgtEl>
                                        <p:attrNameLst>
                                          <p:attrName>style.visibility</p:attrName>
                                        </p:attrNameLst>
                                      </p:cBhvr>
                                      <p:to>
                                        <p:strVal val="visible"/>
                                      </p:to>
                                    </p:set>
                                  </p:childTnLst>
                                </p:cTn>
                              </p:par>
                            </p:childTnLst>
                          </p:cTn>
                        </p:par>
                        <p:par>
                          <p:cTn id="16" fill="hold">
                            <p:stCondLst>
                              <p:cond delay="0"/>
                            </p:stCondLst>
                            <p:childTnLst>
                              <p:par>
                                <p:cTn id="17" presetID="63" presetClass="path" presetSubtype="0" accel="50000" decel="50000" fill="hold" grpId="1" nodeType="afterEffect">
                                  <p:stCondLst>
                                    <p:cond delay="0"/>
                                  </p:stCondLst>
                                  <p:childTnLst>
                                    <p:animMotion origin="layout" path="M 0 0 L 0.20703125 0 E" pathEditMode="relative" ptsTypes="">
                                      <p:cBhvr>
                                        <p:cTn id="18" dur="800" fill="hold"/>
                                        <p:tgtEl>
                                          <p:spTgt spid="17"/>
                                        </p:tgtEl>
                                        <p:attrNameLst>
                                          <p:attrName>ppt_x</p:attrName>
                                          <p:attrName>ppt_y</p:attrName>
                                        </p:attrNameLst>
                                      </p:cBhvr>
                                    </p:animMotion>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childTnLst>
                          </p:cTn>
                        </p:par>
                        <p:par>
                          <p:cTn id="25" fill="hold">
                            <p:stCondLst>
                              <p:cond delay="0"/>
                            </p:stCondLst>
                            <p:childTnLst>
                              <p:par>
                                <p:cTn id="26" presetID="63" presetClass="path" presetSubtype="0" accel="50000" decel="50000" fill="hold" grpId="1" nodeType="afterEffect">
                                  <p:stCondLst>
                                    <p:cond delay="0"/>
                                  </p:stCondLst>
                                  <p:childTnLst>
                                    <p:animMotion origin="layout" path="M 0 0 L -0.0390625 0.225 E" pathEditMode="relative" ptsTypes="">
                                      <p:cBhvr>
                                        <p:cTn id="27" dur="800" fill="hold"/>
                                        <p:tgtEl>
                                          <p:spTgt spid="19"/>
                                        </p:tgtEl>
                                        <p:attrNameLst>
                                          <p:attrName>ppt_x</p:attrName>
                                          <p:attrName>ppt_y</p:attrName>
                                        </p:attrNameLst>
                                      </p:cBhvr>
                                    </p:animMotion>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20"/>
                                        </p:tgtEl>
                                        <p:attrNameLst>
                                          <p:attrName>style.visibility</p:attrName>
                                        </p:attrNameLst>
                                      </p:cBhvr>
                                      <p:to>
                                        <p:strVal val="visible"/>
                                      </p:to>
                                    </p:set>
                                  </p:childTnLst>
                                </p:cTn>
                              </p:par>
                            </p:childTnLst>
                          </p:cTn>
                        </p:par>
                        <p:par>
                          <p:cTn id="32" fill="hold">
                            <p:stCondLst>
                              <p:cond delay="0"/>
                            </p:stCondLst>
                            <p:childTnLst>
                              <p:par>
                                <p:cTn id="33" presetID="63" presetClass="path" presetSubtype="0" accel="50000" decel="50000" fill="hold" grpId="1" nodeType="afterEffect">
                                  <p:stCondLst>
                                    <p:cond delay="0"/>
                                  </p:stCondLst>
                                  <p:childTnLst>
                                    <p:animMotion origin="layout" path="M 0 0 L 0.20703125 0 E" pathEditMode="relative" ptsTypes="">
                                      <p:cBhvr>
                                        <p:cTn id="34" dur="800" fill="hold"/>
                                        <p:tgtEl>
                                          <p:spTgt spid="20"/>
                                        </p:tgtEl>
                                        <p:attrNameLst>
                                          <p:attrName>ppt_x</p:attrName>
                                          <p:attrName>ppt_y</p:attrName>
                                        </p:attrNameLst>
                                      </p:cBhvr>
                                    </p:animMotion>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16" grpId="1"/>
      <p:bldP spid="17" grpId="0"/>
      <p:bldP spid="17" grpId="1"/>
      <p:bldP spid="18" grpId="0"/>
      <p:bldP spid="19" grpId="0"/>
      <p:bldP spid="19" grpId="1"/>
      <p:bldP spid="20" grpId="0"/>
      <p:bldP spid="20" grpId="1"/>
      <p:bldP spid="21"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C38007A9-E418-49CD-9386-851CF19C0331}"/>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65DBD538-AA4D-4510-907F-CDFCD98994B5}"/>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C39DFA16-88AA-43AE-BBDE-71FA38109A4E}"/>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AF1A873F-A13C-42B7-A7F0-42627442AAD0}"/>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0CDB8E45-84AD-44F4-A484-500B66F56F56}"/>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Generate equivalent fractions</a:t>
            </a:r>
          </a:p>
        </p:txBody>
      </p:sp>
      <p:sp>
        <p:nvSpPr>
          <p:cNvPr id="6" name="object-6">
            <a:extLst>
              <a:ext uri="{FF2B5EF4-FFF2-40B4-BE49-F238E27FC236}">
                <a16:creationId xmlns:a16="http://schemas.microsoft.com/office/drawing/2014/main" id="{284E2620-9FFB-49B9-8A6C-F8147A8FE69D}"/>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2AA05863-9001-4A34-AE7F-76CB9CE52A28}"/>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342EE98C-9A33-451E-ABE0-C00EBCE684AF}"/>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5/6 with denominator 24.</a:t>
            </a:r>
          </a:p>
        </p:txBody>
      </p:sp>
      <p:sp>
        <p:nvSpPr>
          <p:cNvPr id="9" name="object-9">
            <a:extLst>
              <a:ext uri="{FF2B5EF4-FFF2-40B4-BE49-F238E27FC236}">
                <a16:creationId xmlns:a16="http://schemas.microsoft.com/office/drawing/2014/main" id="{4FA5C650-BF4F-4236-96A5-8AF0A311056C}"/>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88EA03F8-60E0-4F74-AAE4-A141153FCE14}"/>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Simplify 42/56.</a:t>
            </a:r>
          </a:p>
        </p:txBody>
      </p:sp>
      <p:sp>
        <p:nvSpPr>
          <p:cNvPr id="11" name="object-11">
            <a:extLst>
              <a:ext uri="{FF2B5EF4-FFF2-40B4-BE49-F238E27FC236}">
                <a16:creationId xmlns:a16="http://schemas.microsoft.com/office/drawing/2014/main" id="{10994581-787F-4ADC-8F83-0417175D1AB9}"/>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EFE7D6CA-DFF9-470C-A3B7-3847C8D0A442}"/>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Which is greater, 7/12 or 5/8?</a:t>
            </a:r>
          </a:p>
        </p:txBody>
      </p:sp>
      <p:sp>
        <p:nvSpPr>
          <p:cNvPr id="13" name="object-13">
            <a:extLst>
              <a:ext uri="{FF2B5EF4-FFF2-40B4-BE49-F238E27FC236}">
                <a16:creationId xmlns:a16="http://schemas.microsoft.com/office/drawing/2014/main" id="{4F9126D5-998C-4347-9B8D-DF7745A8802A}"/>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B53CA09E-2D1F-4AC1-A9FB-E7AD4A69EC14}"/>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Write 5/6 with denominator 24.</a:t>
            </a:r>
          </a:p>
        </p:txBody>
      </p:sp>
      <p:sp>
        <p:nvSpPr>
          <p:cNvPr id="15" name="object-15">
            <a:extLst>
              <a:ext uri="{FF2B5EF4-FFF2-40B4-BE49-F238E27FC236}">
                <a16:creationId xmlns:a16="http://schemas.microsoft.com/office/drawing/2014/main" id="{01075C0E-0013-442C-B0A6-FB08E3C84968}"/>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1DB1B553-BAEA-469B-BB94-BC877363B66D}"/>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Simplify 42/56.</a:t>
            </a:r>
          </a:p>
        </p:txBody>
      </p:sp>
      <p:sp>
        <p:nvSpPr>
          <p:cNvPr id="17" name="object-17">
            <a:extLst>
              <a:ext uri="{FF2B5EF4-FFF2-40B4-BE49-F238E27FC236}">
                <a16:creationId xmlns:a16="http://schemas.microsoft.com/office/drawing/2014/main" id="{E8B0CCFC-3E7C-42F1-A86F-3D87E48A072D}"/>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AEE8125D-C9AE-4ED7-AA25-0EB9DBA14AF0}"/>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Which is greater, 7/12 or 5/8?</a:t>
            </a:r>
          </a:p>
        </p:txBody>
      </p:sp>
      <p:sp>
        <p:nvSpPr>
          <p:cNvPr id="19" name="object-19">
            <a:extLst>
              <a:ext uri="{FF2B5EF4-FFF2-40B4-BE49-F238E27FC236}">
                <a16:creationId xmlns:a16="http://schemas.microsoft.com/office/drawing/2014/main" id="{30D30EF6-EDBB-4A15-8E07-05EE8C30F202}"/>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CF531063-B3B5-4EA8-B179-219B8E0BDD6E}"/>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Prove or explain your reasoning: Order 2/3, 3/4 and 5/6 from least to greatest.</a:t>
            </a:r>
          </a:p>
        </p:txBody>
      </p:sp>
      <p:sp>
        <p:nvSpPr>
          <p:cNvPr id="21" name="object-21">
            <a:extLst>
              <a:ext uri="{FF2B5EF4-FFF2-40B4-BE49-F238E27FC236}">
                <a16:creationId xmlns:a16="http://schemas.microsoft.com/office/drawing/2014/main" id="{1E38D1EF-836C-4B52-B78F-5983A17D1754}"/>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A3F83E6C-C422-41F7-BA64-689817DDCCEB}"/>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compares fractions by looking only at the denominators.</a:t>
            </a:r>
          </a:p>
        </p:txBody>
      </p:sp>
      <p:sp>
        <p:nvSpPr>
          <p:cNvPr id="23" name="object-23">
            <a:extLst>
              <a:ext uri="{FF2B5EF4-FFF2-40B4-BE49-F238E27FC236}">
                <a16:creationId xmlns:a16="http://schemas.microsoft.com/office/drawing/2014/main" id="{D1F7F887-6DBC-4653-A37D-BFB8C427671E}"/>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162E3CCD-8253-44E7-97CE-D1EFBF5708D6}"/>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94ABFB63-4478-476B-9CED-E414DF4616A4}"/>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288C7DD3-3D41-4EE8-8A4A-A71914D3ED73}"/>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Which is greater, 7/12 or 5/8?</a:t>
            </a:r>
          </a:p>
        </p:txBody>
      </p:sp>
    </p:spTree>
    <p:extLst>
      <p:ext uri="{BB962C8B-B14F-4D97-AF65-F5344CB8AC3E}">
        <p14:creationId xmlns:p14="http://schemas.microsoft.com/office/powerpoint/2010/main" val="4034015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515BDA0B-2BFC-4FC4-AA80-902918055D5F}"/>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A6DD7679-85BA-452F-B92F-1D2FB0725474}"/>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967B3217-9EC5-491C-932F-BC00D2A57FAB}"/>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AD388E19-030A-4F08-939D-5A20CE0DC7B1}"/>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Generate equivalent fractions</a:t>
            </a:r>
          </a:p>
        </p:txBody>
      </p:sp>
      <p:sp>
        <p:nvSpPr>
          <p:cNvPr id="5" name="object-5">
            <a:extLst>
              <a:ext uri="{FF2B5EF4-FFF2-40B4-BE49-F238E27FC236}">
                <a16:creationId xmlns:a16="http://schemas.microsoft.com/office/drawing/2014/main" id="{08553D06-2E4B-404D-9806-7BF34E9B77AE}"/>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E249BE3A-2A79-4D0F-85DC-808CF4803EB2}"/>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77DC30FB-74D3-446B-B440-05FFFEC34C93}"/>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20/24.</a:t>
            </a:r>
          </a:p>
        </p:txBody>
      </p:sp>
      <p:sp>
        <p:nvSpPr>
          <p:cNvPr id="8" name="object-8">
            <a:extLst>
              <a:ext uri="{FF2B5EF4-FFF2-40B4-BE49-F238E27FC236}">
                <a16:creationId xmlns:a16="http://schemas.microsoft.com/office/drawing/2014/main" id="{06BAE3BB-7151-430B-B368-04FBD02BA42F}"/>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D1A611C5-32DE-4303-B4D6-99C9410617E5}"/>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3/4.</a:t>
            </a:r>
          </a:p>
        </p:txBody>
      </p:sp>
      <p:sp>
        <p:nvSpPr>
          <p:cNvPr id="10" name="object-10">
            <a:extLst>
              <a:ext uri="{FF2B5EF4-FFF2-40B4-BE49-F238E27FC236}">
                <a16:creationId xmlns:a16="http://schemas.microsoft.com/office/drawing/2014/main" id="{A04EB170-15ED-4180-A1C4-69C814D887BC}"/>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4496533D-AAAC-496F-B514-5710FE3F5679}"/>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5/8 because 7/12 = 14/24 and 5/8 = 15/24.</a:t>
            </a:r>
          </a:p>
        </p:txBody>
      </p:sp>
      <p:sp>
        <p:nvSpPr>
          <p:cNvPr id="12" name="object-12">
            <a:extLst>
              <a:ext uri="{FF2B5EF4-FFF2-40B4-BE49-F238E27FC236}">
                <a16:creationId xmlns:a16="http://schemas.microsoft.com/office/drawing/2014/main" id="{871D9C22-545C-43E7-98BB-A493AC72DD9A}"/>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30AFA764-DF69-4542-836F-9E2107495B9B}"/>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20/24.</a:t>
            </a:r>
          </a:p>
        </p:txBody>
      </p:sp>
      <p:sp>
        <p:nvSpPr>
          <p:cNvPr id="14" name="object-14">
            <a:extLst>
              <a:ext uri="{FF2B5EF4-FFF2-40B4-BE49-F238E27FC236}">
                <a16:creationId xmlns:a16="http://schemas.microsoft.com/office/drawing/2014/main" id="{7C068E65-E7A6-4888-A5AE-625A497C3C80}"/>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B282FD18-85AA-41E3-A3AD-4D5D2D10DE52}"/>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3/4. Method or representation may vary.</a:t>
            </a:r>
          </a:p>
        </p:txBody>
      </p:sp>
      <p:sp>
        <p:nvSpPr>
          <p:cNvPr id="16" name="object-16">
            <a:extLst>
              <a:ext uri="{FF2B5EF4-FFF2-40B4-BE49-F238E27FC236}">
                <a16:creationId xmlns:a16="http://schemas.microsoft.com/office/drawing/2014/main" id="{A9AB8833-6C39-4A6F-9097-A2D1A1CC5ED7}"/>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3D341A8A-7490-433F-9545-306BD816B1E9}"/>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5/8 because 7/12 = 14/24 and 5/8 = 15/24. A valid check must be shown.</a:t>
            </a:r>
          </a:p>
        </p:txBody>
      </p:sp>
      <p:sp>
        <p:nvSpPr>
          <p:cNvPr id="18" name="object-18">
            <a:extLst>
              <a:ext uri="{FF2B5EF4-FFF2-40B4-BE49-F238E27FC236}">
                <a16:creationId xmlns:a16="http://schemas.microsoft.com/office/drawing/2014/main" id="{F7C3F03A-93F6-4C67-AD4E-7AB51ED8E4E6}"/>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6732CAFE-19BF-445C-9DB9-0EA866E52C77}"/>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2/3, 3/4, 5/6. The explanation must show why the method works.</a:t>
            </a:r>
          </a:p>
        </p:txBody>
      </p:sp>
      <p:sp>
        <p:nvSpPr>
          <p:cNvPr id="20" name="object-20">
            <a:extLst>
              <a:ext uri="{FF2B5EF4-FFF2-40B4-BE49-F238E27FC236}">
                <a16:creationId xmlns:a16="http://schemas.microsoft.com/office/drawing/2014/main" id="{C0E5DD12-930D-4CA6-9DC5-1DB01FC101FC}"/>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E48DF697-917C-4CB7-A5CA-C5DEAB68DD12}"/>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Convert the fractions to equivalent forms or use a shared benchmark before comparing.</a:t>
            </a:r>
          </a:p>
        </p:txBody>
      </p:sp>
      <p:sp>
        <p:nvSpPr>
          <p:cNvPr id="22" name="object-22">
            <a:extLst>
              <a:ext uri="{FF2B5EF4-FFF2-40B4-BE49-F238E27FC236}">
                <a16:creationId xmlns:a16="http://schemas.microsoft.com/office/drawing/2014/main" id="{62EA93DE-6F25-4D47-9677-77DB2C06957B}"/>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62E71AF3-BA57-4BEC-965A-6827669C5E3D}"/>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24C08D31-EB78-425B-B218-E43D74235E8D}"/>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6450CBD9-A506-42B5-968E-6B45F33CE956}"/>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66379473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936</Words>
  <Application>Microsoft Office PowerPoint</Application>
  <DocSecurity>0</DocSecurity>
  <PresentationFormat>Custom</PresentationFormat>
  <Paragraphs>134</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2026-09-14T13:19:11Z</dcterms:created>
  <dcterms:modified xsi:type="dcterms:W3CDTF">2026-09-14T13:19:27Z</dcterms:modified>
</cp:coreProperties>
</file>