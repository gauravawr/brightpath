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5240000" cy="85725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Retrieve decimal and percentage methods. Retrieve decimal and percentage methods. Introduce the mathematical idea using the first worked example. The lesson can be placed anywhere in the teaching sequence.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Retrieve decimal and percentage methods. I do. The complete bar represents 100%. Find 1%, then build the required percentage. For a reduction, subtract the discount from the original whole.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Retrieve decimal and percentage methods. You do. Pause before clicking. Let pupils try independently, then reveal and discuss every step. The complete bar represents 100%. Find 1%, then build the required percentage. For a reduction, subtract the discount from the original whole.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Retrieve decimal and percentage methods. I do. The complete bar represents 100%. Find 1%, then build the required percentage. For a reduction, subtract the discount from the original whole.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Retrieve decimal and percentage methods. You do. Pause before clicking. Let pupils try independently, then reveal and discuss every step. The complete bar represents 100%. Find 1%, then build the required percentage. For a reduction, subtract the discount from the original whole.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Retrieve decimal and percentage methods. You do. Pause before clicking. Let pupils try independently, then reveal and discuss every step. These are the existing expected-level worksheet questions, in their original order. Do not advance to the answer slide until pupils have had time to finish.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Retrieve decimal and percentage methods. Answers. Answers to the preceding complete activity question set, in matching order. Accept mathematically valid alternatives for open questions.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-1">
            <a:extLst>
              <a:ext uri="{FF2B5EF4-FFF2-40B4-BE49-F238E27FC236}">
                <a16:creationId xmlns:a16="http://schemas.microsoft.com/office/drawing/2014/main" id="{920727D5-B279-430D-8071-4D19A49CAAD9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15478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Retrieve decimal and percentage methods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40DF0D98-B75A-4215-BAC9-3A09F32D172E}"/>
              </a:ext>
            </a:extLst>
          </p:cNvPr>
          <p:cNvSpPr>
            <a:spLocks noGrp="1"/>
          </p:cNvSpPr>
          <p:nvPr/>
        </p:nvSpPr>
        <p:spPr>
          <a:xfrm>
            <a:off x="654844" y="2024063"/>
            <a:ext cx="13930313" cy="1012031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Watch the model. Try the next question. Explain what changes.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A4B3D3A4-50F6-4DEE-9F79-438C247A8D4B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049CC038-528B-4E9E-AC2F-6CF79C8CFB3D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Retrieve decimal and percentage methods</a:t>
            </a:r>
          </a:p>
        </p:txBody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63001621-4C33-440E-BE54-AE60ECAD8BA6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5E67B879-1571-4FD1-85D3-FCE6C66C4078}"/>
              </a:ext>
            </a:extLst>
          </p:cNvPr>
          <p:cNvSpPr>
            <a:spLocks noGrp="1"/>
          </p:cNvSpPr>
          <p:nvPr/>
        </p:nvSpPr>
        <p:spPr>
          <a:xfrm>
            <a:off x="1190625" y="3631406"/>
            <a:ext cx="12858750" cy="2143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3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To retrieve decimal and percentage calculation methods.</a:t>
            </a:r>
          </a:p>
        </p:txBody>
      </p:sp>
    </p:spTree>
    <p:extLst>
      <p:ext uri="{BB962C8B-B14F-4D97-AF65-F5344CB8AC3E}">
        <p14:creationId xmlns:p14="http://schemas.microsoft.com/office/powerpoint/2010/main" val="5075981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-1">
            <a:extLst>
              <a:ext uri="{FF2B5EF4-FFF2-40B4-BE49-F238E27FC236}">
                <a16:creationId xmlns:a16="http://schemas.microsoft.com/office/drawing/2014/main" id="{E8B7BD7E-6932-4C33-8403-E6B6CF315B37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B6E4991C-9887-472C-BF2A-A07D9170A504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Find 37.5% of 640.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E873565C-6578-41C9-8D91-DA1FB84E4BFB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56978B2B-59D4-4869-91D4-0844426C59F4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Retrieve decimal and percentage methods</a:t>
            </a:r>
          </a:p>
        </p:txBody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BEBC0287-7839-486D-99B3-3A53AD149187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C50B78CC-33A5-4498-A86B-7A4FDC7B73F4}"/>
              </a:ext>
            </a:extLst>
          </p:cNvPr>
          <p:cNvSpPr>
            <a:spLocks noGrp="1"/>
          </p:cNvSpPr>
          <p:nvPr/>
        </p:nvSpPr>
        <p:spPr>
          <a:xfrm>
            <a:off x="1547813" y="3393281"/>
            <a:ext cx="11906250" cy="892969"/>
          </a:xfrm>
          <a:prstGeom prst="rect">
            <a:avLst/>
          </a:prstGeom>
          <a:solidFill>
            <a:srgbClr val="FFFFFF"/>
          </a:solidFill>
          <a:ln w="23813">
            <a:solidFill>
              <a:srgbClr val="1D4ED8"/>
            </a:solidFill>
          </a:ln>
        </p:spPr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81AECE3E-B3BF-4C11-96C6-E974DF223B8D}"/>
              </a:ext>
            </a:extLst>
          </p:cNvPr>
          <p:cNvSpPr>
            <a:spLocks noGrp="1"/>
          </p:cNvSpPr>
          <p:nvPr/>
        </p:nvSpPr>
        <p:spPr>
          <a:xfrm>
            <a:off x="1547813" y="3393281"/>
            <a:ext cx="4464844" cy="892969"/>
          </a:xfrm>
          <a:prstGeom prst="rect">
            <a:avLst/>
          </a:prstGeom>
          <a:solidFill>
            <a:srgbClr val="1D4ED8"/>
          </a:solidFill>
          <a:ln w="0">
            <a:noFill/>
          </a:ln>
        </p:spPr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771EFDEA-916D-4628-AF1E-9E9F88B1A6EB}"/>
              </a:ext>
            </a:extLst>
          </p:cNvPr>
          <p:cNvSpPr>
            <a:spLocks noGrp="1"/>
          </p:cNvSpPr>
          <p:nvPr/>
        </p:nvSpPr>
        <p:spPr>
          <a:xfrm>
            <a:off x="11906250" y="4429125"/>
            <a:ext cx="1905000" cy="595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813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52647A"/>
                </a:solidFill>
                <a:latin typeface="Arial"/>
                <a:ea typeface="Arial"/>
                <a:cs typeface="Arial"/>
              </a:rPr>
              <a:t>100%</a:t>
            </a:r>
          </a:p>
        </p:txBody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23EA4C55-4AAA-4836-B334-1F7D1248B1FA}"/>
              </a:ext>
            </a:extLst>
          </p:cNvPr>
          <p:cNvSpPr>
            <a:spLocks noGrp="1"/>
          </p:cNvSpPr>
          <p:nvPr/>
        </p:nvSpPr>
        <p:spPr>
          <a:xfrm>
            <a:off x="1547813" y="4429125"/>
            <a:ext cx="3571875" cy="595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813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37.5%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A9DC7891-4496-4236-880F-4D6273BF4D4A}"/>
              </a:ext>
            </a:extLst>
          </p:cNvPr>
          <p:cNvSpPr>
            <a:spLocks noGrp="1"/>
          </p:cNvSpPr>
          <p:nvPr/>
        </p:nvSpPr>
        <p:spPr>
          <a:xfrm>
            <a:off x="1428750" y="5345906"/>
            <a:ext cx="12739688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0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640 ÷ 100 = 6.4 (1%)</a:t>
            </a:r>
          </a:p>
        </p:txBody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3EA01DCB-DA22-4EFE-8304-061682AE8739}"/>
              </a:ext>
            </a:extLst>
          </p:cNvPr>
          <p:cNvSpPr>
            <a:spLocks noGrp="1"/>
          </p:cNvSpPr>
          <p:nvPr/>
        </p:nvSpPr>
        <p:spPr>
          <a:xfrm>
            <a:off x="892969" y="6965156"/>
            <a:ext cx="13454063" cy="7381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6.4 × 37.5 = 240</a:t>
            </a:r>
          </a:p>
        </p:txBody>
      </p:sp>
    </p:spTree>
    <p:extLst>
      <p:ext uri="{BB962C8B-B14F-4D97-AF65-F5344CB8AC3E}">
        <p14:creationId xmlns:p14="http://schemas.microsoft.com/office/powerpoint/2010/main" val="221907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-1">
            <a:extLst>
              <a:ext uri="{FF2B5EF4-FFF2-40B4-BE49-F238E27FC236}">
                <a16:creationId xmlns:a16="http://schemas.microsoft.com/office/drawing/2014/main" id="{F64194EE-B205-4BBC-95D1-9126E434B8DD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A88F2DA3-127D-4A9D-87CF-8D05556DC62B}"/>
              </a:ext>
            </a:extLst>
          </p:cNvPr>
          <p:cNvSpPr>
            <a:spLocks noGrp="1"/>
          </p:cNvSpPr>
          <p:nvPr/>
        </p:nvSpPr>
        <p:spPr>
          <a:xfrm>
            <a:off x="11430000" y="476250"/>
            <a:ext cx="3155156" cy="5476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26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You try.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B131CFCC-F581-41AF-A3C0-BC2990DD412E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Find 37.5% of 720.</a:t>
            </a:r>
          </a:p>
        </p:txBody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8608C644-4777-4537-A414-80CBEC7430E6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7EC1F591-51F3-4A80-BED1-B24E0CAB1E12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Retrieve decimal and percentage methods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D6CFB0C0-7D69-471F-AD25-FC071AED742C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162879B5-7E70-4597-B74B-267D68EFF94D}"/>
              </a:ext>
            </a:extLst>
          </p:cNvPr>
          <p:cNvSpPr>
            <a:spLocks noGrp="1"/>
          </p:cNvSpPr>
          <p:nvPr/>
        </p:nvSpPr>
        <p:spPr>
          <a:xfrm>
            <a:off x="1547813" y="3393281"/>
            <a:ext cx="11906250" cy="892969"/>
          </a:xfrm>
          <a:prstGeom prst="rect">
            <a:avLst/>
          </a:prstGeom>
          <a:solidFill>
            <a:srgbClr val="FFFFFF"/>
          </a:solidFill>
          <a:ln w="23813">
            <a:solidFill>
              <a:srgbClr val="1D4ED8"/>
            </a:solidFill>
          </a:ln>
        </p:spPr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F2CEB5AC-A631-412B-90D6-5F946B7E8AD5}"/>
              </a:ext>
            </a:extLst>
          </p:cNvPr>
          <p:cNvSpPr>
            <a:spLocks noGrp="1"/>
          </p:cNvSpPr>
          <p:nvPr/>
        </p:nvSpPr>
        <p:spPr>
          <a:xfrm>
            <a:off x="1547813" y="3393281"/>
            <a:ext cx="4464844" cy="892969"/>
          </a:xfrm>
          <a:prstGeom prst="rect">
            <a:avLst/>
          </a:prstGeom>
          <a:solidFill>
            <a:srgbClr val="1D4ED8"/>
          </a:solidFill>
          <a:ln w="0">
            <a:noFill/>
          </a:ln>
        </p:spPr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BA939C87-5A49-4390-94F6-3D070F91B3A5}"/>
              </a:ext>
            </a:extLst>
          </p:cNvPr>
          <p:cNvSpPr>
            <a:spLocks noGrp="1"/>
          </p:cNvSpPr>
          <p:nvPr/>
        </p:nvSpPr>
        <p:spPr>
          <a:xfrm>
            <a:off x="11906250" y="4429125"/>
            <a:ext cx="1905000" cy="595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813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52647A"/>
                </a:solidFill>
                <a:latin typeface="Arial"/>
                <a:ea typeface="Arial"/>
                <a:cs typeface="Arial"/>
              </a:rPr>
              <a:t>100%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D3C03AAC-E0CE-464F-B0C3-264EDE841342}"/>
              </a:ext>
            </a:extLst>
          </p:cNvPr>
          <p:cNvSpPr>
            <a:spLocks noGrp="1"/>
          </p:cNvSpPr>
          <p:nvPr/>
        </p:nvSpPr>
        <p:spPr>
          <a:xfrm>
            <a:off x="1547813" y="4429125"/>
            <a:ext cx="3571875" cy="595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813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37.5%</a:t>
            </a:r>
          </a:p>
        </p:txBody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56EC8A52-A79C-4B49-AE9C-E8CDB377AF2B}"/>
              </a:ext>
            </a:extLst>
          </p:cNvPr>
          <p:cNvSpPr>
            <a:spLocks noGrp="1"/>
          </p:cNvSpPr>
          <p:nvPr/>
        </p:nvSpPr>
        <p:spPr>
          <a:xfrm>
            <a:off x="1428750" y="5345906"/>
            <a:ext cx="12739688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0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720 ÷ 100 = 7.2 (1%)</a:t>
            </a:r>
          </a:p>
        </p:txBody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6A0D0A0D-6874-4F54-AE85-E68E641B7975}"/>
              </a:ext>
            </a:extLst>
          </p:cNvPr>
          <p:cNvSpPr>
            <a:spLocks noGrp="1"/>
          </p:cNvSpPr>
          <p:nvPr/>
        </p:nvSpPr>
        <p:spPr>
          <a:xfrm>
            <a:off x="892969" y="6965156"/>
            <a:ext cx="13454063" cy="7381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7.2 × 37.5 = 270</a:t>
            </a:r>
          </a:p>
        </p:txBody>
      </p:sp>
    </p:spTree>
    <p:extLst>
      <p:ext uri="{BB962C8B-B14F-4D97-AF65-F5344CB8AC3E}">
        <p14:creationId xmlns:p14="http://schemas.microsoft.com/office/powerpoint/2010/main" val="1694587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-1">
            <a:extLst>
              <a:ext uri="{FF2B5EF4-FFF2-40B4-BE49-F238E27FC236}">
                <a16:creationId xmlns:a16="http://schemas.microsoft.com/office/drawing/2014/main" id="{16EA930E-234A-48A2-A97B-D3EDFAEF94A9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71B6CA8B-7EB6-4346-8473-A7D447946654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Find 37.5% of 800.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E3A3728E-CCB5-4E7F-9427-33C43DA0828B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58B92D60-0070-4AA2-B7C4-F220A355E165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Retrieve decimal and percentage methods</a:t>
            </a:r>
          </a:p>
        </p:txBody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0EE52F98-6EF7-490E-BC51-65045D627F05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5C80EC81-0C7B-4F8A-95B8-78B0766F8BEF}"/>
              </a:ext>
            </a:extLst>
          </p:cNvPr>
          <p:cNvSpPr>
            <a:spLocks noGrp="1"/>
          </p:cNvSpPr>
          <p:nvPr/>
        </p:nvSpPr>
        <p:spPr>
          <a:xfrm>
            <a:off x="1547813" y="3393281"/>
            <a:ext cx="11906250" cy="892969"/>
          </a:xfrm>
          <a:prstGeom prst="rect">
            <a:avLst/>
          </a:prstGeom>
          <a:solidFill>
            <a:srgbClr val="FFFFFF"/>
          </a:solidFill>
          <a:ln w="23813">
            <a:solidFill>
              <a:srgbClr val="1D4ED8"/>
            </a:solidFill>
          </a:ln>
        </p:spPr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43943D28-B589-4BE4-906E-FFE854121C11}"/>
              </a:ext>
            </a:extLst>
          </p:cNvPr>
          <p:cNvSpPr>
            <a:spLocks noGrp="1"/>
          </p:cNvSpPr>
          <p:nvPr/>
        </p:nvSpPr>
        <p:spPr>
          <a:xfrm>
            <a:off x="1547813" y="3393281"/>
            <a:ext cx="4464844" cy="892969"/>
          </a:xfrm>
          <a:prstGeom prst="rect">
            <a:avLst/>
          </a:prstGeom>
          <a:solidFill>
            <a:srgbClr val="1D4ED8"/>
          </a:solidFill>
          <a:ln w="0">
            <a:noFill/>
          </a:ln>
        </p:spPr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144C65BF-7BAB-4348-A900-75C4F73D4913}"/>
              </a:ext>
            </a:extLst>
          </p:cNvPr>
          <p:cNvSpPr>
            <a:spLocks noGrp="1"/>
          </p:cNvSpPr>
          <p:nvPr/>
        </p:nvSpPr>
        <p:spPr>
          <a:xfrm>
            <a:off x="11906250" y="4429125"/>
            <a:ext cx="1905000" cy="595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813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52647A"/>
                </a:solidFill>
                <a:latin typeface="Arial"/>
                <a:ea typeface="Arial"/>
                <a:cs typeface="Arial"/>
              </a:rPr>
              <a:t>100%</a:t>
            </a:r>
          </a:p>
        </p:txBody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8856DFF3-B827-4181-8752-341A690CFA41}"/>
              </a:ext>
            </a:extLst>
          </p:cNvPr>
          <p:cNvSpPr>
            <a:spLocks noGrp="1"/>
          </p:cNvSpPr>
          <p:nvPr/>
        </p:nvSpPr>
        <p:spPr>
          <a:xfrm>
            <a:off x="1547813" y="4429125"/>
            <a:ext cx="3571875" cy="595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813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37.5%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433AAD67-79A7-47A6-8BC3-87DF22171359}"/>
              </a:ext>
            </a:extLst>
          </p:cNvPr>
          <p:cNvSpPr>
            <a:spLocks noGrp="1"/>
          </p:cNvSpPr>
          <p:nvPr/>
        </p:nvSpPr>
        <p:spPr>
          <a:xfrm>
            <a:off x="1428750" y="5345906"/>
            <a:ext cx="12739688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0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800 ÷ 100 = 8 (1%)</a:t>
            </a:r>
          </a:p>
        </p:txBody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25E019E9-6F9E-445B-AA19-344A6250151A}"/>
              </a:ext>
            </a:extLst>
          </p:cNvPr>
          <p:cNvSpPr>
            <a:spLocks noGrp="1"/>
          </p:cNvSpPr>
          <p:nvPr/>
        </p:nvSpPr>
        <p:spPr>
          <a:xfrm>
            <a:off x="892969" y="6965156"/>
            <a:ext cx="13454063" cy="7381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8 × 37.5 = 300</a:t>
            </a:r>
          </a:p>
        </p:txBody>
      </p:sp>
    </p:spTree>
    <p:extLst>
      <p:ext uri="{BB962C8B-B14F-4D97-AF65-F5344CB8AC3E}">
        <p14:creationId xmlns:p14="http://schemas.microsoft.com/office/powerpoint/2010/main" val="727195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-1">
            <a:extLst>
              <a:ext uri="{FF2B5EF4-FFF2-40B4-BE49-F238E27FC236}">
                <a16:creationId xmlns:a16="http://schemas.microsoft.com/office/drawing/2014/main" id="{D125806F-DFA3-4E3C-A5E7-15B6C7467D06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3BC0B585-BD8D-4AD6-A64A-3D8EA6DFB187}"/>
              </a:ext>
            </a:extLst>
          </p:cNvPr>
          <p:cNvSpPr>
            <a:spLocks noGrp="1"/>
          </p:cNvSpPr>
          <p:nvPr/>
        </p:nvSpPr>
        <p:spPr>
          <a:xfrm>
            <a:off x="11430000" y="476250"/>
            <a:ext cx="3155156" cy="5476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26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You try.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061B721D-AAC4-456F-9589-4BCC65589B71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Find 37.5% of 880.</a:t>
            </a:r>
          </a:p>
        </p:txBody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85C1F945-476E-4D59-B9CC-CA33BF73DD1B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3D178591-2A32-460F-A388-B2F0260A96E0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Retrieve decimal and percentage methods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77C0EDFC-08B4-4102-9E2E-AF7A7382618D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88A49859-A467-4A69-BEBA-53A2BC8C5E16}"/>
              </a:ext>
            </a:extLst>
          </p:cNvPr>
          <p:cNvSpPr>
            <a:spLocks noGrp="1"/>
          </p:cNvSpPr>
          <p:nvPr/>
        </p:nvSpPr>
        <p:spPr>
          <a:xfrm>
            <a:off x="1547813" y="3393281"/>
            <a:ext cx="11906250" cy="892969"/>
          </a:xfrm>
          <a:prstGeom prst="rect">
            <a:avLst/>
          </a:prstGeom>
          <a:solidFill>
            <a:srgbClr val="FFFFFF"/>
          </a:solidFill>
          <a:ln w="23813">
            <a:solidFill>
              <a:srgbClr val="1D4ED8"/>
            </a:solidFill>
          </a:ln>
        </p:spPr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0676BA8D-9555-4B41-BB6E-0A1312F12FA5}"/>
              </a:ext>
            </a:extLst>
          </p:cNvPr>
          <p:cNvSpPr>
            <a:spLocks noGrp="1"/>
          </p:cNvSpPr>
          <p:nvPr/>
        </p:nvSpPr>
        <p:spPr>
          <a:xfrm>
            <a:off x="1547813" y="3393281"/>
            <a:ext cx="4464844" cy="892969"/>
          </a:xfrm>
          <a:prstGeom prst="rect">
            <a:avLst/>
          </a:prstGeom>
          <a:solidFill>
            <a:srgbClr val="1D4ED8"/>
          </a:solidFill>
          <a:ln w="0">
            <a:noFill/>
          </a:ln>
        </p:spPr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C50374B3-AFF2-4B82-8839-055E74177727}"/>
              </a:ext>
            </a:extLst>
          </p:cNvPr>
          <p:cNvSpPr>
            <a:spLocks noGrp="1"/>
          </p:cNvSpPr>
          <p:nvPr/>
        </p:nvSpPr>
        <p:spPr>
          <a:xfrm>
            <a:off x="11906250" y="4429125"/>
            <a:ext cx="1905000" cy="595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813" b="1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52647A"/>
                </a:solidFill>
                <a:latin typeface="Arial"/>
                <a:ea typeface="Arial"/>
                <a:cs typeface="Arial"/>
              </a:rPr>
              <a:t>100%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535CCD87-CFDC-416E-9BF1-64E22F7C2A8B}"/>
              </a:ext>
            </a:extLst>
          </p:cNvPr>
          <p:cNvSpPr>
            <a:spLocks noGrp="1"/>
          </p:cNvSpPr>
          <p:nvPr/>
        </p:nvSpPr>
        <p:spPr>
          <a:xfrm>
            <a:off x="1547813" y="4429125"/>
            <a:ext cx="3571875" cy="595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813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37.5%</a:t>
            </a:r>
          </a:p>
        </p:txBody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F7D89906-23F4-4D1D-B84C-568666770EB5}"/>
              </a:ext>
            </a:extLst>
          </p:cNvPr>
          <p:cNvSpPr>
            <a:spLocks noGrp="1"/>
          </p:cNvSpPr>
          <p:nvPr/>
        </p:nvSpPr>
        <p:spPr>
          <a:xfrm>
            <a:off x="1428750" y="5345906"/>
            <a:ext cx="12739688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0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880 ÷ 100 = 8.8 (1%)</a:t>
            </a:r>
          </a:p>
        </p:txBody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29CDB77C-0D23-4C5A-8E29-5DD9E4DD7436}"/>
              </a:ext>
            </a:extLst>
          </p:cNvPr>
          <p:cNvSpPr>
            <a:spLocks noGrp="1"/>
          </p:cNvSpPr>
          <p:nvPr/>
        </p:nvSpPr>
        <p:spPr>
          <a:xfrm>
            <a:off x="892969" y="6965156"/>
            <a:ext cx="13454063" cy="7381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8.8 × 37.5 = 330</a:t>
            </a:r>
          </a:p>
        </p:txBody>
      </p:sp>
    </p:spTree>
    <p:extLst>
      <p:ext uri="{BB962C8B-B14F-4D97-AF65-F5344CB8AC3E}">
        <p14:creationId xmlns:p14="http://schemas.microsoft.com/office/powerpoint/2010/main" val="541361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object-1">
            <a:extLst>
              <a:ext uri="{FF2B5EF4-FFF2-40B4-BE49-F238E27FC236}">
                <a16:creationId xmlns:a16="http://schemas.microsoft.com/office/drawing/2014/main" id="{A9C78C62-6195-47D0-9A67-3A929E6C596C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914C5C3D-13CB-40C9-A057-9DFEE332B16F}"/>
              </a:ext>
            </a:extLst>
          </p:cNvPr>
          <p:cNvSpPr>
            <a:spLocks noGrp="1"/>
          </p:cNvSpPr>
          <p:nvPr/>
        </p:nvSpPr>
        <p:spPr>
          <a:xfrm>
            <a:off x="11430000" y="476250"/>
            <a:ext cx="3155156" cy="5476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26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You try.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80ED3A2E-1EF8-4FFE-B802-9EFAA13ACB4D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Try these questions.</a:t>
            </a:r>
          </a:p>
        </p:txBody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01E55760-3F4A-4ACF-95CD-DF9F07A40245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647C3D57-0206-48F3-9257-4872209987BC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Retrieve decimal and percentage methods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5A471268-BE52-4E5D-AF5E-8BEC1587204E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F117C521-52BD-4B52-A9F1-43FFEDE6C406}"/>
              </a:ext>
            </a:extLst>
          </p:cNvPr>
          <p:cNvSpPr>
            <a:spLocks noGrp="1"/>
          </p:cNvSpPr>
          <p:nvPr/>
        </p:nvSpPr>
        <p:spPr>
          <a:xfrm>
            <a:off x="773906" y="2512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285A086C-7862-4A11-9B1A-A5DE547819F9}"/>
              </a:ext>
            </a:extLst>
          </p:cNvPr>
          <p:cNvSpPr>
            <a:spLocks noGrp="1"/>
          </p:cNvSpPr>
          <p:nvPr/>
        </p:nvSpPr>
        <p:spPr>
          <a:xfrm>
            <a:off x="1464469" y="2512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Find 37.5% of 640.</a:t>
            </a:r>
          </a:p>
        </p:txBody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6D30ECA5-46E5-4134-B4E9-B680C327B027}"/>
              </a:ext>
            </a:extLst>
          </p:cNvPr>
          <p:cNvSpPr>
            <a:spLocks noGrp="1"/>
          </p:cNvSpPr>
          <p:nvPr/>
        </p:nvSpPr>
        <p:spPr>
          <a:xfrm>
            <a:off x="773906" y="35599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23D87CEB-FFD5-48DC-8DC9-B0415C0A5B79}"/>
              </a:ext>
            </a:extLst>
          </p:cNvPr>
          <p:cNvSpPr>
            <a:spLocks noGrp="1"/>
          </p:cNvSpPr>
          <p:nvPr/>
        </p:nvSpPr>
        <p:spPr>
          <a:xfrm>
            <a:off x="1464469" y="35599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Simplify 45:60 and find an equivalent ratio with first part 12.</a:t>
            </a:r>
          </a:p>
        </p:txBody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DFE87814-57AB-4CE5-988F-9A10B7AE9E4B}"/>
              </a:ext>
            </a:extLst>
          </p:cNvPr>
          <p:cNvSpPr>
            <a:spLocks noGrp="1"/>
          </p:cNvSpPr>
          <p:nvPr/>
        </p:nvSpPr>
        <p:spPr>
          <a:xfrm>
            <a:off x="773906" y="46077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4BDEDA49-133E-4206-9B41-0BE1597D18FD}"/>
              </a:ext>
            </a:extLst>
          </p:cNvPr>
          <p:cNvSpPr>
            <a:spLocks noGrp="1"/>
          </p:cNvSpPr>
          <p:nvPr/>
        </p:nvSpPr>
        <p:spPr>
          <a:xfrm>
            <a:off x="1464469" y="46077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A recipe uses 3/4 kg for 6 people. How much is needed for 14 people?</a:t>
            </a:r>
          </a:p>
        </p:txBody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A6935BED-5865-493C-ADD0-B2E844663649}"/>
              </a:ext>
            </a:extLst>
          </p:cNvPr>
          <p:cNvSpPr>
            <a:spLocks noGrp="1"/>
          </p:cNvSpPr>
          <p:nvPr/>
        </p:nvSpPr>
        <p:spPr>
          <a:xfrm>
            <a:off x="773906" y="56554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4.</a:t>
            </a:r>
          </a:p>
        </p:txBody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DDBC2132-4ADD-4184-85C3-358B427B7D52}"/>
              </a:ext>
            </a:extLst>
          </p:cNvPr>
          <p:cNvSpPr>
            <a:spLocks noGrp="1"/>
          </p:cNvSpPr>
          <p:nvPr/>
        </p:nvSpPr>
        <p:spPr>
          <a:xfrm>
            <a:off x="1464469" y="56554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Solve this independently and show every stage: Find 37.5% of 640.</a:t>
            </a:r>
          </a:p>
        </p:txBody>
      </p:sp>
      <p:sp>
        <p:nvSpPr>
          <p:cNvPr id="15" name="object-15">
            <a:extLst>
              <a:ext uri="{FF2B5EF4-FFF2-40B4-BE49-F238E27FC236}">
                <a16:creationId xmlns:a16="http://schemas.microsoft.com/office/drawing/2014/main" id="{80D911FE-C04D-4396-A361-62A1400DFE43}"/>
              </a:ext>
            </a:extLst>
          </p:cNvPr>
          <p:cNvSpPr>
            <a:spLocks noGrp="1"/>
          </p:cNvSpPr>
          <p:nvPr/>
        </p:nvSpPr>
        <p:spPr>
          <a:xfrm>
            <a:off x="773906" y="6703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5.</a:t>
            </a:r>
          </a:p>
        </p:txBody>
      </p:sp>
      <p:sp>
        <p:nvSpPr>
          <p:cNvPr id="16" name="object-16">
            <a:extLst>
              <a:ext uri="{FF2B5EF4-FFF2-40B4-BE49-F238E27FC236}">
                <a16:creationId xmlns:a16="http://schemas.microsoft.com/office/drawing/2014/main" id="{8D5F7202-37E5-46CC-8A88-43483ABD2CAE}"/>
              </a:ext>
            </a:extLst>
          </p:cNvPr>
          <p:cNvSpPr>
            <a:spLocks noGrp="1"/>
          </p:cNvSpPr>
          <p:nvPr/>
        </p:nvSpPr>
        <p:spPr>
          <a:xfrm>
            <a:off x="1464469" y="6703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Use a second method or representation for: Simplify 45:60 and find an equivalent ratio with first part 12.</a:t>
            </a:r>
          </a:p>
        </p:txBody>
      </p:sp>
      <p:sp>
        <p:nvSpPr>
          <p:cNvPr id="17" name="object-17">
            <a:extLst>
              <a:ext uri="{FF2B5EF4-FFF2-40B4-BE49-F238E27FC236}">
                <a16:creationId xmlns:a16="http://schemas.microsoft.com/office/drawing/2014/main" id="{E362DD98-369E-4D5D-A0FF-78BF7D28E217}"/>
              </a:ext>
            </a:extLst>
          </p:cNvPr>
          <p:cNvSpPr>
            <a:spLocks noGrp="1"/>
          </p:cNvSpPr>
          <p:nvPr/>
        </p:nvSpPr>
        <p:spPr>
          <a:xfrm>
            <a:off x="8215313" y="2512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6.</a:t>
            </a:r>
          </a:p>
        </p:txBody>
      </p:sp>
      <p:sp>
        <p:nvSpPr>
          <p:cNvPr id="18" name="object-18">
            <a:extLst>
              <a:ext uri="{FF2B5EF4-FFF2-40B4-BE49-F238E27FC236}">
                <a16:creationId xmlns:a16="http://schemas.microsoft.com/office/drawing/2014/main" id="{80C3F7F3-2862-45BE-A259-09EE9A9BF7E3}"/>
              </a:ext>
            </a:extLst>
          </p:cNvPr>
          <p:cNvSpPr>
            <a:spLocks noGrp="1"/>
          </p:cNvSpPr>
          <p:nvPr/>
        </p:nvSpPr>
        <p:spPr>
          <a:xfrm>
            <a:off x="8905875" y="2512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Check this result using an inverse, estimate or known fact: A recipe uses 3/4 kg for 6 people. How much is needed for 14 people?</a:t>
            </a:r>
          </a:p>
        </p:txBody>
      </p:sp>
      <p:sp>
        <p:nvSpPr>
          <p:cNvPr id="19" name="object-19">
            <a:extLst>
              <a:ext uri="{FF2B5EF4-FFF2-40B4-BE49-F238E27FC236}">
                <a16:creationId xmlns:a16="http://schemas.microsoft.com/office/drawing/2014/main" id="{0300968E-9828-4077-9D97-2CE12C113E46}"/>
              </a:ext>
            </a:extLst>
          </p:cNvPr>
          <p:cNvSpPr>
            <a:spLocks noGrp="1"/>
          </p:cNvSpPr>
          <p:nvPr/>
        </p:nvSpPr>
        <p:spPr>
          <a:xfrm>
            <a:off x="8215313" y="35599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7.</a:t>
            </a:r>
          </a:p>
        </p:txBody>
      </p:sp>
      <p:sp>
        <p:nvSpPr>
          <p:cNvPr id="20" name="object-20">
            <a:extLst>
              <a:ext uri="{FF2B5EF4-FFF2-40B4-BE49-F238E27FC236}">
                <a16:creationId xmlns:a16="http://schemas.microsoft.com/office/drawing/2014/main" id="{FF284DFD-94C5-42C3-BD6E-4FAB116B8FB6}"/>
              </a:ext>
            </a:extLst>
          </p:cNvPr>
          <p:cNvSpPr>
            <a:spLocks noGrp="1"/>
          </p:cNvSpPr>
          <p:nvPr/>
        </p:nvSpPr>
        <p:spPr>
          <a:xfrm>
            <a:off x="8905875" y="35599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Prove or explain your reasoning: Order 0.72, 7/10 and 73%.</a:t>
            </a:r>
          </a:p>
        </p:txBody>
      </p:sp>
      <p:sp>
        <p:nvSpPr>
          <p:cNvPr id="21" name="object-21">
            <a:extLst>
              <a:ext uri="{FF2B5EF4-FFF2-40B4-BE49-F238E27FC236}">
                <a16:creationId xmlns:a16="http://schemas.microsoft.com/office/drawing/2014/main" id="{0E819F40-0255-4B7B-8DCA-2137AFC20F01}"/>
              </a:ext>
            </a:extLst>
          </p:cNvPr>
          <p:cNvSpPr>
            <a:spLocks noGrp="1"/>
          </p:cNvSpPr>
          <p:nvPr/>
        </p:nvSpPr>
        <p:spPr>
          <a:xfrm>
            <a:off x="8215313" y="46077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8.</a:t>
            </a:r>
          </a:p>
        </p:txBody>
      </p:sp>
      <p:sp>
        <p:nvSpPr>
          <p:cNvPr id="22" name="object-22">
            <a:extLst>
              <a:ext uri="{FF2B5EF4-FFF2-40B4-BE49-F238E27FC236}">
                <a16:creationId xmlns:a16="http://schemas.microsoft.com/office/drawing/2014/main" id="{F59373E3-E578-47FA-B608-D946AFE8C840}"/>
              </a:ext>
            </a:extLst>
          </p:cNvPr>
          <p:cNvSpPr>
            <a:spLocks noGrp="1"/>
          </p:cNvSpPr>
          <p:nvPr/>
        </p:nvSpPr>
        <p:spPr>
          <a:xfrm>
            <a:off x="8905875" y="46077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Identify and correct this misconception: Miro chooses a familiar method before identifying the number type and relationship.</a:t>
            </a:r>
          </a:p>
        </p:txBody>
      </p:sp>
      <p:sp>
        <p:nvSpPr>
          <p:cNvPr id="23" name="object-23">
            <a:extLst>
              <a:ext uri="{FF2B5EF4-FFF2-40B4-BE49-F238E27FC236}">
                <a16:creationId xmlns:a16="http://schemas.microsoft.com/office/drawing/2014/main" id="{F39CE018-D58D-4B5E-BCB4-F1B6872A0161}"/>
              </a:ext>
            </a:extLst>
          </p:cNvPr>
          <p:cNvSpPr>
            <a:spLocks noGrp="1"/>
          </p:cNvSpPr>
          <p:nvPr/>
        </p:nvSpPr>
        <p:spPr>
          <a:xfrm>
            <a:off x="8215313" y="56554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9.</a:t>
            </a:r>
          </a:p>
        </p:txBody>
      </p:sp>
      <p:sp>
        <p:nvSpPr>
          <p:cNvPr id="24" name="object-24">
            <a:extLst>
              <a:ext uri="{FF2B5EF4-FFF2-40B4-BE49-F238E27FC236}">
                <a16:creationId xmlns:a16="http://schemas.microsoft.com/office/drawing/2014/main" id="{CA574217-5777-4B15-820C-2FB486AF41C8}"/>
              </a:ext>
            </a:extLst>
          </p:cNvPr>
          <p:cNvSpPr>
            <a:spLocks noGrp="1"/>
          </p:cNvSpPr>
          <p:nvPr/>
        </p:nvSpPr>
        <p:spPr>
          <a:xfrm>
            <a:off x="8905875" y="56554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Write a complete sentence explaining how you checked one answer.</a:t>
            </a:r>
          </a:p>
        </p:txBody>
      </p:sp>
      <p:sp>
        <p:nvSpPr>
          <p:cNvPr id="25" name="object-25">
            <a:extLst>
              <a:ext uri="{FF2B5EF4-FFF2-40B4-BE49-F238E27FC236}">
                <a16:creationId xmlns:a16="http://schemas.microsoft.com/office/drawing/2014/main" id="{8D27088D-6AFF-4092-ACA3-7D843D648EBA}"/>
              </a:ext>
            </a:extLst>
          </p:cNvPr>
          <p:cNvSpPr>
            <a:spLocks noGrp="1"/>
          </p:cNvSpPr>
          <p:nvPr/>
        </p:nvSpPr>
        <p:spPr>
          <a:xfrm>
            <a:off x="8215313" y="6703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10.</a:t>
            </a:r>
          </a:p>
        </p:txBody>
      </p:sp>
      <p:sp>
        <p:nvSpPr>
          <p:cNvPr id="26" name="object-26">
            <a:extLst>
              <a:ext uri="{FF2B5EF4-FFF2-40B4-BE49-F238E27FC236}">
                <a16:creationId xmlns:a16="http://schemas.microsoft.com/office/drawing/2014/main" id="{4306CD0D-7A62-4882-9C50-82450827F117}"/>
              </a:ext>
            </a:extLst>
          </p:cNvPr>
          <p:cNvSpPr>
            <a:spLocks noGrp="1"/>
          </p:cNvSpPr>
          <p:nvPr/>
        </p:nvSpPr>
        <p:spPr>
          <a:xfrm>
            <a:off x="8905875" y="6703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Write and solve a similar question to: A recipe uses 3/4 kg for 6 people. How much is needed for 14 people?</a:t>
            </a:r>
          </a:p>
        </p:txBody>
      </p:sp>
    </p:spTree>
    <p:extLst>
      <p:ext uri="{BB962C8B-B14F-4D97-AF65-F5344CB8AC3E}">
        <p14:creationId xmlns:p14="http://schemas.microsoft.com/office/powerpoint/2010/main" val="1094633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object-1">
            <a:extLst>
              <a:ext uri="{FF2B5EF4-FFF2-40B4-BE49-F238E27FC236}">
                <a16:creationId xmlns:a16="http://schemas.microsoft.com/office/drawing/2014/main" id="{CA4A9DCE-4B9C-4C8C-93AC-476B05B9D7D5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Answers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D70A060D-8A0F-45F4-B5DD-F261621E4B6A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Check your answers. Explain any corrections.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732069A5-FEB9-43EB-B86B-9F734B7387AF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00D01FDC-0F2E-446D-93F5-C3311A6EFFB4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Retrieve decimal and percentage methods</a:t>
            </a:r>
          </a:p>
        </p:txBody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92571D8C-1DB5-4229-A1C9-1DE789109B94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C10E301A-83B1-4DB0-B23C-C9BEBFBF07C0}"/>
              </a:ext>
            </a:extLst>
          </p:cNvPr>
          <p:cNvSpPr>
            <a:spLocks noGrp="1"/>
          </p:cNvSpPr>
          <p:nvPr/>
        </p:nvSpPr>
        <p:spPr>
          <a:xfrm>
            <a:off x="773906" y="2512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4BD0C0D6-1BA9-4E2C-8F6E-5B4CDFFF5B66}"/>
              </a:ext>
            </a:extLst>
          </p:cNvPr>
          <p:cNvSpPr>
            <a:spLocks noGrp="1"/>
          </p:cNvSpPr>
          <p:nvPr/>
        </p:nvSpPr>
        <p:spPr>
          <a:xfrm>
            <a:off x="1464469" y="2512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240.</a:t>
            </a:r>
          </a:p>
        </p:txBody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CE1242A1-B769-4A50-AB58-31B83B57E4EA}"/>
              </a:ext>
            </a:extLst>
          </p:cNvPr>
          <p:cNvSpPr>
            <a:spLocks noGrp="1"/>
          </p:cNvSpPr>
          <p:nvPr/>
        </p:nvSpPr>
        <p:spPr>
          <a:xfrm>
            <a:off x="773906" y="35599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4946B0A2-8E07-4ECB-BEE2-62824FCF1C75}"/>
              </a:ext>
            </a:extLst>
          </p:cNvPr>
          <p:cNvSpPr>
            <a:spLocks noGrp="1"/>
          </p:cNvSpPr>
          <p:nvPr/>
        </p:nvSpPr>
        <p:spPr>
          <a:xfrm>
            <a:off x="1464469" y="35599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3:4 and 12:16.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6A78719B-F9A9-4376-942B-ABDD90DEFDAC}"/>
              </a:ext>
            </a:extLst>
          </p:cNvPr>
          <p:cNvSpPr>
            <a:spLocks noGrp="1"/>
          </p:cNvSpPr>
          <p:nvPr/>
        </p:nvSpPr>
        <p:spPr>
          <a:xfrm>
            <a:off x="773906" y="46077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A340E48D-0327-452C-8F21-3C00D0333ECE}"/>
              </a:ext>
            </a:extLst>
          </p:cNvPr>
          <p:cNvSpPr>
            <a:spLocks noGrp="1"/>
          </p:cNvSpPr>
          <p:nvPr/>
        </p:nvSpPr>
        <p:spPr>
          <a:xfrm>
            <a:off x="1464469" y="46077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1 3/4 kg.</a:t>
            </a:r>
          </a:p>
        </p:txBody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A12E55DC-B1E1-4743-86EF-99A2A878FBC9}"/>
              </a:ext>
            </a:extLst>
          </p:cNvPr>
          <p:cNvSpPr>
            <a:spLocks noGrp="1"/>
          </p:cNvSpPr>
          <p:nvPr/>
        </p:nvSpPr>
        <p:spPr>
          <a:xfrm>
            <a:off x="773906" y="56554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4.</a:t>
            </a:r>
          </a:p>
        </p:txBody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A8264417-1AD6-4C5D-921E-20ABA70E4A95}"/>
              </a:ext>
            </a:extLst>
          </p:cNvPr>
          <p:cNvSpPr>
            <a:spLocks noGrp="1"/>
          </p:cNvSpPr>
          <p:nvPr/>
        </p:nvSpPr>
        <p:spPr>
          <a:xfrm>
            <a:off x="1464469" y="56554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240.</a:t>
            </a:r>
          </a:p>
        </p:txBody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F33D5086-7314-4A47-A131-FEE208E27C23}"/>
              </a:ext>
            </a:extLst>
          </p:cNvPr>
          <p:cNvSpPr>
            <a:spLocks noGrp="1"/>
          </p:cNvSpPr>
          <p:nvPr/>
        </p:nvSpPr>
        <p:spPr>
          <a:xfrm>
            <a:off x="773906" y="6703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5.</a:t>
            </a:r>
          </a:p>
        </p:txBody>
      </p:sp>
      <p:sp>
        <p:nvSpPr>
          <p:cNvPr id="15" name="object-15">
            <a:extLst>
              <a:ext uri="{FF2B5EF4-FFF2-40B4-BE49-F238E27FC236}">
                <a16:creationId xmlns:a16="http://schemas.microsoft.com/office/drawing/2014/main" id="{911D5EA7-6102-4EDC-BC3E-06C6374B331A}"/>
              </a:ext>
            </a:extLst>
          </p:cNvPr>
          <p:cNvSpPr>
            <a:spLocks noGrp="1"/>
          </p:cNvSpPr>
          <p:nvPr/>
        </p:nvSpPr>
        <p:spPr>
          <a:xfrm>
            <a:off x="1464469" y="6703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Expected result: 3:4 and 12:16. Method or representation may vary.</a:t>
            </a:r>
          </a:p>
        </p:txBody>
      </p:sp>
      <p:sp>
        <p:nvSpPr>
          <p:cNvPr id="16" name="object-16">
            <a:extLst>
              <a:ext uri="{FF2B5EF4-FFF2-40B4-BE49-F238E27FC236}">
                <a16:creationId xmlns:a16="http://schemas.microsoft.com/office/drawing/2014/main" id="{434AA86B-5F48-4D01-A3D0-AEAE14BA28F4}"/>
              </a:ext>
            </a:extLst>
          </p:cNvPr>
          <p:cNvSpPr>
            <a:spLocks noGrp="1"/>
          </p:cNvSpPr>
          <p:nvPr/>
        </p:nvSpPr>
        <p:spPr>
          <a:xfrm>
            <a:off x="8215313" y="2512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6.</a:t>
            </a:r>
          </a:p>
        </p:txBody>
      </p:sp>
      <p:sp>
        <p:nvSpPr>
          <p:cNvPr id="17" name="object-17">
            <a:extLst>
              <a:ext uri="{FF2B5EF4-FFF2-40B4-BE49-F238E27FC236}">
                <a16:creationId xmlns:a16="http://schemas.microsoft.com/office/drawing/2014/main" id="{7725223B-CA8A-40C6-BF53-DFEC737CD674}"/>
              </a:ext>
            </a:extLst>
          </p:cNvPr>
          <p:cNvSpPr>
            <a:spLocks noGrp="1"/>
          </p:cNvSpPr>
          <p:nvPr/>
        </p:nvSpPr>
        <p:spPr>
          <a:xfrm>
            <a:off x="8905875" y="2512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Expected result: 1 3/4 kg. A valid check must be shown.</a:t>
            </a:r>
          </a:p>
        </p:txBody>
      </p:sp>
      <p:sp>
        <p:nvSpPr>
          <p:cNvPr id="18" name="object-18">
            <a:extLst>
              <a:ext uri="{FF2B5EF4-FFF2-40B4-BE49-F238E27FC236}">
                <a16:creationId xmlns:a16="http://schemas.microsoft.com/office/drawing/2014/main" id="{2C4387DF-176C-4D1E-9D35-87EC72A86DA1}"/>
              </a:ext>
            </a:extLst>
          </p:cNvPr>
          <p:cNvSpPr>
            <a:spLocks noGrp="1"/>
          </p:cNvSpPr>
          <p:nvPr/>
        </p:nvSpPr>
        <p:spPr>
          <a:xfrm>
            <a:off x="8215313" y="35599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7.</a:t>
            </a:r>
          </a:p>
        </p:txBody>
      </p:sp>
      <p:sp>
        <p:nvSpPr>
          <p:cNvPr id="19" name="object-19">
            <a:extLst>
              <a:ext uri="{FF2B5EF4-FFF2-40B4-BE49-F238E27FC236}">
                <a16:creationId xmlns:a16="http://schemas.microsoft.com/office/drawing/2014/main" id="{D1FA1097-BE8E-4065-BBC6-2570181F14A8}"/>
              </a:ext>
            </a:extLst>
          </p:cNvPr>
          <p:cNvSpPr>
            <a:spLocks noGrp="1"/>
          </p:cNvSpPr>
          <p:nvPr/>
        </p:nvSpPr>
        <p:spPr>
          <a:xfrm>
            <a:off x="8905875" y="35599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7/10, 0.72, 73%. The explanation must show why the method works.</a:t>
            </a:r>
          </a:p>
        </p:txBody>
      </p:sp>
      <p:sp>
        <p:nvSpPr>
          <p:cNvPr id="20" name="object-20">
            <a:extLst>
              <a:ext uri="{FF2B5EF4-FFF2-40B4-BE49-F238E27FC236}">
                <a16:creationId xmlns:a16="http://schemas.microsoft.com/office/drawing/2014/main" id="{C5E696BC-04AE-4471-B5AD-4E00E1DBA011}"/>
              </a:ext>
            </a:extLst>
          </p:cNvPr>
          <p:cNvSpPr>
            <a:spLocks noGrp="1"/>
          </p:cNvSpPr>
          <p:nvPr/>
        </p:nvSpPr>
        <p:spPr>
          <a:xfrm>
            <a:off x="8215313" y="46077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8.</a:t>
            </a:r>
          </a:p>
        </p:txBody>
      </p:sp>
      <p:sp>
        <p:nvSpPr>
          <p:cNvPr id="21" name="object-21">
            <a:extLst>
              <a:ext uri="{FF2B5EF4-FFF2-40B4-BE49-F238E27FC236}">
                <a16:creationId xmlns:a16="http://schemas.microsoft.com/office/drawing/2014/main" id="{A6C4A214-E430-4C70-AD98-AEC254B4D2C1}"/>
              </a:ext>
            </a:extLst>
          </p:cNvPr>
          <p:cNvSpPr>
            <a:spLocks noGrp="1"/>
          </p:cNvSpPr>
          <p:nvPr/>
        </p:nvSpPr>
        <p:spPr>
          <a:xfrm>
            <a:off x="8905875" y="46077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Name the domain first, represent the relationship, then choose and check the calculation.</a:t>
            </a:r>
          </a:p>
        </p:txBody>
      </p:sp>
      <p:sp>
        <p:nvSpPr>
          <p:cNvPr id="22" name="object-22">
            <a:extLst>
              <a:ext uri="{FF2B5EF4-FFF2-40B4-BE49-F238E27FC236}">
                <a16:creationId xmlns:a16="http://schemas.microsoft.com/office/drawing/2014/main" id="{3563965F-A324-4956-BB25-AC4456B6437C}"/>
              </a:ext>
            </a:extLst>
          </p:cNvPr>
          <p:cNvSpPr>
            <a:spLocks noGrp="1"/>
          </p:cNvSpPr>
          <p:nvPr/>
        </p:nvSpPr>
        <p:spPr>
          <a:xfrm>
            <a:off x="8215313" y="56554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9.</a:t>
            </a:r>
          </a:p>
        </p:txBody>
      </p:sp>
      <p:sp>
        <p:nvSpPr>
          <p:cNvPr id="23" name="object-23">
            <a:extLst>
              <a:ext uri="{FF2B5EF4-FFF2-40B4-BE49-F238E27FC236}">
                <a16:creationId xmlns:a16="http://schemas.microsoft.com/office/drawing/2014/main" id="{8C27628D-4D76-4F46-A9A5-EC99EB41788E}"/>
              </a:ext>
            </a:extLst>
          </p:cNvPr>
          <p:cNvSpPr>
            <a:spLocks noGrp="1"/>
          </p:cNvSpPr>
          <p:nvPr/>
        </p:nvSpPr>
        <p:spPr>
          <a:xfrm>
            <a:off x="8905875" y="56554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Answer should name an inverse, estimate, boundary, known fact or equivalent representation.</a:t>
            </a:r>
          </a:p>
        </p:txBody>
      </p:sp>
      <p:sp>
        <p:nvSpPr>
          <p:cNvPr id="24" name="object-24">
            <a:extLst>
              <a:ext uri="{FF2B5EF4-FFF2-40B4-BE49-F238E27FC236}">
                <a16:creationId xmlns:a16="http://schemas.microsoft.com/office/drawing/2014/main" id="{E72AB69C-2CA7-430B-97A7-6124BB403752}"/>
              </a:ext>
            </a:extLst>
          </p:cNvPr>
          <p:cNvSpPr>
            <a:spLocks noGrp="1"/>
          </p:cNvSpPr>
          <p:nvPr/>
        </p:nvSpPr>
        <p:spPr>
          <a:xfrm>
            <a:off x="8215313" y="6703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10.</a:t>
            </a:r>
          </a:p>
        </p:txBody>
      </p:sp>
      <p:sp>
        <p:nvSpPr>
          <p:cNvPr id="25" name="object-25">
            <a:extLst>
              <a:ext uri="{FF2B5EF4-FFF2-40B4-BE49-F238E27FC236}">
                <a16:creationId xmlns:a16="http://schemas.microsoft.com/office/drawing/2014/main" id="{D3432DEB-16E4-4422-9F8D-612EB62410AB}"/>
              </a:ext>
            </a:extLst>
          </p:cNvPr>
          <p:cNvSpPr>
            <a:spLocks noGrp="1"/>
          </p:cNvSpPr>
          <p:nvPr/>
        </p:nvSpPr>
        <p:spPr>
          <a:xfrm>
            <a:off x="8905875" y="6703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Answers vary. The new question must use the same mathematical structure and include a correct solution.</a:t>
            </a:r>
          </a:p>
        </p:txBody>
      </p:sp>
    </p:spTree>
    <p:extLst>
      <p:ext uri="{BB962C8B-B14F-4D97-AF65-F5344CB8AC3E}">
        <p14:creationId xmlns:p14="http://schemas.microsoft.com/office/powerpoint/2010/main" val="147178697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989</Words>
  <Application>Microsoft Office PowerPoint</Application>
  <DocSecurity>0</DocSecurity>
  <PresentationFormat>Custom</PresentationFormat>
  <Paragraphs>102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Garima Sharma</cp:lastModifiedBy>
  <cp:revision>1</cp:revision>
  <dcterms:created xsi:type="dcterms:W3CDTF">2026-09-14T13:14:32Z</dcterms:created>
  <dcterms:modified xsi:type="dcterms:W3CDTF">2026-09-14T13:16:53Z</dcterms:modified>
</cp:coreProperties>
</file>