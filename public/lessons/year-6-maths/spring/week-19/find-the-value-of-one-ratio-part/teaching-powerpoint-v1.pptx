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the value of one ratio part. Find the value of one ratio part.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the value of one ratio part. I do. Use equal-sized ratio units. Keep the same scale factor for both quantities.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the value of one ratio part. You do. Pause before clicking. Let pupils try independently, then reveal and discuss every step. Use equal-sized ratio units. Keep the same scale factor for both quantities.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the value of one ratio part. I do. Use equal-sized ratio units. Keep the same scale factor for both quantities.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the value of one ratio part. You do. Pause before clicking. Let pupils try independently, then reveal and discuss every step. Use equal-sized ratio units. Keep the same scale factor for both quantities.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the value of one ratio part.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the value of one ratio part.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062C6ED3-77A9-4DEB-A77C-39BC35D70674}"/>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Find the value of one ratio part</a:t>
            </a:r>
          </a:p>
        </p:txBody>
      </p:sp>
      <p:sp>
        <p:nvSpPr>
          <p:cNvPr id="2" name="object-2">
            <a:extLst>
              <a:ext uri="{FF2B5EF4-FFF2-40B4-BE49-F238E27FC236}">
                <a16:creationId xmlns:a16="http://schemas.microsoft.com/office/drawing/2014/main" id="{0F18DB77-1878-44D6-A3AF-B8A9BEFA646B}"/>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DF7EFF85-5F44-420A-AEFA-8ABA63E41AD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385CDC4D-17D7-4DEE-A139-02783B2390E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the value of one ratio part</a:t>
            </a:r>
          </a:p>
        </p:txBody>
      </p:sp>
      <p:sp>
        <p:nvSpPr>
          <p:cNvPr id="5" name="object-5">
            <a:extLst>
              <a:ext uri="{FF2B5EF4-FFF2-40B4-BE49-F238E27FC236}">
                <a16:creationId xmlns:a16="http://schemas.microsoft.com/office/drawing/2014/main" id="{3D8B9D10-0038-4599-B2F9-49E3C6AED0D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BCD9CFFA-9B05-46FD-BAC1-04E8A18C508D}"/>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find one part before scaling a ratio.</a:t>
            </a:r>
          </a:p>
        </p:txBody>
      </p:sp>
    </p:spTree>
    <p:extLst>
      <p:ext uri="{BB962C8B-B14F-4D97-AF65-F5344CB8AC3E}">
        <p14:creationId xmlns:p14="http://schemas.microsoft.com/office/powerpoint/2010/main" val="12487747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0B507592-D0C3-4C54-A48F-279A084B075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E626F407-1E2B-4336-A897-1F143751056A}"/>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4:7 = 20:?</a:t>
            </a:r>
          </a:p>
        </p:txBody>
      </p:sp>
      <p:sp>
        <p:nvSpPr>
          <p:cNvPr id="3" name="object-3">
            <a:extLst>
              <a:ext uri="{FF2B5EF4-FFF2-40B4-BE49-F238E27FC236}">
                <a16:creationId xmlns:a16="http://schemas.microsoft.com/office/drawing/2014/main" id="{2BC9DB45-BC33-472E-BB94-754B74BC46F5}"/>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9CA9A70-B5DA-4AEB-8D80-B618B90B17F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the value of one ratio part</a:t>
            </a:r>
          </a:p>
        </p:txBody>
      </p:sp>
      <p:sp>
        <p:nvSpPr>
          <p:cNvPr id="5" name="object-5">
            <a:extLst>
              <a:ext uri="{FF2B5EF4-FFF2-40B4-BE49-F238E27FC236}">
                <a16:creationId xmlns:a16="http://schemas.microsoft.com/office/drawing/2014/main" id="{AF8D8533-2008-48E8-9692-F4F7F4D24E6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F748A16C-0650-4291-874B-6A547B90764E}"/>
              </a:ext>
            </a:extLst>
          </p:cNvPr>
          <p:cNvSpPr>
            <a:spLocks noGrp="1"/>
          </p:cNvSpPr>
          <p:nvPr/>
        </p:nvSpPr>
        <p:spPr>
          <a:xfrm>
            <a:off x="2857500" y="3155156"/>
            <a:ext cx="1360714" cy="892969"/>
          </a:xfrm>
          <a:prstGeom prst="rect">
            <a:avLst/>
          </a:prstGeom>
          <a:solidFill>
            <a:srgbClr val="1D4ED8"/>
          </a:solidFill>
          <a:ln w="23813">
            <a:solidFill>
              <a:srgbClr val="FFFFFF"/>
            </a:solidFill>
          </a:ln>
        </p:spPr>
      </p:sp>
      <p:sp>
        <p:nvSpPr>
          <p:cNvPr id="7" name="object-7">
            <a:extLst>
              <a:ext uri="{FF2B5EF4-FFF2-40B4-BE49-F238E27FC236}">
                <a16:creationId xmlns:a16="http://schemas.microsoft.com/office/drawing/2014/main" id="{81E9F96C-BE68-4A72-8E7E-F138E0F246BA}"/>
              </a:ext>
            </a:extLst>
          </p:cNvPr>
          <p:cNvSpPr>
            <a:spLocks noGrp="1"/>
          </p:cNvSpPr>
          <p:nvPr/>
        </p:nvSpPr>
        <p:spPr>
          <a:xfrm>
            <a:off x="4218214" y="3155156"/>
            <a:ext cx="1360714" cy="892969"/>
          </a:xfrm>
          <a:prstGeom prst="rect">
            <a:avLst/>
          </a:prstGeom>
          <a:solidFill>
            <a:srgbClr val="1D4ED8"/>
          </a:solidFill>
          <a:ln w="23813">
            <a:solidFill>
              <a:srgbClr val="FFFFFF"/>
            </a:solidFill>
          </a:ln>
        </p:spPr>
      </p:sp>
      <p:sp>
        <p:nvSpPr>
          <p:cNvPr id="8" name="object-8">
            <a:extLst>
              <a:ext uri="{FF2B5EF4-FFF2-40B4-BE49-F238E27FC236}">
                <a16:creationId xmlns:a16="http://schemas.microsoft.com/office/drawing/2014/main" id="{F39E286E-C34D-4942-8160-D348CD80C963}"/>
              </a:ext>
            </a:extLst>
          </p:cNvPr>
          <p:cNvSpPr>
            <a:spLocks noGrp="1"/>
          </p:cNvSpPr>
          <p:nvPr/>
        </p:nvSpPr>
        <p:spPr>
          <a:xfrm>
            <a:off x="5578929" y="3155156"/>
            <a:ext cx="1360714" cy="892969"/>
          </a:xfrm>
          <a:prstGeom prst="rect">
            <a:avLst/>
          </a:prstGeom>
          <a:solidFill>
            <a:srgbClr val="1D4ED8"/>
          </a:solidFill>
          <a:ln w="23813">
            <a:solidFill>
              <a:srgbClr val="FFFFFF"/>
            </a:solidFill>
          </a:ln>
        </p:spPr>
      </p:sp>
      <p:sp>
        <p:nvSpPr>
          <p:cNvPr id="9" name="object-9">
            <a:extLst>
              <a:ext uri="{FF2B5EF4-FFF2-40B4-BE49-F238E27FC236}">
                <a16:creationId xmlns:a16="http://schemas.microsoft.com/office/drawing/2014/main" id="{BD59B63A-2992-45B1-B0DE-84E06A32455F}"/>
              </a:ext>
            </a:extLst>
          </p:cNvPr>
          <p:cNvSpPr>
            <a:spLocks noGrp="1"/>
          </p:cNvSpPr>
          <p:nvPr/>
        </p:nvSpPr>
        <p:spPr>
          <a:xfrm>
            <a:off x="6939643" y="3155156"/>
            <a:ext cx="1360714" cy="892969"/>
          </a:xfrm>
          <a:prstGeom prst="rect">
            <a:avLst/>
          </a:prstGeom>
          <a:solidFill>
            <a:srgbClr val="1D4ED8"/>
          </a:solidFill>
          <a:ln w="23813">
            <a:solidFill>
              <a:srgbClr val="FFFFFF"/>
            </a:solidFill>
          </a:ln>
        </p:spPr>
      </p:sp>
      <p:sp>
        <p:nvSpPr>
          <p:cNvPr id="10" name="object-10">
            <a:extLst>
              <a:ext uri="{FF2B5EF4-FFF2-40B4-BE49-F238E27FC236}">
                <a16:creationId xmlns:a16="http://schemas.microsoft.com/office/drawing/2014/main" id="{A77D56E0-B2C9-4E37-82D5-F4410E253E71}"/>
              </a:ext>
            </a:extLst>
          </p:cNvPr>
          <p:cNvSpPr>
            <a:spLocks noGrp="1"/>
          </p:cNvSpPr>
          <p:nvPr/>
        </p:nvSpPr>
        <p:spPr>
          <a:xfrm>
            <a:off x="2857500" y="4524375"/>
            <a:ext cx="1360714" cy="892969"/>
          </a:xfrm>
          <a:prstGeom prst="rect">
            <a:avLst/>
          </a:prstGeom>
          <a:solidFill>
            <a:srgbClr val="EFF6FF"/>
          </a:solidFill>
          <a:ln w="23813">
            <a:solidFill>
              <a:srgbClr val="1D4ED8"/>
            </a:solidFill>
          </a:ln>
        </p:spPr>
      </p:sp>
      <p:sp>
        <p:nvSpPr>
          <p:cNvPr id="11" name="object-11">
            <a:extLst>
              <a:ext uri="{FF2B5EF4-FFF2-40B4-BE49-F238E27FC236}">
                <a16:creationId xmlns:a16="http://schemas.microsoft.com/office/drawing/2014/main" id="{2C33E1BC-2357-4F62-88FD-C3796D647FCF}"/>
              </a:ext>
            </a:extLst>
          </p:cNvPr>
          <p:cNvSpPr>
            <a:spLocks noGrp="1"/>
          </p:cNvSpPr>
          <p:nvPr/>
        </p:nvSpPr>
        <p:spPr>
          <a:xfrm>
            <a:off x="4218214" y="4524375"/>
            <a:ext cx="1360714" cy="892969"/>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67E25FC5-CBC6-4454-8732-92F81661256C}"/>
              </a:ext>
            </a:extLst>
          </p:cNvPr>
          <p:cNvSpPr>
            <a:spLocks noGrp="1"/>
          </p:cNvSpPr>
          <p:nvPr/>
        </p:nvSpPr>
        <p:spPr>
          <a:xfrm>
            <a:off x="5578929" y="4524375"/>
            <a:ext cx="1360714" cy="892969"/>
          </a:xfrm>
          <a:prstGeom prst="rect">
            <a:avLst/>
          </a:prstGeom>
          <a:solidFill>
            <a:srgbClr val="EFF6FF"/>
          </a:solidFill>
          <a:ln w="23813">
            <a:solidFill>
              <a:srgbClr val="1D4ED8"/>
            </a:solidFill>
          </a:ln>
        </p:spPr>
      </p:sp>
      <p:sp>
        <p:nvSpPr>
          <p:cNvPr id="13" name="object-13">
            <a:extLst>
              <a:ext uri="{FF2B5EF4-FFF2-40B4-BE49-F238E27FC236}">
                <a16:creationId xmlns:a16="http://schemas.microsoft.com/office/drawing/2014/main" id="{E2A06C95-C6DE-47DA-9B71-8B93FB880AB0}"/>
              </a:ext>
            </a:extLst>
          </p:cNvPr>
          <p:cNvSpPr>
            <a:spLocks noGrp="1"/>
          </p:cNvSpPr>
          <p:nvPr/>
        </p:nvSpPr>
        <p:spPr>
          <a:xfrm>
            <a:off x="6939643" y="4524375"/>
            <a:ext cx="1360714" cy="892969"/>
          </a:xfrm>
          <a:prstGeom prst="rect">
            <a:avLst/>
          </a:prstGeom>
          <a:solidFill>
            <a:srgbClr val="EFF6FF"/>
          </a:solidFill>
          <a:ln w="23813">
            <a:solidFill>
              <a:srgbClr val="1D4ED8"/>
            </a:solidFill>
          </a:ln>
        </p:spPr>
      </p:sp>
      <p:sp>
        <p:nvSpPr>
          <p:cNvPr id="14" name="object-14">
            <a:extLst>
              <a:ext uri="{FF2B5EF4-FFF2-40B4-BE49-F238E27FC236}">
                <a16:creationId xmlns:a16="http://schemas.microsoft.com/office/drawing/2014/main" id="{E1D2AB74-042D-44D7-880F-856766AB0BEF}"/>
              </a:ext>
            </a:extLst>
          </p:cNvPr>
          <p:cNvSpPr>
            <a:spLocks noGrp="1"/>
          </p:cNvSpPr>
          <p:nvPr/>
        </p:nvSpPr>
        <p:spPr>
          <a:xfrm>
            <a:off x="8300357" y="4524375"/>
            <a:ext cx="1360714" cy="892969"/>
          </a:xfrm>
          <a:prstGeom prst="rect">
            <a:avLst/>
          </a:prstGeom>
          <a:solidFill>
            <a:srgbClr val="EFF6FF"/>
          </a:solidFill>
          <a:ln w="23813">
            <a:solidFill>
              <a:srgbClr val="1D4ED8"/>
            </a:solidFill>
          </a:ln>
        </p:spPr>
      </p:sp>
      <p:sp>
        <p:nvSpPr>
          <p:cNvPr id="15" name="object-15">
            <a:extLst>
              <a:ext uri="{FF2B5EF4-FFF2-40B4-BE49-F238E27FC236}">
                <a16:creationId xmlns:a16="http://schemas.microsoft.com/office/drawing/2014/main" id="{1C0384C1-31DD-4F15-970A-5FB8E95889E4}"/>
              </a:ext>
            </a:extLst>
          </p:cNvPr>
          <p:cNvSpPr>
            <a:spLocks noGrp="1"/>
          </p:cNvSpPr>
          <p:nvPr/>
        </p:nvSpPr>
        <p:spPr>
          <a:xfrm>
            <a:off x="9661071" y="4524375"/>
            <a:ext cx="1360714" cy="892969"/>
          </a:xfrm>
          <a:prstGeom prst="rect">
            <a:avLst/>
          </a:prstGeom>
          <a:solidFill>
            <a:srgbClr val="EFF6FF"/>
          </a:solidFill>
          <a:ln w="23813">
            <a:solidFill>
              <a:srgbClr val="1D4ED8"/>
            </a:solidFill>
          </a:ln>
        </p:spPr>
      </p:sp>
      <p:sp>
        <p:nvSpPr>
          <p:cNvPr id="16" name="object-16">
            <a:extLst>
              <a:ext uri="{FF2B5EF4-FFF2-40B4-BE49-F238E27FC236}">
                <a16:creationId xmlns:a16="http://schemas.microsoft.com/office/drawing/2014/main" id="{9FFD51E8-5C08-4DC9-9266-8D9EEF531CA9}"/>
              </a:ext>
            </a:extLst>
          </p:cNvPr>
          <p:cNvSpPr>
            <a:spLocks noGrp="1"/>
          </p:cNvSpPr>
          <p:nvPr/>
        </p:nvSpPr>
        <p:spPr>
          <a:xfrm>
            <a:off x="11021786" y="4524375"/>
            <a:ext cx="1360714" cy="892969"/>
          </a:xfrm>
          <a:prstGeom prst="rect">
            <a:avLst/>
          </a:prstGeom>
          <a:solidFill>
            <a:srgbClr val="EFF6FF"/>
          </a:solidFill>
          <a:ln w="23813">
            <a:solidFill>
              <a:srgbClr val="1D4ED8"/>
            </a:solidFill>
          </a:ln>
        </p:spPr>
      </p:sp>
      <p:sp>
        <p:nvSpPr>
          <p:cNvPr id="17" name="object-17">
            <a:extLst>
              <a:ext uri="{FF2B5EF4-FFF2-40B4-BE49-F238E27FC236}">
                <a16:creationId xmlns:a16="http://schemas.microsoft.com/office/drawing/2014/main" id="{C86936B8-04B1-4703-BA48-966EC39DA8EE}"/>
              </a:ext>
            </a:extLst>
          </p:cNvPr>
          <p:cNvSpPr>
            <a:spLocks noGrp="1"/>
          </p:cNvSpPr>
          <p:nvPr/>
        </p:nvSpPr>
        <p:spPr>
          <a:xfrm>
            <a:off x="773906" y="3214688"/>
            <a:ext cx="1905000" cy="654844"/>
          </a:xfrm>
          <a:prstGeom prst="rect">
            <a:avLst/>
          </a:prstGeom>
          <a:noFill/>
          <a:ln w="0">
            <a:noFill/>
          </a:ln>
        </p:spPr>
        <p:txBody>
          <a:bodyPr anchor="ctr">
            <a:noAutofit/>
          </a:bodyPr>
          <a:lstStyle/>
          <a:p>
            <a:pPr algn="l">
              <a:defRPr sz="2625" b="1">
                <a:solidFill>
                  <a:srgbClr val="1D4ED8"/>
                </a:solidFill>
                <a:latin typeface="Arial"/>
                <a:ea typeface="Arial"/>
                <a:cs typeface="Arial"/>
              </a:defRPr>
            </a:pPr>
            <a:r>
              <a:rPr sz="2625" b="1">
                <a:solidFill>
                  <a:srgbClr val="1D4ED8"/>
                </a:solidFill>
                <a:latin typeface="Arial"/>
                <a:ea typeface="Arial"/>
                <a:cs typeface="Arial"/>
              </a:rPr>
              <a:t>first</a:t>
            </a:r>
          </a:p>
        </p:txBody>
      </p:sp>
      <p:sp>
        <p:nvSpPr>
          <p:cNvPr id="18" name="object-18">
            <a:extLst>
              <a:ext uri="{FF2B5EF4-FFF2-40B4-BE49-F238E27FC236}">
                <a16:creationId xmlns:a16="http://schemas.microsoft.com/office/drawing/2014/main" id="{F321A9AE-8BF0-41DB-88D3-E663FF7B99C4}"/>
              </a:ext>
            </a:extLst>
          </p:cNvPr>
          <p:cNvSpPr>
            <a:spLocks noGrp="1"/>
          </p:cNvSpPr>
          <p:nvPr/>
        </p:nvSpPr>
        <p:spPr>
          <a:xfrm>
            <a:off x="773906" y="4572000"/>
            <a:ext cx="1905000" cy="654844"/>
          </a:xfrm>
          <a:prstGeom prst="rect">
            <a:avLst/>
          </a:prstGeom>
          <a:noFill/>
          <a:ln w="0">
            <a:noFill/>
          </a:ln>
        </p:spPr>
        <p:txBody>
          <a:bodyPr anchor="ctr">
            <a:noAutofit/>
          </a:bodyPr>
          <a:lstStyle/>
          <a:p>
            <a:pPr algn="l">
              <a:defRPr sz="2625" b="1">
                <a:solidFill>
                  <a:srgbClr val="1D4ED8"/>
                </a:solidFill>
                <a:latin typeface="Arial"/>
                <a:ea typeface="Arial"/>
                <a:cs typeface="Arial"/>
              </a:defRPr>
            </a:pPr>
            <a:r>
              <a:rPr sz="2625" b="1">
                <a:solidFill>
                  <a:srgbClr val="1D4ED8"/>
                </a:solidFill>
                <a:latin typeface="Arial"/>
                <a:ea typeface="Arial"/>
                <a:cs typeface="Arial"/>
              </a:rPr>
              <a:t>second</a:t>
            </a:r>
          </a:p>
        </p:txBody>
      </p:sp>
      <p:sp>
        <p:nvSpPr>
          <p:cNvPr id="19" name="object-19">
            <a:extLst>
              <a:ext uri="{FF2B5EF4-FFF2-40B4-BE49-F238E27FC236}">
                <a16:creationId xmlns:a16="http://schemas.microsoft.com/office/drawing/2014/main" id="{2A5EDB42-D5F7-47C3-B2BF-1FA4F03AE9F3}"/>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4 × 5 : 7 × 5 = 20:35</a:t>
            </a:r>
          </a:p>
        </p:txBody>
      </p:sp>
    </p:spTree>
    <p:extLst>
      <p:ext uri="{BB962C8B-B14F-4D97-AF65-F5344CB8AC3E}">
        <p14:creationId xmlns:p14="http://schemas.microsoft.com/office/powerpoint/2010/main" val="1662667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object-1">
            <a:extLst>
              <a:ext uri="{FF2B5EF4-FFF2-40B4-BE49-F238E27FC236}">
                <a16:creationId xmlns:a16="http://schemas.microsoft.com/office/drawing/2014/main" id="{09D4B327-26DD-4C80-A5FF-8AEDBA72C01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52EC3FE3-CD5E-46E1-BA66-5D4EED66C0F5}"/>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2B36956A-53D5-42A4-88AC-A9756FC6EAC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4:7 = 24:?</a:t>
            </a:r>
          </a:p>
        </p:txBody>
      </p:sp>
      <p:sp>
        <p:nvSpPr>
          <p:cNvPr id="4" name="object-4">
            <a:extLst>
              <a:ext uri="{FF2B5EF4-FFF2-40B4-BE49-F238E27FC236}">
                <a16:creationId xmlns:a16="http://schemas.microsoft.com/office/drawing/2014/main" id="{8AF1AD84-0080-43E3-80DC-D04A1A768E2D}"/>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5E381786-4D62-41E9-9DE2-F861FFD5497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the value of one ratio part</a:t>
            </a:r>
          </a:p>
        </p:txBody>
      </p:sp>
      <p:sp>
        <p:nvSpPr>
          <p:cNvPr id="6" name="object-6">
            <a:extLst>
              <a:ext uri="{FF2B5EF4-FFF2-40B4-BE49-F238E27FC236}">
                <a16:creationId xmlns:a16="http://schemas.microsoft.com/office/drawing/2014/main" id="{3BACF8EE-0084-4799-AD11-EE64474A657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02BE79E7-D492-4FA5-B36E-199EED8FC13C}"/>
              </a:ext>
            </a:extLst>
          </p:cNvPr>
          <p:cNvSpPr>
            <a:spLocks noGrp="1"/>
          </p:cNvSpPr>
          <p:nvPr/>
        </p:nvSpPr>
        <p:spPr>
          <a:xfrm>
            <a:off x="2857500" y="3155156"/>
            <a:ext cx="1360714" cy="892969"/>
          </a:xfrm>
          <a:prstGeom prst="rect">
            <a:avLst/>
          </a:prstGeom>
          <a:solidFill>
            <a:srgbClr val="1D4ED8"/>
          </a:solidFill>
          <a:ln w="23813">
            <a:solidFill>
              <a:srgbClr val="FFFFFF"/>
            </a:solidFill>
          </a:ln>
        </p:spPr>
      </p:sp>
      <p:sp>
        <p:nvSpPr>
          <p:cNvPr id="8" name="object-8">
            <a:extLst>
              <a:ext uri="{FF2B5EF4-FFF2-40B4-BE49-F238E27FC236}">
                <a16:creationId xmlns:a16="http://schemas.microsoft.com/office/drawing/2014/main" id="{D2196FDC-D958-4AD3-8D50-1BD94531A31C}"/>
              </a:ext>
            </a:extLst>
          </p:cNvPr>
          <p:cNvSpPr>
            <a:spLocks noGrp="1"/>
          </p:cNvSpPr>
          <p:nvPr/>
        </p:nvSpPr>
        <p:spPr>
          <a:xfrm>
            <a:off x="4218214" y="3155156"/>
            <a:ext cx="1360714" cy="892969"/>
          </a:xfrm>
          <a:prstGeom prst="rect">
            <a:avLst/>
          </a:prstGeom>
          <a:solidFill>
            <a:srgbClr val="1D4ED8"/>
          </a:solidFill>
          <a:ln w="23813">
            <a:solidFill>
              <a:srgbClr val="FFFFFF"/>
            </a:solidFill>
          </a:ln>
        </p:spPr>
      </p:sp>
      <p:sp>
        <p:nvSpPr>
          <p:cNvPr id="9" name="object-9">
            <a:extLst>
              <a:ext uri="{FF2B5EF4-FFF2-40B4-BE49-F238E27FC236}">
                <a16:creationId xmlns:a16="http://schemas.microsoft.com/office/drawing/2014/main" id="{DE845B5C-30BA-49A5-B812-D28B04D30CB6}"/>
              </a:ext>
            </a:extLst>
          </p:cNvPr>
          <p:cNvSpPr>
            <a:spLocks noGrp="1"/>
          </p:cNvSpPr>
          <p:nvPr/>
        </p:nvSpPr>
        <p:spPr>
          <a:xfrm>
            <a:off x="5578929" y="3155156"/>
            <a:ext cx="1360714" cy="892969"/>
          </a:xfrm>
          <a:prstGeom prst="rect">
            <a:avLst/>
          </a:prstGeom>
          <a:solidFill>
            <a:srgbClr val="1D4ED8"/>
          </a:solidFill>
          <a:ln w="23813">
            <a:solidFill>
              <a:srgbClr val="FFFFFF"/>
            </a:solidFill>
          </a:ln>
        </p:spPr>
      </p:sp>
      <p:sp>
        <p:nvSpPr>
          <p:cNvPr id="10" name="object-10">
            <a:extLst>
              <a:ext uri="{FF2B5EF4-FFF2-40B4-BE49-F238E27FC236}">
                <a16:creationId xmlns:a16="http://schemas.microsoft.com/office/drawing/2014/main" id="{DD405138-EC1D-46CC-983E-9753F024F4E9}"/>
              </a:ext>
            </a:extLst>
          </p:cNvPr>
          <p:cNvSpPr>
            <a:spLocks noGrp="1"/>
          </p:cNvSpPr>
          <p:nvPr/>
        </p:nvSpPr>
        <p:spPr>
          <a:xfrm>
            <a:off x="6939643" y="3155156"/>
            <a:ext cx="1360714" cy="892969"/>
          </a:xfrm>
          <a:prstGeom prst="rect">
            <a:avLst/>
          </a:prstGeom>
          <a:solidFill>
            <a:srgbClr val="1D4ED8"/>
          </a:solidFill>
          <a:ln w="23813">
            <a:solidFill>
              <a:srgbClr val="FFFFFF"/>
            </a:solidFill>
          </a:ln>
        </p:spPr>
      </p:sp>
      <p:sp>
        <p:nvSpPr>
          <p:cNvPr id="11" name="object-11">
            <a:extLst>
              <a:ext uri="{FF2B5EF4-FFF2-40B4-BE49-F238E27FC236}">
                <a16:creationId xmlns:a16="http://schemas.microsoft.com/office/drawing/2014/main" id="{6F6C5694-FE7C-4B23-985B-4BF785ED6771}"/>
              </a:ext>
            </a:extLst>
          </p:cNvPr>
          <p:cNvSpPr>
            <a:spLocks noGrp="1"/>
          </p:cNvSpPr>
          <p:nvPr/>
        </p:nvSpPr>
        <p:spPr>
          <a:xfrm>
            <a:off x="2857500" y="4524375"/>
            <a:ext cx="1360714" cy="892969"/>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6FD5C04E-DAF9-4B5B-9D26-F1FDC2A30B8E}"/>
              </a:ext>
            </a:extLst>
          </p:cNvPr>
          <p:cNvSpPr>
            <a:spLocks noGrp="1"/>
          </p:cNvSpPr>
          <p:nvPr/>
        </p:nvSpPr>
        <p:spPr>
          <a:xfrm>
            <a:off x="4218214" y="4524375"/>
            <a:ext cx="1360714" cy="892969"/>
          </a:xfrm>
          <a:prstGeom prst="rect">
            <a:avLst/>
          </a:prstGeom>
          <a:solidFill>
            <a:srgbClr val="EFF6FF"/>
          </a:solidFill>
          <a:ln w="23813">
            <a:solidFill>
              <a:srgbClr val="1D4ED8"/>
            </a:solidFill>
          </a:ln>
        </p:spPr>
      </p:sp>
      <p:sp>
        <p:nvSpPr>
          <p:cNvPr id="13" name="object-13">
            <a:extLst>
              <a:ext uri="{FF2B5EF4-FFF2-40B4-BE49-F238E27FC236}">
                <a16:creationId xmlns:a16="http://schemas.microsoft.com/office/drawing/2014/main" id="{07E37F96-155E-4AAE-A5D0-E5531166BC0C}"/>
              </a:ext>
            </a:extLst>
          </p:cNvPr>
          <p:cNvSpPr>
            <a:spLocks noGrp="1"/>
          </p:cNvSpPr>
          <p:nvPr/>
        </p:nvSpPr>
        <p:spPr>
          <a:xfrm>
            <a:off x="5578929" y="4524375"/>
            <a:ext cx="1360714" cy="892969"/>
          </a:xfrm>
          <a:prstGeom prst="rect">
            <a:avLst/>
          </a:prstGeom>
          <a:solidFill>
            <a:srgbClr val="EFF6FF"/>
          </a:solidFill>
          <a:ln w="23813">
            <a:solidFill>
              <a:srgbClr val="1D4ED8"/>
            </a:solidFill>
          </a:ln>
        </p:spPr>
      </p:sp>
      <p:sp>
        <p:nvSpPr>
          <p:cNvPr id="14" name="object-14">
            <a:extLst>
              <a:ext uri="{FF2B5EF4-FFF2-40B4-BE49-F238E27FC236}">
                <a16:creationId xmlns:a16="http://schemas.microsoft.com/office/drawing/2014/main" id="{D80E5074-D47D-4C8E-9C9B-40BBB8AAAB97}"/>
              </a:ext>
            </a:extLst>
          </p:cNvPr>
          <p:cNvSpPr>
            <a:spLocks noGrp="1"/>
          </p:cNvSpPr>
          <p:nvPr/>
        </p:nvSpPr>
        <p:spPr>
          <a:xfrm>
            <a:off x="6939643" y="4524375"/>
            <a:ext cx="1360714" cy="892969"/>
          </a:xfrm>
          <a:prstGeom prst="rect">
            <a:avLst/>
          </a:prstGeom>
          <a:solidFill>
            <a:srgbClr val="EFF6FF"/>
          </a:solidFill>
          <a:ln w="23813">
            <a:solidFill>
              <a:srgbClr val="1D4ED8"/>
            </a:solidFill>
          </a:ln>
        </p:spPr>
      </p:sp>
      <p:sp>
        <p:nvSpPr>
          <p:cNvPr id="15" name="object-15">
            <a:extLst>
              <a:ext uri="{FF2B5EF4-FFF2-40B4-BE49-F238E27FC236}">
                <a16:creationId xmlns:a16="http://schemas.microsoft.com/office/drawing/2014/main" id="{EC6CD7D5-B02D-405C-AD23-89066E6D2FF9}"/>
              </a:ext>
            </a:extLst>
          </p:cNvPr>
          <p:cNvSpPr>
            <a:spLocks noGrp="1"/>
          </p:cNvSpPr>
          <p:nvPr/>
        </p:nvSpPr>
        <p:spPr>
          <a:xfrm>
            <a:off x="8300357" y="4524375"/>
            <a:ext cx="1360714" cy="892969"/>
          </a:xfrm>
          <a:prstGeom prst="rect">
            <a:avLst/>
          </a:prstGeom>
          <a:solidFill>
            <a:srgbClr val="EFF6FF"/>
          </a:solidFill>
          <a:ln w="23813">
            <a:solidFill>
              <a:srgbClr val="1D4ED8"/>
            </a:solidFill>
          </a:ln>
        </p:spPr>
      </p:sp>
      <p:sp>
        <p:nvSpPr>
          <p:cNvPr id="16" name="object-16">
            <a:extLst>
              <a:ext uri="{FF2B5EF4-FFF2-40B4-BE49-F238E27FC236}">
                <a16:creationId xmlns:a16="http://schemas.microsoft.com/office/drawing/2014/main" id="{39C12543-F223-4200-8BD0-A9A0FB32E0C8}"/>
              </a:ext>
            </a:extLst>
          </p:cNvPr>
          <p:cNvSpPr>
            <a:spLocks noGrp="1"/>
          </p:cNvSpPr>
          <p:nvPr/>
        </p:nvSpPr>
        <p:spPr>
          <a:xfrm>
            <a:off x="9661071" y="4524375"/>
            <a:ext cx="1360714" cy="892969"/>
          </a:xfrm>
          <a:prstGeom prst="rect">
            <a:avLst/>
          </a:prstGeom>
          <a:solidFill>
            <a:srgbClr val="EFF6FF"/>
          </a:solidFill>
          <a:ln w="23813">
            <a:solidFill>
              <a:srgbClr val="1D4ED8"/>
            </a:solidFill>
          </a:ln>
        </p:spPr>
      </p:sp>
      <p:sp>
        <p:nvSpPr>
          <p:cNvPr id="17" name="object-17">
            <a:extLst>
              <a:ext uri="{FF2B5EF4-FFF2-40B4-BE49-F238E27FC236}">
                <a16:creationId xmlns:a16="http://schemas.microsoft.com/office/drawing/2014/main" id="{767A7DE1-8403-4EDB-896D-74AEB08F7D40}"/>
              </a:ext>
            </a:extLst>
          </p:cNvPr>
          <p:cNvSpPr>
            <a:spLocks noGrp="1"/>
          </p:cNvSpPr>
          <p:nvPr/>
        </p:nvSpPr>
        <p:spPr>
          <a:xfrm>
            <a:off x="11021786" y="4524375"/>
            <a:ext cx="1360714" cy="892969"/>
          </a:xfrm>
          <a:prstGeom prst="rect">
            <a:avLst/>
          </a:prstGeom>
          <a:solidFill>
            <a:srgbClr val="EFF6FF"/>
          </a:solidFill>
          <a:ln w="23813">
            <a:solidFill>
              <a:srgbClr val="1D4ED8"/>
            </a:solidFill>
          </a:ln>
        </p:spPr>
      </p:sp>
      <p:sp>
        <p:nvSpPr>
          <p:cNvPr id="18" name="object-18">
            <a:extLst>
              <a:ext uri="{FF2B5EF4-FFF2-40B4-BE49-F238E27FC236}">
                <a16:creationId xmlns:a16="http://schemas.microsoft.com/office/drawing/2014/main" id="{634A9C73-89D0-414F-8994-913D6565D173}"/>
              </a:ext>
            </a:extLst>
          </p:cNvPr>
          <p:cNvSpPr>
            <a:spLocks noGrp="1"/>
          </p:cNvSpPr>
          <p:nvPr/>
        </p:nvSpPr>
        <p:spPr>
          <a:xfrm>
            <a:off x="773906" y="3214688"/>
            <a:ext cx="1905000" cy="654844"/>
          </a:xfrm>
          <a:prstGeom prst="rect">
            <a:avLst/>
          </a:prstGeom>
          <a:noFill/>
          <a:ln w="0">
            <a:noFill/>
          </a:ln>
        </p:spPr>
        <p:txBody>
          <a:bodyPr anchor="ctr">
            <a:noAutofit/>
          </a:bodyPr>
          <a:lstStyle/>
          <a:p>
            <a:pPr algn="l">
              <a:defRPr sz="2625" b="1">
                <a:solidFill>
                  <a:srgbClr val="1D4ED8"/>
                </a:solidFill>
                <a:latin typeface="Arial"/>
                <a:ea typeface="Arial"/>
                <a:cs typeface="Arial"/>
              </a:defRPr>
            </a:pPr>
            <a:r>
              <a:rPr sz="2625" b="1">
                <a:solidFill>
                  <a:srgbClr val="1D4ED8"/>
                </a:solidFill>
                <a:latin typeface="Arial"/>
                <a:ea typeface="Arial"/>
                <a:cs typeface="Arial"/>
              </a:rPr>
              <a:t>first</a:t>
            </a:r>
          </a:p>
        </p:txBody>
      </p:sp>
      <p:sp>
        <p:nvSpPr>
          <p:cNvPr id="19" name="object-19">
            <a:extLst>
              <a:ext uri="{FF2B5EF4-FFF2-40B4-BE49-F238E27FC236}">
                <a16:creationId xmlns:a16="http://schemas.microsoft.com/office/drawing/2014/main" id="{DBCE9091-782B-4B75-BEB1-F3D11161BDD8}"/>
              </a:ext>
            </a:extLst>
          </p:cNvPr>
          <p:cNvSpPr>
            <a:spLocks noGrp="1"/>
          </p:cNvSpPr>
          <p:nvPr/>
        </p:nvSpPr>
        <p:spPr>
          <a:xfrm>
            <a:off x="773906" y="4572000"/>
            <a:ext cx="1905000" cy="654844"/>
          </a:xfrm>
          <a:prstGeom prst="rect">
            <a:avLst/>
          </a:prstGeom>
          <a:noFill/>
          <a:ln w="0">
            <a:noFill/>
          </a:ln>
        </p:spPr>
        <p:txBody>
          <a:bodyPr anchor="ctr">
            <a:noAutofit/>
          </a:bodyPr>
          <a:lstStyle/>
          <a:p>
            <a:pPr algn="l">
              <a:defRPr sz="2625" b="1">
                <a:solidFill>
                  <a:srgbClr val="1D4ED8"/>
                </a:solidFill>
                <a:latin typeface="Arial"/>
                <a:ea typeface="Arial"/>
                <a:cs typeface="Arial"/>
              </a:defRPr>
            </a:pPr>
            <a:r>
              <a:rPr sz="2625" b="1">
                <a:solidFill>
                  <a:srgbClr val="1D4ED8"/>
                </a:solidFill>
                <a:latin typeface="Arial"/>
                <a:ea typeface="Arial"/>
                <a:cs typeface="Arial"/>
              </a:rPr>
              <a:t>second</a:t>
            </a:r>
          </a:p>
        </p:txBody>
      </p:sp>
      <p:sp>
        <p:nvSpPr>
          <p:cNvPr id="20" name="object-20">
            <a:extLst>
              <a:ext uri="{FF2B5EF4-FFF2-40B4-BE49-F238E27FC236}">
                <a16:creationId xmlns:a16="http://schemas.microsoft.com/office/drawing/2014/main" id="{11A0F425-0E58-4384-B493-1F35645035E6}"/>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4 × 6 : 7 × 6 = 24:42</a:t>
            </a:r>
          </a:p>
        </p:txBody>
      </p:sp>
    </p:spTree>
    <p:extLst>
      <p:ext uri="{BB962C8B-B14F-4D97-AF65-F5344CB8AC3E}">
        <p14:creationId xmlns:p14="http://schemas.microsoft.com/office/powerpoint/2010/main" val="195899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D7A444C9-7DD2-42B5-93B5-BEEEEB70E24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C8782F52-E0E1-4CEF-AEE1-5285F1E2285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4:7 = 28:?</a:t>
            </a:r>
          </a:p>
        </p:txBody>
      </p:sp>
      <p:sp>
        <p:nvSpPr>
          <p:cNvPr id="3" name="object-3">
            <a:extLst>
              <a:ext uri="{FF2B5EF4-FFF2-40B4-BE49-F238E27FC236}">
                <a16:creationId xmlns:a16="http://schemas.microsoft.com/office/drawing/2014/main" id="{2C3B412F-07C1-40D7-A134-434B2F39E96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519EDE20-658C-400D-8E6D-E5D83C9199C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the value of one ratio part</a:t>
            </a:r>
          </a:p>
        </p:txBody>
      </p:sp>
      <p:sp>
        <p:nvSpPr>
          <p:cNvPr id="5" name="object-5">
            <a:extLst>
              <a:ext uri="{FF2B5EF4-FFF2-40B4-BE49-F238E27FC236}">
                <a16:creationId xmlns:a16="http://schemas.microsoft.com/office/drawing/2014/main" id="{540217EC-AB5C-41FF-B641-00CD63E6E92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D134F94A-F44B-4712-9FFC-5FFBC61729D9}"/>
              </a:ext>
            </a:extLst>
          </p:cNvPr>
          <p:cNvSpPr>
            <a:spLocks noGrp="1"/>
          </p:cNvSpPr>
          <p:nvPr/>
        </p:nvSpPr>
        <p:spPr>
          <a:xfrm>
            <a:off x="2857500" y="3155156"/>
            <a:ext cx="1360714" cy="892969"/>
          </a:xfrm>
          <a:prstGeom prst="rect">
            <a:avLst/>
          </a:prstGeom>
          <a:solidFill>
            <a:srgbClr val="1D4ED8"/>
          </a:solidFill>
          <a:ln w="23813">
            <a:solidFill>
              <a:srgbClr val="FFFFFF"/>
            </a:solidFill>
          </a:ln>
        </p:spPr>
      </p:sp>
      <p:sp>
        <p:nvSpPr>
          <p:cNvPr id="7" name="object-7">
            <a:extLst>
              <a:ext uri="{FF2B5EF4-FFF2-40B4-BE49-F238E27FC236}">
                <a16:creationId xmlns:a16="http://schemas.microsoft.com/office/drawing/2014/main" id="{9CC90127-56C6-4D4D-94C9-1B9E83AAAA1E}"/>
              </a:ext>
            </a:extLst>
          </p:cNvPr>
          <p:cNvSpPr>
            <a:spLocks noGrp="1"/>
          </p:cNvSpPr>
          <p:nvPr/>
        </p:nvSpPr>
        <p:spPr>
          <a:xfrm>
            <a:off x="4218214" y="3155156"/>
            <a:ext cx="1360714" cy="892969"/>
          </a:xfrm>
          <a:prstGeom prst="rect">
            <a:avLst/>
          </a:prstGeom>
          <a:solidFill>
            <a:srgbClr val="1D4ED8"/>
          </a:solidFill>
          <a:ln w="23813">
            <a:solidFill>
              <a:srgbClr val="FFFFFF"/>
            </a:solidFill>
          </a:ln>
        </p:spPr>
      </p:sp>
      <p:sp>
        <p:nvSpPr>
          <p:cNvPr id="8" name="object-8">
            <a:extLst>
              <a:ext uri="{FF2B5EF4-FFF2-40B4-BE49-F238E27FC236}">
                <a16:creationId xmlns:a16="http://schemas.microsoft.com/office/drawing/2014/main" id="{2E574F60-A51F-434E-AC04-16749010C474}"/>
              </a:ext>
            </a:extLst>
          </p:cNvPr>
          <p:cNvSpPr>
            <a:spLocks noGrp="1"/>
          </p:cNvSpPr>
          <p:nvPr/>
        </p:nvSpPr>
        <p:spPr>
          <a:xfrm>
            <a:off x="5578929" y="3155156"/>
            <a:ext cx="1360714" cy="892969"/>
          </a:xfrm>
          <a:prstGeom prst="rect">
            <a:avLst/>
          </a:prstGeom>
          <a:solidFill>
            <a:srgbClr val="1D4ED8"/>
          </a:solidFill>
          <a:ln w="23813">
            <a:solidFill>
              <a:srgbClr val="FFFFFF"/>
            </a:solidFill>
          </a:ln>
        </p:spPr>
      </p:sp>
      <p:sp>
        <p:nvSpPr>
          <p:cNvPr id="9" name="object-9">
            <a:extLst>
              <a:ext uri="{FF2B5EF4-FFF2-40B4-BE49-F238E27FC236}">
                <a16:creationId xmlns:a16="http://schemas.microsoft.com/office/drawing/2014/main" id="{91A69788-0ACC-41C9-B6E4-52E5BC7B4A8A}"/>
              </a:ext>
            </a:extLst>
          </p:cNvPr>
          <p:cNvSpPr>
            <a:spLocks noGrp="1"/>
          </p:cNvSpPr>
          <p:nvPr/>
        </p:nvSpPr>
        <p:spPr>
          <a:xfrm>
            <a:off x="6939643" y="3155156"/>
            <a:ext cx="1360714" cy="892969"/>
          </a:xfrm>
          <a:prstGeom prst="rect">
            <a:avLst/>
          </a:prstGeom>
          <a:solidFill>
            <a:srgbClr val="1D4ED8"/>
          </a:solidFill>
          <a:ln w="23813">
            <a:solidFill>
              <a:srgbClr val="FFFFFF"/>
            </a:solidFill>
          </a:ln>
        </p:spPr>
      </p:sp>
      <p:sp>
        <p:nvSpPr>
          <p:cNvPr id="10" name="object-10">
            <a:extLst>
              <a:ext uri="{FF2B5EF4-FFF2-40B4-BE49-F238E27FC236}">
                <a16:creationId xmlns:a16="http://schemas.microsoft.com/office/drawing/2014/main" id="{C77CFCB9-EE86-4CCA-B12E-3B268BEF6EFB}"/>
              </a:ext>
            </a:extLst>
          </p:cNvPr>
          <p:cNvSpPr>
            <a:spLocks noGrp="1"/>
          </p:cNvSpPr>
          <p:nvPr/>
        </p:nvSpPr>
        <p:spPr>
          <a:xfrm>
            <a:off x="2857500" y="4524375"/>
            <a:ext cx="1360714" cy="892969"/>
          </a:xfrm>
          <a:prstGeom prst="rect">
            <a:avLst/>
          </a:prstGeom>
          <a:solidFill>
            <a:srgbClr val="EFF6FF"/>
          </a:solidFill>
          <a:ln w="23813">
            <a:solidFill>
              <a:srgbClr val="1D4ED8"/>
            </a:solidFill>
          </a:ln>
        </p:spPr>
      </p:sp>
      <p:sp>
        <p:nvSpPr>
          <p:cNvPr id="11" name="object-11">
            <a:extLst>
              <a:ext uri="{FF2B5EF4-FFF2-40B4-BE49-F238E27FC236}">
                <a16:creationId xmlns:a16="http://schemas.microsoft.com/office/drawing/2014/main" id="{CDD15C0F-3A36-430C-A19B-831F8BFC57AA}"/>
              </a:ext>
            </a:extLst>
          </p:cNvPr>
          <p:cNvSpPr>
            <a:spLocks noGrp="1"/>
          </p:cNvSpPr>
          <p:nvPr/>
        </p:nvSpPr>
        <p:spPr>
          <a:xfrm>
            <a:off x="4218214" y="4524375"/>
            <a:ext cx="1360714" cy="892969"/>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727F4380-10C7-47E7-A294-698D48F39986}"/>
              </a:ext>
            </a:extLst>
          </p:cNvPr>
          <p:cNvSpPr>
            <a:spLocks noGrp="1"/>
          </p:cNvSpPr>
          <p:nvPr/>
        </p:nvSpPr>
        <p:spPr>
          <a:xfrm>
            <a:off x="5578929" y="4524375"/>
            <a:ext cx="1360714" cy="892969"/>
          </a:xfrm>
          <a:prstGeom prst="rect">
            <a:avLst/>
          </a:prstGeom>
          <a:solidFill>
            <a:srgbClr val="EFF6FF"/>
          </a:solidFill>
          <a:ln w="23813">
            <a:solidFill>
              <a:srgbClr val="1D4ED8"/>
            </a:solidFill>
          </a:ln>
        </p:spPr>
      </p:sp>
      <p:sp>
        <p:nvSpPr>
          <p:cNvPr id="13" name="object-13">
            <a:extLst>
              <a:ext uri="{FF2B5EF4-FFF2-40B4-BE49-F238E27FC236}">
                <a16:creationId xmlns:a16="http://schemas.microsoft.com/office/drawing/2014/main" id="{85577891-403B-4B5B-887F-253087F8995D}"/>
              </a:ext>
            </a:extLst>
          </p:cNvPr>
          <p:cNvSpPr>
            <a:spLocks noGrp="1"/>
          </p:cNvSpPr>
          <p:nvPr/>
        </p:nvSpPr>
        <p:spPr>
          <a:xfrm>
            <a:off x="6939643" y="4524375"/>
            <a:ext cx="1360714" cy="892969"/>
          </a:xfrm>
          <a:prstGeom prst="rect">
            <a:avLst/>
          </a:prstGeom>
          <a:solidFill>
            <a:srgbClr val="EFF6FF"/>
          </a:solidFill>
          <a:ln w="23813">
            <a:solidFill>
              <a:srgbClr val="1D4ED8"/>
            </a:solidFill>
          </a:ln>
        </p:spPr>
      </p:sp>
      <p:sp>
        <p:nvSpPr>
          <p:cNvPr id="14" name="object-14">
            <a:extLst>
              <a:ext uri="{FF2B5EF4-FFF2-40B4-BE49-F238E27FC236}">
                <a16:creationId xmlns:a16="http://schemas.microsoft.com/office/drawing/2014/main" id="{8407E711-6297-4888-9716-B6C25ACBAAB8}"/>
              </a:ext>
            </a:extLst>
          </p:cNvPr>
          <p:cNvSpPr>
            <a:spLocks noGrp="1"/>
          </p:cNvSpPr>
          <p:nvPr/>
        </p:nvSpPr>
        <p:spPr>
          <a:xfrm>
            <a:off x="8300357" y="4524375"/>
            <a:ext cx="1360714" cy="892969"/>
          </a:xfrm>
          <a:prstGeom prst="rect">
            <a:avLst/>
          </a:prstGeom>
          <a:solidFill>
            <a:srgbClr val="EFF6FF"/>
          </a:solidFill>
          <a:ln w="23813">
            <a:solidFill>
              <a:srgbClr val="1D4ED8"/>
            </a:solidFill>
          </a:ln>
        </p:spPr>
      </p:sp>
      <p:sp>
        <p:nvSpPr>
          <p:cNvPr id="15" name="object-15">
            <a:extLst>
              <a:ext uri="{FF2B5EF4-FFF2-40B4-BE49-F238E27FC236}">
                <a16:creationId xmlns:a16="http://schemas.microsoft.com/office/drawing/2014/main" id="{E29DFB1B-27FE-4291-B5D0-D73C8D6E3486}"/>
              </a:ext>
            </a:extLst>
          </p:cNvPr>
          <p:cNvSpPr>
            <a:spLocks noGrp="1"/>
          </p:cNvSpPr>
          <p:nvPr/>
        </p:nvSpPr>
        <p:spPr>
          <a:xfrm>
            <a:off x="9661071" y="4524375"/>
            <a:ext cx="1360714" cy="892969"/>
          </a:xfrm>
          <a:prstGeom prst="rect">
            <a:avLst/>
          </a:prstGeom>
          <a:solidFill>
            <a:srgbClr val="EFF6FF"/>
          </a:solidFill>
          <a:ln w="23813">
            <a:solidFill>
              <a:srgbClr val="1D4ED8"/>
            </a:solidFill>
          </a:ln>
        </p:spPr>
      </p:sp>
      <p:sp>
        <p:nvSpPr>
          <p:cNvPr id="16" name="object-16">
            <a:extLst>
              <a:ext uri="{FF2B5EF4-FFF2-40B4-BE49-F238E27FC236}">
                <a16:creationId xmlns:a16="http://schemas.microsoft.com/office/drawing/2014/main" id="{1F46BE77-4698-4850-ABD0-00AFF7DF365D}"/>
              </a:ext>
            </a:extLst>
          </p:cNvPr>
          <p:cNvSpPr>
            <a:spLocks noGrp="1"/>
          </p:cNvSpPr>
          <p:nvPr/>
        </p:nvSpPr>
        <p:spPr>
          <a:xfrm>
            <a:off x="11021786" y="4524375"/>
            <a:ext cx="1360714" cy="892969"/>
          </a:xfrm>
          <a:prstGeom prst="rect">
            <a:avLst/>
          </a:prstGeom>
          <a:solidFill>
            <a:srgbClr val="EFF6FF"/>
          </a:solidFill>
          <a:ln w="23813">
            <a:solidFill>
              <a:srgbClr val="1D4ED8"/>
            </a:solidFill>
          </a:ln>
        </p:spPr>
      </p:sp>
      <p:sp>
        <p:nvSpPr>
          <p:cNvPr id="17" name="object-17">
            <a:extLst>
              <a:ext uri="{FF2B5EF4-FFF2-40B4-BE49-F238E27FC236}">
                <a16:creationId xmlns:a16="http://schemas.microsoft.com/office/drawing/2014/main" id="{F1612C3A-B249-4B79-AF4B-E71A165F46B5}"/>
              </a:ext>
            </a:extLst>
          </p:cNvPr>
          <p:cNvSpPr>
            <a:spLocks noGrp="1"/>
          </p:cNvSpPr>
          <p:nvPr/>
        </p:nvSpPr>
        <p:spPr>
          <a:xfrm>
            <a:off x="773906" y="3214688"/>
            <a:ext cx="1905000" cy="654844"/>
          </a:xfrm>
          <a:prstGeom prst="rect">
            <a:avLst/>
          </a:prstGeom>
          <a:noFill/>
          <a:ln w="0">
            <a:noFill/>
          </a:ln>
        </p:spPr>
        <p:txBody>
          <a:bodyPr anchor="ctr">
            <a:noAutofit/>
          </a:bodyPr>
          <a:lstStyle/>
          <a:p>
            <a:pPr algn="l">
              <a:defRPr sz="2625" b="1">
                <a:solidFill>
                  <a:srgbClr val="1D4ED8"/>
                </a:solidFill>
                <a:latin typeface="Arial"/>
                <a:ea typeface="Arial"/>
                <a:cs typeface="Arial"/>
              </a:defRPr>
            </a:pPr>
            <a:r>
              <a:rPr sz="2625" b="1">
                <a:solidFill>
                  <a:srgbClr val="1D4ED8"/>
                </a:solidFill>
                <a:latin typeface="Arial"/>
                <a:ea typeface="Arial"/>
                <a:cs typeface="Arial"/>
              </a:rPr>
              <a:t>first</a:t>
            </a:r>
          </a:p>
        </p:txBody>
      </p:sp>
      <p:sp>
        <p:nvSpPr>
          <p:cNvPr id="18" name="object-18">
            <a:extLst>
              <a:ext uri="{FF2B5EF4-FFF2-40B4-BE49-F238E27FC236}">
                <a16:creationId xmlns:a16="http://schemas.microsoft.com/office/drawing/2014/main" id="{2C1C19C2-9ACD-49F5-B66F-0E7F42704A9E}"/>
              </a:ext>
            </a:extLst>
          </p:cNvPr>
          <p:cNvSpPr>
            <a:spLocks noGrp="1"/>
          </p:cNvSpPr>
          <p:nvPr/>
        </p:nvSpPr>
        <p:spPr>
          <a:xfrm>
            <a:off x="773906" y="4572000"/>
            <a:ext cx="1905000" cy="654844"/>
          </a:xfrm>
          <a:prstGeom prst="rect">
            <a:avLst/>
          </a:prstGeom>
          <a:noFill/>
          <a:ln w="0">
            <a:noFill/>
          </a:ln>
        </p:spPr>
        <p:txBody>
          <a:bodyPr anchor="ctr">
            <a:noAutofit/>
          </a:bodyPr>
          <a:lstStyle/>
          <a:p>
            <a:pPr algn="l">
              <a:defRPr sz="2625" b="1">
                <a:solidFill>
                  <a:srgbClr val="1D4ED8"/>
                </a:solidFill>
                <a:latin typeface="Arial"/>
                <a:ea typeface="Arial"/>
                <a:cs typeface="Arial"/>
              </a:defRPr>
            </a:pPr>
            <a:r>
              <a:rPr sz="2625" b="1">
                <a:solidFill>
                  <a:srgbClr val="1D4ED8"/>
                </a:solidFill>
                <a:latin typeface="Arial"/>
                <a:ea typeface="Arial"/>
                <a:cs typeface="Arial"/>
              </a:rPr>
              <a:t>second</a:t>
            </a:r>
          </a:p>
        </p:txBody>
      </p:sp>
      <p:sp>
        <p:nvSpPr>
          <p:cNvPr id="19" name="object-19">
            <a:extLst>
              <a:ext uri="{FF2B5EF4-FFF2-40B4-BE49-F238E27FC236}">
                <a16:creationId xmlns:a16="http://schemas.microsoft.com/office/drawing/2014/main" id="{2D29BD10-FCE2-428B-BB8C-E0DCA5832AC3}"/>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4 × 7 : 7 × 7 = 28:49</a:t>
            </a:r>
          </a:p>
        </p:txBody>
      </p:sp>
    </p:spTree>
    <p:extLst>
      <p:ext uri="{BB962C8B-B14F-4D97-AF65-F5344CB8AC3E}">
        <p14:creationId xmlns:p14="http://schemas.microsoft.com/office/powerpoint/2010/main" val="1984429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object-1">
            <a:extLst>
              <a:ext uri="{FF2B5EF4-FFF2-40B4-BE49-F238E27FC236}">
                <a16:creationId xmlns:a16="http://schemas.microsoft.com/office/drawing/2014/main" id="{01F63D93-69E0-491A-B402-485A3504A56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9A7B7CD2-3600-4922-B51A-3E649CF83FAE}"/>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60A1F5D-09F2-470E-A448-991A457D961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4:7 = 32:?</a:t>
            </a:r>
          </a:p>
        </p:txBody>
      </p:sp>
      <p:sp>
        <p:nvSpPr>
          <p:cNvPr id="4" name="object-4">
            <a:extLst>
              <a:ext uri="{FF2B5EF4-FFF2-40B4-BE49-F238E27FC236}">
                <a16:creationId xmlns:a16="http://schemas.microsoft.com/office/drawing/2014/main" id="{BC5E0D8A-62DF-456B-9E60-9D948E1DE064}"/>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D4BE530A-6331-4082-8CB3-3ECACB66E22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the value of one ratio part</a:t>
            </a:r>
          </a:p>
        </p:txBody>
      </p:sp>
      <p:sp>
        <p:nvSpPr>
          <p:cNvPr id="6" name="object-6">
            <a:extLst>
              <a:ext uri="{FF2B5EF4-FFF2-40B4-BE49-F238E27FC236}">
                <a16:creationId xmlns:a16="http://schemas.microsoft.com/office/drawing/2014/main" id="{2DAA9FB9-B1C3-4ACF-AB94-1E5A7F654B1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522D78C2-E300-469D-A114-7D8DB93A8B95}"/>
              </a:ext>
            </a:extLst>
          </p:cNvPr>
          <p:cNvSpPr>
            <a:spLocks noGrp="1"/>
          </p:cNvSpPr>
          <p:nvPr/>
        </p:nvSpPr>
        <p:spPr>
          <a:xfrm>
            <a:off x="2857500" y="3155156"/>
            <a:ext cx="1360714" cy="892969"/>
          </a:xfrm>
          <a:prstGeom prst="rect">
            <a:avLst/>
          </a:prstGeom>
          <a:solidFill>
            <a:srgbClr val="1D4ED8"/>
          </a:solidFill>
          <a:ln w="23813">
            <a:solidFill>
              <a:srgbClr val="FFFFFF"/>
            </a:solidFill>
          </a:ln>
        </p:spPr>
      </p:sp>
      <p:sp>
        <p:nvSpPr>
          <p:cNvPr id="8" name="object-8">
            <a:extLst>
              <a:ext uri="{FF2B5EF4-FFF2-40B4-BE49-F238E27FC236}">
                <a16:creationId xmlns:a16="http://schemas.microsoft.com/office/drawing/2014/main" id="{08B057A4-5B7A-47E2-BFA5-6B882AF8228A}"/>
              </a:ext>
            </a:extLst>
          </p:cNvPr>
          <p:cNvSpPr>
            <a:spLocks noGrp="1"/>
          </p:cNvSpPr>
          <p:nvPr/>
        </p:nvSpPr>
        <p:spPr>
          <a:xfrm>
            <a:off x="4218214" y="3155156"/>
            <a:ext cx="1360714" cy="892969"/>
          </a:xfrm>
          <a:prstGeom prst="rect">
            <a:avLst/>
          </a:prstGeom>
          <a:solidFill>
            <a:srgbClr val="1D4ED8"/>
          </a:solidFill>
          <a:ln w="23813">
            <a:solidFill>
              <a:srgbClr val="FFFFFF"/>
            </a:solidFill>
          </a:ln>
        </p:spPr>
      </p:sp>
      <p:sp>
        <p:nvSpPr>
          <p:cNvPr id="9" name="object-9">
            <a:extLst>
              <a:ext uri="{FF2B5EF4-FFF2-40B4-BE49-F238E27FC236}">
                <a16:creationId xmlns:a16="http://schemas.microsoft.com/office/drawing/2014/main" id="{941FA818-7A3D-443C-91B1-5683E61B6E43}"/>
              </a:ext>
            </a:extLst>
          </p:cNvPr>
          <p:cNvSpPr>
            <a:spLocks noGrp="1"/>
          </p:cNvSpPr>
          <p:nvPr/>
        </p:nvSpPr>
        <p:spPr>
          <a:xfrm>
            <a:off x="5578929" y="3155156"/>
            <a:ext cx="1360714" cy="892969"/>
          </a:xfrm>
          <a:prstGeom prst="rect">
            <a:avLst/>
          </a:prstGeom>
          <a:solidFill>
            <a:srgbClr val="1D4ED8"/>
          </a:solidFill>
          <a:ln w="23813">
            <a:solidFill>
              <a:srgbClr val="FFFFFF"/>
            </a:solidFill>
          </a:ln>
        </p:spPr>
      </p:sp>
      <p:sp>
        <p:nvSpPr>
          <p:cNvPr id="10" name="object-10">
            <a:extLst>
              <a:ext uri="{FF2B5EF4-FFF2-40B4-BE49-F238E27FC236}">
                <a16:creationId xmlns:a16="http://schemas.microsoft.com/office/drawing/2014/main" id="{6F5304CE-3534-4017-AEC1-94133FEA8648}"/>
              </a:ext>
            </a:extLst>
          </p:cNvPr>
          <p:cNvSpPr>
            <a:spLocks noGrp="1"/>
          </p:cNvSpPr>
          <p:nvPr/>
        </p:nvSpPr>
        <p:spPr>
          <a:xfrm>
            <a:off x="6939643" y="3155156"/>
            <a:ext cx="1360714" cy="892969"/>
          </a:xfrm>
          <a:prstGeom prst="rect">
            <a:avLst/>
          </a:prstGeom>
          <a:solidFill>
            <a:srgbClr val="1D4ED8"/>
          </a:solidFill>
          <a:ln w="23813">
            <a:solidFill>
              <a:srgbClr val="FFFFFF"/>
            </a:solidFill>
          </a:ln>
        </p:spPr>
      </p:sp>
      <p:sp>
        <p:nvSpPr>
          <p:cNvPr id="11" name="object-11">
            <a:extLst>
              <a:ext uri="{FF2B5EF4-FFF2-40B4-BE49-F238E27FC236}">
                <a16:creationId xmlns:a16="http://schemas.microsoft.com/office/drawing/2014/main" id="{24BB4355-5C2B-4D89-9AB6-0F3BBB0B0A4B}"/>
              </a:ext>
            </a:extLst>
          </p:cNvPr>
          <p:cNvSpPr>
            <a:spLocks noGrp="1"/>
          </p:cNvSpPr>
          <p:nvPr/>
        </p:nvSpPr>
        <p:spPr>
          <a:xfrm>
            <a:off x="2857500" y="4524375"/>
            <a:ext cx="1360714" cy="892969"/>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445819D4-B1E8-4826-9A75-271B5D67B52D}"/>
              </a:ext>
            </a:extLst>
          </p:cNvPr>
          <p:cNvSpPr>
            <a:spLocks noGrp="1"/>
          </p:cNvSpPr>
          <p:nvPr/>
        </p:nvSpPr>
        <p:spPr>
          <a:xfrm>
            <a:off x="4218214" y="4524375"/>
            <a:ext cx="1360714" cy="892969"/>
          </a:xfrm>
          <a:prstGeom prst="rect">
            <a:avLst/>
          </a:prstGeom>
          <a:solidFill>
            <a:srgbClr val="EFF6FF"/>
          </a:solidFill>
          <a:ln w="23813">
            <a:solidFill>
              <a:srgbClr val="1D4ED8"/>
            </a:solidFill>
          </a:ln>
        </p:spPr>
      </p:sp>
      <p:sp>
        <p:nvSpPr>
          <p:cNvPr id="13" name="object-13">
            <a:extLst>
              <a:ext uri="{FF2B5EF4-FFF2-40B4-BE49-F238E27FC236}">
                <a16:creationId xmlns:a16="http://schemas.microsoft.com/office/drawing/2014/main" id="{688C210E-C168-4DEF-8022-7AE1BC54CACB}"/>
              </a:ext>
            </a:extLst>
          </p:cNvPr>
          <p:cNvSpPr>
            <a:spLocks noGrp="1"/>
          </p:cNvSpPr>
          <p:nvPr/>
        </p:nvSpPr>
        <p:spPr>
          <a:xfrm>
            <a:off x="5578929" y="4524375"/>
            <a:ext cx="1360714" cy="892969"/>
          </a:xfrm>
          <a:prstGeom prst="rect">
            <a:avLst/>
          </a:prstGeom>
          <a:solidFill>
            <a:srgbClr val="EFF6FF"/>
          </a:solidFill>
          <a:ln w="23813">
            <a:solidFill>
              <a:srgbClr val="1D4ED8"/>
            </a:solidFill>
          </a:ln>
        </p:spPr>
      </p:sp>
      <p:sp>
        <p:nvSpPr>
          <p:cNvPr id="14" name="object-14">
            <a:extLst>
              <a:ext uri="{FF2B5EF4-FFF2-40B4-BE49-F238E27FC236}">
                <a16:creationId xmlns:a16="http://schemas.microsoft.com/office/drawing/2014/main" id="{F3229B10-911A-491B-8B8F-5D961F7A918F}"/>
              </a:ext>
            </a:extLst>
          </p:cNvPr>
          <p:cNvSpPr>
            <a:spLocks noGrp="1"/>
          </p:cNvSpPr>
          <p:nvPr/>
        </p:nvSpPr>
        <p:spPr>
          <a:xfrm>
            <a:off x="6939643" y="4524375"/>
            <a:ext cx="1360714" cy="892969"/>
          </a:xfrm>
          <a:prstGeom prst="rect">
            <a:avLst/>
          </a:prstGeom>
          <a:solidFill>
            <a:srgbClr val="EFF6FF"/>
          </a:solidFill>
          <a:ln w="23813">
            <a:solidFill>
              <a:srgbClr val="1D4ED8"/>
            </a:solidFill>
          </a:ln>
        </p:spPr>
      </p:sp>
      <p:sp>
        <p:nvSpPr>
          <p:cNvPr id="15" name="object-15">
            <a:extLst>
              <a:ext uri="{FF2B5EF4-FFF2-40B4-BE49-F238E27FC236}">
                <a16:creationId xmlns:a16="http://schemas.microsoft.com/office/drawing/2014/main" id="{0888D82E-A5D5-41A5-AAD2-B0F119934ACE}"/>
              </a:ext>
            </a:extLst>
          </p:cNvPr>
          <p:cNvSpPr>
            <a:spLocks noGrp="1"/>
          </p:cNvSpPr>
          <p:nvPr/>
        </p:nvSpPr>
        <p:spPr>
          <a:xfrm>
            <a:off x="8300357" y="4524375"/>
            <a:ext cx="1360714" cy="892969"/>
          </a:xfrm>
          <a:prstGeom prst="rect">
            <a:avLst/>
          </a:prstGeom>
          <a:solidFill>
            <a:srgbClr val="EFF6FF"/>
          </a:solidFill>
          <a:ln w="23813">
            <a:solidFill>
              <a:srgbClr val="1D4ED8"/>
            </a:solidFill>
          </a:ln>
        </p:spPr>
      </p:sp>
      <p:sp>
        <p:nvSpPr>
          <p:cNvPr id="16" name="object-16">
            <a:extLst>
              <a:ext uri="{FF2B5EF4-FFF2-40B4-BE49-F238E27FC236}">
                <a16:creationId xmlns:a16="http://schemas.microsoft.com/office/drawing/2014/main" id="{A65391A9-4CA7-494E-A36E-A902161BF79A}"/>
              </a:ext>
            </a:extLst>
          </p:cNvPr>
          <p:cNvSpPr>
            <a:spLocks noGrp="1"/>
          </p:cNvSpPr>
          <p:nvPr/>
        </p:nvSpPr>
        <p:spPr>
          <a:xfrm>
            <a:off x="9661071" y="4524375"/>
            <a:ext cx="1360714" cy="892969"/>
          </a:xfrm>
          <a:prstGeom prst="rect">
            <a:avLst/>
          </a:prstGeom>
          <a:solidFill>
            <a:srgbClr val="EFF6FF"/>
          </a:solidFill>
          <a:ln w="23813">
            <a:solidFill>
              <a:srgbClr val="1D4ED8"/>
            </a:solidFill>
          </a:ln>
        </p:spPr>
      </p:sp>
      <p:sp>
        <p:nvSpPr>
          <p:cNvPr id="17" name="object-17">
            <a:extLst>
              <a:ext uri="{FF2B5EF4-FFF2-40B4-BE49-F238E27FC236}">
                <a16:creationId xmlns:a16="http://schemas.microsoft.com/office/drawing/2014/main" id="{5F36FB2D-3104-41E3-BF4B-F8D0A0DECFDA}"/>
              </a:ext>
            </a:extLst>
          </p:cNvPr>
          <p:cNvSpPr>
            <a:spLocks noGrp="1"/>
          </p:cNvSpPr>
          <p:nvPr/>
        </p:nvSpPr>
        <p:spPr>
          <a:xfrm>
            <a:off x="11021786" y="4524375"/>
            <a:ext cx="1360714" cy="892969"/>
          </a:xfrm>
          <a:prstGeom prst="rect">
            <a:avLst/>
          </a:prstGeom>
          <a:solidFill>
            <a:srgbClr val="EFF6FF"/>
          </a:solidFill>
          <a:ln w="23813">
            <a:solidFill>
              <a:srgbClr val="1D4ED8"/>
            </a:solidFill>
          </a:ln>
        </p:spPr>
      </p:sp>
      <p:sp>
        <p:nvSpPr>
          <p:cNvPr id="18" name="object-18">
            <a:extLst>
              <a:ext uri="{FF2B5EF4-FFF2-40B4-BE49-F238E27FC236}">
                <a16:creationId xmlns:a16="http://schemas.microsoft.com/office/drawing/2014/main" id="{504D426F-1316-47E9-98A2-87B01D6B8677}"/>
              </a:ext>
            </a:extLst>
          </p:cNvPr>
          <p:cNvSpPr>
            <a:spLocks noGrp="1"/>
          </p:cNvSpPr>
          <p:nvPr/>
        </p:nvSpPr>
        <p:spPr>
          <a:xfrm>
            <a:off x="773906" y="3214688"/>
            <a:ext cx="1905000" cy="654844"/>
          </a:xfrm>
          <a:prstGeom prst="rect">
            <a:avLst/>
          </a:prstGeom>
          <a:noFill/>
          <a:ln w="0">
            <a:noFill/>
          </a:ln>
        </p:spPr>
        <p:txBody>
          <a:bodyPr anchor="ctr">
            <a:noAutofit/>
          </a:bodyPr>
          <a:lstStyle/>
          <a:p>
            <a:pPr algn="l">
              <a:defRPr sz="2625" b="1">
                <a:solidFill>
                  <a:srgbClr val="1D4ED8"/>
                </a:solidFill>
                <a:latin typeface="Arial"/>
                <a:ea typeface="Arial"/>
                <a:cs typeface="Arial"/>
              </a:defRPr>
            </a:pPr>
            <a:r>
              <a:rPr sz="2625" b="1">
                <a:solidFill>
                  <a:srgbClr val="1D4ED8"/>
                </a:solidFill>
                <a:latin typeface="Arial"/>
                <a:ea typeface="Arial"/>
                <a:cs typeface="Arial"/>
              </a:rPr>
              <a:t>first</a:t>
            </a:r>
          </a:p>
        </p:txBody>
      </p:sp>
      <p:sp>
        <p:nvSpPr>
          <p:cNvPr id="19" name="object-19">
            <a:extLst>
              <a:ext uri="{FF2B5EF4-FFF2-40B4-BE49-F238E27FC236}">
                <a16:creationId xmlns:a16="http://schemas.microsoft.com/office/drawing/2014/main" id="{3F3AF003-A4A8-4769-96C5-08CDE4B3DC5C}"/>
              </a:ext>
            </a:extLst>
          </p:cNvPr>
          <p:cNvSpPr>
            <a:spLocks noGrp="1"/>
          </p:cNvSpPr>
          <p:nvPr/>
        </p:nvSpPr>
        <p:spPr>
          <a:xfrm>
            <a:off x="773906" y="4572000"/>
            <a:ext cx="1905000" cy="654844"/>
          </a:xfrm>
          <a:prstGeom prst="rect">
            <a:avLst/>
          </a:prstGeom>
          <a:noFill/>
          <a:ln w="0">
            <a:noFill/>
          </a:ln>
        </p:spPr>
        <p:txBody>
          <a:bodyPr anchor="ctr">
            <a:noAutofit/>
          </a:bodyPr>
          <a:lstStyle/>
          <a:p>
            <a:pPr algn="l">
              <a:defRPr sz="2625" b="1">
                <a:solidFill>
                  <a:srgbClr val="1D4ED8"/>
                </a:solidFill>
                <a:latin typeface="Arial"/>
                <a:ea typeface="Arial"/>
                <a:cs typeface="Arial"/>
              </a:defRPr>
            </a:pPr>
            <a:r>
              <a:rPr sz="2625" b="1">
                <a:solidFill>
                  <a:srgbClr val="1D4ED8"/>
                </a:solidFill>
                <a:latin typeface="Arial"/>
                <a:ea typeface="Arial"/>
                <a:cs typeface="Arial"/>
              </a:rPr>
              <a:t>second</a:t>
            </a:r>
          </a:p>
        </p:txBody>
      </p:sp>
      <p:sp>
        <p:nvSpPr>
          <p:cNvPr id="20" name="object-20">
            <a:extLst>
              <a:ext uri="{FF2B5EF4-FFF2-40B4-BE49-F238E27FC236}">
                <a16:creationId xmlns:a16="http://schemas.microsoft.com/office/drawing/2014/main" id="{9A60DA11-0C1E-473A-AFBA-021FCBFE8D67}"/>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4 × 8 : 7 × 8 = 32:56</a:t>
            </a:r>
          </a:p>
        </p:txBody>
      </p:sp>
    </p:spTree>
    <p:extLst>
      <p:ext uri="{BB962C8B-B14F-4D97-AF65-F5344CB8AC3E}">
        <p14:creationId xmlns:p14="http://schemas.microsoft.com/office/powerpoint/2010/main" val="376569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9BD7FECE-E8B8-4C51-BCDB-3A17B632106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F3091185-F7E2-4931-A120-D142009C7081}"/>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5892DE04-B180-4383-AACA-61BE91332C2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381B7E4A-FE94-490A-B2DE-5EF5284C7FD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0802024-54C5-43D7-8193-3C00D8A9BC5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the value of one ratio part</a:t>
            </a:r>
          </a:p>
        </p:txBody>
      </p:sp>
      <p:sp>
        <p:nvSpPr>
          <p:cNvPr id="6" name="object-6">
            <a:extLst>
              <a:ext uri="{FF2B5EF4-FFF2-40B4-BE49-F238E27FC236}">
                <a16:creationId xmlns:a16="http://schemas.microsoft.com/office/drawing/2014/main" id="{E2961AC6-B798-408E-966A-F61B9FDB458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24B4B636-494E-45E8-9B5C-D18C44443CD1}"/>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F3DE63C0-2067-4292-AF92-C4BD1E69D959}"/>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In the ratio 4:7, the smaller part is 20. What is the larger part?</a:t>
            </a:r>
          </a:p>
        </p:txBody>
      </p:sp>
      <p:sp>
        <p:nvSpPr>
          <p:cNvPr id="9" name="object-9">
            <a:extLst>
              <a:ext uri="{FF2B5EF4-FFF2-40B4-BE49-F238E27FC236}">
                <a16:creationId xmlns:a16="http://schemas.microsoft.com/office/drawing/2014/main" id="{7DCBD52C-2F92-45A1-B21D-E7867E56647A}"/>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012ED9AA-8C56-4B8F-8AD7-B1743AC794BB}"/>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Share £420 in the ratio 3:4.</a:t>
            </a:r>
          </a:p>
        </p:txBody>
      </p:sp>
      <p:sp>
        <p:nvSpPr>
          <p:cNvPr id="11" name="object-11">
            <a:extLst>
              <a:ext uri="{FF2B5EF4-FFF2-40B4-BE49-F238E27FC236}">
                <a16:creationId xmlns:a16="http://schemas.microsoft.com/office/drawing/2014/main" id="{9EAA19F4-A7CE-4291-916B-E4DFF4EE9351}"/>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D1B9BA2B-AD55-472A-9912-D0AD66CD7A11}"/>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map scale is 1 cm to 8 km. Two towns are 6.5 cm apart. Find the real distance.</a:t>
            </a:r>
          </a:p>
        </p:txBody>
      </p:sp>
      <p:sp>
        <p:nvSpPr>
          <p:cNvPr id="13" name="object-13">
            <a:extLst>
              <a:ext uri="{FF2B5EF4-FFF2-40B4-BE49-F238E27FC236}">
                <a16:creationId xmlns:a16="http://schemas.microsoft.com/office/drawing/2014/main" id="{028A1237-D8C2-43B0-BDEC-EC5AE87F4B57}"/>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A7A446CD-0788-493F-B00C-103E5D619EA8}"/>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In the ratio 4:7, the smaller part is 20. What is the larger part?</a:t>
            </a:r>
          </a:p>
        </p:txBody>
      </p:sp>
      <p:sp>
        <p:nvSpPr>
          <p:cNvPr id="15" name="object-15">
            <a:extLst>
              <a:ext uri="{FF2B5EF4-FFF2-40B4-BE49-F238E27FC236}">
                <a16:creationId xmlns:a16="http://schemas.microsoft.com/office/drawing/2014/main" id="{3E57F9C7-AA58-4653-B1DA-ED7AD4046FE2}"/>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54B1E92E-EDAD-415E-8272-F40364B3E499}"/>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Share £420 in the ratio 3:4.</a:t>
            </a:r>
          </a:p>
        </p:txBody>
      </p:sp>
      <p:sp>
        <p:nvSpPr>
          <p:cNvPr id="17" name="object-17">
            <a:extLst>
              <a:ext uri="{FF2B5EF4-FFF2-40B4-BE49-F238E27FC236}">
                <a16:creationId xmlns:a16="http://schemas.microsoft.com/office/drawing/2014/main" id="{640D01EE-FA62-4294-852E-E960A904206F}"/>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B123623E-AAE8-496B-BD7C-113B0A4D408F}"/>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A map scale is 1 cm to 8 km. Two towns are 6.5 cm apart. Find the real distance.</a:t>
            </a:r>
          </a:p>
        </p:txBody>
      </p:sp>
      <p:sp>
        <p:nvSpPr>
          <p:cNvPr id="19" name="object-19">
            <a:extLst>
              <a:ext uri="{FF2B5EF4-FFF2-40B4-BE49-F238E27FC236}">
                <a16:creationId xmlns:a16="http://schemas.microsoft.com/office/drawing/2014/main" id="{D896ED88-B711-4C15-BFD7-8A68F04CFD4B}"/>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B73AAA8F-5824-4D9A-B2BB-1DBB46E26495}"/>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A length of 7 cm is enlarged by scale factor 3.5. What is the new length?</a:t>
            </a:r>
          </a:p>
        </p:txBody>
      </p:sp>
      <p:sp>
        <p:nvSpPr>
          <p:cNvPr id="21" name="object-21">
            <a:extLst>
              <a:ext uri="{FF2B5EF4-FFF2-40B4-BE49-F238E27FC236}">
                <a16:creationId xmlns:a16="http://schemas.microsoft.com/office/drawing/2014/main" id="{0630FA0C-355E-4D6D-9FC3-1A2093E46401}"/>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6AF514D6-7229-495B-A98C-1DEF43DCFA86}"/>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uses the scale factor on only one corresponding quantity.</a:t>
            </a:r>
          </a:p>
        </p:txBody>
      </p:sp>
      <p:sp>
        <p:nvSpPr>
          <p:cNvPr id="23" name="object-23">
            <a:extLst>
              <a:ext uri="{FF2B5EF4-FFF2-40B4-BE49-F238E27FC236}">
                <a16:creationId xmlns:a16="http://schemas.microsoft.com/office/drawing/2014/main" id="{475536E3-A9FC-46C6-98A9-ABEFBAAF603C}"/>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E711A0BB-4C23-4B40-B356-724BD3D8E883}"/>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C3A0DE8B-D5EB-4B39-9E73-87642FBEB49C}"/>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8F3E0EEB-BBEF-4E57-960D-A016914D71B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A map scale is 1 cm to 8 km. Two towns are 6.5 cm apart. Find the real distance.</a:t>
            </a:r>
          </a:p>
        </p:txBody>
      </p:sp>
    </p:spTree>
    <p:extLst>
      <p:ext uri="{BB962C8B-B14F-4D97-AF65-F5344CB8AC3E}">
        <p14:creationId xmlns:p14="http://schemas.microsoft.com/office/powerpoint/2010/main" val="7262322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E77FEB60-D836-419E-ACD3-E80EBE89648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069D2EBA-A6CB-4A65-87A2-193547F79A5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69DF9F02-1620-473C-9152-D1FC034A384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B2C6010-39CA-4464-87E8-4190E0A7546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the value of one ratio part</a:t>
            </a:r>
          </a:p>
        </p:txBody>
      </p:sp>
      <p:sp>
        <p:nvSpPr>
          <p:cNvPr id="5" name="object-5">
            <a:extLst>
              <a:ext uri="{FF2B5EF4-FFF2-40B4-BE49-F238E27FC236}">
                <a16:creationId xmlns:a16="http://schemas.microsoft.com/office/drawing/2014/main" id="{6530ED2E-A2C6-4351-8943-DEFD424066F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47DAA49A-4D54-46EA-AA29-1A682FA3B08E}"/>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60E3FC16-18A0-4B56-94F3-D1DBBDEACF6F}"/>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35.</a:t>
            </a:r>
          </a:p>
        </p:txBody>
      </p:sp>
      <p:sp>
        <p:nvSpPr>
          <p:cNvPr id="8" name="object-8">
            <a:extLst>
              <a:ext uri="{FF2B5EF4-FFF2-40B4-BE49-F238E27FC236}">
                <a16:creationId xmlns:a16="http://schemas.microsoft.com/office/drawing/2014/main" id="{936CD5CD-01FD-4CF7-861F-C11EF1021679}"/>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1F828056-FC84-4010-BA4A-9C83DC40897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£180 and £240.</a:t>
            </a:r>
          </a:p>
        </p:txBody>
      </p:sp>
      <p:sp>
        <p:nvSpPr>
          <p:cNvPr id="10" name="object-10">
            <a:extLst>
              <a:ext uri="{FF2B5EF4-FFF2-40B4-BE49-F238E27FC236}">
                <a16:creationId xmlns:a16="http://schemas.microsoft.com/office/drawing/2014/main" id="{C0FD46EF-633C-4891-A765-7898A252DFA7}"/>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F3B5F28E-482B-42C6-8CB8-B58989B5C96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52 km.</a:t>
            </a:r>
          </a:p>
        </p:txBody>
      </p:sp>
      <p:sp>
        <p:nvSpPr>
          <p:cNvPr id="12" name="object-12">
            <a:extLst>
              <a:ext uri="{FF2B5EF4-FFF2-40B4-BE49-F238E27FC236}">
                <a16:creationId xmlns:a16="http://schemas.microsoft.com/office/drawing/2014/main" id="{54782FBC-D4A8-42A5-898E-C1ABE319BB53}"/>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B45F88C3-D49F-4B23-9D8A-D6123A1BEBBB}"/>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35.</a:t>
            </a:r>
          </a:p>
        </p:txBody>
      </p:sp>
      <p:sp>
        <p:nvSpPr>
          <p:cNvPr id="14" name="object-14">
            <a:extLst>
              <a:ext uri="{FF2B5EF4-FFF2-40B4-BE49-F238E27FC236}">
                <a16:creationId xmlns:a16="http://schemas.microsoft.com/office/drawing/2014/main" id="{6B644CDF-E00F-4735-8663-F7BACC66EBC6}"/>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F0955DB4-B5F7-4C20-B1D6-D846E7C0D7F6}"/>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£180 and £240. Method or representation may vary.</a:t>
            </a:r>
          </a:p>
        </p:txBody>
      </p:sp>
      <p:sp>
        <p:nvSpPr>
          <p:cNvPr id="16" name="object-16">
            <a:extLst>
              <a:ext uri="{FF2B5EF4-FFF2-40B4-BE49-F238E27FC236}">
                <a16:creationId xmlns:a16="http://schemas.microsoft.com/office/drawing/2014/main" id="{F54F615A-10EF-4EDE-9A81-11A76D9ADA7D}"/>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AE41C78F-89F2-415C-95A5-3E698BBA71FF}"/>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52 km. A valid check must be shown.</a:t>
            </a:r>
          </a:p>
        </p:txBody>
      </p:sp>
      <p:sp>
        <p:nvSpPr>
          <p:cNvPr id="18" name="object-18">
            <a:extLst>
              <a:ext uri="{FF2B5EF4-FFF2-40B4-BE49-F238E27FC236}">
                <a16:creationId xmlns:a16="http://schemas.microsoft.com/office/drawing/2014/main" id="{135EF6C2-5520-4675-8FBB-98AC2226D1B4}"/>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A1469303-3DAA-4B47-8688-0C895FA38A68}"/>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24.5 cm. The explanation must show why the method works.</a:t>
            </a:r>
          </a:p>
        </p:txBody>
      </p:sp>
      <p:sp>
        <p:nvSpPr>
          <p:cNvPr id="20" name="object-20">
            <a:extLst>
              <a:ext uri="{FF2B5EF4-FFF2-40B4-BE49-F238E27FC236}">
                <a16:creationId xmlns:a16="http://schemas.microsoft.com/office/drawing/2014/main" id="{D4D2556E-2EFB-401D-901C-D695C6131B27}"/>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8931C89B-0B3F-4C0B-9351-6225D7354995}"/>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Apply the same multiplicative relationship to every corresponding measure or ratio part.</a:t>
            </a:r>
          </a:p>
        </p:txBody>
      </p:sp>
      <p:sp>
        <p:nvSpPr>
          <p:cNvPr id="22" name="object-22">
            <a:extLst>
              <a:ext uri="{FF2B5EF4-FFF2-40B4-BE49-F238E27FC236}">
                <a16:creationId xmlns:a16="http://schemas.microsoft.com/office/drawing/2014/main" id="{848407AF-06D1-4E0C-8EDB-31E20D25F394}"/>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EE27321E-EE07-4B8D-AE3A-DEE2F9AAD9F1}"/>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94CCEEFD-9126-4F28-ADE3-18C88041615C}"/>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F87A6A67-EA0C-4BFF-AE10-3A512CC23A9E}"/>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72461458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972</Words>
  <Application>Microsoft Office PowerPoint</Application>
  <DocSecurity>0</DocSecurity>
  <PresentationFormat>Custom</PresentationFormat>
  <Paragraphs>98</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2026-09-14T13:14:31Z</dcterms:created>
  <dcterms:modified xsi:type="dcterms:W3CDTF">2026-09-14T13:16:44Z</dcterms:modified>
</cp:coreProperties>
</file>