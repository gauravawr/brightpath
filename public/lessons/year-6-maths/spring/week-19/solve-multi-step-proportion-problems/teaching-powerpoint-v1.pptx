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proportion problems. Solve multi-step proportion problems.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proportion problems. I do. Find the value for one first, then scale to the target.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proportion problems. You do. Pause before clicking. Let pupils try independently, then reveal and discuss every step. Find the value for one first, then scale to the target.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proportion problems. I do. Find the value for one first, then scale to the target.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proportion problems. You do. Pause before clicking. Let pupils try independently, then reveal and discuss every step. Find the value for one first, then scale to the target.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proportion problems.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proportion problems.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A18B9C33-DACF-4EFF-8865-4FA8B36398B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Solve multi-step proportion problems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C9ACC16-10F2-4EA8-86D3-C229077A1BFF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C4BF276-8F30-449D-98B1-026491253C0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6E2FDA7-B7A6-43F5-B178-9D05970781D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proportion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7842DF4-828B-491B-9CED-E89CA41CBC1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B74C581-14D3-481C-8E5D-EC6974F1D986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combine scale factors and unequal sharing in context.</a:t>
            </a:r>
          </a:p>
        </p:txBody>
      </p:sp>
    </p:spTree>
    <p:extLst>
      <p:ext uri="{BB962C8B-B14F-4D97-AF65-F5344CB8AC3E}">
        <p14:creationId xmlns:p14="http://schemas.microsoft.com/office/powerpoint/2010/main" val="1878405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5AC7CB30-395F-44E1-89ED-E2773B0DF20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B7D59D4C-B839-4D27-8EE2-449BA084D01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If 1 corresponds to 8 km, what corresponds to 6.5?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4DFCDD9-604B-43A6-A185-69402095620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D167C7D-0EA8-4B44-B048-877E057AA52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proportion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4353BD3-5E80-4B04-BF4F-5C6FB98F8B6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26417AE-48CE-4CF6-9BD0-EDB49B35674B}"/>
              </a:ext>
            </a:extLst>
          </p:cNvPr>
          <p:cNvSpPr>
            <a:spLocks noGrp="1"/>
          </p:cNvSpPr>
          <p:nvPr/>
        </p:nvSpPr>
        <p:spPr>
          <a:xfrm>
            <a:off x="2321719" y="3036094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D6477E1-2B04-41EF-8E41-5983695022E9}"/>
              </a:ext>
            </a:extLst>
          </p:cNvPr>
          <p:cNvSpPr>
            <a:spLocks noGrp="1"/>
          </p:cNvSpPr>
          <p:nvPr/>
        </p:nvSpPr>
        <p:spPr>
          <a:xfrm>
            <a:off x="6369844" y="3036094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1ADE25E-8089-4CC4-B258-B0EC21C29E3A}"/>
              </a:ext>
            </a:extLst>
          </p:cNvPr>
          <p:cNvSpPr>
            <a:spLocks noGrp="1"/>
          </p:cNvSpPr>
          <p:nvPr/>
        </p:nvSpPr>
        <p:spPr>
          <a:xfrm>
            <a:off x="8751094" y="3036094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 km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A0E6728-DFEB-46F5-B47E-E9B57D214C92}"/>
              </a:ext>
            </a:extLst>
          </p:cNvPr>
          <p:cNvSpPr>
            <a:spLocks noGrp="1"/>
          </p:cNvSpPr>
          <p:nvPr/>
        </p:nvSpPr>
        <p:spPr>
          <a:xfrm>
            <a:off x="2321719" y="4405313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B9B8D82-4A15-43EF-82E4-A84553C5C6BD}"/>
              </a:ext>
            </a:extLst>
          </p:cNvPr>
          <p:cNvSpPr>
            <a:spLocks noGrp="1"/>
          </p:cNvSpPr>
          <p:nvPr/>
        </p:nvSpPr>
        <p:spPr>
          <a:xfrm>
            <a:off x="6369844" y="4405313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C0D61FC-FA62-46C3-A961-F6776FFD3A97}"/>
              </a:ext>
            </a:extLst>
          </p:cNvPr>
          <p:cNvSpPr>
            <a:spLocks noGrp="1"/>
          </p:cNvSpPr>
          <p:nvPr/>
        </p:nvSpPr>
        <p:spPr>
          <a:xfrm>
            <a:off x="8751094" y="4405313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 km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9894D8D9-762F-4D66-8B2C-1BE4F7539F37}"/>
              </a:ext>
            </a:extLst>
          </p:cNvPr>
          <p:cNvSpPr>
            <a:spLocks noGrp="1"/>
          </p:cNvSpPr>
          <p:nvPr/>
        </p:nvSpPr>
        <p:spPr>
          <a:xfrm>
            <a:off x="2321719" y="5774531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6.5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3CA4D60-090F-49DF-BE50-B7D7F7880AF1}"/>
              </a:ext>
            </a:extLst>
          </p:cNvPr>
          <p:cNvSpPr>
            <a:spLocks noGrp="1"/>
          </p:cNvSpPr>
          <p:nvPr/>
        </p:nvSpPr>
        <p:spPr>
          <a:xfrm>
            <a:off x="6369844" y="5774531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D78B59BE-BFB7-407C-95FD-0742F99C1683}"/>
              </a:ext>
            </a:extLst>
          </p:cNvPr>
          <p:cNvSpPr>
            <a:spLocks noGrp="1"/>
          </p:cNvSpPr>
          <p:nvPr/>
        </p:nvSpPr>
        <p:spPr>
          <a:xfrm>
            <a:off x="8751094" y="5774531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52 km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4BFF1AF-36AB-4409-8424-FCC72627B99E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÷ 1, then × 6.5</a:t>
            </a:r>
          </a:p>
        </p:txBody>
      </p:sp>
    </p:spTree>
    <p:extLst>
      <p:ext uri="{BB962C8B-B14F-4D97-AF65-F5344CB8AC3E}">
        <p14:creationId xmlns:p14="http://schemas.microsoft.com/office/powerpoint/2010/main" val="132639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8A0C1297-DA12-41C8-843A-9C44603E1D0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07902B3-602C-4CAA-B200-9AC5D77F9687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AAF9619-2ACA-4193-993D-9CF2524AC79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If 1 corresponds to 8 km, what corresponds to 7.5?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FEAD1D6-5111-4B6A-8F25-A8E0C152BD2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D50A65D-0947-460C-9F0E-A76C9D90C13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proportion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C71F742-ABB7-40C4-852B-7B554D1FF21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F6A4E23-938B-4AE5-874C-398ECAF93000}"/>
              </a:ext>
            </a:extLst>
          </p:cNvPr>
          <p:cNvSpPr>
            <a:spLocks noGrp="1"/>
          </p:cNvSpPr>
          <p:nvPr/>
        </p:nvSpPr>
        <p:spPr>
          <a:xfrm>
            <a:off x="2321719" y="3036094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1C4A0B0-16D1-4BD1-9DD5-3B0EC21CB926}"/>
              </a:ext>
            </a:extLst>
          </p:cNvPr>
          <p:cNvSpPr>
            <a:spLocks noGrp="1"/>
          </p:cNvSpPr>
          <p:nvPr/>
        </p:nvSpPr>
        <p:spPr>
          <a:xfrm>
            <a:off x="6369844" y="3036094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D06AFC2-B932-41A5-888A-B74EFF7DBE70}"/>
              </a:ext>
            </a:extLst>
          </p:cNvPr>
          <p:cNvSpPr>
            <a:spLocks noGrp="1"/>
          </p:cNvSpPr>
          <p:nvPr/>
        </p:nvSpPr>
        <p:spPr>
          <a:xfrm>
            <a:off x="8751094" y="3036094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 km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9D8C7EC-08CB-4655-B6B9-D6E7F4806AC9}"/>
              </a:ext>
            </a:extLst>
          </p:cNvPr>
          <p:cNvSpPr>
            <a:spLocks noGrp="1"/>
          </p:cNvSpPr>
          <p:nvPr/>
        </p:nvSpPr>
        <p:spPr>
          <a:xfrm>
            <a:off x="2321719" y="4405313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3ABBA57-1B10-4983-87E7-1300BA0656FE}"/>
              </a:ext>
            </a:extLst>
          </p:cNvPr>
          <p:cNvSpPr>
            <a:spLocks noGrp="1"/>
          </p:cNvSpPr>
          <p:nvPr/>
        </p:nvSpPr>
        <p:spPr>
          <a:xfrm>
            <a:off x="6369844" y="4405313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1F51BF5-C56C-46F7-9B05-6961FDBC9763}"/>
              </a:ext>
            </a:extLst>
          </p:cNvPr>
          <p:cNvSpPr>
            <a:spLocks noGrp="1"/>
          </p:cNvSpPr>
          <p:nvPr/>
        </p:nvSpPr>
        <p:spPr>
          <a:xfrm>
            <a:off x="8751094" y="4405313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 km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B8CE46C-A6F5-4A92-A166-50E8D7371A08}"/>
              </a:ext>
            </a:extLst>
          </p:cNvPr>
          <p:cNvSpPr>
            <a:spLocks noGrp="1"/>
          </p:cNvSpPr>
          <p:nvPr/>
        </p:nvSpPr>
        <p:spPr>
          <a:xfrm>
            <a:off x="2321719" y="5774531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90558D9-5CE7-4597-AC73-A409221A1813}"/>
              </a:ext>
            </a:extLst>
          </p:cNvPr>
          <p:cNvSpPr>
            <a:spLocks noGrp="1"/>
          </p:cNvSpPr>
          <p:nvPr/>
        </p:nvSpPr>
        <p:spPr>
          <a:xfrm>
            <a:off x="6369844" y="5774531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3C15DC8-03F4-466B-8BA0-ADBBF5103FC5}"/>
              </a:ext>
            </a:extLst>
          </p:cNvPr>
          <p:cNvSpPr>
            <a:spLocks noGrp="1"/>
          </p:cNvSpPr>
          <p:nvPr/>
        </p:nvSpPr>
        <p:spPr>
          <a:xfrm>
            <a:off x="8751094" y="5774531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60 km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AA49956-5776-4C60-9C09-FABA674434FA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÷ 1, then × 7.5</a:t>
            </a:r>
          </a:p>
        </p:txBody>
      </p:sp>
    </p:spTree>
    <p:extLst>
      <p:ext uri="{BB962C8B-B14F-4D97-AF65-F5344CB8AC3E}">
        <p14:creationId xmlns:p14="http://schemas.microsoft.com/office/powerpoint/2010/main" val="1212131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DBD14DAA-8EA4-49C2-ADB0-A4FD2BA972F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D024F32-CEA8-4DF4-AD9E-06B143B1EA1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If 1 corresponds to 8 km, what corresponds to 8.5?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7BBC672-D13A-40FB-88A2-F523CD2B303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73AC89E-868A-4DBF-B601-92F071E24E6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proportion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D257F723-C288-4582-896E-57E71599B88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A337591-E108-4C68-8C4C-76BCAB180803}"/>
              </a:ext>
            </a:extLst>
          </p:cNvPr>
          <p:cNvSpPr>
            <a:spLocks noGrp="1"/>
          </p:cNvSpPr>
          <p:nvPr/>
        </p:nvSpPr>
        <p:spPr>
          <a:xfrm>
            <a:off x="2321719" y="3036094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47D6A1E-07AB-4064-A836-BCA0B9FB6933}"/>
              </a:ext>
            </a:extLst>
          </p:cNvPr>
          <p:cNvSpPr>
            <a:spLocks noGrp="1"/>
          </p:cNvSpPr>
          <p:nvPr/>
        </p:nvSpPr>
        <p:spPr>
          <a:xfrm>
            <a:off x="6369844" y="3036094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91EC8F4-B03A-4694-BDD4-9AA0EC783E01}"/>
              </a:ext>
            </a:extLst>
          </p:cNvPr>
          <p:cNvSpPr>
            <a:spLocks noGrp="1"/>
          </p:cNvSpPr>
          <p:nvPr/>
        </p:nvSpPr>
        <p:spPr>
          <a:xfrm>
            <a:off x="8751094" y="3036094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 km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E68E2F5-A952-4C14-A653-BD8D850878E2}"/>
              </a:ext>
            </a:extLst>
          </p:cNvPr>
          <p:cNvSpPr>
            <a:spLocks noGrp="1"/>
          </p:cNvSpPr>
          <p:nvPr/>
        </p:nvSpPr>
        <p:spPr>
          <a:xfrm>
            <a:off x="2321719" y="4405313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48E60D0-11B1-4D91-980D-141213CDD580}"/>
              </a:ext>
            </a:extLst>
          </p:cNvPr>
          <p:cNvSpPr>
            <a:spLocks noGrp="1"/>
          </p:cNvSpPr>
          <p:nvPr/>
        </p:nvSpPr>
        <p:spPr>
          <a:xfrm>
            <a:off x="6369844" y="4405313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9D7E589-0FB7-4003-8520-1A549EA249B3}"/>
              </a:ext>
            </a:extLst>
          </p:cNvPr>
          <p:cNvSpPr>
            <a:spLocks noGrp="1"/>
          </p:cNvSpPr>
          <p:nvPr/>
        </p:nvSpPr>
        <p:spPr>
          <a:xfrm>
            <a:off x="8751094" y="4405313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 km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B7E2A34-EB71-48F8-BA2E-04E12D2B8BC2}"/>
              </a:ext>
            </a:extLst>
          </p:cNvPr>
          <p:cNvSpPr>
            <a:spLocks noGrp="1"/>
          </p:cNvSpPr>
          <p:nvPr/>
        </p:nvSpPr>
        <p:spPr>
          <a:xfrm>
            <a:off x="2321719" y="5774531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8.5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D990D8C-5819-4B69-A9F8-C0815C1F56D1}"/>
              </a:ext>
            </a:extLst>
          </p:cNvPr>
          <p:cNvSpPr>
            <a:spLocks noGrp="1"/>
          </p:cNvSpPr>
          <p:nvPr/>
        </p:nvSpPr>
        <p:spPr>
          <a:xfrm>
            <a:off x="6369844" y="5774531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EBE3FA9-82CF-4F5F-8D44-4CE3F792DAFF}"/>
              </a:ext>
            </a:extLst>
          </p:cNvPr>
          <p:cNvSpPr>
            <a:spLocks noGrp="1"/>
          </p:cNvSpPr>
          <p:nvPr/>
        </p:nvSpPr>
        <p:spPr>
          <a:xfrm>
            <a:off x="8751094" y="5774531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68 km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40748782-6BEA-4709-A35E-237E2B6D3609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÷ 1, then × 8.5</a:t>
            </a:r>
          </a:p>
        </p:txBody>
      </p:sp>
    </p:spTree>
    <p:extLst>
      <p:ext uri="{BB962C8B-B14F-4D97-AF65-F5344CB8AC3E}">
        <p14:creationId xmlns:p14="http://schemas.microsoft.com/office/powerpoint/2010/main" val="191554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03229CAF-4353-4BCB-9A36-772B589B025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37734F9-64F9-46D6-B475-FFCB05DB2BE3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494271E-BDB9-403D-8229-1A2F7C52D00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If 1 corresponds to 8 km, what corresponds to 9.5?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E1AB019-B294-49E2-BD7B-82D08478D02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284BF52-6332-484A-8F02-0EAC8CB653B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proportion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C073367-930D-4C3F-A611-D634E231DB9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7C121EA-7110-4F5A-95D7-720FA779FA88}"/>
              </a:ext>
            </a:extLst>
          </p:cNvPr>
          <p:cNvSpPr>
            <a:spLocks noGrp="1"/>
          </p:cNvSpPr>
          <p:nvPr/>
        </p:nvSpPr>
        <p:spPr>
          <a:xfrm>
            <a:off x="2321719" y="3036094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5E00E0B-8586-45C4-AB66-6747EAE851DA}"/>
              </a:ext>
            </a:extLst>
          </p:cNvPr>
          <p:cNvSpPr>
            <a:spLocks noGrp="1"/>
          </p:cNvSpPr>
          <p:nvPr/>
        </p:nvSpPr>
        <p:spPr>
          <a:xfrm>
            <a:off x="6369844" y="3036094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8563673-004E-423A-92C6-9135DF000DEB}"/>
              </a:ext>
            </a:extLst>
          </p:cNvPr>
          <p:cNvSpPr>
            <a:spLocks noGrp="1"/>
          </p:cNvSpPr>
          <p:nvPr/>
        </p:nvSpPr>
        <p:spPr>
          <a:xfrm>
            <a:off x="8751094" y="3036094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 km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F35F925-2AFE-445A-BBB0-91A0D66B8177}"/>
              </a:ext>
            </a:extLst>
          </p:cNvPr>
          <p:cNvSpPr>
            <a:spLocks noGrp="1"/>
          </p:cNvSpPr>
          <p:nvPr/>
        </p:nvSpPr>
        <p:spPr>
          <a:xfrm>
            <a:off x="2321719" y="4405313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F4742B0-C1BB-4ED9-B42B-0D13ACDDCB49}"/>
              </a:ext>
            </a:extLst>
          </p:cNvPr>
          <p:cNvSpPr>
            <a:spLocks noGrp="1"/>
          </p:cNvSpPr>
          <p:nvPr/>
        </p:nvSpPr>
        <p:spPr>
          <a:xfrm>
            <a:off x="6369844" y="4405313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0775DA5-13FC-41BE-8A62-D5BA8F85E333}"/>
              </a:ext>
            </a:extLst>
          </p:cNvPr>
          <p:cNvSpPr>
            <a:spLocks noGrp="1"/>
          </p:cNvSpPr>
          <p:nvPr/>
        </p:nvSpPr>
        <p:spPr>
          <a:xfrm>
            <a:off x="8751094" y="4405313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 km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CB61215-8ADD-46E4-9001-D97831B25680}"/>
              </a:ext>
            </a:extLst>
          </p:cNvPr>
          <p:cNvSpPr>
            <a:spLocks noGrp="1"/>
          </p:cNvSpPr>
          <p:nvPr/>
        </p:nvSpPr>
        <p:spPr>
          <a:xfrm>
            <a:off x="2321719" y="5774531"/>
            <a:ext cx="2738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406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406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9238666-5C5D-426E-B008-D5A194680881}"/>
              </a:ext>
            </a:extLst>
          </p:cNvPr>
          <p:cNvSpPr>
            <a:spLocks noGrp="1"/>
          </p:cNvSpPr>
          <p:nvPr/>
        </p:nvSpPr>
        <p:spPr>
          <a:xfrm>
            <a:off x="6369844" y="5774531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863478B-ED8D-4FA3-A047-BAD2FE9D1753}"/>
              </a:ext>
            </a:extLst>
          </p:cNvPr>
          <p:cNvSpPr>
            <a:spLocks noGrp="1"/>
          </p:cNvSpPr>
          <p:nvPr/>
        </p:nvSpPr>
        <p:spPr>
          <a:xfrm>
            <a:off x="8751094" y="5774531"/>
            <a:ext cx="488156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76 km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38D0F563-377F-4A05-B7EE-DA60440923A6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÷ 1, then × 9.5</a:t>
            </a:r>
          </a:p>
        </p:txBody>
      </p:sp>
    </p:spTree>
    <p:extLst>
      <p:ext uri="{BB962C8B-B14F-4D97-AF65-F5344CB8AC3E}">
        <p14:creationId xmlns:p14="http://schemas.microsoft.com/office/powerpoint/2010/main" val="1329177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27063708-0D7B-4C1C-945A-26827C491C7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D9DE461-3C16-4855-8F4A-ED675571FBCE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B789399-0D71-4C20-8252-97C81EDB51F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3B98CB1-8959-420E-9735-E77650AF1E4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784FD68-0AB1-4412-96C7-366E6481BDA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proportion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EC7DF36-83C3-48F8-9EB2-11607E570E3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4833F8C-0348-42EF-BD53-DD87FF849F07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FB379D7-927A-4022-B033-C770FA37B380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map scale is 1 cm to 8 km. Two towns are 6.5 cm apart. Find the real distance.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60674FA-C962-4904-9AFE-9B8B3C13EE40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E388811-90F5-4680-B917-BBD137BDE5C9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length of 7 cm is enlarged by scale factor 3.5. What is the new length?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2F4DD35-E898-4775-9A1C-537FA7D3AD4D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F1DE873-9DF7-4772-9241-5461A1821EC5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recipe for 6 uses 450 g flour. How much flour is needed for 14?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9ABC3258-470E-4488-A204-B0804EE2D22A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25ABD82-FD21-4E64-A052-A57A35295AE8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A map scale is 1 cm to 8 km. Two towns are 6.5 cm apart. Find the real distance.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EFBA8B8-D5C3-4099-9DB5-F749CFEAE3BF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2650AE5-3CF4-439C-BDAA-D911DEC926D0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A length of 7 cm is enlarged by scale factor 3.5. What is the new length?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EEA4065-E3E9-4447-9A12-E8FE0EA3286C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E0CEB6CE-BF59-4D6C-8000-86F103A8E263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A recipe for 6 uses 450 g flour. How much flour is needed for 14?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417E647-D9E7-4776-8433-52D71B4B87BC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ED6D3A2-0062-45F0-BFCD-03E19CECDEAE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In the ratio 4:7, the smaller part is 20. What is the larger part?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8232855-F51A-45D1-B51C-3AD96EF68A74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9BFDBF71-1A05-4F33-B522-82101C1147E7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uses the scale factor on only one corresponding quantity.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A8C618FC-8F19-4971-AB08-3F1ECFC49FD1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46E39DF5-E799-4605-9154-06E6968F4236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1A736300-CA34-4A23-8A55-C71EC35DAC8F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91415CBC-98E2-431D-8996-3D659B003EBD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A recipe for 6 uses 450 g flour. How much flour is needed for 14?</a:t>
            </a:r>
          </a:p>
        </p:txBody>
      </p:sp>
    </p:spTree>
    <p:extLst>
      <p:ext uri="{BB962C8B-B14F-4D97-AF65-F5344CB8AC3E}">
        <p14:creationId xmlns:p14="http://schemas.microsoft.com/office/powerpoint/2010/main" val="824464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6662DAF1-B61B-4851-BFCF-FE039BC775D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8C232D0-8836-4982-848F-3FE19F1B453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D8100D9-0CF9-4109-89C6-25263FF1B97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84A2E55-AD25-4173-810E-139714A1585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proportion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F8195FD-AEBF-4AA1-B4B2-4DD396CB212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B5A6F52-0FFD-4746-9DBF-B18D5DA062A9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0136187-F293-4568-B104-097E14C212EC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52 km.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D81C978-EB92-478C-B5C3-9822547752F3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C1FEE19-1038-42D0-800C-2AE82D12A2C5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24.5 cm.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771C215A-EACF-45B9-B88E-610DA31A5F06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955AA24-3599-4519-8F1F-9284C328CDF0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1,050 g.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0F105D5-91FF-4B64-9AC3-A323871670E7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BC129A3-0126-45B4-AFD4-62F637170225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52 km.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CCA7783-DECE-4365-A859-FE85F98FBD55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494375DC-CAFA-4ED8-8C64-7B9382C1EF9D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24.5 cm.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F2128166-D9C4-488A-A0BC-85D7F804437D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9D17BEAC-277C-4EE0-99B6-7AE99A465CCA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1,050 g.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94311FE2-F69C-4CCC-8A37-AC42D5A35C41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D2BE8042-6BBB-48CF-909B-65E6B1CA408C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35.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79F59CC-6F2D-49B0-900F-9A458322519B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795ED7D7-22F2-45B6-B7FC-08E3C7B68069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Apply the same multiplicative relationship to every corresponding measure or ratio part.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D16681C-05F4-47E8-9D9E-63E68E01C3E4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8637A61-59DC-4C71-865D-623BE94EA76C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D9B9C8E7-FC89-48FB-B79A-FEA420BC3F49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9EE0CC26-4885-4052-9ACE-E8D6863B0149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2156610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990</Words>
  <Application>Microsoft Office PowerPoint</Application>
  <DocSecurity>0</DocSecurity>
  <PresentationFormat>Custom</PresentationFormat>
  <Paragraphs>126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2026-09-14T13:14:32Z</dcterms:created>
  <dcterms:modified xsi:type="dcterms:W3CDTF">2026-09-14T13:16:46Z</dcterms:modified>
</cp:coreProperties>
</file>