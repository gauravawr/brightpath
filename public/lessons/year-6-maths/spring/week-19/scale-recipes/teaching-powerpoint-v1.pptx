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Scale recipes. Scale recipes.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Scale recipes. I do. Find the value for one first, then scale to the target.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Scale recipes. You do. Pause before clicking. Let pupils try independently, then reveal and discuss every step. Find the value for one first, then scale to the target.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Scale recipes. I do. Find the value for one first, then scale to the target.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Scale recipes. You do. Pause before clicking. Let pupils try independently, then reveal and discuss every step. Find the value for one first, then scale to the target.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Scale recipes.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Scale recipes.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0560546F-C65A-493E-B74B-858A3EE33B7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Scale recipes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D39089A-3B76-4DC9-B3F9-1B282B4C27F5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EBBB39E-1108-40B5-86CC-5467815541A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60EDF70-01C9-46A6-ABD9-43B629EB6E1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Scale recipes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ABCF9E7-F744-43FF-8E75-28A5E0EE4BB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D7131B7-D6DC-4506-A351-B1FAED8F026D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solve recipe problems using direct proportion.</a:t>
            </a:r>
          </a:p>
        </p:txBody>
      </p:sp>
    </p:spTree>
    <p:extLst>
      <p:ext uri="{BB962C8B-B14F-4D97-AF65-F5344CB8AC3E}">
        <p14:creationId xmlns:p14="http://schemas.microsoft.com/office/powerpoint/2010/main" val="194473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D40B2D32-4AD6-48EA-8948-41E35F4F158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75DEC49-84F1-4E61-8587-E24944616C3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If 6 corresponds to 450 g, what corresponds to 14?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4310EC5-90BE-4331-95F7-EA6CF74B90A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A730887-8BEA-4DED-B38A-28D44F6B4B3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Scale recipes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5E90D12-3C87-4289-B18C-204745DBA91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F685636-4A31-4088-9CF1-4175F59AE92B}"/>
              </a:ext>
            </a:extLst>
          </p:cNvPr>
          <p:cNvSpPr>
            <a:spLocks noGrp="1"/>
          </p:cNvSpPr>
          <p:nvPr/>
        </p:nvSpPr>
        <p:spPr>
          <a:xfrm>
            <a:off x="2321719" y="3036094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092B721-3EB6-4F94-8B90-3E4AEF1069CF}"/>
              </a:ext>
            </a:extLst>
          </p:cNvPr>
          <p:cNvSpPr>
            <a:spLocks noGrp="1"/>
          </p:cNvSpPr>
          <p:nvPr/>
        </p:nvSpPr>
        <p:spPr>
          <a:xfrm>
            <a:off x="6369844" y="3036094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56ADE4A-A7E7-4E4D-882B-72E93C2E1406}"/>
              </a:ext>
            </a:extLst>
          </p:cNvPr>
          <p:cNvSpPr>
            <a:spLocks noGrp="1"/>
          </p:cNvSpPr>
          <p:nvPr/>
        </p:nvSpPr>
        <p:spPr>
          <a:xfrm>
            <a:off x="8751094" y="3036094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450 g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248DB39-C6BA-4442-A5B6-82B1DF743C3A}"/>
              </a:ext>
            </a:extLst>
          </p:cNvPr>
          <p:cNvSpPr>
            <a:spLocks noGrp="1"/>
          </p:cNvSpPr>
          <p:nvPr/>
        </p:nvSpPr>
        <p:spPr>
          <a:xfrm>
            <a:off x="2321719" y="4405313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AC80A49-AE70-49B5-9219-1D0FA635E2B2}"/>
              </a:ext>
            </a:extLst>
          </p:cNvPr>
          <p:cNvSpPr>
            <a:spLocks noGrp="1"/>
          </p:cNvSpPr>
          <p:nvPr/>
        </p:nvSpPr>
        <p:spPr>
          <a:xfrm>
            <a:off x="6369844" y="4405313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2477CEB-CAFB-48B8-BD84-CBE7941AC419}"/>
              </a:ext>
            </a:extLst>
          </p:cNvPr>
          <p:cNvSpPr>
            <a:spLocks noGrp="1"/>
          </p:cNvSpPr>
          <p:nvPr/>
        </p:nvSpPr>
        <p:spPr>
          <a:xfrm>
            <a:off x="8751094" y="4405313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75 g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BD234D0-9AD5-4C77-9836-CD02A4407D67}"/>
              </a:ext>
            </a:extLst>
          </p:cNvPr>
          <p:cNvSpPr>
            <a:spLocks noGrp="1"/>
          </p:cNvSpPr>
          <p:nvPr/>
        </p:nvSpPr>
        <p:spPr>
          <a:xfrm>
            <a:off x="2321719" y="5774531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0CE8F6EE-6F65-458F-900B-725B7BD50C75}"/>
              </a:ext>
            </a:extLst>
          </p:cNvPr>
          <p:cNvSpPr>
            <a:spLocks noGrp="1"/>
          </p:cNvSpPr>
          <p:nvPr/>
        </p:nvSpPr>
        <p:spPr>
          <a:xfrm>
            <a:off x="6369844" y="5774531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4A907D0-4AAA-4726-9C28-39A93914FC3B}"/>
              </a:ext>
            </a:extLst>
          </p:cNvPr>
          <p:cNvSpPr>
            <a:spLocks noGrp="1"/>
          </p:cNvSpPr>
          <p:nvPr/>
        </p:nvSpPr>
        <p:spPr>
          <a:xfrm>
            <a:off x="8751094" y="5774531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1,050 g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91B403C-F84B-4785-AD9A-7E4FC5B8992A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÷ 6, then × 14</a:t>
            </a:r>
          </a:p>
        </p:txBody>
      </p:sp>
    </p:spTree>
    <p:extLst>
      <p:ext uri="{BB962C8B-B14F-4D97-AF65-F5344CB8AC3E}">
        <p14:creationId xmlns:p14="http://schemas.microsoft.com/office/powerpoint/2010/main" val="178610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84BEDF71-718F-411F-94E7-0EB2824C783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584786E-9F53-4364-84B9-76CF694C4D9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EB02E61-F0E2-4B13-908F-682C6510ECF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If 6 corresponds to 450 g, what corresponds to 20?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140F5C8-C7C0-4F53-AFB3-DB6B2303526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E46CEF8-9392-4FA8-827D-A9B14AC3292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Scale recipes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E216E4C-B4DA-418E-8BB5-285EAD0526F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EB33AFE-1E23-4159-8040-90925A3B343F}"/>
              </a:ext>
            </a:extLst>
          </p:cNvPr>
          <p:cNvSpPr>
            <a:spLocks noGrp="1"/>
          </p:cNvSpPr>
          <p:nvPr/>
        </p:nvSpPr>
        <p:spPr>
          <a:xfrm>
            <a:off x="2321719" y="3036094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0A6D4E4-8B65-44B0-9F28-D3E28789AB13}"/>
              </a:ext>
            </a:extLst>
          </p:cNvPr>
          <p:cNvSpPr>
            <a:spLocks noGrp="1"/>
          </p:cNvSpPr>
          <p:nvPr/>
        </p:nvSpPr>
        <p:spPr>
          <a:xfrm>
            <a:off x="6369844" y="3036094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4E289EC-0361-4B59-856E-9E09D420AC76}"/>
              </a:ext>
            </a:extLst>
          </p:cNvPr>
          <p:cNvSpPr>
            <a:spLocks noGrp="1"/>
          </p:cNvSpPr>
          <p:nvPr/>
        </p:nvSpPr>
        <p:spPr>
          <a:xfrm>
            <a:off x="8751094" y="3036094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450 g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4425041-43E7-4C42-B359-D91DEB607618}"/>
              </a:ext>
            </a:extLst>
          </p:cNvPr>
          <p:cNvSpPr>
            <a:spLocks noGrp="1"/>
          </p:cNvSpPr>
          <p:nvPr/>
        </p:nvSpPr>
        <p:spPr>
          <a:xfrm>
            <a:off x="2321719" y="4405313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D7AAC20-3351-42E1-9297-47973ED46FF7}"/>
              </a:ext>
            </a:extLst>
          </p:cNvPr>
          <p:cNvSpPr>
            <a:spLocks noGrp="1"/>
          </p:cNvSpPr>
          <p:nvPr/>
        </p:nvSpPr>
        <p:spPr>
          <a:xfrm>
            <a:off x="6369844" y="4405313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C5C98F4-7221-48C9-8A85-3C731515FD62}"/>
              </a:ext>
            </a:extLst>
          </p:cNvPr>
          <p:cNvSpPr>
            <a:spLocks noGrp="1"/>
          </p:cNvSpPr>
          <p:nvPr/>
        </p:nvSpPr>
        <p:spPr>
          <a:xfrm>
            <a:off x="8751094" y="4405313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75 g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D9AA870-F701-444C-BB9B-EA9ACC6DA1AC}"/>
              </a:ext>
            </a:extLst>
          </p:cNvPr>
          <p:cNvSpPr>
            <a:spLocks noGrp="1"/>
          </p:cNvSpPr>
          <p:nvPr/>
        </p:nvSpPr>
        <p:spPr>
          <a:xfrm>
            <a:off x="2321719" y="5774531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EBD1EF1-8B3E-4527-8D40-43C7E16FDBC4}"/>
              </a:ext>
            </a:extLst>
          </p:cNvPr>
          <p:cNvSpPr>
            <a:spLocks noGrp="1"/>
          </p:cNvSpPr>
          <p:nvPr/>
        </p:nvSpPr>
        <p:spPr>
          <a:xfrm>
            <a:off x="6369844" y="5774531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237FA09-B3DF-4420-91ED-6F03ADDBE67F}"/>
              </a:ext>
            </a:extLst>
          </p:cNvPr>
          <p:cNvSpPr>
            <a:spLocks noGrp="1"/>
          </p:cNvSpPr>
          <p:nvPr/>
        </p:nvSpPr>
        <p:spPr>
          <a:xfrm>
            <a:off x="8751094" y="5774531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1,500 g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EADA089-BD05-45DC-AB69-6AB5E997A04C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÷ 6, then × 20</a:t>
            </a:r>
          </a:p>
        </p:txBody>
      </p:sp>
    </p:spTree>
    <p:extLst>
      <p:ext uri="{BB962C8B-B14F-4D97-AF65-F5344CB8AC3E}">
        <p14:creationId xmlns:p14="http://schemas.microsoft.com/office/powerpoint/2010/main" val="26951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29B7F151-7E73-44CC-8247-09619B1D979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53C61B0-BC1B-4399-A00A-DAC42ADBDA3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If 6 corresponds to 450 g, what corresponds to 26?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D488B0E-B7DA-4AF8-BD83-85A64D7A56D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DA057F7-6AB7-4A0A-AEB6-188B76A6148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Scale recipes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47A3263-63EC-4E02-B360-C12C5C89CC6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D52E7C8-A4E1-419B-84BE-CE18CEFAC90F}"/>
              </a:ext>
            </a:extLst>
          </p:cNvPr>
          <p:cNvSpPr>
            <a:spLocks noGrp="1"/>
          </p:cNvSpPr>
          <p:nvPr/>
        </p:nvSpPr>
        <p:spPr>
          <a:xfrm>
            <a:off x="2321719" y="3036094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F5EB9D0-85D0-48BA-8FAF-3B537F86AF56}"/>
              </a:ext>
            </a:extLst>
          </p:cNvPr>
          <p:cNvSpPr>
            <a:spLocks noGrp="1"/>
          </p:cNvSpPr>
          <p:nvPr/>
        </p:nvSpPr>
        <p:spPr>
          <a:xfrm>
            <a:off x="6369844" y="3036094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A0DFC91-68CE-4973-82DE-6E4EC69C3007}"/>
              </a:ext>
            </a:extLst>
          </p:cNvPr>
          <p:cNvSpPr>
            <a:spLocks noGrp="1"/>
          </p:cNvSpPr>
          <p:nvPr/>
        </p:nvSpPr>
        <p:spPr>
          <a:xfrm>
            <a:off x="8751094" y="3036094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450 g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8C3E200-C2BF-455E-8806-E65369215A2F}"/>
              </a:ext>
            </a:extLst>
          </p:cNvPr>
          <p:cNvSpPr>
            <a:spLocks noGrp="1"/>
          </p:cNvSpPr>
          <p:nvPr/>
        </p:nvSpPr>
        <p:spPr>
          <a:xfrm>
            <a:off x="2321719" y="4405313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4799D9C-E30B-40F0-A0E7-59BBB85A5186}"/>
              </a:ext>
            </a:extLst>
          </p:cNvPr>
          <p:cNvSpPr>
            <a:spLocks noGrp="1"/>
          </p:cNvSpPr>
          <p:nvPr/>
        </p:nvSpPr>
        <p:spPr>
          <a:xfrm>
            <a:off x="6369844" y="4405313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30C289D-01B0-4042-A6DB-0868D82EE829}"/>
              </a:ext>
            </a:extLst>
          </p:cNvPr>
          <p:cNvSpPr>
            <a:spLocks noGrp="1"/>
          </p:cNvSpPr>
          <p:nvPr/>
        </p:nvSpPr>
        <p:spPr>
          <a:xfrm>
            <a:off x="8751094" y="4405313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75 g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A6E0519-DF4A-478F-9985-890CB1E42D8B}"/>
              </a:ext>
            </a:extLst>
          </p:cNvPr>
          <p:cNvSpPr>
            <a:spLocks noGrp="1"/>
          </p:cNvSpPr>
          <p:nvPr/>
        </p:nvSpPr>
        <p:spPr>
          <a:xfrm>
            <a:off x="2321719" y="5774531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147B092-9F5F-4A13-B294-848FE43328A3}"/>
              </a:ext>
            </a:extLst>
          </p:cNvPr>
          <p:cNvSpPr>
            <a:spLocks noGrp="1"/>
          </p:cNvSpPr>
          <p:nvPr/>
        </p:nvSpPr>
        <p:spPr>
          <a:xfrm>
            <a:off x="6369844" y="5774531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CA0A68E-D8A7-4718-991D-0AF2F781BF8B}"/>
              </a:ext>
            </a:extLst>
          </p:cNvPr>
          <p:cNvSpPr>
            <a:spLocks noGrp="1"/>
          </p:cNvSpPr>
          <p:nvPr/>
        </p:nvSpPr>
        <p:spPr>
          <a:xfrm>
            <a:off x="8751094" y="5774531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1,950 g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3ABC944-37C8-4B73-B046-C0E0052E89AE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÷ 6, then × 26</a:t>
            </a:r>
          </a:p>
        </p:txBody>
      </p:sp>
    </p:spTree>
    <p:extLst>
      <p:ext uri="{BB962C8B-B14F-4D97-AF65-F5344CB8AC3E}">
        <p14:creationId xmlns:p14="http://schemas.microsoft.com/office/powerpoint/2010/main" val="149689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6E3FC47A-715B-4B5B-87BD-50F12CD990B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92E1244-2F53-4AF2-A825-41A3883748C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559BBB8-0C08-445A-9589-20884AB5773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If 6 corresponds to 450 g, what corresponds to 32?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225778C-7EB0-4371-A58E-8F45B1DE432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F4D6BA3-A7CD-4C4C-BB97-369837E2FE6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Scale recipes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57D0FE4-8EF4-4757-A68A-26AADC96415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A3C26D9-4324-4C6B-A3CA-4BC5D99D4057}"/>
              </a:ext>
            </a:extLst>
          </p:cNvPr>
          <p:cNvSpPr>
            <a:spLocks noGrp="1"/>
          </p:cNvSpPr>
          <p:nvPr/>
        </p:nvSpPr>
        <p:spPr>
          <a:xfrm>
            <a:off x="2321719" y="3036094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7040C4C-72DA-41D3-9962-899D9AC330FD}"/>
              </a:ext>
            </a:extLst>
          </p:cNvPr>
          <p:cNvSpPr>
            <a:spLocks noGrp="1"/>
          </p:cNvSpPr>
          <p:nvPr/>
        </p:nvSpPr>
        <p:spPr>
          <a:xfrm>
            <a:off x="6369844" y="3036094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1420454-D9C1-440B-8E34-B90EE134782F}"/>
              </a:ext>
            </a:extLst>
          </p:cNvPr>
          <p:cNvSpPr>
            <a:spLocks noGrp="1"/>
          </p:cNvSpPr>
          <p:nvPr/>
        </p:nvSpPr>
        <p:spPr>
          <a:xfrm>
            <a:off x="8751094" y="3036094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450 g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C10E93C-7C22-4A37-B03D-4F65EA6925EF}"/>
              </a:ext>
            </a:extLst>
          </p:cNvPr>
          <p:cNvSpPr>
            <a:spLocks noGrp="1"/>
          </p:cNvSpPr>
          <p:nvPr/>
        </p:nvSpPr>
        <p:spPr>
          <a:xfrm>
            <a:off x="2321719" y="4405313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FE28096-ED69-475C-B029-6B0FC895D26D}"/>
              </a:ext>
            </a:extLst>
          </p:cNvPr>
          <p:cNvSpPr>
            <a:spLocks noGrp="1"/>
          </p:cNvSpPr>
          <p:nvPr/>
        </p:nvSpPr>
        <p:spPr>
          <a:xfrm>
            <a:off x="6369844" y="4405313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D8369CC-A953-4AC7-B5F7-870A04502EFF}"/>
              </a:ext>
            </a:extLst>
          </p:cNvPr>
          <p:cNvSpPr>
            <a:spLocks noGrp="1"/>
          </p:cNvSpPr>
          <p:nvPr/>
        </p:nvSpPr>
        <p:spPr>
          <a:xfrm>
            <a:off x="8751094" y="4405313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75 g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77A4A71-DAE3-44BB-BED0-1928552B9C9A}"/>
              </a:ext>
            </a:extLst>
          </p:cNvPr>
          <p:cNvSpPr>
            <a:spLocks noGrp="1"/>
          </p:cNvSpPr>
          <p:nvPr/>
        </p:nvSpPr>
        <p:spPr>
          <a:xfrm>
            <a:off x="2321719" y="5774531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F9A361E-B8D8-4C17-9535-E1402D11A4D6}"/>
              </a:ext>
            </a:extLst>
          </p:cNvPr>
          <p:cNvSpPr>
            <a:spLocks noGrp="1"/>
          </p:cNvSpPr>
          <p:nvPr/>
        </p:nvSpPr>
        <p:spPr>
          <a:xfrm>
            <a:off x="6369844" y="5774531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DB068EC-FD01-41D0-B4C1-D5857CCC2BA9}"/>
              </a:ext>
            </a:extLst>
          </p:cNvPr>
          <p:cNvSpPr>
            <a:spLocks noGrp="1"/>
          </p:cNvSpPr>
          <p:nvPr/>
        </p:nvSpPr>
        <p:spPr>
          <a:xfrm>
            <a:off x="8751094" y="5774531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2,400 g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8A420EB-B221-4955-82D2-1976353106C8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÷ 6, then × 32</a:t>
            </a:r>
          </a:p>
        </p:txBody>
      </p:sp>
    </p:spTree>
    <p:extLst>
      <p:ext uri="{BB962C8B-B14F-4D97-AF65-F5344CB8AC3E}">
        <p14:creationId xmlns:p14="http://schemas.microsoft.com/office/powerpoint/2010/main" val="101247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60F4E1AA-5A75-4BDA-8781-B3C1C994300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5C3376A-DEF5-4F40-BA73-DA8A2E8F7C6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ECD0984-977C-4F1D-BEDC-AC220AF274B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0E864FB-94B3-4CCC-A947-7530C8179F6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59F06B3-9DB0-42B9-977A-B17DDBF3E86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Scale recipes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E8BDBDB-8F2E-442D-9991-B8B9FC59BD6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55C9ABE-4310-4C02-BC40-16E29E2C80F5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808A120-D1D5-45B2-9CAD-84768A759D7B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recipe for 6 uses 450 g flour. How much flour is needed for 14?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28F0B58-304D-4C86-AC21-94F43D096E12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B608FD0-263E-40E5-A05B-7958775E71F5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 the ratio 4:7, the smaller part is 20. What is the larger part?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70C412C-A5CE-45F5-AA72-F6FA59F0810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45DE075-8F7C-4514-81A2-5D34E3C0A0B3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Share £420 in the ratio 3:4.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1E13304-05A2-4F87-975C-2E101BEBB4F3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700F405-5BEE-4926-89ED-81E9980E1D14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recipe for 6 uses 450 g flour. How much flour is needed for 14?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FE14FE3-6CE9-4163-B2AA-9302417ABDE4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642EF21-A6DD-42E1-80FD-F5548FC4A0F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In the ratio 4:7, the smaller part is 20. What is the larger part?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20658A4-845D-46D9-BE8F-2CD10B74421D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9B405CD9-F597-44BD-BAD4-086387930DBE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Share £420 in the ratio 3:4.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71C5FBC-3FA0-48A9-88B2-2AEEE6AA3AD1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05BC97CA-5D1E-44E2-AD8A-BFA3A58630D9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map scale is 1 cm to 8 km. Two towns are 6.5 cm apart. Find the real distance.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FDB0856-2AC3-4BA8-AA69-63D13AFE503E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5F192525-9B9E-4933-86B6-97590E44E1DB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uses the scale factor on only one corresponding quantity.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F44CD3C-F33D-43A9-96B0-2DAD6A903E12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350C2AA0-9E70-409C-9662-799822CA760E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ECC7D774-787A-4848-A6C3-BB32B3186A45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C419E53-9413-4DF3-87C2-831330C928C1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Share £420 in the ratio 3:4.</a:t>
            </a:r>
          </a:p>
        </p:txBody>
      </p:sp>
    </p:spTree>
    <p:extLst>
      <p:ext uri="{BB962C8B-B14F-4D97-AF65-F5344CB8AC3E}">
        <p14:creationId xmlns:p14="http://schemas.microsoft.com/office/powerpoint/2010/main" val="41081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E0198B8E-151D-4AFD-85CF-BF7727925B0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E9C0460-9BA6-4956-B983-919F95EE3F8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2CEFFE4-9586-4E28-9F97-B8A757B59A0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D84B37A-4E47-4925-BE02-6405EE729D1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Scale recipes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93D03B0-9EF3-4487-A1A9-4B38D177B40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A4179F2-0C44-45A0-8559-53D11BF32B3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95AA3F2-04AB-4CB5-80EC-1E26EBD2B4F1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1,050 g.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AE60B63-56BE-416C-962A-B43E9221ED76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F8820B7-11C8-4B23-BE2C-4BE2F299F860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35.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83FA816-4132-452E-B823-015121F2E218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500E73E-0955-41F8-91B9-3CDA60C470F1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£180 and £240.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2A3F039-0DC8-42F2-9FB4-368033CA4213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67D6A1D-C107-45BA-82B2-0CBE54B40A60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1,050 g.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41F637D-EA0D-4759-8FCD-01A21B9D84BA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EA13F6D-6773-4278-81BD-B7482827B0D5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35.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7484680-B489-4C62-96D8-7642097019F6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3E7D55A-3631-46A1-9F98-0CAC75BAECFD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£180 and £240.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DC8C9EF-B59A-4B2B-888A-07EDAF13DF23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7AEA77B3-5688-485E-BA17-F5FD6960826D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52 km.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6F4C1E3-671F-4F6E-A68F-C32296B69749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0CE4237D-3A62-410D-A274-8FFCABB4F87C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Apply the same multiplicative relationship to every corresponding measure or ratio part.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0918B42-E740-424D-B82E-B70E6CA9CE99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089B9480-18C7-4296-B6DB-815260908B97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4CB8725-1440-4135-82A8-BBB50D433F22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39AF2D91-318A-4AA4-9FBC-99FD8087C52C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20850781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Office PowerPoint</Application>
  <DocSecurity>0</DocSecurity>
  <PresentationFormat>Custom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2026-09-14T13:14:31Z</dcterms:created>
  <dcterms:modified xsi:type="dcterms:W3CDTF">2026-09-14T13:16:43Z</dcterms:modified>
</cp:coreProperties>
</file>