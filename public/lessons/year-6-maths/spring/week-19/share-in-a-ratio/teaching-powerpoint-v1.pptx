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Share in a ratio. Share in a ratio. Introduce the mathematical idea using the first worked example. The lesson can be placed anywhere in the teaching sequence.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Share in a ratio. I do. Use equal-sized ratio units. Keep the same scale factor for both quantities.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Share in a ratio. You do. Pause before clicking. Let pupils try independently, then reveal and discuss every step. Use equal-sized ratio units. Keep the same scale factor for both quantities.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Share in a ratio. I do. Use equal-sized ratio units. Keep the same scale factor for both quantities.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Share in a ratio. You do. Pause before clicking. Let pupils try independently, then reveal and discuss every step. Use equal-sized ratio units. Keep the same scale factor for both quantities.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Share in a ratio. You do. Pause before clicking. Let pupils try independently, then reveal and discuss every step. These are the existing expected-level worksheet questions, in their original order. Do not advance to the answer slide until pupils have had time to finish.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Share in a ratio. Answers. Answers to the preceding complete activity question set, in matching order. Accept mathematically valid alternatives for open questions.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-1">
            <a:extLst>
              <a:ext uri="{FF2B5EF4-FFF2-40B4-BE49-F238E27FC236}">
                <a16:creationId xmlns:a16="http://schemas.microsoft.com/office/drawing/2014/main" id="{927EE73B-6DB0-486B-879D-F6F75334599F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15478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Share in a ratio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AAA14357-337F-4F31-A6C5-FA08EAC7A09A}"/>
              </a:ext>
            </a:extLst>
          </p:cNvPr>
          <p:cNvSpPr>
            <a:spLocks noGrp="1"/>
          </p:cNvSpPr>
          <p:nvPr/>
        </p:nvSpPr>
        <p:spPr>
          <a:xfrm>
            <a:off x="654844" y="2024063"/>
            <a:ext cx="13930313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Watch the model. Try the next question. Explain what changes.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07DC7A31-0161-49E7-AB1D-63FEDF9399D0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D2C5DA5F-0885-4F88-9D78-9E7DBCC70A56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Share in a ratio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DD215665-F378-4659-B676-16011709BBCE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B453233E-70A1-4C70-AEC7-8630C28137A7}"/>
              </a:ext>
            </a:extLst>
          </p:cNvPr>
          <p:cNvSpPr>
            <a:spLocks noGrp="1"/>
          </p:cNvSpPr>
          <p:nvPr/>
        </p:nvSpPr>
        <p:spPr>
          <a:xfrm>
            <a:off x="1190625" y="3631406"/>
            <a:ext cx="12858750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To divide a quantity into unequal parts.</a:t>
            </a:r>
          </a:p>
        </p:txBody>
      </p:sp>
    </p:spTree>
    <p:extLst>
      <p:ext uri="{BB962C8B-B14F-4D97-AF65-F5344CB8AC3E}">
        <p14:creationId xmlns:p14="http://schemas.microsoft.com/office/powerpoint/2010/main" val="1921463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-1">
            <a:extLst>
              <a:ext uri="{FF2B5EF4-FFF2-40B4-BE49-F238E27FC236}">
                <a16:creationId xmlns:a16="http://schemas.microsoft.com/office/drawing/2014/main" id="{4DAAE933-EBF0-4CC3-908E-A2A5C5F25AFA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CED81FEB-DD50-423C-BDE8-1F0B1A7B5A66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Share 420 in the ratio 3:4.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A4613207-BFFE-4674-99FB-8EB3268CD10E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E3A17C48-B4E3-4EBA-85F2-A0F452B901B8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Share in a ratio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60463FEC-257F-4BDA-828A-94BE4EE236B6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293A2096-7C5D-4F22-A1CD-93AD49EA723C}"/>
              </a:ext>
            </a:extLst>
          </p:cNvPr>
          <p:cNvSpPr>
            <a:spLocks noGrp="1"/>
          </p:cNvSpPr>
          <p:nvPr/>
        </p:nvSpPr>
        <p:spPr>
          <a:xfrm>
            <a:off x="2857500" y="3155156"/>
            <a:ext cx="238125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54667B03-B98D-4BCA-9585-ACCBD7255550}"/>
              </a:ext>
            </a:extLst>
          </p:cNvPr>
          <p:cNvSpPr>
            <a:spLocks noGrp="1"/>
          </p:cNvSpPr>
          <p:nvPr/>
        </p:nvSpPr>
        <p:spPr>
          <a:xfrm>
            <a:off x="5238750" y="3155156"/>
            <a:ext cx="238125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02899EC6-A34F-4BA8-9AFE-48DBA42C3BAA}"/>
              </a:ext>
            </a:extLst>
          </p:cNvPr>
          <p:cNvSpPr>
            <a:spLocks noGrp="1"/>
          </p:cNvSpPr>
          <p:nvPr/>
        </p:nvSpPr>
        <p:spPr>
          <a:xfrm>
            <a:off x="7620000" y="3155156"/>
            <a:ext cx="238125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9ED99AC6-A223-42B3-A1AD-9825D2FBE9C6}"/>
              </a:ext>
            </a:extLst>
          </p:cNvPr>
          <p:cNvSpPr>
            <a:spLocks noGrp="1"/>
          </p:cNvSpPr>
          <p:nvPr/>
        </p:nvSpPr>
        <p:spPr>
          <a:xfrm>
            <a:off x="2857500" y="4524375"/>
            <a:ext cx="238125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E958AD2B-23D4-4F4A-A97F-B7F67910FA2C}"/>
              </a:ext>
            </a:extLst>
          </p:cNvPr>
          <p:cNvSpPr>
            <a:spLocks noGrp="1"/>
          </p:cNvSpPr>
          <p:nvPr/>
        </p:nvSpPr>
        <p:spPr>
          <a:xfrm>
            <a:off x="5238750" y="4524375"/>
            <a:ext cx="238125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E1385989-8186-465A-B82D-50E9F9009070}"/>
              </a:ext>
            </a:extLst>
          </p:cNvPr>
          <p:cNvSpPr>
            <a:spLocks noGrp="1"/>
          </p:cNvSpPr>
          <p:nvPr/>
        </p:nvSpPr>
        <p:spPr>
          <a:xfrm>
            <a:off x="7620000" y="4524375"/>
            <a:ext cx="238125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355260C8-2F26-4DC1-AAD5-5D64BD49322A}"/>
              </a:ext>
            </a:extLst>
          </p:cNvPr>
          <p:cNvSpPr>
            <a:spLocks noGrp="1"/>
          </p:cNvSpPr>
          <p:nvPr/>
        </p:nvSpPr>
        <p:spPr>
          <a:xfrm>
            <a:off x="10001250" y="4524375"/>
            <a:ext cx="238125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17680E8B-9F38-4AE3-ADB8-7C64D6789075}"/>
              </a:ext>
            </a:extLst>
          </p:cNvPr>
          <p:cNvSpPr>
            <a:spLocks noGrp="1"/>
          </p:cNvSpPr>
          <p:nvPr/>
        </p:nvSpPr>
        <p:spPr>
          <a:xfrm>
            <a:off x="773906" y="3214688"/>
            <a:ext cx="1905000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first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C61322D1-DEAC-4C10-8D31-6D13AE7D9D91}"/>
              </a:ext>
            </a:extLst>
          </p:cNvPr>
          <p:cNvSpPr>
            <a:spLocks noGrp="1"/>
          </p:cNvSpPr>
          <p:nvPr/>
        </p:nvSpPr>
        <p:spPr>
          <a:xfrm>
            <a:off x="773906" y="4572000"/>
            <a:ext cx="1905000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second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753C542B-BDD5-41FF-AA22-518A7B2574FF}"/>
              </a:ext>
            </a:extLst>
          </p:cNvPr>
          <p:cNvSpPr>
            <a:spLocks noGrp="1"/>
          </p:cNvSpPr>
          <p:nvPr/>
        </p:nvSpPr>
        <p:spPr>
          <a:xfrm>
            <a:off x="1131094" y="5798344"/>
            <a:ext cx="130968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 + 4 = 7 parts; 420 ÷ 7 = 60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AF7FA778-C8C3-4A5A-AAC5-75625474A2D5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 parts = 180; 4 parts = 240</a:t>
            </a:r>
          </a:p>
        </p:txBody>
      </p:sp>
    </p:spTree>
    <p:extLst>
      <p:ext uri="{BB962C8B-B14F-4D97-AF65-F5344CB8AC3E}">
        <p14:creationId xmlns:p14="http://schemas.microsoft.com/office/powerpoint/2010/main" val="998290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-1">
            <a:extLst>
              <a:ext uri="{FF2B5EF4-FFF2-40B4-BE49-F238E27FC236}">
                <a16:creationId xmlns:a16="http://schemas.microsoft.com/office/drawing/2014/main" id="{07ED1B1C-3673-41D3-AEEE-19F925D0B951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8D3EA6AC-A1B9-4720-A77A-2FB8FEF7C9FF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97479831-B802-4C53-9018-8995341CFAED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Share 490 in the ratio 3:4.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E609F7F2-59E0-48FE-B902-533038DC989A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F66FF8F4-77A1-46A2-A0C1-6021897D6359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Share in a ratio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EE7E1C63-792D-405F-9782-8E6912E65C7D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B12D2477-63B8-4196-A4FC-19F18852548C}"/>
              </a:ext>
            </a:extLst>
          </p:cNvPr>
          <p:cNvSpPr>
            <a:spLocks noGrp="1"/>
          </p:cNvSpPr>
          <p:nvPr/>
        </p:nvSpPr>
        <p:spPr>
          <a:xfrm>
            <a:off x="2857500" y="3155156"/>
            <a:ext cx="238125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1206A683-AD7B-4CA3-AAEF-1F2E37EC2AB0}"/>
              </a:ext>
            </a:extLst>
          </p:cNvPr>
          <p:cNvSpPr>
            <a:spLocks noGrp="1"/>
          </p:cNvSpPr>
          <p:nvPr/>
        </p:nvSpPr>
        <p:spPr>
          <a:xfrm>
            <a:off x="5238750" y="3155156"/>
            <a:ext cx="238125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E8F0F923-537F-4D11-AAA3-9D1806FF3067}"/>
              </a:ext>
            </a:extLst>
          </p:cNvPr>
          <p:cNvSpPr>
            <a:spLocks noGrp="1"/>
          </p:cNvSpPr>
          <p:nvPr/>
        </p:nvSpPr>
        <p:spPr>
          <a:xfrm>
            <a:off x="7620000" y="3155156"/>
            <a:ext cx="238125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27EDB6DC-5EB2-4CA5-A52F-0A28C50254C2}"/>
              </a:ext>
            </a:extLst>
          </p:cNvPr>
          <p:cNvSpPr>
            <a:spLocks noGrp="1"/>
          </p:cNvSpPr>
          <p:nvPr/>
        </p:nvSpPr>
        <p:spPr>
          <a:xfrm>
            <a:off x="2857500" y="4524375"/>
            <a:ext cx="238125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ABD61F5C-B318-4B57-B3AA-F882ECF296CF}"/>
              </a:ext>
            </a:extLst>
          </p:cNvPr>
          <p:cNvSpPr>
            <a:spLocks noGrp="1"/>
          </p:cNvSpPr>
          <p:nvPr/>
        </p:nvSpPr>
        <p:spPr>
          <a:xfrm>
            <a:off x="5238750" y="4524375"/>
            <a:ext cx="238125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6874EB3D-EE42-495B-90D9-90399242F0BC}"/>
              </a:ext>
            </a:extLst>
          </p:cNvPr>
          <p:cNvSpPr>
            <a:spLocks noGrp="1"/>
          </p:cNvSpPr>
          <p:nvPr/>
        </p:nvSpPr>
        <p:spPr>
          <a:xfrm>
            <a:off x="7620000" y="4524375"/>
            <a:ext cx="238125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749C954F-375D-4321-BE17-B7522F8D736C}"/>
              </a:ext>
            </a:extLst>
          </p:cNvPr>
          <p:cNvSpPr>
            <a:spLocks noGrp="1"/>
          </p:cNvSpPr>
          <p:nvPr/>
        </p:nvSpPr>
        <p:spPr>
          <a:xfrm>
            <a:off x="10001250" y="4524375"/>
            <a:ext cx="238125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62F6ACCA-74A1-4B62-88DE-052F8CDC31D5}"/>
              </a:ext>
            </a:extLst>
          </p:cNvPr>
          <p:cNvSpPr>
            <a:spLocks noGrp="1"/>
          </p:cNvSpPr>
          <p:nvPr/>
        </p:nvSpPr>
        <p:spPr>
          <a:xfrm>
            <a:off x="773906" y="3214688"/>
            <a:ext cx="1905000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first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B6185A54-EF63-41CA-BCD9-B0BE3CA3E7F4}"/>
              </a:ext>
            </a:extLst>
          </p:cNvPr>
          <p:cNvSpPr>
            <a:spLocks noGrp="1"/>
          </p:cNvSpPr>
          <p:nvPr/>
        </p:nvSpPr>
        <p:spPr>
          <a:xfrm>
            <a:off x="773906" y="4572000"/>
            <a:ext cx="1905000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second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B342B8A5-0392-4C13-B54F-41CAE75BC12A}"/>
              </a:ext>
            </a:extLst>
          </p:cNvPr>
          <p:cNvSpPr>
            <a:spLocks noGrp="1"/>
          </p:cNvSpPr>
          <p:nvPr/>
        </p:nvSpPr>
        <p:spPr>
          <a:xfrm>
            <a:off x="1131094" y="5798344"/>
            <a:ext cx="130968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 + 4 = 7 parts; 490 ÷ 7 = 70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26AD7A90-2AAA-4D95-A795-ACE979869939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 parts = 210; 4 parts = 280</a:t>
            </a:r>
          </a:p>
        </p:txBody>
      </p:sp>
    </p:spTree>
    <p:extLst>
      <p:ext uri="{BB962C8B-B14F-4D97-AF65-F5344CB8AC3E}">
        <p14:creationId xmlns:p14="http://schemas.microsoft.com/office/powerpoint/2010/main" val="995847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-1">
            <a:extLst>
              <a:ext uri="{FF2B5EF4-FFF2-40B4-BE49-F238E27FC236}">
                <a16:creationId xmlns:a16="http://schemas.microsoft.com/office/drawing/2014/main" id="{79214989-F2E8-46F9-9435-63FFFCF5FF5C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A4CEC4A0-8F34-49B6-96F5-F9F14A42CB59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Share 560 in the ratio 3:4.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C1069F04-E089-440F-B70F-3C0E0965C96E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D4844AB7-4555-4E38-9FCF-9EC7AD440128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Share in a ratio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FC92564A-539B-4C63-8E52-8B36772A7BD7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FB5B6898-C32E-4785-9E16-2862F21E7A46}"/>
              </a:ext>
            </a:extLst>
          </p:cNvPr>
          <p:cNvSpPr>
            <a:spLocks noGrp="1"/>
          </p:cNvSpPr>
          <p:nvPr/>
        </p:nvSpPr>
        <p:spPr>
          <a:xfrm>
            <a:off x="2857500" y="3155156"/>
            <a:ext cx="238125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5FC34847-54A7-4492-AAAB-CA51C5160F16}"/>
              </a:ext>
            </a:extLst>
          </p:cNvPr>
          <p:cNvSpPr>
            <a:spLocks noGrp="1"/>
          </p:cNvSpPr>
          <p:nvPr/>
        </p:nvSpPr>
        <p:spPr>
          <a:xfrm>
            <a:off x="5238750" y="3155156"/>
            <a:ext cx="238125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0381F89F-22E9-4978-904E-D9CF1D1F3FB5}"/>
              </a:ext>
            </a:extLst>
          </p:cNvPr>
          <p:cNvSpPr>
            <a:spLocks noGrp="1"/>
          </p:cNvSpPr>
          <p:nvPr/>
        </p:nvSpPr>
        <p:spPr>
          <a:xfrm>
            <a:off x="7620000" y="3155156"/>
            <a:ext cx="238125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9B55C2AE-E511-47D8-AA27-4FF259B7CB82}"/>
              </a:ext>
            </a:extLst>
          </p:cNvPr>
          <p:cNvSpPr>
            <a:spLocks noGrp="1"/>
          </p:cNvSpPr>
          <p:nvPr/>
        </p:nvSpPr>
        <p:spPr>
          <a:xfrm>
            <a:off x="2857500" y="4524375"/>
            <a:ext cx="238125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D39DA8F8-4479-4A17-A68F-6A6E56B3F5FA}"/>
              </a:ext>
            </a:extLst>
          </p:cNvPr>
          <p:cNvSpPr>
            <a:spLocks noGrp="1"/>
          </p:cNvSpPr>
          <p:nvPr/>
        </p:nvSpPr>
        <p:spPr>
          <a:xfrm>
            <a:off x="5238750" y="4524375"/>
            <a:ext cx="238125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58490BB2-BC8A-4813-B5BE-2429705F341B}"/>
              </a:ext>
            </a:extLst>
          </p:cNvPr>
          <p:cNvSpPr>
            <a:spLocks noGrp="1"/>
          </p:cNvSpPr>
          <p:nvPr/>
        </p:nvSpPr>
        <p:spPr>
          <a:xfrm>
            <a:off x="7620000" y="4524375"/>
            <a:ext cx="238125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A0CE30E3-0EE3-47EA-8C02-4394153B1447}"/>
              </a:ext>
            </a:extLst>
          </p:cNvPr>
          <p:cNvSpPr>
            <a:spLocks noGrp="1"/>
          </p:cNvSpPr>
          <p:nvPr/>
        </p:nvSpPr>
        <p:spPr>
          <a:xfrm>
            <a:off x="10001250" y="4524375"/>
            <a:ext cx="238125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63BA1E08-04E9-41FF-82AA-4D97E2F4F1CE}"/>
              </a:ext>
            </a:extLst>
          </p:cNvPr>
          <p:cNvSpPr>
            <a:spLocks noGrp="1"/>
          </p:cNvSpPr>
          <p:nvPr/>
        </p:nvSpPr>
        <p:spPr>
          <a:xfrm>
            <a:off x="773906" y="3214688"/>
            <a:ext cx="1905000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first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E324F67B-F2D5-4094-B602-9FE28B4002F8}"/>
              </a:ext>
            </a:extLst>
          </p:cNvPr>
          <p:cNvSpPr>
            <a:spLocks noGrp="1"/>
          </p:cNvSpPr>
          <p:nvPr/>
        </p:nvSpPr>
        <p:spPr>
          <a:xfrm>
            <a:off x="773906" y="4572000"/>
            <a:ext cx="1905000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second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BB598203-C84F-41B9-A01A-4F55BD1E9986}"/>
              </a:ext>
            </a:extLst>
          </p:cNvPr>
          <p:cNvSpPr>
            <a:spLocks noGrp="1"/>
          </p:cNvSpPr>
          <p:nvPr/>
        </p:nvSpPr>
        <p:spPr>
          <a:xfrm>
            <a:off x="1131094" y="5798344"/>
            <a:ext cx="130968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 + 4 = 7 parts; 560 ÷ 7 = 80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D07C4461-209C-4460-9A43-CF9027B5B4B4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 parts = 240; 4 parts = 320</a:t>
            </a:r>
          </a:p>
        </p:txBody>
      </p:sp>
    </p:spTree>
    <p:extLst>
      <p:ext uri="{BB962C8B-B14F-4D97-AF65-F5344CB8AC3E}">
        <p14:creationId xmlns:p14="http://schemas.microsoft.com/office/powerpoint/2010/main" val="1136795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-1">
            <a:extLst>
              <a:ext uri="{FF2B5EF4-FFF2-40B4-BE49-F238E27FC236}">
                <a16:creationId xmlns:a16="http://schemas.microsoft.com/office/drawing/2014/main" id="{EDF51396-C756-4820-9AC0-C30290257E79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CCB9383F-F9B1-49AC-9C65-FCC3D5449BD7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92987FB6-3180-45B5-A194-2BB1582041CA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Share 630 in the ratio 3:4.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FED517BC-EB39-406E-AED8-3858C65BBD74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158DA73C-98F1-4063-9B87-7FB96DAD6400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Share in a ratio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211D6EEC-57E5-4CC9-B149-2266744AFAE5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D30ECDE9-D922-4568-9E2F-4AC89EE98A17}"/>
              </a:ext>
            </a:extLst>
          </p:cNvPr>
          <p:cNvSpPr>
            <a:spLocks noGrp="1"/>
          </p:cNvSpPr>
          <p:nvPr/>
        </p:nvSpPr>
        <p:spPr>
          <a:xfrm>
            <a:off x="2857500" y="3155156"/>
            <a:ext cx="238125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CE0A1BE2-5504-4E4D-8E7B-C5112490DC85}"/>
              </a:ext>
            </a:extLst>
          </p:cNvPr>
          <p:cNvSpPr>
            <a:spLocks noGrp="1"/>
          </p:cNvSpPr>
          <p:nvPr/>
        </p:nvSpPr>
        <p:spPr>
          <a:xfrm>
            <a:off x="5238750" y="3155156"/>
            <a:ext cx="238125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05359EE3-59A0-4B52-AC9F-C94BEF2CEEB4}"/>
              </a:ext>
            </a:extLst>
          </p:cNvPr>
          <p:cNvSpPr>
            <a:spLocks noGrp="1"/>
          </p:cNvSpPr>
          <p:nvPr/>
        </p:nvSpPr>
        <p:spPr>
          <a:xfrm>
            <a:off x="7620000" y="3155156"/>
            <a:ext cx="2381250" cy="892969"/>
          </a:xfrm>
          <a:prstGeom prst="rect">
            <a:avLst/>
          </a:prstGeom>
          <a:solidFill>
            <a:srgbClr val="1D4ED8"/>
          </a:solidFill>
          <a:ln w="23813">
            <a:solidFill>
              <a:srgbClr val="FFFFFF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53406C81-BF95-45C9-8823-12651ACF7325}"/>
              </a:ext>
            </a:extLst>
          </p:cNvPr>
          <p:cNvSpPr>
            <a:spLocks noGrp="1"/>
          </p:cNvSpPr>
          <p:nvPr/>
        </p:nvSpPr>
        <p:spPr>
          <a:xfrm>
            <a:off x="2857500" y="4524375"/>
            <a:ext cx="238125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66F24A70-402F-4EDE-B933-27D0C670D164}"/>
              </a:ext>
            </a:extLst>
          </p:cNvPr>
          <p:cNvSpPr>
            <a:spLocks noGrp="1"/>
          </p:cNvSpPr>
          <p:nvPr/>
        </p:nvSpPr>
        <p:spPr>
          <a:xfrm>
            <a:off x="5238750" y="4524375"/>
            <a:ext cx="238125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3D9195D8-FF32-4502-8B96-1A0B2A83EC71}"/>
              </a:ext>
            </a:extLst>
          </p:cNvPr>
          <p:cNvSpPr>
            <a:spLocks noGrp="1"/>
          </p:cNvSpPr>
          <p:nvPr/>
        </p:nvSpPr>
        <p:spPr>
          <a:xfrm>
            <a:off x="7620000" y="4524375"/>
            <a:ext cx="238125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EC958F44-6D24-4999-80EC-82887DB350E9}"/>
              </a:ext>
            </a:extLst>
          </p:cNvPr>
          <p:cNvSpPr>
            <a:spLocks noGrp="1"/>
          </p:cNvSpPr>
          <p:nvPr/>
        </p:nvSpPr>
        <p:spPr>
          <a:xfrm>
            <a:off x="10001250" y="4524375"/>
            <a:ext cx="2381250" cy="892969"/>
          </a:xfrm>
          <a:prstGeom prst="rect">
            <a:avLst/>
          </a:prstGeom>
          <a:solidFill>
            <a:srgbClr val="EFF6FF"/>
          </a:solidFill>
          <a:ln w="23813">
            <a:solidFill>
              <a:srgbClr val="1D4ED8"/>
            </a:solidFill>
          </a:ln>
        </p:spPr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690CD79F-94AE-4310-B449-216DD9446F69}"/>
              </a:ext>
            </a:extLst>
          </p:cNvPr>
          <p:cNvSpPr>
            <a:spLocks noGrp="1"/>
          </p:cNvSpPr>
          <p:nvPr/>
        </p:nvSpPr>
        <p:spPr>
          <a:xfrm>
            <a:off x="773906" y="3214688"/>
            <a:ext cx="1905000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first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3EC00647-3B96-4E83-B261-F55EF05C4082}"/>
              </a:ext>
            </a:extLst>
          </p:cNvPr>
          <p:cNvSpPr>
            <a:spLocks noGrp="1"/>
          </p:cNvSpPr>
          <p:nvPr/>
        </p:nvSpPr>
        <p:spPr>
          <a:xfrm>
            <a:off x="773906" y="4572000"/>
            <a:ext cx="1905000" cy="65484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second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1F7C9D04-6256-4A7E-93C2-6F2A59D80A8F}"/>
              </a:ext>
            </a:extLst>
          </p:cNvPr>
          <p:cNvSpPr>
            <a:spLocks noGrp="1"/>
          </p:cNvSpPr>
          <p:nvPr/>
        </p:nvSpPr>
        <p:spPr>
          <a:xfrm>
            <a:off x="1131094" y="5798344"/>
            <a:ext cx="130968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906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906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 + 4 = 7 parts; 630 ÷ 7 = 90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C3DFA7A9-798A-4905-8D77-C40ECF20F815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 parts = 270; 4 parts = 360</a:t>
            </a:r>
          </a:p>
        </p:txBody>
      </p:sp>
    </p:spTree>
    <p:extLst>
      <p:ext uri="{BB962C8B-B14F-4D97-AF65-F5344CB8AC3E}">
        <p14:creationId xmlns:p14="http://schemas.microsoft.com/office/powerpoint/2010/main" val="1020111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-1">
            <a:extLst>
              <a:ext uri="{FF2B5EF4-FFF2-40B4-BE49-F238E27FC236}">
                <a16:creationId xmlns:a16="http://schemas.microsoft.com/office/drawing/2014/main" id="{B01238DF-8BCA-4F88-B54F-2D7DF99418E3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2D675C9F-640A-4916-8FCA-156DB165F1F8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2E577A5B-5683-4EC6-9590-E9DAD179EE06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Try these questions.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AF5149D2-E2F5-4D79-818C-C8CDD93F69FA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223C72B9-1FD8-408A-B619-FC31A428B25E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Share in a ratio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5CDDF6E1-B64F-46CB-94C4-46A3C68FC2D4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ECFCC21F-8E89-4C69-8996-DFEB496CF551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FE2AAB5F-B3AB-4BEB-A1D7-69DDAE0F1633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Share £420 in the ratio 3:4.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E73F641A-5498-4D77-BCDB-FCA036DC41DE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AC8C6761-84A8-4D66-8272-D6D822C0029D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 map scale is 1 cm to 8 km. Two towns are 6.5 cm apart. Find the real distance.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08DB0F50-07AA-4690-81E7-D263366398C9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47E40168-77CC-462E-BC33-1DD42AC3B635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 length of 7 cm is enlarged by scale factor 3.5. What is the new length?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709D33AC-B749-4C5D-8066-59E2E201A83F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63DEBE13-41F4-44A3-9B7B-EE8CBA0D23B1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Solve this independently and show every stage: Share £420 in the ratio 3:4.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584A0C43-DCD4-44E6-A9A7-BE15D94811B6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274E3731-8162-4D1B-BFA7-65F10CBED8E0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a second method or representation for: A map scale is 1 cm to 8 km. Two towns are 6.5 cm apart. Find the real distance.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4878FBA0-DD4F-40DD-A88D-82E75B8E224C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C27E67DE-08EB-412F-B3E3-479BA8644C65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this result using an inverse, estimate or known fact: A length of 7 cm is enlarged by scale factor 3.5. What is the new length?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933E57A2-6A47-4029-93DF-FC6D78DA772E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7A273DC6-D79B-47B5-A1DA-0122747E3C17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Prove or explain your reasoning: A recipe for 6 uses 450 g flour. How much flour is needed for 14?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4FDAA0F9-F1F8-4097-9747-3E82D2E24D24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24002549-F71A-4AA2-8650-F8FFE8740062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Identify and correct this misconception: Miro uses the scale factor on only one corresponding quantity.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38FA000A-06FC-4E9E-A345-839F45FB0563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7BA07AC7-0A40-487F-A586-BB31581B8669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 complete sentence explaining how you checked one answer.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F0BE4037-9340-47A3-B18D-97ACD54F144A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191FB1C6-76E7-4B18-8341-CF21A32AD211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and solve a similar question to: A length of 7 cm is enlarged by scale factor 3.5. What is the new length?</a:t>
            </a:r>
          </a:p>
        </p:txBody>
      </p:sp>
    </p:spTree>
    <p:extLst>
      <p:ext uri="{BB962C8B-B14F-4D97-AF65-F5344CB8AC3E}">
        <p14:creationId xmlns:p14="http://schemas.microsoft.com/office/powerpoint/2010/main" val="786466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-1">
            <a:extLst>
              <a:ext uri="{FF2B5EF4-FFF2-40B4-BE49-F238E27FC236}">
                <a16:creationId xmlns:a16="http://schemas.microsoft.com/office/drawing/2014/main" id="{1B7E38D5-6E55-45A4-9AB2-58E6101B0230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E67B07A3-4B97-47C4-9C28-8DCF718B6CE4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your answers. Explain any corrections.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989010AE-CC25-4F70-97DE-9F74DD237C66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D8F13705-E15E-4619-B843-427F229BC308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Share in a ratio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466651D5-93DA-43BA-97E8-12847B15DBB4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066FF6B1-3AEF-4FC4-A26A-A2876241B6A8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7E1E4200-2137-4A39-827C-891F60B43876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£180 and £240.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CDF59FD2-FF11-415A-B5F4-9A708942DA7E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78194871-568F-450C-9F84-2F39298450FB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52 km.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CFA44074-AE5F-4DB0-881F-DE25F4ABA09A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7621E3CA-89C6-4AD0-A6A0-6410C8A79657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24.5 cm.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3FB24484-4174-4735-97C5-E0D57F6E77B4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F2BEA2F2-1D89-49B5-AE36-1B31092D31CA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£180 and £240.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4A01C01F-1EE4-436C-B942-B76C595217FE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824E1D4F-9B4A-473F-B3FB-884AA0F6E490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52 km. Method or representation may vary.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99356E41-8D77-40B4-88D7-D32CF5C71DCE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78781C80-9C85-4278-905F-D67404422990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24.5 cm. A valid check must be shown.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75159FA2-E776-4085-87AF-6CC5CF83BF83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01E5292A-C350-4B7B-91DC-5B8835505F8B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1,050 g. The explanation must show why the method works.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1617BD82-A95E-4AAD-BF58-7D7DA0B49F58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C4166D4F-9701-4268-BA58-09294677AC6C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Apply the same multiplicative relationship to every corresponding measure or ratio part.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98F7CECF-248A-4197-A199-443C0F4E710D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A6795948-EE98-4F65-9633-5D0D517F7AA5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 should name an inverse, estimate, boundary, known fact or equivalent representation.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93DDEA4B-5FF8-4757-9C23-791223F45C58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B2E4E101-B887-4112-A01B-8E49A096C531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Answers vary. The new question must use the same mathematical structure and include a correct solution.</a:t>
            </a:r>
          </a:p>
        </p:txBody>
      </p:sp>
    </p:spTree>
    <p:extLst>
      <p:ext uri="{BB962C8B-B14F-4D97-AF65-F5344CB8AC3E}">
        <p14:creationId xmlns:p14="http://schemas.microsoft.com/office/powerpoint/2010/main" val="136316122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982</Words>
  <Application>Microsoft Office PowerPoint</Application>
  <DocSecurity>0</DocSecurity>
  <PresentationFormat>Custom</PresentationFormat>
  <Paragraphs>102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Garima Sharma</cp:lastModifiedBy>
  <cp:revision>1</cp:revision>
  <dcterms:created xsi:type="dcterms:W3CDTF">2026-09-14T13:14:31Z</dcterms:created>
  <dcterms:modified xsi:type="dcterms:W3CDTF">2026-09-14T13:16:45Z</dcterms:modified>
</cp:coreProperties>
</file>