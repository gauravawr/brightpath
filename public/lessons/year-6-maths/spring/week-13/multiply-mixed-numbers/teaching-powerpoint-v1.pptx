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5240000" cy="85725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Multiply mixed numbers. Multiply mixed numbers. Introduce the mathematical idea using the first worked example. The lesson can be placed anywhere in the teaching sequence.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Multiply mixed numbers. I do. Convert each mixed number into equal fractional parts before calculating.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Multiply mixed numbers. I do. Use equal-sized parts for addition or subtraction. For multiplication, partition in both directions. For division by a whole number, split each part into that many equal pieces.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Multiply mixed numbers. You do. Pause before clicking. Let pupils try independently, then reveal and discuss every step. Convert each mixed number into equal fractional parts before calculating.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Multiply mixed numbers. You do. Pause before clicking. Let pupils try independently, then reveal and discuss every step. Use equal-sized parts for addition or subtraction. For multiplication, partition in both directions. For division by a whole number, split each part into that many equal pieces.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Multiply mixed numbers. I do. Convert each mixed number into equal fractional parts before calculating.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Multiply mixed numbers. I do. Use equal-sized parts for addition or subtraction. For multiplication, partition in both directions. For division by a whole number, split each part into that many equal pieces.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Multiply mixed numbers. You do. Pause before clicking. Let pupils try independently, then reveal and discuss every step. Convert each mixed number into equal fractional parts before calculating.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Multiply mixed numbers. You do. Pause before clicking. Let pupils try independently, then reveal and discuss every step. Use equal-sized parts for addition or subtraction. For multiplication, partition in both directions. For division by a whole number, split each part into that many equal pieces.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Multiply mixed numbers. You do. Pause before clicking. Let pupils try independently, then reveal and discuss every step. These are the existing expected-level worksheet questions, in their original order. Do not advance to the answer slide until pupils have had time to finish.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Multiply mixed numbers. Answers. Answers to the preceding complete activity question set, in matching order. Accept mathematically valid alternatives for open questions.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-1">
            <a:extLst>
              <a:ext uri="{FF2B5EF4-FFF2-40B4-BE49-F238E27FC236}">
                <a16:creationId xmlns:a16="http://schemas.microsoft.com/office/drawing/2014/main" id="{202A99CA-A4F4-4A97-92CE-7EEF4B797B2F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15478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Multiply mixed numbers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83D803D5-F6D1-4ED0-9F9E-9BE2BCC7F0ED}"/>
              </a:ext>
            </a:extLst>
          </p:cNvPr>
          <p:cNvSpPr>
            <a:spLocks noGrp="1"/>
          </p:cNvSpPr>
          <p:nvPr/>
        </p:nvSpPr>
        <p:spPr>
          <a:xfrm>
            <a:off x="654844" y="2024063"/>
            <a:ext cx="13930313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Watch the model. Try the next question. Explain what changes.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E8FB5791-8822-4206-96F5-7A418DD41C3E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B24368C0-3D13-4A4C-A449-59DC898362A6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Multiply mixed numbers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BA707046-2E9A-417C-AFF2-5EB5F0C7EAC9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FB1503CC-E5DA-492F-8D27-A5924064A11B}"/>
              </a:ext>
            </a:extLst>
          </p:cNvPr>
          <p:cNvSpPr>
            <a:spLocks noGrp="1"/>
          </p:cNvSpPr>
          <p:nvPr/>
        </p:nvSpPr>
        <p:spPr>
          <a:xfrm>
            <a:off x="1190625" y="3631406"/>
            <a:ext cx="12858750" cy="2143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To multiply a mixed number by a fraction.</a:t>
            </a:r>
          </a:p>
        </p:txBody>
      </p:sp>
    </p:spTree>
    <p:extLst>
      <p:ext uri="{BB962C8B-B14F-4D97-AF65-F5344CB8AC3E}">
        <p14:creationId xmlns:p14="http://schemas.microsoft.com/office/powerpoint/2010/main" val="13673347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-1">
            <a:extLst>
              <a:ext uri="{FF2B5EF4-FFF2-40B4-BE49-F238E27FC236}">
                <a16:creationId xmlns:a16="http://schemas.microsoft.com/office/drawing/2014/main" id="{AE56CDA1-C485-42DE-B7BA-472D8A767484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618193DC-1598-4D88-8F9D-7291651696F7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2 1/2 × 3/4.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24B67D0C-44FF-482A-8634-3616D0285565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17C5E9DB-5529-4ADB-9136-A633E73320DD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Multiply mixed numbers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75928024-1224-4C03-9558-38D156145B42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ABE5E262-BE0F-419D-938A-37A7E01360FB}"/>
              </a:ext>
            </a:extLst>
          </p:cNvPr>
          <p:cNvSpPr>
            <a:spLocks noGrp="1"/>
          </p:cNvSpPr>
          <p:nvPr/>
        </p:nvSpPr>
        <p:spPr>
          <a:xfrm>
            <a:off x="1012031" y="2917031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 1/2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AE98DAA4-7325-42E6-86CE-1A29D1A2E271}"/>
              </a:ext>
            </a:extLst>
          </p:cNvPr>
          <p:cNvSpPr>
            <a:spLocks noGrp="1"/>
          </p:cNvSpPr>
          <p:nvPr/>
        </p:nvSpPr>
        <p:spPr>
          <a:xfrm>
            <a:off x="4167188" y="2917031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2 × 2 + 1 = 5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35624E71-A284-4C60-A01B-0BDEC83A4180}"/>
              </a:ext>
            </a:extLst>
          </p:cNvPr>
          <p:cNvSpPr>
            <a:spLocks noGrp="1"/>
          </p:cNvSpPr>
          <p:nvPr/>
        </p:nvSpPr>
        <p:spPr>
          <a:xfrm>
            <a:off x="12858750" y="26193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6B38976F-1933-4060-869C-29B5DCCBFBAB}"/>
              </a:ext>
            </a:extLst>
          </p:cNvPr>
          <p:cNvSpPr>
            <a:spLocks noGrp="1"/>
          </p:cNvSpPr>
          <p:nvPr/>
        </p:nvSpPr>
        <p:spPr>
          <a:xfrm>
            <a:off x="12858750" y="3476625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97783F36-D416-4CB2-939D-B27BB0477302}"/>
              </a:ext>
            </a:extLst>
          </p:cNvPr>
          <p:cNvSpPr>
            <a:spLocks noGrp="1"/>
          </p:cNvSpPr>
          <p:nvPr/>
        </p:nvSpPr>
        <p:spPr>
          <a:xfrm>
            <a:off x="12858750" y="35718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CC9253B5-C54D-4477-832F-055CD3A34659}"/>
              </a:ext>
            </a:extLst>
          </p:cNvPr>
          <p:cNvSpPr>
            <a:spLocks noGrp="1"/>
          </p:cNvSpPr>
          <p:nvPr/>
        </p:nvSpPr>
        <p:spPr>
          <a:xfrm>
            <a:off x="1012031" y="5000625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3/4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842C5279-A257-4A0A-8603-A78517B854A6}"/>
              </a:ext>
            </a:extLst>
          </p:cNvPr>
          <p:cNvSpPr>
            <a:spLocks noGrp="1"/>
          </p:cNvSpPr>
          <p:nvPr/>
        </p:nvSpPr>
        <p:spPr>
          <a:xfrm>
            <a:off x="4167188" y="5000625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0 × 4 + 3 = 3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64625FDC-0A08-48C0-B5E6-C92FE20A4E50}"/>
              </a:ext>
            </a:extLst>
          </p:cNvPr>
          <p:cNvSpPr>
            <a:spLocks noGrp="1"/>
          </p:cNvSpPr>
          <p:nvPr/>
        </p:nvSpPr>
        <p:spPr>
          <a:xfrm>
            <a:off x="12858750" y="47029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322C8971-C216-4996-B5CB-634314B6F231}"/>
              </a:ext>
            </a:extLst>
          </p:cNvPr>
          <p:cNvSpPr>
            <a:spLocks noGrp="1"/>
          </p:cNvSpPr>
          <p:nvPr/>
        </p:nvSpPr>
        <p:spPr>
          <a:xfrm>
            <a:off x="12858750" y="5560219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04BF2BEF-9AC3-4C35-B14A-8E22190D31D1}"/>
              </a:ext>
            </a:extLst>
          </p:cNvPr>
          <p:cNvSpPr>
            <a:spLocks noGrp="1"/>
          </p:cNvSpPr>
          <p:nvPr/>
        </p:nvSpPr>
        <p:spPr>
          <a:xfrm>
            <a:off x="12858750" y="56554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9651111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0" grpId="0"/>
      <p:bldP spid="12" grpId="0"/>
      <p:bldP spid="13" grpId="0"/>
      <p:bldP spid="1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object-1">
            <a:extLst>
              <a:ext uri="{FF2B5EF4-FFF2-40B4-BE49-F238E27FC236}">
                <a16:creationId xmlns:a16="http://schemas.microsoft.com/office/drawing/2014/main" id="{94310AE1-D55C-4B91-92C7-46582B655227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4FC84B64-D3EC-46E1-9A68-FD102FB1C0B1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2 1/2 × 3/4.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A2BC4D00-60D9-4C4D-AFFB-2D0FD9E79D8A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33B379F7-4FE7-4D6D-AEF9-C88C3BB9F64D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Multiply mixed numbers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B858C2C8-33D8-457F-B0B8-C3E6E717413E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C0A8B7E6-B7B2-43FA-8173-073F821A16A2}"/>
              </a:ext>
            </a:extLst>
          </p:cNvPr>
          <p:cNvSpPr>
            <a:spLocks noGrp="1"/>
          </p:cNvSpPr>
          <p:nvPr/>
        </p:nvSpPr>
        <p:spPr>
          <a:xfrm>
            <a:off x="1071563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3D2AD27E-AADB-4DFA-BACE-B30B8798B708}"/>
              </a:ext>
            </a:extLst>
          </p:cNvPr>
          <p:cNvSpPr>
            <a:spLocks noGrp="1"/>
          </p:cNvSpPr>
          <p:nvPr/>
        </p:nvSpPr>
        <p:spPr>
          <a:xfrm>
            <a:off x="1071563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E69D5A86-CB9C-4E35-B185-4E0075AA51ED}"/>
              </a:ext>
            </a:extLst>
          </p:cNvPr>
          <p:cNvSpPr>
            <a:spLocks noGrp="1"/>
          </p:cNvSpPr>
          <p:nvPr/>
        </p:nvSpPr>
        <p:spPr>
          <a:xfrm>
            <a:off x="1071563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08E840E4-391E-465F-9A1E-58096C65CA06}"/>
              </a:ext>
            </a:extLst>
          </p:cNvPr>
          <p:cNvSpPr>
            <a:spLocks noGrp="1"/>
          </p:cNvSpPr>
          <p:nvPr/>
        </p:nvSpPr>
        <p:spPr>
          <a:xfrm>
            <a:off x="3095625" y="3500438"/>
            <a:ext cx="773906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×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2D4B89C1-E018-4446-8F4B-EC592BF1FCF6}"/>
              </a:ext>
            </a:extLst>
          </p:cNvPr>
          <p:cNvSpPr>
            <a:spLocks noGrp="1"/>
          </p:cNvSpPr>
          <p:nvPr/>
        </p:nvSpPr>
        <p:spPr>
          <a:xfrm>
            <a:off x="4345781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53BE3567-1403-4C57-9500-8711C403E28B}"/>
              </a:ext>
            </a:extLst>
          </p:cNvPr>
          <p:cNvSpPr>
            <a:spLocks noGrp="1"/>
          </p:cNvSpPr>
          <p:nvPr/>
        </p:nvSpPr>
        <p:spPr>
          <a:xfrm>
            <a:off x="4345781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88C5F2E2-E124-4DF5-83AC-A922C65E7721}"/>
              </a:ext>
            </a:extLst>
          </p:cNvPr>
          <p:cNvSpPr>
            <a:spLocks noGrp="1"/>
          </p:cNvSpPr>
          <p:nvPr/>
        </p:nvSpPr>
        <p:spPr>
          <a:xfrm>
            <a:off x="4345781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50D68C37-49FE-42BD-898F-F9C29B014DED}"/>
              </a:ext>
            </a:extLst>
          </p:cNvPr>
          <p:cNvSpPr>
            <a:spLocks noGrp="1"/>
          </p:cNvSpPr>
          <p:nvPr/>
        </p:nvSpPr>
        <p:spPr>
          <a:xfrm>
            <a:off x="9227344" y="2869406"/>
            <a:ext cx="428625" cy="42862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B4BFD462-876C-4F34-877A-C0C5B2D163F0}"/>
              </a:ext>
            </a:extLst>
          </p:cNvPr>
          <p:cNvSpPr>
            <a:spLocks noGrp="1"/>
          </p:cNvSpPr>
          <p:nvPr/>
        </p:nvSpPr>
        <p:spPr>
          <a:xfrm>
            <a:off x="9655969" y="2869406"/>
            <a:ext cx="428625" cy="42862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DDCFA901-BBEE-4A9A-B730-0AD6DFF35EA5}"/>
              </a:ext>
            </a:extLst>
          </p:cNvPr>
          <p:cNvSpPr>
            <a:spLocks noGrp="1"/>
          </p:cNvSpPr>
          <p:nvPr/>
        </p:nvSpPr>
        <p:spPr>
          <a:xfrm>
            <a:off x="10084594" y="2869406"/>
            <a:ext cx="428625" cy="42862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32B20DC6-AA3E-419B-895F-E8B543B820E9}"/>
              </a:ext>
            </a:extLst>
          </p:cNvPr>
          <p:cNvSpPr>
            <a:spLocks noGrp="1"/>
          </p:cNvSpPr>
          <p:nvPr/>
        </p:nvSpPr>
        <p:spPr>
          <a:xfrm>
            <a:off x="10513219" y="2869406"/>
            <a:ext cx="428625" cy="42862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4C8E25C5-134C-407D-972A-5D7A66D53CB0}"/>
              </a:ext>
            </a:extLst>
          </p:cNvPr>
          <p:cNvSpPr>
            <a:spLocks noGrp="1"/>
          </p:cNvSpPr>
          <p:nvPr/>
        </p:nvSpPr>
        <p:spPr>
          <a:xfrm>
            <a:off x="10941844" y="2869406"/>
            <a:ext cx="428625" cy="42862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09DCBFA9-CC4B-4429-8E6F-B5D8BA74AA9D}"/>
              </a:ext>
            </a:extLst>
          </p:cNvPr>
          <p:cNvSpPr>
            <a:spLocks noGrp="1"/>
          </p:cNvSpPr>
          <p:nvPr/>
        </p:nvSpPr>
        <p:spPr>
          <a:xfrm>
            <a:off x="11370469" y="2869406"/>
            <a:ext cx="428625" cy="428625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2184CF81-F34C-4359-B22C-DD8C2BCC85A7}"/>
              </a:ext>
            </a:extLst>
          </p:cNvPr>
          <p:cNvSpPr>
            <a:spLocks noGrp="1"/>
          </p:cNvSpPr>
          <p:nvPr/>
        </p:nvSpPr>
        <p:spPr>
          <a:xfrm>
            <a:off x="9227344" y="3298031"/>
            <a:ext cx="428625" cy="42862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B5391BBC-8669-48EB-ADD0-BBB5BE996F66}"/>
              </a:ext>
            </a:extLst>
          </p:cNvPr>
          <p:cNvSpPr>
            <a:spLocks noGrp="1"/>
          </p:cNvSpPr>
          <p:nvPr/>
        </p:nvSpPr>
        <p:spPr>
          <a:xfrm>
            <a:off x="9655969" y="3298031"/>
            <a:ext cx="428625" cy="42862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7BAEF4F1-F1B5-4B37-8881-9F186E8D02CF}"/>
              </a:ext>
            </a:extLst>
          </p:cNvPr>
          <p:cNvSpPr>
            <a:spLocks noGrp="1"/>
          </p:cNvSpPr>
          <p:nvPr/>
        </p:nvSpPr>
        <p:spPr>
          <a:xfrm>
            <a:off x="10084594" y="3298031"/>
            <a:ext cx="428625" cy="42862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79D6040F-860C-4423-92FA-39E6D9327CB5}"/>
              </a:ext>
            </a:extLst>
          </p:cNvPr>
          <p:cNvSpPr>
            <a:spLocks noGrp="1"/>
          </p:cNvSpPr>
          <p:nvPr/>
        </p:nvSpPr>
        <p:spPr>
          <a:xfrm>
            <a:off x="10513219" y="3298031"/>
            <a:ext cx="428625" cy="42862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B5E7F766-DCF1-4D65-B25B-67FC371CA85F}"/>
              </a:ext>
            </a:extLst>
          </p:cNvPr>
          <p:cNvSpPr>
            <a:spLocks noGrp="1"/>
          </p:cNvSpPr>
          <p:nvPr/>
        </p:nvSpPr>
        <p:spPr>
          <a:xfrm>
            <a:off x="10941844" y="3298031"/>
            <a:ext cx="428625" cy="42862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269CCE14-FAFC-41BB-A9EB-54EC62AA2CB6}"/>
              </a:ext>
            </a:extLst>
          </p:cNvPr>
          <p:cNvSpPr>
            <a:spLocks noGrp="1"/>
          </p:cNvSpPr>
          <p:nvPr/>
        </p:nvSpPr>
        <p:spPr>
          <a:xfrm>
            <a:off x="11370469" y="3298031"/>
            <a:ext cx="428625" cy="428625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231C52A9-7A86-4539-BAFA-F1C8095D88F7}"/>
              </a:ext>
            </a:extLst>
          </p:cNvPr>
          <p:cNvSpPr>
            <a:spLocks noGrp="1"/>
          </p:cNvSpPr>
          <p:nvPr/>
        </p:nvSpPr>
        <p:spPr>
          <a:xfrm>
            <a:off x="9227344" y="3726656"/>
            <a:ext cx="428625" cy="42862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B900B618-3EED-49A4-96DC-E380BB94E71F}"/>
              </a:ext>
            </a:extLst>
          </p:cNvPr>
          <p:cNvSpPr>
            <a:spLocks noGrp="1"/>
          </p:cNvSpPr>
          <p:nvPr/>
        </p:nvSpPr>
        <p:spPr>
          <a:xfrm>
            <a:off x="9655969" y="3726656"/>
            <a:ext cx="428625" cy="42862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29DC5B5E-D7EA-4057-9877-2F30C6CA56CE}"/>
              </a:ext>
            </a:extLst>
          </p:cNvPr>
          <p:cNvSpPr>
            <a:spLocks noGrp="1"/>
          </p:cNvSpPr>
          <p:nvPr/>
        </p:nvSpPr>
        <p:spPr>
          <a:xfrm>
            <a:off x="10084594" y="3726656"/>
            <a:ext cx="428625" cy="42862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8E597971-8D26-4BB9-8D53-D8BA265A7ECA}"/>
              </a:ext>
            </a:extLst>
          </p:cNvPr>
          <p:cNvSpPr>
            <a:spLocks noGrp="1"/>
          </p:cNvSpPr>
          <p:nvPr/>
        </p:nvSpPr>
        <p:spPr>
          <a:xfrm>
            <a:off x="10513219" y="3726656"/>
            <a:ext cx="428625" cy="42862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0D4397C7-C5F6-4C4C-8A84-4268C4A9DF38}"/>
              </a:ext>
            </a:extLst>
          </p:cNvPr>
          <p:cNvSpPr>
            <a:spLocks noGrp="1"/>
          </p:cNvSpPr>
          <p:nvPr/>
        </p:nvSpPr>
        <p:spPr>
          <a:xfrm>
            <a:off x="10941844" y="3726656"/>
            <a:ext cx="428625" cy="428625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5D8B0AAB-DBB0-4734-B934-64FE8BD48047}"/>
              </a:ext>
            </a:extLst>
          </p:cNvPr>
          <p:cNvSpPr>
            <a:spLocks noGrp="1"/>
          </p:cNvSpPr>
          <p:nvPr/>
        </p:nvSpPr>
        <p:spPr>
          <a:xfrm>
            <a:off x="11370469" y="3726656"/>
            <a:ext cx="428625" cy="428625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90CEB24D-E855-4B4D-9F97-C6B590B7332D}"/>
              </a:ext>
            </a:extLst>
          </p:cNvPr>
          <p:cNvSpPr>
            <a:spLocks noGrp="1"/>
          </p:cNvSpPr>
          <p:nvPr/>
        </p:nvSpPr>
        <p:spPr>
          <a:xfrm>
            <a:off x="9227344" y="4155281"/>
            <a:ext cx="428625" cy="428625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5F8D0CA6-BAFB-440A-982B-D18763244E50}"/>
              </a:ext>
            </a:extLst>
          </p:cNvPr>
          <p:cNvSpPr>
            <a:spLocks noGrp="1"/>
          </p:cNvSpPr>
          <p:nvPr/>
        </p:nvSpPr>
        <p:spPr>
          <a:xfrm>
            <a:off x="9655969" y="4155281"/>
            <a:ext cx="428625" cy="428625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13976A09-DE33-424F-B0B8-7EB7B5425281}"/>
              </a:ext>
            </a:extLst>
          </p:cNvPr>
          <p:cNvSpPr>
            <a:spLocks noGrp="1"/>
          </p:cNvSpPr>
          <p:nvPr/>
        </p:nvSpPr>
        <p:spPr>
          <a:xfrm>
            <a:off x="10084594" y="4155281"/>
            <a:ext cx="428625" cy="428625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D0217737-C562-40C1-8C0A-3A85C3A7EDE8}"/>
              </a:ext>
            </a:extLst>
          </p:cNvPr>
          <p:cNvSpPr>
            <a:spLocks noGrp="1"/>
          </p:cNvSpPr>
          <p:nvPr/>
        </p:nvSpPr>
        <p:spPr>
          <a:xfrm>
            <a:off x="10513219" y="4155281"/>
            <a:ext cx="428625" cy="428625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666D43A6-5A1F-41CF-9922-71A53B9D4BA3}"/>
              </a:ext>
            </a:extLst>
          </p:cNvPr>
          <p:cNvSpPr>
            <a:spLocks noGrp="1"/>
          </p:cNvSpPr>
          <p:nvPr/>
        </p:nvSpPr>
        <p:spPr>
          <a:xfrm>
            <a:off x="10941844" y="4155281"/>
            <a:ext cx="428625" cy="428625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3765DA97-3640-4243-8F5D-5B21EB172DB7}"/>
              </a:ext>
            </a:extLst>
          </p:cNvPr>
          <p:cNvSpPr>
            <a:spLocks noGrp="1"/>
          </p:cNvSpPr>
          <p:nvPr/>
        </p:nvSpPr>
        <p:spPr>
          <a:xfrm>
            <a:off x="11370469" y="4155281"/>
            <a:ext cx="428625" cy="428625"/>
          </a:xfrm>
          <a:prstGeom prst="rect">
            <a:avLst/>
          </a:prstGeom>
          <a:solidFill>
            <a:srgbClr val="FFFFFF"/>
          </a:solidFill>
          <a:ln w="11906">
            <a:solidFill>
              <a:srgbClr val="172B4D"/>
            </a:solidFill>
          </a:ln>
        </p:spPr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8118FA42-284E-4A5C-8A77-8155867D4274}"/>
              </a:ext>
            </a:extLst>
          </p:cNvPr>
          <p:cNvSpPr>
            <a:spLocks noGrp="1"/>
          </p:cNvSpPr>
          <p:nvPr/>
        </p:nvSpPr>
        <p:spPr>
          <a:xfrm>
            <a:off x="952500" y="6607969"/>
            <a:ext cx="13335000" cy="53578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531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531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5 × 3 = 15;  2 × 4 = 8.</a:t>
            </a:r>
          </a:p>
        </p:txBody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738DEFCC-DF89-4522-84CC-DD09D1CE04EC}"/>
              </a:ext>
            </a:extLst>
          </p:cNvPr>
          <p:cNvSpPr>
            <a:spLocks noGrp="1"/>
          </p:cNvSpPr>
          <p:nvPr/>
        </p:nvSpPr>
        <p:spPr>
          <a:xfrm>
            <a:off x="892969" y="7262813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Answer: 1 7/8</a:t>
            </a:r>
          </a:p>
        </p:txBody>
      </p:sp>
    </p:spTree>
    <p:extLst>
      <p:ext uri="{BB962C8B-B14F-4D97-AF65-F5344CB8AC3E}">
        <p14:creationId xmlns:p14="http://schemas.microsoft.com/office/powerpoint/2010/main" val="449869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/>
      <p:bldP spid="3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object-1">
            <a:extLst>
              <a:ext uri="{FF2B5EF4-FFF2-40B4-BE49-F238E27FC236}">
                <a16:creationId xmlns:a16="http://schemas.microsoft.com/office/drawing/2014/main" id="{91CEDBBD-203F-4C9F-B941-3DC7F81F7D39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A25461CB-28CD-4D42-AACD-A6C27B19642D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7F988D23-ACF2-4C22-B414-B36217449132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3 1/2 × 3/4.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549E29DA-C663-46FB-BB5F-6F26F00C7636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26319BE4-E024-46D2-8F94-31001D15278C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Multiply mixed numbers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8FFA7374-C874-4555-9024-46AD442E92B7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C50066F8-ECBA-43DA-8072-ED48789AEF75}"/>
              </a:ext>
            </a:extLst>
          </p:cNvPr>
          <p:cNvSpPr>
            <a:spLocks noGrp="1"/>
          </p:cNvSpPr>
          <p:nvPr/>
        </p:nvSpPr>
        <p:spPr>
          <a:xfrm>
            <a:off x="1012031" y="2917031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 1/2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84C4686E-A1CD-4A14-B012-C440069FD486}"/>
              </a:ext>
            </a:extLst>
          </p:cNvPr>
          <p:cNvSpPr>
            <a:spLocks noGrp="1"/>
          </p:cNvSpPr>
          <p:nvPr/>
        </p:nvSpPr>
        <p:spPr>
          <a:xfrm>
            <a:off x="4167188" y="2917031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 × 2 + 1 = 7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4809E3C8-99CF-410E-A9DA-DB9FF1DF8333}"/>
              </a:ext>
            </a:extLst>
          </p:cNvPr>
          <p:cNvSpPr>
            <a:spLocks noGrp="1"/>
          </p:cNvSpPr>
          <p:nvPr/>
        </p:nvSpPr>
        <p:spPr>
          <a:xfrm>
            <a:off x="12858750" y="26193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093D9CB8-04B2-435D-92A6-3045E849A669}"/>
              </a:ext>
            </a:extLst>
          </p:cNvPr>
          <p:cNvSpPr>
            <a:spLocks noGrp="1"/>
          </p:cNvSpPr>
          <p:nvPr/>
        </p:nvSpPr>
        <p:spPr>
          <a:xfrm>
            <a:off x="12858750" y="3476625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E88B3AE0-AFDA-4A21-8BC2-1CE501E8F6EE}"/>
              </a:ext>
            </a:extLst>
          </p:cNvPr>
          <p:cNvSpPr>
            <a:spLocks noGrp="1"/>
          </p:cNvSpPr>
          <p:nvPr/>
        </p:nvSpPr>
        <p:spPr>
          <a:xfrm>
            <a:off x="12858750" y="35718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F3A0FB68-106F-46D5-B5E6-40BC1D87E4A7}"/>
              </a:ext>
            </a:extLst>
          </p:cNvPr>
          <p:cNvSpPr>
            <a:spLocks noGrp="1"/>
          </p:cNvSpPr>
          <p:nvPr/>
        </p:nvSpPr>
        <p:spPr>
          <a:xfrm>
            <a:off x="1012031" y="5000625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3/4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8B56A565-DC0A-4AF1-8A04-11B31578E9D3}"/>
              </a:ext>
            </a:extLst>
          </p:cNvPr>
          <p:cNvSpPr>
            <a:spLocks noGrp="1"/>
          </p:cNvSpPr>
          <p:nvPr/>
        </p:nvSpPr>
        <p:spPr>
          <a:xfrm>
            <a:off x="4167188" y="5000625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0 × 4 + 3 = 3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43966CDA-8B01-43E7-98D5-C5512EB43229}"/>
              </a:ext>
            </a:extLst>
          </p:cNvPr>
          <p:cNvSpPr>
            <a:spLocks noGrp="1"/>
          </p:cNvSpPr>
          <p:nvPr/>
        </p:nvSpPr>
        <p:spPr>
          <a:xfrm>
            <a:off x="12858750" y="47029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9B72D567-2B39-4BBC-8FD7-180283697833}"/>
              </a:ext>
            </a:extLst>
          </p:cNvPr>
          <p:cNvSpPr>
            <a:spLocks noGrp="1"/>
          </p:cNvSpPr>
          <p:nvPr/>
        </p:nvSpPr>
        <p:spPr>
          <a:xfrm>
            <a:off x="12858750" y="5560219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51BD0530-E2DF-44A7-952A-CFD300597979}"/>
              </a:ext>
            </a:extLst>
          </p:cNvPr>
          <p:cNvSpPr>
            <a:spLocks noGrp="1"/>
          </p:cNvSpPr>
          <p:nvPr/>
        </p:nvSpPr>
        <p:spPr>
          <a:xfrm>
            <a:off x="12858750" y="56554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6044427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1" grpId="0"/>
      <p:bldP spid="13" grpId="0"/>
      <p:bldP spid="14" grpId="0"/>
      <p:bldP spid="1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object-1">
            <a:extLst>
              <a:ext uri="{FF2B5EF4-FFF2-40B4-BE49-F238E27FC236}">
                <a16:creationId xmlns:a16="http://schemas.microsoft.com/office/drawing/2014/main" id="{D039E970-DCE3-4D52-A104-59BF0786D51D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AE8918FB-A96A-41A4-8C4A-B1AD7AEDE9CB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69697007-AAF1-489A-A737-FE8DBC63B8E1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3 1/2 × 3/4.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F7697C54-A64B-4772-A583-3CE9316DDD26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088C0A48-2999-4104-B75E-F258FCEB9C2B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Multiply mixed numbers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B1E0849C-68B1-4600-B0E9-F262671FC22D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BDBB9CA9-DDC6-431E-9C5A-51F0397F0298}"/>
              </a:ext>
            </a:extLst>
          </p:cNvPr>
          <p:cNvSpPr>
            <a:spLocks noGrp="1"/>
          </p:cNvSpPr>
          <p:nvPr/>
        </p:nvSpPr>
        <p:spPr>
          <a:xfrm>
            <a:off x="1071563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06C2FD71-F795-40B2-86CE-1CE071BD14FE}"/>
              </a:ext>
            </a:extLst>
          </p:cNvPr>
          <p:cNvSpPr>
            <a:spLocks noGrp="1"/>
          </p:cNvSpPr>
          <p:nvPr/>
        </p:nvSpPr>
        <p:spPr>
          <a:xfrm>
            <a:off x="1071563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C290DF1B-3F40-4CA3-B387-98AB86AD2FE2}"/>
              </a:ext>
            </a:extLst>
          </p:cNvPr>
          <p:cNvSpPr>
            <a:spLocks noGrp="1"/>
          </p:cNvSpPr>
          <p:nvPr/>
        </p:nvSpPr>
        <p:spPr>
          <a:xfrm>
            <a:off x="1071563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FA95DC83-2024-40F8-A4BB-1CD8AE852B31}"/>
              </a:ext>
            </a:extLst>
          </p:cNvPr>
          <p:cNvSpPr>
            <a:spLocks noGrp="1"/>
          </p:cNvSpPr>
          <p:nvPr/>
        </p:nvSpPr>
        <p:spPr>
          <a:xfrm>
            <a:off x="3095625" y="3500438"/>
            <a:ext cx="773906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×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71FD7D02-7565-4F34-88C6-F3911A3EB77D}"/>
              </a:ext>
            </a:extLst>
          </p:cNvPr>
          <p:cNvSpPr>
            <a:spLocks noGrp="1"/>
          </p:cNvSpPr>
          <p:nvPr/>
        </p:nvSpPr>
        <p:spPr>
          <a:xfrm>
            <a:off x="4345781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2C087D9A-5059-4E83-B4B6-56A810FA28C4}"/>
              </a:ext>
            </a:extLst>
          </p:cNvPr>
          <p:cNvSpPr>
            <a:spLocks noGrp="1"/>
          </p:cNvSpPr>
          <p:nvPr/>
        </p:nvSpPr>
        <p:spPr>
          <a:xfrm>
            <a:off x="4345781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AD022649-C323-485A-AACD-A4C33077F15D}"/>
              </a:ext>
            </a:extLst>
          </p:cNvPr>
          <p:cNvSpPr>
            <a:spLocks noGrp="1"/>
          </p:cNvSpPr>
          <p:nvPr/>
        </p:nvSpPr>
        <p:spPr>
          <a:xfrm>
            <a:off x="4345781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C6E22A65-8728-46EA-99D8-5A3731FE0364}"/>
              </a:ext>
            </a:extLst>
          </p:cNvPr>
          <p:cNvSpPr>
            <a:spLocks noGrp="1"/>
          </p:cNvSpPr>
          <p:nvPr/>
        </p:nvSpPr>
        <p:spPr>
          <a:xfrm>
            <a:off x="9227344" y="2869406"/>
            <a:ext cx="372070" cy="372070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61DE3DFC-FC50-463C-971A-240B3FDE6E14}"/>
              </a:ext>
            </a:extLst>
          </p:cNvPr>
          <p:cNvSpPr>
            <a:spLocks noGrp="1"/>
          </p:cNvSpPr>
          <p:nvPr/>
        </p:nvSpPr>
        <p:spPr>
          <a:xfrm>
            <a:off x="9599414" y="2869406"/>
            <a:ext cx="372070" cy="372070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E1EBCCE7-4DDF-4253-A777-3263E65B7291}"/>
              </a:ext>
            </a:extLst>
          </p:cNvPr>
          <p:cNvSpPr>
            <a:spLocks noGrp="1"/>
          </p:cNvSpPr>
          <p:nvPr/>
        </p:nvSpPr>
        <p:spPr>
          <a:xfrm>
            <a:off x="9971484" y="2869406"/>
            <a:ext cx="372070" cy="372070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394C0FCD-3440-44A7-90C4-B1447F1EEBB5}"/>
              </a:ext>
            </a:extLst>
          </p:cNvPr>
          <p:cNvSpPr>
            <a:spLocks noGrp="1"/>
          </p:cNvSpPr>
          <p:nvPr/>
        </p:nvSpPr>
        <p:spPr>
          <a:xfrm>
            <a:off x="10343555" y="2869406"/>
            <a:ext cx="372070" cy="372070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A2DAAEE4-0B6A-4816-B43C-1770F3D2C440}"/>
              </a:ext>
            </a:extLst>
          </p:cNvPr>
          <p:cNvSpPr>
            <a:spLocks noGrp="1"/>
          </p:cNvSpPr>
          <p:nvPr/>
        </p:nvSpPr>
        <p:spPr>
          <a:xfrm>
            <a:off x="10715625" y="2869406"/>
            <a:ext cx="372070" cy="372070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8E0968BD-52BE-4606-9A6E-74B9D6B2A326}"/>
              </a:ext>
            </a:extLst>
          </p:cNvPr>
          <p:cNvSpPr>
            <a:spLocks noGrp="1"/>
          </p:cNvSpPr>
          <p:nvPr/>
        </p:nvSpPr>
        <p:spPr>
          <a:xfrm>
            <a:off x="11087695" y="2869406"/>
            <a:ext cx="372070" cy="372070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6AD8867F-0E30-4B7B-B8B2-A5658695D997}"/>
              </a:ext>
            </a:extLst>
          </p:cNvPr>
          <p:cNvSpPr>
            <a:spLocks noGrp="1"/>
          </p:cNvSpPr>
          <p:nvPr/>
        </p:nvSpPr>
        <p:spPr>
          <a:xfrm>
            <a:off x="11459766" y="2869406"/>
            <a:ext cx="372070" cy="372070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A6215B52-3C94-4B52-83BF-FC06D847B716}"/>
              </a:ext>
            </a:extLst>
          </p:cNvPr>
          <p:cNvSpPr>
            <a:spLocks noGrp="1"/>
          </p:cNvSpPr>
          <p:nvPr/>
        </p:nvSpPr>
        <p:spPr>
          <a:xfrm>
            <a:off x="11831836" y="2869406"/>
            <a:ext cx="372070" cy="372070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027EF4FD-B500-4F4F-B814-C8A01111EA60}"/>
              </a:ext>
            </a:extLst>
          </p:cNvPr>
          <p:cNvSpPr>
            <a:spLocks noGrp="1"/>
          </p:cNvSpPr>
          <p:nvPr/>
        </p:nvSpPr>
        <p:spPr>
          <a:xfrm>
            <a:off x="9227344" y="3241477"/>
            <a:ext cx="372070" cy="372070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990F41BB-063A-4E76-B1FC-E00EBC472CD9}"/>
              </a:ext>
            </a:extLst>
          </p:cNvPr>
          <p:cNvSpPr>
            <a:spLocks noGrp="1"/>
          </p:cNvSpPr>
          <p:nvPr/>
        </p:nvSpPr>
        <p:spPr>
          <a:xfrm>
            <a:off x="9599414" y="3241477"/>
            <a:ext cx="372070" cy="372070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0A79CFEB-3C6E-40AB-8E9F-98D20D8180BC}"/>
              </a:ext>
            </a:extLst>
          </p:cNvPr>
          <p:cNvSpPr>
            <a:spLocks noGrp="1"/>
          </p:cNvSpPr>
          <p:nvPr/>
        </p:nvSpPr>
        <p:spPr>
          <a:xfrm>
            <a:off x="9971484" y="3241477"/>
            <a:ext cx="372070" cy="372070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B2AE8EA3-E6E6-4B57-830E-AB37B7448F14}"/>
              </a:ext>
            </a:extLst>
          </p:cNvPr>
          <p:cNvSpPr>
            <a:spLocks noGrp="1"/>
          </p:cNvSpPr>
          <p:nvPr/>
        </p:nvSpPr>
        <p:spPr>
          <a:xfrm>
            <a:off x="10343555" y="3241477"/>
            <a:ext cx="372070" cy="372070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4BBA6944-6B64-4A5F-B9D7-E3558E7A554A}"/>
              </a:ext>
            </a:extLst>
          </p:cNvPr>
          <p:cNvSpPr>
            <a:spLocks noGrp="1"/>
          </p:cNvSpPr>
          <p:nvPr/>
        </p:nvSpPr>
        <p:spPr>
          <a:xfrm>
            <a:off x="10715625" y="3241477"/>
            <a:ext cx="372070" cy="372070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4F533C24-FF63-4DD0-A910-CA0AA230BE4D}"/>
              </a:ext>
            </a:extLst>
          </p:cNvPr>
          <p:cNvSpPr>
            <a:spLocks noGrp="1"/>
          </p:cNvSpPr>
          <p:nvPr/>
        </p:nvSpPr>
        <p:spPr>
          <a:xfrm>
            <a:off x="11087695" y="3241477"/>
            <a:ext cx="372070" cy="372070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F74D2550-F2BE-4BBE-8D28-6D279E453658}"/>
              </a:ext>
            </a:extLst>
          </p:cNvPr>
          <p:cNvSpPr>
            <a:spLocks noGrp="1"/>
          </p:cNvSpPr>
          <p:nvPr/>
        </p:nvSpPr>
        <p:spPr>
          <a:xfrm>
            <a:off x="11459766" y="3241477"/>
            <a:ext cx="372070" cy="372070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2E5061AA-F70F-4784-992A-1386782A4D63}"/>
              </a:ext>
            </a:extLst>
          </p:cNvPr>
          <p:cNvSpPr>
            <a:spLocks noGrp="1"/>
          </p:cNvSpPr>
          <p:nvPr/>
        </p:nvSpPr>
        <p:spPr>
          <a:xfrm>
            <a:off x="11831836" y="3241477"/>
            <a:ext cx="372070" cy="372070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9A40ADDF-1A9C-43D4-9337-6DEC58DBACEB}"/>
              </a:ext>
            </a:extLst>
          </p:cNvPr>
          <p:cNvSpPr>
            <a:spLocks noGrp="1"/>
          </p:cNvSpPr>
          <p:nvPr/>
        </p:nvSpPr>
        <p:spPr>
          <a:xfrm>
            <a:off x="9227344" y="3613547"/>
            <a:ext cx="372070" cy="372070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57710E79-0F97-47B7-8800-A52754899A60}"/>
              </a:ext>
            </a:extLst>
          </p:cNvPr>
          <p:cNvSpPr>
            <a:spLocks noGrp="1"/>
          </p:cNvSpPr>
          <p:nvPr/>
        </p:nvSpPr>
        <p:spPr>
          <a:xfrm>
            <a:off x="9599414" y="3613547"/>
            <a:ext cx="372070" cy="372070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AF7866BD-D223-4D8E-8405-CF03FDF6FBB7}"/>
              </a:ext>
            </a:extLst>
          </p:cNvPr>
          <p:cNvSpPr>
            <a:spLocks noGrp="1"/>
          </p:cNvSpPr>
          <p:nvPr/>
        </p:nvSpPr>
        <p:spPr>
          <a:xfrm>
            <a:off x="9971484" y="3613547"/>
            <a:ext cx="372070" cy="372070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78D6531B-9114-4F94-B6BB-768961F29603}"/>
              </a:ext>
            </a:extLst>
          </p:cNvPr>
          <p:cNvSpPr>
            <a:spLocks noGrp="1"/>
          </p:cNvSpPr>
          <p:nvPr/>
        </p:nvSpPr>
        <p:spPr>
          <a:xfrm>
            <a:off x="10343555" y="3613547"/>
            <a:ext cx="372070" cy="372070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C2051382-9B2E-4E23-8EA3-863D56B73B74}"/>
              </a:ext>
            </a:extLst>
          </p:cNvPr>
          <p:cNvSpPr>
            <a:spLocks noGrp="1"/>
          </p:cNvSpPr>
          <p:nvPr/>
        </p:nvSpPr>
        <p:spPr>
          <a:xfrm>
            <a:off x="10715625" y="3613547"/>
            <a:ext cx="372070" cy="372070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7485C72C-ED69-4447-8F31-5A722CC1D040}"/>
              </a:ext>
            </a:extLst>
          </p:cNvPr>
          <p:cNvSpPr>
            <a:spLocks noGrp="1"/>
          </p:cNvSpPr>
          <p:nvPr/>
        </p:nvSpPr>
        <p:spPr>
          <a:xfrm>
            <a:off x="11087695" y="3613547"/>
            <a:ext cx="372070" cy="372070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600F2A03-24F9-4AEC-9294-0A6E9B14213F}"/>
              </a:ext>
            </a:extLst>
          </p:cNvPr>
          <p:cNvSpPr>
            <a:spLocks noGrp="1"/>
          </p:cNvSpPr>
          <p:nvPr/>
        </p:nvSpPr>
        <p:spPr>
          <a:xfrm>
            <a:off x="11459766" y="3613547"/>
            <a:ext cx="372070" cy="372070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06CAF3D6-C19C-44BC-9FF9-892235EA3463}"/>
              </a:ext>
            </a:extLst>
          </p:cNvPr>
          <p:cNvSpPr>
            <a:spLocks noGrp="1"/>
          </p:cNvSpPr>
          <p:nvPr/>
        </p:nvSpPr>
        <p:spPr>
          <a:xfrm>
            <a:off x="11831836" y="3613547"/>
            <a:ext cx="372070" cy="372070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B1A92D39-1F93-45D6-9D0D-6EA178288559}"/>
              </a:ext>
            </a:extLst>
          </p:cNvPr>
          <p:cNvSpPr>
            <a:spLocks noGrp="1"/>
          </p:cNvSpPr>
          <p:nvPr/>
        </p:nvSpPr>
        <p:spPr>
          <a:xfrm>
            <a:off x="9227344" y="3985617"/>
            <a:ext cx="372070" cy="372070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39" name="object-39">
            <a:extLst>
              <a:ext uri="{FF2B5EF4-FFF2-40B4-BE49-F238E27FC236}">
                <a16:creationId xmlns:a16="http://schemas.microsoft.com/office/drawing/2014/main" id="{CA491AC9-B39B-4267-8AEC-5FA3D1CF93C4}"/>
              </a:ext>
            </a:extLst>
          </p:cNvPr>
          <p:cNvSpPr>
            <a:spLocks noGrp="1"/>
          </p:cNvSpPr>
          <p:nvPr/>
        </p:nvSpPr>
        <p:spPr>
          <a:xfrm>
            <a:off x="9599414" y="3985617"/>
            <a:ext cx="372070" cy="372070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40" name="object-40">
            <a:extLst>
              <a:ext uri="{FF2B5EF4-FFF2-40B4-BE49-F238E27FC236}">
                <a16:creationId xmlns:a16="http://schemas.microsoft.com/office/drawing/2014/main" id="{3B823BFD-5E6D-4E59-81B1-58E64EACEF1D}"/>
              </a:ext>
            </a:extLst>
          </p:cNvPr>
          <p:cNvSpPr>
            <a:spLocks noGrp="1"/>
          </p:cNvSpPr>
          <p:nvPr/>
        </p:nvSpPr>
        <p:spPr>
          <a:xfrm>
            <a:off x="9971484" y="3985617"/>
            <a:ext cx="372070" cy="372070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41" name="object-41">
            <a:extLst>
              <a:ext uri="{FF2B5EF4-FFF2-40B4-BE49-F238E27FC236}">
                <a16:creationId xmlns:a16="http://schemas.microsoft.com/office/drawing/2014/main" id="{8EA3D037-772A-4837-BADA-A49998B75B24}"/>
              </a:ext>
            </a:extLst>
          </p:cNvPr>
          <p:cNvSpPr>
            <a:spLocks noGrp="1"/>
          </p:cNvSpPr>
          <p:nvPr/>
        </p:nvSpPr>
        <p:spPr>
          <a:xfrm>
            <a:off x="10343555" y="3985617"/>
            <a:ext cx="372070" cy="372070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42" name="object-42">
            <a:extLst>
              <a:ext uri="{FF2B5EF4-FFF2-40B4-BE49-F238E27FC236}">
                <a16:creationId xmlns:a16="http://schemas.microsoft.com/office/drawing/2014/main" id="{BB83EE86-699A-4FFD-BF3C-988438486C54}"/>
              </a:ext>
            </a:extLst>
          </p:cNvPr>
          <p:cNvSpPr>
            <a:spLocks noGrp="1"/>
          </p:cNvSpPr>
          <p:nvPr/>
        </p:nvSpPr>
        <p:spPr>
          <a:xfrm>
            <a:off x="10715625" y="3985617"/>
            <a:ext cx="372070" cy="372070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43" name="object-43">
            <a:extLst>
              <a:ext uri="{FF2B5EF4-FFF2-40B4-BE49-F238E27FC236}">
                <a16:creationId xmlns:a16="http://schemas.microsoft.com/office/drawing/2014/main" id="{24AFDB40-AC65-4A50-ABA6-36750B5E9511}"/>
              </a:ext>
            </a:extLst>
          </p:cNvPr>
          <p:cNvSpPr>
            <a:spLocks noGrp="1"/>
          </p:cNvSpPr>
          <p:nvPr/>
        </p:nvSpPr>
        <p:spPr>
          <a:xfrm>
            <a:off x="11087695" y="3985617"/>
            <a:ext cx="372070" cy="372070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44" name="object-44">
            <a:extLst>
              <a:ext uri="{FF2B5EF4-FFF2-40B4-BE49-F238E27FC236}">
                <a16:creationId xmlns:a16="http://schemas.microsoft.com/office/drawing/2014/main" id="{A089BDE7-DE14-4A4C-AECC-892C89EF1F60}"/>
              </a:ext>
            </a:extLst>
          </p:cNvPr>
          <p:cNvSpPr>
            <a:spLocks noGrp="1"/>
          </p:cNvSpPr>
          <p:nvPr/>
        </p:nvSpPr>
        <p:spPr>
          <a:xfrm>
            <a:off x="11459766" y="3985617"/>
            <a:ext cx="372070" cy="372070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45" name="object-45">
            <a:extLst>
              <a:ext uri="{FF2B5EF4-FFF2-40B4-BE49-F238E27FC236}">
                <a16:creationId xmlns:a16="http://schemas.microsoft.com/office/drawing/2014/main" id="{E474AA7B-6B82-46C6-A492-B853F23215BF}"/>
              </a:ext>
            </a:extLst>
          </p:cNvPr>
          <p:cNvSpPr>
            <a:spLocks noGrp="1"/>
          </p:cNvSpPr>
          <p:nvPr/>
        </p:nvSpPr>
        <p:spPr>
          <a:xfrm>
            <a:off x="11831836" y="3985617"/>
            <a:ext cx="372070" cy="372070"/>
          </a:xfrm>
          <a:prstGeom prst="rect">
            <a:avLst/>
          </a:prstGeom>
          <a:solidFill>
            <a:srgbClr val="FFFFFF"/>
          </a:solidFill>
          <a:ln w="11906">
            <a:solidFill>
              <a:srgbClr val="172B4D"/>
            </a:solidFill>
          </a:ln>
        </p:spPr>
      </p:sp>
      <p:sp>
        <p:nvSpPr>
          <p:cNvPr id="46" name="object-46">
            <a:extLst>
              <a:ext uri="{FF2B5EF4-FFF2-40B4-BE49-F238E27FC236}">
                <a16:creationId xmlns:a16="http://schemas.microsoft.com/office/drawing/2014/main" id="{55CF8645-3C46-4B86-A555-DA27F67CB934}"/>
              </a:ext>
            </a:extLst>
          </p:cNvPr>
          <p:cNvSpPr>
            <a:spLocks noGrp="1"/>
          </p:cNvSpPr>
          <p:nvPr/>
        </p:nvSpPr>
        <p:spPr>
          <a:xfrm>
            <a:off x="952500" y="6607969"/>
            <a:ext cx="13335000" cy="53578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531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531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7 × 3 = 21;  2 × 4 = 8.</a:t>
            </a:r>
          </a:p>
        </p:txBody>
      </p:sp>
      <p:sp>
        <p:nvSpPr>
          <p:cNvPr id="47" name="object-47">
            <a:extLst>
              <a:ext uri="{FF2B5EF4-FFF2-40B4-BE49-F238E27FC236}">
                <a16:creationId xmlns:a16="http://schemas.microsoft.com/office/drawing/2014/main" id="{DCAB2E5B-91A0-4439-8B79-572D0B1455D3}"/>
              </a:ext>
            </a:extLst>
          </p:cNvPr>
          <p:cNvSpPr>
            <a:spLocks noGrp="1"/>
          </p:cNvSpPr>
          <p:nvPr/>
        </p:nvSpPr>
        <p:spPr>
          <a:xfrm>
            <a:off x="892969" y="7262813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Answer: 2 5/8</a:t>
            </a:r>
          </a:p>
        </p:txBody>
      </p:sp>
    </p:spTree>
    <p:extLst>
      <p:ext uri="{BB962C8B-B14F-4D97-AF65-F5344CB8AC3E}">
        <p14:creationId xmlns:p14="http://schemas.microsoft.com/office/powerpoint/2010/main" val="284719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/>
      <p:bldP spid="4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-1">
            <a:extLst>
              <a:ext uri="{FF2B5EF4-FFF2-40B4-BE49-F238E27FC236}">
                <a16:creationId xmlns:a16="http://schemas.microsoft.com/office/drawing/2014/main" id="{B56E408D-CEB2-480C-AE83-8C32A1EA5198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E0EB3460-DB26-4302-862F-0307801F7A60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4 1/2 × 3/4.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2E0BA38D-39CF-4268-83E6-2C6B4E89D5B8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2C8197D2-40F3-4513-BD46-F325376E1DD3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Multiply mixed numbers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712E4F13-21AE-448F-8A44-7BD8385683A4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B100F705-3C70-4020-8A84-E288E538C199}"/>
              </a:ext>
            </a:extLst>
          </p:cNvPr>
          <p:cNvSpPr>
            <a:spLocks noGrp="1"/>
          </p:cNvSpPr>
          <p:nvPr/>
        </p:nvSpPr>
        <p:spPr>
          <a:xfrm>
            <a:off x="1012031" y="2917031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 1/2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1413B398-41B7-4BD3-9B8F-9D3200E90CE3}"/>
              </a:ext>
            </a:extLst>
          </p:cNvPr>
          <p:cNvSpPr>
            <a:spLocks noGrp="1"/>
          </p:cNvSpPr>
          <p:nvPr/>
        </p:nvSpPr>
        <p:spPr>
          <a:xfrm>
            <a:off x="4167188" y="2917031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4 × 2 + 1 = 9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68D94EAD-EE38-428B-B7D8-D1239CED1FB4}"/>
              </a:ext>
            </a:extLst>
          </p:cNvPr>
          <p:cNvSpPr>
            <a:spLocks noGrp="1"/>
          </p:cNvSpPr>
          <p:nvPr/>
        </p:nvSpPr>
        <p:spPr>
          <a:xfrm>
            <a:off x="12858750" y="26193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848B2A92-CC0E-487B-8115-4A653A8934A6}"/>
              </a:ext>
            </a:extLst>
          </p:cNvPr>
          <p:cNvSpPr>
            <a:spLocks noGrp="1"/>
          </p:cNvSpPr>
          <p:nvPr/>
        </p:nvSpPr>
        <p:spPr>
          <a:xfrm>
            <a:off x="12858750" y="3476625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8185585F-2F5B-4373-84F2-7A3FCC5EB499}"/>
              </a:ext>
            </a:extLst>
          </p:cNvPr>
          <p:cNvSpPr>
            <a:spLocks noGrp="1"/>
          </p:cNvSpPr>
          <p:nvPr/>
        </p:nvSpPr>
        <p:spPr>
          <a:xfrm>
            <a:off x="12858750" y="35718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9659D0B2-EA6C-4487-B329-7180D18CED01}"/>
              </a:ext>
            </a:extLst>
          </p:cNvPr>
          <p:cNvSpPr>
            <a:spLocks noGrp="1"/>
          </p:cNvSpPr>
          <p:nvPr/>
        </p:nvSpPr>
        <p:spPr>
          <a:xfrm>
            <a:off x="1012031" y="5000625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3/4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11BFDB9B-09AA-469A-B15F-5FCE37188ADE}"/>
              </a:ext>
            </a:extLst>
          </p:cNvPr>
          <p:cNvSpPr>
            <a:spLocks noGrp="1"/>
          </p:cNvSpPr>
          <p:nvPr/>
        </p:nvSpPr>
        <p:spPr>
          <a:xfrm>
            <a:off x="4167188" y="5000625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0 × 4 + 3 = 3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72323069-AE88-49B6-9964-BD9F1EA0EA4A}"/>
              </a:ext>
            </a:extLst>
          </p:cNvPr>
          <p:cNvSpPr>
            <a:spLocks noGrp="1"/>
          </p:cNvSpPr>
          <p:nvPr/>
        </p:nvSpPr>
        <p:spPr>
          <a:xfrm>
            <a:off x="12858750" y="47029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8CC3D614-1761-4FCD-87DC-9B51786B66D6}"/>
              </a:ext>
            </a:extLst>
          </p:cNvPr>
          <p:cNvSpPr>
            <a:spLocks noGrp="1"/>
          </p:cNvSpPr>
          <p:nvPr/>
        </p:nvSpPr>
        <p:spPr>
          <a:xfrm>
            <a:off x="12858750" y="5560219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F1932967-1AA4-47DE-B13F-51A56CDE245A}"/>
              </a:ext>
            </a:extLst>
          </p:cNvPr>
          <p:cNvSpPr>
            <a:spLocks noGrp="1"/>
          </p:cNvSpPr>
          <p:nvPr/>
        </p:nvSpPr>
        <p:spPr>
          <a:xfrm>
            <a:off x="12858750" y="56554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6253470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0" grpId="0"/>
      <p:bldP spid="12" grpId="0"/>
      <p:bldP spid="13" grpId="0"/>
      <p:bldP spid="1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object-1">
            <a:extLst>
              <a:ext uri="{FF2B5EF4-FFF2-40B4-BE49-F238E27FC236}">
                <a16:creationId xmlns:a16="http://schemas.microsoft.com/office/drawing/2014/main" id="{538B153B-1872-400B-AD40-6289C7902BCF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DB5302D9-468D-49A5-9F6B-9E72CCF41BE9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4 1/2 × 3/4.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484CF789-DAB2-4227-9922-3F96D5FE3EBF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981B4F19-46CD-427C-BCD2-D54F9B90CEEB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Multiply mixed numbers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F50F8C62-7147-47FE-BDCF-2604427C08DE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05834E0D-3C91-448F-84C4-F312499AE76B}"/>
              </a:ext>
            </a:extLst>
          </p:cNvPr>
          <p:cNvSpPr>
            <a:spLocks noGrp="1"/>
          </p:cNvSpPr>
          <p:nvPr/>
        </p:nvSpPr>
        <p:spPr>
          <a:xfrm>
            <a:off x="1071563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DE39D02D-1EB4-4285-955D-38932E66C764}"/>
              </a:ext>
            </a:extLst>
          </p:cNvPr>
          <p:cNvSpPr>
            <a:spLocks noGrp="1"/>
          </p:cNvSpPr>
          <p:nvPr/>
        </p:nvSpPr>
        <p:spPr>
          <a:xfrm>
            <a:off x="1071563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34A57B8E-2246-4DBE-96FF-FB4BEE5287F3}"/>
              </a:ext>
            </a:extLst>
          </p:cNvPr>
          <p:cNvSpPr>
            <a:spLocks noGrp="1"/>
          </p:cNvSpPr>
          <p:nvPr/>
        </p:nvSpPr>
        <p:spPr>
          <a:xfrm>
            <a:off x="1071563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46E9D7F1-0B3B-4F41-8E5A-5C1AC60087C8}"/>
              </a:ext>
            </a:extLst>
          </p:cNvPr>
          <p:cNvSpPr>
            <a:spLocks noGrp="1"/>
          </p:cNvSpPr>
          <p:nvPr/>
        </p:nvSpPr>
        <p:spPr>
          <a:xfrm>
            <a:off x="3095625" y="3500438"/>
            <a:ext cx="773906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×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42DE676C-346C-4289-AA4E-43F89C576542}"/>
              </a:ext>
            </a:extLst>
          </p:cNvPr>
          <p:cNvSpPr>
            <a:spLocks noGrp="1"/>
          </p:cNvSpPr>
          <p:nvPr/>
        </p:nvSpPr>
        <p:spPr>
          <a:xfrm>
            <a:off x="4345781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DB4D8311-4230-47C9-B362-366F058E1601}"/>
              </a:ext>
            </a:extLst>
          </p:cNvPr>
          <p:cNvSpPr>
            <a:spLocks noGrp="1"/>
          </p:cNvSpPr>
          <p:nvPr/>
        </p:nvSpPr>
        <p:spPr>
          <a:xfrm>
            <a:off x="4345781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15CA8FF2-1455-4B2E-987C-B25C4E853F32}"/>
              </a:ext>
            </a:extLst>
          </p:cNvPr>
          <p:cNvSpPr>
            <a:spLocks noGrp="1"/>
          </p:cNvSpPr>
          <p:nvPr/>
        </p:nvSpPr>
        <p:spPr>
          <a:xfrm>
            <a:off x="4345781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6D60D6F2-8850-4E86-AF64-A9E05E8BCFB3}"/>
              </a:ext>
            </a:extLst>
          </p:cNvPr>
          <p:cNvSpPr>
            <a:spLocks noGrp="1"/>
          </p:cNvSpPr>
          <p:nvPr/>
        </p:nvSpPr>
        <p:spPr>
          <a:xfrm>
            <a:off x="9227344" y="2869406"/>
            <a:ext cx="297656" cy="297656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5F4FD020-4368-4BB5-BABE-2069D6F4A38C}"/>
              </a:ext>
            </a:extLst>
          </p:cNvPr>
          <p:cNvSpPr>
            <a:spLocks noGrp="1"/>
          </p:cNvSpPr>
          <p:nvPr/>
        </p:nvSpPr>
        <p:spPr>
          <a:xfrm>
            <a:off x="9525000" y="2869406"/>
            <a:ext cx="297656" cy="297656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3E55B73D-076C-4717-A42D-62027B641271}"/>
              </a:ext>
            </a:extLst>
          </p:cNvPr>
          <p:cNvSpPr>
            <a:spLocks noGrp="1"/>
          </p:cNvSpPr>
          <p:nvPr/>
        </p:nvSpPr>
        <p:spPr>
          <a:xfrm>
            <a:off x="9822656" y="2869406"/>
            <a:ext cx="297656" cy="297656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A036A866-8629-4199-80DF-D175BACCF80D}"/>
              </a:ext>
            </a:extLst>
          </p:cNvPr>
          <p:cNvSpPr>
            <a:spLocks noGrp="1"/>
          </p:cNvSpPr>
          <p:nvPr/>
        </p:nvSpPr>
        <p:spPr>
          <a:xfrm>
            <a:off x="10120313" y="2869406"/>
            <a:ext cx="297656" cy="297656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61001B6A-CE61-4C4F-BFE3-173433697F47}"/>
              </a:ext>
            </a:extLst>
          </p:cNvPr>
          <p:cNvSpPr>
            <a:spLocks noGrp="1"/>
          </p:cNvSpPr>
          <p:nvPr/>
        </p:nvSpPr>
        <p:spPr>
          <a:xfrm>
            <a:off x="10417969" y="2869406"/>
            <a:ext cx="297656" cy="297656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AC7C179C-1C82-4692-82AF-68087AB80EF0}"/>
              </a:ext>
            </a:extLst>
          </p:cNvPr>
          <p:cNvSpPr>
            <a:spLocks noGrp="1"/>
          </p:cNvSpPr>
          <p:nvPr/>
        </p:nvSpPr>
        <p:spPr>
          <a:xfrm>
            <a:off x="10715625" y="2869406"/>
            <a:ext cx="297656" cy="297656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43E32544-83F8-44BF-8AA2-B6F6FFECF700}"/>
              </a:ext>
            </a:extLst>
          </p:cNvPr>
          <p:cNvSpPr>
            <a:spLocks noGrp="1"/>
          </p:cNvSpPr>
          <p:nvPr/>
        </p:nvSpPr>
        <p:spPr>
          <a:xfrm>
            <a:off x="11013281" y="2869406"/>
            <a:ext cx="297656" cy="297656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88636C23-5E2F-465D-884C-9C54446D2D42}"/>
              </a:ext>
            </a:extLst>
          </p:cNvPr>
          <p:cNvSpPr>
            <a:spLocks noGrp="1"/>
          </p:cNvSpPr>
          <p:nvPr/>
        </p:nvSpPr>
        <p:spPr>
          <a:xfrm>
            <a:off x="11310938" y="2869406"/>
            <a:ext cx="297656" cy="297656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F625F43A-4A46-4DB5-9AC8-F8B47F1B525F}"/>
              </a:ext>
            </a:extLst>
          </p:cNvPr>
          <p:cNvSpPr>
            <a:spLocks noGrp="1"/>
          </p:cNvSpPr>
          <p:nvPr/>
        </p:nvSpPr>
        <p:spPr>
          <a:xfrm>
            <a:off x="11608594" y="2869406"/>
            <a:ext cx="297656" cy="297656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EF619FBA-F1F9-4440-B1AB-8AEC699E86AA}"/>
              </a:ext>
            </a:extLst>
          </p:cNvPr>
          <p:cNvSpPr>
            <a:spLocks noGrp="1"/>
          </p:cNvSpPr>
          <p:nvPr/>
        </p:nvSpPr>
        <p:spPr>
          <a:xfrm>
            <a:off x="11906250" y="2869406"/>
            <a:ext cx="297656" cy="297656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DCD311D0-9B6A-4246-9E7C-350A10098F79}"/>
              </a:ext>
            </a:extLst>
          </p:cNvPr>
          <p:cNvSpPr>
            <a:spLocks noGrp="1"/>
          </p:cNvSpPr>
          <p:nvPr/>
        </p:nvSpPr>
        <p:spPr>
          <a:xfrm>
            <a:off x="9227344" y="3167063"/>
            <a:ext cx="297656" cy="297656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9FA62125-6BE1-4D4B-8CC0-D12FC0A642D9}"/>
              </a:ext>
            </a:extLst>
          </p:cNvPr>
          <p:cNvSpPr>
            <a:spLocks noGrp="1"/>
          </p:cNvSpPr>
          <p:nvPr/>
        </p:nvSpPr>
        <p:spPr>
          <a:xfrm>
            <a:off x="9525000" y="3167063"/>
            <a:ext cx="297656" cy="297656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4E7AC5FA-BE82-43C0-957A-6C9E76781026}"/>
              </a:ext>
            </a:extLst>
          </p:cNvPr>
          <p:cNvSpPr>
            <a:spLocks noGrp="1"/>
          </p:cNvSpPr>
          <p:nvPr/>
        </p:nvSpPr>
        <p:spPr>
          <a:xfrm>
            <a:off x="9822656" y="3167063"/>
            <a:ext cx="297656" cy="297656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1531CE0C-C324-4938-8D02-38F684EAF9D6}"/>
              </a:ext>
            </a:extLst>
          </p:cNvPr>
          <p:cNvSpPr>
            <a:spLocks noGrp="1"/>
          </p:cNvSpPr>
          <p:nvPr/>
        </p:nvSpPr>
        <p:spPr>
          <a:xfrm>
            <a:off x="10120313" y="3167063"/>
            <a:ext cx="297656" cy="297656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5CC39272-A583-42CE-A1B2-4E0A15B5FE21}"/>
              </a:ext>
            </a:extLst>
          </p:cNvPr>
          <p:cNvSpPr>
            <a:spLocks noGrp="1"/>
          </p:cNvSpPr>
          <p:nvPr/>
        </p:nvSpPr>
        <p:spPr>
          <a:xfrm>
            <a:off x="10417969" y="3167063"/>
            <a:ext cx="297656" cy="297656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62952A52-FA6A-4601-8E78-1002AA8602FB}"/>
              </a:ext>
            </a:extLst>
          </p:cNvPr>
          <p:cNvSpPr>
            <a:spLocks noGrp="1"/>
          </p:cNvSpPr>
          <p:nvPr/>
        </p:nvSpPr>
        <p:spPr>
          <a:xfrm>
            <a:off x="10715625" y="3167063"/>
            <a:ext cx="297656" cy="297656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4904A36E-C94A-49C5-B938-B272BAD048EB}"/>
              </a:ext>
            </a:extLst>
          </p:cNvPr>
          <p:cNvSpPr>
            <a:spLocks noGrp="1"/>
          </p:cNvSpPr>
          <p:nvPr/>
        </p:nvSpPr>
        <p:spPr>
          <a:xfrm>
            <a:off x="11013281" y="3167063"/>
            <a:ext cx="297656" cy="297656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591625C1-9CE9-4E10-815B-8F842A9B8A5D}"/>
              </a:ext>
            </a:extLst>
          </p:cNvPr>
          <p:cNvSpPr>
            <a:spLocks noGrp="1"/>
          </p:cNvSpPr>
          <p:nvPr/>
        </p:nvSpPr>
        <p:spPr>
          <a:xfrm>
            <a:off x="11310938" y="3167063"/>
            <a:ext cx="297656" cy="297656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EB3118A2-BE01-4B5F-9F1F-06F4CF97EBB2}"/>
              </a:ext>
            </a:extLst>
          </p:cNvPr>
          <p:cNvSpPr>
            <a:spLocks noGrp="1"/>
          </p:cNvSpPr>
          <p:nvPr/>
        </p:nvSpPr>
        <p:spPr>
          <a:xfrm>
            <a:off x="11608594" y="3167063"/>
            <a:ext cx="297656" cy="297656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9B9A2EFA-4C37-45A3-829A-DCD5FA85213E}"/>
              </a:ext>
            </a:extLst>
          </p:cNvPr>
          <p:cNvSpPr>
            <a:spLocks noGrp="1"/>
          </p:cNvSpPr>
          <p:nvPr/>
        </p:nvSpPr>
        <p:spPr>
          <a:xfrm>
            <a:off x="11906250" y="3167063"/>
            <a:ext cx="297656" cy="297656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7465224F-F561-4624-83F7-CC9907BD12C9}"/>
              </a:ext>
            </a:extLst>
          </p:cNvPr>
          <p:cNvSpPr>
            <a:spLocks noGrp="1"/>
          </p:cNvSpPr>
          <p:nvPr/>
        </p:nvSpPr>
        <p:spPr>
          <a:xfrm>
            <a:off x="9227344" y="3464719"/>
            <a:ext cx="297656" cy="297656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7BD42B9F-DD72-4822-9639-B9FCBD462B2D}"/>
              </a:ext>
            </a:extLst>
          </p:cNvPr>
          <p:cNvSpPr>
            <a:spLocks noGrp="1"/>
          </p:cNvSpPr>
          <p:nvPr/>
        </p:nvSpPr>
        <p:spPr>
          <a:xfrm>
            <a:off x="9525000" y="3464719"/>
            <a:ext cx="297656" cy="297656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33552987-7897-4EEB-B36F-79450472CDD5}"/>
              </a:ext>
            </a:extLst>
          </p:cNvPr>
          <p:cNvSpPr>
            <a:spLocks noGrp="1"/>
          </p:cNvSpPr>
          <p:nvPr/>
        </p:nvSpPr>
        <p:spPr>
          <a:xfrm>
            <a:off x="9822656" y="3464719"/>
            <a:ext cx="297656" cy="297656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076566CF-9DB2-4A45-97AD-1C1B5ED60D57}"/>
              </a:ext>
            </a:extLst>
          </p:cNvPr>
          <p:cNvSpPr>
            <a:spLocks noGrp="1"/>
          </p:cNvSpPr>
          <p:nvPr/>
        </p:nvSpPr>
        <p:spPr>
          <a:xfrm>
            <a:off x="10120313" y="3464719"/>
            <a:ext cx="297656" cy="297656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30A0927A-17B2-4E98-87A2-CE4727315DFD}"/>
              </a:ext>
            </a:extLst>
          </p:cNvPr>
          <p:cNvSpPr>
            <a:spLocks noGrp="1"/>
          </p:cNvSpPr>
          <p:nvPr/>
        </p:nvSpPr>
        <p:spPr>
          <a:xfrm>
            <a:off x="10417969" y="3464719"/>
            <a:ext cx="297656" cy="297656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77096C8D-F292-4AA4-B166-99BC2B6F0917}"/>
              </a:ext>
            </a:extLst>
          </p:cNvPr>
          <p:cNvSpPr>
            <a:spLocks noGrp="1"/>
          </p:cNvSpPr>
          <p:nvPr/>
        </p:nvSpPr>
        <p:spPr>
          <a:xfrm>
            <a:off x="10715625" y="3464719"/>
            <a:ext cx="297656" cy="297656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39" name="object-39">
            <a:extLst>
              <a:ext uri="{FF2B5EF4-FFF2-40B4-BE49-F238E27FC236}">
                <a16:creationId xmlns:a16="http://schemas.microsoft.com/office/drawing/2014/main" id="{E61541AF-7936-459B-BCCB-5DD94A86A78A}"/>
              </a:ext>
            </a:extLst>
          </p:cNvPr>
          <p:cNvSpPr>
            <a:spLocks noGrp="1"/>
          </p:cNvSpPr>
          <p:nvPr/>
        </p:nvSpPr>
        <p:spPr>
          <a:xfrm>
            <a:off x="11013281" y="3464719"/>
            <a:ext cx="297656" cy="297656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40" name="object-40">
            <a:extLst>
              <a:ext uri="{FF2B5EF4-FFF2-40B4-BE49-F238E27FC236}">
                <a16:creationId xmlns:a16="http://schemas.microsoft.com/office/drawing/2014/main" id="{4D921B68-B066-49CB-95ED-4CA4B6F961C9}"/>
              </a:ext>
            </a:extLst>
          </p:cNvPr>
          <p:cNvSpPr>
            <a:spLocks noGrp="1"/>
          </p:cNvSpPr>
          <p:nvPr/>
        </p:nvSpPr>
        <p:spPr>
          <a:xfrm>
            <a:off x="11310938" y="3464719"/>
            <a:ext cx="297656" cy="297656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41" name="object-41">
            <a:extLst>
              <a:ext uri="{FF2B5EF4-FFF2-40B4-BE49-F238E27FC236}">
                <a16:creationId xmlns:a16="http://schemas.microsoft.com/office/drawing/2014/main" id="{A6EFF990-8977-4A91-8A0A-F775D95A4465}"/>
              </a:ext>
            </a:extLst>
          </p:cNvPr>
          <p:cNvSpPr>
            <a:spLocks noGrp="1"/>
          </p:cNvSpPr>
          <p:nvPr/>
        </p:nvSpPr>
        <p:spPr>
          <a:xfrm>
            <a:off x="11608594" y="3464719"/>
            <a:ext cx="297656" cy="297656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42" name="object-42">
            <a:extLst>
              <a:ext uri="{FF2B5EF4-FFF2-40B4-BE49-F238E27FC236}">
                <a16:creationId xmlns:a16="http://schemas.microsoft.com/office/drawing/2014/main" id="{053CA010-0B9E-48AD-9ECA-1719708B7630}"/>
              </a:ext>
            </a:extLst>
          </p:cNvPr>
          <p:cNvSpPr>
            <a:spLocks noGrp="1"/>
          </p:cNvSpPr>
          <p:nvPr/>
        </p:nvSpPr>
        <p:spPr>
          <a:xfrm>
            <a:off x="11906250" y="3464719"/>
            <a:ext cx="297656" cy="297656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43" name="object-43">
            <a:extLst>
              <a:ext uri="{FF2B5EF4-FFF2-40B4-BE49-F238E27FC236}">
                <a16:creationId xmlns:a16="http://schemas.microsoft.com/office/drawing/2014/main" id="{3F42A573-29AE-4CB9-BCCB-170BB898FCE7}"/>
              </a:ext>
            </a:extLst>
          </p:cNvPr>
          <p:cNvSpPr>
            <a:spLocks noGrp="1"/>
          </p:cNvSpPr>
          <p:nvPr/>
        </p:nvSpPr>
        <p:spPr>
          <a:xfrm>
            <a:off x="9227344" y="3762375"/>
            <a:ext cx="297656" cy="297656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44" name="object-44">
            <a:extLst>
              <a:ext uri="{FF2B5EF4-FFF2-40B4-BE49-F238E27FC236}">
                <a16:creationId xmlns:a16="http://schemas.microsoft.com/office/drawing/2014/main" id="{FBC6BE06-1CF4-44BC-93C7-0F4EBE62DA02}"/>
              </a:ext>
            </a:extLst>
          </p:cNvPr>
          <p:cNvSpPr>
            <a:spLocks noGrp="1"/>
          </p:cNvSpPr>
          <p:nvPr/>
        </p:nvSpPr>
        <p:spPr>
          <a:xfrm>
            <a:off x="9525000" y="3762375"/>
            <a:ext cx="297656" cy="297656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45" name="object-45">
            <a:extLst>
              <a:ext uri="{FF2B5EF4-FFF2-40B4-BE49-F238E27FC236}">
                <a16:creationId xmlns:a16="http://schemas.microsoft.com/office/drawing/2014/main" id="{1A03B280-3A48-4C38-8213-6559EAF861B3}"/>
              </a:ext>
            </a:extLst>
          </p:cNvPr>
          <p:cNvSpPr>
            <a:spLocks noGrp="1"/>
          </p:cNvSpPr>
          <p:nvPr/>
        </p:nvSpPr>
        <p:spPr>
          <a:xfrm>
            <a:off x="9822656" y="3762375"/>
            <a:ext cx="297656" cy="297656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46" name="object-46">
            <a:extLst>
              <a:ext uri="{FF2B5EF4-FFF2-40B4-BE49-F238E27FC236}">
                <a16:creationId xmlns:a16="http://schemas.microsoft.com/office/drawing/2014/main" id="{98D6448B-2D9E-4513-90DE-F47458C8CAA2}"/>
              </a:ext>
            </a:extLst>
          </p:cNvPr>
          <p:cNvSpPr>
            <a:spLocks noGrp="1"/>
          </p:cNvSpPr>
          <p:nvPr/>
        </p:nvSpPr>
        <p:spPr>
          <a:xfrm>
            <a:off x="10120313" y="3762375"/>
            <a:ext cx="297656" cy="297656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47" name="object-47">
            <a:extLst>
              <a:ext uri="{FF2B5EF4-FFF2-40B4-BE49-F238E27FC236}">
                <a16:creationId xmlns:a16="http://schemas.microsoft.com/office/drawing/2014/main" id="{E381BB66-45CA-4E5F-A516-8641ED6F0FEC}"/>
              </a:ext>
            </a:extLst>
          </p:cNvPr>
          <p:cNvSpPr>
            <a:spLocks noGrp="1"/>
          </p:cNvSpPr>
          <p:nvPr/>
        </p:nvSpPr>
        <p:spPr>
          <a:xfrm>
            <a:off x="10417969" y="3762375"/>
            <a:ext cx="297656" cy="297656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48" name="object-48">
            <a:extLst>
              <a:ext uri="{FF2B5EF4-FFF2-40B4-BE49-F238E27FC236}">
                <a16:creationId xmlns:a16="http://schemas.microsoft.com/office/drawing/2014/main" id="{962189E9-C42C-4DBA-B17A-C997D642B8EA}"/>
              </a:ext>
            </a:extLst>
          </p:cNvPr>
          <p:cNvSpPr>
            <a:spLocks noGrp="1"/>
          </p:cNvSpPr>
          <p:nvPr/>
        </p:nvSpPr>
        <p:spPr>
          <a:xfrm>
            <a:off x="10715625" y="3762375"/>
            <a:ext cx="297656" cy="297656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49" name="object-49">
            <a:extLst>
              <a:ext uri="{FF2B5EF4-FFF2-40B4-BE49-F238E27FC236}">
                <a16:creationId xmlns:a16="http://schemas.microsoft.com/office/drawing/2014/main" id="{9FB5CE3F-3F60-4175-B6A6-69069FA58E50}"/>
              </a:ext>
            </a:extLst>
          </p:cNvPr>
          <p:cNvSpPr>
            <a:spLocks noGrp="1"/>
          </p:cNvSpPr>
          <p:nvPr/>
        </p:nvSpPr>
        <p:spPr>
          <a:xfrm>
            <a:off x="11013281" y="3762375"/>
            <a:ext cx="297656" cy="297656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50" name="object-50">
            <a:extLst>
              <a:ext uri="{FF2B5EF4-FFF2-40B4-BE49-F238E27FC236}">
                <a16:creationId xmlns:a16="http://schemas.microsoft.com/office/drawing/2014/main" id="{6759E240-1333-4A55-A671-6921318E8060}"/>
              </a:ext>
            </a:extLst>
          </p:cNvPr>
          <p:cNvSpPr>
            <a:spLocks noGrp="1"/>
          </p:cNvSpPr>
          <p:nvPr/>
        </p:nvSpPr>
        <p:spPr>
          <a:xfrm>
            <a:off x="11310938" y="3762375"/>
            <a:ext cx="297656" cy="297656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51" name="object-51">
            <a:extLst>
              <a:ext uri="{FF2B5EF4-FFF2-40B4-BE49-F238E27FC236}">
                <a16:creationId xmlns:a16="http://schemas.microsoft.com/office/drawing/2014/main" id="{639CB189-1621-405D-8AA4-ABB77E161630}"/>
              </a:ext>
            </a:extLst>
          </p:cNvPr>
          <p:cNvSpPr>
            <a:spLocks noGrp="1"/>
          </p:cNvSpPr>
          <p:nvPr/>
        </p:nvSpPr>
        <p:spPr>
          <a:xfrm>
            <a:off x="11608594" y="3762375"/>
            <a:ext cx="297656" cy="297656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52" name="object-52">
            <a:extLst>
              <a:ext uri="{FF2B5EF4-FFF2-40B4-BE49-F238E27FC236}">
                <a16:creationId xmlns:a16="http://schemas.microsoft.com/office/drawing/2014/main" id="{1753A597-5F40-447D-923D-D734E7D19CA1}"/>
              </a:ext>
            </a:extLst>
          </p:cNvPr>
          <p:cNvSpPr>
            <a:spLocks noGrp="1"/>
          </p:cNvSpPr>
          <p:nvPr/>
        </p:nvSpPr>
        <p:spPr>
          <a:xfrm>
            <a:off x="11906250" y="3762375"/>
            <a:ext cx="297656" cy="297656"/>
          </a:xfrm>
          <a:prstGeom prst="rect">
            <a:avLst/>
          </a:prstGeom>
          <a:solidFill>
            <a:srgbClr val="FFFFFF"/>
          </a:solidFill>
          <a:ln w="11906">
            <a:solidFill>
              <a:srgbClr val="172B4D"/>
            </a:solidFill>
          </a:ln>
        </p:spPr>
      </p:sp>
      <p:sp>
        <p:nvSpPr>
          <p:cNvPr id="53" name="object-53">
            <a:extLst>
              <a:ext uri="{FF2B5EF4-FFF2-40B4-BE49-F238E27FC236}">
                <a16:creationId xmlns:a16="http://schemas.microsoft.com/office/drawing/2014/main" id="{172BB909-8DD1-41C7-8E3A-29265B37EC6C}"/>
              </a:ext>
            </a:extLst>
          </p:cNvPr>
          <p:cNvSpPr>
            <a:spLocks noGrp="1"/>
          </p:cNvSpPr>
          <p:nvPr/>
        </p:nvSpPr>
        <p:spPr>
          <a:xfrm>
            <a:off x="952500" y="6607969"/>
            <a:ext cx="13335000" cy="53578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531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531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9 × 3 = 27;  2 × 4 = 8.</a:t>
            </a:r>
          </a:p>
        </p:txBody>
      </p:sp>
      <p:sp>
        <p:nvSpPr>
          <p:cNvPr id="54" name="object-54">
            <a:extLst>
              <a:ext uri="{FF2B5EF4-FFF2-40B4-BE49-F238E27FC236}">
                <a16:creationId xmlns:a16="http://schemas.microsoft.com/office/drawing/2014/main" id="{494109AB-88E8-4999-B486-70638AD8A60B}"/>
              </a:ext>
            </a:extLst>
          </p:cNvPr>
          <p:cNvSpPr>
            <a:spLocks noGrp="1"/>
          </p:cNvSpPr>
          <p:nvPr/>
        </p:nvSpPr>
        <p:spPr>
          <a:xfrm>
            <a:off x="892969" y="7262813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Answer: 3 3/8</a:t>
            </a:r>
          </a:p>
        </p:txBody>
      </p:sp>
    </p:spTree>
    <p:extLst>
      <p:ext uri="{BB962C8B-B14F-4D97-AF65-F5344CB8AC3E}">
        <p14:creationId xmlns:p14="http://schemas.microsoft.com/office/powerpoint/2010/main" val="464966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3" grpId="0"/>
      <p:bldP spid="5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object-1">
            <a:extLst>
              <a:ext uri="{FF2B5EF4-FFF2-40B4-BE49-F238E27FC236}">
                <a16:creationId xmlns:a16="http://schemas.microsoft.com/office/drawing/2014/main" id="{4B77D16F-E25B-4E59-8C9A-69D42FD5F0CA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0E9E5F4F-7CEA-492E-8A0C-AFB016388366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40A63C20-497E-486F-A21F-E37D640DDB51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5 1/2 × 3/4.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B1175A45-A5AB-472D-BA0E-C574147B4428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B42DC0D5-C295-4082-9AF4-A0B17743FE81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Multiply mixed numbers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15DAB179-8DFF-4BC1-B02E-84C68BFCACC6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5F3CF6B7-B626-46E5-BBDC-C21025CD6977}"/>
              </a:ext>
            </a:extLst>
          </p:cNvPr>
          <p:cNvSpPr>
            <a:spLocks noGrp="1"/>
          </p:cNvSpPr>
          <p:nvPr/>
        </p:nvSpPr>
        <p:spPr>
          <a:xfrm>
            <a:off x="1012031" y="2917031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 1/2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68C370D5-5FAB-4EBE-9BCB-11D6D556E476}"/>
              </a:ext>
            </a:extLst>
          </p:cNvPr>
          <p:cNvSpPr>
            <a:spLocks noGrp="1"/>
          </p:cNvSpPr>
          <p:nvPr/>
        </p:nvSpPr>
        <p:spPr>
          <a:xfrm>
            <a:off x="4167188" y="2917031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5 × 2 + 1 = 11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232D7D03-1468-40DD-B5C5-61777A47C65F}"/>
              </a:ext>
            </a:extLst>
          </p:cNvPr>
          <p:cNvSpPr>
            <a:spLocks noGrp="1"/>
          </p:cNvSpPr>
          <p:nvPr/>
        </p:nvSpPr>
        <p:spPr>
          <a:xfrm>
            <a:off x="12858750" y="26193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85E410CA-C428-423F-B235-961F116D60F6}"/>
              </a:ext>
            </a:extLst>
          </p:cNvPr>
          <p:cNvSpPr>
            <a:spLocks noGrp="1"/>
          </p:cNvSpPr>
          <p:nvPr/>
        </p:nvSpPr>
        <p:spPr>
          <a:xfrm>
            <a:off x="12858750" y="3476625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4D4341EE-BCDF-4136-BAC5-CC4ADB3F4FC5}"/>
              </a:ext>
            </a:extLst>
          </p:cNvPr>
          <p:cNvSpPr>
            <a:spLocks noGrp="1"/>
          </p:cNvSpPr>
          <p:nvPr/>
        </p:nvSpPr>
        <p:spPr>
          <a:xfrm>
            <a:off x="12858750" y="35718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A764407B-02D1-4BBE-82BF-3C07C9D8AE96}"/>
              </a:ext>
            </a:extLst>
          </p:cNvPr>
          <p:cNvSpPr>
            <a:spLocks noGrp="1"/>
          </p:cNvSpPr>
          <p:nvPr/>
        </p:nvSpPr>
        <p:spPr>
          <a:xfrm>
            <a:off x="1012031" y="5000625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3/4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8F155759-F408-45C3-8E47-303262797D71}"/>
              </a:ext>
            </a:extLst>
          </p:cNvPr>
          <p:cNvSpPr>
            <a:spLocks noGrp="1"/>
          </p:cNvSpPr>
          <p:nvPr/>
        </p:nvSpPr>
        <p:spPr>
          <a:xfrm>
            <a:off x="4167188" y="5000625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0 × 4 + 3 = 3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3F059E56-DBBC-43FB-B5DE-A21F700038D2}"/>
              </a:ext>
            </a:extLst>
          </p:cNvPr>
          <p:cNvSpPr>
            <a:spLocks noGrp="1"/>
          </p:cNvSpPr>
          <p:nvPr/>
        </p:nvSpPr>
        <p:spPr>
          <a:xfrm>
            <a:off x="12858750" y="47029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DE97113F-41EE-412E-840D-1932887DB88A}"/>
              </a:ext>
            </a:extLst>
          </p:cNvPr>
          <p:cNvSpPr>
            <a:spLocks noGrp="1"/>
          </p:cNvSpPr>
          <p:nvPr/>
        </p:nvSpPr>
        <p:spPr>
          <a:xfrm>
            <a:off x="12858750" y="5560219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157659F9-A292-4FE9-B85E-4F7133E38F54}"/>
              </a:ext>
            </a:extLst>
          </p:cNvPr>
          <p:cNvSpPr>
            <a:spLocks noGrp="1"/>
          </p:cNvSpPr>
          <p:nvPr/>
        </p:nvSpPr>
        <p:spPr>
          <a:xfrm>
            <a:off x="12858750" y="56554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8447597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1" grpId="0"/>
      <p:bldP spid="13" grpId="0"/>
      <p:bldP spid="14" grpId="0"/>
      <p:bldP spid="1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object-1">
            <a:extLst>
              <a:ext uri="{FF2B5EF4-FFF2-40B4-BE49-F238E27FC236}">
                <a16:creationId xmlns:a16="http://schemas.microsoft.com/office/drawing/2014/main" id="{C2321A67-2A9A-4BE4-9A66-771976A36A96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00361BBE-955E-484F-909E-6EECF053524B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C14C4EAC-F260-454E-A235-90A768B0271E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5 1/2 × 3/4.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CA6C8F08-A15D-4FFC-92F5-D8EBC6FB75E6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7501E0B9-F299-4F5F-BD40-0D1985D0F65E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Multiply mixed numbers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2D625D51-F5AF-411C-964C-83B7D2CC9794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5A5EACD3-CECC-4A02-96DE-2B6EDAAA56B6}"/>
              </a:ext>
            </a:extLst>
          </p:cNvPr>
          <p:cNvSpPr>
            <a:spLocks noGrp="1"/>
          </p:cNvSpPr>
          <p:nvPr/>
        </p:nvSpPr>
        <p:spPr>
          <a:xfrm>
            <a:off x="1071563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8D90B884-4F26-4385-A20B-E73476F33949}"/>
              </a:ext>
            </a:extLst>
          </p:cNvPr>
          <p:cNvSpPr>
            <a:spLocks noGrp="1"/>
          </p:cNvSpPr>
          <p:nvPr/>
        </p:nvSpPr>
        <p:spPr>
          <a:xfrm>
            <a:off x="1071563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84DF48EC-667F-40F0-A8A2-618863D91C0B}"/>
              </a:ext>
            </a:extLst>
          </p:cNvPr>
          <p:cNvSpPr>
            <a:spLocks noGrp="1"/>
          </p:cNvSpPr>
          <p:nvPr/>
        </p:nvSpPr>
        <p:spPr>
          <a:xfrm>
            <a:off x="1071563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225B4F37-B4DA-4175-8E2F-CD2403371F2A}"/>
              </a:ext>
            </a:extLst>
          </p:cNvPr>
          <p:cNvSpPr>
            <a:spLocks noGrp="1"/>
          </p:cNvSpPr>
          <p:nvPr/>
        </p:nvSpPr>
        <p:spPr>
          <a:xfrm>
            <a:off x="3095625" y="3500438"/>
            <a:ext cx="773906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×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A9AAA87F-B575-4CBE-B058-F9A83580E511}"/>
              </a:ext>
            </a:extLst>
          </p:cNvPr>
          <p:cNvSpPr>
            <a:spLocks noGrp="1"/>
          </p:cNvSpPr>
          <p:nvPr/>
        </p:nvSpPr>
        <p:spPr>
          <a:xfrm>
            <a:off x="4345781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57AB3A2E-FA0F-4C8E-AF95-3037509B2347}"/>
              </a:ext>
            </a:extLst>
          </p:cNvPr>
          <p:cNvSpPr>
            <a:spLocks noGrp="1"/>
          </p:cNvSpPr>
          <p:nvPr/>
        </p:nvSpPr>
        <p:spPr>
          <a:xfrm>
            <a:off x="4345781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2C1B4008-AD42-4C68-8C53-562744391E03}"/>
              </a:ext>
            </a:extLst>
          </p:cNvPr>
          <p:cNvSpPr>
            <a:spLocks noGrp="1"/>
          </p:cNvSpPr>
          <p:nvPr/>
        </p:nvSpPr>
        <p:spPr>
          <a:xfrm>
            <a:off x="4345781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171DF5CB-7524-4DB0-B453-97D50ECAD141}"/>
              </a:ext>
            </a:extLst>
          </p:cNvPr>
          <p:cNvSpPr>
            <a:spLocks noGrp="1"/>
          </p:cNvSpPr>
          <p:nvPr/>
        </p:nvSpPr>
        <p:spPr>
          <a:xfrm>
            <a:off x="9227344" y="2869406"/>
            <a:ext cx="248047" cy="24804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6F790A5F-3F33-4E29-9922-91359B9681C3}"/>
              </a:ext>
            </a:extLst>
          </p:cNvPr>
          <p:cNvSpPr>
            <a:spLocks noGrp="1"/>
          </p:cNvSpPr>
          <p:nvPr/>
        </p:nvSpPr>
        <p:spPr>
          <a:xfrm>
            <a:off x="9475391" y="2869406"/>
            <a:ext cx="248047" cy="24804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513052E3-AC5E-4670-8723-EB14A0E40FF9}"/>
              </a:ext>
            </a:extLst>
          </p:cNvPr>
          <p:cNvSpPr>
            <a:spLocks noGrp="1"/>
          </p:cNvSpPr>
          <p:nvPr/>
        </p:nvSpPr>
        <p:spPr>
          <a:xfrm>
            <a:off x="9723438" y="2869406"/>
            <a:ext cx="248047" cy="24804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C89BCA20-2BAA-43DF-BCA8-01651BC1AD2D}"/>
              </a:ext>
            </a:extLst>
          </p:cNvPr>
          <p:cNvSpPr>
            <a:spLocks noGrp="1"/>
          </p:cNvSpPr>
          <p:nvPr/>
        </p:nvSpPr>
        <p:spPr>
          <a:xfrm>
            <a:off x="9971484" y="2869406"/>
            <a:ext cx="248047" cy="24804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457BCEF6-0D83-4BEB-8FB0-33B6EA92320E}"/>
              </a:ext>
            </a:extLst>
          </p:cNvPr>
          <p:cNvSpPr>
            <a:spLocks noGrp="1"/>
          </p:cNvSpPr>
          <p:nvPr/>
        </p:nvSpPr>
        <p:spPr>
          <a:xfrm>
            <a:off x="10219531" y="2869406"/>
            <a:ext cx="248047" cy="24804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7DE4CD69-979A-4E77-AEC6-D9CDCCD50EEE}"/>
              </a:ext>
            </a:extLst>
          </p:cNvPr>
          <p:cNvSpPr>
            <a:spLocks noGrp="1"/>
          </p:cNvSpPr>
          <p:nvPr/>
        </p:nvSpPr>
        <p:spPr>
          <a:xfrm>
            <a:off x="10467578" y="2869406"/>
            <a:ext cx="248047" cy="24804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102439E0-4461-49D8-B634-245752AA6259}"/>
              </a:ext>
            </a:extLst>
          </p:cNvPr>
          <p:cNvSpPr>
            <a:spLocks noGrp="1"/>
          </p:cNvSpPr>
          <p:nvPr/>
        </p:nvSpPr>
        <p:spPr>
          <a:xfrm>
            <a:off x="10715625" y="2869406"/>
            <a:ext cx="248047" cy="24804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320FBEAA-2646-4448-850C-9C47363454B8}"/>
              </a:ext>
            </a:extLst>
          </p:cNvPr>
          <p:cNvSpPr>
            <a:spLocks noGrp="1"/>
          </p:cNvSpPr>
          <p:nvPr/>
        </p:nvSpPr>
        <p:spPr>
          <a:xfrm>
            <a:off x="10963672" y="2869406"/>
            <a:ext cx="248047" cy="24804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71E25283-1DEA-4DC6-AF71-1A4620BF0302}"/>
              </a:ext>
            </a:extLst>
          </p:cNvPr>
          <p:cNvSpPr>
            <a:spLocks noGrp="1"/>
          </p:cNvSpPr>
          <p:nvPr/>
        </p:nvSpPr>
        <p:spPr>
          <a:xfrm>
            <a:off x="11211719" y="2869406"/>
            <a:ext cx="248047" cy="24804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FE3544F8-CA49-4F22-9C7B-B4C002DF402F}"/>
              </a:ext>
            </a:extLst>
          </p:cNvPr>
          <p:cNvSpPr>
            <a:spLocks noGrp="1"/>
          </p:cNvSpPr>
          <p:nvPr/>
        </p:nvSpPr>
        <p:spPr>
          <a:xfrm>
            <a:off x="11459766" y="2869406"/>
            <a:ext cx="248047" cy="24804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67B82BED-B605-4F12-AC5E-1544F8AB4D59}"/>
              </a:ext>
            </a:extLst>
          </p:cNvPr>
          <p:cNvSpPr>
            <a:spLocks noGrp="1"/>
          </p:cNvSpPr>
          <p:nvPr/>
        </p:nvSpPr>
        <p:spPr>
          <a:xfrm>
            <a:off x="11707812" y="2869406"/>
            <a:ext cx="248047" cy="24804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E5380F88-B2F5-473D-9B64-8759DCDC4319}"/>
              </a:ext>
            </a:extLst>
          </p:cNvPr>
          <p:cNvSpPr>
            <a:spLocks noGrp="1"/>
          </p:cNvSpPr>
          <p:nvPr/>
        </p:nvSpPr>
        <p:spPr>
          <a:xfrm>
            <a:off x="11955859" y="2869406"/>
            <a:ext cx="248047" cy="24804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289F3921-4ED8-4B79-9FB6-0896A787E880}"/>
              </a:ext>
            </a:extLst>
          </p:cNvPr>
          <p:cNvSpPr>
            <a:spLocks noGrp="1"/>
          </p:cNvSpPr>
          <p:nvPr/>
        </p:nvSpPr>
        <p:spPr>
          <a:xfrm>
            <a:off x="9227344" y="3117453"/>
            <a:ext cx="248047" cy="24804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9CF40A0E-973B-486D-91F0-CC9405586FF8}"/>
              </a:ext>
            </a:extLst>
          </p:cNvPr>
          <p:cNvSpPr>
            <a:spLocks noGrp="1"/>
          </p:cNvSpPr>
          <p:nvPr/>
        </p:nvSpPr>
        <p:spPr>
          <a:xfrm>
            <a:off x="9475391" y="3117453"/>
            <a:ext cx="248047" cy="24804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0C39FEE2-47EA-47D9-93AD-C3BCFBE51962}"/>
              </a:ext>
            </a:extLst>
          </p:cNvPr>
          <p:cNvSpPr>
            <a:spLocks noGrp="1"/>
          </p:cNvSpPr>
          <p:nvPr/>
        </p:nvSpPr>
        <p:spPr>
          <a:xfrm>
            <a:off x="9723438" y="3117453"/>
            <a:ext cx="248047" cy="24804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35B2543A-E70E-4FBE-B514-744BA468836B}"/>
              </a:ext>
            </a:extLst>
          </p:cNvPr>
          <p:cNvSpPr>
            <a:spLocks noGrp="1"/>
          </p:cNvSpPr>
          <p:nvPr/>
        </p:nvSpPr>
        <p:spPr>
          <a:xfrm>
            <a:off x="9971484" y="3117453"/>
            <a:ext cx="248047" cy="24804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15885FCC-3E64-4E0C-B0E9-2686CE3BE270}"/>
              </a:ext>
            </a:extLst>
          </p:cNvPr>
          <p:cNvSpPr>
            <a:spLocks noGrp="1"/>
          </p:cNvSpPr>
          <p:nvPr/>
        </p:nvSpPr>
        <p:spPr>
          <a:xfrm>
            <a:off x="10219531" y="3117453"/>
            <a:ext cx="248047" cy="24804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30FC96E5-8801-4DC0-BEF3-C5AE686A8CD5}"/>
              </a:ext>
            </a:extLst>
          </p:cNvPr>
          <p:cNvSpPr>
            <a:spLocks noGrp="1"/>
          </p:cNvSpPr>
          <p:nvPr/>
        </p:nvSpPr>
        <p:spPr>
          <a:xfrm>
            <a:off x="10467578" y="3117453"/>
            <a:ext cx="248047" cy="24804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5AF6AAF1-710A-4F41-AB20-E8000D1B5D3F}"/>
              </a:ext>
            </a:extLst>
          </p:cNvPr>
          <p:cNvSpPr>
            <a:spLocks noGrp="1"/>
          </p:cNvSpPr>
          <p:nvPr/>
        </p:nvSpPr>
        <p:spPr>
          <a:xfrm>
            <a:off x="10715625" y="3117453"/>
            <a:ext cx="248047" cy="24804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AC6A8874-4AD2-4495-8FE2-6C492C7DED2D}"/>
              </a:ext>
            </a:extLst>
          </p:cNvPr>
          <p:cNvSpPr>
            <a:spLocks noGrp="1"/>
          </p:cNvSpPr>
          <p:nvPr/>
        </p:nvSpPr>
        <p:spPr>
          <a:xfrm>
            <a:off x="10963672" y="3117453"/>
            <a:ext cx="248047" cy="24804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1DF883B2-DA17-46E2-A825-8985EEEBC4DF}"/>
              </a:ext>
            </a:extLst>
          </p:cNvPr>
          <p:cNvSpPr>
            <a:spLocks noGrp="1"/>
          </p:cNvSpPr>
          <p:nvPr/>
        </p:nvSpPr>
        <p:spPr>
          <a:xfrm>
            <a:off x="11211719" y="3117453"/>
            <a:ext cx="248047" cy="24804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224FFED9-3912-4D63-919B-F6948C8E3F19}"/>
              </a:ext>
            </a:extLst>
          </p:cNvPr>
          <p:cNvSpPr>
            <a:spLocks noGrp="1"/>
          </p:cNvSpPr>
          <p:nvPr/>
        </p:nvSpPr>
        <p:spPr>
          <a:xfrm>
            <a:off x="11459766" y="3117453"/>
            <a:ext cx="248047" cy="24804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8AEA1C8B-C9A4-4AE7-B274-06D295DFE525}"/>
              </a:ext>
            </a:extLst>
          </p:cNvPr>
          <p:cNvSpPr>
            <a:spLocks noGrp="1"/>
          </p:cNvSpPr>
          <p:nvPr/>
        </p:nvSpPr>
        <p:spPr>
          <a:xfrm>
            <a:off x="11707812" y="3117453"/>
            <a:ext cx="248047" cy="24804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D878F65D-3E01-4940-9EAD-7167BD209D18}"/>
              </a:ext>
            </a:extLst>
          </p:cNvPr>
          <p:cNvSpPr>
            <a:spLocks noGrp="1"/>
          </p:cNvSpPr>
          <p:nvPr/>
        </p:nvSpPr>
        <p:spPr>
          <a:xfrm>
            <a:off x="11955859" y="3117453"/>
            <a:ext cx="248047" cy="24804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693D55DD-0CEE-4556-96E2-F4A1556C7507}"/>
              </a:ext>
            </a:extLst>
          </p:cNvPr>
          <p:cNvSpPr>
            <a:spLocks noGrp="1"/>
          </p:cNvSpPr>
          <p:nvPr/>
        </p:nvSpPr>
        <p:spPr>
          <a:xfrm>
            <a:off x="9227344" y="3365500"/>
            <a:ext cx="248047" cy="24804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39" name="object-39">
            <a:extLst>
              <a:ext uri="{FF2B5EF4-FFF2-40B4-BE49-F238E27FC236}">
                <a16:creationId xmlns:a16="http://schemas.microsoft.com/office/drawing/2014/main" id="{31EE1A72-1C29-44E2-A964-4153D6DD6A93}"/>
              </a:ext>
            </a:extLst>
          </p:cNvPr>
          <p:cNvSpPr>
            <a:spLocks noGrp="1"/>
          </p:cNvSpPr>
          <p:nvPr/>
        </p:nvSpPr>
        <p:spPr>
          <a:xfrm>
            <a:off x="9475391" y="3365500"/>
            <a:ext cx="248047" cy="24804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40" name="object-40">
            <a:extLst>
              <a:ext uri="{FF2B5EF4-FFF2-40B4-BE49-F238E27FC236}">
                <a16:creationId xmlns:a16="http://schemas.microsoft.com/office/drawing/2014/main" id="{142802DD-455B-47D5-AC3C-A71F7F073CDE}"/>
              </a:ext>
            </a:extLst>
          </p:cNvPr>
          <p:cNvSpPr>
            <a:spLocks noGrp="1"/>
          </p:cNvSpPr>
          <p:nvPr/>
        </p:nvSpPr>
        <p:spPr>
          <a:xfrm>
            <a:off x="9723438" y="3365500"/>
            <a:ext cx="248047" cy="24804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41" name="object-41">
            <a:extLst>
              <a:ext uri="{FF2B5EF4-FFF2-40B4-BE49-F238E27FC236}">
                <a16:creationId xmlns:a16="http://schemas.microsoft.com/office/drawing/2014/main" id="{31F42AB8-ED65-4225-B18C-0E5717EDF9EB}"/>
              </a:ext>
            </a:extLst>
          </p:cNvPr>
          <p:cNvSpPr>
            <a:spLocks noGrp="1"/>
          </p:cNvSpPr>
          <p:nvPr/>
        </p:nvSpPr>
        <p:spPr>
          <a:xfrm>
            <a:off x="9971484" y="3365500"/>
            <a:ext cx="248047" cy="24804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42" name="object-42">
            <a:extLst>
              <a:ext uri="{FF2B5EF4-FFF2-40B4-BE49-F238E27FC236}">
                <a16:creationId xmlns:a16="http://schemas.microsoft.com/office/drawing/2014/main" id="{47F1FC90-FCCA-49D6-A5C6-22CEE781D918}"/>
              </a:ext>
            </a:extLst>
          </p:cNvPr>
          <p:cNvSpPr>
            <a:spLocks noGrp="1"/>
          </p:cNvSpPr>
          <p:nvPr/>
        </p:nvSpPr>
        <p:spPr>
          <a:xfrm>
            <a:off x="10219531" y="3365500"/>
            <a:ext cx="248047" cy="24804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43" name="object-43">
            <a:extLst>
              <a:ext uri="{FF2B5EF4-FFF2-40B4-BE49-F238E27FC236}">
                <a16:creationId xmlns:a16="http://schemas.microsoft.com/office/drawing/2014/main" id="{E01A0CC3-2DB3-4201-9FF5-09394E0A0035}"/>
              </a:ext>
            </a:extLst>
          </p:cNvPr>
          <p:cNvSpPr>
            <a:spLocks noGrp="1"/>
          </p:cNvSpPr>
          <p:nvPr/>
        </p:nvSpPr>
        <p:spPr>
          <a:xfrm>
            <a:off x="10467578" y="3365500"/>
            <a:ext cx="248047" cy="24804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44" name="object-44">
            <a:extLst>
              <a:ext uri="{FF2B5EF4-FFF2-40B4-BE49-F238E27FC236}">
                <a16:creationId xmlns:a16="http://schemas.microsoft.com/office/drawing/2014/main" id="{7D866B07-A347-4151-B977-C4810DAC8E3C}"/>
              </a:ext>
            </a:extLst>
          </p:cNvPr>
          <p:cNvSpPr>
            <a:spLocks noGrp="1"/>
          </p:cNvSpPr>
          <p:nvPr/>
        </p:nvSpPr>
        <p:spPr>
          <a:xfrm>
            <a:off x="10715625" y="3365500"/>
            <a:ext cx="248047" cy="24804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45" name="object-45">
            <a:extLst>
              <a:ext uri="{FF2B5EF4-FFF2-40B4-BE49-F238E27FC236}">
                <a16:creationId xmlns:a16="http://schemas.microsoft.com/office/drawing/2014/main" id="{C8762948-CFF1-481E-9D45-77AE1AB94C73}"/>
              </a:ext>
            </a:extLst>
          </p:cNvPr>
          <p:cNvSpPr>
            <a:spLocks noGrp="1"/>
          </p:cNvSpPr>
          <p:nvPr/>
        </p:nvSpPr>
        <p:spPr>
          <a:xfrm>
            <a:off x="10963672" y="3365500"/>
            <a:ext cx="248047" cy="24804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46" name="object-46">
            <a:extLst>
              <a:ext uri="{FF2B5EF4-FFF2-40B4-BE49-F238E27FC236}">
                <a16:creationId xmlns:a16="http://schemas.microsoft.com/office/drawing/2014/main" id="{D7BE2642-CF5E-479E-8110-4CDC5102A495}"/>
              </a:ext>
            </a:extLst>
          </p:cNvPr>
          <p:cNvSpPr>
            <a:spLocks noGrp="1"/>
          </p:cNvSpPr>
          <p:nvPr/>
        </p:nvSpPr>
        <p:spPr>
          <a:xfrm>
            <a:off x="11211719" y="3365500"/>
            <a:ext cx="248047" cy="24804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47" name="object-47">
            <a:extLst>
              <a:ext uri="{FF2B5EF4-FFF2-40B4-BE49-F238E27FC236}">
                <a16:creationId xmlns:a16="http://schemas.microsoft.com/office/drawing/2014/main" id="{39E5083B-AB08-42E0-9925-B6F2BF6435AF}"/>
              </a:ext>
            </a:extLst>
          </p:cNvPr>
          <p:cNvSpPr>
            <a:spLocks noGrp="1"/>
          </p:cNvSpPr>
          <p:nvPr/>
        </p:nvSpPr>
        <p:spPr>
          <a:xfrm>
            <a:off x="11459766" y="3365500"/>
            <a:ext cx="248047" cy="24804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48" name="object-48">
            <a:extLst>
              <a:ext uri="{FF2B5EF4-FFF2-40B4-BE49-F238E27FC236}">
                <a16:creationId xmlns:a16="http://schemas.microsoft.com/office/drawing/2014/main" id="{BB7948AC-3238-4C3F-8DE8-F8127135E362}"/>
              </a:ext>
            </a:extLst>
          </p:cNvPr>
          <p:cNvSpPr>
            <a:spLocks noGrp="1"/>
          </p:cNvSpPr>
          <p:nvPr/>
        </p:nvSpPr>
        <p:spPr>
          <a:xfrm>
            <a:off x="11707812" y="3365500"/>
            <a:ext cx="248047" cy="248047"/>
          </a:xfrm>
          <a:prstGeom prst="rect">
            <a:avLst/>
          </a:prstGeom>
          <a:solidFill>
            <a:srgbClr val="11745A"/>
          </a:solidFill>
          <a:ln w="11906">
            <a:solidFill>
              <a:srgbClr val="172B4D"/>
            </a:solidFill>
          </a:ln>
        </p:spPr>
      </p:sp>
      <p:sp>
        <p:nvSpPr>
          <p:cNvPr id="49" name="object-49">
            <a:extLst>
              <a:ext uri="{FF2B5EF4-FFF2-40B4-BE49-F238E27FC236}">
                <a16:creationId xmlns:a16="http://schemas.microsoft.com/office/drawing/2014/main" id="{7E3B9B31-E99F-472D-B8F3-82C0796717D5}"/>
              </a:ext>
            </a:extLst>
          </p:cNvPr>
          <p:cNvSpPr>
            <a:spLocks noGrp="1"/>
          </p:cNvSpPr>
          <p:nvPr/>
        </p:nvSpPr>
        <p:spPr>
          <a:xfrm>
            <a:off x="11955859" y="3365500"/>
            <a:ext cx="248047" cy="24804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50" name="object-50">
            <a:extLst>
              <a:ext uri="{FF2B5EF4-FFF2-40B4-BE49-F238E27FC236}">
                <a16:creationId xmlns:a16="http://schemas.microsoft.com/office/drawing/2014/main" id="{898F36E5-FC1A-4DD4-82B6-442BB5E59E6B}"/>
              </a:ext>
            </a:extLst>
          </p:cNvPr>
          <p:cNvSpPr>
            <a:spLocks noGrp="1"/>
          </p:cNvSpPr>
          <p:nvPr/>
        </p:nvSpPr>
        <p:spPr>
          <a:xfrm>
            <a:off x="9227344" y="3613547"/>
            <a:ext cx="248047" cy="24804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51" name="object-51">
            <a:extLst>
              <a:ext uri="{FF2B5EF4-FFF2-40B4-BE49-F238E27FC236}">
                <a16:creationId xmlns:a16="http://schemas.microsoft.com/office/drawing/2014/main" id="{970CE92D-C107-4765-8EC9-2230B9A8CCF7}"/>
              </a:ext>
            </a:extLst>
          </p:cNvPr>
          <p:cNvSpPr>
            <a:spLocks noGrp="1"/>
          </p:cNvSpPr>
          <p:nvPr/>
        </p:nvSpPr>
        <p:spPr>
          <a:xfrm>
            <a:off x="9475391" y="3613547"/>
            <a:ext cx="248047" cy="24804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52" name="object-52">
            <a:extLst>
              <a:ext uri="{FF2B5EF4-FFF2-40B4-BE49-F238E27FC236}">
                <a16:creationId xmlns:a16="http://schemas.microsoft.com/office/drawing/2014/main" id="{102AA23C-C151-40CD-ADA2-F7CB238B91E7}"/>
              </a:ext>
            </a:extLst>
          </p:cNvPr>
          <p:cNvSpPr>
            <a:spLocks noGrp="1"/>
          </p:cNvSpPr>
          <p:nvPr/>
        </p:nvSpPr>
        <p:spPr>
          <a:xfrm>
            <a:off x="9723438" y="3613547"/>
            <a:ext cx="248047" cy="24804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53" name="object-53">
            <a:extLst>
              <a:ext uri="{FF2B5EF4-FFF2-40B4-BE49-F238E27FC236}">
                <a16:creationId xmlns:a16="http://schemas.microsoft.com/office/drawing/2014/main" id="{DEB3A6C5-8950-4D2C-96FD-88DD009FF72B}"/>
              </a:ext>
            </a:extLst>
          </p:cNvPr>
          <p:cNvSpPr>
            <a:spLocks noGrp="1"/>
          </p:cNvSpPr>
          <p:nvPr/>
        </p:nvSpPr>
        <p:spPr>
          <a:xfrm>
            <a:off x="9971484" y="3613547"/>
            <a:ext cx="248047" cy="24804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54" name="object-54">
            <a:extLst>
              <a:ext uri="{FF2B5EF4-FFF2-40B4-BE49-F238E27FC236}">
                <a16:creationId xmlns:a16="http://schemas.microsoft.com/office/drawing/2014/main" id="{FC8EAAD9-9896-4B5F-933F-D2AB6B4D7437}"/>
              </a:ext>
            </a:extLst>
          </p:cNvPr>
          <p:cNvSpPr>
            <a:spLocks noGrp="1"/>
          </p:cNvSpPr>
          <p:nvPr/>
        </p:nvSpPr>
        <p:spPr>
          <a:xfrm>
            <a:off x="10219531" y="3613547"/>
            <a:ext cx="248047" cy="24804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55" name="object-55">
            <a:extLst>
              <a:ext uri="{FF2B5EF4-FFF2-40B4-BE49-F238E27FC236}">
                <a16:creationId xmlns:a16="http://schemas.microsoft.com/office/drawing/2014/main" id="{BDFC4092-88BF-4C2F-910E-3D508E62B744}"/>
              </a:ext>
            </a:extLst>
          </p:cNvPr>
          <p:cNvSpPr>
            <a:spLocks noGrp="1"/>
          </p:cNvSpPr>
          <p:nvPr/>
        </p:nvSpPr>
        <p:spPr>
          <a:xfrm>
            <a:off x="10467578" y="3613547"/>
            <a:ext cx="248047" cy="24804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56" name="object-56">
            <a:extLst>
              <a:ext uri="{FF2B5EF4-FFF2-40B4-BE49-F238E27FC236}">
                <a16:creationId xmlns:a16="http://schemas.microsoft.com/office/drawing/2014/main" id="{68629C01-995B-4D25-8575-106641D4DDEA}"/>
              </a:ext>
            </a:extLst>
          </p:cNvPr>
          <p:cNvSpPr>
            <a:spLocks noGrp="1"/>
          </p:cNvSpPr>
          <p:nvPr/>
        </p:nvSpPr>
        <p:spPr>
          <a:xfrm>
            <a:off x="10715625" y="3613547"/>
            <a:ext cx="248047" cy="24804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57" name="object-57">
            <a:extLst>
              <a:ext uri="{FF2B5EF4-FFF2-40B4-BE49-F238E27FC236}">
                <a16:creationId xmlns:a16="http://schemas.microsoft.com/office/drawing/2014/main" id="{418627B2-EE94-4871-8D92-A8BA7258D29F}"/>
              </a:ext>
            </a:extLst>
          </p:cNvPr>
          <p:cNvSpPr>
            <a:spLocks noGrp="1"/>
          </p:cNvSpPr>
          <p:nvPr/>
        </p:nvSpPr>
        <p:spPr>
          <a:xfrm>
            <a:off x="10963672" y="3613547"/>
            <a:ext cx="248047" cy="24804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58" name="object-58">
            <a:extLst>
              <a:ext uri="{FF2B5EF4-FFF2-40B4-BE49-F238E27FC236}">
                <a16:creationId xmlns:a16="http://schemas.microsoft.com/office/drawing/2014/main" id="{1BDFD6DD-B676-4FD4-B9C4-09C5472F08F7}"/>
              </a:ext>
            </a:extLst>
          </p:cNvPr>
          <p:cNvSpPr>
            <a:spLocks noGrp="1"/>
          </p:cNvSpPr>
          <p:nvPr/>
        </p:nvSpPr>
        <p:spPr>
          <a:xfrm>
            <a:off x="11211719" y="3613547"/>
            <a:ext cx="248047" cy="24804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59" name="object-59">
            <a:extLst>
              <a:ext uri="{FF2B5EF4-FFF2-40B4-BE49-F238E27FC236}">
                <a16:creationId xmlns:a16="http://schemas.microsoft.com/office/drawing/2014/main" id="{B1856942-F79F-4AE1-84A8-DEE68420500C}"/>
              </a:ext>
            </a:extLst>
          </p:cNvPr>
          <p:cNvSpPr>
            <a:spLocks noGrp="1"/>
          </p:cNvSpPr>
          <p:nvPr/>
        </p:nvSpPr>
        <p:spPr>
          <a:xfrm>
            <a:off x="11459766" y="3613547"/>
            <a:ext cx="248047" cy="24804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60" name="object-60">
            <a:extLst>
              <a:ext uri="{FF2B5EF4-FFF2-40B4-BE49-F238E27FC236}">
                <a16:creationId xmlns:a16="http://schemas.microsoft.com/office/drawing/2014/main" id="{BE3F0B07-EFF2-48DD-9A0D-D7C4283D4E8D}"/>
              </a:ext>
            </a:extLst>
          </p:cNvPr>
          <p:cNvSpPr>
            <a:spLocks noGrp="1"/>
          </p:cNvSpPr>
          <p:nvPr/>
        </p:nvSpPr>
        <p:spPr>
          <a:xfrm>
            <a:off x="11707812" y="3613547"/>
            <a:ext cx="248047" cy="248047"/>
          </a:xfrm>
          <a:prstGeom prst="rect">
            <a:avLst/>
          </a:prstGeom>
          <a:solidFill>
            <a:srgbClr val="EFF6FF"/>
          </a:solidFill>
          <a:ln w="11906">
            <a:solidFill>
              <a:srgbClr val="172B4D"/>
            </a:solidFill>
          </a:ln>
        </p:spPr>
      </p:sp>
      <p:sp>
        <p:nvSpPr>
          <p:cNvPr id="61" name="object-61">
            <a:extLst>
              <a:ext uri="{FF2B5EF4-FFF2-40B4-BE49-F238E27FC236}">
                <a16:creationId xmlns:a16="http://schemas.microsoft.com/office/drawing/2014/main" id="{39E1011F-1FDC-4CA7-B646-9DB353CB2804}"/>
              </a:ext>
            </a:extLst>
          </p:cNvPr>
          <p:cNvSpPr>
            <a:spLocks noGrp="1"/>
          </p:cNvSpPr>
          <p:nvPr/>
        </p:nvSpPr>
        <p:spPr>
          <a:xfrm>
            <a:off x="11955859" y="3613547"/>
            <a:ext cx="248047" cy="248047"/>
          </a:xfrm>
          <a:prstGeom prst="rect">
            <a:avLst/>
          </a:prstGeom>
          <a:solidFill>
            <a:srgbClr val="FFFFFF"/>
          </a:solidFill>
          <a:ln w="11906">
            <a:solidFill>
              <a:srgbClr val="172B4D"/>
            </a:solidFill>
          </a:ln>
        </p:spPr>
      </p:sp>
      <p:sp>
        <p:nvSpPr>
          <p:cNvPr id="62" name="object-62">
            <a:extLst>
              <a:ext uri="{FF2B5EF4-FFF2-40B4-BE49-F238E27FC236}">
                <a16:creationId xmlns:a16="http://schemas.microsoft.com/office/drawing/2014/main" id="{1DA611C9-EC39-4822-96AD-DC7EB110E34F}"/>
              </a:ext>
            </a:extLst>
          </p:cNvPr>
          <p:cNvSpPr>
            <a:spLocks noGrp="1"/>
          </p:cNvSpPr>
          <p:nvPr/>
        </p:nvSpPr>
        <p:spPr>
          <a:xfrm>
            <a:off x="952500" y="6607969"/>
            <a:ext cx="13335000" cy="53578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531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531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11 × 3 = 33;  2 × 4 = 8.</a:t>
            </a:r>
          </a:p>
        </p:txBody>
      </p:sp>
      <p:sp>
        <p:nvSpPr>
          <p:cNvPr id="63" name="object-63">
            <a:extLst>
              <a:ext uri="{FF2B5EF4-FFF2-40B4-BE49-F238E27FC236}">
                <a16:creationId xmlns:a16="http://schemas.microsoft.com/office/drawing/2014/main" id="{11FB550C-105C-42C2-8A84-055ADF5E6D91}"/>
              </a:ext>
            </a:extLst>
          </p:cNvPr>
          <p:cNvSpPr>
            <a:spLocks noGrp="1"/>
          </p:cNvSpPr>
          <p:nvPr/>
        </p:nvSpPr>
        <p:spPr>
          <a:xfrm>
            <a:off x="892969" y="7262813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Answer: 4 1/8</a:t>
            </a:r>
          </a:p>
        </p:txBody>
      </p:sp>
    </p:spTree>
    <p:extLst>
      <p:ext uri="{BB962C8B-B14F-4D97-AF65-F5344CB8AC3E}">
        <p14:creationId xmlns:p14="http://schemas.microsoft.com/office/powerpoint/2010/main" val="980383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" grpId="0"/>
      <p:bldP spid="6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bject-1">
            <a:extLst>
              <a:ext uri="{FF2B5EF4-FFF2-40B4-BE49-F238E27FC236}">
                <a16:creationId xmlns:a16="http://schemas.microsoft.com/office/drawing/2014/main" id="{A58A4A97-38D4-4F24-A81F-74AD625523E2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1516F8F2-0329-4717-95F5-6320157D5D2A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C5B48CB6-B3FB-4684-988E-CED456275F43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Try these questions.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18B9E568-D60C-4B2F-9E8D-EC86F72803BF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516A5057-52E8-4CE3-9EE3-F8C7ED7531AF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Multiply mixed numbers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1CC460C3-21BF-46EE-ADDF-6153D7C84AB5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D02831C5-DA48-4218-B001-7794610D8919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FF1D7CA4-EEBE-4999-922A-200F130196F9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2 1/2 x 3/4.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AFF97ECE-F865-452F-9664-F59F34B225D9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2C8B54AE-B909-4848-BE59-6A25A8CAF4F8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A ribbon is 3/5 m long. Maya uses 2/3 of it. How much ribbon does she use?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24B65584-8E5A-4B57-994B-82B807FB3A47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2BB5863A-8FF3-42F9-8563-5844F160CECC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4/7 of 21.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85503DFA-F69D-4575-B118-5ECA307D66E5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7017550F-76DD-4C05-A461-40CD5B1A2CEC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Solve this independently and show every stage: Calculate 2 1/2 x 3/4.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27E52DA3-B3A8-43D1-AB51-DCF9998DDE2B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625CD7EA-6213-4FB0-AB02-54B3CE9F7478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Use a second method or representation for: A ribbon is 3/5 m long. Maya uses 2/3 of it. How much ribbon does she use?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42AA2F97-2F1D-4F1E-A9B3-D860FF72928A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2B1CE51F-A6CD-440D-851E-2F2F2B22E35C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this result using an inverse, estimate or known fact: Calculate 4/7 of 21.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388EBFD0-C5BE-4CA3-BE37-423F2BE89A1E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E433AF4A-0E17-44B2-AC8F-C66E2E52B7E9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Prove or explain your reasoning: Calculate 1/4 x 3/5.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3435967D-9A97-431E-A4D3-927474E3C8E2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91581A3F-A3F7-4839-AB4B-2DCC1C002C07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Identify and correct this misconception: Miro thinks multiplying always makes a number larger.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7094BF1E-6C65-43C4-AB9C-7796A9DE6846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EDEF9D94-F051-4245-B19F-B98B779F7751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 complete sentence explaining how you checked one answer.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215DCF01-8146-41F5-B2B7-02A4C04A8647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A7C5EB3E-F337-4BE9-A17C-E829DCEBC7D9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and solve a similar question to: Calculate 4/7 of 21.</a:t>
            </a:r>
          </a:p>
        </p:txBody>
      </p:sp>
    </p:spTree>
    <p:extLst>
      <p:ext uri="{BB962C8B-B14F-4D97-AF65-F5344CB8AC3E}">
        <p14:creationId xmlns:p14="http://schemas.microsoft.com/office/powerpoint/2010/main" val="13031985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bject-1">
            <a:extLst>
              <a:ext uri="{FF2B5EF4-FFF2-40B4-BE49-F238E27FC236}">
                <a16:creationId xmlns:a16="http://schemas.microsoft.com/office/drawing/2014/main" id="{84F5B532-2F87-49A2-B81C-DC58F94A1684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Answers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26A58079-4660-4362-A849-7133C06D6E47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your answers. Explain any corrections.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B050A5B7-3EBE-46E1-9B32-AEBE3183B35C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237C3860-4239-4235-8091-40CFD299DB46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Multiply mixed numbers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8A2F4432-08AB-4112-A6A6-706C3AEA2B27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F00BE0FC-BBE0-447C-8E32-F27708E64C48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62AB7891-1973-4972-A3C4-B1BB8D6D8896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1 7/8.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9A910FDB-84AC-49E2-8306-0A18424E7209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3517524A-31CB-4B3A-9ACB-6FA5F20390E1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2/5 m.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86484A24-A7DD-4776-8F24-A613EC0AA186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2B3E9CC9-F4AF-4C75-BFF1-EB7EF7E78C63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12.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5918F31D-95DD-43D0-BBF1-5A068766A9C8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C6D50951-7BAF-437C-9021-247A42C82651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1 7/8.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2530530D-73FB-4CDB-9ACE-60CD3D2FC857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90DABA3C-A074-4B89-A2DE-99FB4D863B84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2/5 m. Method or representation may vary.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59340258-8C93-4BD6-8D02-00D8C4051F0B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0ABEFBE0-C2E7-4196-8A06-7C56A2C474A7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12. A valid check must be shown.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DEFFE7F0-75DF-4E70-970D-B60DCBC7B796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84CC0F83-5CBA-4481-950D-AE4406BC8715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3/20. The explanation must show why the method works.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9B14F301-DADD-4C36-ACB9-4B82FBC06C09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C624E82D-F9BD-425A-8DA6-6DA58ACD99AB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Multiplying by a proper fraction finds a part, so the result can be smaller than the starting number.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C06E1C71-49B1-477B-BDDB-EA470C4EAB93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43EDAA7D-1746-451A-96D2-E05EF763B41E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 should name an inverse, estimate, boundary, known fact or equivalent representation.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C021640F-067A-4E77-9C3F-E5A77F405A98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8FE5A655-5B7B-49A2-A653-31FDE1B8E4B2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Answers vary. The new question must use the same mathematical structure and include a correct solution.</a:t>
            </a:r>
          </a:p>
        </p:txBody>
      </p:sp>
    </p:spTree>
    <p:extLst>
      <p:ext uri="{BB962C8B-B14F-4D97-AF65-F5344CB8AC3E}">
        <p14:creationId xmlns:p14="http://schemas.microsoft.com/office/powerpoint/2010/main" val="1876325679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1318</Words>
  <Application>Microsoft Office PowerPoint</Application>
  <DocSecurity>0</DocSecurity>
  <PresentationFormat>Custom</PresentationFormat>
  <Paragraphs>172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2026-09-14T13:19:15Z</dcterms:created>
  <dcterms:modified xsi:type="dcterms:W3CDTF">2026-09-14T13:19:59Z</dcterms:modified>
</cp:coreProperties>
</file>